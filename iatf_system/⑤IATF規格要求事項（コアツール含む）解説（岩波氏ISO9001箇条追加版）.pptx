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3"/>
  </p:notesMasterIdLst>
  <p:handoutMasterIdLst>
    <p:handoutMasterId r:id="rId574"/>
  </p:handoutMasterIdLst>
  <p:sldIdLst>
    <p:sldId id="257" r:id="rId2"/>
    <p:sldId id="258" r:id="rId3"/>
    <p:sldId id="259" r:id="rId4"/>
    <p:sldId id="260" r:id="rId5"/>
    <p:sldId id="261" r:id="rId6"/>
    <p:sldId id="262" r:id="rId7"/>
    <p:sldId id="264" r:id="rId8"/>
    <p:sldId id="265" r:id="rId9"/>
    <p:sldId id="263" r:id="rId10"/>
    <p:sldId id="266" r:id="rId11"/>
    <p:sldId id="267" r:id="rId12"/>
    <p:sldId id="278" r:id="rId13"/>
    <p:sldId id="842" r:id="rId14"/>
    <p:sldId id="843" r:id="rId15"/>
    <p:sldId id="268" r:id="rId16"/>
    <p:sldId id="269" r:id="rId17"/>
    <p:sldId id="272" r:id="rId18"/>
    <p:sldId id="270" r:id="rId19"/>
    <p:sldId id="271" r:id="rId20"/>
    <p:sldId id="273" r:id="rId21"/>
    <p:sldId id="286" r:id="rId22"/>
    <p:sldId id="274" r:id="rId23"/>
    <p:sldId id="275" r:id="rId24"/>
    <p:sldId id="276" r:id="rId25"/>
    <p:sldId id="279" r:id="rId26"/>
    <p:sldId id="280" r:id="rId27"/>
    <p:sldId id="281" r:id="rId28"/>
    <p:sldId id="282" r:id="rId29"/>
    <p:sldId id="283" r:id="rId30"/>
    <p:sldId id="284" r:id="rId31"/>
    <p:sldId id="844" r:id="rId32"/>
    <p:sldId id="285" r:id="rId33"/>
    <p:sldId id="845" r:id="rId34"/>
    <p:sldId id="846" r:id="rId35"/>
    <p:sldId id="847" r:id="rId36"/>
    <p:sldId id="868" r:id="rId37"/>
    <p:sldId id="287" r:id="rId38"/>
    <p:sldId id="290" r:id="rId39"/>
    <p:sldId id="319" r:id="rId40"/>
    <p:sldId id="288" r:id="rId41"/>
    <p:sldId id="291" r:id="rId42"/>
    <p:sldId id="767" r:id="rId43"/>
    <p:sldId id="768" r:id="rId44"/>
    <p:sldId id="769" r:id="rId45"/>
    <p:sldId id="770" r:id="rId46"/>
    <p:sldId id="771" r:id="rId47"/>
    <p:sldId id="298" r:id="rId48"/>
    <p:sldId id="292" r:id="rId49"/>
    <p:sldId id="293" r:id="rId50"/>
    <p:sldId id="294" r:id="rId51"/>
    <p:sldId id="299" r:id="rId52"/>
    <p:sldId id="295" r:id="rId53"/>
    <p:sldId id="296" r:id="rId54"/>
    <p:sldId id="297"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20" r:id="rId75"/>
    <p:sldId id="321" r:id="rId76"/>
    <p:sldId id="835" r:id="rId77"/>
    <p:sldId id="322" r:id="rId78"/>
    <p:sldId id="848" r:id="rId79"/>
    <p:sldId id="323" r:id="rId80"/>
    <p:sldId id="652" r:id="rId81"/>
    <p:sldId id="653" r:id="rId82"/>
    <p:sldId id="654" r:id="rId83"/>
    <p:sldId id="849" r:id="rId84"/>
    <p:sldId id="655" r:id="rId85"/>
    <p:sldId id="324" r:id="rId86"/>
    <p:sldId id="657" r:id="rId87"/>
    <p:sldId id="658" r:id="rId88"/>
    <p:sldId id="659" r:id="rId89"/>
    <p:sldId id="660" r:id="rId90"/>
    <p:sldId id="661" r:id="rId91"/>
    <p:sldId id="662" r:id="rId92"/>
    <p:sldId id="663" r:id="rId93"/>
    <p:sldId id="664" r:id="rId94"/>
    <p:sldId id="325" r:id="rId95"/>
    <p:sldId id="326" r:id="rId96"/>
    <p:sldId id="327" r:id="rId97"/>
    <p:sldId id="328" r:id="rId98"/>
    <p:sldId id="329" r:id="rId99"/>
    <p:sldId id="869" r:id="rId100"/>
    <p:sldId id="330" r:id="rId101"/>
    <p:sldId id="331" r:id="rId102"/>
    <p:sldId id="332" r:id="rId103"/>
    <p:sldId id="333" r:id="rId104"/>
    <p:sldId id="334" r:id="rId105"/>
    <p:sldId id="335" r:id="rId106"/>
    <p:sldId id="336" r:id="rId107"/>
    <p:sldId id="337" r:id="rId108"/>
    <p:sldId id="338" r:id="rId109"/>
    <p:sldId id="339" r:id="rId110"/>
    <p:sldId id="870" r:id="rId111"/>
    <p:sldId id="340" r:id="rId112"/>
    <p:sldId id="836" r:id="rId113"/>
    <p:sldId id="837" r:id="rId114"/>
    <p:sldId id="850" r:id="rId115"/>
    <p:sldId id="341" r:id="rId116"/>
    <p:sldId id="342" r:id="rId117"/>
    <p:sldId id="343" r:id="rId118"/>
    <p:sldId id="344" r:id="rId119"/>
    <p:sldId id="345" r:id="rId120"/>
    <p:sldId id="346" r:id="rId121"/>
    <p:sldId id="347" r:id="rId122"/>
    <p:sldId id="348" r:id="rId123"/>
    <p:sldId id="349" r:id="rId124"/>
    <p:sldId id="888" r:id="rId125"/>
    <p:sldId id="889" r:id="rId126"/>
    <p:sldId id="351" r:id="rId127"/>
    <p:sldId id="352" r:id="rId128"/>
    <p:sldId id="871" r:id="rId129"/>
    <p:sldId id="353" r:id="rId130"/>
    <p:sldId id="354" r:id="rId131"/>
    <p:sldId id="355" r:id="rId132"/>
    <p:sldId id="356" r:id="rId133"/>
    <p:sldId id="357" r:id="rId134"/>
    <p:sldId id="359" r:id="rId135"/>
    <p:sldId id="358" r:id="rId136"/>
    <p:sldId id="885" r:id="rId137"/>
    <p:sldId id="480" r:id="rId138"/>
    <p:sldId id="360" r:id="rId139"/>
    <p:sldId id="361" r:id="rId140"/>
    <p:sldId id="362" r:id="rId141"/>
    <p:sldId id="364" r:id="rId142"/>
    <p:sldId id="363" r:id="rId143"/>
    <p:sldId id="834" r:id="rId144"/>
    <p:sldId id="481" r:id="rId145"/>
    <p:sldId id="365" r:id="rId146"/>
    <p:sldId id="366" r:id="rId147"/>
    <p:sldId id="367" r:id="rId148"/>
    <p:sldId id="370" r:id="rId149"/>
    <p:sldId id="368" r:id="rId150"/>
    <p:sldId id="838" r:id="rId151"/>
    <p:sldId id="483" r:id="rId152"/>
    <p:sldId id="369" r:id="rId153"/>
    <p:sldId id="371" r:id="rId154"/>
    <p:sldId id="484" r:id="rId155"/>
    <p:sldId id="372" r:id="rId156"/>
    <p:sldId id="373" r:id="rId157"/>
    <p:sldId id="485" r:id="rId158"/>
    <p:sldId id="374" r:id="rId159"/>
    <p:sldId id="375" r:id="rId160"/>
    <p:sldId id="486" r:id="rId161"/>
    <p:sldId id="851" r:id="rId162"/>
    <p:sldId id="376" r:id="rId163"/>
    <p:sldId id="487" r:id="rId164"/>
    <p:sldId id="377" r:id="rId165"/>
    <p:sldId id="378" r:id="rId166"/>
    <p:sldId id="488" r:id="rId167"/>
    <p:sldId id="852" r:id="rId168"/>
    <p:sldId id="886" r:id="rId169"/>
    <p:sldId id="887" r:id="rId170"/>
    <p:sldId id="890" r:id="rId171"/>
    <p:sldId id="379" r:id="rId172"/>
    <p:sldId id="380" r:id="rId173"/>
    <p:sldId id="839" r:id="rId174"/>
    <p:sldId id="891" r:id="rId175"/>
    <p:sldId id="892" r:id="rId176"/>
    <p:sldId id="381" r:id="rId177"/>
    <p:sldId id="489" r:id="rId178"/>
    <p:sldId id="382" r:id="rId179"/>
    <p:sldId id="490" r:id="rId180"/>
    <p:sldId id="872" r:id="rId181"/>
    <p:sldId id="867" r:id="rId182"/>
    <p:sldId id="384" r:id="rId183"/>
    <p:sldId id="385" r:id="rId184"/>
    <p:sldId id="386" r:id="rId185"/>
    <p:sldId id="387" r:id="rId186"/>
    <p:sldId id="388" r:id="rId187"/>
    <p:sldId id="491" r:id="rId188"/>
    <p:sldId id="389" r:id="rId189"/>
    <p:sldId id="853" r:id="rId190"/>
    <p:sldId id="390" r:id="rId191"/>
    <p:sldId id="492" r:id="rId192"/>
    <p:sldId id="493" r:id="rId193"/>
    <p:sldId id="423" r:id="rId194"/>
    <p:sldId id="857" r:id="rId195"/>
    <p:sldId id="391" r:id="rId196"/>
    <p:sldId id="392" r:id="rId197"/>
    <p:sldId id="494" r:id="rId198"/>
    <p:sldId id="495" r:id="rId199"/>
    <p:sldId id="393" r:id="rId200"/>
    <p:sldId id="394" r:id="rId201"/>
    <p:sldId id="854" r:id="rId202"/>
    <p:sldId id="395" r:id="rId203"/>
    <p:sldId id="396" r:id="rId204"/>
    <p:sldId id="855" r:id="rId205"/>
    <p:sldId id="397" r:id="rId206"/>
    <p:sldId id="498" r:id="rId207"/>
    <p:sldId id="398" r:id="rId208"/>
    <p:sldId id="499" r:id="rId209"/>
    <p:sldId id="840" r:id="rId210"/>
    <p:sldId id="500" r:id="rId211"/>
    <p:sldId id="399" r:id="rId212"/>
    <p:sldId id="501" r:id="rId213"/>
    <p:sldId id="400" r:id="rId214"/>
    <p:sldId id="502" r:id="rId215"/>
    <p:sldId id="401" r:id="rId216"/>
    <p:sldId id="503" r:id="rId217"/>
    <p:sldId id="402" r:id="rId218"/>
    <p:sldId id="504" r:id="rId219"/>
    <p:sldId id="403" r:id="rId220"/>
    <p:sldId id="404" r:id="rId221"/>
    <p:sldId id="505" r:id="rId222"/>
    <p:sldId id="405" r:id="rId223"/>
    <p:sldId id="406" r:id="rId224"/>
    <p:sldId id="856" r:id="rId225"/>
    <p:sldId id="506" r:id="rId226"/>
    <p:sldId id="407" r:id="rId227"/>
    <p:sldId id="507" r:id="rId228"/>
    <p:sldId id="424" r:id="rId229"/>
    <p:sldId id="883" r:id="rId230"/>
    <p:sldId id="408" r:id="rId231"/>
    <p:sldId id="409" r:id="rId232"/>
    <p:sldId id="410" r:id="rId233"/>
    <p:sldId id="508" r:id="rId234"/>
    <p:sldId id="412" r:id="rId235"/>
    <p:sldId id="884" r:id="rId236"/>
    <p:sldId id="413" r:id="rId237"/>
    <p:sldId id="509" r:id="rId238"/>
    <p:sldId id="414" r:id="rId239"/>
    <p:sldId id="511" r:id="rId240"/>
    <p:sldId id="415" r:id="rId241"/>
    <p:sldId id="416" r:id="rId242"/>
    <p:sldId id="510" r:id="rId243"/>
    <p:sldId id="512" r:id="rId244"/>
    <p:sldId id="858" r:id="rId245"/>
    <p:sldId id="417" r:id="rId246"/>
    <p:sldId id="418" r:id="rId247"/>
    <p:sldId id="513" r:id="rId248"/>
    <p:sldId id="419" r:id="rId249"/>
    <p:sldId id="514" r:id="rId250"/>
    <p:sldId id="841" r:id="rId251"/>
    <p:sldId id="420" r:id="rId252"/>
    <p:sldId id="515" r:id="rId253"/>
    <p:sldId id="894" r:id="rId254"/>
    <p:sldId id="422" r:id="rId255"/>
    <p:sldId id="425" r:id="rId256"/>
    <p:sldId id="482" r:id="rId257"/>
    <p:sldId id="421" r:id="rId258"/>
    <p:sldId id="426" r:id="rId259"/>
    <p:sldId id="516" r:id="rId260"/>
    <p:sldId id="859" r:id="rId261"/>
    <p:sldId id="517" r:id="rId262"/>
    <p:sldId id="518" r:id="rId263"/>
    <p:sldId id="427" r:id="rId264"/>
    <p:sldId id="519" r:id="rId265"/>
    <p:sldId id="428" r:id="rId266"/>
    <p:sldId id="520" r:id="rId267"/>
    <p:sldId id="429" r:id="rId268"/>
    <p:sldId id="860" r:id="rId269"/>
    <p:sldId id="430" r:id="rId270"/>
    <p:sldId id="431" r:id="rId271"/>
    <p:sldId id="521" r:id="rId272"/>
    <p:sldId id="522" r:id="rId273"/>
    <p:sldId id="523" r:id="rId274"/>
    <p:sldId id="432" r:id="rId275"/>
    <p:sldId id="433" r:id="rId276"/>
    <p:sldId id="861" r:id="rId277"/>
    <p:sldId id="434" r:id="rId278"/>
    <p:sldId id="435" r:id="rId279"/>
    <p:sldId id="436" r:id="rId280"/>
    <p:sldId id="437" r:id="rId281"/>
    <p:sldId id="525" r:id="rId282"/>
    <p:sldId id="526" r:id="rId283"/>
    <p:sldId id="438" r:id="rId284"/>
    <p:sldId id="527" r:id="rId285"/>
    <p:sldId id="439" r:id="rId286"/>
    <p:sldId id="528" r:id="rId287"/>
    <p:sldId id="440" r:id="rId288"/>
    <p:sldId id="441" r:id="rId289"/>
    <p:sldId id="442" r:id="rId290"/>
    <p:sldId id="529" r:id="rId291"/>
    <p:sldId id="531" r:id="rId292"/>
    <p:sldId id="443" r:id="rId293"/>
    <p:sldId id="444" r:id="rId294"/>
    <p:sldId id="530" r:id="rId295"/>
    <p:sldId id="451" r:id="rId296"/>
    <p:sldId id="445" r:id="rId297"/>
    <p:sldId id="446" r:id="rId298"/>
    <p:sldId id="532" r:id="rId299"/>
    <p:sldId id="447" r:id="rId300"/>
    <p:sldId id="862" r:id="rId301"/>
    <p:sldId id="448" r:id="rId302"/>
    <p:sldId id="449" r:id="rId303"/>
    <p:sldId id="450" r:id="rId304"/>
    <p:sldId id="452" r:id="rId305"/>
    <p:sldId id="453" r:id="rId306"/>
    <p:sldId id="534" r:id="rId307"/>
    <p:sldId id="454" r:id="rId308"/>
    <p:sldId id="455" r:id="rId309"/>
    <p:sldId id="535" r:id="rId310"/>
    <p:sldId id="456" r:id="rId311"/>
    <p:sldId id="536" r:id="rId312"/>
    <p:sldId id="537" r:id="rId313"/>
    <p:sldId id="457" r:id="rId314"/>
    <p:sldId id="458" r:id="rId315"/>
    <p:sldId id="459" r:id="rId316"/>
    <p:sldId id="538" r:id="rId317"/>
    <p:sldId id="873" r:id="rId318"/>
    <p:sldId id="460" r:id="rId319"/>
    <p:sldId id="461" r:id="rId320"/>
    <p:sldId id="462" r:id="rId321"/>
    <p:sldId id="539" r:id="rId322"/>
    <p:sldId id="540" r:id="rId323"/>
    <p:sldId id="541" r:id="rId324"/>
    <p:sldId id="542" r:id="rId325"/>
    <p:sldId id="463" r:id="rId326"/>
    <p:sldId id="464" r:id="rId327"/>
    <p:sldId id="465" r:id="rId328"/>
    <p:sldId id="543" r:id="rId329"/>
    <p:sldId id="863" r:id="rId330"/>
    <p:sldId id="893" r:id="rId331"/>
    <p:sldId id="466" r:id="rId332"/>
    <p:sldId id="876" r:id="rId333"/>
    <p:sldId id="879" r:id="rId334"/>
    <p:sldId id="881" r:id="rId335"/>
    <p:sldId id="877" r:id="rId336"/>
    <p:sldId id="878" r:id="rId337"/>
    <p:sldId id="882" r:id="rId338"/>
    <p:sldId id="880" r:id="rId339"/>
    <p:sldId id="467" r:id="rId340"/>
    <p:sldId id="544" r:id="rId341"/>
    <p:sldId id="864" r:id="rId342"/>
    <p:sldId id="468" r:id="rId343"/>
    <p:sldId id="545" r:id="rId344"/>
    <p:sldId id="865" r:id="rId345"/>
    <p:sldId id="469" r:id="rId346"/>
    <p:sldId id="546" r:id="rId347"/>
    <p:sldId id="866" r:id="rId348"/>
    <p:sldId id="470" r:id="rId349"/>
    <p:sldId id="547" r:id="rId350"/>
    <p:sldId id="548" r:id="rId351"/>
    <p:sldId id="549" r:id="rId352"/>
    <p:sldId id="471" r:id="rId353"/>
    <p:sldId id="472" r:id="rId354"/>
    <p:sldId id="550" r:id="rId355"/>
    <p:sldId id="473" r:id="rId356"/>
    <p:sldId id="874" r:id="rId357"/>
    <p:sldId id="474" r:id="rId358"/>
    <p:sldId id="475" r:id="rId359"/>
    <p:sldId id="551" r:id="rId360"/>
    <p:sldId id="553" r:id="rId361"/>
    <p:sldId id="476" r:id="rId362"/>
    <p:sldId id="552" r:id="rId363"/>
    <p:sldId id="554" r:id="rId364"/>
    <p:sldId id="477" r:id="rId365"/>
    <p:sldId id="478" r:id="rId366"/>
    <p:sldId id="479" r:id="rId367"/>
    <p:sldId id="555" r:id="rId368"/>
    <p:sldId id="875" r:id="rId369"/>
    <p:sldId id="556" r:id="rId370"/>
    <p:sldId id="561" r:id="rId371"/>
    <p:sldId id="567" r:id="rId372"/>
    <p:sldId id="568" r:id="rId373"/>
    <p:sldId id="569" r:id="rId374"/>
    <p:sldId id="570" r:id="rId375"/>
    <p:sldId id="571" r:id="rId376"/>
    <p:sldId id="572" r:id="rId377"/>
    <p:sldId id="573" r:id="rId378"/>
    <p:sldId id="575" r:id="rId379"/>
    <p:sldId id="576" r:id="rId380"/>
    <p:sldId id="577" r:id="rId381"/>
    <p:sldId id="578" r:id="rId382"/>
    <p:sldId id="579" r:id="rId383"/>
    <p:sldId id="580" r:id="rId384"/>
    <p:sldId id="581" r:id="rId385"/>
    <p:sldId id="582" r:id="rId386"/>
    <p:sldId id="562" r:id="rId387"/>
    <p:sldId id="762" r:id="rId388"/>
    <p:sldId id="698" r:id="rId389"/>
    <p:sldId id="699" r:id="rId390"/>
    <p:sldId id="700" r:id="rId391"/>
    <p:sldId id="701" r:id="rId392"/>
    <p:sldId id="702" r:id="rId393"/>
    <p:sldId id="703" r:id="rId394"/>
    <p:sldId id="704" r:id="rId395"/>
    <p:sldId id="725" r:id="rId396"/>
    <p:sldId id="726" r:id="rId397"/>
    <p:sldId id="727" r:id="rId398"/>
    <p:sldId id="728" r:id="rId399"/>
    <p:sldId id="729" r:id="rId400"/>
    <p:sldId id="730" r:id="rId401"/>
    <p:sldId id="758" r:id="rId402"/>
    <p:sldId id="731" r:id="rId403"/>
    <p:sldId id="732" r:id="rId404"/>
    <p:sldId id="733" r:id="rId405"/>
    <p:sldId id="734" r:id="rId406"/>
    <p:sldId id="735" r:id="rId407"/>
    <p:sldId id="736" r:id="rId408"/>
    <p:sldId id="737" r:id="rId409"/>
    <p:sldId id="738" r:id="rId410"/>
    <p:sldId id="739" r:id="rId411"/>
    <p:sldId id="740" r:id="rId412"/>
    <p:sldId id="746" r:id="rId413"/>
    <p:sldId id="747" r:id="rId414"/>
    <p:sldId id="748" r:id="rId415"/>
    <p:sldId id="749" r:id="rId416"/>
    <p:sldId id="750" r:id="rId417"/>
    <p:sldId id="751" r:id="rId418"/>
    <p:sldId id="752" r:id="rId419"/>
    <p:sldId id="753" r:id="rId420"/>
    <p:sldId id="754" r:id="rId421"/>
    <p:sldId id="755" r:id="rId422"/>
    <p:sldId id="756" r:id="rId423"/>
    <p:sldId id="757" r:id="rId424"/>
    <p:sldId id="759" r:id="rId425"/>
    <p:sldId id="760" r:id="rId426"/>
    <p:sldId id="705" r:id="rId427"/>
    <p:sldId id="706" r:id="rId428"/>
    <p:sldId id="707" r:id="rId429"/>
    <p:sldId id="708" r:id="rId430"/>
    <p:sldId id="709" r:id="rId431"/>
    <p:sldId id="710" r:id="rId432"/>
    <p:sldId id="711" r:id="rId433"/>
    <p:sldId id="712" r:id="rId434"/>
    <p:sldId id="563" r:id="rId435"/>
    <p:sldId id="583" r:id="rId436"/>
    <p:sldId id="589" r:id="rId437"/>
    <p:sldId id="584" r:id="rId438"/>
    <p:sldId id="585" r:id="rId439"/>
    <p:sldId id="586" r:id="rId440"/>
    <p:sldId id="588" r:id="rId441"/>
    <p:sldId id="587" r:id="rId442"/>
    <p:sldId id="590" r:id="rId443"/>
    <p:sldId id="591" r:id="rId444"/>
    <p:sldId id="592" r:id="rId445"/>
    <p:sldId id="593" r:id="rId446"/>
    <p:sldId id="594" r:id="rId447"/>
    <p:sldId id="595" r:id="rId448"/>
    <p:sldId id="596" r:id="rId449"/>
    <p:sldId id="763" r:id="rId450"/>
    <p:sldId id="597" r:id="rId451"/>
    <p:sldId id="598" r:id="rId452"/>
    <p:sldId id="599" r:id="rId453"/>
    <p:sldId id="600" r:id="rId454"/>
    <p:sldId id="601" r:id="rId455"/>
    <p:sldId id="564" r:id="rId456"/>
    <p:sldId id="775" r:id="rId457"/>
    <p:sldId id="776" r:id="rId458"/>
    <p:sldId id="777" r:id="rId459"/>
    <p:sldId id="778" r:id="rId460"/>
    <p:sldId id="779" r:id="rId461"/>
    <p:sldId id="780" r:id="rId462"/>
    <p:sldId id="781" r:id="rId463"/>
    <p:sldId id="782" r:id="rId464"/>
    <p:sldId id="783" r:id="rId465"/>
    <p:sldId id="784" r:id="rId466"/>
    <p:sldId id="785" r:id="rId467"/>
    <p:sldId id="786" r:id="rId468"/>
    <p:sldId id="787" r:id="rId469"/>
    <p:sldId id="788" r:id="rId470"/>
    <p:sldId id="789" r:id="rId471"/>
    <p:sldId id="790" r:id="rId472"/>
    <p:sldId id="791" r:id="rId473"/>
    <p:sldId id="792" r:id="rId474"/>
    <p:sldId id="793" r:id="rId475"/>
    <p:sldId id="794" r:id="rId476"/>
    <p:sldId id="795" r:id="rId477"/>
    <p:sldId id="796" r:id="rId478"/>
    <p:sldId id="797" r:id="rId479"/>
    <p:sldId id="798" r:id="rId480"/>
    <p:sldId id="799" r:id="rId481"/>
    <p:sldId id="800" r:id="rId482"/>
    <p:sldId id="801" r:id="rId483"/>
    <p:sldId id="802" r:id="rId484"/>
    <p:sldId id="803" r:id="rId485"/>
    <p:sldId id="804" r:id="rId486"/>
    <p:sldId id="805" r:id="rId487"/>
    <p:sldId id="806" r:id="rId488"/>
    <p:sldId id="807" r:id="rId489"/>
    <p:sldId id="808" r:id="rId490"/>
    <p:sldId id="809" r:id="rId491"/>
    <p:sldId id="810" r:id="rId492"/>
    <p:sldId id="811" r:id="rId493"/>
    <p:sldId id="812" r:id="rId494"/>
    <p:sldId id="813" r:id="rId495"/>
    <p:sldId id="814" r:id="rId496"/>
    <p:sldId id="815" r:id="rId497"/>
    <p:sldId id="816" r:id="rId498"/>
    <p:sldId id="817" r:id="rId499"/>
    <p:sldId id="818" r:id="rId500"/>
    <p:sldId id="819" r:id="rId501"/>
    <p:sldId id="820" r:id="rId502"/>
    <p:sldId id="821" r:id="rId503"/>
    <p:sldId id="822" r:id="rId504"/>
    <p:sldId id="823" r:id="rId505"/>
    <p:sldId id="824" r:id="rId506"/>
    <p:sldId id="825" r:id="rId507"/>
    <p:sldId id="826" r:id="rId508"/>
    <p:sldId id="832" r:id="rId509"/>
    <p:sldId id="833" r:id="rId510"/>
    <p:sldId id="829" r:id="rId511"/>
    <p:sldId id="565" r:id="rId512"/>
    <p:sldId id="603" r:id="rId513"/>
    <p:sldId id="602" r:id="rId514"/>
    <p:sldId id="604" r:id="rId515"/>
    <p:sldId id="608" r:id="rId516"/>
    <p:sldId id="606" r:id="rId517"/>
    <p:sldId id="610" r:id="rId518"/>
    <p:sldId id="611" r:id="rId519"/>
    <p:sldId id="609" r:id="rId520"/>
    <p:sldId id="615" r:id="rId521"/>
    <p:sldId id="616" r:id="rId522"/>
    <p:sldId id="617" r:id="rId523"/>
    <p:sldId id="618" r:id="rId524"/>
    <p:sldId id="619" r:id="rId525"/>
    <p:sldId id="613" r:id="rId526"/>
    <p:sldId id="614" r:id="rId527"/>
    <p:sldId id="612" r:id="rId528"/>
    <p:sldId id="620" r:id="rId529"/>
    <p:sldId id="621" r:id="rId530"/>
    <p:sldId id="622" r:id="rId531"/>
    <p:sldId id="624" r:id="rId532"/>
    <p:sldId id="625" r:id="rId533"/>
    <p:sldId id="626" r:id="rId534"/>
    <p:sldId id="627" r:id="rId535"/>
    <p:sldId id="628" r:id="rId536"/>
    <p:sldId id="629" r:id="rId537"/>
    <p:sldId id="630" r:id="rId538"/>
    <p:sldId id="764" r:id="rId539"/>
    <p:sldId id="716" r:id="rId540"/>
    <p:sldId id="566" r:id="rId541"/>
    <p:sldId id="631" r:id="rId542"/>
    <p:sldId id="636" r:id="rId543"/>
    <p:sldId id="772" r:id="rId544"/>
    <p:sldId id="773" r:id="rId545"/>
    <p:sldId id="639" r:id="rId546"/>
    <p:sldId id="640" r:id="rId547"/>
    <p:sldId id="765" r:id="rId548"/>
    <p:sldId id="766" r:id="rId549"/>
    <p:sldId id="635" r:id="rId550"/>
    <p:sldId id="646" r:id="rId551"/>
    <p:sldId id="647" r:id="rId552"/>
    <p:sldId id="714" r:id="rId553"/>
    <p:sldId id="715" r:id="rId554"/>
    <p:sldId id="718" r:id="rId555"/>
    <p:sldId id="720" r:id="rId556"/>
    <p:sldId id="719" r:id="rId557"/>
    <p:sldId id="721" r:id="rId558"/>
    <p:sldId id="722" r:id="rId559"/>
    <p:sldId id="723" r:id="rId560"/>
    <p:sldId id="724" r:id="rId561"/>
    <p:sldId id="741" r:id="rId562"/>
    <p:sldId id="742" r:id="rId563"/>
    <p:sldId id="743" r:id="rId564"/>
    <p:sldId id="744" r:id="rId565"/>
    <p:sldId id="745" r:id="rId566"/>
    <p:sldId id="641" r:id="rId567"/>
    <p:sldId id="642" r:id="rId568"/>
    <p:sldId id="643" r:id="rId569"/>
    <p:sldId id="644" r:id="rId570"/>
    <p:sldId id="645" r:id="rId571"/>
    <p:sldId id="623" r:id="rId572"/>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FF7C80"/>
    <a:srgbClr val="FFCCCC"/>
    <a:srgbClr val="FF9999"/>
    <a:srgbClr val="D6DCE5"/>
    <a:srgbClr val="FF0000"/>
    <a:srgbClr val="CCFFFF"/>
    <a:srgbClr val="CCFFCC"/>
    <a:srgbClr val="FFFF9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27" autoAdjust="0"/>
    <p:restoredTop sz="93775" autoAdjust="0"/>
  </p:normalViewPr>
  <p:slideViewPr>
    <p:cSldViewPr snapToGrid="0">
      <p:cViewPr varScale="1">
        <p:scale>
          <a:sx n="70" d="100"/>
          <a:sy n="70" d="100"/>
        </p:scale>
        <p:origin x="486" y="66"/>
      </p:cViewPr>
      <p:guideLst/>
    </p:cSldViewPr>
  </p:slideViewPr>
  <p:notesTextViewPr>
    <p:cViewPr>
      <p:scale>
        <a:sx n="3" d="2"/>
        <a:sy n="3" d="2"/>
      </p:scale>
      <p:origin x="0" y="0"/>
    </p:cViewPr>
  </p:notesTextViewPr>
  <p:sorterViewPr>
    <p:cViewPr>
      <p:scale>
        <a:sx n="180" d="100"/>
        <a:sy n="180" d="100"/>
      </p:scale>
      <p:origin x="0" y="-383718"/>
    </p:cViewPr>
  </p:sorterViewPr>
  <p:notesViewPr>
    <p:cSldViewPr snapToGrid="0">
      <p:cViewPr varScale="1">
        <p:scale>
          <a:sx n="47" d="100"/>
          <a:sy n="47" d="100"/>
        </p:scale>
        <p:origin x="2800" y="6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531" Type="http://schemas.openxmlformats.org/officeDocument/2006/relationships/slide" Target="slides/slide530.xml"/><Relationship Id="rId573" Type="http://schemas.openxmlformats.org/officeDocument/2006/relationships/notesMaster" Target="notesMasters/notesMaster1.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475" Type="http://schemas.openxmlformats.org/officeDocument/2006/relationships/slide" Target="slides/slide474.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00" Type="http://schemas.openxmlformats.org/officeDocument/2006/relationships/slide" Target="slides/slide499.xml"/><Relationship Id="rId542" Type="http://schemas.openxmlformats.org/officeDocument/2006/relationships/slide" Target="slides/slide541.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86" Type="http://schemas.openxmlformats.org/officeDocument/2006/relationships/slide" Target="slides/slide485.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511" Type="http://schemas.openxmlformats.org/officeDocument/2006/relationships/slide" Target="slides/slide510.xml"/><Relationship Id="rId553" Type="http://schemas.openxmlformats.org/officeDocument/2006/relationships/slide" Target="slides/slide552.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slide" Target="slides/slide454.xml"/><Relationship Id="rId497" Type="http://schemas.openxmlformats.org/officeDocument/2006/relationships/slide" Target="slides/slide496.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22" Type="http://schemas.openxmlformats.org/officeDocument/2006/relationships/slide" Target="slides/slide521.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564" Type="http://schemas.openxmlformats.org/officeDocument/2006/relationships/slide" Target="slides/slide563.xml"/><Relationship Id="rId259" Type="http://schemas.openxmlformats.org/officeDocument/2006/relationships/slide" Target="slides/slide258.xml"/><Relationship Id="rId424" Type="http://schemas.openxmlformats.org/officeDocument/2006/relationships/slide" Target="slides/slide423.xml"/><Relationship Id="rId466" Type="http://schemas.openxmlformats.org/officeDocument/2006/relationships/slide" Target="slides/slide465.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533" Type="http://schemas.openxmlformats.org/officeDocument/2006/relationships/slide" Target="slides/slide532.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presProps" Target="presProps.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477" Type="http://schemas.openxmlformats.org/officeDocument/2006/relationships/slide" Target="slides/slide476.xml"/><Relationship Id="rId281" Type="http://schemas.openxmlformats.org/officeDocument/2006/relationships/slide" Target="slides/slide280.xml"/><Relationship Id="rId337" Type="http://schemas.openxmlformats.org/officeDocument/2006/relationships/slide" Target="slides/slide336.xml"/><Relationship Id="rId502" Type="http://schemas.openxmlformats.org/officeDocument/2006/relationships/slide" Target="slides/slide501.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44" Type="http://schemas.openxmlformats.org/officeDocument/2006/relationships/slide" Target="slides/slide543.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slide" Target="slides/slide445.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88" Type="http://schemas.openxmlformats.org/officeDocument/2006/relationships/slide" Target="slides/slide487.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513" Type="http://schemas.openxmlformats.org/officeDocument/2006/relationships/slide" Target="slides/slide512.xml"/><Relationship Id="rId555" Type="http://schemas.openxmlformats.org/officeDocument/2006/relationships/slide" Target="slides/slide554.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457" Type="http://schemas.openxmlformats.org/officeDocument/2006/relationships/slide" Target="slides/slide456.xml"/><Relationship Id="rId261" Type="http://schemas.openxmlformats.org/officeDocument/2006/relationships/slide" Target="slides/slide260.xml"/><Relationship Id="rId499" Type="http://schemas.openxmlformats.org/officeDocument/2006/relationships/slide" Target="slides/slide498.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524" Type="http://schemas.openxmlformats.org/officeDocument/2006/relationships/slide" Target="slides/slide523.xml"/><Relationship Id="rId566" Type="http://schemas.openxmlformats.org/officeDocument/2006/relationships/slide" Target="slides/slide565.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468" Type="http://schemas.openxmlformats.org/officeDocument/2006/relationships/slide" Target="slides/slide467.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535" Type="http://schemas.openxmlformats.org/officeDocument/2006/relationships/slide" Target="slides/slide534.xml"/><Relationship Id="rId577" Type="http://schemas.openxmlformats.org/officeDocument/2006/relationships/theme" Target="theme/theme1.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slide" Target="slides/slide436.xml"/><Relationship Id="rId479" Type="http://schemas.openxmlformats.org/officeDocument/2006/relationships/slide" Target="slides/slide478.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490" Type="http://schemas.openxmlformats.org/officeDocument/2006/relationships/slide" Target="slides/slide489.xml"/><Relationship Id="rId504" Type="http://schemas.openxmlformats.org/officeDocument/2006/relationships/slide" Target="slides/slide503.xml"/><Relationship Id="rId546" Type="http://schemas.openxmlformats.org/officeDocument/2006/relationships/slide" Target="slides/slide545.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557" Type="http://schemas.openxmlformats.org/officeDocument/2006/relationships/slide" Target="slides/slide556.xml"/><Relationship Id="rId578" Type="http://schemas.openxmlformats.org/officeDocument/2006/relationships/tableStyles" Target="tableStyles.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417" Type="http://schemas.openxmlformats.org/officeDocument/2006/relationships/slide" Target="slides/slide416.xml"/><Relationship Id="rId438" Type="http://schemas.openxmlformats.org/officeDocument/2006/relationships/slide" Target="slides/slide437.xml"/><Relationship Id="rId459" Type="http://schemas.openxmlformats.org/officeDocument/2006/relationships/slide" Target="slides/slide458.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470" Type="http://schemas.openxmlformats.org/officeDocument/2006/relationships/slide" Target="slides/slide469.xml"/><Relationship Id="rId491" Type="http://schemas.openxmlformats.org/officeDocument/2006/relationships/slide" Target="slides/slide490.xml"/><Relationship Id="rId505" Type="http://schemas.openxmlformats.org/officeDocument/2006/relationships/slide" Target="slides/slide504.xml"/><Relationship Id="rId526" Type="http://schemas.openxmlformats.org/officeDocument/2006/relationships/slide" Target="slides/slide52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547" Type="http://schemas.openxmlformats.org/officeDocument/2006/relationships/slide" Target="slides/slide546.xml"/><Relationship Id="rId568" Type="http://schemas.openxmlformats.org/officeDocument/2006/relationships/slide" Target="slides/slide567.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slide" Target="slides/slide392.xml"/><Relationship Id="rId407" Type="http://schemas.openxmlformats.org/officeDocument/2006/relationships/slide" Target="slides/slide406.xml"/><Relationship Id="rId428" Type="http://schemas.openxmlformats.org/officeDocument/2006/relationships/slide" Target="slides/slide427.xml"/><Relationship Id="rId449" Type="http://schemas.openxmlformats.org/officeDocument/2006/relationships/slide" Target="slides/slide448.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481" Type="http://schemas.openxmlformats.org/officeDocument/2006/relationships/slide" Target="slides/slide480.xml"/><Relationship Id="rId516" Type="http://schemas.openxmlformats.org/officeDocument/2006/relationships/slide" Target="slides/slide51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537" Type="http://schemas.openxmlformats.org/officeDocument/2006/relationships/slide" Target="slides/slide536.xml"/><Relationship Id="rId558" Type="http://schemas.openxmlformats.org/officeDocument/2006/relationships/slide" Target="slides/slide557.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418" Type="http://schemas.openxmlformats.org/officeDocument/2006/relationships/slide" Target="slides/slide417.xml"/><Relationship Id="rId439" Type="http://schemas.openxmlformats.org/officeDocument/2006/relationships/slide" Target="slides/slide438.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450" Type="http://schemas.openxmlformats.org/officeDocument/2006/relationships/slide" Target="slides/slide449.xml"/><Relationship Id="rId471" Type="http://schemas.openxmlformats.org/officeDocument/2006/relationships/slide" Target="slides/slide470.xml"/><Relationship Id="rId506" Type="http://schemas.openxmlformats.org/officeDocument/2006/relationships/slide" Target="slides/slide50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492" Type="http://schemas.openxmlformats.org/officeDocument/2006/relationships/slide" Target="slides/slide491.xml"/><Relationship Id="rId527" Type="http://schemas.openxmlformats.org/officeDocument/2006/relationships/slide" Target="slides/slide526.xml"/><Relationship Id="rId548" Type="http://schemas.openxmlformats.org/officeDocument/2006/relationships/slide" Target="slides/slide547.xml"/><Relationship Id="rId569" Type="http://schemas.openxmlformats.org/officeDocument/2006/relationships/slide" Target="slides/slide568.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429" Type="http://schemas.openxmlformats.org/officeDocument/2006/relationships/slide" Target="slides/slide428.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440" Type="http://schemas.openxmlformats.org/officeDocument/2006/relationships/slide" Target="slides/slide439.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461" Type="http://schemas.openxmlformats.org/officeDocument/2006/relationships/slide" Target="slides/slide460.xml"/><Relationship Id="rId482" Type="http://schemas.openxmlformats.org/officeDocument/2006/relationships/slide" Target="slides/slide481.xml"/><Relationship Id="rId517" Type="http://schemas.openxmlformats.org/officeDocument/2006/relationships/slide" Target="slides/slide516.xml"/><Relationship Id="rId538" Type="http://schemas.openxmlformats.org/officeDocument/2006/relationships/slide" Target="slides/slide537.xml"/><Relationship Id="rId559" Type="http://schemas.openxmlformats.org/officeDocument/2006/relationships/slide" Target="slides/slide558.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419" Type="http://schemas.openxmlformats.org/officeDocument/2006/relationships/slide" Target="slides/slide418.xml"/><Relationship Id="rId570" Type="http://schemas.openxmlformats.org/officeDocument/2006/relationships/slide" Target="slides/slide569.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slide" Target="slides/slide429.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451" Type="http://schemas.openxmlformats.org/officeDocument/2006/relationships/slide" Target="slides/slide450.xml"/><Relationship Id="rId472" Type="http://schemas.openxmlformats.org/officeDocument/2006/relationships/slide" Target="slides/slide471.xml"/><Relationship Id="rId493" Type="http://schemas.openxmlformats.org/officeDocument/2006/relationships/slide" Target="slides/slide492.xml"/><Relationship Id="rId507" Type="http://schemas.openxmlformats.org/officeDocument/2006/relationships/slide" Target="slides/slide506.xml"/><Relationship Id="rId528" Type="http://schemas.openxmlformats.org/officeDocument/2006/relationships/slide" Target="slides/slide527.xml"/><Relationship Id="rId549" Type="http://schemas.openxmlformats.org/officeDocument/2006/relationships/slide" Target="slides/slide54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62" Type="http://schemas.openxmlformats.org/officeDocument/2006/relationships/slide" Target="slides/slide461.xml"/><Relationship Id="rId483" Type="http://schemas.openxmlformats.org/officeDocument/2006/relationships/slide" Target="slides/slide482.xml"/><Relationship Id="rId518" Type="http://schemas.openxmlformats.org/officeDocument/2006/relationships/slide" Target="slides/slide517.xml"/><Relationship Id="rId539" Type="http://schemas.openxmlformats.org/officeDocument/2006/relationships/slide" Target="slides/slide53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550" Type="http://schemas.openxmlformats.org/officeDocument/2006/relationships/slide" Target="slides/slide549.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571" Type="http://schemas.openxmlformats.org/officeDocument/2006/relationships/slide" Target="slides/slide570.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slide" Target="slides/slide451.xml"/><Relationship Id="rId473" Type="http://schemas.openxmlformats.org/officeDocument/2006/relationships/slide" Target="slides/slide472.xml"/><Relationship Id="rId494" Type="http://schemas.openxmlformats.org/officeDocument/2006/relationships/slide" Target="slides/slide493.xml"/><Relationship Id="rId508" Type="http://schemas.openxmlformats.org/officeDocument/2006/relationships/slide" Target="slides/slide507.xml"/><Relationship Id="rId529" Type="http://schemas.openxmlformats.org/officeDocument/2006/relationships/slide" Target="slides/slide528.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40" Type="http://schemas.openxmlformats.org/officeDocument/2006/relationships/slide" Target="slides/slide539.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561" Type="http://schemas.openxmlformats.org/officeDocument/2006/relationships/slide" Target="slides/slide560.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463" Type="http://schemas.openxmlformats.org/officeDocument/2006/relationships/slide" Target="slides/slide462.xml"/><Relationship Id="rId484" Type="http://schemas.openxmlformats.org/officeDocument/2006/relationships/slide" Target="slides/slide483.xml"/><Relationship Id="rId519" Type="http://schemas.openxmlformats.org/officeDocument/2006/relationships/slide" Target="slides/slide518.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530" Type="http://schemas.openxmlformats.org/officeDocument/2006/relationships/slide" Target="slides/slide529.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551" Type="http://schemas.openxmlformats.org/officeDocument/2006/relationships/slide" Target="slides/slide550.xml"/><Relationship Id="rId572" Type="http://schemas.openxmlformats.org/officeDocument/2006/relationships/slide" Target="slides/slide571.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474" Type="http://schemas.openxmlformats.org/officeDocument/2006/relationships/slide" Target="slides/slide473.xml"/><Relationship Id="rId509" Type="http://schemas.openxmlformats.org/officeDocument/2006/relationships/slide" Target="slides/slide508.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495" Type="http://schemas.openxmlformats.org/officeDocument/2006/relationships/slide" Target="slides/slide494.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520" Type="http://schemas.openxmlformats.org/officeDocument/2006/relationships/slide" Target="slides/slide519.xml"/><Relationship Id="rId541" Type="http://schemas.openxmlformats.org/officeDocument/2006/relationships/slide" Target="slides/slide540.xml"/><Relationship Id="rId562" Type="http://schemas.openxmlformats.org/officeDocument/2006/relationships/slide" Target="slides/slide561.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464" Type="http://schemas.openxmlformats.org/officeDocument/2006/relationships/slide" Target="slides/slide463.xml"/><Relationship Id="rId303" Type="http://schemas.openxmlformats.org/officeDocument/2006/relationships/slide" Target="slides/slide302.xml"/><Relationship Id="rId485" Type="http://schemas.openxmlformats.org/officeDocument/2006/relationships/slide" Target="slides/slide484.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510" Type="http://schemas.openxmlformats.org/officeDocument/2006/relationships/slide" Target="slides/slide509.xml"/><Relationship Id="rId552" Type="http://schemas.openxmlformats.org/officeDocument/2006/relationships/slide" Target="slides/slide551.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496" Type="http://schemas.openxmlformats.org/officeDocument/2006/relationships/slide" Target="slides/slide495.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521" Type="http://schemas.openxmlformats.org/officeDocument/2006/relationships/slide" Target="slides/slide520.xml"/><Relationship Id="rId563" Type="http://schemas.openxmlformats.org/officeDocument/2006/relationships/slide" Target="slides/slide562.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slide" Target="slides/slide464.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532" Type="http://schemas.openxmlformats.org/officeDocument/2006/relationships/slide" Target="slides/slide531.xml"/><Relationship Id="rId574" Type="http://schemas.openxmlformats.org/officeDocument/2006/relationships/handoutMaster" Target="handoutMasters/handoutMaster1.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476" Type="http://schemas.openxmlformats.org/officeDocument/2006/relationships/slide" Target="slides/slide475.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501" Type="http://schemas.openxmlformats.org/officeDocument/2006/relationships/slide" Target="slides/slide500.xml"/><Relationship Id="rId543" Type="http://schemas.openxmlformats.org/officeDocument/2006/relationships/slide" Target="slides/slide542.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487" Type="http://schemas.openxmlformats.org/officeDocument/2006/relationships/slide" Target="slides/slide486.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512" Type="http://schemas.openxmlformats.org/officeDocument/2006/relationships/slide" Target="slides/slide511.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54" Type="http://schemas.openxmlformats.org/officeDocument/2006/relationships/slide" Target="slides/slide553.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498" Type="http://schemas.openxmlformats.org/officeDocument/2006/relationships/slide" Target="slides/slide497.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23" Type="http://schemas.openxmlformats.org/officeDocument/2006/relationships/slide" Target="slides/slide522.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slide" Target="slides/slide466.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534" Type="http://schemas.openxmlformats.org/officeDocument/2006/relationships/slide" Target="slides/slide533.xml"/><Relationship Id="rId576" Type="http://schemas.openxmlformats.org/officeDocument/2006/relationships/viewProps" Target="viewProps.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240" Type="http://schemas.openxmlformats.org/officeDocument/2006/relationships/slide" Target="slides/slide239.xml"/><Relationship Id="rId478" Type="http://schemas.openxmlformats.org/officeDocument/2006/relationships/slide" Target="slides/slide477.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503" Type="http://schemas.openxmlformats.org/officeDocument/2006/relationships/slide" Target="slides/slide502.xml"/><Relationship Id="rId545" Type="http://schemas.openxmlformats.org/officeDocument/2006/relationships/slide" Target="slides/slide544.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251" Type="http://schemas.openxmlformats.org/officeDocument/2006/relationships/slide" Target="slides/slide250.xml"/><Relationship Id="rId489" Type="http://schemas.openxmlformats.org/officeDocument/2006/relationships/slide" Target="slides/slide488.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514" Type="http://schemas.openxmlformats.org/officeDocument/2006/relationships/slide" Target="slides/slide513.xml"/><Relationship Id="rId556" Type="http://schemas.openxmlformats.org/officeDocument/2006/relationships/slide" Target="slides/slide555.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458" Type="http://schemas.openxmlformats.org/officeDocument/2006/relationships/slide" Target="slides/slide457.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525" Type="http://schemas.openxmlformats.org/officeDocument/2006/relationships/slide" Target="slides/slide524.xml"/><Relationship Id="rId567" Type="http://schemas.openxmlformats.org/officeDocument/2006/relationships/slide" Target="slides/slide566.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469" Type="http://schemas.openxmlformats.org/officeDocument/2006/relationships/slide" Target="slides/slide468.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slide" Target="slides/slide479.xml"/><Relationship Id="rId536" Type="http://schemas.openxmlformats.org/officeDocument/2006/relationships/slide" Target="slides/slide53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ja-JP"/>
        </a:p>
      </c:txPr>
    </c:title>
    <c:autoTitleDeleted val="0"/>
    <c:plotArea>
      <c:layout/>
      <c:lineChart>
        <c:grouping val="standard"/>
        <c:varyColors val="0"/>
        <c:ser>
          <c:idx val="0"/>
          <c:order val="0"/>
          <c:tx>
            <c:strRef>
              <c:f>Sheet1!$B$1</c:f>
              <c:strCache>
                <c:ptCount val="1"/>
                <c:pt idx="0">
                  <c:v>認証件数</c:v>
                </c:pt>
              </c:strCache>
            </c:strRef>
          </c:tx>
          <c:spPr>
            <a:ln w="31750" cap="rnd">
              <a:solidFill>
                <a:schemeClr val="accent1"/>
              </a:solidFill>
              <a:round/>
            </a:ln>
            <a:effectLst/>
          </c:spPr>
          <c:marker>
            <c:symbol val="circle"/>
            <c:size val="17"/>
            <c:spPr>
              <a:solidFill>
                <a:schemeClr val="accent1"/>
              </a:solidFill>
              <a:ln>
                <a:noFill/>
              </a:ln>
              <a:effectLst/>
            </c:spPr>
          </c:marker>
          <c:dLbls>
            <c:dLbl>
              <c:idx val="0"/>
              <c:layout>
                <c:manualLayout>
                  <c:x val="-4.9846737066304776E-2"/>
                  <c:y val="-3.20085356094959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10-4823-A3A9-C3C41066115A}"/>
                </c:ext>
              </c:extLst>
            </c:dLbl>
            <c:dLbl>
              <c:idx val="1"/>
              <c:layout>
                <c:manualLayout>
                  <c:x val="-4.6854516838896063E-2"/>
                  <c:y val="-5.33475593491597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10-4823-A3A9-C3C41066115A}"/>
                </c:ext>
              </c:extLst>
            </c:dLbl>
            <c:dLbl>
              <c:idx val="2"/>
              <c:layout>
                <c:manualLayout>
                  <c:x val="-4.9846737066304797E-2"/>
                  <c:y val="-4.80128034142437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10-4823-A3A9-C3C41066115A}"/>
                </c:ext>
              </c:extLst>
            </c:dLbl>
            <c:dLbl>
              <c:idx val="3"/>
              <c:layout>
                <c:manualLayout>
                  <c:x val="-5.4335067407417878E-2"/>
                  <c:y val="-4.00106695118697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10-4823-A3A9-C3C41066115A}"/>
                </c:ext>
              </c:extLst>
            </c:dLbl>
            <c:dLbl>
              <c:idx val="4"/>
              <c:layout>
                <c:manualLayout>
                  <c:x val="-4.9846737066304776E-2"/>
                  <c:y val="-3.4675913576953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10-4823-A3A9-C3C41066115A}"/>
                </c:ext>
              </c:extLst>
            </c:dLbl>
            <c:dLbl>
              <c:idx val="5"/>
              <c:layout>
                <c:manualLayout>
                  <c:x val="-4.9846737066304776E-2"/>
                  <c:y val="-4.80128034142437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810-4823-A3A9-C3C41066115A}"/>
                </c:ext>
              </c:extLst>
            </c:dLbl>
            <c:dLbl>
              <c:idx val="6"/>
              <c:layout>
                <c:manualLayout>
                  <c:x val="-4.9846737066304776E-2"/>
                  <c:y val="-4.00106695118698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810-4823-A3A9-C3C41066115A}"/>
                </c:ext>
              </c:extLst>
            </c:dLbl>
            <c:dLbl>
              <c:idx val="7"/>
              <c:layout>
                <c:manualLayout>
                  <c:x val="-5.1342847180009143E-2"/>
                  <c:y val="-4.00106695118698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810-4823-A3A9-C3C41066115A}"/>
                </c:ext>
              </c:extLst>
            </c:dLbl>
            <c:dLbl>
              <c:idx val="8"/>
              <c:layout>
                <c:manualLayout>
                  <c:x val="-4.8350626952600513E-2"/>
                  <c:y val="5.33475593491598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810-4823-A3A9-C3C41066115A}"/>
                </c:ext>
              </c:extLst>
            </c:dLbl>
            <c:dLbl>
              <c:idx val="9"/>
              <c:layout>
                <c:manualLayout>
                  <c:x val="-4.9846737066304776E-2"/>
                  <c:y val="4.00106695118698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810-4823-A3A9-C3C41066115A}"/>
                </c:ext>
              </c:extLst>
            </c:dLbl>
            <c:dLbl>
              <c:idx val="10"/>
              <c:layout>
                <c:manualLayout>
                  <c:x val="-5.1342847180009143E-2"/>
                  <c:y val="4.53454254467857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810-4823-A3A9-C3C41066115A}"/>
                </c:ext>
              </c:extLst>
            </c:dLbl>
            <c:dLbl>
              <c:idx val="11"/>
              <c:layout>
                <c:manualLayout>
                  <c:x val="-4.3862296611487411E-2"/>
                  <c:y val="3.73432915444117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810-4823-A3A9-C3C41066115A}"/>
                </c:ext>
              </c:extLst>
            </c:dLbl>
            <c:dLbl>
              <c:idx val="12"/>
              <c:layout>
                <c:manualLayout>
                  <c:x val="-1.9686570821376231E-2"/>
                  <c:y val="4.53454254467857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810-4823-A3A9-C3C41066115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Sheet1!$A$2:$A$14</c:f>
              <c:numCache>
                <c:formatCode>General</c:formatCode>
                <c:ptCount val="13"/>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numCache>
            </c:numRef>
          </c:cat>
          <c:val>
            <c:numRef>
              <c:f>Sheet1!$B$2:$B$14</c:f>
              <c:numCache>
                <c:formatCode>#,##0_ </c:formatCode>
                <c:ptCount val="13"/>
                <c:pt idx="0">
                  <c:v>10019</c:v>
                </c:pt>
                <c:pt idx="1">
                  <c:v>17047</c:v>
                </c:pt>
                <c:pt idx="2">
                  <c:v>27999</c:v>
                </c:pt>
                <c:pt idx="3">
                  <c:v>35198</c:v>
                </c:pt>
                <c:pt idx="4">
                  <c:v>39320</c:v>
                </c:pt>
                <c:pt idx="5">
                  <c:v>41240</c:v>
                </c:pt>
                <c:pt idx="6">
                  <c:v>43946</c:v>
                </c:pt>
                <c:pt idx="7">
                  <c:v>47512</c:v>
                </c:pt>
                <c:pt idx="8">
                  <c:v>50071</c:v>
                </c:pt>
                <c:pt idx="9">
                  <c:v>53723</c:v>
                </c:pt>
                <c:pt idx="10">
                  <c:v>57950</c:v>
                </c:pt>
                <c:pt idx="11">
                  <c:v>62944</c:v>
                </c:pt>
                <c:pt idx="12">
                  <c:v>67358</c:v>
                </c:pt>
              </c:numCache>
            </c:numRef>
          </c:val>
          <c:smooth val="0"/>
          <c:extLst>
            <c:ext xmlns:c16="http://schemas.microsoft.com/office/drawing/2014/chart" uri="{C3380CC4-5D6E-409C-BE32-E72D297353CC}">
              <c16:uniqueId val="{00000000-3D4C-4C00-8408-00AB7586AA29}"/>
            </c:ext>
          </c:extLst>
        </c:ser>
        <c:dLbls>
          <c:dLblPos val="ctr"/>
          <c:showLegendKey val="0"/>
          <c:showVal val="1"/>
          <c:showCatName val="0"/>
          <c:showSerName val="0"/>
          <c:showPercent val="0"/>
          <c:showBubbleSize val="0"/>
        </c:dLbls>
        <c:marker val="1"/>
        <c:smooth val="0"/>
        <c:axId val="1047823152"/>
        <c:axId val="1047824464"/>
      </c:lineChart>
      <c:catAx>
        <c:axId val="1047823152"/>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ja-JP"/>
                  <a:t>時間軸</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ja-JP"/>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1" i="0" u="none" strike="noStrike" kern="1200" cap="all" baseline="0">
                <a:solidFill>
                  <a:schemeClr val="dk1">
                    <a:lumMod val="75000"/>
                    <a:lumOff val="25000"/>
                  </a:schemeClr>
                </a:solidFill>
                <a:latin typeface="+mn-lt"/>
                <a:ea typeface="+mn-ea"/>
                <a:cs typeface="+mn-cs"/>
              </a:defRPr>
            </a:pPr>
            <a:endParaRPr lang="ja-JP"/>
          </a:p>
        </c:txPr>
        <c:crossAx val="1047824464"/>
        <c:crosses val="autoZero"/>
        <c:auto val="1"/>
        <c:lblAlgn val="ctr"/>
        <c:lblOffset val="100"/>
        <c:noMultiLvlLbl val="0"/>
      </c:catAx>
      <c:valAx>
        <c:axId val="1047824464"/>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ja-JP"/>
                  <a:t>認証件数（件）</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ja-JP"/>
            </a:p>
          </c:txPr>
        </c:title>
        <c:numFmt formatCode="#,##0_ " sourceLinked="1"/>
        <c:majorTickMark val="none"/>
        <c:minorTickMark val="none"/>
        <c:tickLblPos val="nextTo"/>
        <c:crossAx val="1047823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styleClr val="auto"/>
    </cs:fillRef>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solidFill>
      </dgm:spPr>
      <dgm:t>
        <a:bodyPr/>
        <a:lstStyle/>
        <a:p>
          <a:r>
            <a:rPr kumimoji="1" lang="ja-JP" altLang="en-US" sz="3600" dirty="0">
              <a:solidFill>
                <a:schemeClr val="bg1"/>
              </a:solidFill>
            </a:rPr>
            <a:t>第１章　</a:t>
          </a:r>
          <a:r>
            <a:rPr kumimoji="1" lang="en-US" altLang="ja-JP" sz="3600" dirty="0">
              <a:solidFill>
                <a:schemeClr val="bg1"/>
              </a:solidFill>
            </a:rPr>
            <a:t>IATF16949:2016</a:t>
          </a:r>
          <a:r>
            <a:rPr kumimoji="1" lang="ja-JP" altLang="en-US" sz="3600" dirty="0">
              <a:solidFill>
                <a:schemeClr val="bg1"/>
              </a:solidFill>
            </a:rPr>
            <a:t>概要</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第２章　</a:t>
          </a:r>
          <a:r>
            <a:rPr kumimoji="1" lang="en-US" altLang="ja-JP" sz="2800" dirty="0">
              <a:solidFill>
                <a:schemeClr val="tx1"/>
              </a:solidFill>
            </a:rPr>
            <a:t>IATF16949:2016</a:t>
          </a:r>
          <a:r>
            <a:rPr kumimoji="1" lang="ja-JP" altLang="en-US" sz="2800" dirty="0">
              <a:solidFill>
                <a:schemeClr val="tx1"/>
              </a:solidFill>
            </a:rPr>
            <a:t>要求事項の理解</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第３章　コアツールの理解</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solidFill>
      </dgm:spPr>
      <dgm:t>
        <a:bodyPr/>
        <a:lstStyle/>
        <a:p>
          <a:r>
            <a:rPr kumimoji="1" lang="ja-JP" altLang="en-US" sz="3600" dirty="0">
              <a:solidFill>
                <a:schemeClr val="bg1"/>
              </a:solidFill>
            </a:rPr>
            <a:t>１．自動車産業を取り巻く環境</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a:t>
          </a:r>
          <a:r>
            <a:rPr kumimoji="1" lang="en-US" altLang="ja-JP" sz="2800" dirty="0">
              <a:solidFill>
                <a:schemeClr val="tx1"/>
              </a:solidFill>
            </a:rPr>
            <a:t>IATF16949</a:t>
          </a:r>
          <a:r>
            <a:rPr kumimoji="1" lang="ja-JP" altLang="en-US" sz="2800" dirty="0">
              <a:solidFill>
                <a:schemeClr val="tx1"/>
              </a:solidFill>
            </a:rPr>
            <a:t>とは</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３．要求事項の概要</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DDDB7C-D504-4016-8FCA-EC8A68683CA5}"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kumimoji="1" lang="ja-JP" altLang="en-US"/>
        </a:p>
      </dgm:t>
    </dgm:pt>
    <dgm:pt modelId="{F6871DBE-FDCF-40A1-AEFA-75070B7BACE7}">
      <dgm:prSet phldrT="[テキスト]" custT="1"/>
      <dgm:spPr>
        <a:solidFill>
          <a:schemeClr val="tx2">
            <a:lumMod val="40000"/>
            <a:lumOff val="60000"/>
          </a:schemeClr>
        </a:solidFill>
      </dgm:spPr>
      <dgm:t>
        <a:bodyPr/>
        <a:lstStyle/>
        <a:p>
          <a:r>
            <a:rPr kumimoji="1" lang="en-US" altLang="ja-JP" sz="2400" dirty="0">
              <a:solidFill>
                <a:schemeClr val="tx1"/>
              </a:solidFill>
            </a:rPr>
            <a:t>2008</a:t>
          </a:r>
          <a:r>
            <a:rPr kumimoji="1" lang="ja-JP" altLang="en-US" sz="2400" dirty="0">
              <a:solidFill>
                <a:schemeClr val="tx1"/>
              </a:solidFill>
            </a:rPr>
            <a:t>年　リーマンショックにおける経営環境の悪化</a:t>
          </a:r>
        </a:p>
      </dgm:t>
    </dgm:pt>
    <dgm:pt modelId="{D45843B8-2809-4CB7-99F5-5C9DB4D2F3AE}" type="parTrans" cxnId="{F1DE2742-3837-4878-AA6B-FADE95090BF0}">
      <dgm:prSet/>
      <dgm:spPr/>
      <dgm:t>
        <a:bodyPr/>
        <a:lstStyle/>
        <a:p>
          <a:endParaRPr kumimoji="1" lang="ja-JP" altLang="en-US"/>
        </a:p>
      </dgm:t>
    </dgm:pt>
    <dgm:pt modelId="{316BF4FE-5A1B-442B-BD90-1CE15CF687AE}" type="sibTrans" cxnId="{F1DE2742-3837-4878-AA6B-FADE95090BF0}">
      <dgm:prSet/>
      <dgm:spPr>
        <a:solidFill>
          <a:schemeClr val="accent1">
            <a:alpha val="90000"/>
          </a:schemeClr>
        </a:solidFill>
      </dgm:spPr>
      <dgm:t>
        <a:bodyPr/>
        <a:lstStyle/>
        <a:p>
          <a:endParaRPr kumimoji="1" lang="ja-JP" altLang="en-US"/>
        </a:p>
      </dgm:t>
    </dgm:pt>
    <dgm:pt modelId="{0198E3F9-14CA-4C5E-A76B-2DBE131745F3}">
      <dgm:prSet phldrT="[テキスト]" custT="1"/>
      <dgm:spPr>
        <a:solidFill>
          <a:schemeClr val="tx2">
            <a:lumMod val="40000"/>
            <a:lumOff val="60000"/>
          </a:schemeClr>
        </a:solidFill>
      </dgm:spPr>
      <dgm:t>
        <a:bodyPr/>
        <a:lstStyle/>
        <a:p>
          <a:r>
            <a:rPr kumimoji="1" lang="ja-JP" altLang="en-US" sz="2400" dirty="0">
              <a:solidFill>
                <a:schemeClr val="tx1"/>
              </a:solidFill>
            </a:rPr>
            <a:t>ニーズの多様化と高度化（基本性能</a:t>
          </a:r>
          <a:r>
            <a:rPr kumimoji="1" lang="en-US" altLang="ja-JP" sz="2400" dirty="0">
              <a:solidFill>
                <a:schemeClr val="tx1"/>
              </a:solidFill>
            </a:rPr>
            <a:t>+</a:t>
          </a:r>
          <a:r>
            <a:rPr kumimoji="1" lang="ja-JP" altLang="en-US" sz="2400" dirty="0">
              <a:solidFill>
                <a:schemeClr val="tx1"/>
              </a:solidFill>
            </a:rPr>
            <a:t>安全性能</a:t>
          </a:r>
          <a:r>
            <a:rPr kumimoji="1" lang="en-US" altLang="ja-JP" sz="2400" dirty="0">
              <a:solidFill>
                <a:schemeClr val="tx1"/>
              </a:solidFill>
            </a:rPr>
            <a:t>+</a:t>
          </a:r>
          <a:r>
            <a:rPr kumimoji="1" lang="ja-JP" altLang="en-US" sz="2400" dirty="0">
              <a:solidFill>
                <a:schemeClr val="tx1"/>
              </a:solidFill>
            </a:rPr>
            <a:t>環境性能</a:t>
          </a:r>
          <a:r>
            <a:rPr kumimoji="1" lang="en-US" altLang="ja-JP" sz="2400" dirty="0">
              <a:solidFill>
                <a:schemeClr val="tx1"/>
              </a:solidFill>
            </a:rPr>
            <a:t>+</a:t>
          </a:r>
          <a:r>
            <a:rPr kumimoji="1" lang="ja-JP" altLang="en-US" sz="2400" dirty="0">
              <a:solidFill>
                <a:schemeClr val="tx1"/>
              </a:solidFill>
            </a:rPr>
            <a:t>自動化）</a:t>
          </a:r>
        </a:p>
      </dgm:t>
    </dgm:pt>
    <dgm:pt modelId="{2D16CBB9-B819-4071-BC6A-F83300F8B157}" type="parTrans" cxnId="{706032D6-E9B7-4E68-9DAF-CD58979D4467}">
      <dgm:prSet/>
      <dgm:spPr/>
      <dgm:t>
        <a:bodyPr/>
        <a:lstStyle/>
        <a:p>
          <a:endParaRPr kumimoji="1" lang="ja-JP" altLang="en-US"/>
        </a:p>
      </dgm:t>
    </dgm:pt>
    <dgm:pt modelId="{C00D5613-973B-4333-A3EA-5750C6499072}" type="sibTrans" cxnId="{706032D6-E9B7-4E68-9DAF-CD58979D4467}">
      <dgm:prSet/>
      <dgm:spPr>
        <a:solidFill>
          <a:schemeClr val="accent1">
            <a:alpha val="90000"/>
          </a:schemeClr>
        </a:solidFill>
      </dgm:spPr>
      <dgm:t>
        <a:bodyPr/>
        <a:lstStyle/>
        <a:p>
          <a:endParaRPr kumimoji="1" lang="ja-JP" altLang="en-US"/>
        </a:p>
      </dgm:t>
    </dgm:pt>
    <dgm:pt modelId="{899E8CA1-2DA1-48D4-A993-860AFD4E032F}">
      <dgm:prSet phldrT="[テキスト]" custT="1"/>
      <dgm:spPr>
        <a:solidFill>
          <a:schemeClr val="tx2">
            <a:lumMod val="40000"/>
            <a:lumOff val="60000"/>
          </a:schemeClr>
        </a:solidFill>
      </dgm:spPr>
      <dgm:t>
        <a:bodyPr/>
        <a:lstStyle/>
        <a:p>
          <a:r>
            <a:rPr kumimoji="1" lang="ja-JP" altLang="en-US" sz="2400" dirty="0">
              <a:solidFill>
                <a:schemeClr val="tx1"/>
              </a:solidFill>
            </a:rPr>
            <a:t>サプライチェーンによる体系的品質保証の見直し</a:t>
          </a:r>
        </a:p>
      </dgm:t>
    </dgm:pt>
    <dgm:pt modelId="{AED0A4F5-18D0-45A4-9C72-67EAC7821F17}" type="parTrans" cxnId="{ABA3C55C-E2EC-4D15-BCDF-A9E3A92080AD}">
      <dgm:prSet/>
      <dgm:spPr/>
      <dgm:t>
        <a:bodyPr/>
        <a:lstStyle/>
        <a:p>
          <a:endParaRPr kumimoji="1" lang="ja-JP" altLang="en-US"/>
        </a:p>
      </dgm:t>
    </dgm:pt>
    <dgm:pt modelId="{A59844E6-2A60-4B18-BB24-156ADF9B28CD}" type="sibTrans" cxnId="{ABA3C55C-E2EC-4D15-BCDF-A9E3A92080AD}">
      <dgm:prSet/>
      <dgm:spPr/>
      <dgm:t>
        <a:bodyPr/>
        <a:lstStyle/>
        <a:p>
          <a:endParaRPr kumimoji="1" lang="ja-JP" altLang="en-US"/>
        </a:p>
      </dgm:t>
    </dgm:pt>
    <dgm:pt modelId="{89180E1E-22FA-4757-A5CC-9D702A49B75A}">
      <dgm:prSet phldrT="[テキスト]" custT="1"/>
      <dgm:spPr>
        <a:solidFill>
          <a:schemeClr val="tx2">
            <a:lumMod val="40000"/>
            <a:lumOff val="60000"/>
          </a:schemeClr>
        </a:solidFill>
      </dgm:spPr>
      <dgm:t>
        <a:bodyPr/>
        <a:lstStyle/>
        <a:p>
          <a:r>
            <a:rPr kumimoji="1" lang="ja-JP" altLang="en-US" sz="2400" dirty="0">
              <a:solidFill>
                <a:schemeClr val="tx1"/>
              </a:solidFill>
            </a:rPr>
            <a:t>安全神話の岐路（リコール隠し／安全装置のリコール）</a:t>
          </a:r>
        </a:p>
      </dgm:t>
    </dgm:pt>
    <dgm:pt modelId="{4159B4A3-8814-4EE8-AB1F-D9FD0AE93079}" type="parTrans" cxnId="{A1CEF746-75E2-49DB-97D6-466F9929D99B}">
      <dgm:prSet/>
      <dgm:spPr/>
      <dgm:t>
        <a:bodyPr/>
        <a:lstStyle/>
        <a:p>
          <a:endParaRPr kumimoji="1" lang="ja-JP" altLang="en-US"/>
        </a:p>
      </dgm:t>
    </dgm:pt>
    <dgm:pt modelId="{4E7C113A-722D-4C38-A560-982EC2FDCD55}" type="sibTrans" cxnId="{A1CEF746-75E2-49DB-97D6-466F9929D99B}">
      <dgm:prSet/>
      <dgm:spPr>
        <a:solidFill>
          <a:schemeClr val="accent1">
            <a:alpha val="90000"/>
          </a:schemeClr>
        </a:solidFill>
      </dgm:spPr>
      <dgm:t>
        <a:bodyPr/>
        <a:lstStyle/>
        <a:p>
          <a:endParaRPr kumimoji="1" lang="ja-JP" altLang="en-US"/>
        </a:p>
      </dgm:t>
    </dgm:pt>
    <dgm:pt modelId="{A6C05679-AED9-4AC1-A15E-F82EE2A9BF70}" type="pres">
      <dgm:prSet presAssocID="{AADDDB7C-D504-4016-8FCA-EC8A68683CA5}" presName="outerComposite" presStyleCnt="0">
        <dgm:presLayoutVars>
          <dgm:chMax val="5"/>
          <dgm:dir/>
          <dgm:resizeHandles val="exact"/>
        </dgm:presLayoutVars>
      </dgm:prSet>
      <dgm:spPr/>
      <dgm:t>
        <a:bodyPr/>
        <a:lstStyle/>
        <a:p>
          <a:endParaRPr kumimoji="1" lang="ja-JP" altLang="en-US"/>
        </a:p>
      </dgm:t>
    </dgm:pt>
    <dgm:pt modelId="{7A015515-85D7-454B-A931-733A7ACB4368}" type="pres">
      <dgm:prSet presAssocID="{AADDDB7C-D504-4016-8FCA-EC8A68683CA5}" presName="dummyMaxCanvas" presStyleCnt="0">
        <dgm:presLayoutVars/>
      </dgm:prSet>
      <dgm:spPr/>
    </dgm:pt>
    <dgm:pt modelId="{34D98B2C-054B-4AED-9D2E-315F9F120B9E}" type="pres">
      <dgm:prSet presAssocID="{AADDDB7C-D504-4016-8FCA-EC8A68683CA5}" presName="FourNodes_1" presStyleLbl="node1" presStyleIdx="0" presStyleCnt="4">
        <dgm:presLayoutVars>
          <dgm:bulletEnabled val="1"/>
        </dgm:presLayoutVars>
      </dgm:prSet>
      <dgm:spPr/>
      <dgm:t>
        <a:bodyPr/>
        <a:lstStyle/>
        <a:p>
          <a:endParaRPr kumimoji="1" lang="ja-JP" altLang="en-US"/>
        </a:p>
      </dgm:t>
    </dgm:pt>
    <dgm:pt modelId="{E321AA24-3C16-4E54-94B9-9CB238FEE758}" type="pres">
      <dgm:prSet presAssocID="{AADDDB7C-D504-4016-8FCA-EC8A68683CA5}" presName="FourNodes_2" presStyleLbl="node1" presStyleIdx="1" presStyleCnt="4">
        <dgm:presLayoutVars>
          <dgm:bulletEnabled val="1"/>
        </dgm:presLayoutVars>
      </dgm:prSet>
      <dgm:spPr/>
      <dgm:t>
        <a:bodyPr/>
        <a:lstStyle/>
        <a:p>
          <a:endParaRPr kumimoji="1" lang="ja-JP" altLang="en-US"/>
        </a:p>
      </dgm:t>
    </dgm:pt>
    <dgm:pt modelId="{ECBFD607-1ED8-4E85-8D39-7E68E32FF1CB}" type="pres">
      <dgm:prSet presAssocID="{AADDDB7C-D504-4016-8FCA-EC8A68683CA5}" presName="FourNodes_3" presStyleLbl="node1" presStyleIdx="2" presStyleCnt="4">
        <dgm:presLayoutVars>
          <dgm:bulletEnabled val="1"/>
        </dgm:presLayoutVars>
      </dgm:prSet>
      <dgm:spPr/>
      <dgm:t>
        <a:bodyPr/>
        <a:lstStyle/>
        <a:p>
          <a:endParaRPr kumimoji="1" lang="ja-JP" altLang="en-US"/>
        </a:p>
      </dgm:t>
    </dgm:pt>
    <dgm:pt modelId="{D9D890B3-69DC-432B-99EE-AC5ABC588664}" type="pres">
      <dgm:prSet presAssocID="{AADDDB7C-D504-4016-8FCA-EC8A68683CA5}" presName="FourNodes_4" presStyleLbl="node1" presStyleIdx="3" presStyleCnt="4">
        <dgm:presLayoutVars>
          <dgm:bulletEnabled val="1"/>
        </dgm:presLayoutVars>
      </dgm:prSet>
      <dgm:spPr/>
      <dgm:t>
        <a:bodyPr/>
        <a:lstStyle/>
        <a:p>
          <a:endParaRPr kumimoji="1" lang="ja-JP" altLang="en-US"/>
        </a:p>
      </dgm:t>
    </dgm:pt>
    <dgm:pt modelId="{8B7D37E8-73CB-4503-A964-839C0FCF004C}" type="pres">
      <dgm:prSet presAssocID="{AADDDB7C-D504-4016-8FCA-EC8A68683CA5}" presName="FourConn_1-2" presStyleLbl="fgAccFollowNode1" presStyleIdx="0" presStyleCnt="3">
        <dgm:presLayoutVars>
          <dgm:bulletEnabled val="1"/>
        </dgm:presLayoutVars>
      </dgm:prSet>
      <dgm:spPr/>
      <dgm:t>
        <a:bodyPr/>
        <a:lstStyle/>
        <a:p>
          <a:endParaRPr kumimoji="1" lang="ja-JP" altLang="en-US"/>
        </a:p>
      </dgm:t>
    </dgm:pt>
    <dgm:pt modelId="{9033DEB2-BC28-49FB-9CD6-7E8D832B5B66}" type="pres">
      <dgm:prSet presAssocID="{AADDDB7C-D504-4016-8FCA-EC8A68683CA5}" presName="FourConn_2-3" presStyleLbl="fgAccFollowNode1" presStyleIdx="1" presStyleCnt="3">
        <dgm:presLayoutVars>
          <dgm:bulletEnabled val="1"/>
        </dgm:presLayoutVars>
      </dgm:prSet>
      <dgm:spPr/>
      <dgm:t>
        <a:bodyPr/>
        <a:lstStyle/>
        <a:p>
          <a:endParaRPr kumimoji="1" lang="ja-JP" altLang="en-US"/>
        </a:p>
      </dgm:t>
    </dgm:pt>
    <dgm:pt modelId="{36291D65-AA77-497B-9471-1F84E3AE4DC3}" type="pres">
      <dgm:prSet presAssocID="{AADDDB7C-D504-4016-8FCA-EC8A68683CA5}" presName="FourConn_3-4" presStyleLbl="fgAccFollowNode1" presStyleIdx="2" presStyleCnt="3">
        <dgm:presLayoutVars>
          <dgm:bulletEnabled val="1"/>
        </dgm:presLayoutVars>
      </dgm:prSet>
      <dgm:spPr/>
      <dgm:t>
        <a:bodyPr/>
        <a:lstStyle/>
        <a:p>
          <a:endParaRPr kumimoji="1" lang="ja-JP" altLang="en-US"/>
        </a:p>
      </dgm:t>
    </dgm:pt>
    <dgm:pt modelId="{7B23B67A-3215-48E9-A451-869E88B2967F}" type="pres">
      <dgm:prSet presAssocID="{AADDDB7C-D504-4016-8FCA-EC8A68683CA5}" presName="FourNodes_1_text" presStyleLbl="node1" presStyleIdx="3" presStyleCnt="4">
        <dgm:presLayoutVars>
          <dgm:bulletEnabled val="1"/>
        </dgm:presLayoutVars>
      </dgm:prSet>
      <dgm:spPr/>
      <dgm:t>
        <a:bodyPr/>
        <a:lstStyle/>
        <a:p>
          <a:endParaRPr kumimoji="1" lang="ja-JP" altLang="en-US"/>
        </a:p>
      </dgm:t>
    </dgm:pt>
    <dgm:pt modelId="{4BDEC81B-0374-4264-9958-9F5619402406}" type="pres">
      <dgm:prSet presAssocID="{AADDDB7C-D504-4016-8FCA-EC8A68683CA5}" presName="FourNodes_2_text" presStyleLbl="node1" presStyleIdx="3" presStyleCnt="4">
        <dgm:presLayoutVars>
          <dgm:bulletEnabled val="1"/>
        </dgm:presLayoutVars>
      </dgm:prSet>
      <dgm:spPr/>
      <dgm:t>
        <a:bodyPr/>
        <a:lstStyle/>
        <a:p>
          <a:endParaRPr kumimoji="1" lang="ja-JP" altLang="en-US"/>
        </a:p>
      </dgm:t>
    </dgm:pt>
    <dgm:pt modelId="{6BA7BCAC-4AA1-469B-AABD-10F9DC9B064F}" type="pres">
      <dgm:prSet presAssocID="{AADDDB7C-D504-4016-8FCA-EC8A68683CA5}" presName="FourNodes_3_text" presStyleLbl="node1" presStyleIdx="3" presStyleCnt="4">
        <dgm:presLayoutVars>
          <dgm:bulletEnabled val="1"/>
        </dgm:presLayoutVars>
      </dgm:prSet>
      <dgm:spPr/>
      <dgm:t>
        <a:bodyPr/>
        <a:lstStyle/>
        <a:p>
          <a:endParaRPr kumimoji="1" lang="ja-JP" altLang="en-US"/>
        </a:p>
      </dgm:t>
    </dgm:pt>
    <dgm:pt modelId="{83F02C9C-0B6E-4F89-A4A1-50D84161DF86}" type="pres">
      <dgm:prSet presAssocID="{AADDDB7C-D504-4016-8FCA-EC8A68683CA5}" presName="FourNodes_4_text" presStyleLbl="node1" presStyleIdx="3" presStyleCnt="4">
        <dgm:presLayoutVars>
          <dgm:bulletEnabled val="1"/>
        </dgm:presLayoutVars>
      </dgm:prSet>
      <dgm:spPr/>
      <dgm:t>
        <a:bodyPr/>
        <a:lstStyle/>
        <a:p>
          <a:endParaRPr kumimoji="1" lang="ja-JP" altLang="en-US"/>
        </a:p>
      </dgm:t>
    </dgm:pt>
  </dgm:ptLst>
  <dgm:cxnLst>
    <dgm:cxn modelId="{F1DE2742-3837-4878-AA6B-FADE95090BF0}" srcId="{AADDDB7C-D504-4016-8FCA-EC8A68683CA5}" destId="{F6871DBE-FDCF-40A1-AEFA-75070B7BACE7}" srcOrd="0" destOrd="0" parTransId="{D45843B8-2809-4CB7-99F5-5C9DB4D2F3AE}" sibTransId="{316BF4FE-5A1B-442B-BD90-1CE15CF687AE}"/>
    <dgm:cxn modelId="{7951E268-2162-4E1D-82FA-96184187FA59}" type="presOf" srcId="{899E8CA1-2DA1-48D4-A993-860AFD4E032F}" destId="{83F02C9C-0B6E-4F89-A4A1-50D84161DF86}" srcOrd="1" destOrd="0" presId="urn:microsoft.com/office/officeart/2005/8/layout/vProcess5"/>
    <dgm:cxn modelId="{ABA3C55C-E2EC-4D15-BCDF-A9E3A92080AD}" srcId="{AADDDB7C-D504-4016-8FCA-EC8A68683CA5}" destId="{899E8CA1-2DA1-48D4-A993-860AFD4E032F}" srcOrd="3" destOrd="0" parTransId="{AED0A4F5-18D0-45A4-9C72-67EAC7821F17}" sibTransId="{A59844E6-2A60-4B18-BB24-156ADF9B28CD}"/>
    <dgm:cxn modelId="{3D6DAD0F-DA44-4B6E-A55F-7F42E2EC679D}" type="presOf" srcId="{316BF4FE-5A1B-442B-BD90-1CE15CF687AE}" destId="{8B7D37E8-73CB-4503-A964-839C0FCF004C}" srcOrd="0" destOrd="0" presId="urn:microsoft.com/office/officeart/2005/8/layout/vProcess5"/>
    <dgm:cxn modelId="{25750054-91F9-4278-BE61-490303E1CC49}" type="presOf" srcId="{0198E3F9-14CA-4C5E-A76B-2DBE131745F3}" destId="{6BA7BCAC-4AA1-469B-AABD-10F9DC9B064F}" srcOrd="1" destOrd="0" presId="urn:microsoft.com/office/officeart/2005/8/layout/vProcess5"/>
    <dgm:cxn modelId="{C6C1BDD7-FC73-49E4-83C6-4AF15F619943}" type="presOf" srcId="{4E7C113A-722D-4C38-A560-982EC2FDCD55}" destId="{9033DEB2-BC28-49FB-9CD6-7E8D832B5B66}" srcOrd="0" destOrd="0" presId="urn:microsoft.com/office/officeart/2005/8/layout/vProcess5"/>
    <dgm:cxn modelId="{14A0AE8D-696A-4672-88E4-C3B07643B5D4}" type="presOf" srcId="{89180E1E-22FA-4757-A5CC-9D702A49B75A}" destId="{E321AA24-3C16-4E54-94B9-9CB238FEE758}" srcOrd="0" destOrd="0" presId="urn:microsoft.com/office/officeart/2005/8/layout/vProcess5"/>
    <dgm:cxn modelId="{106A04E6-E1F5-4BEF-B6C4-51BD9B12A410}" type="presOf" srcId="{F6871DBE-FDCF-40A1-AEFA-75070B7BACE7}" destId="{34D98B2C-054B-4AED-9D2E-315F9F120B9E}" srcOrd="0" destOrd="0" presId="urn:microsoft.com/office/officeart/2005/8/layout/vProcess5"/>
    <dgm:cxn modelId="{47EE1327-6576-4487-BD01-3BF16FBB0D30}" type="presOf" srcId="{AADDDB7C-D504-4016-8FCA-EC8A68683CA5}" destId="{A6C05679-AED9-4AC1-A15E-F82EE2A9BF70}" srcOrd="0" destOrd="0" presId="urn:microsoft.com/office/officeart/2005/8/layout/vProcess5"/>
    <dgm:cxn modelId="{A1CEF746-75E2-49DB-97D6-466F9929D99B}" srcId="{AADDDB7C-D504-4016-8FCA-EC8A68683CA5}" destId="{89180E1E-22FA-4757-A5CC-9D702A49B75A}" srcOrd="1" destOrd="0" parTransId="{4159B4A3-8814-4EE8-AB1F-D9FD0AE93079}" sibTransId="{4E7C113A-722D-4C38-A560-982EC2FDCD55}"/>
    <dgm:cxn modelId="{706032D6-E9B7-4E68-9DAF-CD58979D4467}" srcId="{AADDDB7C-D504-4016-8FCA-EC8A68683CA5}" destId="{0198E3F9-14CA-4C5E-A76B-2DBE131745F3}" srcOrd="2" destOrd="0" parTransId="{2D16CBB9-B819-4071-BC6A-F83300F8B157}" sibTransId="{C00D5613-973B-4333-A3EA-5750C6499072}"/>
    <dgm:cxn modelId="{9E0366C6-8917-4D9D-8502-D53C54027656}" type="presOf" srcId="{0198E3F9-14CA-4C5E-A76B-2DBE131745F3}" destId="{ECBFD607-1ED8-4E85-8D39-7E68E32FF1CB}" srcOrd="0" destOrd="0" presId="urn:microsoft.com/office/officeart/2005/8/layout/vProcess5"/>
    <dgm:cxn modelId="{72A994C3-5592-4DBB-AD42-8242BDC28CEC}" type="presOf" srcId="{C00D5613-973B-4333-A3EA-5750C6499072}" destId="{36291D65-AA77-497B-9471-1F84E3AE4DC3}" srcOrd="0" destOrd="0" presId="urn:microsoft.com/office/officeart/2005/8/layout/vProcess5"/>
    <dgm:cxn modelId="{1F01A6CC-D61B-4A18-B2C5-B545DC10D2FF}" type="presOf" srcId="{F6871DBE-FDCF-40A1-AEFA-75070B7BACE7}" destId="{7B23B67A-3215-48E9-A451-869E88B2967F}" srcOrd="1" destOrd="0" presId="urn:microsoft.com/office/officeart/2005/8/layout/vProcess5"/>
    <dgm:cxn modelId="{0BB8423C-4581-49C9-A603-31E6B130B49A}" type="presOf" srcId="{899E8CA1-2DA1-48D4-A993-860AFD4E032F}" destId="{D9D890B3-69DC-432B-99EE-AC5ABC588664}" srcOrd="0" destOrd="0" presId="urn:microsoft.com/office/officeart/2005/8/layout/vProcess5"/>
    <dgm:cxn modelId="{EC6639FC-2223-4045-9FA5-309169869EE7}" type="presOf" srcId="{89180E1E-22FA-4757-A5CC-9D702A49B75A}" destId="{4BDEC81B-0374-4264-9958-9F5619402406}" srcOrd="1" destOrd="0" presId="urn:microsoft.com/office/officeart/2005/8/layout/vProcess5"/>
    <dgm:cxn modelId="{F4609171-407B-4110-AD7E-A3EFBD36B8ED}" type="presParOf" srcId="{A6C05679-AED9-4AC1-A15E-F82EE2A9BF70}" destId="{7A015515-85D7-454B-A931-733A7ACB4368}" srcOrd="0" destOrd="0" presId="urn:microsoft.com/office/officeart/2005/8/layout/vProcess5"/>
    <dgm:cxn modelId="{0DAABF1D-E5B7-4B61-9648-CDB62B36F64D}" type="presParOf" srcId="{A6C05679-AED9-4AC1-A15E-F82EE2A9BF70}" destId="{34D98B2C-054B-4AED-9D2E-315F9F120B9E}" srcOrd="1" destOrd="0" presId="urn:microsoft.com/office/officeart/2005/8/layout/vProcess5"/>
    <dgm:cxn modelId="{6F0A2279-E31A-4A0D-A9BB-57F2AAAC12E1}" type="presParOf" srcId="{A6C05679-AED9-4AC1-A15E-F82EE2A9BF70}" destId="{E321AA24-3C16-4E54-94B9-9CB238FEE758}" srcOrd="2" destOrd="0" presId="urn:microsoft.com/office/officeart/2005/8/layout/vProcess5"/>
    <dgm:cxn modelId="{661C4F28-D97B-42CC-BBB8-28F0DF247EDB}" type="presParOf" srcId="{A6C05679-AED9-4AC1-A15E-F82EE2A9BF70}" destId="{ECBFD607-1ED8-4E85-8D39-7E68E32FF1CB}" srcOrd="3" destOrd="0" presId="urn:microsoft.com/office/officeart/2005/8/layout/vProcess5"/>
    <dgm:cxn modelId="{AC8CEE44-0CFD-487F-A125-801A18F2F5BB}" type="presParOf" srcId="{A6C05679-AED9-4AC1-A15E-F82EE2A9BF70}" destId="{D9D890B3-69DC-432B-99EE-AC5ABC588664}" srcOrd="4" destOrd="0" presId="urn:microsoft.com/office/officeart/2005/8/layout/vProcess5"/>
    <dgm:cxn modelId="{6D1F9C25-4A33-46FD-8207-5C50D56A7C88}" type="presParOf" srcId="{A6C05679-AED9-4AC1-A15E-F82EE2A9BF70}" destId="{8B7D37E8-73CB-4503-A964-839C0FCF004C}" srcOrd="5" destOrd="0" presId="urn:microsoft.com/office/officeart/2005/8/layout/vProcess5"/>
    <dgm:cxn modelId="{ECA4403A-1FC7-4595-9ADA-71EDD8EB56CE}" type="presParOf" srcId="{A6C05679-AED9-4AC1-A15E-F82EE2A9BF70}" destId="{9033DEB2-BC28-49FB-9CD6-7E8D832B5B66}" srcOrd="6" destOrd="0" presId="urn:microsoft.com/office/officeart/2005/8/layout/vProcess5"/>
    <dgm:cxn modelId="{24608D83-01B0-4D92-B42F-76B125AD9346}" type="presParOf" srcId="{A6C05679-AED9-4AC1-A15E-F82EE2A9BF70}" destId="{36291D65-AA77-497B-9471-1F84E3AE4DC3}" srcOrd="7" destOrd="0" presId="urn:microsoft.com/office/officeart/2005/8/layout/vProcess5"/>
    <dgm:cxn modelId="{E85A15E9-025A-4AFD-B3BC-A9531A81F0D4}" type="presParOf" srcId="{A6C05679-AED9-4AC1-A15E-F82EE2A9BF70}" destId="{7B23B67A-3215-48E9-A451-869E88B2967F}" srcOrd="8" destOrd="0" presId="urn:microsoft.com/office/officeart/2005/8/layout/vProcess5"/>
    <dgm:cxn modelId="{C1ED43E6-0C64-4A4E-A155-7E28DB88C657}" type="presParOf" srcId="{A6C05679-AED9-4AC1-A15E-F82EE2A9BF70}" destId="{4BDEC81B-0374-4264-9958-9F5619402406}" srcOrd="9" destOrd="0" presId="urn:microsoft.com/office/officeart/2005/8/layout/vProcess5"/>
    <dgm:cxn modelId="{3EF47778-F2FE-4A20-8BA9-794F8F837EF1}" type="presParOf" srcId="{A6C05679-AED9-4AC1-A15E-F82EE2A9BF70}" destId="{6BA7BCAC-4AA1-469B-AABD-10F9DC9B064F}" srcOrd="10" destOrd="0" presId="urn:microsoft.com/office/officeart/2005/8/layout/vProcess5"/>
    <dgm:cxn modelId="{C464F620-CBB2-4005-A2B7-5BB94A10890E}" type="presParOf" srcId="{A6C05679-AED9-4AC1-A15E-F82EE2A9BF70}" destId="{83F02C9C-0B6E-4F89-A4A1-50D84161DF8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9A2D02-A2A2-46C6-AC8C-69C0FB5E8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2233B6DF-AC93-4DA4-AB0F-7314469ADF65}">
      <dgm:prSet phldrT="[テキスト]" custT="1"/>
      <dgm:spPr>
        <a:solidFill>
          <a:schemeClr val="tx2">
            <a:lumMod val="40000"/>
            <a:lumOff val="60000"/>
          </a:schemeClr>
        </a:solidFill>
      </dgm:spPr>
      <dgm:t>
        <a:bodyPr/>
        <a:lstStyle/>
        <a:p>
          <a:r>
            <a:rPr kumimoji="1" lang="ja-JP" altLang="en-US" sz="2800" dirty="0">
              <a:solidFill>
                <a:schemeClr val="tx1"/>
              </a:solidFill>
            </a:rPr>
            <a:t>設計評価基準の甘さ</a:t>
          </a:r>
        </a:p>
      </dgm:t>
    </dgm:pt>
    <dgm:pt modelId="{7631EFE9-9D0B-443A-918E-8DC7120408B8}" type="parTrans" cxnId="{206D55E2-5012-44E3-B2AA-486DDBEC7608}">
      <dgm:prSet/>
      <dgm:spPr/>
      <dgm:t>
        <a:bodyPr/>
        <a:lstStyle/>
        <a:p>
          <a:endParaRPr kumimoji="1" lang="ja-JP" altLang="en-US"/>
        </a:p>
      </dgm:t>
    </dgm:pt>
    <dgm:pt modelId="{2C4113F2-FCCF-4AD9-AB49-23717A9B0B67}" type="sibTrans" cxnId="{206D55E2-5012-44E3-B2AA-486DDBEC7608}">
      <dgm:prSet/>
      <dgm:spPr/>
      <dgm:t>
        <a:bodyPr/>
        <a:lstStyle/>
        <a:p>
          <a:endParaRPr kumimoji="1" lang="ja-JP" altLang="en-US"/>
        </a:p>
      </dgm:t>
    </dgm:pt>
    <dgm:pt modelId="{BED4C084-1F3B-4C06-B410-688482E33204}">
      <dgm:prSet phldrT="[テキスト]" custT="1"/>
      <dgm:spPr/>
      <dgm:t>
        <a:bodyPr/>
        <a:lstStyle/>
        <a:p>
          <a:r>
            <a:rPr kumimoji="1" lang="ja-JP" altLang="en-US" sz="2400" dirty="0"/>
            <a:t>ＤＦＭＥＡ、設計審査、試作評価など</a:t>
          </a:r>
        </a:p>
      </dgm:t>
    </dgm:pt>
    <dgm:pt modelId="{37EE9182-1ACC-45A1-A6CE-9F9DC8D5101F}" type="parTrans" cxnId="{52CFDE69-8F5D-4169-8C65-D1B71CB00EA1}">
      <dgm:prSet/>
      <dgm:spPr/>
      <dgm:t>
        <a:bodyPr/>
        <a:lstStyle/>
        <a:p>
          <a:endParaRPr kumimoji="1" lang="ja-JP" altLang="en-US"/>
        </a:p>
      </dgm:t>
    </dgm:pt>
    <dgm:pt modelId="{20F9D0E3-71B8-4A5F-87C4-70634EC6A1EF}" type="sibTrans" cxnId="{52CFDE69-8F5D-4169-8C65-D1B71CB00EA1}">
      <dgm:prSet/>
      <dgm:spPr/>
      <dgm:t>
        <a:bodyPr/>
        <a:lstStyle/>
        <a:p>
          <a:endParaRPr kumimoji="1" lang="ja-JP" altLang="en-US"/>
        </a:p>
      </dgm:t>
    </dgm:pt>
    <dgm:pt modelId="{3165432E-4D8E-49C3-B9A9-157E5CD2BB55}">
      <dgm:prSet phldrT="[テキスト]" custT="1"/>
      <dgm:spPr>
        <a:solidFill>
          <a:schemeClr val="tx2">
            <a:lumMod val="40000"/>
            <a:lumOff val="60000"/>
          </a:schemeClr>
        </a:solidFill>
      </dgm:spPr>
      <dgm:t>
        <a:bodyPr/>
        <a:lstStyle/>
        <a:p>
          <a:r>
            <a:rPr kumimoji="1" lang="ja-JP" altLang="en-US" sz="2800" dirty="0">
              <a:solidFill>
                <a:schemeClr val="tx1"/>
              </a:solidFill>
            </a:rPr>
            <a:t>製造工程・作業管理の不適切</a:t>
          </a:r>
        </a:p>
      </dgm:t>
    </dgm:pt>
    <dgm:pt modelId="{31CE7DA7-AD6A-4DFF-9BB0-3429B0A50F7E}" type="parTrans" cxnId="{AF84C21B-25CB-40DA-8914-D9B10ECE54BC}">
      <dgm:prSet/>
      <dgm:spPr/>
      <dgm:t>
        <a:bodyPr/>
        <a:lstStyle/>
        <a:p>
          <a:endParaRPr kumimoji="1" lang="ja-JP" altLang="en-US"/>
        </a:p>
      </dgm:t>
    </dgm:pt>
    <dgm:pt modelId="{DD64D7F9-7B26-4F94-B8EE-53A44FBB7BED}" type="sibTrans" cxnId="{AF84C21B-25CB-40DA-8914-D9B10ECE54BC}">
      <dgm:prSet/>
      <dgm:spPr/>
      <dgm:t>
        <a:bodyPr/>
        <a:lstStyle/>
        <a:p>
          <a:endParaRPr kumimoji="1" lang="ja-JP" altLang="en-US"/>
        </a:p>
      </dgm:t>
    </dgm:pt>
    <dgm:pt modelId="{EED57C0D-D60C-42EE-827B-987AC756B58C}">
      <dgm:prSet phldrT="[テキスト]" custT="1"/>
      <dgm:spPr/>
      <dgm:t>
        <a:bodyPr/>
        <a:lstStyle/>
        <a:p>
          <a:r>
            <a:rPr kumimoji="1" lang="ja-JP" altLang="en-US" sz="2400" dirty="0"/>
            <a:t>力量、変更管理、ポカヨケなど</a:t>
          </a:r>
        </a:p>
      </dgm:t>
    </dgm:pt>
    <dgm:pt modelId="{20AB90EA-F811-4B76-8260-BA8F275AE97E}" type="parTrans" cxnId="{190BCD20-6298-4AC7-A197-37ED21A9A18F}">
      <dgm:prSet/>
      <dgm:spPr/>
      <dgm:t>
        <a:bodyPr/>
        <a:lstStyle/>
        <a:p>
          <a:endParaRPr kumimoji="1" lang="ja-JP" altLang="en-US"/>
        </a:p>
      </dgm:t>
    </dgm:pt>
    <dgm:pt modelId="{3FA61138-EDF4-4F46-BDF6-9E916105FB3F}" type="sibTrans" cxnId="{190BCD20-6298-4AC7-A197-37ED21A9A18F}">
      <dgm:prSet/>
      <dgm:spPr/>
      <dgm:t>
        <a:bodyPr/>
        <a:lstStyle/>
        <a:p>
          <a:endParaRPr kumimoji="1" lang="ja-JP" altLang="en-US"/>
        </a:p>
      </dgm:t>
    </dgm:pt>
    <dgm:pt modelId="{B557CEC4-6FA5-4D15-8641-ECE90D5C067C}">
      <dgm:prSet phldrT="[テキスト]" custT="1"/>
      <dgm:spPr>
        <a:solidFill>
          <a:schemeClr val="tx2">
            <a:lumMod val="40000"/>
            <a:lumOff val="60000"/>
          </a:schemeClr>
        </a:solidFill>
      </dgm:spPr>
      <dgm:t>
        <a:bodyPr/>
        <a:lstStyle/>
        <a:p>
          <a:r>
            <a:rPr kumimoji="1" lang="ja-JP" altLang="en-US" sz="2800" dirty="0">
              <a:solidFill>
                <a:schemeClr val="tx1"/>
              </a:solidFill>
            </a:rPr>
            <a:t>作業員のミス</a:t>
          </a:r>
        </a:p>
      </dgm:t>
    </dgm:pt>
    <dgm:pt modelId="{E6B1328F-676D-4E26-A24C-597BFD2F9F38}" type="parTrans" cxnId="{8EF991DF-5EFE-49CE-8D50-803EF9CF5F10}">
      <dgm:prSet/>
      <dgm:spPr/>
      <dgm:t>
        <a:bodyPr/>
        <a:lstStyle/>
        <a:p>
          <a:endParaRPr kumimoji="1" lang="ja-JP" altLang="en-US"/>
        </a:p>
      </dgm:t>
    </dgm:pt>
    <dgm:pt modelId="{8AD18156-3EF0-4E05-9A5B-6204EAC6D049}" type="sibTrans" cxnId="{8EF991DF-5EFE-49CE-8D50-803EF9CF5F10}">
      <dgm:prSet/>
      <dgm:spPr/>
      <dgm:t>
        <a:bodyPr/>
        <a:lstStyle/>
        <a:p>
          <a:endParaRPr kumimoji="1" lang="ja-JP" altLang="en-US"/>
        </a:p>
      </dgm:t>
    </dgm:pt>
    <dgm:pt modelId="{F00B8A34-DFF1-4329-90F2-9C44913E3DE4}">
      <dgm:prSet phldrT="[テキスト]" custT="1"/>
      <dgm:spPr/>
      <dgm:t>
        <a:bodyPr/>
        <a:lstStyle/>
        <a:p>
          <a:r>
            <a:rPr kumimoji="1" lang="ja-JP" altLang="en-US" sz="2400" dirty="0"/>
            <a:t>ＰＦＭＥＡ、ＣＰ、妥当性検証、変更管理など</a:t>
          </a:r>
        </a:p>
      </dgm:t>
    </dgm:pt>
    <dgm:pt modelId="{EACB021E-B0E4-42E5-AB39-7642DC4F6F39}" type="parTrans" cxnId="{4F516D34-E6A3-4549-80D2-3C4E7DBE0A3E}">
      <dgm:prSet/>
      <dgm:spPr/>
      <dgm:t>
        <a:bodyPr/>
        <a:lstStyle/>
        <a:p>
          <a:endParaRPr kumimoji="1" lang="ja-JP" altLang="en-US"/>
        </a:p>
      </dgm:t>
    </dgm:pt>
    <dgm:pt modelId="{448E2BD5-53F8-4120-B8A2-5773B681277F}" type="sibTrans" cxnId="{4F516D34-E6A3-4549-80D2-3C4E7DBE0A3E}">
      <dgm:prSet/>
      <dgm:spPr/>
      <dgm:t>
        <a:bodyPr/>
        <a:lstStyle/>
        <a:p>
          <a:endParaRPr kumimoji="1" lang="ja-JP" altLang="en-US"/>
        </a:p>
      </dgm:t>
    </dgm:pt>
    <dgm:pt modelId="{4CE2CDE1-E9A8-4DF9-BA72-0DF62D46A1B0}" type="pres">
      <dgm:prSet presAssocID="{6E9A2D02-A2A2-46C6-AC8C-69C0FB5E8508}" presName="linear" presStyleCnt="0">
        <dgm:presLayoutVars>
          <dgm:animLvl val="lvl"/>
          <dgm:resizeHandles val="exact"/>
        </dgm:presLayoutVars>
      </dgm:prSet>
      <dgm:spPr/>
      <dgm:t>
        <a:bodyPr/>
        <a:lstStyle/>
        <a:p>
          <a:endParaRPr kumimoji="1" lang="ja-JP" altLang="en-US"/>
        </a:p>
      </dgm:t>
    </dgm:pt>
    <dgm:pt modelId="{D898CBD3-60EF-415A-93CB-5B31E4AE3845}" type="pres">
      <dgm:prSet presAssocID="{2233B6DF-AC93-4DA4-AB0F-7314469ADF65}" presName="parentText" presStyleLbl="node1" presStyleIdx="0" presStyleCnt="3">
        <dgm:presLayoutVars>
          <dgm:chMax val="0"/>
          <dgm:bulletEnabled val="1"/>
        </dgm:presLayoutVars>
      </dgm:prSet>
      <dgm:spPr/>
      <dgm:t>
        <a:bodyPr/>
        <a:lstStyle/>
        <a:p>
          <a:endParaRPr kumimoji="1" lang="ja-JP" altLang="en-US"/>
        </a:p>
      </dgm:t>
    </dgm:pt>
    <dgm:pt modelId="{A8A0AD6D-5FA3-4465-9CAE-AAD382E03F7A}" type="pres">
      <dgm:prSet presAssocID="{2233B6DF-AC93-4DA4-AB0F-7314469ADF65}" presName="childText" presStyleLbl="revTx" presStyleIdx="0" presStyleCnt="3">
        <dgm:presLayoutVars>
          <dgm:bulletEnabled val="1"/>
        </dgm:presLayoutVars>
      </dgm:prSet>
      <dgm:spPr/>
      <dgm:t>
        <a:bodyPr/>
        <a:lstStyle/>
        <a:p>
          <a:endParaRPr kumimoji="1" lang="ja-JP" altLang="en-US"/>
        </a:p>
      </dgm:t>
    </dgm:pt>
    <dgm:pt modelId="{AA64189D-2D5D-4151-828A-79BEB29D8FA2}" type="pres">
      <dgm:prSet presAssocID="{3165432E-4D8E-49C3-B9A9-157E5CD2BB55}" presName="parentText" presStyleLbl="node1" presStyleIdx="1" presStyleCnt="3">
        <dgm:presLayoutVars>
          <dgm:chMax val="0"/>
          <dgm:bulletEnabled val="1"/>
        </dgm:presLayoutVars>
      </dgm:prSet>
      <dgm:spPr/>
      <dgm:t>
        <a:bodyPr/>
        <a:lstStyle/>
        <a:p>
          <a:endParaRPr kumimoji="1" lang="ja-JP" altLang="en-US"/>
        </a:p>
      </dgm:t>
    </dgm:pt>
    <dgm:pt modelId="{09F784CA-11F4-4887-B3DC-DCCFD4321E4A}" type="pres">
      <dgm:prSet presAssocID="{3165432E-4D8E-49C3-B9A9-157E5CD2BB55}" presName="childText" presStyleLbl="revTx" presStyleIdx="1" presStyleCnt="3">
        <dgm:presLayoutVars>
          <dgm:bulletEnabled val="1"/>
        </dgm:presLayoutVars>
      </dgm:prSet>
      <dgm:spPr/>
      <dgm:t>
        <a:bodyPr/>
        <a:lstStyle/>
        <a:p>
          <a:endParaRPr kumimoji="1" lang="ja-JP" altLang="en-US"/>
        </a:p>
      </dgm:t>
    </dgm:pt>
    <dgm:pt modelId="{9C456FAF-8557-4C07-887F-211068AAD1F3}" type="pres">
      <dgm:prSet presAssocID="{B557CEC4-6FA5-4D15-8641-ECE90D5C067C}" presName="parentText" presStyleLbl="node1" presStyleIdx="2" presStyleCnt="3">
        <dgm:presLayoutVars>
          <dgm:chMax val="0"/>
          <dgm:bulletEnabled val="1"/>
        </dgm:presLayoutVars>
      </dgm:prSet>
      <dgm:spPr/>
      <dgm:t>
        <a:bodyPr/>
        <a:lstStyle/>
        <a:p>
          <a:endParaRPr kumimoji="1" lang="ja-JP" altLang="en-US"/>
        </a:p>
      </dgm:t>
    </dgm:pt>
    <dgm:pt modelId="{9D6ED3A8-BE2F-424A-AB0B-7B47332D6E86}" type="pres">
      <dgm:prSet presAssocID="{B557CEC4-6FA5-4D15-8641-ECE90D5C067C}" presName="childText" presStyleLbl="revTx" presStyleIdx="2" presStyleCnt="3">
        <dgm:presLayoutVars>
          <dgm:bulletEnabled val="1"/>
        </dgm:presLayoutVars>
      </dgm:prSet>
      <dgm:spPr/>
      <dgm:t>
        <a:bodyPr/>
        <a:lstStyle/>
        <a:p>
          <a:endParaRPr kumimoji="1" lang="ja-JP" altLang="en-US"/>
        </a:p>
      </dgm:t>
    </dgm:pt>
  </dgm:ptLst>
  <dgm:cxnLst>
    <dgm:cxn modelId="{BB2218CE-2B57-4DD5-9739-70038E29B6E6}" type="presOf" srcId="{F00B8A34-DFF1-4329-90F2-9C44913E3DE4}" destId="{09F784CA-11F4-4887-B3DC-DCCFD4321E4A}" srcOrd="0" destOrd="0" presId="urn:microsoft.com/office/officeart/2005/8/layout/vList2"/>
    <dgm:cxn modelId="{52CFDE69-8F5D-4169-8C65-D1B71CB00EA1}" srcId="{2233B6DF-AC93-4DA4-AB0F-7314469ADF65}" destId="{BED4C084-1F3B-4C06-B410-688482E33204}" srcOrd="0" destOrd="0" parTransId="{37EE9182-1ACC-45A1-A6CE-9F9DC8D5101F}" sibTransId="{20F9D0E3-71B8-4A5F-87C4-70634EC6A1EF}"/>
    <dgm:cxn modelId="{8EF991DF-5EFE-49CE-8D50-803EF9CF5F10}" srcId="{6E9A2D02-A2A2-46C6-AC8C-69C0FB5E8508}" destId="{B557CEC4-6FA5-4D15-8641-ECE90D5C067C}" srcOrd="2" destOrd="0" parTransId="{E6B1328F-676D-4E26-A24C-597BFD2F9F38}" sibTransId="{8AD18156-3EF0-4E05-9A5B-6204EAC6D049}"/>
    <dgm:cxn modelId="{AF84C21B-25CB-40DA-8914-D9B10ECE54BC}" srcId="{6E9A2D02-A2A2-46C6-AC8C-69C0FB5E8508}" destId="{3165432E-4D8E-49C3-B9A9-157E5CD2BB55}" srcOrd="1" destOrd="0" parTransId="{31CE7DA7-AD6A-4DFF-9BB0-3429B0A50F7E}" sibTransId="{DD64D7F9-7B26-4F94-B8EE-53A44FBB7BED}"/>
    <dgm:cxn modelId="{FEB098BA-7747-442D-ABB8-720DE69DA428}" type="presOf" srcId="{2233B6DF-AC93-4DA4-AB0F-7314469ADF65}" destId="{D898CBD3-60EF-415A-93CB-5B31E4AE3845}" srcOrd="0" destOrd="0" presId="urn:microsoft.com/office/officeart/2005/8/layout/vList2"/>
    <dgm:cxn modelId="{206D55E2-5012-44E3-B2AA-486DDBEC7608}" srcId="{6E9A2D02-A2A2-46C6-AC8C-69C0FB5E8508}" destId="{2233B6DF-AC93-4DA4-AB0F-7314469ADF65}" srcOrd="0" destOrd="0" parTransId="{7631EFE9-9D0B-443A-918E-8DC7120408B8}" sibTransId="{2C4113F2-FCCF-4AD9-AB49-23717A9B0B67}"/>
    <dgm:cxn modelId="{FF9A8E34-FAB8-4DB2-A188-6182767057F9}" type="presOf" srcId="{BED4C084-1F3B-4C06-B410-688482E33204}" destId="{A8A0AD6D-5FA3-4465-9CAE-AAD382E03F7A}" srcOrd="0" destOrd="0" presId="urn:microsoft.com/office/officeart/2005/8/layout/vList2"/>
    <dgm:cxn modelId="{E0B801DD-5461-477A-9F30-D21FB18971A0}" type="presOf" srcId="{3165432E-4D8E-49C3-B9A9-157E5CD2BB55}" destId="{AA64189D-2D5D-4151-828A-79BEB29D8FA2}" srcOrd="0" destOrd="0" presId="urn:microsoft.com/office/officeart/2005/8/layout/vList2"/>
    <dgm:cxn modelId="{190BCD20-6298-4AC7-A197-37ED21A9A18F}" srcId="{B557CEC4-6FA5-4D15-8641-ECE90D5C067C}" destId="{EED57C0D-D60C-42EE-827B-987AC756B58C}" srcOrd="0" destOrd="0" parTransId="{20AB90EA-F811-4B76-8260-BA8F275AE97E}" sibTransId="{3FA61138-EDF4-4F46-BDF6-9E916105FB3F}"/>
    <dgm:cxn modelId="{EFE61D0C-85D4-47E1-8A4D-EB2204CB35E4}" type="presOf" srcId="{6E9A2D02-A2A2-46C6-AC8C-69C0FB5E8508}" destId="{4CE2CDE1-E9A8-4DF9-BA72-0DF62D46A1B0}" srcOrd="0" destOrd="0" presId="urn:microsoft.com/office/officeart/2005/8/layout/vList2"/>
    <dgm:cxn modelId="{A5484254-75A7-484B-8563-55F6EA799D51}" type="presOf" srcId="{EED57C0D-D60C-42EE-827B-987AC756B58C}" destId="{9D6ED3A8-BE2F-424A-AB0B-7B47332D6E86}" srcOrd="0" destOrd="0" presId="urn:microsoft.com/office/officeart/2005/8/layout/vList2"/>
    <dgm:cxn modelId="{A417685C-8A2F-4B78-8415-BFDB2E7E4B40}" type="presOf" srcId="{B557CEC4-6FA5-4D15-8641-ECE90D5C067C}" destId="{9C456FAF-8557-4C07-887F-211068AAD1F3}" srcOrd="0" destOrd="0" presId="urn:microsoft.com/office/officeart/2005/8/layout/vList2"/>
    <dgm:cxn modelId="{4F516D34-E6A3-4549-80D2-3C4E7DBE0A3E}" srcId="{3165432E-4D8E-49C3-B9A9-157E5CD2BB55}" destId="{F00B8A34-DFF1-4329-90F2-9C44913E3DE4}" srcOrd="0" destOrd="0" parTransId="{EACB021E-B0E4-42E5-AB39-7642DC4F6F39}" sibTransId="{448E2BD5-53F8-4120-B8A2-5773B681277F}"/>
    <dgm:cxn modelId="{1D8284D2-3C0C-443A-A79E-21A54A3D00D5}" type="presParOf" srcId="{4CE2CDE1-E9A8-4DF9-BA72-0DF62D46A1B0}" destId="{D898CBD3-60EF-415A-93CB-5B31E4AE3845}" srcOrd="0" destOrd="0" presId="urn:microsoft.com/office/officeart/2005/8/layout/vList2"/>
    <dgm:cxn modelId="{FB17786C-A068-4897-BC4D-84D11D70521A}" type="presParOf" srcId="{4CE2CDE1-E9A8-4DF9-BA72-0DF62D46A1B0}" destId="{A8A0AD6D-5FA3-4465-9CAE-AAD382E03F7A}" srcOrd="1" destOrd="0" presId="urn:microsoft.com/office/officeart/2005/8/layout/vList2"/>
    <dgm:cxn modelId="{BBF236A0-21EF-43A7-9694-BCA837E0D17E}" type="presParOf" srcId="{4CE2CDE1-E9A8-4DF9-BA72-0DF62D46A1B0}" destId="{AA64189D-2D5D-4151-828A-79BEB29D8FA2}" srcOrd="2" destOrd="0" presId="urn:microsoft.com/office/officeart/2005/8/layout/vList2"/>
    <dgm:cxn modelId="{74D5ADB6-A011-4D2F-A92D-6C79426C7E3E}" type="presParOf" srcId="{4CE2CDE1-E9A8-4DF9-BA72-0DF62D46A1B0}" destId="{09F784CA-11F4-4887-B3DC-DCCFD4321E4A}" srcOrd="3" destOrd="0" presId="urn:microsoft.com/office/officeart/2005/8/layout/vList2"/>
    <dgm:cxn modelId="{EC8FAC67-6E69-45C8-9397-FFE9C5C4C926}" type="presParOf" srcId="{4CE2CDE1-E9A8-4DF9-BA72-0DF62D46A1B0}" destId="{9C456FAF-8557-4C07-887F-211068AAD1F3}" srcOrd="4" destOrd="0" presId="urn:microsoft.com/office/officeart/2005/8/layout/vList2"/>
    <dgm:cxn modelId="{DE114252-4CCF-4D76-8316-AD2C2800F863}" type="presParOf" srcId="{4CE2CDE1-E9A8-4DF9-BA72-0DF62D46A1B0}" destId="{9D6ED3A8-BE2F-424A-AB0B-7B47332D6E8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１．自動車産業を取り巻く環境</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solidFill>
      </dgm:spPr>
      <dgm:t>
        <a:bodyPr/>
        <a:lstStyle/>
        <a:p>
          <a:r>
            <a:rPr kumimoji="1" lang="ja-JP" altLang="en-US" sz="3600" dirty="0">
              <a:solidFill>
                <a:schemeClr val="bg1"/>
              </a:solidFill>
            </a:rPr>
            <a:t>２．</a:t>
          </a:r>
          <a:r>
            <a:rPr kumimoji="1" lang="en-US" altLang="ja-JP" sz="3600" dirty="0">
              <a:solidFill>
                <a:schemeClr val="bg1"/>
              </a:solidFill>
            </a:rPr>
            <a:t>IATF16949</a:t>
          </a:r>
          <a:r>
            <a:rPr kumimoji="1" lang="ja-JP" altLang="en-US" sz="3600" dirty="0">
              <a:solidFill>
                <a:schemeClr val="bg1"/>
              </a:solidFill>
            </a:rPr>
            <a:t>とは</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３．要求事項の概要</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１．自動車産業を取り巻く環境</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a:t>
          </a:r>
          <a:r>
            <a:rPr kumimoji="1" lang="en-US" altLang="ja-JP" sz="2800" dirty="0">
              <a:solidFill>
                <a:schemeClr val="tx1"/>
              </a:solidFill>
            </a:rPr>
            <a:t>IATF16949</a:t>
          </a:r>
          <a:r>
            <a:rPr kumimoji="1" lang="ja-JP" altLang="en-US" sz="2800" dirty="0">
              <a:solidFill>
                <a:schemeClr val="tx1"/>
              </a:solidFill>
            </a:rPr>
            <a:t>とは</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solidFill>
      </dgm:spPr>
      <dgm:t>
        <a:bodyPr/>
        <a:lstStyle/>
        <a:p>
          <a:r>
            <a:rPr kumimoji="1" lang="ja-JP" altLang="en-US" sz="3600" dirty="0">
              <a:solidFill>
                <a:schemeClr val="bg1"/>
              </a:solidFill>
            </a:rPr>
            <a:t>３．要求事項の概要</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257CFD-1411-4BE9-B521-D87877269EB9}" type="doc">
      <dgm:prSet loTypeId="urn:microsoft.com/office/officeart/2005/8/layout/pyramid1" loCatId="pyramid" qsTypeId="urn:microsoft.com/office/officeart/2005/8/quickstyle/simple1" qsCatId="simple" csTypeId="urn:microsoft.com/office/officeart/2005/8/colors/accent1_2" csCatId="accent1" phldr="1"/>
      <dgm:spPr/>
    </dgm:pt>
    <dgm:pt modelId="{3E9C2ACD-A7EF-4990-943C-F922B1DF2380}">
      <dgm:prSet phldrT="[テキスト]" custT="1"/>
      <dgm:spPr>
        <a:solidFill>
          <a:schemeClr val="tx2">
            <a:lumMod val="40000"/>
            <a:lumOff val="60000"/>
          </a:schemeClr>
        </a:solidFill>
      </dgm:spPr>
      <dgm:t>
        <a:bodyPr/>
        <a:lstStyle/>
        <a:p>
          <a:pPr>
            <a:lnSpc>
              <a:spcPts val="1500"/>
            </a:lnSpc>
          </a:pPr>
          <a:r>
            <a:rPr kumimoji="1" lang="ja-JP" altLang="en-US" sz="2400" dirty="0"/>
            <a:t>顧客固有</a:t>
          </a:r>
          <a:endParaRPr kumimoji="1" lang="en-US" altLang="ja-JP" sz="2400" dirty="0"/>
        </a:p>
        <a:p>
          <a:pPr>
            <a:lnSpc>
              <a:spcPts val="1500"/>
            </a:lnSpc>
          </a:pPr>
          <a:r>
            <a:rPr kumimoji="1" lang="ja-JP" altLang="en-US" sz="2400" dirty="0"/>
            <a:t>要求事項</a:t>
          </a:r>
        </a:p>
      </dgm:t>
    </dgm:pt>
    <dgm:pt modelId="{E236601F-4CB9-47E8-A103-3625455FABF4}" type="parTrans" cxnId="{21780855-F664-486E-8C2A-6705707A2E45}">
      <dgm:prSet/>
      <dgm:spPr/>
      <dgm:t>
        <a:bodyPr/>
        <a:lstStyle/>
        <a:p>
          <a:endParaRPr kumimoji="1" lang="ja-JP" altLang="en-US"/>
        </a:p>
      </dgm:t>
    </dgm:pt>
    <dgm:pt modelId="{3CD02074-73D0-4702-AEC1-6B9C5D805A31}" type="sibTrans" cxnId="{21780855-F664-486E-8C2A-6705707A2E45}">
      <dgm:prSet/>
      <dgm:spPr/>
      <dgm:t>
        <a:bodyPr/>
        <a:lstStyle/>
        <a:p>
          <a:endParaRPr kumimoji="1" lang="ja-JP" altLang="en-US"/>
        </a:p>
      </dgm:t>
    </dgm:pt>
    <dgm:pt modelId="{30EBF6BC-9DB2-43A4-90AF-9A9A9C09630A}">
      <dgm:prSet phldrT="[テキスト]" custT="1"/>
      <dgm:spPr>
        <a:solidFill>
          <a:schemeClr val="tx2">
            <a:lumMod val="40000"/>
            <a:lumOff val="60000"/>
          </a:schemeClr>
        </a:solidFill>
      </dgm:spPr>
      <dgm:t>
        <a:bodyPr/>
        <a:lstStyle/>
        <a:p>
          <a:pPr>
            <a:lnSpc>
              <a:spcPts val="1500"/>
            </a:lnSpc>
          </a:pPr>
          <a:r>
            <a:rPr kumimoji="1" lang="en-US" altLang="ja-JP" sz="2400" dirty="0"/>
            <a:t>IATF16949</a:t>
          </a:r>
        </a:p>
        <a:p>
          <a:pPr>
            <a:lnSpc>
              <a:spcPts val="1500"/>
            </a:lnSpc>
          </a:pPr>
          <a:r>
            <a:rPr kumimoji="1" lang="ja-JP" altLang="en-US" sz="2400" dirty="0"/>
            <a:t>追加要求事項</a:t>
          </a:r>
        </a:p>
      </dgm:t>
    </dgm:pt>
    <dgm:pt modelId="{0DEDDBDB-EB0D-4883-B136-CE0D9A6DB7EA}" type="parTrans" cxnId="{B5ECAACA-6F86-4DCD-B3E6-9347CFBFF5D3}">
      <dgm:prSet/>
      <dgm:spPr/>
      <dgm:t>
        <a:bodyPr/>
        <a:lstStyle/>
        <a:p>
          <a:endParaRPr kumimoji="1" lang="ja-JP" altLang="en-US"/>
        </a:p>
      </dgm:t>
    </dgm:pt>
    <dgm:pt modelId="{143EB243-1589-4A2B-9FEC-37E501E905AB}" type="sibTrans" cxnId="{B5ECAACA-6F86-4DCD-B3E6-9347CFBFF5D3}">
      <dgm:prSet/>
      <dgm:spPr/>
      <dgm:t>
        <a:bodyPr/>
        <a:lstStyle/>
        <a:p>
          <a:endParaRPr kumimoji="1" lang="ja-JP" altLang="en-US"/>
        </a:p>
      </dgm:t>
    </dgm:pt>
    <dgm:pt modelId="{0AC996E3-735D-466B-A197-0ABE8E1C6609}">
      <dgm:prSet phldrT="[テキスト]" custT="1"/>
      <dgm:spPr>
        <a:solidFill>
          <a:schemeClr val="tx2">
            <a:lumMod val="40000"/>
            <a:lumOff val="60000"/>
          </a:schemeClr>
        </a:solidFill>
      </dgm:spPr>
      <dgm:t>
        <a:bodyPr/>
        <a:lstStyle/>
        <a:p>
          <a:r>
            <a:rPr kumimoji="1" lang="en-US" altLang="ja-JP" sz="2400" dirty="0"/>
            <a:t>ISO9001</a:t>
          </a:r>
          <a:r>
            <a:rPr kumimoji="1" lang="ja-JP" altLang="en-US" sz="2400" dirty="0"/>
            <a:t>要求事項</a:t>
          </a:r>
        </a:p>
      </dgm:t>
    </dgm:pt>
    <dgm:pt modelId="{1BD517D6-5B07-4686-8DBE-65537117391B}" type="parTrans" cxnId="{82993BA5-0314-4F5F-8939-A69FFBA59B76}">
      <dgm:prSet/>
      <dgm:spPr/>
      <dgm:t>
        <a:bodyPr/>
        <a:lstStyle/>
        <a:p>
          <a:endParaRPr kumimoji="1" lang="ja-JP" altLang="en-US"/>
        </a:p>
      </dgm:t>
    </dgm:pt>
    <dgm:pt modelId="{08749BE0-1585-457C-842C-8869D771D811}" type="sibTrans" cxnId="{82993BA5-0314-4F5F-8939-A69FFBA59B76}">
      <dgm:prSet/>
      <dgm:spPr/>
      <dgm:t>
        <a:bodyPr/>
        <a:lstStyle/>
        <a:p>
          <a:endParaRPr kumimoji="1" lang="ja-JP" altLang="en-US"/>
        </a:p>
      </dgm:t>
    </dgm:pt>
    <dgm:pt modelId="{691ECAB9-3F09-46F8-AB71-BF46D74CEA68}" type="pres">
      <dgm:prSet presAssocID="{09257CFD-1411-4BE9-B521-D87877269EB9}" presName="Name0" presStyleCnt="0">
        <dgm:presLayoutVars>
          <dgm:dir/>
          <dgm:animLvl val="lvl"/>
          <dgm:resizeHandles val="exact"/>
        </dgm:presLayoutVars>
      </dgm:prSet>
      <dgm:spPr/>
    </dgm:pt>
    <dgm:pt modelId="{227F8C96-66A9-4B43-A492-3CFA15525D16}" type="pres">
      <dgm:prSet presAssocID="{3E9C2ACD-A7EF-4990-943C-F922B1DF2380}" presName="Name8" presStyleCnt="0"/>
      <dgm:spPr/>
    </dgm:pt>
    <dgm:pt modelId="{A26F716C-6F4D-4CAA-9B3A-767874DB7F70}" type="pres">
      <dgm:prSet presAssocID="{3E9C2ACD-A7EF-4990-943C-F922B1DF2380}" presName="level" presStyleLbl="node1" presStyleIdx="0" presStyleCnt="3">
        <dgm:presLayoutVars>
          <dgm:chMax val="1"/>
          <dgm:bulletEnabled val="1"/>
        </dgm:presLayoutVars>
      </dgm:prSet>
      <dgm:spPr/>
      <dgm:t>
        <a:bodyPr/>
        <a:lstStyle/>
        <a:p>
          <a:endParaRPr kumimoji="1" lang="ja-JP" altLang="en-US"/>
        </a:p>
      </dgm:t>
    </dgm:pt>
    <dgm:pt modelId="{07F0B3E3-8F7E-4F2E-97A7-FC289AC65B85}" type="pres">
      <dgm:prSet presAssocID="{3E9C2ACD-A7EF-4990-943C-F922B1DF2380}" presName="levelTx" presStyleLbl="revTx" presStyleIdx="0" presStyleCnt="0">
        <dgm:presLayoutVars>
          <dgm:chMax val="1"/>
          <dgm:bulletEnabled val="1"/>
        </dgm:presLayoutVars>
      </dgm:prSet>
      <dgm:spPr/>
      <dgm:t>
        <a:bodyPr/>
        <a:lstStyle/>
        <a:p>
          <a:endParaRPr kumimoji="1" lang="ja-JP" altLang="en-US"/>
        </a:p>
      </dgm:t>
    </dgm:pt>
    <dgm:pt modelId="{CE054ACB-97E4-4690-8A86-86BA60A7C7A4}" type="pres">
      <dgm:prSet presAssocID="{30EBF6BC-9DB2-43A4-90AF-9A9A9C09630A}" presName="Name8" presStyleCnt="0"/>
      <dgm:spPr/>
    </dgm:pt>
    <dgm:pt modelId="{BCD10B9B-942C-46A1-8BBF-808A1076A61F}" type="pres">
      <dgm:prSet presAssocID="{30EBF6BC-9DB2-43A4-90AF-9A9A9C09630A}" presName="level" presStyleLbl="node1" presStyleIdx="1" presStyleCnt="3">
        <dgm:presLayoutVars>
          <dgm:chMax val="1"/>
          <dgm:bulletEnabled val="1"/>
        </dgm:presLayoutVars>
      </dgm:prSet>
      <dgm:spPr/>
      <dgm:t>
        <a:bodyPr/>
        <a:lstStyle/>
        <a:p>
          <a:endParaRPr kumimoji="1" lang="ja-JP" altLang="en-US"/>
        </a:p>
      </dgm:t>
    </dgm:pt>
    <dgm:pt modelId="{D27D5D61-7592-4773-8CEA-F624C7C1D551}" type="pres">
      <dgm:prSet presAssocID="{30EBF6BC-9DB2-43A4-90AF-9A9A9C09630A}" presName="levelTx" presStyleLbl="revTx" presStyleIdx="0" presStyleCnt="0">
        <dgm:presLayoutVars>
          <dgm:chMax val="1"/>
          <dgm:bulletEnabled val="1"/>
        </dgm:presLayoutVars>
      </dgm:prSet>
      <dgm:spPr/>
      <dgm:t>
        <a:bodyPr/>
        <a:lstStyle/>
        <a:p>
          <a:endParaRPr kumimoji="1" lang="ja-JP" altLang="en-US"/>
        </a:p>
      </dgm:t>
    </dgm:pt>
    <dgm:pt modelId="{3CF042B9-0991-4D77-8663-774C81DE993E}" type="pres">
      <dgm:prSet presAssocID="{0AC996E3-735D-466B-A197-0ABE8E1C6609}" presName="Name8" presStyleCnt="0"/>
      <dgm:spPr/>
    </dgm:pt>
    <dgm:pt modelId="{C602214F-45D7-4C24-8E6C-B5FB3A8215A2}" type="pres">
      <dgm:prSet presAssocID="{0AC996E3-735D-466B-A197-0ABE8E1C6609}" presName="level" presStyleLbl="node1" presStyleIdx="2" presStyleCnt="3">
        <dgm:presLayoutVars>
          <dgm:chMax val="1"/>
          <dgm:bulletEnabled val="1"/>
        </dgm:presLayoutVars>
      </dgm:prSet>
      <dgm:spPr/>
      <dgm:t>
        <a:bodyPr/>
        <a:lstStyle/>
        <a:p>
          <a:endParaRPr kumimoji="1" lang="ja-JP" altLang="en-US"/>
        </a:p>
      </dgm:t>
    </dgm:pt>
    <dgm:pt modelId="{317AF970-E62D-4A2F-8BC9-3270B5073629}" type="pres">
      <dgm:prSet presAssocID="{0AC996E3-735D-466B-A197-0ABE8E1C6609}" presName="levelTx" presStyleLbl="revTx" presStyleIdx="0" presStyleCnt="0">
        <dgm:presLayoutVars>
          <dgm:chMax val="1"/>
          <dgm:bulletEnabled val="1"/>
        </dgm:presLayoutVars>
      </dgm:prSet>
      <dgm:spPr/>
      <dgm:t>
        <a:bodyPr/>
        <a:lstStyle/>
        <a:p>
          <a:endParaRPr kumimoji="1" lang="ja-JP" altLang="en-US"/>
        </a:p>
      </dgm:t>
    </dgm:pt>
  </dgm:ptLst>
  <dgm:cxnLst>
    <dgm:cxn modelId="{B5ECAACA-6F86-4DCD-B3E6-9347CFBFF5D3}" srcId="{09257CFD-1411-4BE9-B521-D87877269EB9}" destId="{30EBF6BC-9DB2-43A4-90AF-9A9A9C09630A}" srcOrd="1" destOrd="0" parTransId="{0DEDDBDB-EB0D-4883-B136-CE0D9A6DB7EA}" sibTransId="{143EB243-1589-4A2B-9FEC-37E501E905AB}"/>
    <dgm:cxn modelId="{82993BA5-0314-4F5F-8939-A69FFBA59B76}" srcId="{09257CFD-1411-4BE9-B521-D87877269EB9}" destId="{0AC996E3-735D-466B-A197-0ABE8E1C6609}" srcOrd="2" destOrd="0" parTransId="{1BD517D6-5B07-4686-8DBE-65537117391B}" sibTransId="{08749BE0-1585-457C-842C-8869D771D811}"/>
    <dgm:cxn modelId="{496009B6-C61D-4AA4-A0CC-EB21E0CE27CA}" type="presOf" srcId="{30EBF6BC-9DB2-43A4-90AF-9A9A9C09630A}" destId="{BCD10B9B-942C-46A1-8BBF-808A1076A61F}" srcOrd="0" destOrd="0" presId="urn:microsoft.com/office/officeart/2005/8/layout/pyramid1"/>
    <dgm:cxn modelId="{EB195DAD-7008-4ED9-82D3-A6A16477B5BD}" type="presOf" srcId="{3E9C2ACD-A7EF-4990-943C-F922B1DF2380}" destId="{07F0B3E3-8F7E-4F2E-97A7-FC289AC65B85}" srcOrd="1" destOrd="0" presId="urn:microsoft.com/office/officeart/2005/8/layout/pyramid1"/>
    <dgm:cxn modelId="{21780855-F664-486E-8C2A-6705707A2E45}" srcId="{09257CFD-1411-4BE9-B521-D87877269EB9}" destId="{3E9C2ACD-A7EF-4990-943C-F922B1DF2380}" srcOrd="0" destOrd="0" parTransId="{E236601F-4CB9-47E8-A103-3625455FABF4}" sibTransId="{3CD02074-73D0-4702-AEC1-6B9C5D805A31}"/>
    <dgm:cxn modelId="{35BBB066-5F36-480D-A21C-5583BA59A828}" type="presOf" srcId="{0AC996E3-735D-466B-A197-0ABE8E1C6609}" destId="{C602214F-45D7-4C24-8E6C-B5FB3A8215A2}" srcOrd="0" destOrd="0" presId="urn:microsoft.com/office/officeart/2005/8/layout/pyramid1"/>
    <dgm:cxn modelId="{E854A3A1-D493-495C-90AE-722CC7E39B12}" type="presOf" srcId="{3E9C2ACD-A7EF-4990-943C-F922B1DF2380}" destId="{A26F716C-6F4D-4CAA-9B3A-767874DB7F70}" srcOrd="0" destOrd="0" presId="urn:microsoft.com/office/officeart/2005/8/layout/pyramid1"/>
    <dgm:cxn modelId="{68D40F8B-FDFA-46F0-9E15-A01F98DE3048}" type="presOf" srcId="{30EBF6BC-9DB2-43A4-90AF-9A9A9C09630A}" destId="{D27D5D61-7592-4773-8CEA-F624C7C1D551}" srcOrd="1" destOrd="0" presId="urn:microsoft.com/office/officeart/2005/8/layout/pyramid1"/>
    <dgm:cxn modelId="{5AEE029E-2973-4A92-AF85-6204B863886D}" type="presOf" srcId="{09257CFD-1411-4BE9-B521-D87877269EB9}" destId="{691ECAB9-3F09-46F8-AB71-BF46D74CEA68}" srcOrd="0" destOrd="0" presId="urn:microsoft.com/office/officeart/2005/8/layout/pyramid1"/>
    <dgm:cxn modelId="{826DE5F4-36AE-4ADF-97CD-3E46F3053ECC}" type="presOf" srcId="{0AC996E3-735D-466B-A197-0ABE8E1C6609}" destId="{317AF970-E62D-4A2F-8BC9-3270B5073629}" srcOrd="1" destOrd="0" presId="urn:microsoft.com/office/officeart/2005/8/layout/pyramid1"/>
    <dgm:cxn modelId="{7D2EE72B-9DA1-4B1F-888D-DD964045947A}" type="presParOf" srcId="{691ECAB9-3F09-46F8-AB71-BF46D74CEA68}" destId="{227F8C96-66A9-4B43-A492-3CFA15525D16}" srcOrd="0" destOrd="0" presId="urn:microsoft.com/office/officeart/2005/8/layout/pyramid1"/>
    <dgm:cxn modelId="{A15E37DC-E3C8-4EBF-916F-178F2098CB33}" type="presParOf" srcId="{227F8C96-66A9-4B43-A492-3CFA15525D16}" destId="{A26F716C-6F4D-4CAA-9B3A-767874DB7F70}" srcOrd="0" destOrd="0" presId="urn:microsoft.com/office/officeart/2005/8/layout/pyramid1"/>
    <dgm:cxn modelId="{792567AB-9DF3-481F-BFFB-18EBD8EBA6B1}" type="presParOf" srcId="{227F8C96-66A9-4B43-A492-3CFA15525D16}" destId="{07F0B3E3-8F7E-4F2E-97A7-FC289AC65B85}" srcOrd="1" destOrd="0" presId="urn:microsoft.com/office/officeart/2005/8/layout/pyramid1"/>
    <dgm:cxn modelId="{B32A66BE-C608-472D-8695-24BF0A98C850}" type="presParOf" srcId="{691ECAB9-3F09-46F8-AB71-BF46D74CEA68}" destId="{CE054ACB-97E4-4690-8A86-86BA60A7C7A4}" srcOrd="1" destOrd="0" presId="urn:microsoft.com/office/officeart/2005/8/layout/pyramid1"/>
    <dgm:cxn modelId="{B3B2F16E-2E5C-419A-A13D-FBD000E6D978}" type="presParOf" srcId="{CE054ACB-97E4-4690-8A86-86BA60A7C7A4}" destId="{BCD10B9B-942C-46A1-8BBF-808A1076A61F}" srcOrd="0" destOrd="0" presId="urn:microsoft.com/office/officeart/2005/8/layout/pyramid1"/>
    <dgm:cxn modelId="{9C6E7C1A-232F-4BFD-80DA-6CDF7E069602}" type="presParOf" srcId="{CE054ACB-97E4-4690-8A86-86BA60A7C7A4}" destId="{D27D5D61-7592-4773-8CEA-F624C7C1D551}" srcOrd="1" destOrd="0" presId="urn:microsoft.com/office/officeart/2005/8/layout/pyramid1"/>
    <dgm:cxn modelId="{C04B3F1E-8E35-43E0-A07E-80C389F2BC74}" type="presParOf" srcId="{691ECAB9-3F09-46F8-AB71-BF46D74CEA68}" destId="{3CF042B9-0991-4D77-8663-774C81DE993E}" srcOrd="2" destOrd="0" presId="urn:microsoft.com/office/officeart/2005/8/layout/pyramid1"/>
    <dgm:cxn modelId="{7E1536F2-9736-464B-9031-1C0E7EF93786}" type="presParOf" srcId="{3CF042B9-0991-4D77-8663-774C81DE993E}" destId="{C602214F-45D7-4C24-8E6C-B5FB3A8215A2}" srcOrd="0" destOrd="0" presId="urn:microsoft.com/office/officeart/2005/8/layout/pyramid1"/>
    <dgm:cxn modelId="{1CD83CB3-AD86-4C3B-8744-F18806E2DB69}" type="presParOf" srcId="{3CF042B9-0991-4D77-8663-774C81DE993E}" destId="{317AF970-E62D-4A2F-8BC9-3270B50736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927D1E0-5E83-4987-AD55-7F320AFED01B}" type="doc">
      <dgm:prSet loTypeId="urn:microsoft.com/office/officeart/2005/8/layout/pyramid1" loCatId="pyramid" qsTypeId="urn:microsoft.com/office/officeart/2005/8/quickstyle/simple1" qsCatId="simple" csTypeId="urn:microsoft.com/office/officeart/2005/8/colors/accent1_5" csCatId="accent1" phldr="1"/>
      <dgm:spPr/>
    </dgm:pt>
    <dgm:pt modelId="{F80B4B1A-56A9-4559-914E-BB79441B05D9}">
      <dgm:prSet phldrT="[テキスト]" custT="1"/>
      <dgm:spPr/>
      <dgm:t>
        <a:bodyPr/>
        <a:lstStyle/>
        <a:p>
          <a:r>
            <a:rPr kumimoji="1" lang="ja-JP" altLang="en-US" sz="2400" dirty="0"/>
            <a:t>品質マニュアル</a:t>
          </a:r>
        </a:p>
      </dgm:t>
    </dgm:pt>
    <dgm:pt modelId="{3A2585DE-217B-48BA-B6F7-E9262E1FCCC3}" type="parTrans" cxnId="{18045086-0327-4F91-824B-9AB9E7AF2D5B}">
      <dgm:prSet/>
      <dgm:spPr/>
      <dgm:t>
        <a:bodyPr/>
        <a:lstStyle/>
        <a:p>
          <a:endParaRPr kumimoji="1" lang="ja-JP" altLang="en-US"/>
        </a:p>
      </dgm:t>
    </dgm:pt>
    <dgm:pt modelId="{B79E7147-85E4-455A-A085-99BD49B91F4B}" type="sibTrans" cxnId="{18045086-0327-4F91-824B-9AB9E7AF2D5B}">
      <dgm:prSet/>
      <dgm:spPr/>
      <dgm:t>
        <a:bodyPr/>
        <a:lstStyle/>
        <a:p>
          <a:endParaRPr kumimoji="1" lang="ja-JP" altLang="en-US"/>
        </a:p>
      </dgm:t>
    </dgm:pt>
    <dgm:pt modelId="{106CF916-AA57-4329-8869-99AB1DADF1F9}">
      <dgm:prSet phldrT="[テキスト]" custT="1"/>
      <dgm:spPr/>
      <dgm:t>
        <a:bodyPr/>
        <a:lstStyle/>
        <a:p>
          <a:r>
            <a:rPr kumimoji="1" lang="ja-JP" altLang="en-US" sz="2400" dirty="0"/>
            <a:t>規定・手順書等</a:t>
          </a:r>
        </a:p>
      </dgm:t>
    </dgm:pt>
    <dgm:pt modelId="{0F52474D-721C-4F8E-8187-C87A34CB919E}" type="parTrans" cxnId="{E541768B-226C-41D8-A556-C8E8C9A37546}">
      <dgm:prSet/>
      <dgm:spPr/>
      <dgm:t>
        <a:bodyPr/>
        <a:lstStyle/>
        <a:p>
          <a:endParaRPr kumimoji="1" lang="ja-JP" altLang="en-US"/>
        </a:p>
      </dgm:t>
    </dgm:pt>
    <dgm:pt modelId="{57D58AFD-7029-4056-ACD9-2E7A86DECE48}" type="sibTrans" cxnId="{E541768B-226C-41D8-A556-C8E8C9A37546}">
      <dgm:prSet/>
      <dgm:spPr/>
      <dgm:t>
        <a:bodyPr/>
        <a:lstStyle/>
        <a:p>
          <a:endParaRPr kumimoji="1" lang="ja-JP" altLang="en-US"/>
        </a:p>
      </dgm:t>
    </dgm:pt>
    <dgm:pt modelId="{CD31CA93-A482-4225-A4CC-92E4504A01A9}">
      <dgm:prSet phldrT="[テキスト]" custT="1"/>
      <dgm:spPr/>
      <dgm:t>
        <a:bodyPr/>
        <a:lstStyle/>
        <a:p>
          <a:r>
            <a:rPr kumimoji="1" lang="ja-JP" altLang="en-US" sz="2400" dirty="0"/>
            <a:t>作業指示書・図面・ＣＰ等</a:t>
          </a:r>
        </a:p>
      </dgm:t>
    </dgm:pt>
    <dgm:pt modelId="{CAEDBFBC-3693-4672-9F48-DF57CAC78965}" type="parTrans" cxnId="{5EBD8B0B-BF92-4B77-B7C7-ED149951F124}">
      <dgm:prSet/>
      <dgm:spPr/>
      <dgm:t>
        <a:bodyPr/>
        <a:lstStyle/>
        <a:p>
          <a:endParaRPr kumimoji="1" lang="ja-JP" altLang="en-US"/>
        </a:p>
      </dgm:t>
    </dgm:pt>
    <dgm:pt modelId="{57D9FCBA-BCE6-468F-820D-7FEA22FDDF8B}" type="sibTrans" cxnId="{5EBD8B0B-BF92-4B77-B7C7-ED149951F124}">
      <dgm:prSet/>
      <dgm:spPr/>
      <dgm:t>
        <a:bodyPr/>
        <a:lstStyle/>
        <a:p>
          <a:endParaRPr kumimoji="1" lang="ja-JP" altLang="en-US"/>
        </a:p>
      </dgm:t>
    </dgm:pt>
    <dgm:pt modelId="{5BC826D3-F762-4810-B35D-D90D1BAA27B7}" type="pres">
      <dgm:prSet presAssocID="{8927D1E0-5E83-4987-AD55-7F320AFED01B}" presName="Name0" presStyleCnt="0">
        <dgm:presLayoutVars>
          <dgm:dir/>
          <dgm:animLvl val="lvl"/>
          <dgm:resizeHandles val="exact"/>
        </dgm:presLayoutVars>
      </dgm:prSet>
      <dgm:spPr/>
    </dgm:pt>
    <dgm:pt modelId="{09A2D6FC-EFCD-425F-8041-1906B63CF0AC}" type="pres">
      <dgm:prSet presAssocID="{F80B4B1A-56A9-4559-914E-BB79441B05D9}" presName="Name8" presStyleCnt="0"/>
      <dgm:spPr/>
    </dgm:pt>
    <dgm:pt modelId="{1F380B5E-EC66-44F4-B7CC-627D2C3B0A59}" type="pres">
      <dgm:prSet presAssocID="{F80B4B1A-56A9-4559-914E-BB79441B05D9}" presName="level" presStyleLbl="node1" presStyleIdx="0" presStyleCnt="3">
        <dgm:presLayoutVars>
          <dgm:chMax val="1"/>
          <dgm:bulletEnabled val="1"/>
        </dgm:presLayoutVars>
      </dgm:prSet>
      <dgm:spPr/>
      <dgm:t>
        <a:bodyPr/>
        <a:lstStyle/>
        <a:p>
          <a:endParaRPr kumimoji="1" lang="ja-JP" altLang="en-US"/>
        </a:p>
      </dgm:t>
    </dgm:pt>
    <dgm:pt modelId="{5C7709D5-EBDC-40D1-B34B-A79DB6B7047F}" type="pres">
      <dgm:prSet presAssocID="{F80B4B1A-56A9-4559-914E-BB79441B05D9}" presName="levelTx" presStyleLbl="revTx" presStyleIdx="0" presStyleCnt="0">
        <dgm:presLayoutVars>
          <dgm:chMax val="1"/>
          <dgm:bulletEnabled val="1"/>
        </dgm:presLayoutVars>
      </dgm:prSet>
      <dgm:spPr/>
      <dgm:t>
        <a:bodyPr/>
        <a:lstStyle/>
        <a:p>
          <a:endParaRPr kumimoji="1" lang="ja-JP" altLang="en-US"/>
        </a:p>
      </dgm:t>
    </dgm:pt>
    <dgm:pt modelId="{AAF967F5-B875-40D7-B02D-6CF32D749942}" type="pres">
      <dgm:prSet presAssocID="{106CF916-AA57-4329-8869-99AB1DADF1F9}" presName="Name8" presStyleCnt="0"/>
      <dgm:spPr/>
    </dgm:pt>
    <dgm:pt modelId="{D2995954-9D10-4F6E-BDF2-049904F63635}" type="pres">
      <dgm:prSet presAssocID="{106CF916-AA57-4329-8869-99AB1DADF1F9}" presName="level" presStyleLbl="node1" presStyleIdx="1" presStyleCnt="3">
        <dgm:presLayoutVars>
          <dgm:chMax val="1"/>
          <dgm:bulletEnabled val="1"/>
        </dgm:presLayoutVars>
      </dgm:prSet>
      <dgm:spPr/>
      <dgm:t>
        <a:bodyPr/>
        <a:lstStyle/>
        <a:p>
          <a:endParaRPr kumimoji="1" lang="ja-JP" altLang="en-US"/>
        </a:p>
      </dgm:t>
    </dgm:pt>
    <dgm:pt modelId="{ACCFED25-6876-425A-BEC3-BB4B6DA439EF}" type="pres">
      <dgm:prSet presAssocID="{106CF916-AA57-4329-8869-99AB1DADF1F9}" presName="levelTx" presStyleLbl="revTx" presStyleIdx="0" presStyleCnt="0">
        <dgm:presLayoutVars>
          <dgm:chMax val="1"/>
          <dgm:bulletEnabled val="1"/>
        </dgm:presLayoutVars>
      </dgm:prSet>
      <dgm:spPr/>
      <dgm:t>
        <a:bodyPr/>
        <a:lstStyle/>
        <a:p>
          <a:endParaRPr kumimoji="1" lang="ja-JP" altLang="en-US"/>
        </a:p>
      </dgm:t>
    </dgm:pt>
    <dgm:pt modelId="{D8010C8A-4325-4A8B-88A6-8679422AB7DD}" type="pres">
      <dgm:prSet presAssocID="{CD31CA93-A482-4225-A4CC-92E4504A01A9}" presName="Name8" presStyleCnt="0"/>
      <dgm:spPr/>
    </dgm:pt>
    <dgm:pt modelId="{FA5ABC5E-D2D3-48D0-AA03-16442EF7CFA4}" type="pres">
      <dgm:prSet presAssocID="{CD31CA93-A482-4225-A4CC-92E4504A01A9}" presName="level" presStyleLbl="node1" presStyleIdx="2" presStyleCnt="3">
        <dgm:presLayoutVars>
          <dgm:chMax val="1"/>
          <dgm:bulletEnabled val="1"/>
        </dgm:presLayoutVars>
      </dgm:prSet>
      <dgm:spPr/>
      <dgm:t>
        <a:bodyPr/>
        <a:lstStyle/>
        <a:p>
          <a:endParaRPr kumimoji="1" lang="ja-JP" altLang="en-US"/>
        </a:p>
      </dgm:t>
    </dgm:pt>
    <dgm:pt modelId="{BFCFDB65-1A34-4EF4-A8C2-0295CDB07D59}" type="pres">
      <dgm:prSet presAssocID="{CD31CA93-A482-4225-A4CC-92E4504A01A9}" presName="levelTx" presStyleLbl="revTx" presStyleIdx="0" presStyleCnt="0">
        <dgm:presLayoutVars>
          <dgm:chMax val="1"/>
          <dgm:bulletEnabled val="1"/>
        </dgm:presLayoutVars>
      </dgm:prSet>
      <dgm:spPr/>
      <dgm:t>
        <a:bodyPr/>
        <a:lstStyle/>
        <a:p>
          <a:endParaRPr kumimoji="1" lang="ja-JP" altLang="en-US"/>
        </a:p>
      </dgm:t>
    </dgm:pt>
  </dgm:ptLst>
  <dgm:cxnLst>
    <dgm:cxn modelId="{A82358B6-B5F8-49DE-BDC9-6432BB9869FE}" type="presOf" srcId="{CD31CA93-A482-4225-A4CC-92E4504A01A9}" destId="{FA5ABC5E-D2D3-48D0-AA03-16442EF7CFA4}" srcOrd="0" destOrd="0" presId="urn:microsoft.com/office/officeart/2005/8/layout/pyramid1"/>
    <dgm:cxn modelId="{7DE5A142-CC53-47A1-B982-555B9F767FCC}" type="presOf" srcId="{8927D1E0-5E83-4987-AD55-7F320AFED01B}" destId="{5BC826D3-F762-4810-B35D-D90D1BAA27B7}" srcOrd="0" destOrd="0" presId="urn:microsoft.com/office/officeart/2005/8/layout/pyramid1"/>
    <dgm:cxn modelId="{5EBD8B0B-BF92-4B77-B7C7-ED149951F124}" srcId="{8927D1E0-5E83-4987-AD55-7F320AFED01B}" destId="{CD31CA93-A482-4225-A4CC-92E4504A01A9}" srcOrd="2" destOrd="0" parTransId="{CAEDBFBC-3693-4672-9F48-DF57CAC78965}" sibTransId="{57D9FCBA-BCE6-468F-820D-7FEA22FDDF8B}"/>
    <dgm:cxn modelId="{BC7720D9-EB9F-42A7-8FA0-D27410DCB3BE}" type="presOf" srcId="{106CF916-AA57-4329-8869-99AB1DADF1F9}" destId="{ACCFED25-6876-425A-BEC3-BB4B6DA439EF}" srcOrd="1" destOrd="0" presId="urn:microsoft.com/office/officeart/2005/8/layout/pyramid1"/>
    <dgm:cxn modelId="{1B4CB14B-3C42-4F2A-8634-AAB9D59CBA51}" type="presOf" srcId="{CD31CA93-A482-4225-A4CC-92E4504A01A9}" destId="{BFCFDB65-1A34-4EF4-A8C2-0295CDB07D59}" srcOrd="1" destOrd="0" presId="urn:microsoft.com/office/officeart/2005/8/layout/pyramid1"/>
    <dgm:cxn modelId="{E541768B-226C-41D8-A556-C8E8C9A37546}" srcId="{8927D1E0-5E83-4987-AD55-7F320AFED01B}" destId="{106CF916-AA57-4329-8869-99AB1DADF1F9}" srcOrd="1" destOrd="0" parTransId="{0F52474D-721C-4F8E-8187-C87A34CB919E}" sibTransId="{57D58AFD-7029-4056-ACD9-2E7A86DECE48}"/>
    <dgm:cxn modelId="{D77E0202-8A4B-4364-9473-E573A540ECCA}" type="presOf" srcId="{F80B4B1A-56A9-4559-914E-BB79441B05D9}" destId="{1F380B5E-EC66-44F4-B7CC-627D2C3B0A59}" srcOrd="0" destOrd="0" presId="urn:microsoft.com/office/officeart/2005/8/layout/pyramid1"/>
    <dgm:cxn modelId="{918D5D7C-EC2C-4AA3-8672-5A121D84CC73}" type="presOf" srcId="{106CF916-AA57-4329-8869-99AB1DADF1F9}" destId="{D2995954-9D10-4F6E-BDF2-049904F63635}" srcOrd="0" destOrd="0" presId="urn:microsoft.com/office/officeart/2005/8/layout/pyramid1"/>
    <dgm:cxn modelId="{18045086-0327-4F91-824B-9AB9E7AF2D5B}" srcId="{8927D1E0-5E83-4987-AD55-7F320AFED01B}" destId="{F80B4B1A-56A9-4559-914E-BB79441B05D9}" srcOrd="0" destOrd="0" parTransId="{3A2585DE-217B-48BA-B6F7-E9262E1FCCC3}" sibTransId="{B79E7147-85E4-455A-A085-99BD49B91F4B}"/>
    <dgm:cxn modelId="{9CF8215E-42EB-486D-88B7-713A038EB983}" type="presOf" srcId="{F80B4B1A-56A9-4559-914E-BB79441B05D9}" destId="{5C7709D5-EBDC-40D1-B34B-A79DB6B7047F}" srcOrd="1" destOrd="0" presId="urn:microsoft.com/office/officeart/2005/8/layout/pyramid1"/>
    <dgm:cxn modelId="{4D02E291-DABD-4AC6-B0AD-F62B5E0408A3}" type="presParOf" srcId="{5BC826D3-F762-4810-B35D-D90D1BAA27B7}" destId="{09A2D6FC-EFCD-425F-8041-1906B63CF0AC}" srcOrd="0" destOrd="0" presId="urn:microsoft.com/office/officeart/2005/8/layout/pyramid1"/>
    <dgm:cxn modelId="{41D75BD4-6C02-4CF1-825C-844DF061821C}" type="presParOf" srcId="{09A2D6FC-EFCD-425F-8041-1906B63CF0AC}" destId="{1F380B5E-EC66-44F4-B7CC-627D2C3B0A59}" srcOrd="0" destOrd="0" presId="urn:microsoft.com/office/officeart/2005/8/layout/pyramid1"/>
    <dgm:cxn modelId="{37669A23-6272-4946-9BC1-7B9F8C2D58B4}" type="presParOf" srcId="{09A2D6FC-EFCD-425F-8041-1906B63CF0AC}" destId="{5C7709D5-EBDC-40D1-B34B-A79DB6B7047F}" srcOrd="1" destOrd="0" presId="urn:microsoft.com/office/officeart/2005/8/layout/pyramid1"/>
    <dgm:cxn modelId="{21B85AAB-7787-400F-B086-E0503C674360}" type="presParOf" srcId="{5BC826D3-F762-4810-B35D-D90D1BAA27B7}" destId="{AAF967F5-B875-40D7-B02D-6CF32D749942}" srcOrd="1" destOrd="0" presId="urn:microsoft.com/office/officeart/2005/8/layout/pyramid1"/>
    <dgm:cxn modelId="{C05C664E-1F9D-4237-81F8-7192FED0E45D}" type="presParOf" srcId="{AAF967F5-B875-40D7-B02D-6CF32D749942}" destId="{D2995954-9D10-4F6E-BDF2-049904F63635}" srcOrd="0" destOrd="0" presId="urn:microsoft.com/office/officeart/2005/8/layout/pyramid1"/>
    <dgm:cxn modelId="{4E23354D-7FE3-47DB-8AFF-D84E678774EF}" type="presParOf" srcId="{AAF967F5-B875-40D7-B02D-6CF32D749942}" destId="{ACCFED25-6876-425A-BEC3-BB4B6DA439EF}" srcOrd="1" destOrd="0" presId="urn:microsoft.com/office/officeart/2005/8/layout/pyramid1"/>
    <dgm:cxn modelId="{0D2C2CE0-A420-4B00-B543-1712FEA9658F}" type="presParOf" srcId="{5BC826D3-F762-4810-B35D-D90D1BAA27B7}" destId="{D8010C8A-4325-4A8B-88A6-8679422AB7DD}" srcOrd="2" destOrd="0" presId="urn:microsoft.com/office/officeart/2005/8/layout/pyramid1"/>
    <dgm:cxn modelId="{BC4E4FDF-E1AE-4DF5-8DC8-BD37C4E8759A}" type="presParOf" srcId="{D8010C8A-4325-4A8B-88A6-8679422AB7DD}" destId="{FA5ABC5E-D2D3-48D0-AA03-16442EF7CFA4}" srcOrd="0" destOrd="0" presId="urn:microsoft.com/office/officeart/2005/8/layout/pyramid1"/>
    <dgm:cxn modelId="{3CEAB980-6B49-4F8A-9508-E1D398055DD4}" type="presParOf" srcId="{D8010C8A-4325-4A8B-88A6-8679422AB7DD}" destId="{BFCFDB65-1A34-4EF4-A8C2-0295CDB07D59}"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第１章　</a:t>
          </a:r>
          <a:r>
            <a:rPr kumimoji="1" lang="en-US" altLang="ja-JP" sz="2800" dirty="0">
              <a:solidFill>
                <a:schemeClr val="tx1"/>
              </a:solidFill>
            </a:rPr>
            <a:t>IATF16949:2016</a:t>
          </a:r>
          <a:r>
            <a:rPr kumimoji="1" lang="ja-JP" altLang="en-US" sz="2800" dirty="0">
              <a:solidFill>
                <a:schemeClr val="tx1"/>
              </a:solidFill>
            </a:rPr>
            <a:t>概要</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solidFill>
      </dgm:spPr>
      <dgm:t>
        <a:bodyPr/>
        <a:lstStyle/>
        <a:p>
          <a:r>
            <a:rPr kumimoji="1" lang="ja-JP" altLang="en-US" sz="3600" dirty="0">
              <a:solidFill>
                <a:schemeClr val="bg1"/>
              </a:solidFill>
            </a:rPr>
            <a:t>第２章　</a:t>
          </a:r>
          <a:r>
            <a:rPr kumimoji="1" lang="en-US" altLang="ja-JP" sz="3600" dirty="0">
              <a:solidFill>
                <a:schemeClr val="bg1"/>
              </a:solidFill>
            </a:rPr>
            <a:t>IATF16949:2016</a:t>
          </a:r>
          <a:r>
            <a:rPr kumimoji="1" lang="ja-JP" altLang="en-US" sz="3600" dirty="0">
              <a:solidFill>
                <a:schemeClr val="bg1"/>
              </a:solidFill>
            </a:rPr>
            <a:t>要求事項の理解</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第３章　コアツールの理解</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FA0ED24-3155-4016-A452-89C77956D2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7746360B-8F7B-4190-81AC-91DA844C9140}">
      <dgm:prSet phldrT="[テキスト]"/>
      <dgm:spPr>
        <a:solidFill>
          <a:schemeClr val="tx2">
            <a:lumMod val="40000"/>
            <a:lumOff val="60000"/>
          </a:schemeClr>
        </a:solidFill>
      </dgm:spPr>
      <dgm:t>
        <a:bodyPr/>
        <a:lstStyle/>
        <a:p>
          <a:r>
            <a:rPr kumimoji="1" lang="ja-JP" altLang="en-US" dirty="0">
              <a:solidFill>
                <a:schemeClr val="tx1"/>
              </a:solidFill>
            </a:rPr>
            <a:t>顧客志向プロセス</a:t>
          </a:r>
        </a:p>
      </dgm:t>
    </dgm:pt>
    <dgm:pt modelId="{35590F66-E2E5-49C2-9751-0AFCC89C5D9D}" type="parTrans" cxnId="{8B291B73-37BB-4121-9B28-CCC9CBDAD514}">
      <dgm:prSet/>
      <dgm:spPr/>
      <dgm:t>
        <a:bodyPr/>
        <a:lstStyle/>
        <a:p>
          <a:endParaRPr kumimoji="1" lang="ja-JP" altLang="en-US"/>
        </a:p>
      </dgm:t>
    </dgm:pt>
    <dgm:pt modelId="{91730C9B-8236-43FF-9574-E0AC4B48225B}" type="sibTrans" cxnId="{8B291B73-37BB-4121-9B28-CCC9CBDAD514}">
      <dgm:prSet/>
      <dgm:spPr/>
      <dgm:t>
        <a:bodyPr/>
        <a:lstStyle/>
        <a:p>
          <a:endParaRPr kumimoji="1" lang="ja-JP" altLang="en-US"/>
        </a:p>
      </dgm:t>
    </dgm:pt>
    <dgm:pt modelId="{67F4AFB0-DCD2-4CE2-8ABC-CCA68239A1E4}">
      <dgm:prSet phldrT="[テキスト]"/>
      <dgm:spPr/>
      <dgm:t>
        <a:bodyPr/>
        <a:lstStyle/>
        <a:p>
          <a:r>
            <a:rPr kumimoji="1" lang="ja-JP" altLang="en-US" dirty="0"/>
            <a:t>例）受注／製品設計／金型設計／製造／検査</a:t>
          </a:r>
        </a:p>
      </dgm:t>
    </dgm:pt>
    <dgm:pt modelId="{9E221115-8790-4716-B459-A9921FBFADEC}" type="parTrans" cxnId="{599D7D2F-658C-48FD-98A0-4C8C654749A5}">
      <dgm:prSet/>
      <dgm:spPr/>
      <dgm:t>
        <a:bodyPr/>
        <a:lstStyle/>
        <a:p>
          <a:endParaRPr kumimoji="1" lang="ja-JP" altLang="en-US"/>
        </a:p>
      </dgm:t>
    </dgm:pt>
    <dgm:pt modelId="{74137615-84E8-48E1-9930-D91CB4E3F46F}" type="sibTrans" cxnId="{599D7D2F-658C-48FD-98A0-4C8C654749A5}">
      <dgm:prSet/>
      <dgm:spPr/>
      <dgm:t>
        <a:bodyPr/>
        <a:lstStyle/>
        <a:p>
          <a:endParaRPr kumimoji="1" lang="ja-JP" altLang="en-US"/>
        </a:p>
      </dgm:t>
    </dgm:pt>
    <dgm:pt modelId="{F9F9D14D-256F-4F31-BC09-C5909EA49FAC}">
      <dgm:prSet phldrT="[テキスト]"/>
      <dgm:spPr>
        <a:solidFill>
          <a:schemeClr val="tx2">
            <a:lumMod val="40000"/>
            <a:lumOff val="60000"/>
          </a:schemeClr>
        </a:solidFill>
      </dgm:spPr>
      <dgm:t>
        <a:bodyPr/>
        <a:lstStyle/>
        <a:p>
          <a:r>
            <a:rPr kumimoji="1" lang="ja-JP" altLang="en-US" dirty="0">
              <a:solidFill>
                <a:schemeClr val="tx1"/>
              </a:solidFill>
            </a:rPr>
            <a:t>マネジメントプロセス</a:t>
          </a:r>
        </a:p>
      </dgm:t>
    </dgm:pt>
    <dgm:pt modelId="{89F28DD5-88E6-4E03-8A41-31606D98133D}" type="parTrans" cxnId="{E3097D1B-208F-49FE-918E-C3AD499BEDED}">
      <dgm:prSet/>
      <dgm:spPr/>
      <dgm:t>
        <a:bodyPr/>
        <a:lstStyle/>
        <a:p>
          <a:endParaRPr kumimoji="1" lang="ja-JP" altLang="en-US"/>
        </a:p>
      </dgm:t>
    </dgm:pt>
    <dgm:pt modelId="{E1CD48AD-52F0-460E-BFE5-BA1A208E364E}" type="sibTrans" cxnId="{E3097D1B-208F-49FE-918E-C3AD499BEDED}">
      <dgm:prSet/>
      <dgm:spPr/>
      <dgm:t>
        <a:bodyPr/>
        <a:lstStyle/>
        <a:p>
          <a:endParaRPr kumimoji="1" lang="ja-JP" altLang="en-US"/>
        </a:p>
      </dgm:t>
    </dgm:pt>
    <dgm:pt modelId="{8C2D54E3-A141-4C44-B2E7-631295884075}">
      <dgm:prSet phldrT="[テキスト]"/>
      <dgm:spPr/>
      <dgm:t>
        <a:bodyPr/>
        <a:lstStyle/>
        <a:p>
          <a:r>
            <a:rPr kumimoji="1" lang="ja-JP" altLang="en-US" dirty="0"/>
            <a:t>例）方針管理／内部監査／改善</a:t>
          </a:r>
        </a:p>
      </dgm:t>
    </dgm:pt>
    <dgm:pt modelId="{184F468C-EE76-4D58-92C2-C57AB36A5D61}" type="parTrans" cxnId="{C989EC60-B11A-4820-916B-B09E2DF900E5}">
      <dgm:prSet/>
      <dgm:spPr/>
      <dgm:t>
        <a:bodyPr/>
        <a:lstStyle/>
        <a:p>
          <a:endParaRPr kumimoji="1" lang="ja-JP" altLang="en-US"/>
        </a:p>
      </dgm:t>
    </dgm:pt>
    <dgm:pt modelId="{993A8237-AAA5-414C-ABAF-BFCA725B56F4}" type="sibTrans" cxnId="{C989EC60-B11A-4820-916B-B09E2DF900E5}">
      <dgm:prSet/>
      <dgm:spPr/>
      <dgm:t>
        <a:bodyPr/>
        <a:lstStyle/>
        <a:p>
          <a:endParaRPr kumimoji="1" lang="ja-JP" altLang="en-US"/>
        </a:p>
      </dgm:t>
    </dgm:pt>
    <dgm:pt modelId="{A71E07CC-D555-4611-B8B2-DBC231BAC991}">
      <dgm:prSet phldrT="[テキスト]"/>
      <dgm:spPr>
        <a:solidFill>
          <a:schemeClr val="tx2">
            <a:lumMod val="40000"/>
            <a:lumOff val="60000"/>
          </a:schemeClr>
        </a:solidFill>
      </dgm:spPr>
      <dgm:t>
        <a:bodyPr/>
        <a:lstStyle/>
        <a:p>
          <a:r>
            <a:rPr kumimoji="1" lang="ja-JP" altLang="en-US" dirty="0">
              <a:solidFill>
                <a:schemeClr val="tx1"/>
              </a:solidFill>
            </a:rPr>
            <a:t>支援プロセス</a:t>
          </a:r>
        </a:p>
      </dgm:t>
    </dgm:pt>
    <dgm:pt modelId="{6DA4C4D8-A099-4305-8B20-BFC808B9C51C}" type="parTrans" cxnId="{B89A52D9-32D5-4963-A4CA-99AA3BB3B999}">
      <dgm:prSet/>
      <dgm:spPr/>
      <dgm:t>
        <a:bodyPr/>
        <a:lstStyle/>
        <a:p>
          <a:endParaRPr kumimoji="1" lang="ja-JP" altLang="en-US"/>
        </a:p>
      </dgm:t>
    </dgm:pt>
    <dgm:pt modelId="{42FE9885-96B1-41B6-99D2-E3019F2DD92B}" type="sibTrans" cxnId="{B89A52D9-32D5-4963-A4CA-99AA3BB3B999}">
      <dgm:prSet/>
      <dgm:spPr/>
      <dgm:t>
        <a:bodyPr/>
        <a:lstStyle/>
        <a:p>
          <a:endParaRPr kumimoji="1" lang="ja-JP" altLang="en-US"/>
        </a:p>
      </dgm:t>
    </dgm:pt>
    <dgm:pt modelId="{4DD5C698-DECD-42C4-ABB8-A0742242BDF3}">
      <dgm:prSet phldrT="[テキスト]"/>
      <dgm:spPr/>
      <dgm:t>
        <a:bodyPr/>
        <a:lstStyle/>
        <a:p>
          <a:r>
            <a:rPr kumimoji="1" lang="ja-JP" altLang="en-US" dirty="0"/>
            <a:t>例）設備管理／購買／測定機器</a:t>
          </a:r>
        </a:p>
      </dgm:t>
    </dgm:pt>
    <dgm:pt modelId="{4B8AF9FF-9991-4270-8E27-FE05CD56A59B}" type="parTrans" cxnId="{85A2E072-51A4-447B-B72B-CAB72DD474BD}">
      <dgm:prSet/>
      <dgm:spPr/>
      <dgm:t>
        <a:bodyPr/>
        <a:lstStyle/>
        <a:p>
          <a:endParaRPr kumimoji="1" lang="ja-JP" altLang="en-US"/>
        </a:p>
      </dgm:t>
    </dgm:pt>
    <dgm:pt modelId="{8B69CC98-3CA9-4B61-BA31-36632D1E2BE5}" type="sibTrans" cxnId="{85A2E072-51A4-447B-B72B-CAB72DD474BD}">
      <dgm:prSet/>
      <dgm:spPr/>
      <dgm:t>
        <a:bodyPr/>
        <a:lstStyle/>
        <a:p>
          <a:endParaRPr kumimoji="1" lang="ja-JP" altLang="en-US"/>
        </a:p>
      </dgm:t>
    </dgm:pt>
    <dgm:pt modelId="{717C26C9-801B-422B-B976-CDC709E9F309}" type="pres">
      <dgm:prSet presAssocID="{4FA0ED24-3155-4016-A452-89C77956D20A}" presName="linear" presStyleCnt="0">
        <dgm:presLayoutVars>
          <dgm:animLvl val="lvl"/>
          <dgm:resizeHandles val="exact"/>
        </dgm:presLayoutVars>
      </dgm:prSet>
      <dgm:spPr/>
      <dgm:t>
        <a:bodyPr/>
        <a:lstStyle/>
        <a:p>
          <a:endParaRPr kumimoji="1" lang="ja-JP" altLang="en-US"/>
        </a:p>
      </dgm:t>
    </dgm:pt>
    <dgm:pt modelId="{D1987476-ED4A-4940-882E-97280F11F57C}" type="pres">
      <dgm:prSet presAssocID="{7746360B-8F7B-4190-81AC-91DA844C9140}" presName="parentText" presStyleLbl="node1" presStyleIdx="0" presStyleCnt="3">
        <dgm:presLayoutVars>
          <dgm:chMax val="0"/>
          <dgm:bulletEnabled val="1"/>
        </dgm:presLayoutVars>
      </dgm:prSet>
      <dgm:spPr/>
      <dgm:t>
        <a:bodyPr/>
        <a:lstStyle/>
        <a:p>
          <a:endParaRPr kumimoji="1" lang="ja-JP" altLang="en-US"/>
        </a:p>
      </dgm:t>
    </dgm:pt>
    <dgm:pt modelId="{38510904-DDB5-401E-AFCD-4A200C94AA37}" type="pres">
      <dgm:prSet presAssocID="{7746360B-8F7B-4190-81AC-91DA844C9140}" presName="childText" presStyleLbl="revTx" presStyleIdx="0" presStyleCnt="3">
        <dgm:presLayoutVars>
          <dgm:bulletEnabled val="1"/>
        </dgm:presLayoutVars>
      </dgm:prSet>
      <dgm:spPr/>
      <dgm:t>
        <a:bodyPr/>
        <a:lstStyle/>
        <a:p>
          <a:endParaRPr kumimoji="1" lang="ja-JP" altLang="en-US"/>
        </a:p>
      </dgm:t>
    </dgm:pt>
    <dgm:pt modelId="{FF7B120D-DAD3-4048-8965-5E29C74EB841}" type="pres">
      <dgm:prSet presAssocID="{F9F9D14D-256F-4F31-BC09-C5909EA49FAC}" presName="parentText" presStyleLbl="node1" presStyleIdx="1" presStyleCnt="3">
        <dgm:presLayoutVars>
          <dgm:chMax val="0"/>
          <dgm:bulletEnabled val="1"/>
        </dgm:presLayoutVars>
      </dgm:prSet>
      <dgm:spPr/>
      <dgm:t>
        <a:bodyPr/>
        <a:lstStyle/>
        <a:p>
          <a:endParaRPr kumimoji="1" lang="ja-JP" altLang="en-US"/>
        </a:p>
      </dgm:t>
    </dgm:pt>
    <dgm:pt modelId="{52C64ED3-61B2-4C5D-81BB-DC905C4D92B5}" type="pres">
      <dgm:prSet presAssocID="{F9F9D14D-256F-4F31-BC09-C5909EA49FAC}" presName="childText" presStyleLbl="revTx" presStyleIdx="1" presStyleCnt="3">
        <dgm:presLayoutVars>
          <dgm:bulletEnabled val="1"/>
        </dgm:presLayoutVars>
      </dgm:prSet>
      <dgm:spPr/>
      <dgm:t>
        <a:bodyPr/>
        <a:lstStyle/>
        <a:p>
          <a:endParaRPr kumimoji="1" lang="ja-JP" altLang="en-US"/>
        </a:p>
      </dgm:t>
    </dgm:pt>
    <dgm:pt modelId="{318FE4A4-A74B-48A9-A7D2-091E4ADEB76F}" type="pres">
      <dgm:prSet presAssocID="{A71E07CC-D555-4611-B8B2-DBC231BAC991}" presName="parentText" presStyleLbl="node1" presStyleIdx="2" presStyleCnt="3">
        <dgm:presLayoutVars>
          <dgm:chMax val="0"/>
          <dgm:bulletEnabled val="1"/>
        </dgm:presLayoutVars>
      </dgm:prSet>
      <dgm:spPr/>
      <dgm:t>
        <a:bodyPr/>
        <a:lstStyle/>
        <a:p>
          <a:endParaRPr kumimoji="1" lang="ja-JP" altLang="en-US"/>
        </a:p>
      </dgm:t>
    </dgm:pt>
    <dgm:pt modelId="{494E09E8-07B6-474D-B093-EE4EEFE89CE3}" type="pres">
      <dgm:prSet presAssocID="{A71E07CC-D555-4611-B8B2-DBC231BAC991}" presName="childText" presStyleLbl="revTx" presStyleIdx="2" presStyleCnt="3">
        <dgm:presLayoutVars>
          <dgm:bulletEnabled val="1"/>
        </dgm:presLayoutVars>
      </dgm:prSet>
      <dgm:spPr/>
      <dgm:t>
        <a:bodyPr/>
        <a:lstStyle/>
        <a:p>
          <a:endParaRPr kumimoji="1" lang="ja-JP" altLang="en-US"/>
        </a:p>
      </dgm:t>
    </dgm:pt>
  </dgm:ptLst>
  <dgm:cxnLst>
    <dgm:cxn modelId="{C74B35C3-5D54-4B54-B5CD-5E4A1A8E047C}" type="presOf" srcId="{4DD5C698-DECD-42C4-ABB8-A0742242BDF3}" destId="{494E09E8-07B6-474D-B093-EE4EEFE89CE3}" srcOrd="0" destOrd="0" presId="urn:microsoft.com/office/officeart/2005/8/layout/vList2"/>
    <dgm:cxn modelId="{FCDF16E4-10D5-4A6B-A602-562AFCA468F6}" type="presOf" srcId="{A71E07CC-D555-4611-B8B2-DBC231BAC991}" destId="{318FE4A4-A74B-48A9-A7D2-091E4ADEB76F}" srcOrd="0" destOrd="0" presId="urn:microsoft.com/office/officeart/2005/8/layout/vList2"/>
    <dgm:cxn modelId="{EAAA86E1-879D-4DC5-B8AB-BA4B5C599F52}" type="presOf" srcId="{7746360B-8F7B-4190-81AC-91DA844C9140}" destId="{D1987476-ED4A-4940-882E-97280F11F57C}" srcOrd="0" destOrd="0" presId="urn:microsoft.com/office/officeart/2005/8/layout/vList2"/>
    <dgm:cxn modelId="{B89A52D9-32D5-4963-A4CA-99AA3BB3B999}" srcId="{4FA0ED24-3155-4016-A452-89C77956D20A}" destId="{A71E07CC-D555-4611-B8B2-DBC231BAC991}" srcOrd="2" destOrd="0" parTransId="{6DA4C4D8-A099-4305-8B20-BFC808B9C51C}" sibTransId="{42FE9885-96B1-41B6-99D2-E3019F2DD92B}"/>
    <dgm:cxn modelId="{599D7D2F-658C-48FD-98A0-4C8C654749A5}" srcId="{7746360B-8F7B-4190-81AC-91DA844C9140}" destId="{67F4AFB0-DCD2-4CE2-8ABC-CCA68239A1E4}" srcOrd="0" destOrd="0" parTransId="{9E221115-8790-4716-B459-A9921FBFADEC}" sibTransId="{74137615-84E8-48E1-9930-D91CB4E3F46F}"/>
    <dgm:cxn modelId="{4B729AFD-27A6-4E5F-9E88-12A8AC3C4543}" type="presOf" srcId="{F9F9D14D-256F-4F31-BC09-C5909EA49FAC}" destId="{FF7B120D-DAD3-4048-8965-5E29C74EB841}" srcOrd="0" destOrd="0" presId="urn:microsoft.com/office/officeart/2005/8/layout/vList2"/>
    <dgm:cxn modelId="{8B291B73-37BB-4121-9B28-CCC9CBDAD514}" srcId="{4FA0ED24-3155-4016-A452-89C77956D20A}" destId="{7746360B-8F7B-4190-81AC-91DA844C9140}" srcOrd="0" destOrd="0" parTransId="{35590F66-E2E5-49C2-9751-0AFCC89C5D9D}" sibTransId="{91730C9B-8236-43FF-9574-E0AC4B48225B}"/>
    <dgm:cxn modelId="{E3097D1B-208F-49FE-918E-C3AD499BEDED}" srcId="{4FA0ED24-3155-4016-A452-89C77956D20A}" destId="{F9F9D14D-256F-4F31-BC09-C5909EA49FAC}" srcOrd="1" destOrd="0" parTransId="{89F28DD5-88E6-4E03-8A41-31606D98133D}" sibTransId="{E1CD48AD-52F0-460E-BFE5-BA1A208E364E}"/>
    <dgm:cxn modelId="{09B00329-4ED5-4B0E-A3F5-F40B782EE7ED}" type="presOf" srcId="{4FA0ED24-3155-4016-A452-89C77956D20A}" destId="{717C26C9-801B-422B-B976-CDC709E9F309}" srcOrd="0" destOrd="0" presId="urn:microsoft.com/office/officeart/2005/8/layout/vList2"/>
    <dgm:cxn modelId="{85A2E072-51A4-447B-B72B-CAB72DD474BD}" srcId="{A71E07CC-D555-4611-B8B2-DBC231BAC991}" destId="{4DD5C698-DECD-42C4-ABB8-A0742242BDF3}" srcOrd="0" destOrd="0" parTransId="{4B8AF9FF-9991-4270-8E27-FE05CD56A59B}" sibTransId="{8B69CC98-3CA9-4B61-BA31-36632D1E2BE5}"/>
    <dgm:cxn modelId="{C989EC60-B11A-4820-916B-B09E2DF900E5}" srcId="{F9F9D14D-256F-4F31-BC09-C5909EA49FAC}" destId="{8C2D54E3-A141-4C44-B2E7-631295884075}" srcOrd="0" destOrd="0" parTransId="{184F468C-EE76-4D58-92C2-C57AB36A5D61}" sibTransId="{993A8237-AAA5-414C-ABAF-BFCA725B56F4}"/>
    <dgm:cxn modelId="{AECF1581-40A3-4FC8-B439-B49267FF91A6}" type="presOf" srcId="{67F4AFB0-DCD2-4CE2-8ABC-CCA68239A1E4}" destId="{38510904-DDB5-401E-AFCD-4A200C94AA37}" srcOrd="0" destOrd="0" presId="urn:microsoft.com/office/officeart/2005/8/layout/vList2"/>
    <dgm:cxn modelId="{3E2CDA18-4F55-49F8-882F-7DCAEEEF2792}" type="presOf" srcId="{8C2D54E3-A141-4C44-B2E7-631295884075}" destId="{52C64ED3-61B2-4C5D-81BB-DC905C4D92B5}" srcOrd="0" destOrd="0" presId="urn:microsoft.com/office/officeart/2005/8/layout/vList2"/>
    <dgm:cxn modelId="{286C6E43-092A-4A2F-92F6-F47648BEF684}" type="presParOf" srcId="{717C26C9-801B-422B-B976-CDC709E9F309}" destId="{D1987476-ED4A-4940-882E-97280F11F57C}" srcOrd="0" destOrd="0" presId="urn:microsoft.com/office/officeart/2005/8/layout/vList2"/>
    <dgm:cxn modelId="{2C12746A-CA59-4456-86BC-2C3243587024}" type="presParOf" srcId="{717C26C9-801B-422B-B976-CDC709E9F309}" destId="{38510904-DDB5-401E-AFCD-4A200C94AA37}" srcOrd="1" destOrd="0" presId="urn:microsoft.com/office/officeart/2005/8/layout/vList2"/>
    <dgm:cxn modelId="{697F43C1-EA91-4C24-A9F1-EB1A72D356B4}" type="presParOf" srcId="{717C26C9-801B-422B-B976-CDC709E9F309}" destId="{FF7B120D-DAD3-4048-8965-5E29C74EB841}" srcOrd="2" destOrd="0" presId="urn:microsoft.com/office/officeart/2005/8/layout/vList2"/>
    <dgm:cxn modelId="{466CACE9-F455-42CB-B657-47D1DB982689}" type="presParOf" srcId="{717C26C9-801B-422B-B976-CDC709E9F309}" destId="{52C64ED3-61B2-4C5D-81BB-DC905C4D92B5}" srcOrd="3" destOrd="0" presId="urn:microsoft.com/office/officeart/2005/8/layout/vList2"/>
    <dgm:cxn modelId="{077CB10C-8697-466D-BDA4-E457F033D0FD}" type="presParOf" srcId="{717C26C9-801B-422B-B976-CDC709E9F309}" destId="{318FE4A4-A74B-48A9-A7D2-091E4ADEB76F}" srcOrd="4" destOrd="0" presId="urn:microsoft.com/office/officeart/2005/8/layout/vList2"/>
    <dgm:cxn modelId="{E85F86E0-A883-4487-A234-48AB877B4DE3}" type="presParOf" srcId="{717C26C9-801B-422B-B976-CDC709E9F309}" destId="{494E09E8-07B6-474D-B093-EE4EEFE89CE3}"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EF02FC9-7781-4EA6-8D5F-C463C6626E87}" type="doc">
      <dgm:prSet loTypeId="urn:microsoft.com/office/officeart/2005/8/layout/pyramid1" loCatId="pyramid" qsTypeId="urn:microsoft.com/office/officeart/2005/8/quickstyle/simple1" qsCatId="simple" csTypeId="urn:microsoft.com/office/officeart/2005/8/colors/accent1_2" csCatId="accent1" phldr="1"/>
      <dgm:spPr/>
    </dgm:pt>
    <dgm:pt modelId="{EA3A08DC-89F7-495F-95B0-8415A46ED7D3}">
      <dgm:prSet phldrT="[テキスト]" custT="1"/>
      <dgm:spPr>
        <a:solidFill>
          <a:schemeClr val="accent2">
            <a:lumMod val="40000"/>
            <a:lumOff val="60000"/>
          </a:schemeClr>
        </a:solidFill>
      </dgm:spPr>
      <dgm:t>
        <a:bodyPr/>
        <a:lstStyle/>
        <a:p>
          <a:r>
            <a:rPr kumimoji="1" lang="ja-JP" altLang="en-US" sz="3200" b="1" dirty="0">
              <a:solidFill>
                <a:srgbClr val="FF0000"/>
              </a:solidFill>
              <a:effectLst>
                <a:outerShdw blurRad="38100" dist="38100" dir="2700000" algn="tl">
                  <a:srgbClr val="000000">
                    <a:alpha val="43137"/>
                  </a:srgbClr>
                </a:outerShdw>
              </a:effectLst>
            </a:rPr>
            <a:t>自己実現</a:t>
          </a:r>
        </a:p>
      </dgm:t>
    </dgm:pt>
    <dgm:pt modelId="{013B47DA-336D-431A-948B-0486E20A0A47}" type="parTrans" cxnId="{C131FECC-AC45-4AEE-BA4C-C69EA1F8425E}">
      <dgm:prSet/>
      <dgm:spPr/>
      <dgm:t>
        <a:bodyPr/>
        <a:lstStyle/>
        <a:p>
          <a:endParaRPr kumimoji="1" lang="ja-JP" altLang="en-US"/>
        </a:p>
      </dgm:t>
    </dgm:pt>
    <dgm:pt modelId="{171369DC-FD29-4492-AD01-DDD5A806F70A}" type="sibTrans" cxnId="{C131FECC-AC45-4AEE-BA4C-C69EA1F8425E}">
      <dgm:prSet/>
      <dgm:spPr/>
      <dgm:t>
        <a:bodyPr/>
        <a:lstStyle/>
        <a:p>
          <a:endParaRPr kumimoji="1" lang="ja-JP" altLang="en-US"/>
        </a:p>
      </dgm:t>
    </dgm:pt>
    <dgm:pt modelId="{959A1AED-7AA0-4494-BC69-E57D7565FCDB}">
      <dgm:prSet phldrT="[テキスト]" custT="1"/>
      <dgm:spPr>
        <a:solidFill>
          <a:schemeClr val="accent1">
            <a:lumMod val="40000"/>
            <a:lumOff val="60000"/>
          </a:schemeClr>
        </a:solidFill>
      </dgm:spPr>
      <dgm:t>
        <a:bodyPr/>
        <a:lstStyle/>
        <a:p>
          <a:r>
            <a:rPr kumimoji="1" lang="ja-JP" altLang="en-US" sz="3200" b="1" dirty="0">
              <a:solidFill>
                <a:schemeClr val="accent1"/>
              </a:solidFill>
              <a:effectLst>
                <a:outerShdw blurRad="38100" dist="38100" dir="2700000" algn="tl">
                  <a:srgbClr val="000000">
                    <a:alpha val="43137"/>
                  </a:srgbClr>
                </a:outerShdw>
              </a:effectLst>
            </a:rPr>
            <a:t>承認</a:t>
          </a:r>
        </a:p>
      </dgm:t>
    </dgm:pt>
    <dgm:pt modelId="{C21F5232-6C2F-40D3-A468-BAA18393331C}" type="parTrans" cxnId="{861FB2D2-F1E1-4873-B431-4FED5C8379A3}">
      <dgm:prSet/>
      <dgm:spPr/>
      <dgm:t>
        <a:bodyPr/>
        <a:lstStyle/>
        <a:p>
          <a:endParaRPr kumimoji="1" lang="ja-JP" altLang="en-US"/>
        </a:p>
      </dgm:t>
    </dgm:pt>
    <dgm:pt modelId="{5249FCEB-1DE3-4A3F-94CC-95301712FD79}" type="sibTrans" cxnId="{861FB2D2-F1E1-4873-B431-4FED5C8379A3}">
      <dgm:prSet/>
      <dgm:spPr/>
      <dgm:t>
        <a:bodyPr/>
        <a:lstStyle/>
        <a:p>
          <a:endParaRPr kumimoji="1" lang="ja-JP" altLang="en-US"/>
        </a:p>
      </dgm:t>
    </dgm:pt>
    <dgm:pt modelId="{527D1D37-41D2-4931-B2C9-68921ACF3A6B}">
      <dgm:prSet phldrT="[テキスト]" custT="1"/>
      <dgm:spPr>
        <a:solidFill>
          <a:schemeClr val="accent1">
            <a:lumMod val="40000"/>
            <a:lumOff val="60000"/>
          </a:schemeClr>
        </a:solidFill>
      </dgm:spPr>
      <dgm:t>
        <a:bodyPr/>
        <a:lstStyle/>
        <a:p>
          <a:r>
            <a:rPr kumimoji="1" lang="ja-JP" altLang="en-US" sz="3200" b="1" dirty="0">
              <a:solidFill>
                <a:schemeClr val="accent1"/>
              </a:solidFill>
              <a:effectLst>
                <a:outerShdw blurRad="38100" dist="38100" dir="2700000" algn="tl">
                  <a:srgbClr val="000000">
                    <a:alpha val="43137"/>
                  </a:srgbClr>
                </a:outerShdw>
              </a:effectLst>
            </a:rPr>
            <a:t>社会的</a:t>
          </a:r>
          <a:r>
            <a:rPr kumimoji="1" lang="ja-JP" altLang="en-US" sz="2000" b="1" dirty="0">
              <a:solidFill>
                <a:schemeClr val="accent1"/>
              </a:solidFill>
              <a:effectLst>
                <a:outerShdw blurRad="38100" dist="38100" dir="2700000" algn="tl">
                  <a:srgbClr val="000000">
                    <a:alpha val="43137"/>
                  </a:srgbClr>
                </a:outerShdw>
              </a:effectLst>
            </a:rPr>
            <a:t>（所属と愛）</a:t>
          </a:r>
        </a:p>
      </dgm:t>
    </dgm:pt>
    <dgm:pt modelId="{56CD96F6-50CB-4C6B-9048-B6BC3E371979}" type="parTrans" cxnId="{145FCB77-1DED-4E9D-B848-5A3899F37964}">
      <dgm:prSet/>
      <dgm:spPr/>
      <dgm:t>
        <a:bodyPr/>
        <a:lstStyle/>
        <a:p>
          <a:endParaRPr kumimoji="1" lang="ja-JP" altLang="en-US"/>
        </a:p>
      </dgm:t>
    </dgm:pt>
    <dgm:pt modelId="{FC321701-8EC7-4A2E-9CC2-555BBC74B4DA}" type="sibTrans" cxnId="{145FCB77-1DED-4E9D-B848-5A3899F37964}">
      <dgm:prSet/>
      <dgm:spPr/>
      <dgm:t>
        <a:bodyPr/>
        <a:lstStyle/>
        <a:p>
          <a:endParaRPr kumimoji="1" lang="ja-JP" altLang="en-US"/>
        </a:p>
      </dgm:t>
    </dgm:pt>
    <dgm:pt modelId="{2171D380-A4CB-4EA9-9553-B80DDF4B1C41}">
      <dgm:prSet phldrT="[テキスト]" custT="1"/>
      <dgm:spPr>
        <a:solidFill>
          <a:schemeClr val="accent1">
            <a:lumMod val="40000"/>
            <a:lumOff val="60000"/>
          </a:schemeClr>
        </a:solidFill>
      </dgm:spPr>
      <dgm:t>
        <a:bodyPr/>
        <a:lstStyle/>
        <a:p>
          <a:r>
            <a:rPr kumimoji="1" lang="ja-JP" altLang="en-US" sz="3200" b="1" dirty="0">
              <a:solidFill>
                <a:schemeClr val="accent1"/>
              </a:solidFill>
              <a:effectLst>
                <a:outerShdw blurRad="38100" dist="38100" dir="2700000" algn="tl">
                  <a:srgbClr val="000000">
                    <a:alpha val="43137"/>
                  </a:srgbClr>
                </a:outerShdw>
              </a:effectLst>
            </a:rPr>
            <a:t>生理的</a:t>
          </a:r>
        </a:p>
      </dgm:t>
    </dgm:pt>
    <dgm:pt modelId="{57EBDD7A-68EA-46E7-94AC-4C2666D77668}" type="parTrans" cxnId="{B0AE6509-21B2-4FDF-A876-851A628B7D42}">
      <dgm:prSet/>
      <dgm:spPr/>
      <dgm:t>
        <a:bodyPr/>
        <a:lstStyle/>
        <a:p>
          <a:endParaRPr kumimoji="1" lang="ja-JP" altLang="en-US"/>
        </a:p>
      </dgm:t>
    </dgm:pt>
    <dgm:pt modelId="{FA1B2B11-0F16-4ECB-AAC4-742DBF90F879}" type="sibTrans" cxnId="{B0AE6509-21B2-4FDF-A876-851A628B7D42}">
      <dgm:prSet/>
      <dgm:spPr/>
      <dgm:t>
        <a:bodyPr/>
        <a:lstStyle/>
        <a:p>
          <a:endParaRPr kumimoji="1" lang="ja-JP" altLang="en-US"/>
        </a:p>
      </dgm:t>
    </dgm:pt>
    <dgm:pt modelId="{E149FE1E-2827-44FB-8BDA-1E65862375E4}">
      <dgm:prSet phldrT="[テキスト]" custT="1"/>
      <dgm:spPr>
        <a:solidFill>
          <a:schemeClr val="accent1">
            <a:lumMod val="40000"/>
            <a:lumOff val="60000"/>
          </a:schemeClr>
        </a:solidFill>
      </dgm:spPr>
      <dgm:t>
        <a:bodyPr/>
        <a:lstStyle/>
        <a:p>
          <a:r>
            <a:rPr kumimoji="1" lang="ja-JP" altLang="en-US" sz="3200" b="1" dirty="0">
              <a:solidFill>
                <a:schemeClr val="accent1"/>
              </a:solidFill>
              <a:effectLst>
                <a:outerShdw blurRad="38100" dist="38100" dir="2700000" algn="tl">
                  <a:srgbClr val="000000">
                    <a:alpha val="43137"/>
                  </a:srgbClr>
                </a:outerShdw>
              </a:effectLst>
            </a:rPr>
            <a:t>安全</a:t>
          </a:r>
        </a:p>
      </dgm:t>
    </dgm:pt>
    <dgm:pt modelId="{F3F04CE3-F1E7-4EE7-B87B-D3AF3A2B9B17}" type="parTrans" cxnId="{C0765B5B-5A31-48A8-BE3E-E30F95527F25}">
      <dgm:prSet/>
      <dgm:spPr/>
      <dgm:t>
        <a:bodyPr/>
        <a:lstStyle/>
        <a:p>
          <a:endParaRPr kumimoji="1" lang="ja-JP" altLang="en-US"/>
        </a:p>
      </dgm:t>
    </dgm:pt>
    <dgm:pt modelId="{42399404-27FE-4244-9D4E-C838914DB7AB}" type="sibTrans" cxnId="{C0765B5B-5A31-48A8-BE3E-E30F95527F25}">
      <dgm:prSet/>
      <dgm:spPr/>
      <dgm:t>
        <a:bodyPr/>
        <a:lstStyle/>
        <a:p>
          <a:endParaRPr kumimoji="1" lang="ja-JP" altLang="en-US"/>
        </a:p>
      </dgm:t>
    </dgm:pt>
    <dgm:pt modelId="{65B12DC4-E23D-41BB-87E0-2CC7AFDF13B3}" type="pres">
      <dgm:prSet presAssocID="{7EF02FC9-7781-4EA6-8D5F-C463C6626E87}" presName="Name0" presStyleCnt="0">
        <dgm:presLayoutVars>
          <dgm:dir/>
          <dgm:animLvl val="lvl"/>
          <dgm:resizeHandles val="exact"/>
        </dgm:presLayoutVars>
      </dgm:prSet>
      <dgm:spPr/>
    </dgm:pt>
    <dgm:pt modelId="{DD969DE6-EDCC-4287-9364-894A3455F6F7}" type="pres">
      <dgm:prSet presAssocID="{EA3A08DC-89F7-495F-95B0-8415A46ED7D3}" presName="Name8" presStyleCnt="0"/>
      <dgm:spPr/>
    </dgm:pt>
    <dgm:pt modelId="{3F60176B-E7A1-4380-B64F-E41B39105018}" type="pres">
      <dgm:prSet presAssocID="{EA3A08DC-89F7-495F-95B0-8415A46ED7D3}" presName="level" presStyleLbl="node1" presStyleIdx="0" presStyleCnt="5" custScaleX="134783">
        <dgm:presLayoutVars>
          <dgm:chMax val="1"/>
          <dgm:bulletEnabled val="1"/>
        </dgm:presLayoutVars>
      </dgm:prSet>
      <dgm:spPr/>
      <dgm:t>
        <a:bodyPr/>
        <a:lstStyle/>
        <a:p>
          <a:endParaRPr kumimoji="1" lang="ja-JP" altLang="en-US"/>
        </a:p>
      </dgm:t>
    </dgm:pt>
    <dgm:pt modelId="{2830A43F-220C-4767-BEED-193B339E8DE3}" type="pres">
      <dgm:prSet presAssocID="{EA3A08DC-89F7-495F-95B0-8415A46ED7D3}" presName="levelTx" presStyleLbl="revTx" presStyleIdx="0" presStyleCnt="0">
        <dgm:presLayoutVars>
          <dgm:chMax val="1"/>
          <dgm:bulletEnabled val="1"/>
        </dgm:presLayoutVars>
      </dgm:prSet>
      <dgm:spPr/>
      <dgm:t>
        <a:bodyPr/>
        <a:lstStyle/>
        <a:p>
          <a:endParaRPr kumimoji="1" lang="ja-JP" altLang="en-US"/>
        </a:p>
      </dgm:t>
    </dgm:pt>
    <dgm:pt modelId="{B442D5EE-890C-4BBE-B551-B8EB049E7406}" type="pres">
      <dgm:prSet presAssocID="{959A1AED-7AA0-4494-BC69-E57D7565FCDB}" presName="Name8" presStyleCnt="0"/>
      <dgm:spPr/>
    </dgm:pt>
    <dgm:pt modelId="{37FC5A6A-E2C8-487A-A47D-515CF2CF0561}" type="pres">
      <dgm:prSet presAssocID="{959A1AED-7AA0-4494-BC69-E57D7565FCDB}" presName="level" presStyleLbl="node1" presStyleIdx="1" presStyleCnt="5">
        <dgm:presLayoutVars>
          <dgm:chMax val="1"/>
          <dgm:bulletEnabled val="1"/>
        </dgm:presLayoutVars>
      </dgm:prSet>
      <dgm:spPr/>
      <dgm:t>
        <a:bodyPr/>
        <a:lstStyle/>
        <a:p>
          <a:endParaRPr kumimoji="1" lang="ja-JP" altLang="en-US"/>
        </a:p>
      </dgm:t>
    </dgm:pt>
    <dgm:pt modelId="{188F1B6A-8723-4929-AE72-908FA641D8D2}" type="pres">
      <dgm:prSet presAssocID="{959A1AED-7AA0-4494-BC69-E57D7565FCDB}" presName="levelTx" presStyleLbl="revTx" presStyleIdx="0" presStyleCnt="0">
        <dgm:presLayoutVars>
          <dgm:chMax val="1"/>
          <dgm:bulletEnabled val="1"/>
        </dgm:presLayoutVars>
      </dgm:prSet>
      <dgm:spPr/>
      <dgm:t>
        <a:bodyPr/>
        <a:lstStyle/>
        <a:p>
          <a:endParaRPr kumimoji="1" lang="ja-JP" altLang="en-US"/>
        </a:p>
      </dgm:t>
    </dgm:pt>
    <dgm:pt modelId="{438333F0-F49A-4F1A-8BFE-DA027AAE4BEA}" type="pres">
      <dgm:prSet presAssocID="{527D1D37-41D2-4931-B2C9-68921ACF3A6B}" presName="Name8" presStyleCnt="0"/>
      <dgm:spPr/>
    </dgm:pt>
    <dgm:pt modelId="{9AE05E8D-191A-4803-BC48-6AF57074BBD5}" type="pres">
      <dgm:prSet presAssocID="{527D1D37-41D2-4931-B2C9-68921ACF3A6B}" presName="level" presStyleLbl="node1" presStyleIdx="2" presStyleCnt="5">
        <dgm:presLayoutVars>
          <dgm:chMax val="1"/>
          <dgm:bulletEnabled val="1"/>
        </dgm:presLayoutVars>
      </dgm:prSet>
      <dgm:spPr/>
      <dgm:t>
        <a:bodyPr/>
        <a:lstStyle/>
        <a:p>
          <a:endParaRPr kumimoji="1" lang="ja-JP" altLang="en-US"/>
        </a:p>
      </dgm:t>
    </dgm:pt>
    <dgm:pt modelId="{73A3DA88-1492-45D0-901B-926458805357}" type="pres">
      <dgm:prSet presAssocID="{527D1D37-41D2-4931-B2C9-68921ACF3A6B}" presName="levelTx" presStyleLbl="revTx" presStyleIdx="0" presStyleCnt="0">
        <dgm:presLayoutVars>
          <dgm:chMax val="1"/>
          <dgm:bulletEnabled val="1"/>
        </dgm:presLayoutVars>
      </dgm:prSet>
      <dgm:spPr/>
      <dgm:t>
        <a:bodyPr/>
        <a:lstStyle/>
        <a:p>
          <a:endParaRPr kumimoji="1" lang="ja-JP" altLang="en-US"/>
        </a:p>
      </dgm:t>
    </dgm:pt>
    <dgm:pt modelId="{3EE23CE9-7FBC-417A-B932-06A89AD0423E}" type="pres">
      <dgm:prSet presAssocID="{E149FE1E-2827-44FB-8BDA-1E65862375E4}" presName="Name8" presStyleCnt="0"/>
      <dgm:spPr/>
    </dgm:pt>
    <dgm:pt modelId="{A9515ACA-A178-48B4-8B70-4D172D6C52A0}" type="pres">
      <dgm:prSet presAssocID="{E149FE1E-2827-44FB-8BDA-1E65862375E4}" presName="level" presStyleLbl="node1" presStyleIdx="3" presStyleCnt="5">
        <dgm:presLayoutVars>
          <dgm:chMax val="1"/>
          <dgm:bulletEnabled val="1"/>
        </dgm:presLayoutVars>
      </dgm:prSet>
      <dgm:spPr/>
      <dgm:t>
        <a:bodyPr/>
        <a:lstStyle/>
        <a:p>
          <a:endParaRPr kumimoji="1" lang="ja-JP" altLang="en-US"/>
        </a:p>
      </dgm:t>
    </dgm:pt>
    <dgm:pt modelId="{7578146C-8906-49B5-B78B-FDFA5B337795}" type="pres">
      <dgm:prSet presAssocID="{E149FE1E-2827-44FB-8BDA-1E65862375E4}" presName="levelTx" presStyleLbl="revTx" presStyleIdx="0" presStyleCnt="0">
        <dgm:presLayoutVars>
          <dgm:chMax val="1"/>
          <dgm:bulletEnabled val="1"/>
        </dgm:presLayoutVars>
      </dgm:prSet>
      <dgm:spPr/>
      <dgm:t>
        <a:bodyPr/>
        <a:lstStyle/>
        <a:p>
          <a:endParaRPr kumimoji="1" lang="ja-JP" altLang="en-US"/>
        </a:p>
      </dgm:t>
    </dgm:pt>
    <dgm:pt modelId="{3D90B50F-ACA6-488D-ABEF-043C90950280}" type="pres">
      <dgm:prSet presAssocID="{2171D380-A4CB-4EA9-9553-B80DDF4B1C41}" presName="Name8" presStyleCnt="0"/>
      <dgm:spPr/>
    </dgm:pt>
    <dgm:pt modelId="{316FB093-9917-40A3-BECE-0F53CE813E3A}" type="pres">
      <dgm:prSet presAssocID="{2171D380-A4CB-4EA9-9553-B80DDF4B1C41}" presName="level" presStyleLbl="node1" presStyleIdx="4" presStyleCnt="5">
        <dgm:presLayoutVars>
          <dgm:chMax val="1"/>
          <dgm:bulletEnabled val="1"/>
        </dgm:presLayoutVars>
      </dgm:prSet>
      <dgm:spPr/>
      <dgm:t>
        <a:bodyPr/>
        <a:lstStyle/>
        <a:p>
          <a:endParaRPr kumimoji="1" lang="ja-JP" altLang="en-US"/>
        </a:p>
      </dgm:t>
    </dgm:pt>
    <dgm:pt modelId="{77D9C48E-D97C-4A7F-8651-15DF94C74A3B}" type="pres">
      <dgm:prSet presAssocID="{2171D380-A4CB-4EA9-9553-B80DDF4B1C41}" presName="levelTx" presStyleLbl="revTx" presStyleIdx="0" presStyleCnt="0">
        <dgm:presLayoutVars>
          <dgm:chMax val="1"/>
          <dgm:bulletEnabled val="1"/>
        </dgm:presLayoutVars>
      </dgm:prSet>
      <dgm:spPr/>
      <dgm:t>
        <a:bodyPr/>
        <a:lstStyle/>
        <a:p>
          <a:endParaRPr kumimoji="1" lang="ja-JP" altLang="en-US"/>
        </a:p>
      </dgm:t>
    </dgm:pt>
  </dgm:ptLst>
  <dgm:cxnLst>
    <dgm:cxn modelId="{86963E1A-5B8A-42D1-B603-C62003AC7C1C}" type="presOf" srcId="{527D1D37-41D2-4931-B2C9-68921ACF3A6B}" destId="{73A3DA88-1492-45D0-901B-926458805357}" srcOrd="1" destOrd="0" presId="urn:microsoft.com/office/officeart/2005/8/layout/pyramid1"/>
    <dgm:cxn modelId="{B0AE6509-21B2-4FDF-A876-851A628B7D42}" srcId="{7EF02FC9-7781-4EA6-8D5F-C463C6626E87}" destId="{2171D380-A4CB-4EA9-9553-B80DDF4B1C41}" srcOrd="4" destOrd="0" parTransId="{57EBDD7A-68EA-46E7-94AC-4C2666D77668}" sibTransId="{FA1B2B11-0F16-4ECB-AAC4-742DBF90F879}"/>
    <dgm:cxn modelId="{52B43882-4245-4F88-93AF-646840549D91}" type="presOf" srcId="{7EF02FC9-7781-4EA6-8D5F-C463C6626E87}" destId="{65B12DC4-E23D-41BB-87E0-2CC7AFDF13B3}" srcOrd="0" destOrd="0" presId="urn:microsoft.com/office/officeart/2005/8/layout/pyramid1"/>
    <dgm:cxn modelId="{F13D8AAC-067A-4349-80E3-C0CFCB4D9B19}" type="presOf" srcId="{2171D380-A4CB-4EA9-9553-B80DDF4B1C41}" destId="{316FB093-9917-40A3-BECE-0F53CE813E3A}" srcOrd="0" destOrd="0" presId="urn:microsoft.com/office/officeart/2005/8/layout/pyramid1"/>
    <dgm:cxn modelId="{B1F571C0-CDA8-4909-8377-827CBD375615}" type="presOf" srcId="{2171D380-A4CB-4EA9-9553-B80DDF4B1C41}" destId="{77D9C48E-D97C-4A7F-8651-15DF94C74A3B}" srcOrd="1" destOrd="0" presId="urn:microsoft.com/office/officeart/2005/8/layout/pyramid1"/>
    <dgm:cxn modelId="{F3887D3E-0AEB-4E0D-88E7-9D2BD58AF387}" type="presOf" srcId="{E149FE1E-2827-44FB-8BDA-1E65862375E4}" destId="{7578146C-8906-49B5-B78B-FDFA5B337795}" srcOrd="1" destOrd="0" presId="urn:microsoft.com/office/officeart/2005/8/layout/pyramid1"/>
    <dgm:cxn modelId="{7FC08FD9-13F0-4D58-861D-91FACE7CD3E2}" type="presOf" srcId="{EA3A08DC-89F7-495F-95B0-8415A46ED7D3}" destId="{2830A43F-220C-4767-BEED-193B339E8DE3}" srcOrd="1" destOrd="0" presId="urn:microsoft.com/office/officeart/2005/8/layout/pyramid1"/>
    <dgm:cxn modelId="{4102D416-5BB7-443C-A8D5-8E609C46496B}" type="presOf" srcId="{EA3A08DC-89F7-495F-95B0-8415A46ED7D3}" destId="{3F60176B-E7A1-4380-B64F-E41B39105018}" srcOrd="0" destOrd="0" presId="urn:microsoft.com/office/officeart/2005/8/layout/pyramid1"/>
    <dgm:cxn modelId="{ACEC43A3-9A8C-4177-9B6F-70B477A475AD}" type="presOf" srcId="{527D1D37-41D2-4931-B2C9-68921ACF3A6B}" destId="{9AE05E8D-191A-4803-BC48-6AF57074BBD5}" srcOrd="0" destOrd="0" presId="urn:microsoft.com/office/officeart/2005/8/layout/pyramid1"/>
    <dgm:cxn modelId="{C0765B5B-5A31-48A8-BE3E-E30F95527F25}" srcId="{7EF02FC9-7781-4EA6-8D5F-C463C6626E87}" destId="{E149FE1E-2827-44FB-8BDA-1E65862375E4}" srcOrd="3" destOrd="0" parTransId="{F3F04CE3-F1E7-4EE7-B87B-D3AF3A2B9B17}" sibTransId="{42399404-27FE-4244-9D4E-C838914DB7AB}"/>
    <dgm:cxn modelId="{145FCB77-1DED-4E9D-B848-5A3899F37964}" srcId="{7EF02FC9-7781-4EA6-8D5F-C463C6626E87}" destId="{527D1D37-41D2-4931-B2C9-68921ACF3A6B}" srcOrd="2" destOrd="0" parTransId="{56CD96F6-50CB-4C6B-9048-B6BC3E371979}" sibTransId="{FC321701-8EC7-4A2E-9CC2-555BBC74B4DA}"/>
    <dgm:cxn modelId="{79DFE1F7-0A13-42AE-86FA-008633A1CCC3}" type="presOf" srcId="{959A1AED-7AA0-4494-BC69-E57D7565FCDB}" destId="{188F1B6A-8723-4929-AE72-908FA641D8D2}" srcOrd="1" destOrd="0" presId="urn:microsoft.com/office/officeart/2005/8/layout/pyramid1"/>
    <dgm:cxn modelId="{C131FECC-AC45-4AEE-BA4C-C69EA1F8425E}" srcId="{7EF02FC9-7781-4EA6-8D5F-C463C6626E87}" destId="{EA3A08DC-89F7-495F-95B0-8415A46ED7D3}" srcOrd="0" destOrd="0" parTransId="{013B47DA-336D-431A-948B-0486E20A0A47}" sibTransId="{171369DC-FD29-4492-AD01-DDD5A806F70A}"/>
    <dgm:cxn modelId="{6AC864E3-7DF6-49EC-B070-2FFF6183E118}" type="presOf" srcId="{959A1AED-7AA0-4494-BC69-E57D7565FCDB}" destId="{37FC5A6A-E2C8-487A-A47D-515CF2CF0561}" srcOrd="0" destOrd="0" presId="urn:microsoft.com/office/officeart/2005/8/layout/pyramid1"/>
    <dgm:cxn modelId="{861FB2D2-F1E1-4873-B431-4FED5C8379A3}" srcId="{7EF02FC9-7781-4EA6-8D5F-C463C6626E87}" destId="{959A1AED-7AA0-4494-BC69-E57D7565FCDB}" srcOrd="1" destOrd="0" parTransId="{C21F5232-6C2F-40D3-A468-BAA18393331C}" sibTransId="{5249FCEB-1DE3-4A3F-94CC-95301712FD79}"/>
    <dgm:cxn modelId="{65153D4E-25A9-4A3A-BF62-744055184A26}" type="presOf" srcId="{E149FE1E-2827-44FB-8BDA-1E65862375E4}" destId="{A9515ACA-A178-48B4-8B70-4D172D6C52A0}" srcOrd="0" destOrd="0" presId="urn:microsoft.com/office/officeart/2005/8/layout/pyramid1"/>
    <dgm:cxn modelId="{7BFF6C1B-F736-4981-80B6-13BB6C97D97F}" type="presParOf" srcId="{65B12DC4-E23D-41BB-87E0-2CC7AFDF13B3}" destId="{DD969DE6-EDCC-4287-9364-894A3455F6F7}" srcOrd="0" destOrd="0" presId="urn:microsoft.com/office/officeart/2005/8/layout/pyramid1"/>
    <dgm:cxn modelId="{662866BB-8AAD-4E30-A736-00A7CAFC5ABF}" type="presParOf" srcId="{DD969DE6-EDCC-4287-9364-894A3455F6F7}" destId="{3F60176B-E7A1-4380-B64F-E41B39105018}" srcOrd="0" destOrd="0" presId="urn:microsoft.com/office/officeart/2005/8/layout/pyramid1"/>
    <dgm:cxn modelId="{B2C01D31-4F6B-41F5-B45F-B158C341B0B0}" type="presParOf" srcId="{DD969DE6-EDCC-4287-9364-894A3455F6F7}" destId="{2830A43F-220C-4767-BEED-193B339E8DE3}" srcOrd="1" destOrd="0" presId="urn:microsoft.com/office/officeart/2005/8/layout/pyramid1"/>
    <dgm:cxn modelId="{766AE0B6-ECAD-46AE-8520-212B31195BCD}" type="presParOf" srcId="{65B12DC4-E23D-41BB-87E0-2CC7AFDF13B3}" destId="{B442D5EE-890C-4BBE-B551-B8EB049E7406}" srcOrd="1" destOrd="0" presId="urn:microsoft.com/office/officeart/2005/8/layout/pyramid1"/>
    <dgm:cxn modelId="{975B0B9C-4334-4E44-9E6F-6475A9A214A6}" type="presParOf" srcId="{B442D5EE-890C-4BBE-B551-B8EB049E7406}" destId="{37FC5A6A-E2C8-487A-A47D-515CF2CF0561}" srcOrd="0" destOrd="0" presId="urn:microsoft.com/office/officeart/2005/8/layout/pyramid1"/>
    <dgm:cxn modelId="{FA696340-ADFA-4A99-ADF2-5E8CF74D3907}" type="presParOf" srcId="{B442D5EE-890C-4BBE-B551-B8EB049E7406}" destId="{188F1B6A-8723-4929-AE72-908FA641D8D2}" srcOrd="1" destOrd="0" presId="urn:microsoft.com/office/officeart/2005/8/layout/pyramid1"/>
    <dgm:cxn modelId="{6AD44B17-D492-4122-88CF-C10B44307650}" type="presParOf" srcId="{65B12DC4-E23D-41BB-87E0-2CC7AFDF13B3}" destId="{438333F0-F49A-4F1A-8BFE-DA027AAE4BEA}" srcOrd="2" destOrd="0" presId="urn:microsoft.com/office/officeart/2005/8/layout/pyramid1"/>
    <dgm:cxn modelId="{98A3E566-D570-44F7-81C9-DF1C87B98D60}" type="presParOf" srcId="{438333F0-F49A-4F1A-8BFE-DA027AAE4BEA}" destId="{9AE05E8D-191A-4803-BC48-6AF57074BBD5}" srcOrd="0" destOrd="0" presId="urn:microsoft.com/office/officeart/2005/8/layout/pyramid1"/>
    <dgm:cxn modelId="{A2D2B273-E630-451B-B026-FDCDC2F11B4C}" type="presParOf" srcId="{438333F0-F49A-4F1A-8BFE-DA027AAE4BEA}" destId="{73A3DA88-1492-45D0-901B-926458805357}" srcOrd="1" destOrd="0" presId="urn:microsoft.com/office/officeart/2005/8/layout/pyramid1"/>
    <dgm:cxn modelId="{8DE91230-272C-4799-A463-37B31096A49B}" type="presParOf" srcId="{65B12DC4-E23D-41BB-87E0-2CC7AFDF13B3}" destId="{3EE23CE9-7FBC-417A-B932-06A89AD0423E}" srcOrd="3" destOrd="0" presId="urn:microsoft.com/office/officeart/2005/8/layout/pyramid1"/>
    <dgm:cxn modelId="{8BE5D8FA-E643-4CE4-9439-4C223419E1E5}" type="presParOf" srcId="{3EE23CE9-7FBC-417A-B932-06A89AD0423E}" destId="{A9515ACA-A178-48B4-8B70-4D172D6C52A0}" srcOrd="0" destOrd="0" presId="urn:microsoft.com/office/officeart/2005/8/layout/pyramid1"/>
    <dgm:cxn modelId="{9518D103-CB1D-4C39-9E31-9F64D59DB1F7}" type="presParOf" srcId="{3EE23CE9-7FBC-417A-B932-06A89AD0423E}" destId="{7578146C-8906-49B5-B78B-FDFA5B337795}" srcOrd="1" destOrd="0" presId="urn:microsoft.com/office/officeart/2005/8/layout/pyramid1"/>
    <dgm:cxn modelId="{A3936198-77D8-408A-8B93-523383FF677A}" type="presParOf" srcId="{65B12DC4-E23D-41BB-87E0-2CC7AFDF13B3}" destId="{3D90B50F-ACA6-488D-ABEF-043C90950280}" srcOrd="4" destOrd="0" presId="urn:microsoft.com/office/officeart/2005/8/layout/pyramid1"/>
    <dgm:cxn modelId="{77304DD3-D7B5-4AB7-AE91-FDAA8BF5666B}" type="presParOf" srcId="{3D90B50F-ACA6-488D-ABEF-043C90950280}" destId="{316FB093-9917-40A3-BECE-0F53CE813E3A}" srcOrd="0" destOrd="0" presId="urn:microsoft.com/office/officeart/2005/8/layout/pyramid1"/>
    <dgm:cxn modelId="{E761E250-38EA-4C8B-AFBA-56DB79607B43}" type="presParOf" srcId="{3D90B50F-ACA6-488D-ABEF-043C90950280}" destId="{77D9C48E-D97C-4A7F-8651-15DF94C74A3B}"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9BC25A4-C605-4CB4-8AD0-1C52619C4B3E}"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kumimoji="1" lang="ja-JP" altLang="en-US"/>
        </a:p>
      </dgm:t>
    </dgm:pt>
    <dgm:pt modelId="{F09FADB5-FD52-4DF4-873A-BD375E15B58A}">
      <dgm:prSet phldrT="[テキスト]"/>
      <dgm:spPr>
        <a:solidFill>
          <a:schemeClr val="tx2">
            <a:lumMod val="40000"/>
            <a:lumOff val="60000"/>
          </a:schemeClr>
        </a:solidFill>
        <a:ln w="19050">
          <a:solidFill>
            <a:schemeClr val="tx1"/>
          </a:solidFill>
        </a:ln>
      </dgm:spPr>
      <dgm:t>
        <a:bodyPr/>
        <a:lstStyle/>
        <a:p>
          <a:pPr algn="ctr"/>
          <a:r>
            <a:rPr kumimoji="1" lang="ja-JP" altLang="en-US" dirty="0">
              <a:solidFill>
                <a:schemeClr val="tx1"/>
              </a:solidFill>
            </a:rPr>
            <a:t>工程フロー</a:t>
          </a:r>
        </a:p>
      </dgm:t>
    </dgm:pt>
    <dgm:pt modelId="{F3B13A3C-ABB8-40A8-B118-CA2EFD3F5CAC}" type="parTrans" cxnId="{B2C0978F-FB2D-44AB-B125-29BA2267F513}">
      <dgm:prSet/>
      <dgm:spPr/>
      <dgm:t>
        <a:bodyPr/>
        <a:lstStyle/>
        <a:p>
          <a:endParaRPr kumimoji="1" lang="ja-JP" altLang="en-US"/>
        </a:p>
      </dgm:t>
    </dgm:pt>
    <dgm:pt modelId="{3B3D05E5-1E28-4655-B63F-FD980BBB2D7B}" type="sibTrans" cxnId="{B2C0978F-FB2D-44AB-B125-29BA2267F513}">
      <dgm:prSet/>
      <dgm:spPr>
        <a:solidFill>
          <a:schemeClr val="accent1">
            <a:alpha val="90000"/>
          </a:schemeClr>
        </a:solidFill>
        <a:ln>
          <a:solidFill>
            <a:schemeClr val="tx1">
              <a:alpha val="90000"/>
            </a:schemeClr>
          </a:solidFill>
        </a:ln>
      </dgm:spPr>
      <dgm:t>
        <a:bodyPr/>
        <a:lstStyle/>
        <a:p>
          <a:endParaRPr kumimoji="1" lang="ja-JP" altLang="en-US"/>
        </a:p>
      </dgm:t>
    </dgm:pt>
    <dgm:pt modelId="{742B8B11-E1B9-41CD-8177-3A5D5D0A94C3}">
      <dgm:prSet phldrT="[テキスト]"/>
      <dgm:spPr>
        <a:solidFill>
          <a:schemeClr val="tx2">
            <a:lumMod val="40000"/>
            <a:lumOff val="60000"/>
          </a:schemeClr>
        </a:solidFill>
        <a:ln w="19050">
          <a:solidFill>
            <a:schemeClr val="tx1"/>
          </a:solidFill>
        </a:ln>
      </dgm:spPr>
      <dgm:t>
        <a:bodyPr/>
        <a:lstStyle/>
        <a:p>
          <a:pPr algn="ctr"/>
          <a:r>
            <a:rPr kumimoji="1" lang="ja-JP" altLang="en-US" dirty="0">
              <a:solidFill>
                <a:schemeClr val="tx1"/>
              </a:solidFill>
            </a:rPr>
            <a:t>工程ＦＭＥＡ</a:t>
          </a:r>
        </a:p>
      </dgm:t>
    </dgm:pt>
    <dgm:pt modelId="{F8D3B462-F8BC-4DB6-B5F3-C810FDC5D059}" type="parTrans" cxnId="{16B165B1-2341-4261-A327-9972DADFA300}">
      <dgm:prSet/>
      <dgm:spPr/>
      <dgm:t>
        <a:bodyPr/>
        <a:lstStyle/>
        <a:p>
          <a:endParaRPr kumimoji="1" lang="ja-JP" altLang="en-US"/>
        </a:p>
      </dgm:t>
    </dgm:pt>
    <dgm:pt modelId="{BA45C285-334E-4F0A-A74A-4C49CD1ADD95}" type="sibTrans" cxnId="{16B165B1-2341-4261-A327-9972DADFA300}">
      <dgm:prSet/>
      <dgm:spPr>
        <a:solidFill>
          <a:schemeClr val="accent1">
            <a:alpha val="90000"/>
          </a:schemeClr>
        </a:solidFill>
        <a:ln>
          <a:solidFill>
            <a:schemeClr val="tx1">
              <a:alpha val="90000"/>
            </a:schemeClr>
          </a:solidFill>
        </a:ln>
      </dgm:spPr>
      <dgm:t>
        <a:bodyPr/>
        <a:lstStyle/>
        <a:p>
          <a:endParaRPr kumimoji="1" lang="ja-JP" altLang="en-US"/>
        </a:p>
      </dgm:t>
    </dgm:pt>
    <dgm:pt modelId="{6AF01947-7ED6-48AD-B63D-41EA2C9F8A5A}">
      <dgm:prSet phldrT="[テキスト]"/>
      <dgm:spPr>
        <a:solidFill>
          <a:schemeClr val="tx2">
            <a:lumMod val="40000"/>
            <a:lumOff val="60000"/>
          </a:schemeClr>
        </a:solidFill>
        <a:ln w="19050">
          <a:solidFill>
            <a:schemeClr val="tx1"/>
          </a:solidFill>
        </a:ln>
      </dgm:spPr>
      <dgm:t>
        <a:bodyPr/>
        <a:lstStyle/>
        <a:p>
          <a:pPr algn="ctr"/>
          <a:r>
            <a:rPr kumimoji="1" lang="ja-JP" altLang="en-US" dirty="0">
              <a:solidFill>
                <a:schemeClr val="tx1"/>
              </a:solidFill>
            </a:rPr>
            <a:t>コントロールプラン</a:t>
          </a:r>
        </a:p>
      </dgm:t>
    </dgm:pt>
    <dgm:pt modelId="{94C04354-121B-450A-A867-86ABD9032F7C}" type="parTrans" cxnId="{61385148-9D2C-4126-8F00-AFDE8DE82230}">
      <dgm:prSet/>
      <dgm:spPr/>
      <dgm:t>
        <a:bodyPr/>
        <a:lstStyle/>
        <a:p>
          <a:endParaRPr kumimoji="1" lang="ja-JP" altLang="en-US"/>
        </a:p>
      </dgm:t>
    </dgm:pt>
    <dgm:pt modelId="{BE774247-4C0A-42B1-A7F9-65DB39F1BE06}" type="sibTrans" cxnId="{61385148-9D2C-4126-8F00-AFDE8DE82230}">
      <dgm:prSet/>
      <dgm:spPr>
        <a:solidFill>
          <a:schemeClr val="accent1">
            <a:alpha val="90000"/>
          </a:schemeClr>
        </a:solidFill>
        <a:ln>
          <a:solidFill>
            <a:schemeClr val="tx1">
              <a:alpha val="90000"/>
            </a:schemeClr>
          </a:solidFill>
        </a:ln>
      </dgm:spPr>
      <dgm:t>
        <a:bodyPr/>
        <a:lstStyle/>
        <a:p>
          <a:endParaRPr kumimoji="1" lang="ja-JP" altLang="en-US"/>
        </a:p>
      </dgm:t>
    </dgm:pt>
    <dgm:pt modelId="{19F5940F-9647-4C71-A220-11B4252655A6}">
      <dgm:prSet phldrT="[テキスト]"/>
      <dgm:spPr>
        <a:solidFill>
          <a:schemeClr val="tx2">
            <a:lumMod val="40000"/>
            <a:lumOff val="60000"/>
          </a:schemeClr>
        </a:solidFill>
        <a:ln w="19050">
          <a:solidFill>
            <a:schemeClr val="tx1"/>
          </a:solidFill>
        </a:ln>
      </dgm:spPr>
      <dgm:t>
        <a:bodyPr/>
        <a:lstStyle/>
        <a:p>
          <a:pPr algn="ctr"/>
          <a:r>
            <a:rPr kumimoji="1" lang="ja-JP" altLang="en-US" dirty="0">
              <a:solidFill>
                <a:schemeClr val="tx1"/>
              </a:solidFill>
            </a:rPr>
            <a:t>作業標準類</a:t>
          </a:r>
        </a:p>
      </dgm:t>
    </dgm:pt>
    <dgm:pt modelId="{5BC3E8C3-A9B2-4BF8-8A58-C53C7B429554}" type="parTrans" cxnId="{C307930C-A54D-4DE5-B56D-28669A384B95}">
      <dgm:prSet/>
      <dgm:spPr/>
      <dgm:t>
        <a:bodyPr/>
        <a:lstStyle/>
        <a:p>
          <a:endParaRPr kumimoji="1" lang="ja-JP" altLang="en-US"/>
        </a:p>
      </dgm:t>
    </dgm:pt>
    <dgm:pt modelId="{5FBBDE86-C608-43B7-AAE0-9B63987D7C31}" type="sibTrans" cxnId="{C307930C-A54D-4DE5-B56D-28669A384B95}">
      <dgm:prSet/>
      <dgm:spPr/>
      <dgm:t>
        <a:bodyPr/>
        <a:lstStyle/>
        <a:p>
          <a:endParaRPr kumimoji="1" lang="ja-JP" altLang="en-US"/>
        </a:p>
      </dgm:t>
    </dgm:pt>
    <dgm:pt modelId="{7FDC43E8-0943-4D37-A85B-3ED61D4FDAFE}" type="pres">
      <dgm:prSet presAssocID="{79BC25A4-C605-4CB4-8AD0-1C52619C4B3E}" presName="outerComposite" presStyleCnt="0">
        <dgm:presLayoutVars>
          <dgm:chMax val="5"/>
          <dgm:dir/>
          <dgm:resizeHandles val="exact"/>
        </dgm:presLayoutVars>
      </dgm:prSet>
      <dgm:spPr/>
      <dgm:t>
        <a:bodyPr/>
        <a:lstStyle/>
        <a:p>
          <a:endParaRPr kumimoji="1" lang="ja-JP" altLang="en-US"/>
        </a:p>
      </dgm:t>
    </dgm:pt>
    <dgm:pt modelId="{9D4F53C8-54C4-4ED6-9A98-F47BB1E5788B}" type="pres">
      <dgm:prSet presAssocID="{79BC25A4-C605-4CB4-8AD0-1C52619C4B3E}" presName="dummyMaxCanvas" presStyleCnt="0">
        <dgm:presLayoutVars/>
      </dgm:prSet>
      <dgm:spPr/>
    </dgm:pt>
    <dgm:pt modelId="{086A32C7-C43B-4130-A7B9-B8506A252002}" type="pres">
      <dgm:prSet presAssocID="{79BC25A4-C605-4CB4-8AD0-1C52619C4B3E}" presName="FourNodes_1" presStyleLbl="node1" presStyleIdx="0" presStyleCnt="4">
        <dgm:presLayoutVars>
          <dgm:bulletEnabled val="1"/>
        </dgm:presLayoutVars>
      </dgm:prSet>
      <dgm:spPr/>
      <dgm:t>
        <a:bodyPr/>
        <a:lstStyle/>
        <a:p>
          <a:endParaRPr kumimoji="1" lang="ja-JP" altLang="en-US"/>
        </a:p>
      </dgm:t>
    </dgm:pt>
    <dgm:pt modelId="{A1ED21FA-9DDF-4EDE-B5E8-9CBC05ADB852}" type="pres">
      <dgm:prSet presAssocID="{79BC25A4-C605-4CB4-8AD0-1C52619C4B3E}" presName="FourNodes_2" presStyleLbl="node1" presStyleIdx="1" presStyleCnt="4">
        <dgm:presLayoutVars>
          <dgm:bulletEnabled val="1"/>
        </dgm:presLayoutVars>
      </dgm:prSet>
      <dgm:spPr/>
      <dgm:t>
        <a:bodyPr/>
        <a:lstStyle/>
        <a:p>
          <a:endParaRPr kumimoji="1" lang="ja-JP" altLang="en-US"/>
        </a:p>
      </dgm:t>
    </dgm:pt>
    <dgm:pt modelId="{E15C656C-86EF-40CC-B71A-907271DD3DC9}" type="pres">
      <dgm:prSet presAssocID="{79BC25A4-C605-4CB4-8AD0-1C52619C4B3E}" presName="FourNodes_3" presStyleLbl="node1" presStyleIdx="2" presStyleCnt="4">
        <dgm:presLayoutVars>
          <dgm:bulletEnabled val="1"/>
        </dgm:presLayoutVars>
      </dgm:prSet>
      <dgm:spPr/>
      <dgm:t>
        <a:bodyPr/>
        <a:lstStyle/>
        <a:p>
          <a:endParaRPr kumimoji="1" lang="ja-JP" altLang="en-US"/>
        </a:p>
      </dgm:t>
    </dgm:pt>
    <dgm:pt modelId="{7445A4A8-7E3E-4A2E-9E48-9B13557198E2}" type="pres">
      <dgm:prSet presAssocID="{79BC25A4-C605-4CB4-8AD0-1C52619C4B3E}" presName="FourNodes_4" presStyleLbl="node1" presStyleIdx="3" presStyleCnt="4">
        <dgm:presLayoutVars>
          <dgm:bulletEnabled val="1"/>
        </dgm:presLayoutVars>
      </dgm:prSet>
      <dgm:spPr/>
      <dgm:t>
        <a:bodyPr/>
        <a:lstStyle/>
        <a:p>
          <a:endParaRPr kumimoji="1" lang="ja-JP" altLang="en-US"/>
        </a:p>
      </dgm:t>
    </dgm:pt>
    <dgm:pt modelId="{3209749C-E6F2-4C7E-9DCA-2A0101D7743D}" type="pres">
      <dgm:prSet presAssocID="{79BC25A4-C605-4CB4-8AD0-1C52619C4B3E}" presName="FourConn_1-2" presStyleLbl="fgAccFollowNode1" presStyleIdx="0" presStyleCnt="3">
        <dgm:presLayoutVars>
          <dgm:bulletEnabled val="1"/>
        </dgm:presLayoutVars>
      </dgm:prSet>
      <dgm:spPr/>
      <dgm:t>
        <a:bodyPr/>
        <a:lstStyle/>
        <a:p>
          <a:endParaRPr kumimoji="1" lang="ja-JP" altLang="en-US"/>
        </a:p>
      </dgm:t>
    </dgm:pt>
    <dgm:pt modelId="{8C2D2FEC-9202-4473-81B3-99A89745B436}" type="pres">
      <dgm:prSet presAssocID="{79BC25A4-C605-4CB4-8AD0-1C52619C4B3E}" presName="FourConn_2-3" presStyleLbl="fgAccFollowNode1" presStyleIdx="1" presStyleCnt="3">
        <dgm:presLayoutVars>
          <dgm:bulletEnabled val="1"/>
        </dgm:presLayoutVars>
      </dgm:prSet>
      <dgm:spPr/>
      <dgm:t>
        <a:bodyPr/>
        <a:lstStyle/>
        <a:p>
          <a:endParaRPr kumimoji="1" lang="ja-JP" altLang="en-US"/>
        </a:p>
      </dgm:t>
    </dgm:pt>
    <dgm:pt modelId="{2366170A-2908-4F70-ADC9-DD8C26B29A1E}" type="pres">
      <dgm:prSet presAssocID="{79BC25A4-C605-4CB4-8AD0-1C52619C4B3E}" presName="FourConn_3-4" presStyleLbl="fgAccFollowNode1" presStyleIdx="2" presStyleCnt="3">
        <dgm:presLayoutVars>
          <dgm:bulletEnabled val="1"/>
        </dgm:presLayoutVars>
      </dgm:prSet>
      <dgm:spPr/>
      <dgm:t>
        <a:bodyPr/>
        <a:lstStyle/>
        <a:p>
          <a:endParaRPr kumimoji="1" lang="ja-JP" altLang="en-US"/>
        </a:p>
      </dgm:t>
    </dgm:pt>
    <dgm:pt modelId="{6CCF4B71-88DA-4E17-A8B0-60C779121F7E}" type="pres">
      <dgm:prSet presAssocID="{79BC25A4-C605-4CB4-8AD0-1C52619C4B3E}" presName="FourNodes_1_text" presStyleLbl="node1" presStyleIdx="3" presStyleCnt="4">
        <dgm:presLayoutVars>
          <dgm:bulletEnabled val="1"/>
        </dgm:presLayoutVars>
      </dgm:prSet>
      <dgm:spPr/>
      <dgm:t>
        <a:bodyPr/>
        <a:lstStyle/>
        <a:p>
          <a:endParaRPr kumimoji="1" lang="ja-JP" altLang="en-US"/>
        </a:p>
      </dgm:t>
    </dgm:pt>
    <dgm:pt modelId="{2FD4566E-CA9A-4DDB-ADC6-9311BFCF9654}" type="pres">
      <dgm:prSet presAssocID="{79BC25A4-C605-4CB4-8AD0-1C52619C4B3E}" presName="FourNodes_2_text" presStyleLbl="node1" presStyleIdx="3" presStyleCnt="4">
        <dgm:presLayoutVars>
          <dgm:bulletEnabled val="1"/>
        </dgm:presLayoutVars>
      </dgm:prSet>
      <dgm:spPr/>
      <dgm:t>
        <a:bodyPr/>
        <a:lstStyle/>
        <a:p>
          <a:endParaRPr kumimoji="1" lang="ja-JP" altLang="en-US"/>
        </a:p>
      </dgm:t>
    </dgm:pt>
    <dgm:pt modelId="{D4CC27EC-A1EF-4DD4-98C6-E22F288AFB5C}" type="pres">
      <dgm:prSet presAssocID="{79BC25A4-C605-4CB4-8AD0-1C52619C4B3E}" presName="FourNodes_3_text" presStyleLbl="node1" presStyleIdx="3" presStyleCnt="4">
        <dgm:presLayoutVars>
          <dgm:bulletEnabled val="1"/>
        </dgm:presLayoutVars>
      </dgm:prSet>
      <dgm:spPr/>
      <dgm:t>
        <a:bodyPr/>
        <a:lstStyle/>
        <a:p>
          <a:endParaRPr kumimoji="1" lang="ja-JP" altLang="en-US"/>
        </a:p>
      </dgm:t>
    </dgm:pt>
    <dgm:pt modelId="{2FDB6511-F7B7-4A6C-BB44-1B1FE10559A4}" type="pres">
      <dgm:prSet presAssocID="{79BC25A4-C605-4CB4-8AD0-1C52619C4B3E}" presName="FourNodes_4_text" presStyleLbl="node1" presStyleIdx="3" presStyleCnt="4">
        <dgm:presLayoutVars>
          <dgm:bulletEnabled val="1"/>
        </dgm:presLayoutVars>
      </dgm:prSet>
      <dgm:spPr/>
      <dgm:t>
        <a:bodyPr/>
        <a:lstStyle/>
        <a:p>
          <a:endParaRPr kumimoji="1" lang="ja-JP" altLang="en-US"/>
        </a:p>
      </dgm:t>
    </dgm:pt>
  </dgm:ptLst>
  <dgm:cxnLst>
    <dgm:cxn modelId="{230D6C0F-1CBE-4FE2-9B8F-73830FF03DB5}" type="presOf" srcId="{742B8B11-E1B9-41CD-8177-3A5D5D0A94C3}" destId="{2FD4566E-CA9A-4DDB-ADC6-9311BFCF9654}" srcOrd="1" destOrd="0" presId="urn:microsoft.com/office/officeart/2005/8/layout/vProcess5"/>
    <dgm:cxn modelId="{B2C0978F-FB2D-44AB-B125-29BA2267F513}" srcId="{79BC25A4-C605-4CB4-8AD0-1C52619C4B3E}" destId="{F09FADB5-FD52-4DF4-873A-BD375E15B58A}" srcOrd="0" destOrd="0" parTransId="{F3B13A3C-ABB8-40A8-B118-CA2EFD3F5CAC}" sibTransId="{3B3D05E5-1E28-4655-B63F-FD980BBB2D7B}"/>
    <dgm:cxn modelId="{61385148-9D2C-4126-8F00-AFDE8DE82230}" srcId="{79BC25A4-C605-4CB4-8AD0-1C52619C4B3E}" destId="{6AF01947-7ED6-48AD-B63D-41EA2C9F8A5A}" srcOrd="2" destOrd="0" parTransId="{94C04354-121B-450A-A867-86ABD9032F7C}" sibTransId="{BE774247-4C0A-42B1-A7F9-65DB39F1BE06}"/>
    <dgm:cxn modelId="{592E7F0F-6252-4068-ABDA-71A091F945E6}" type="presOf" srcId="{F09FADB5-FD52-4DF4-873A-BD375E15B58A}" destId="{086A32C7-C43B-4130-A7B9-B8506A252002}" srcOrd="0" destOrd="0" presId="urn:microsoft.com/office/officeart/2005/8/layout/vProcess5"/>
    <dgm:cxn modelId="{EEA613D4-3CE6-4B78-AFE2-D18EF6123D11}" type="presOf" srcId="{3B3D05E5-1E28-4655-B63F-FD980BBB2D7B}" destId="{3209749C-E6F2-4C7E-9DCA-2A0101D7743D}" srcOrd="0" destOrd="0" presId="urn:microsoft.com/office/officeart/2005/8/layout/vProcess5"/>
    <dgm:cxn modelId="{1E2F9718-D2B1-43FE-8BB9-D0D5CB119B87}" type="presOf" srcId="{BE774247-4C0A-42B1-A7F9-65DB39F1BE06}" destId="{2366170A-2908-4F70-ADC9-DD8C26B29A1E}" srcOrd="0" destOrd="0" presId="urn:microsoft.com/office/officeart/2005/8/layout/vProcess5"/>
    <dgm:cxn modelId="{A02E0D13-C9CB-4CB6-87F8-BC571C59FBBC}" type="presOf" srcId="{19F5940F-9647-4C71-A220-11B4252655A6}" destId="{7445A4A8-7E3E-4A2E-9E48-9B13557198E2}" srcOrd="0" destOrd="0" presId="urn:microsoft.com/office/officeart/2005/8/layout/vProcess5"/>
    <dgm:cxn modelId="{089F7B24-B007-4C52-AF47-2D170AED7F17}" type="presOf" srcId="{742B8B11-E1B9-41CD-8177-3A5D5D0A94C3}" destId="{A1ED21FA-9DDF-4EDE-B5E8-9CBC05ADB852}" srcOrd="0" destOrd="0" presId="urn:microsoft.com/office/officeart/2005/8/layout/vProcess5"/>
    <dgm:cxn modelId="{F71DC652-4359-413B-A683-F1B322CF8365}" type="presOf" srcId="{BA45C285-334E-4F0A-A74A-4C49CD1ADD95}" destId="{8C2D2FEC-9202-4473-81B3-99A89745B436}" srcOrd="0" destOrd="0" presId="urn:microsoft.com/office/officeart/2005/8/layout/vProcess5"/>
    <dgm:cxn modelId="{28C8AC8E-A65F-4233-8381-408136B26DB6}" type="presOf" srcId="{6AF01947-7ED6-48AD-B63D-41EA2C9F8A5A}" destId="{D4CC27EC-A1EF-4DD4-98C6-E22F288AFB5C}" srcOrd="1" destOrd="0" presId="urn:microsoft.com/office/officeart/2005/8/layout/vProcess5"/>
    <dgm:cxn modelId="{592D7568-D919-47ED-A38D-F75AD023A4FD}" type="presOf" srcId="{6AF01947-7ED6-48AD-B63D-41EA2C9F8A5A}" destId="{E15C656C-86EF-40CC-B71A-907271DD3DC9}" srcOrd="0" destOrd="0" presId="urn:microsoft.com/office/officeart/2005/8/layout/vProcess5"/>
    <dgm:cxn modelId="{80B6F34F-FC93-4710-B0B4-E1930B05C23F}" type="presOf" srcId="{19F5940F-9647-4C71-A220-11B4252655A6}" destId="{2FDB6511-F7B7-4A6C-BB44-1B1FE10559A4}" srcOrd="1" destOrd="0" presId="urn:microsoft.com/office/officeart/2005/8/layout/vProcess5"/>
    <dgm:cxn modelId="{2529D241-8B50-45F9-B938-1215A4E5D671}" type="presOf" srcId="{F09FADB5-FD52-4DF4-873A-BD375E15B58A}" destId="{6CCF4B71-88DA-4E17-A8B0-60C779121F7E}" srcOrd="1" destOrd="0" presId="urn:microsoft.com/office/officeart/2005/8/layout/vProcess5"/>
    <dgm:cxn modelId="{34958AA9-D099-4750-9BE3-6764D2F0202A}" type="presOf" srcId="{79BC25A4-C605-4CB4-8AD0-1C52619C4B3E}" destId="{7FDC43E8-0943-4D37-A85B-3ED61D4FDAFE}" srcOrd="0" destOrd="0" presId="urn:microsoft.com/office/officeart/2005/8/layout/vProcess5"/>
    <dgm:cxn modelId="{16B165B1-2341-4261-A327-9972DADFA300}" srcId="{79BC25A4-C605-4CB4-8AD0-1C52619C4B3E}" destId="{742B8B11-E1B9-41CD-8177-3A5D5D0A94C3}" srcOrd="1" destOrd="0" parTransId="{F8D3B462-F8BC-4DB6-B5F3-C810FDC5D059}" sibTransId="{BA45C285-334E-4F0A-A74A-4C49CD1ADD95}"/>
    <dgm:cxn modelId="{C307930C-A54D-4DE5-B56D-28669A384B95}" srcId="{79BC25A4-C605-4CB4-8AD0-1C52619C4B3E}" destId="{19F5940F-9647-4C71-A220-11B4252655A6}" srcOrd="3" destOrd="0" parTransId="{5BC3E8C3-A9B2-4BF8-8A58-C53C7B429554}" sibTransId="{5FBBDE86-C608-43B7-AAE0-9B63987D7C31}"/>
    <dgm:cxn modelId="{3C718ACD-4412-4021-B166-459F6762D620}" type="presParOf" srcId="{7FDC43E8-0943-4D37-A85B-3ED61D4FDAFE}" destId="{9D4F53C8-54C4-4ED6-9A98-F47BB1E5788B}" srcOrd="0" destOrd="0" presId="urn:microsoft.com/office/officeart/2005/8/layout/vProcess5"/>
    <dgm:cxn modelId="{9664D8C4-2C82-42E7-AC2A-1CC07EA1BED3}" type="presParOf" srcId="{7FDC43E8-0943-4D37-A85B-3ED61D4FDAFE}" destId="{086A32C7-C43B-4130-A7B9-B8506A252002}" srcOrd="1" destOrd="0" presId="urn:microsoft.com/office/officeart/2005/8/layout/vProcess5"/>
    <dgm:cxn modelId="{77A3798D-79BA-4216-8750-45125F07BF64}" type="presParOf" srcId="{7FDC43E8-0943-4D37-A85B-3ED61D4FDAFE}" destId="{A1ED21FA-9DDF-4EDE-B5E8-9CBC05ADB852}" srcOrd="2" destOrd="0" presId="urn:microsoft.com/office/officeart/2005/8/layout/vProcess5"/>
    <dgm:cxn modelId="{754E7571-A622-4EA6-B8E7-4995AB6BFCF4}" type="presParOf" srcId="{7FDC43E8-0943-4D37-A85B-3ED61D4FDAFE}" destId="{E15C656C-86EF-40CC-B71A-907271DD3DC9}" srcOrd="3" destOrd="0" presId="urn:microsoft.com/office/officeart/2005/8/layout/vProcess5"/>
    <dgm:cxn modelId="{566011E6-DE42-4F4C-897C-6DC94968E3C5}" type="presParOf" srcId="{7FDC43E8-0943-4D37-A85B-3ED61D4FDAFE}" destId="{7445A4A8-7E3E-4A2E-9E48-9B13557198E2}" srcOrd="4" destOrd="0" presId="urn:microsoft.com/office/officeart/2005/8/layout/vProcess5"/>
    <dgm:cxn modelId="{ABD2BC6B-4CC4-46E9-8E18-6B46F3E8C99E}" type="presParOf" srcId="{7FDC43E8-0943-4D37-A85B-3ED61D4FDAFE}" destId="{3209749C-E6F2-4C7E-9DCA-2A0101D7743D}" srcOrd="5" destOrd="0" presId="urn:microsoft.com/office/officeart/2005/8/layout/vProcess5"/>
    <dgm:cxn modelId="{2358DD34-D002-4483-B720-172977E156D1}" type="presParOf" srcId="{7FDC43E8-0943-4D37-A85B-3ED61D4FDAFE}" destId="{8C2D2FEC-9202-4473-81B3-99A89745B436}" srcOrd="6" destOrd="0" presId="urn:microsoft.com/office/officeart/2005/8/layout/vProcess5"/>
    <dgm:cxn modelId="{9BFF2F68-9108-40BB-AE0C-D1BE7081CB8A}" type="presParOf" srcId="{7FDC43E8-0943-4D37-A85B-3ED61D4FDAFE}" destId="{2366170A-2908-4F70-ADC9-DD8C26B29A1E}" srcOrd="7" destOrd="0" presId="urn:microsoft.com/office/officeart/2005/8/layout/vProcess5"/>
    <dgm:cxn modelId="{53787848-19F7-4473-8165-EBEBFB0074AA}" type="presParOf" srcId="{7FDC43E8-0943-4D37-A85B-3ED61D4FDAFE}" destId="{6CCF4B71-88DA-4E17-A8B0-60C779121F7E}" srcOrd="8" destOrd="0" presId="urn:microsoft.com/office/officeart/2005/8/layout/vProcess5"/>
    <dgm:cxn modelId="{A32D7955-3BF6-49D7-B559-B756CFB9DEA1}" type="presParOf" srcId="{7FDC43E8-0943-4D37-A85B-3ED61D4FDAFE}" destId="{2FD4566E-CA9A-4DDB-ADC6-9311BFCF9654}" srcOrd="9" destOrd="0" presId="urn:microsoft.com/office/officeart/2005/8/layout/vProcess5"/>
    <dgm:cxn modelId="{BAA80D77-55C6-4A8A-A272-47C44C05274D}" type="presParOf" srcId="{7FDC43E8-0943-4D37-A85B-3ED61D4FDAFE}" destId="{D4CC27EC-A1EF-4DD4-98C6-E22F288AFB5C}" srcOrd="10" destOrd="0" presId="urn:microsoft.com/office/officeart/2005/8/layout/vProcess5"/>
    <dgm:cxn modelId="{67F88F12-0C0C-4CC5-ADBD-585E190363EB}" type="presParOf" srcId="{7FDC43E8-0943-4D37-A85B-3ED61D4FDAFE}" destId="{2FDB6511-F7B7-4A6C-BB44-1B1FE10559A4}"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FBA3D89-1662-4D3D-94EE-D30061981034}"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kumimoji="1" lang="ja-JP" altLang="en-US"/>
        </a:p>
      </dgm:t>
    </dgm:pt>
    <dgm:pt modelId="{C641EADD-6FCE-441E-8D15-85B4BEFA2DDC}">
      <dgm:prSet phldrT="[テキスト]" custT="1"/>
      <dgm:spPr>
        <a:solidFill>
          <a:schemeClr val="accent2">
            <a:lumMod val="60000"/>
            <a:lumOff val="40000"/>
          </a:schemeClr>
        </a:solidFill>
      </dgm:spPr>
      <dgm:t>
        <a:bodyPr/>
        <a:lstStyle/>
        <a:p>
          <a:r>
            <a:rPr kumimoji="1" lang="ja-JP" altLang="en-US" sz="1800" b="1" dirty="0"/>
            <a:t>ＩＳＯ９００１の第二者監査</a:t>
          </a:r>
        </a:p>
      </dgm:t>
    </dgm:pt>
    <dgm:pt modelId="{28608CB5-99DE-4308-A0D8-D922D208C57D}" type="parTrans" cxnId="{0BF458EB-3850-457C-8995-B4A97BB4A6ED}">
      <dgm:prSet/>
      <dgm:spPr/>
      <dgm:t>
        <a:bodyPr/>
        <a:lstStyle/>
        <a:p>
          <a:endParaRPr kumimoji="1" lang="ja-JP" altLang="en-US"/>
        </a:p>
      </dgm:t>
    </dgm:pt>
    <dgm:pt modelId="{0E5AB8A9-4F1D-4298-B982-AD44CB5D09BC}" type="sibTrans" cxnId="{0BF458EB-3850-457C-8995-B4A97BB4A6ED}">
      <dgm:prSet/>
      <dgm:spPr/>
      <dgm:t>
        <a:bodyPr/>
        <a:lstStyle/>
        <a:p>
          <a:endParaRPr kumimoji="1" lang="ja-JP" altLang="en-US"/>
        </a:p>
      </dgm:t>
    </dgm:pt>
    <dgm:pt modelId="{587AF179-5F1B-498D-B44B-1B5D0DAF9C74}">
      <dgm:prSet phldrT="[テキスト]" custT="1"/>
      <dgm:spPr>
        <a:solidFill>
          <a:schemeClr val="tx2">
            <a:lumMod val="60000"/>
            <a:lumOff val="40000"/>
          </a:schemeClr>
        </a:solidFill>
      </dgm:spPr>
      <dgm:t>
        <a:bodyPr/>
        <a:lstStyle/>
        <a:p>
          <a:r>
            <a:rPr kumimoji="1" lang="ja-JP" altLang="en-US" sz="1800" b="1" dirty="0"/>
            <a:t>ＩＳＯ９００１の第三者認証</a:t>
          </a:r>
        </a:p>
      </dgm:t>
    </dgm:pt>
    <dgm:pt modelId="{E4E887F9-4BD1-4983-884D-90B92BE3B70D}" type="parTrans" cxnId="{FDE4DF36-9A87-4B82-BF58-32C1936CAD58}">
      <dgm:prSet/>
      <dgm:spPr/>
      <dgm:t>
        <a:bodyPr/>
        <a:lstStyle/>
        <a:p>
          <a:endParaRPr kumimoji="1" lang="ja-JP" altLang="en-US"/>
        </a:p>
      </dgm:t>
    </dgm:pt>
    <dgm:pt modelId="{9F048C10-0C16-4FAE-BA74-E953826A862A}" type="sibTrans" cxnId="{FDE4DF36-9A87-4B82-BF58-32C1936CAD58}">
      <dgm:prSet/>
      <dgm:spPr/>
      <dgm:t>
        <a:bodyPr/>
        <a:lstStyle/>
        <a:p>
          <a:endParaRPr kumimoji="1" lang="ja-JP" altLang="en-US"/>
        </a:p>
      </dgm:t>
    </dgm:pt>
    <dgm:pt modelId="{FF2CB7FD-7E3C-4E53-BAB8-6FB4F9A2AAAC}">
      <dgm:prSet phldrT="[テキスト]" custT="1"/>
      <dgm:spPr>
        <a:solidFill>
          <a:schemeClr val="tx2">
            <a:lumMod val="60000"/>
            <a:lumOff val="40000"/>
          </a:schemeClr>
        </a:solidFill>
      </dgm:spPr>
      <dgm:t>
        <a:bodyPr/>
        <a:lstStyle/>
        <a:p>
          <a:r>
            <a:rPr kumimoji="1" lang="ja-JP" altLang="en-US" sz="1800" b="1" dirty="0"/>
            <a:t>ＩＳＯ９００１の第三者認証　</a:t>
          </a:r>
          <a:r>
            <a:rPr kumimoji="1" lang="en-US" altLang="ja-JP" sz="1800" b="1" dirty="0"/>
            <a:t>+</a:t>
          </a:r>
          <a:r>
            <a:rPr kumimoji="1" lang="ja-JP" altLang="en-US" sz="1800" b="1" dirty="0"/>
            <a:t>　　顧客要求事項の第二者監査</a:t>
          </a:r>
        </a:p>
      </dgm:t>
    </dgm:pt>
    <dgm:pt modelId="{77D8DBFE-3E30-4A89-BFB3-465EE3A28ED9}" type="parTrans" cxnId="{151BC15A-316A-460D-89B9-6E71F6455010}">
      <dgm:prSet/>
      <dgm:spPr/>
      <dgm:t>
        <a:bodyPr/>
        <a:lstStyle/>
        <a:p>
          <a:endParaRPr kumimoji="1" lang="ja-JP" altLang="en-US"/>
        </a:p>
      </dgm:t>
    </dgm:pt>
    <dgm:pt modelId="{795CCB05-0DF7-469A-BDE8-5524DFF6ECAF}" type="sibTrans" cxnId="{151BC15A-316A-460D-89B9-6E71F6455010}">
      <dgm:prSet/>
      <dgm:spPr/>
      <dgm:t>
        <a:bodyPr/>
        <a:lstStyle/>
        <a:p>
          <a:endParaRPr kumimoji="1" lang="ja-JP" altLang="en-US"/>
        </a:p>
      </dgm:t>
    </dgm:pt>
    <dgm:pt modelId="{03DA5ACB-C080-4764-AD60-85909E1F776C}">
      <dgm:prSet phldrT="[テキスト]" custT="1"/>
      <dgm:spPr>
        <a:solidFill>
          <a:schemeClr val="tx2">
            <a:lumMod val="60000"/>
            <a:lumOff val="40000"/>
          </a:schemeClr>
        </a:solidFill>
      </dgm:spPr>
      <dgm:t>
        <a:bodyPr/>
        <a:lstStyle/>
        <a:p>
          <a:r>
            <a:rPr kumimoji="1" lang="ja-JP" altLang="en-US" sz="1800" b="1" dirty="0"/>
            <a:t>ＩＳＯ９００１の第三者認証　</a:t>
          </a:r>
          <a:r>
            <a:rPr kumimoji="1" lang="en-US" altLang="ja-JP" sz="1800" b="1" dirty="0"/>
            <a:t>+</a:t>
          </a:r>
          <a:r>
            <a:rPr kumimoji="1" lang="ja-JP" altLang="en-US" sz="1800" b="1" dirty="0"/>
            <a:t>　　ＩＡＴＦ１６９４９の第二者監査</a:t>
          </a:r>
        </a:p>
      </dgm:t>
    </dgm:pt>
    <dgm:pt modelId="{C37434C1-ADDD-42DB-983C-234AD408E2DF}" type="parTrans" cxnId="{C78C966D-04CE-4FE8-BB13-0A1476BD2655}">
      <dgm:prSet/>
      <dgm:spPr/>
      <dgm:t>
        <a:bodyPr/>
        <a:lstStyle/>
        <a:p>
          <a:endParaRPr kumimoji="1" lang="ja-JP" altLang="en-US"/>
        </a:p>
      </dgm:t>
    </dgm:pt>
    <dgm:pt modelId="{A6AE8799-918A-47C3-B39E-05FC4C7C0A81}" type="sibTrans" cxnId="{C78C966D-04CE-4FE8-BB13-0A1476BD2655}">
      <dgm:prSet/>
      <dgm:spPr/>
      <dgm:t>
        <a:bodyPr/>
        <a:lstStyle/>
        <a:p>
          <a:endParaRPr kumimoji="1" lang="ja-JP" altLang="en-US"/>
        </a:p>
      </dgm:t>
    </dgm:pt>
    <dgm:pt modelId="{2A9B08E9-A05C-4649-8634-351B5098E987}">
      <dgm:prSet phldrT="[テキスト]" custT="1"/>
      <dgm:spPr>
        <a:solidFill>
          <a:schemeClr val="accent1"/>
        </a:solidFill>
      </dgm:spPr>
      <dgm:t>
        <a:bodyPr/>
        <a:lstStyle/>
        <a:p>
          <a:r>
            <a:rPr kumimoji="1" lang="ja-JP" altLang="en-US" sz="1800" b="1" dirty="0"/>
            <a:t>ＩＡＴＦ１６９４９の第三者認証</a:t>
          </a:r>
        </a:p>
      </dgm:t>
    </dgm:pt>
    <dgm:pt modelId="{32F7694A-A77B-42B8-80F6-B2795FB4BE37}" type="parTrans" cxnId="{0F86F238-BEE7-41E1-9205-DA3BE7B49422}">
      <dgm:prSet/>
      <dgm:spPr/>
      <dgm:t>
        <a:bodyPr/>
        <a:lstStyle/>
        <a:p>
          <a:endParaRPr kumimoji="1" lang="ja-JP" altLang="en-US"/>
        </a:p>
      </dgm:t>
    </dgm:pt>
    <dgm:pt modelId="{DA01943F-F856-4FD5-876A-64917F785FA8}" type="sibTrans" cxnId="{0F86F238-BEE7-41E1-9205-DA3BE7B49422}">
      <dgm:prSet/>
      <dgm:spPr/>
      <dgm:t>
        <a:bodyPr/>
        <a:lstStyle/>
        <a:p>
          <a:endParaRPr kumimoji="1" lang="ja-JP" altLang="en-US"/>
        </a:p>
      </dgm:t>
    </dgm:pt>
    <dgm:pt modelId="{6941F827-1AD3-4353-B08A-A2BAF709F9F1}" type="pres">
      <dgm:prSet presAssocID="{9FBA3D89-1662-4D3D-94EE-D30061981034}" presName="rootnode" presStyleCnt="0">
        <dgm:presLayoutVars>
          <dgm:chMax/>
          <dgm:chPref/>
          <dgm:dir/>
          <dgm:animLvl val="lvl"/>
        </dgm:presLayoutVars>
      </dgm:prSet>
      <dgm:spPr/>
      <dgm:t>
        <a:bodyPr/>
        <a:lstStyle/>
        <a:p>
          <a:endParaRPr kumimoji="1" lang="ja-JP" altLang="en-US"/>
        </a:p>
      </dgm:t>
    </dgm:pt>
    <dgm:pt modelId="{DC892411-9433-43EA-BFAA-D13F231AEE01}" type="pres">
      <dgm:prSet presAssocID="{C641EADD-6FCE-441E-8D15-85B4BEFA2DDC}" presName="composite" presStyleCnt="0"/>
      <dgm:spPr/>
    </dgm:pt>
    <dgm:pt modelId="{B50AFCA3-8E57-447C-92BD-FA2862CD8D71}" type="pres">
      <dgm:prSet presAssocID="{C641EADD-6FCE-441E-8D15-85B4BEFA2DDC}" presName="bentUpArrow1" presStyleLbl="alignImgPlace1" presStyleIdx="0" presStyleCnt="4" custLinFactNeighborX="-80081" custLinFactNeighborY="41704"/>
      <dgm:spPr>
        <a:solidFill>
          <a:schemeClr val="accent5">
            <a:lumMod val="75000"/>
          </a:schemeClr>
        </a:solidFill>
      </dgm:spPr>
    </dgm:pt>
    <dgm:pt modelId="{D419E879-3DF5-42C4-BBB1-236160C71FF3}" type="pres">
      <dgm:prSet presAssocID="{C641EADD-6FCE-441E-8D15-85B4BEFA2DDC}" presName="ParentText" presStyleLbl="node1" presStyleIdx="0" presStyleCnt="5" custScaleX="404753" custScaleY="151005">
        <dgm:presLayoutVars>
          <dgm:chMax val="1"/>
          <dgm:chPref val="1"/>
          <dgm:bulletEnabled val="1"/>
        </dgm:presLayoutVars>
      </dgm:prSet>
      <dgm:spPr/>
      <dgm:t>
        <a:bodyPr/>
        <a:lstStyle/>
        <a:p>
          <a:endParaRPr kumimoji="1" lang="ja-JP" altLang="en-US"/>
        </a:p>
      </dgm:t>
    </dgm:pt>
    <dgm:pt modelId="{A452F67A-6846-4A20-9F9F-850BAC2FBBBB}" type="pres">
      <dgm:prSet presAssocID="{C641EADD-6FCE-441E-8D15-85B4BEFA2DDC}" presName="ChildText" presStyleLbl="revTx" presStyleIdx="0" presStyleCnt="4">
        <dgm:presLayoutVars>
          <dgm:chMax val="0"/>
          <dgm:chPref val="0"/>
          <dgm:bulletEnabled val="1"/>
        </dgm:presLayoutVars>
      </dgm:prSet>
      <dgm:spPr/>
    </dgm:pt>
    <dgm:pt modelId="{90E92984-78A0-4F6B-961D-B2A0D996EC7C}" type="pres">
      <dgm:prSet presAssocID="{0E5AB8A9-4F1D-4298-B982-AD44CB5D09BC}" presName="sibTrans" presStyleCnt="0"/>
      <dgm:spPr/>
    </dgm:pt>
    <dgm:pt modelId="{0B031DBA-36C3-43EC-8E5E-47604A54399F}" type="pres">
      <dgm:prSet presAssocID="{587AF179-5F1B-498D-B44B-1B5D0DAF9C74}" presName="composite" presStyleCnt="0"/>
      <dgm:spPr/>
    </dgm:pt>
    <dgm:pt modelId="{88DFDAB8-329E-40A4-B7CF-CC33FCE3101E}" type="pres">
      <dgm:prSet presAssocID="{587AF179-5F1B-498D-B44B-1B5D0DAF9C74}" presName="bentUpArrow1" presStyleLbl="alignImgPlace1" presStyleIdx="1" presStyleCnt="4" custLinFactNeighborX="-63597" custLinFactNeighborY="53558"/>
      <dgm:spPr>
        <a:solidFill>
          <a:schemeClr val="accent5">
            <a:lumMod val="75000"/>
          </a:schemeClr>
        </a:solidFill>
      </dgm:spPr>
    </dgm:pt>
    <dgm:pt modelId="{288D9276-C068-4AC9-94F3-1841D7364DFF}" type="pres">
      <dgm:prSet presAssocID="{587AF179-5F1B-498D-B44B-1B5D0DAF9C74}" presName="ParentText" presStyleLbl="node1" presStyleIdx="1" presStyleCnt="5" custScaleX="404753" custScaleY="151005" custLinFactNeighborX="-8095" custLinFactNeighborY="12225">
        <dgm:presLayoutVars>
          <dgm:chMax val="1"/>
          <dgm:chPref val="1"/>
          <dgm:bulletEnabled val="1"/>
        </dgm:presLayoutVars>
      </dgm:prSet>
      <dgm:spPr/>
      <dgm:t>
        <a:bodyPr/>
        <a:lstStyle/>
        <a:p>
          <a:endParaRPr kumimoji="1" lang="ja-JP" altLang="en-US"/>
        </a:p>
      </dgm:t>
    </dgm:pt>
    <dgm:pt modelId="{CAFC032F-8C7F-4405-BFC0-1E22F829E1B2}" type="pres">
      <dgm:prSet presAssocID="{587AF179-5F1B-498D-B44B-1B5D0DAF9C74}" presName="ChildText" presStyleLbl="revTx" presStyleIdx="1" presStyleCnt="4">
        <dgm:presLayoutVars>
          <dgm:chMax val="0"/>
          <dgm:chPref val="0"/>
          <dgm:bulletEnabled val="1"/>
        </dgm:presLayoutVars>
      </dgm:prSet>
      <dgm:spPr/>
    </dgm:pt>
    <dgm:pt modelId="{CD63C43C-32D0-4CB6-94D5-04039EBAC803}" type="pres">
      <dgm:prSet presAssocID="{9F048C10-0C16-4FAE-BA74-E953826A862A}" presName="sibTrans" presStyleCnt="0"/>
      <dgm:spPr/>
    </dgm:pt>
    <dgm:pt modelId="{3635DD48-40EF-46EF-AEAE-162C830EF655}" type="pres">
      <dgm:prSet presAssocID="{FF2CB7FD-7E3C-4E53-BAB8-6FB4F9A2AAAC}" presName="composite" presStyleCnt="0"/>
      <dgm:spPr/>
    </dgm:pt>
    <dgm:pt modelId="{85DCB213-D45C-4681-AB75-93FA8038FEF9}" type="pres">
      <dgm:prSet presAssocID="{FF2CB7FD-7E3C-4E53-BAB8-6FB4F9A2AAAC}" presName="bentUpArrow1" presStyleLbl="alignImgPlace1" presStyleIdx="2" presStyleCnt="4" custLinFactX="-3892" custLinFactNeighborX="-100000" custLinFactNeighborY="66727"/>
      <dgm:spPr>
        <a:solidFill>
          <a:schemeClr val="accent5">
            <a:lumMod val="75000"/>
          </a:schemeClr>
        </a:solidFill>
      </dgm:spPr>
    </dgm:pt>
    <dgm:pt modelId="{384DEF7A-DAD3-484B-9595-F5F4BF4FFBDF}" type="pres">
      <dgm:prSet presAssocID="{FF2CB7FD-7E3C-4E53-BAB8-6FB4F9A2AAAC}" presName="ParentText" presStyleLbl="node1" presStyleIdx="2" presStyleCnt="5" custScaleX="462643" custScaleY="151005" custLinFactNeighborX="2477" custLinFactNeighborY="17873">
        <dgm:presLayoutVars>
          <dgm:chMax val="1"/>
          <dgm:chPref val="1"/>
          <dgm:bulletEnabled val="1"/>
        </dgm:presLayoutVars>
      </dgm:prSet>
      <dgm:spPr/>
      <dgm:t>
        <a:bodyPr/>
        <a:lstStyle/>
        <a:p>
          <a:endParaRPr kumimoji="1" lang="ja-JP" altLang="en-US"/>
        </a:p>
      </dgm:t>
    </dgm:pt>
    <dgm:pt modelId="{461AEE48-3347-426C-B7FB-AAB42F82D901}" type="pres">
      <dgm:prSet presAssocID="{FF2CB7FD-7E3C-4E53-BAB8-6FB4F9A2AAAC}" presName="ChildText" presStyleLbl="revTx" presStyleIdx="2" presStyleCnt="4">
        <dgm:presLayoutVars>
          <dgm:chMax val="0"/>
          <dgm:chPref val="0"/>
          <dgm:bulletEnabled val="1"/>
        </dgm:presLayoutVars>
      </dgm:prSet>
      <dgm:spPr/>
    </dgm:pt>
    <dgm:pt modelId="{5DA79C3A-804B-4018-B20B-2AF08B2E0BF2}" type="pres">
      <dgm:prSet presAssocID="{795CCB05-0DF7-469A-BDE8-5524DFF6ECAF}" presName="sibTrans" presStyleCnt="0"/>
      <dgm:spPr/>
    </dgm:pt>
    <dgm:pt modelId="{2B7A2791-3B3B-4E3E-82A7-5FD3AA23C1A2}" type="pres">
      <dgm:prSet presAssocID="{03DA5ACB-C080-4764-AD60-85909E1F776C}" presName="composite" presStyleCnt="0"/>
      <dgm:spPr/>
    </dgm:pt>
    <dgm:pt modelId="{91881A58-51EB-4805-9759-0F28504F81BB}" type="pres">
      <dgm:prSet presAssocID="{03DA5ACB-C080-4764-AD60-85909E1F776C}" presName="bentUpArrow1" presStyleLbl="alignImgPlace1" presStyleIdx="3" presStyleCnt="4" custLinFactX="-49681" custLinFactNeighborX="-100000" custLinFactNeighborY="87579"/>
      <dgm:spPr>
        <a:solidFill>
          <a:schemeClr val="accent5">
            <a:lumMod val="75000"/>
          </a:schemeClr>
        </a:solidFill>
      </dgm:spPr>
    </dgm:pt>
    <dgm:pt modelId="{CE64EBAD-D574-4193-9D44-5F345A2AE936}" type="pres">
      <dgm:prSet presAssocID="{03DA5ACB-C080-4764-AD60-85909E1F776C}" presName="ParentText" presStyleLbl="node1" presStyleIdx="3" presStyleCnt="5" custScaleX="452907" custScaleY="151005" custLinFactNeighborY="35392">
        <dgm:presLayoutVars>
          <dgm:chMax val="1"/>
          <dgm:chPref val="1"/>
          <dgm:bulletEnabled val="1"/>
        </dgm:presLayoutVars>
      </dgm:prSet>
      <dgm:spPr/>
      <dgm:t>
        <a:bodyPr/>
        <a:lstStyle/>
        <a:p>
          <a:endParaRPr kumimoji="1" lang="ja-JP" altLang="en-US"/>
        </a:p>
      </dgm:t>
    </dgm:pt>
    <dgm:pt modelId="{F4D5DB58-3F3C-45C5-82AC-FF8FF1ED17A5}" type="pres">
      <dgm:prSet presAssocID="{03DA5ACB-C080-4764-AD60-85909E1F776C}" presName="ChildText" presStyleLbl="revTx" presStyleIdx="3" presStyleCnt="4">
        <dgm:presLayoutVars>
          <dgm:chMax val="0"/>
          <dgm:chPref val="0"/>
          <dgm:bulletEnabled val="1"/>
        </dgm:presLayoutVars>
      </dgm:prSet>
      <dgm:spPr/>
    </dgm:pt>
    <dgm:pt modelId="{7DA4723C-EEDC-4F45-AC0E-5DFA32129425}" type="pres">
      <dgm:prSet presAssocID="{A6AE8799-918A-47C3-B39E-05FC4C7C0A81}" presName="sibTrans" presStyleCnt="0"/>
      <dgm:spPr/>
    </dgm:pt>
    <dgm:pt modelId="{BFB0AF7F-4119-4DCE-8EC7-37729D46326C}" type="pres">
      <dgm:prSet presAssocID="{2A9B08E9-A05C-4649-8634-351B5098E987}" presName="composite" presStyleCnt="0"/>
      <dgm:spPr/>
    </dgm:pt>
    <dgm:pt modelId="{2A5BA03A-6042-48DA-A2E2-4B2480886AD8}" type="pres">
      <dgm:prSet presAssocID="{2A9B08E9-A05C-4649-8634-351B5098E987}" presName="ParentText" presStyleLbl="node1" presStyleIdx="4" presStyleCnt="5" custScaleX="453420" custScaleY="151005" custLinFactNeighborY="46010">
        <dgm:presLayoutVars>
          <dgm:chMax val="1"/>
          <dgm:chPref val="1"/>
          <dgm:bulletEnabled val="1"/>
        </dgm:presLayoutVars>
      </dgm:prSet>
      <dgm:spPr/>
      <dgm:t>
        <a:bodyPr/>
        <a:lstStyle/>
        <a:p>
          <a:endParaRPr kumimoji="1" lang="ja-JP" altLang="en-US"/>
        </a:p>
      </dgm:t>
    </dgm:pt>
  </dgm:ptLst>
  <dgm:cxnLst>
    <dgm:cxn modelId="{FDE4DF36-9A87-4B82-BF58-32C1936CAD58}" srcId="{9FBA3D89-1662-4D3D-94EE-D30061981034}" destId="{587AF179-5F1B-498D-B44B-1B5D0DAF9C74}" srcOrd="1" destOrd="0" parTransId="{E4E887F9-4BD1-4983-884D-90B92BE3B70D}" sibTransId="{9F048C10-0C16-4FAE-BA74-E953826A862A}"/>
    <dgm:cxn modelId="{0BF458EB-3850-457C-8995-B4A97BB4A6ED}" srcId="{9FBA3D89-1662-4D3D-94EE-D30061981034}" destId="{C641EADD-6FCE-441E-8D15-85B4BEFA2DDC}" srcOrd="0" destOrd="0" parTransId="{28608CB5-99DE-4308-A0D8-D922D208C57D}" sibTransId="{0E5AB8A9-4F1D-4298-B982-AD44CB5D09BC}"/>
    <dgm:cxn modelId="{90673BAC-38A2-41CC-8679-9D71F02DBC6E}" type="presOf" srcId="{9FBA3D89-1662-4D3D-94EE-D30061981034}" destId="{6941F827-1AD3-4353-B08A-A2BAF709F9F1}" srcOrd="0" destOrd="0" presId="urn:microsoft.com/office/officeart/2005/8/layout/StepDownProcess"/>
    <dgm:cxn modelId="{30C44FF0-E5DA-4575-8DCF-5A01A5CCA3B7}" type="presOf" srcId="{C641EADD-6FCE-441E-8D15-85B4BEFA2DDC}" destId="{D419E879-3DF5-42C4-BBB1-236160C71FF3}" srcOrd="0" destOrd="0" presId="urn:microsoft.com/office/officeart/2005/8/layout/StepDownProcess"/>
    <dgm:cxn modelId="{C80C80C4-E7AD-4148-97D7-41D22E383984}" type="presOf" srcId="{03DA5ACB-C080-4764-AD60-85909E1F776C}" destId="{CE64EBAD-D574-4193-9D44-5F345A2AE936}" srcOrd="0" destOrd="0" presId="urn:microsoft.com/office/officeart/2005/8/layout/StepDownProcess"/>
    <dgm:cxn modelId="{C78C966D-04CE-4FE8-BB13-0A1476BD2655}" srcId="{9FBA3D89-1662-4D3D-94EE-D30061981034}" destId="{03DA5ACB-C080-4764-AD60-85909E1F776C}" srcOrd="3" destOrd="0" parTransId="{C37434C1-ADDD-42DB-983C-234AD408E2DF}" sibTransId="{A6AE8799-918A-47C3-B39E-05FC4C7C0A81}"/>
    <dgm:cxn modelId="{0F86F238-BEE7-41E1-9205-DA3BE7B49422}" srcId="{9FBA3D89-1662-4D3D-94EE-D30061981034}" destId="{2A9B08E9-A05C-4649-8634-351B5098E987}" srcOrd="4" destOrd="0" parTransId="{32F7694A-A77B-42B8-80F6-B2795FB4BE37}" sibTransId="{DA01943F-F856-4FD5-876A-64917F785FA8}"/>
    <dgm:cxn modelId="{151BC15A-316A-460D-89B9-6E71F6455010}" srcId="{9FBA3D89-1662-4D3D-94EE-D30061981034}" destId="{FF2CB7FD-7E3C-4E53-BAB8-6FB4F9A2AAAC}" srcOrd="2" destOrd="0" parTransId="{77D8DBFE-3E30-4A89-BFB3-465EE3A28ED9}" sibTransId="{795CCB05-0DF7-469A-BDE8-5524DFF6ECAF}"/>
    <dgm:cxn modelId="{885EFD58-DE26-4716-A1C3-370A3EC63507}" type="presOf" srcId="{587AF179-5F1B-498D-B44B-1B5D0DAF9C74}" destId="{288D9276-C068-4AC9-94F3-1841D7364DFF}" srcOrd="0" destOrd="0" presId="urn:microsoft.com/office/officeart/2005/8/layout/StepDownProcess"/>
    <dgm:cxn modelId="{7E8BEC0B-4198-4B85-A42D-4C5B3CA963F2}" type="presOf" srcId="{FF2CB7FD-7E3C-4E53-BAB8-6FB4F9A2AAAC}" destId="{384DEF7A-DAD3-484B-9595-F5F4BF4FFBDF}" srcOrd="0" destOrd="0" presId="urn:microsoft.com/office/officeart/2005/8/layout/StepDownProcess"/>
    <dgm:cxn modelId="{B416540B-5F9B-44D8-A73D-32955B4811CF}" type="presOf" srcId="{2A9B08E9-A05C-4649-8634-351B5098E987}" destId="{2A5BA03A-6042-48DA-A2E2-4B2480886AD8}" srcOrd="0" destOrd="0" presId="urn:microsoft.com/office/officeart/2005/8/layout/StepDownProcess"/>
    <dgm:cxn modelId="{17D70882-392D-47F8-BBA5-008E02A4E8BD}" type="presParOf" srcId="{6941F827-1AD3-4353-B08A-A2BAF709F9F1}" destId="{DC892411-9433-43EA-BFAA-D13F231AEE01}" srcOrd="0" destOrd="0" presId="urn:microsoft.com/office/officeart/2005/8/layout/StepDownProcess"/>
    <dgm:cxn modelId="{EF854642-236A-4844-8CBE-5C00D1CF4453}" type="presParOf" srcId="{DC892411-9433-43EA-BFAA-D13F231AEE01}" destId="{B50AFCA3-8E57-447C-92BD-FA2862CD8D71}" srcOrd="0" destOrd="0" presId="urn:microsoft.com/office/officeart/2005/8/layout/StepDownProcess"/>
    <dgm:cxn modelId="{C3428597-9238-4BDF-A13F-2057D6B813C8}" type="presParOf" srcId="{DC892411-9433-43EA-BFAA-D13F231AEE01}" destId="{D419E879-3DF5-42C4-BBB1-236160C71FF3}" srcOrd="1" destOrd="0" presId="urn:microsoft.com/office/officeart/2005/8/layout/StepDownProcess"/>
    <dgm:cxn modelId="{F8CD47EB-B2A9-4AB9-91FB-77CD1CFA7041}" type="presParOf" srcId="{DC892411-9433-43EA-BFAA-D13F231AEE01}" destId="{A452F67A-6846-4A20-9F9F-850BAC2FBBBB}" srcOrd="2" destOrd="0" presId="urn:microsoft.com/office/officeart/2005/8/layout/StepDownProcess"/>
    <dgm:cxn modelId="{C6C84D54-CD5F-4D19-A067-B7025156CE4C}" type="presParOf" srcId="{6941F827-1AD3-4353-B08A-A2BAF709F9F1}" destId="{90E92984-78A0-4F6B-961D-B2A0D996EC7C}" srcOrd="1" destOrd="0" presId="urn:microsoft.com/office/officeart/2005/8/layout/StepDownProcess"/>
    <dgm:cxn modelId="{18852698-E608-402C-91CC-E8D19A28BDA9}" type="presParOf" srcId="{6941F827-1AD3-4353-B08A-A2BAF709F9F1}" destId="{0B031DBA-36C3-43EC-8E5E-47604A54399F}" srcOrd="2" destOrd="0" presId="urn:microsoft.com/office/officeart/2005/8/layout/StepDownProcess"/>
    <dgm:cxn modelId="{AD2B71C9-98F5-4D70-886F-FB78EA0A23E1}" type="presParOf" srcId="{0B031DBA-36C3-43EC-8E5E-47604A54399F}" destId="{88DFDAB8-329E-40A4-B7CF-CC33FCE3101E}" srcOrd="0" destOrd="0" presId="urn:microsoft.com/office/officeart/2005/8/layout/StepDownProcess"/>
    <dgm:cxn modelId="{0FFAAA62-E561-4580-8E9D-0CC71FDF84C9}" type="presParOf" srcId="{0B031DBA-36C3-43EC-8E5E-47604A54399F}" destId="{288D9276-C068-4AC9-94F3-1841D7364DFF}" srcOrd="1" destOrd="0" presId="urn:microsoft.com/office/officeart/2005/8/layout/StepDownProcess"/>
    <dgm:cxn modelId="{1663D4DC-F17F-446F-8A93-D02319BC059B}" type="presParOf" srcId="{0B031DBA-36C3-43EC-8E5E-47604A54399F}" destId="{CAFC032F-8C7F-4405-BFC0-1E22F829E1B2}" srcOrd="2" destOrd="0" presId="urn:microsoft.com/office/officeart/2005/8/layout/StepDownProcess"/>
    <dgm:cxn modelId="{60123188-5BF8-4998-A7C1-8D35E3C4CFB2}" type="presParOf" srcId="{6941F827-1AD3-4353-B08A-A2BAF709F9F1}" destId="{CD63C43C-32D0-4CB6-94D5-04039EBAC803}" srcOrd="3" destOrd="0" presId="urn:microsoft.com/office/officeart/2005/8/layout/StepDownProcess"/>
    <dgm:cxn modelId="{EF920629-F340-4D66-A172-78CCAEC5F6B7}" type="presParOf" srcId="{6941F827-1AD3-4353-B08A-A2BAF709F9F1}" destId="{3635DD48-40EF-46EF-AEAE-162C830EF655}" srcOrd="4" destOrd="0" presId="urn:microsoft.com/office/officeart/2005/8/layout/StepDownProcess"/>
    <dgm:cxn modelId="{DF980738-0E4D-42D3-B13C-12403E276B47}" type="presParOf" srcId="{3635DD48-40EF-46EF-AEAE-162C830EF655}" destId="{85DCB213-D45C-4681-AB75-93FA8038FEF9}" srcOrd="0" destOrd="0" presId="urn:microsoft.com/office/officeart/2005/8/layout/StepDownProcess"/>
    <dgm:cxn modelId="{A176608A-D6E3-4A24-B273-FE80F9287E39}" type="presParOf" srcId="{3635DD48-40EF-46EF-AEAE-162C830EF655}" destId="{384DEF7A-DAD3-484B-9595-F5F4BF4FFBDF}" srcOrd="1" destOrd="0" presId="urn:microsoft.com/office/officeart/2005/8/layout/StepDownProcess"/>
    <dgm:cxn modelId="{61E38590-CD4C-496C-824C-833C50EDCF19}" type="presParOf" srcId="{3635DD48-40EF-46EF-AEAE-162C830EF655}" destId="{461AEE48-3347-426C-B7FB-AAB42F82D901}" srcOrd="2" destOrd="0" presId="urn:microsoft.com/office/officeart/2005/8/layout/StepDownProcess"/>
    <dgm:cxn modelId="{3853D8D5-826E-4553-9612-007EE7F77D96}" type="presParOf" srcId="{6941F827-1AD3-4353-B08A-A2BAF709F9F1}" destId="{5DA79C3A-804B-4018-B20B-2AF08B2E0BF2}" srcOrd="5" destOrd="0" presId="urn:microsoft.com/office/officeart/2005/8/layout/StepDownProcess"/>
    <dgm:cxn modelId="{73F155E0-CEBE-4A2A-B6D7-58B3D7C22AFE}" type="presParOf" srcId="{6941F827-1AD3-4353-B08A-A2BAF709F9F1}" destId="{2B7A2791-3B3B-4E3E-82A7-5FD3AA23C1A2}" srcOrd="6" destOrd="0" presId="urn:microsoft.com/office/officeart/2005/8/layout/StepDownProcess"/>
    <dgm:cxn modelId="{DC08B281-4A06-468F-8729-24643A6FFC55}" type="presParOf" srcId="{2B7A2791-3B3B-4E3E-82A7-5FD3AA23C1A2}" destId="{91881A58-51EB-4805-9759-0F28504F81BB}" srcOrd="0" destOrd="0" presId="urn:microsoft.com/office/officeart/2005/8/layout/StepDownProcess"/>
    <dgm:cxn modelId="{A8D4182D-8D09-43A1-B65A-91D2C9FC5561}" type="presParOf" srcId="{2B7A2791-3B3B-4E3E-82A7-5FD3AA23C1A2}" destId="{CE64EBAD-D574-4193-9D44-5F345A2AE936}" srcOrd="1" destOrd="0" presId="urn:microsoft.com/office/officeart/2005/8/layout/StepDownProcess"/>
    <dgm:cxn modelId="{15F0A652-68F1-4ACA-9662-16113D2AE502}" type="presParOf" srcId="{2B7A2791-3B3B-4E3E-82A7-5FD3AA23C1A2}" destId="{F4D5DB58-3F3C-45C5-82AC-FF8FF1ED17A5}" srcOrd="2" destOrd="0" presId="urn:microsoft.com/office/officeart/2005/8/layout/StepDownProcess"/>
    <dgm:cxn modelId="{7E414DEF-E911-42DD-9CD2-F05E6E077153}" type="presParOf" srcId="{6941F827-1AD3-4353-B08A-A2BAF709F9F1}" destId="{7DA4723C-EEDC-4F45-AC0E-5DFA32129425}" srcOrd="7" destOrd="0" presId="urn:microsoft.com/office/officeart/2005/8/layout/StepDownProcess"/>
    <dgm:cxn modelId="{D12552ED-E913-41A7-B8BD-941E267E6B6B}" type="presParOf" srcId="{6941F827-1AD3-4353-B08A-A2BAF709F9F1}" destId="{BFB0AF7F-4119-4DCE-8EC7-37729D46326C}" srcOrd="8" destOrd="0" presId="urn:microsoft.com/office/officeart/2005/8/layout/StepDownProcess"/>
    <dgm:cxn modelId="{1B443FEE-89F8-420A-9F7C-C705AB2EFDF9}" type="presParOf" srcId="{BFB0AF7F-4119-4DCE-8EC7-37729D46326C}" destId="{2A5BA03A-6042-48DA-A2E2-4B2480886AD8}"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4727E05-E241-4184-AFCD-857927594BB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kumimoji="1" lang="ja-JP" altLang="en-US"/>
        </a:p>
      </dgm:t>
    </dgm:pt>
    <dgm:pt modelId="{3B7D131F-1A25-4B46-A290-67BEE2AB51D0}">
      <dgm:prSet phldrT="[テキスト]" custT="1"/>
      <dgm:spPr>
        <a:solidFill>
          <a:schemeClr val="tx2">
            <a:lumMod val="20000"/>
            <a:lumOff val="80000"/>
          </a:schemeClr>
        </a:solidFill>
        <a:ln w="19050"/>
      </dgm:spPr>
      <dgm:t>
        <a:bodyPr/>
        <a:lstStyle/>
        <a:p>
          <a:r>
            <a:rPr kumimoji="1" lang="ja-JP" altLang="en-US" sz="2000" dirty="0">
              <a:solidFill>
                <a:schemeClr val="tx1"/>
              </a:solidFill>
            </a:rPr>
            <a:t>供給者情報の監視（パフォーマンス／二社監査／認証状態／不適合などのリスク）</a:t>
          </a:r>
        </a:p>
      </dgm:t>
    </dgm:pt>
    <dgm:pt modelId="{25729A77-5F75-4B6A-A330-CD6E703B00A0}" type="parTrans" cxnId="{28991043-0404-40C2-8894-97F684B4B470}">
      <dgm:prSet/>
      <dgm:spPr/>
      <dgm:t>
        <a:bodyPr/>
        <a:lstStyle/>
        <a:p>
          <a:endParaRPr kumimoji="1" lang="ja-JP" altLang="en-US"/>
        </a:p>
      </dgm:t>
    </dgm:pt>
    <dgm:pt modelId="{F42F14D5-7635-4661-BC37-371793B459EF}" type="sibTrans" cxnId="{28991043-0404-40C2-8894-97F684B4B470}">
      <dgm:prSet/>
      <dgm:spPr>
        <a:solidFill>
          <a:schemeClr val="accent1">
            <a:alpha val="90000"/>
          </a:schemeClr>
        </a:solidFill>
        <a:ln>
          <a:solidFill>
            <a:schemeClr val="tx1">
              <a:alpha val="90000"/>
            </a:schemeClr>
          </a:solidFill>
        </a:ln>
      </dgm:spPr>
      <dgm:t>
        <a:bodyPr/>
        <a:lstStyle/>
        <a:p>
          <a:endParaRPr kumimoji="1" lang="ja-JP" altLang="en-US"/>
        </a:p>
      </dgm:t>
    </dgm:pt>
    <dgm:pt modelId="{A739FB8F-1149-4BF5-A744-ADDD55472B3C}">
      <dgm:prSet phldrT="[テキスト]" custT="1"/>
      <dgm:spPr>
        <a:solidFill>
          <a:schemeClr val="tx2">
            <a:lumMod val="20000"/>
            <a:lumOff val="80000"/>
          </a:schemeClr>
        </a:solidFill>
        <a:ln w="19050"/>
      </dgm:spPr>
      <dgm:t>
        <a:bodyPr/>
        <a:lstStyle/>
        <a:p>
          <a:r>
            <a:rPr kumimoji="1" lang="ja-JP" altLang="en-US" sz="2000" dirty="0">
              <a:solidFill>
                <a:schemeClr val="tx1"/>
              </a:solidFill>
            </a:rPr>
            <a:t>開発（改善）方法の計画（供給者の優先順位／方法・程度・日程）</a:t>
          </a:r>
        </a:p>
      </dgm:t>
    </dgm:pt>
    <dgm:pt modelId="{A478BFA8-5A13-4EA3-B936-2A84DD6C0151}" type="parTrans" cxnId="{1DD6D7A7-D711-495C-96BF-FE7157D44121}">
      <dgm:prSet/>
      <dgm:spPr/>
      <dgm:t>
        <a:bodyPr/>
        <a:lstStyle/>
        <a:p>
          <a:endParaRPr kumimoji="1" lang="ja-JP" altLang="en-US"/>
        </a:p>
      </dgm:t>
    </dgm:pt>
    <dgm:pt modelId="{8E3CF3EB-3E6A-4E43-995F-F2D7AB302496}" type="sibTrans" cxnId="{1DD6D7A7-D711-495C-96BF-FE7157D44121}">
      <dgm:prSet/>
      <dgm:spPr>
        <a:solidFill>
          <a:schemeClr val="accent1">
            <a:alpha val="90000"/>
          </a:schemeClr>
        </a:solidFill>
        <a:ln>
          <a:solidFill>
            <a:schemeClr val="tx1">
              <a:alpha val="90000"/>
            </a:schemeClr>
          </a:solidFill>
        </a:ln>
      </dgm:spPr>
      <dgm:t>
        <a:bodyPr/>
        <a:lstStyle/>
        <a:p>
          <a:endParaRPr kumimoji="1" lang="ja-JP" altLang="en-US"/>
        </a:p>
      </dgm:t>
    </dgm:pt>
    <dgm:pt modelId="{19B33943-1660-433A-8D26-0666D7DE7E5E}">
      <dgm:prSet phldrT="[テキスト]" custT="1"/>
      <dgm:spPr>
        <a:solidFill>
          <a:schemeClr val="tx2">
            <a:lumMod val="20000"/>
            <a:lumOff val="80000"/>
          </a:schemeClr>
        </a:solidFill>
        <a:ln w="19050"/>
      </dgm:spPr>
      <dgm:t>
        <a:bodyPr/>
        <a:lstStyle/>
        <a:p>
          <a:r>
            <a:rPr kumimoji="1" lang="ja-JP" altLang="en-US" sz="2000" dirty="0">
              <a:solidFill>
                <a:schemeClr val="tx1"/>
              </a:solidFill>
            </a:rPr>
            <a:t>供給者の開発（改善）活動</a:t>
          </a:r>
        </a:p>
      </dgm:t>
    </dgm:pt>
    <dgm:pt modelId="{6F1D7CDF-143D-4FCA-97D3-A93ACB9CA4C0}" type="parTrans" cxnId="{1926F2C4-817A-4C21-953C-5C3FBEA46743}">
      <dgm:prSet/>
      <dgm:spPr/>
      <dgm:t>
        <a:bodyPr/>
        <a:lstStyle/>
        <a:p>
          <a:endParaRPr kumimoji="1" lang="ja-JP" altLang="en-US"/>
        </a:p>
      </dgm:t>
    </dgm:pt>
    <dgm:pt modelId="{431571DD-5E6C-4512-A761-A9DE38EF3D52}" type="sibTrans" cxnId="{1926F2C4-817A-4C21-953C-5C3FBEA46743}">
      <dgm:prSet/>
      <dgm:spPr>
        <a:solidFill>
          <a:schemeClr val="accent1">
            <a:alpha val="90000"/>
          </a:schemeClr>
        </a:solidFill>
        <a:ln>
          <a:solidFill>
            <a:schemeClr val="tx1">
              <a:alpha val="90000"/>
            </a:schemeClr>
          </a:solidFill>
        </a:ln>
      </dgm:spPr>
      <dgm:t>
        <a:bodyPr/>
        <a:lstStyle/>
        <a:p>
          <a:endParaRPr kumimoji="1" lang="ja-JP" altLang="en-US"/>
        </a:p>
      </dgm:t>
    </dgm:pt>
    <dgm:pt modelId="{C1F4F902-9319-47D9-B276-21FB0259671F}">
      <dgm:prSet phldrT="[テキスト]" custT="1"/>
      <dgm:spPr>
        <a:solidFill>
          <a:schemeClr val="tx2">
            <a:lumMod val="20000"/>
            <a:lumOff val="80000"/>
          </a:schemeClr>
        </a:solidFill>
        <a:ln w="19050"/>
      </dgm:spPr>
      <dgm:t>
        <a:bodyPr/>
        <a:lstStyle/>
        <a:p>
          <a:r>
            <a:rPr kumimoji="1" lang="ja-JP" altLang="en-US" sz="2000" dirty="0">
              <a:solidFill>
                <a:schemeClr val="tx1"/>
              </a:solidFill>
            </a:rPr>
            <a:t>フォロー（個別是正の実施／再計画）</a:t>
          </a:r>
        </a:p>
      </dgm:t>
    </dgm:pt>
    <dgm:pt modelId="{C2ECD210-CD60-4C21-ABC9-CED440B0E0A0}" type="parTrans" cxnId="{FFF4C3E7-44FD-4EA3-8A54-D11085201BDA}">
      <dgm:prSet/>
      <dgm:spPr/>
      <dgm:t>
        <a:bodyPr/>
        <a:lstStyle/>
        <a:p>
          <a:endParaRPr kumimoji="1" lang="ja-JP" altLang="en-US"/>
        </a:p>
      </dgm:t>
    </dgm:pt>
    <dgm:pt modelId="{6FAA38D2-1B4F-43D3-89A9-1BAFC7360FAE}" type="sibTrans" cxnId="{FFF4C3E7-44FD-4EA3-8A54-D11085201BDA}">
      <dgm:prSet/>
      <dgm:spPr/>
      <dgm:t>
        <a:bodyPr/>
        <a:lstStyle/>
        <a:p>
          <a:endParaRPr kumimoji="1" lang="ja-JP" altLang="en-US"/>
        </a:p>
      </dgm:t>
    </dgm:pt>
    <dgm:pt modelId="{63794215-B6DD-4049-9511-45F26C444D2F}" type="pres">
      <dgm:prSet presAssocID="{E4727E05-E241-4184-AFCD-857927594BBA}" presName="outerComposite" presStyleCnt="0">
        <dgm:presLayoutVars>
          <dgm:chMax val="5"/>
          <dgm:dir/>
          <dgm:resizeHandles val="exact"/>
        </dgm:presLayoutVars>
      </dgm:prSet>
      <dgm:spPr/>
      <dgm:t>
        <a:bodyPr/>
        <a:lstStyle/>
        <a:p>
          <a:endParaRPr kumimoji="1" lang="ja-JP" altLang="en-US"/>
        </a:p>
      </dgm:t>
    </dgm:pt>
    <dgm:pt modelId="{09EAE477-A21A-4482-A7ED-07BE6B72064A}" type="pres">
      <dgm:prSet presAssocID="{E4727E05-E241-4184-AFCD-857927594BBA}" presName="dummyMaxCanvas" presStyleCnt="0">
        <dgm:presLayoutVars/>
      </dgm:prSet>
      <dgm:spPr/>
    </dgm:pt>
    <dgm:pt modelId="{A9223E9D-C61E-43E4-A7A2-F25A112BCD91}" type="pres">
      <dgm:prSet presAssocID="{E4727E05-E241-4184-AFCD-857927594BBA}" presName="FourNodes_1" presStyleLbl="node1" presStyleIdx="0" presStyleCnt="4">
        <dgm:presLayoutVars>
          <dgm:bulletEnabled val="1"/>
        </dgm:presLayoutVars>
      </dgm:prSet>
      <dgm:spPr/>
      <dgm:t>
        <a:bodyPr/>
        <a:lstStyle/>
        <a:p>
          <a:endParaRPr kumimoji="1" lang="ja-JP" altLang="en-US"/>
        </a:p>
      </dgm:t>
    </dgm:pt>
    <dgm:pt modelId="{FA301EB3-1C7A-46D8-BF65-16888DD1CE17}" type="pres">
      <dgm:prSet presAssocID="{E4727E05-E241-4184-AFCD-857927594BBA}" presName="FourNodes_2" presStyleLbl="node1" presStyleIdx="1" presStyleCnt="4">
        <dgm:presLayoutVars>
          <dgm:bulletEnabled val="1"/>
        </dgm:presLayoutVars>
      </dgm:prSet>
      <dgm:spPr/>
      <dgm:t>
        <a:bodyPr/>
        <a:lstStyle/>
        <a:p>
          <a:endParaRPr kumimoji="1" lang="ja-JP" altLang="en-US"/>
        </a:p>
      </dgm:t>
    </dgm:pt>
    <dgm:pt modelId="{32EFF8E0-554A-4B74-99F0-1C6EEB66DAD7}" type="pres">
      <dgm:prSet presAssocID="{E4727E05-E241-4184-AFCD-857927594BBA}" presName="FourNodes_3" presStyleLbl="node1" presStyleIdx="2" presStyleCnt="4">
        <dgm:presLayoutVars>
          <dgm:bulletEnabled val="1"/>
        </dgm:presLayoutVars>
      </dgm:prSet>
      <dgm:spPr/>
      <dgm:t>
        <a:bodyPr/>
        <a:lstStyle/>
        <a:p>
          <a:endParaRPr kumimoji="1" lang="ja-JP" altLang="en-US"/>
        </a:p>
      </dgm:t>
    </dgm:pt>
    <dgm:pt modelId="{118AED77-3F6C-4E5B-836D-B4649DCB61E6}" type="pres">
      <dgm:prSet presAssocID="{E4727E05-E241-4184-AFCD-857927594BBA}" presName="FourNodes_4" presStyleLbl="node1" presStyleIdx="3" presStyleCnt="4">
        <dgm:presLayoutVars>
          <dgm:bulletEnabled val="1"/>
        </dgm:presLayoutVars>
      </dgm:prSet>
      <dgm:spPr/>
      <dgm:t>
        <a:bodyPr/>
        <a:lstStyle/>
        <a:p>
          <a:endParaRPr kumimoji="1" lang="ja-JP" altLang="en-US"/>
        </a:p>
      </dgm:t>
    </dgm:pt>
    <dgm:pt modelId="{596A8B2F-3EFA-4080-A031-572F5E55E1A9}" type="pres">
      <dgm:prSet presAssocID="{E4727E05-E241-4184-AFCD-857927594BBA}" presName="FourConn_1-2" presStyleLbl="fgAccFollowNode1" presStyleIdx="0" presStyleCnt="3">
        <dgm:presLayoutVars>
          <dgm:bulletEnabled val="1"/>
        </dgm:presLayoutVars>
      </dgm:prSet>
      <dgm:spPr/>
      <dgm:t>
        <a:bodyPr/>
        <a:lstStyle/>
        <a:p>
          <a:endParaRPr kumimoji="1" lang="ja-JP" altLang="en-US"/>
        </a:p>
      </dgm:t>
    </dgm:pt>
    <dgm:pt modelId="{42BF5D12-CA91-4868-A35E-A87FF8246EC2}" type="pres">
      <dgm:prSet presAssocID="{E4727E05-E241-4184-AFCD-857927594BBA}" presName="FourConn_2-3" presStyleLbl="fgAccFollowNode1" presStyleIdx="1" presStyleCnt="3">
        <dgm:presLayoutVars>
          <dgm:bulletEnabled val="1"/>
        </dgm:presLayoutVars>
      </dgm:prSet>
      <dgm:spPr/>
      <dgm:t>
        <a:bodyPr/>
        <a:lstStyle/>
        <a:p>
          <a:endParaRPr kumimoji="1" lang="ja-JP" altLang="en-US"/>
        </a:p>
      </dgm:t>
    </dgm:pt>
    <dgm:pt modelId="{603A6774-4331-490F-AA6C-344EDB22F97C}" type="pres">
      <dgm:prSet presAssocID="{E4727E05-E241-4184-AFCD-857927594BBA}" presName="FourConn_3-4" presStyleLbl="fgAccFollowNode1" presStyleIdx="2" presStyleCnt="3">
        <dgm:presLayoutVars>
          <dgm:bulletEnabled val="1"/>
        </dgm:presLayoutVars>
      </dgm:prSet>
      <dgm:spPr/>
      <dgm:t>
        <a:bodyPr/>
        <a:lstStyle/>
        <a:p>
          <a:endParaRPr kumimoji="1" lang="ja-JP" altLang="en-US"/>
        </a:p>
      </dgm:t>
    </dgm:pt>
    <dgm:pt modelId="{0D2B5581-2300-4F17-82AD-6872D7A32530}" type="pres">
      <dgm:prSet presAssocID="{E4727E05-E241-4184-AFCD-857927594BBA}" presName="FourNodes_1_text" presStyleLbl="node1" presStyleIdx="3" presStyleCnt="4">
        <dgm:presLayoutVars>
          <dgm:bulletEnabled val="1"/>
        </dgm:presLayoutVars>
      </dgm:prSet>
      <dgm:spPr/>
      <dgm:t>
        <a:bodyPr/>
        <a:lstStyle/>
        <a:p>
          <a:endParaRPr kumimoji="1" lang="ja-JP" altLang="en-US"/>
        </a:p>
      </dgm:t>
    </dgm:pt>
    <dgm:pt modelId="{932C47F0-B86C-4154-A8E8-11CC6028A7CC}" type="pres">
      <dgm:prSet presAssocID="{E4727E05-E241-4184-AFCD-857927594BBA}" presName="FourNodes_2_text" presStyleLbl="node1" presStyleIdx="3" presStyleCnt="4">
        <dgm:presLayoutVars>
          <dgm:bulletEnabled val="1"/>
        </dgm:presLayoutVars>
      </dgm:prSet>
      <dgm:spPr/>
      <dgm:t>
        <a:bodyPr/>
        <a:lstStyle/>
        <a:p>
          <a:endParaRPr kumimoji="1" lang="ja-JP" altLang="en-US"/>
        </a:p>
      </dgm:t>
    </dgm:pt>
    <dgm:pt modelId="{83975C8F-E095-4C46-B42E-4D20B7A81008}" type="pres">
      <dgm:prSet presAssocID="{E4727E05-E241-4184-AFCD-857927594BBA}" presName="FourNodes_3_text" presStyleLbl="node1" presStyleIdx="3" presStyleCnt="4">
        <dgm:presLayoutVars>
          <dgm:bulletEnabled val="1"/>
        </dgm:presLayoutVars>
      </dgm:prSet>
      <dgm:spPr/>
      <dgm:t>
        <a:bodyPr/>
        <a:lstStyle/>
        <a:p>
          <a:endParaRPr kumimoji="1" lang="ja-JP" altLang="en-US"/>
        </a:p>
      </dgm:t>
    </dgm:pt>
    <dgm:pt modelId="{AFA3D80C-61A2-461D-8C4A-86E66910A216}" type="pres">
      <dgm:prSet presAssocID="{E4727E05-E241-4184-AFCD-857927594BBA}" presName="FourNodes_4_text" presStyleLbl="node1" presStyleIdx="3" presStyleCnt="4">
        <dgm:presLayoutVars>
          <dgm:bulletEnabled val="1"/>
        </dgm:presLayoutVars>
      </dgm:prSet>
      <dgm:spPr/>
      <dgm:t>
        <a:bodyPr/>
        <a:lstStyle/>
        <a:p>
          <a:endParaRPr kumimoji="1" lang="ja-JP" altLang="en-US"/>
        </a:p>
      </dgm:t>
    </dgm:pt>
  </dgm:ptLst>
  <dgm:cxnLst>
    <dgm:cxn modelId="{5A9052B4-917B-4449-A69B-F20F6B7E7D0C}" type="presOf" srcId="{E4727E05-E241-4184-AFCD-857927594BBA}" destId="{63794215-B6DD-4049-9511-45F26C444D2F}" srcOrd="0" destOrd="0" presId="urn:microsoft.com/office/officeart/2005/8/layout/vProcess5"/>
    <dgm:cxn modelId="{068CC613-72E1-4113-BDA2-48FC26AC07D0}" type="presOf" srcId="{3B7D131F-1A25-4B46-A290-67BEE2AB51D0}" destId="{0D2B5581-2300-4F17-82AD-6872D7A32530}" srcOrd="1" destOrd="0" presId="urn:microsoft.com/office/officeart/2005/8/layout/vProcess5"/>
    <dgm:cxn modelId="{1926F2C4-817A-4C21-953C-5C3FBEA46743}" srcId="{E4727E05-E241-4184-AFCD-857927594BBA}" destId="{19B33943-1660-433A-8D26-0666D7DE7E5E}" srcOrd="2" destOrd="0" parTransId="{6F1D7CDF-143D-4FCA-97D3-A93ACB9CA4C0}" sibTransId="{431571DD-5E6C-4512-A761-A9DE38EF3D52}"/>
    <dgm:cxn modelId="{8DB05022-A47A-469F-A64F-8A9602EA3E3B}" type="presOf" srcId="{8E3CF3EB-3E6A-4E43-995F-F2D7AB302496}" destId="{42BF5D12-CA91-4868-A35E-A87FF8246EC2}" srcOrd="0" destOrd="0" presId="urn:microsoft.com/office/officeart/2005/8/layout/vProcess5"/>
    <dgm:cxn modelId="{FB72416B-7ED3-42AD-9699-05A491C4C81C}" type="presOf" srcId="{A739FB8F-1149-4BF5-A744-ADDD55472B3C}" destId="{FA301EB3-1C7A-46D8-BF65-16888DD1CE17}" srcOrd="0" destOrd="0" presId="urn:microsoft.com/office/officeart/2005/8/layout/vProcess5"/>
    <dgm:cxn modelId="{1DD6D7A7-D711-495C-96BF-FE7157D44121}" srcId="{E4727E05-E241-4184-AFCD-857927594BBA}" destId="{A739FB8F-1149-4BF5-A744-ADDD55472B3C}" srcOrd="1" destOrd="0" parTransId="{A478BFA8-5A13-4EA3-B936-2A84DD6C0151}" sibTransId="{8E3CF3EB-3E6A-4E43-995F-F2D7AB302496}"/>
    <dgm:cxn modelId="{18F98859-A120-480C-89C8-CC892123FB10}" type="presOf" srcId="{19B33943-1660-433A-8D26-0666D7DE7E5E}" destId="{83975C8F-E095-4C46-B42E-4D20B7A81008}" srcOrd="1" destOrd="0" presId="urn:microsoft.com/office/officeart/2005/8/layout/vProcess5"/>
    <dgm:cxn modelId="{CC3F50B8-F558-4D66-85B9-E62319262E54}" type="presOf" srcId="{C1F4F902-9319-47D9-B276-21FB0259671F}" destId="{AFA3D80C-61A2-461D-8C4A-86E66910A216}" srcOrd="1" destOrd="0" presId="urn:microsoft.com/office/officeart/2005/8/layout/vProcess5"/>
    <dgm:cxn modelId="{FFF4C3E7-44FD-4EA3-8A54-D11085201BDA}" srcId="{E4727E05-E241-4184-AFCD-857927594BBA}" destId="{C1F4F902-9319-47D9-B276-21FB0259671F}" srcOrd="3" destOrd="0" parTransId="{C2ECD210-CD60-4C21-ABC9-CED440B0E0A0}" sibTransId="{6FAA38D2-1B4F-43D3-89A9-1BAFC7360FAE}"/>
    <dgm:cxn modelId="{28991043-0404-40C2-8894-97F684B4B470}" srcId="{E4727E05-E241-4184-AFCD-857927594BBA}" destId="{3B7D131F-1A25-4B46-A290-67BEE2AB51D0}" srcOrd="0" destOrd="0" parTransId="{25729A77-5F75-4B6A-A330-CD6E703B00A0}" sibTransId="{F42F14D5-7635-4661-BC37-371793B459EF}"/>
    <dgm:cxn modelId="{56E30A81-D90A-48ED-9A9A-C96E23F5587F}" type="presOf" srcId="{F42F14D5-7635-4661-BC37-371793B459EF}" destId="{596A8B2F-3EFA-4080-A031-572F5E55E1A9}" srcOrd="0" destOrd="0" presId="urn:microsoft.com/office/officeart/2005/8/layout/vProcess5"/>
    <dgm:cxn modelId="{136754F0-7CA9-47F8-B2A2-561D3CE6FD8A}" type="presOf" srcId="{3B7D131F-1A25-4B46-A290-67BEE2AB51D0}" destId="{A9223E9D-C61E-43E4-A7A2-F25A112BCD91}" srcOrd="0" destOrd="0" presId="urn:microsoft.com/office/officeart/2005/8/layout/vProcess5"/>
    <dgm:cxn modelId="{324A1F70-7FF6-4A5C-B357-73E29F564AF6}" type="presOf" srcId="{A739FB8F-1149-4BF5-A744-ADDD55472B3C}" destId="{932C47F0-B86C-4154-A8E8-11CC6028A7CC}" srcOrd="1" destOrd="0" presId="urn:microsoft.com/office/officeart/2005/8/layout/vProcess5"/>
    <dgm:cxn modelId="{5266696A-AF94-43E5-BDE4-F6077B6294A9}" type="presOf" srcId="{19B33943-1660-433A-8D26-0666D7DE7E5E}" destId="{32EFF8E0-554A-4B74-99F0-1C6EEB66DAD7}" srcOrd="0" destOrd="0" presId="urn:microsoft.com/office/officeart/2005/8/layout/vProcess5"/>
    <dgm:cxn modelId="{718546A0-20C0-4BDB-925A-D0954A16D22C}" type="presOf" srcId="{431571DD-5E6C-4512-A761-A9DE38EF3D52}" destId="{603A6774-4331-490F-AA6C-344EDB22F97C}" srcOrd="0" destOrd="0" presId="urn:microsoft.com/office/officeart/2005/8/layout/vProcess5"/>
    <dgm:cxn modelId="{3F51E87A-D2D9-4091-8D9D-E2ED6B7049FB}" type="presOf" srcId="{C1F4F902-9319-47D9-B276-21FB0259671F}" destId="{118AED77-3F6C-4E5B-836D-B4649DCB61E6}" srcOrd="0" destOrd="0" presId="urn:microsoft.com/office/officeart/2005/8/layout/vProcess5"/>
    <dgm:cxn modelId="{745376B7-6262-482B-A057-5829632F7452}" type="presParOf" srcId="{63794215-B6DD-4049-9511-45F26C444D2F}" destId="{09EAE477-A21A-4482-A7ED-07BE6B72064A}" srcOrd="0" destOrd="0" presId="urn:microsoft.com/office/officeart/2005/8/layout/vProcess5"/>
    <dgm:cxn modelId="{A58125AF-697F-4178-9AE0-E47F83CE89CB}" type="presParOf" srcId="{63794215-B6DD-4049-9511-45F26C444D2F}" destId="{A9223E9D-C61E-43E4-A7A2-F25A112BCD91}" srcOrd="1" destOrd="0" presId="urn:microsoft.com/office/officeart/2005/8/layout/vProcess5"/>
    <dgm:cxn modelId="{239CFA96-CA46-4D07-AA6D-3606B5E203B8}" type="presParOf" srcId="{63794215-B6DD-4049-9511-45F26C444D2F}" destId="{FA301EB3-1C7A-46D8-BF65-16888DD1CE17}" srcOrd="2" destOrd="0" presId="urn:microsoft.com/office/officeart/2005/8/layout/vProcess5"/>
    <dgm:cxn modelId="{99C0165F-09CB-4DFF-812B-FBFE6C852A70}" type="presParOf" srcId="{63794215-B6DD-4049-9511-45F26C444D2F}" destId="{32EFF8E0-554A-4B74-99F0-1C6EEB66DAD7}" srcOrd="3" destOrd="0" presId="urn:microsoft.com/office/officeart/2005/8/layout/vProcess5"/>
    <dgm:cxn modelId="{49D3A0B8-02A9-4243-B128-0CB6643B227C}" type="presParOf" srcId="{63794215-B6DD-4049-9511-45F26C444D2F}" destId="{118AED77-3F6C-4E5B-836D-B4649DCB61E6}" srcOrd="4" destOrd="0" presId="urn:microsoft.com/office/officeart/2005/8/layout/vProcess5"/>
    <dgm:cxn modelId="{EAA42361-4B77-4267-92FD-1A350103A82A}" type="presParOf" srcId="{63794215-B6DD-4049-9511-45F26C444D2F}" destId="{596A8B2F-3EFA-4080-A031-572F5E55E1A9}" srcOrd="5" destOrd="0" presId="urn:microsoft.com/office/officeart/2005/8/layout/vProcess5"/>
    <dgm:cxn modelId="{928D5D23-6ADF-4E04-AE73-15BB2FC9AEED}" type="presParOf" srcId="{63794215-B6DD-4049-9511-45F26C444D2F}" destId="{42BF5D12-CA91-4868-A35E-A87FF8246EC2}" srcOrd="6" destOrd="0" presId="urn:microsoft.com/office/officeart/2005/8/layout/vProcess5"/>
    <dgm:cxn modelId="{5000641C-1223-4A32-A46E-5221781D45F7}" type="presParOf" srcId="{63794215-B6DD-4049-9511-45F26C444D2F}" destId="{603A6774-4331-490F-AA6C-344EDB22F97C}" srcOrd="7" destOrd="0" presId="urn:microsoft.com/office/officeart/2005/8/layout/vProcess5"/>
    <dgm:cxn modelId="{D3BE83FC-D7CC-4517-B798-3F8DFF58F1ED}" type="presParOf" srcId="{63794215-B6DD-4049-9511-45F26C444D2F}" destId="{0D2B5581-2300-4F17-82AD-6872D7A32530}" srcOrd="8" destOrd="0" presId="urn:microsoft.com/office/officeart/2005/8/layout/vProcess5"/>
    <dgm:cxn modelId="{67180380-D083-48FD-A412-FA66E3D41041}" type="presParOf" srcId="{63794215-B6DD-4049-9511-45F26C444D2F}" destId="{932C47F0-B86C-4154-A8E8-11CC6028A7CC}" srcOrd="9" destOrd="0" presId="urn:microsoft.com/office/officeart/2005/8/layout/vProcess5"/>
    <dgm:cxn modelId="{6546D482-B2AB-4169-BF9C-248CC807BA6D}" type="presParOf" srcId="{63794215-B6DD-4049-9511-45F26C444D2F}" destId="{83975C8F-E095-4C46-B42E-4D20B7A81008}" srcOrd="10" destOrd="0" presId="urn:microsoft.com/office/officeart/2005/8/layout/vProcess5"/>
    <dgm:cxn modelId="{8B9A0008-7B2D-4016-8576-8C62DEFEEBA6}" type="presParOf" srcId="{63794215-B6DD-4049-9511-45F26C444D2F}" destId="{AFA3D80C-61A2-461D-8C4A-86E66910A21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第１章　</a:t>
          </a:r>
          <a:r>
            <a:rPr kumimoji="1" lang="en-US" altLang="ja-JP" sz="2800" dirty="0">
              <a:solidFill>
                <a:schemeClr val="tx1"/>
              </a:solidFill>
            </a:rPr>
            <a:t>IATF16949:2016</a:t>
          </a:r>
          <a:r>
            <a:rPr kumimoji="1" lang="ja-JP" altLang="en-US" sz="2800" dirty="0">
              <a:solidFill>
                <a:schemeClr val="tx1"/>
              </a:solidFill>
            </a:rPr>
            <a:t>概要</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第２章　</a:t>
          </a:r>
          <a:r>
            <a:rPr kumimoji="1" lang="en-US" altLang="ja-JP" sz="2800" dirty="0">
              <a:solidFill>
                <a:schemeClr val="tx1"/>
              </a:solidFill>
            </a:rPr>
            <a:t>IATF16949:2016</a:t>
          </a:r>
          <a:r>
            <a:rPr kumimoji="1" lang="ja-JP" altLang="en-US" sz="2800" dirty="0">
              <a:solidFill>
                <a:schemeClr val="tx1"/>
              </a:solidFill>
            </a:rPr>
            <a:t>要求事項の理解</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solidFill>
      </dgm:spPr>
      <dgm:t>
        <a:bodyPr/>
        <a:lstStyle/>
        <a:p>
          <a:r>
            <a:rPr kumimoji="1" lang="ja-JP" altLang="en-US" sz="3600" dirty="0">
              <a:solidFill>
                <a:schemeClr val="bg1"/>
              </a:solidFill>
            </a:rPr>
            <a:t>第３章　コアツールの理解</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3">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3">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3">
        <dgm:presLayoutVars>
          <dgm:chMax val="0"/>
          <dgm:bulletEnabled val="1"/>
        </dgm:presLayoutVars>
      </dgm:prSet>
      <dgm:spPr/>
      <dgm:t>
        <a:bodyPr/>
        <a:lstStyle/>
        <a:p>
          <a:endParaRPr kumimoji="1" lang="ja-JP" altLang="en-US"/>
        </a:p>
      </dgm:t>
    </dgm:pt>
  </dgm:ptLst>
  <dgm:cxnLst>
    <dgm:cxn modelId="{3BAC9796-D46E-49ED-BA67-2908CAEA1085}" type="presOf" srcId="{30D544C6-8FC3-47B7-9A69-7FEFAB8A93D9}" destId="{D8F9AC33-5A69-4D44-A289-6F31A2FF7255}"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CE558987-8133-44FC-B13C-0873AE72E350}" type="presOf" srcId="{EE78FAFE-4716-4EC2-8352-CC1C86A33DC7}" destId="{81830890-C69A-4F20-B0B1-1C237CA135B2}" srcOrd="0" destOrd="0" presId="urn:microsoft.com/office/officeart/2005/8/layout/vList2"/>
    <dgm:cxn modelId="{AE1CF224-9ADC-4457-9D25-4F617F818F23}" srcId="{8DB36755-6D93-4ABF-BFB7-DA51FCBD4B9D}" destId="{F807B01F-9F5D-43F4-AF79-C097B35FD0E3}" srcOrd="2" destOrd="0" parTransId="{48A04A87-5DB1-4DC9-8048-2A08C2312703}" sibTransId="{AF1E4E9B-B4A2-43D5-9750-EB07A39E1F65}"/>
    <dgm:cxn modelId="{4F9727C4-B9AA-4668-B560-3548B8E732D0}" type="presOf" srcId="{F807B01F-9F5D-43F4-AF79-C097B35FD0E3}" destId="{65E655FC-AD2B-4464-B659-8288DA5BCAD7}"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0419AD0C-5932-4E04-B6B3-65AFA067D022}" srcId="{8DB36755-6D93-4ABF-BFB7-DA51FCBD4B9D}" destId="{30D544C6-8FC3-47B7-9A69-7FEFAB8A93D9}" srcOrd="0" destOrd="0" parTransId="{F650D2B6-7ED6-4F0F-AE8A-01F805D6ACFB}" sibTransId="{CB3294B4-3FC5-4365-A597-9692B793F8B3}"/>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solidFill>
      </dgm:spPr>
      <dgm:t>
        <a:bodyPr/>
        <a:lstStyle/>
        <a:p>
          <a:r>
            <a:rPr kumimoji="1" lang="ja-JP" altLang="en-US" sz="3600" dirty="0">
              <a:solidFill>
                <a:schemeClr val="bg1"/>
              </a:solidFill>
            </a:rPr>
            <a:t>１．</a:t>
          </a:r>
          <a:r>
            <a:rPr kumimoji="1" lang="en-US" altLang="ja-JP" sz="3600" dirty="0">
              <a:solidFill>
                <a:schemeClr val="bg1"/>
              </a:solidFill>
            </a:rPr>
            <a:t>IATF16949</a:t>
          </a:r>
          <a:r>
            <a:rPr kumimoji="1" lang="ja-JP" altLang="en-US" sz="3600" dirty="0">
              <a:solidFill>
                <a:schemeClr val="bg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lumMod val="40000"/>
            <a:lumOff val="60000"/>
          </a:schemeClr>
        </a:solidFill>
      </dgm:spPr>
      <dgm:t>
        <a:bodyPr/>
        <a:lstStyle/>
        <a:p>
          <a:r>
            <a:rPr kumimoji="1" lang="ja-JP" altLang="en-US" sz="2800" dirty="0">
              <a:solidFill>
                <a:schemeClr val="tx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lumMod val="40000"/>
            <a:lumOff val="60000"/>
          </a:schemeClr>
        </a:solidFill>
      </dgm:spPr>
      <dgm:t>
        <a:bodyPr/>
        <a:lstStyle/>
        <a:p>
          <a:r>
            <a:rPr kumimoji="1" lang="ja-JP" altLang="en-US" sz="2800" dirty="0">
              <a:solidFill>
                <a:schemeClr val="tx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lumMod val="40000"/>
            <a:lumOff val="60000"/>
          </a:schemeClr>
        </a:solidFill>
      </dgm:spPr>
      <dgm:t>
        <a:bodyPr/>
        <a:lstStyle/>
        <a:p>
          <a:r>
            <a:rPr kumimoji="1" lang="ja-JP" altLang="en-US" sz="2800" dirty="0">
              <a:solidFill>
                <a:schemeClr val="tx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a:t>
          </a:r>
          <a:r>
            <a:rPr kumimoji="1" lang="en-US" altLang="ja-JP" sz="2800" dirty="0">
              <a:solidFill>
                <a:schemeClr val="tx1"/>
              </a:solidFill>
            </a:rPr>
            <a:t>IATF16949</a:t>
          </a:r>
          <a:r>
            <a:rPr kumimoji="1" lang="ja-JP" altLang="en-US" sz="2800" dirty="0">
              <a:solidFill>
                <a:schemeClr val="tx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solidFill>
      </dgm:spPr>
      <dgm:t>
        <a:bodyPr/>
        <a:lstStyle/>
        <a:p>
          <a:r>
            <a:rPr kumimoji="1" lang="ja-JP" altLang="en-US" sz="3600" dirty="0">
              <a:solidFill>
                <a:schemeClr val="bg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lumMod val="40000"/>
            <a:lumOff val="60000"/>
          </a:schemeClr>
        </a:solidFill>
      </dgm:spPr>
      <dgm:t>
        <a:bodyPr/>
        <a:lstStyle/>
        <a:p>
          <a:r>
            <a:rPr kumimoji="1" lang="ja-JP" altLang="en-US" sz="2800" dirty="0">
              <a:solidFill>
                <a:schemeClr val="tx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lumMod val="40000"/>
            <a:lumOff val="60000"/>
          </a:schemeClr>
        </a:solidFill>
      </dgm:spPr>
      <dgm:t>
        <a:bodyPr/>
        <a:lstStyle/>
        <a:p>
          <a:r>
            <a:rPr kumimoji="1" lang="ja-JP" altLang="en-US" sz="2800" dirty="0">
              <a:solidFill>
                <a:schemeClr val="tx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lumMod val="40000"/>
            <a:lumOff val="60000"/>
          </a:schemeClr>
        </a:solidFill>
      </dgm:spPr>
      <dgm:t>
        <a:bodyPr/>
        <a:lstStyle/>
        <a:p>
          <a:r>
            <a:rPr kumimoji="1" lang="ja-JP" altLang="en-US" sz="2800" dirty="0">
              <a:solidFill>
                <a:schemeClr val="tx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BE3C13E-D264-407C-90D7-715B6034783E}" type="doc">
      <dgm:prSet loTypeId="urn:microsoft.com/office/officeart/2005/8/layout/hProcess9" loCatId="process" qsTypeId="urn:microsoft.com/office/officeart/2005/8/quickstyle/simple1" qsCatId="simple" csTypeId="urn:microsoft.com/office/officeart/2005/8/colors/accent1_2" csCatId="accent1" phldr="1"/>
      <dgm:spPr/>
    </dgm:pt>
    <dgm:pt modelId="{9EF22AE5-3638-45FE-9217-08B0DBED553D}">
      <dgm:prSet phldrT="[テキスト]" custT="1"/>
      <dgm:spPr/>
      <dgm:t>
        <a:bodyPr/>
        <a:lstStyle/>
        <a:p>
          <a:r>
            <a:rPr kumimoji="1" lang="ja-JP" altLang="en-US" sz="1600" b="1" dirty="0"/>
            <a:t>Ｐｌａｎ</a:t>
          </a:r>
        </a:p>
      </dgm:t>
    </dgm:pt>
    <dgm:pt modelId="{69F6500B-2C7A-4EA0-84DD-1A5A2F0E37FE}" type="parTrans" cxnId="{97269E93-FCE5-4FF6-BD8B-642E288093F0}">
      <dgm:prSet/>
      <dgm:spPr/>
      <dgm:t>
        <a:bodyPr/>
        <a:lstStyle/>
        <a:p>
          <a:endParaRPr kumimoji="1" lang="ja-JP" altLang="en-US"/>
        </a:p>
      </dgm:t>
    </dgm:pt>
    <dgm:pt modelId="{16ACB2BA-FF86-48B4-A288-330386782AE9}" type="sibTrans" cxnId="{97269E93-FCE5-4FF6-BD8B-642E288093F0}">
      <dgm:prSet/>
      <dgm:spPr/>
      <dgm:t>
        <a:bodyPr/>
        <a:lstStyle/>
        <a:p>
          <a:endParaRPr kumimoji="1" lang="ja-JP" altLang="en-US"/>
        </a:p>
      </dgm:t>
    </dgm:pt>
    <dgm:pt modelId="{1149E697-DEA7-43A4-98D2-2BC8A6DBA20F}">
      <dgm:prSet phldrT="[テキスト]" custT="1"/>
      <dgm:spPr/>
      <dgm:t>
        <a:bodyPr/>
        <a:lstStyle/>
        <a:p>
          <a:r>
            <a:rPr kumimoji="1" lang="ja-JP" altLang="en-US" sz="1600" b="1" dirty="0"/>
            <a:t>Ｄｏ</a:t>
          </a:r>
        </a:p>
      </dgm:t>
    </dgm:pt>
    <dgm:pt modelId="{C8C0143A-AF96-42A6-9A36-DF6E6624976B}" type="parTrans" cxnId="{69770542-40F5-4B17-B464-66119A7323E8}">
      <dgm:prSet/>
      <dgm:spPr/>
      <dgm:t>
        <a:bodyPr/>
        <a:lstStyle/>
        <a:p>
          <a:endParaRPr kumimoji="1" lang="ja-JP" altLang="en-US"/>
        </a:p>
      </dgm:t>
    </dgm:pt>
    <dgm:pt modelId="{660F5207-21B5-4653-9F66-D216AA78DE2D}" type="sibTrans" cxnId="{69770542-40F5-4B17-B464-66119A7323E8}">
      <dgm:prSet/>
      <dgm:spPr/>
      <dgm:t>
        <a:bodyPr/>
        <a:lstStyle/>
        <a:p>
          <a:endParaRPr kumimoji="1" lang="ja-JP" altLang="en-US"/>
        </a:p>
      </dgm:t>
    </dgm:pt>
    <dgm:pt modelId="{A80045C2-E6A0-4193-9E73-E7757976F168}">
      <dgm:prSet phldrT="[テキスト]" custT="1"/>
      <dgm:spPr/>
      <dgm:t>
        <a:bodyPr/>
        <a:lstStyle/>
        <a:p>
          <a:r>
            <a:rPr kumimoji="1" lang="ja-JP" altLang="en-US" sz="1600" b="1" dirty="0"/>
            <a:t>Ｄｏ</a:t>
          </a:r>
        </a:p>
      </dgm:t>
    </dgm:pt>
    <dgm:pt modelId="{CA256AA3-3ABD-47F4-9C95-BE84D743F093}" type="parTrans" cxnId="{1E7ED07D-6772-41CF-B8DC-BB43DA55DBD3}">
      <dgm:prSet/>
      <dgm:spPr/>
      <dgm:t>
        <a:bodyPr/>
        <a:lstStyle/>
        <a:p>
          <a:endParaRPr kumimoji="1" lang="ja-JP" altLang="en-US"/>
        </a:p>
      </dgm:t>
    </dgm:pt>
    <dgm:pt modelId="{E994F06A-295F-4A2D-92E4-E5F02921CB2A}" type="sibTrans" cxnId="{1E7ED07D-6772-41CF-B8DC-BB43DA55DBD3}">
      <dgm:prSet/>
      <dgm:spPr/>
      <dgm:t>
        <a:bodyPr/>
        <a:lstStyle/>
        <a:p>
          <a:endParaRPr kumimoji="1" lang="ja-JP" altLang="en-US"/>
        </a:p>
      </dgm:t>
    </dgm:pt>
    <dgm:pt modelId="{0FA8DFAD-1D31-4451-8542-F39F1BDC3604}">
      <dgm:prSet phldrT="[テキスト]" custT="1"/>
      <dgm:spPr/>
      <dgm:t>
        <a:bodyPr/>
        <a:lstStyle/>
        <a:p>
          <a:r>
            <a:rPr kumimoji="1" lang="ja-JP" altLang="en-US" sz="1600" b="1" dirty="0"/>
            <a:t>Ａｃｔ</a:t>
          </a:r>
        </a:p>
      </dgm:t>
    </dgm:pt>
    <dgm:pt modelId="{7D4189EE-6617-4DA6-9F68-462F7139C383}" type="parTrans" cxnId="{ADE5DB49-FD6B-4710-87EE-6CBF4A1993FD}">
      <dgm:prSet/>
      <dgm:spPr/>
      <dgm:t>
        <a:bodyPr/>
        <a:lstStyle/>
        <a:p>
          <a:endParaRPr kumimoji="1" lang="ja-JP" altLang="en-US"/>
        </a:p>
      </dgm:t>
    </dgm:pt>
    <dgm:pt modelId="{C5BD4BF2-BD5B-48AD-B02D-AF6A8060F2F7}" type="sibTrans" cxnId="{ADE5DB49-FD6B-4710-87EE-6CBF4A1993FD}">
      <dgm:prSet/>
      <dgm:spPr/>
      <dgm:t>
        <a:bodyPr/>
        <a:lstStyle/>
        <a:p>
          <a:endParaRPr kumimoji="1" lang="ja-JP" altLang="en-US"/>
        </a:p>
      </dgm:t>
    </dgm:pt>
    <dgm:pt modelId="{11E6E3A3-FBF9-4042-B2DA-01A38635BFE8}">
      <dgm:prSet phldrT="[テキスト]" custT="1"/>
      <dgm:spPr/>
      <dgm:t>
        <a:bodyPr/>
        <a:lstStyle/>
        <a:p>
          <a:r>
            <a:rPr kumimoji="1" lang="ja-JP" altLang="en-US" sz="1600" b="1" dirty="0"/>
            <a:t>Ｃｈｅｋ</a:t>
          </a:r>
        </a:p>
      </dgm:t>
    </dgm:pt>
    <dgm:pt modelId="{FCAE260D-0834-41CB-9664-C887107B5A75}" type="parTrans" cxnId="{11AEA69C-5115-4294-986A-AFEC8A68CCBC}">
      <dgm:prSet/>
      <dgm:spPr/>
      <dgm:t>
        <a:bodyPr/>
        <a:lstStyle/>
        <a:p>
          <a:endParaRPr kumimoji="1" lang="ja-JP" altLang="en-US"/>
        </a:p>
      </dgm:t>
    </dgm:pt>
    <dgm:pt modelId="{6D6F27F7-7E4B-4C07-8027-86857C0DB258}" type="sibTrans" cxnId="{11AEA69C-5115-4294-986A-AFEC8A68CCBC}">
      <dgm:prSet/>
      <dgm:spPr/>
      <dgm:t>
        <a:bodyPr/>
        <a:lstStyle/>
        <a:p>
          <a:endParaRPr kumimoji="1" lang="ja-JP" altLang="en-US"/>
        </a:p>
      </dgm:t>
    </dgm:pt>
    <dgm:pt modelId="{55624AB8-84AE-4B3E-A54E-6959D49A9A9D}" type="pres">
      <dgm:prSet presAssocID="{6BE3C13E-D264-407C-90D7-715B6034783E}" presName="CompostProcess" presStyleCnt="0">
        <dgm:presLayoutVars>
          <dgm:dir/>
          <dgm:resizeHandles val="exact"/>
        </dgm:presLayoutVars>
      </dgm:prSet>
      <dgm:spPr/>
    </dgm:pt>
    <dgm:pt modelId="{2CF5B7B2-5B66-46B8-BA14-93B2464B2D23}" type="pres">
      <dgm:prSet presAssocID="{6BE3C13E-D264-407C-90D7-715B6034783E}" presName="arrow" presStyleLbl="bgShp" presStyleIdx="0" presStyleCnt="1"/>
      <dgm:spPr>
        <a:solidFill>
          <a:schemeClr val="accent4">
            <a:lumMod val="20000"/>
            <a:lumOff val="80000"/>
          </a:schemeClr>
        </a:solidFill>
        <a:ln w="19050">
          <a:solidFill>
            <a:schemeClr val="tx1"/>
          </a:solidFill>
        </a:ln>
      </dgm:spPr>
    </dgm:pt>
    <dgm:pt modelId="{06ADE424-DF32-4642-9A1D-942574BBA034}" type="pres">
      <dgm:prSet presAssocID="{6BE3C13E-D264-407C-90D7-715B6034783E}" presName="linearProcess" presStyleCnt="0"/>
      <dgm:spPr/>
    </dgm:pt>
    <dgm:pt modelId="{16084BF1-2851-497A-8C17-C05D99993E55}" type="pres">
      <dgm:prSet presAssocID="{9EF22AE5-3638-45FE-9217-08B0DBED553D}" presName="textNode" presStyleLbl="node1" presStyleIdx="0" presStyleCnt="5">
        <dgm:presLayoutVars>
          <dgm:bulletEnabled val="1"/>
        </dgm:presLayoutVars>
      </dgm:prSet>
      <dgm:spPr/>
      <dgm:t>
        <a:bodyPr/>
        <a:lstStyle/>
        <a:p>
          <a:endParaRPr kumimoji="1" lang="ja-JP" altLang="en-US"/>
        </a:p>
      </dgm:t>
    </dgm:pt>
    <dgm:pt modelId="{5B96CB63-6495-44DE-9D46-04213C70E2CC}" type="pres">
      <dgm:prSet presAssocID="{16ACB2BA-FF86-48B4-A288-330386782AE9}" presName="sibTrans" presStyleCnt="0"/>
      <dgm:spPr/>
    </dgm:pt>
    <dgm:pt modelId="{13EAC30A-F985-4F70-B263-2C4FA37926BB}" type="pres">
      <dgm:prSet presAssocID="{1149E697-DEA7-43A4-98D2-2BC8A6DBA20F}" presName="textNode" presStyleLbl="node1" presStyleIdx="1" presStyleCnt="5">
        <dgm:presLayoutVars>
          <dgm:bulletEnabled val="1"/>
        </dgm:presLayoutVars>
      </dgm:prSet>
      <dgm:spPr/>
      <dgm:t>
        <a:bodyPr/>
        <a:lstStyle/>
        <a:p>
          <a:endParaRPr kumimoji="1" lang="ja-JP" altLang="en-US"/>
        </a:p>
      </dgm:t>
    </dgm:pt>
    <dgm:pt modelId="{2E61388E-72B9-4CE4-BF5E-319939E53F4E}" type="pres">
      <dgm:prSet presAssocID="{660F5207-21B5-4653-9F66-D216AA78DE2D}" presName="sibTrans" presStyleCnt="0"/>
      <dgm:spPr/>
    </dgm:pt>
    <dgm:pt modelId="{83D05647-4F85-4FC8-A7CC-7A7A33DB9F94}" type="pres">
      <dgm:prSet presAssocID="{A80045C2-E6A0-4193-9E73-E7757976F168}" presName="textNode" presStyleLbl="node1" presStyleIdx="2" presStyleCnt="5">
        <dgm:presLayoutVars>
          <dgm:bulletEnabled val="1"/>
        </dgm:presLayoutVars>
      </dgm:prSet>
      <dgm:spPr/>
      <dgm:t>
        <a:bodyPr/>
        <a:lstStyle/>
        <a:p>
          <a:endParaRPr kumimoji="1" lang="ja-JP" altLang="en-US"/>
        </a:p>
      </dgm:t>
    </dgm:pt>
    <dgm:pt modelId="{52D135C0-BC75-4BE7-8917-A268FE73600B}" type="pres">
      <dgm:prSet presAssocID="{E994F06A-295F-4A2D-92E4-E5F02921CB2A}" presName="sibTrans" presStyleCnt="0"/>
      <dgm:spPr/>
    </dgm:pt>
    <dgm:pt modelId="{06D949EC-624F-49E3-A2C8-7DFA298772A7}" type="pres">
      <dgm:prSet presAssocID="{11E6E3A3-FBF9-4042-B2DA-01A38635BFE8}" presName="textNode" presStyleLbl="node1" presStyleIdx="3" presStyleCnt="5">
        <dgm:presLayoutVars>
          <dgm:bulletEnabled val="1"/>
        </dgm:presLayoutVars>
      </dgm:prSet>
      <dgm:spPr/>
      <dgm:t>
        <a:bodyPr/>
        <a:lstStyle/>
        <a:p>
          <a:endParaRPr kumimoji="1" lang="ja-JP" altLang="en-US"/>
        </a:p>
      </dgm:t>
    </dgm:pt>
    <dgm:pt modelId="{69AB94A6-0BB2-4632-BA10-61730F3C3B05}" type="pres">
      <dgm:prSet presAssocID="{6D6F27F7-7E4B-4C07-8027-86857C0DB258}" presName="sibTrans" presStyleCnt="0"/>
      <dgm:spPr/>
    </dgm:pt>
    <dgm:pt modelId="{6757111D-2DFF-489C-B0EC-3F7943CA478A}" type="pres">
      <dgm:prSet presAssocID="{0FA8DFAD-1D31-4451-8542-F39F1BDC3604}" presName="textNode" presStyleLbl="node1" presStyleIdx="4" presStyleCnt="5">
        <dgm:presLayoutVars>
          <dgm:bulletEnabled val="1"/>
        </dgm:presLayoutVars>
      </dgm:prSet>
      <dgm:spPr/>
      <dgm:t>
        <a:bodyPr/>
        <a:lstStyle/>
        <a:p>
          <a:endParaRPr kumimoji="1" lang="ja-JP" altLang="en-US"/>
        </a:p>
      </dgm:t>
    </dgm:pt>
  </dgm:ptLst>
  <dgm:cxnLst>
    <dgm:cxn modelId="{69770542-40F5-4B17-B464-66119A7323E8}" srcId="{6BE3C13E-D264-407C-90D7-715B6034783E}" destId="{1149E697-DEA7-43A4-98D2-2BC8A6DBA20F}" srcOrd="1" destOrd="0" parTransId="{C8C0143A-AF96-42A6-9A36-DF6E6624976B}" sibTransId="{660F5207-21B5-4653-9F66-D216AA78DE2D}"/>
    <dgm:cxn modelId="{97269E93-FCE5-4FF6-BD8B-642E288093F0}" srcId="{6BE3C13E-D264-407C-90D7-715B6034783E}" destId="{9EF22AE5-3638-45FE-9217-08B0DBED553D}" srcOrd="0" destOrd="0" parTransId="{69F6500B-2C7A-4EA0-84DD-1A5A2F0E37FE}" sibTransId="{16ACB2BA-FF86-48B4-A288-330386782AE9}"/>
    <dgm:cxn modelId="{079EFA51-007C-4E8B-A755-DDF331EC5A57}" type="presOf" srcId="{6BE3C13E-D264-407C-90D7-715B6034783E}" destId="{55624AB8-84AE-4B3E-A54E-6959D49A9A9D}" srcOrd="0" destOrd="0" presId="urn:microsoft.com/office/officeart/2005/8/layout/hProcess9"/>
    <dgm:cxn modelId="{CD8A29A8-521A-4BC8-98C7-E9D4B448B4A4}" type="presOf" srcId="{1149E697-DEA7-43A4-98D2-2BC8A6DBA20F}" destId="{13EAC30A-F985-4F70-B263-2C4FA37926BB}" srcOrd="0" destOrd="0" presId="urn:microsoft.com/office/officeart/2005/8/layout/hProcess9"/>
    <dgm:cxn modelId="{ADE5DB49-FD6B-4710-87EE-6CBF4A1993FD}" srcId="{6BE3C13E-D264-407C-90D7-715B6034783E}" destId="{0FA8DFAD-1D31-4451-8542-F39F1BDC3604}" srcOrd="4" destOrd="0" parTransId="{7D4189EE-6617-4DA6-9F68-462F7139C383}" sibTransId="{C5BD4BF2-BD5B-48AD-B02D-AF6A8060F2F7}"/>
    <dgm:cxn modelId="{9B28390D-C49D-4118-B55E-4C5BA123044D}" type="presOf" srcId="{11E6E3A3-FBF9-4042-B2DA-01A38635BFE8}" destId="{06D949EC-624F-49E3-A2C8-7DFA298772A7}" srcOrd="0" destOrd="0" presId="urn:microsoft.com/office/officeart/2005/8/layout/hProcess9"/>
    <dgm:cxn modelId="{388A9F04-F8EC-4E0E-8C1C-E5F160698909}" type="presOf" srcId="{A80045C2-E6A0-4193-9E73-E7757976F168}" destId="{83D05647-4F85-4FC8-A7CC-7A7A33DB9F94}" srcOrd="0" destOrd="0" presId="urn:microsoft.com/office/officeart/2005/8/layout/hProcess9"/>
    <dgm:cxn modelId="{AD85CF74-2CD3-4F0A-99A3-F1CC54921935}" type="presOf" srcId="{0FA8DFAD-1D31-4451-8542-F39F1BDC3604}" destId="{6757111D-2DFF-489C-B0EC-3F7943CA478A}" srcOrd="0" destOrd="0" presId="urn:microsoft.com/office/officeart/2005/8/layout/hProcess9"/>
    <dgm:cxn modelId="{11AEA69C-5115-4294-986A-AFEC8A68CCBC}" srcId="{6BE3C13E-D264-407C-90D7-715B6034783E}" destId="{11E6E3A3-FBF9-4042-B2DA-01A38635BFE8}" srcOrd="3" destOrd="0" parTransId="{FCAE260D-0834-41CB-9664-C887107B5A75}" sibTransId="{6D6F27F7-7E4B-4C07-8027-86857C0DB258}"/>
    <dgm:cxn modelId="{D990E9DF-E342-4B0A-94D2-E212024B6C6B}" type="presOf" srcId="{9EF22AE5-3638-45FE-9217-08B0DBED553D}" destId="{16084BF1-2851-497A-8C17-C05D99993E55}" srcOrd="0" destOrd="0" presId="urn:microsoft.com/office/officeart/2005/8/layout/hProcess9"/>
    <dgm:cxn modelId="{1E7ED07D-6772-41CF-B8DC-BB43DA55DBD3}" srcId="{6BE3C13E-D264-407C-90D7-715B6034783E}" destId="{A80045C2-E6A0-4193-9E73-E7757976F168}" srcOrd="2" destOrd="0" parTransId="{CA256AA3-3ABD-47F4-9C95-BE84D743F093}" sibTransId="{E994F06A-295F-4A2D-92E4-E5F02921CB2A}"/>
    <dgm:cxn modelId="{3920F2E7-83A3-4180-A459-234EE33A62B9}" type="presParOf" srcId="{55624AB8-84AE-4B3E-A54E-6959D49A9A9D}" destId="{2CF5B7B2-5B66-46B8-BA14-93B2464B2D23}" srcOrd="0" destOrd="0" presId="urn:microsoft.com/office/officeart/2005/8/layout/hProcess9"/>
    <dgm:cxn modelId="{1F390B71-100E-4CBE-9B5F-6F2B3805CC8A}" type="presParOf" srcId="{55624AB8-84AE-4B3E-A54E-6959D49A9A9D}" destId="{06ADE424-DF32-4642-9A1D-942574BBA034}" srcOrd="1" destOrd="0" presId="urn:microsoft.com/office/officeart/2005/8/layout/hProcess9"/>
    <dgm:cxn modelId="{43122D49-88EB-43E1-833A-88DCB6BC6CC4}" type="presParOf" srcId="{06ADE424-DF32-4642-9A1D-942574BBA034}" destId="{16084BF1-2851-497A-8C17-C05D99993E55}" srcOrd="0" destOrd="0" presId="urn:microsoft.com/office/officeart/2005/8/layout/hProcess9"/>
    <dgm:cxn modelId="{2020E334-4495-4B9A-AB92-A958279CE5C8}" type="presParOf" srcId="{06ADE424-DF32-4642-9A1D-942574BBA034}" destId="{5B96CB63-6495-44DE-9D46-04213C70E2CC}" srcOrd="1" destOrd="0" presId="urn:microsoft.com/office/officeart/2005/8/layout/hProcess9"/>
    <dgm:cxn modelId="{A97BCEB4-3348-42D1-8A2D-CA410CDDC143}" type="presParOf" srcId="{06ADE424-DF32-4642-9A1D-942574BBA034}" destId="{13EAC30A-F985-4F70-B263-2C4FA37926BB}" srcOrd="2" destOrd="0" presId="urn:microsoft.com/office/officeart/2005/8/layout/hProcess9"/>
    <dgm:cxn modelId="{0D8D4D00-B33F-4120-BBF7-491A8CCE1B25}" type="presParOf" srcId="{06ADE424-DF32-4642-9A1D-942574BBA034}" destId="{2E61388E-72B9-4CE4-BF5E-319939E53F4E}" srcOrd="3" destOrd="0" presId="urn:microsoft.com/office/officeart/2005/8/layout/hProcess9"/>
    <dgm:cxn modelId="{FF3BEEA0-E9CC-447D-8A04-0EB0F60B6390}" type="presParOf" srcId="{06ADE424-DF32-4642-9A1D-942574BBA034}" destId="{83D05647-4F85-4FC8-A7CC-7A7A33DB9F94}" srcOrd="4" destOrd="0" presId="urn:microsoft.com/office/officeart/2005/8/layout/hProcess9"/>
    <dgm:cxn modelId="{44FE3395-39F6-4759-BA65-9A88A20E4079}" type="presParOf" srcId="{06ADE424-DF32-4642-9A1D-942574BBA034}" destId="{52D135C0-BC75-4BE7-8917-A268FE73600B}" srcOrd="5" destOrd="0" presId="urn:microsoft.com/office/officeart/2005/8/layout/hProcess9"/>
    <dgm:cxn modelId="{D11D6F8A-F903-426F-BFC5-2E7C50B705D4}" type="presParOf" srcId="{06ADE424-DF32-4642-9A1D-942574BBA034}" destId="{06D949EC-624F-49E3-A2C8-7DFA298772A7}" srcOrd="6" destOrd="0" presId="urn:microsoft.com/office/officeart/2005/8/layout/hProcess9"/>
    <dgm:cxn modelId="{3FE11CC2-7D10-450D-8ECB-8079EF5F89EF}" type="presParOf" srcId="{06ADE424-DF32-4642-9A1D-942574BBA034}" destId="{69AB94A6-0BB2-4632-BA10-61730F3C3B05}" srcOrd="7" destOrd="0" presId="urn:microsoft.com/office/officeart/2005/8/layout/hProcess9"/>
    <dgm:cxn modelId="{2BC0101E-A9A3-4DED-BF20-3B9F6A4C51DE}" type="presParOf" srcId="{06ADE424-DF32-4642-9A1D-942574BBA034}" destId="{6757111D-2DFF-489C-B0EC-3F7943CA478A}"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a:t>
          </a:r>
          <a:r>
            <a:rPr kumimoji="1" lang="en-US" altLang="ja-JP" sz="2800" dirty="0">
              <a:solidFill>
                <a:schemeClr val="tx1"/>
              </a:solidFill>
            </a:rPr>
            <a:t>IATF16949</a:t>
          </a:r>
          <a:r>
            <a:rPr kumimoji="1" lang="ja-JP" altLang="en-US" sz="2800" dirty="0">
              <a:solidFill>
                <a:schemeClr val="tx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solidFill>
      </dgm:spPr>
      <dgm:t>
        <a:bodyPr/>
        <a:lstStyle/>
        <a:p>
          <a:r>
            <a:rPr kumimoji="1" lang="ja-JP" altLang="en-US" sz="3600" dirty="0">
              <a:solidFill>
                <a:schemeClr val="bg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lumMod val="40000"/>
            <a:lumOff val="60000"/>
          </a:schemeClr>
        </a:solidFill>
      </dgm:spPr>
      <dgm:t>
        <a:bodyPr/>
        <a:lstStyle/>
        <a:p>
          <a:r>
            <a:rPr kumimoji="1" lang="ja-JP" altLang="en-US" sz="2800" dirty="0">
              <a:solidFill>
                <a:schemeClr val="tx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lumMod val="40000"/>
            <a:lumOff val="60000"/>
          </a:schemeClr>
        </a:solidFill>
      </dgm:spPr>
      <dgm:t>
        <a:bodyPr/>
        <a:lstStyle/>
        <a:p>
          <a:r>
            <a:rPr kumimoji="1" lang="ja-JP" altLang="en-US" sz="2800" dirty="0">
              <a:solidFill>
                <a:schemeClr val="tx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lumMod val="40000"/>
            <a:lumOff val="60000"/>
          </a:schemeClr>
        </a:solidFill>
      </dgm:spPr>
      <dgm:t>
        <a:bodyPr/>
        <a:lstStyle/>
        <a:p>
          <a:r>
            <a:rPr kumimoji="1" lang="ja-JP" altLang="en-US" sz="2800" dirty="0">
              <a:solidFill>
                <a:schemeClr val="tx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a:t>
          </a:r>
          <a:r>
            <a:rPr kumimoji="1" lang="en-US" altLang="ja-JP" sz="2800" dirty="0">
              <a:solidFill>
                <a:schemeClr val="tx1"/>
              </a:solidFill>
            </a:rPr>
            <a:t>IATF16949</a:t>
          </a:r>
          <a:r>
            <a:rPr kumimoji="1" lang="ja-JP" altLang="en-US" sz="2800" dirty="0">
              <a:solidFill>
                <a:schemeClr val="tx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lumMod val="40000"/>
            <a:lumOff val="60000"/>
          </a:schemeClr>
        </a:solidFill>
      </dgm:spPr>
      <dgm:t>
        <a:bodyPr/>
        <a:lstStyle/>
        <a:p>
          <a:r>
            <a:rPr kumimoji="1" lang="ja-JP" altLang="en-US" sz="2800" dirty="0">
              <a:solidFill>
                <a:schemeClr val="tx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solidFill>
      </dgm:spPr>
      <dgm:t>
        <a:bodyPr/>
        <a:lstStyle/>
        <a:p>
          <a:r>
            <a:rPr kumimoji="1" lang="ja-JP" altLang="en-US" sz="3600" dirty="0">
              <a:solidFill>
                <a:schemeClr val="bg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lumMod val="40000"/>
            <a:lumOff val="60000"/>
          </a:schemeClr>
        </a:solidFill>
      </dgm:spPr>
      <dgm:t>
        <a:bodyPr/>
        <a:lstStyle/>
        <a:p>
          <a:r>
            <a:rPr kumimoji="1" lang="ja-JP" altLang="en-US" sz="2800" dirty="0">
              <a:solidFill>
                <a:schemeClr val="tx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F4BF4EC-3473-47A9-8885-786677FAE6D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A170C6BB-EEDA-4BAA-95C1-97A024712F50}">
      <dgm:prSet phldrT="[テキスト]" custT="1"/>
      <dgm:spPr/>
      <dgm:t>
        <a:bodyPr/>
        <a:lstStyle/>
        <a:p>
          <a:pPr algn="ctr"/>
          <a:r>
            <a:rPr kumimoji="1" lang="ja-JP" altLang="en-US" sz="2000" b="1" dirty="0"/>
            <a:t>製品設計</a:t>
          </a:r>
        </a:p>
      </dgm:t>
    </dgm:pt>
    <dgm:pt modelId="{748FD800-30A5-493B-A365-CDAA04BEAAD6}" type="parTrans" cxnId="{9F9A4C0A-EF06-42BD-8E41-32773B161990}">
      <dgm:prSet/>
      <dgm:spPr/>
      <dgm:t>
        <a:bodyPr/>
        <a:lstStyle/>
        <a:p>
          <a:endParaRPr kumimoji="1" lang="ja-JP" altLang="en-US"/>
        </a:p>
      </dgm:t>
    </dgm:pt>
    <dgm:pt modelId="{935D1B39-888E-4AE7-9A95-92A4ED51AD6D}" type="sibTrans" cxnId="{9F9A4C0A-EF06-42BD-8E41-32773B161990}">
      <dgm:prSet/>
      <dgm:spPr/>
      <dgm:t>
        <a:bodyPr/>
        <a:lstStyle/>
        <a:p>
          <a:endParaRPr kumimoji="1" lang="ja-JP" altLang="en-US"/>
        </a:p>
      </dgm:t>
    </dgm:pt>
    <dgm:pt modelId="{A95C946C-60F4-4111-83ED-17720E8A8751}">
      <dgm:prSet phldrT="[テキスト]" custT="1"/>
      <dgm:spPr/>
      <dgm:t>
        <a:bodyPr/>
        <a:lstStyle/>
        <a:p>
          <a:r>
            <a:rPr kumimoji="1" lang="ja-JP" altLang="en-US" sz="1800" b="1" dirty="0"/>
            <a:t>ＦＭＥＡ</a:t>
          </a:r>
        </a:p>
      </dgm:t>
    </dgm:pt>
    <dgm:pt modelId="{E063B1A8-46F1-40C8-86DC-74AD6C0D504E}" type="parTrans" cxnId="{7F80FCBF-C473-40D2-9478-57E5CB3EA114}">
      <dgm:prSet/>
      <dgm:spPr/>
      <dgm:t>
        <a:bodyPr/>
        <a:lstStyle/>
        <a:p>
          <a:endParaRPr kumimoji="1" lang="ja-JP" altLang="en-US"/>
        </a:p>
      </dgm:t>
    </dgm:pt>
    <dgm:pt modelId="{B9C4A5A4-7EFF-4C58-8E38-8BDEBF906C9D}" type="sibTrans" cxnId="{7F80FCBF-C473-40D2-9478-57E5CB3EA114}">
      <dgm:prSet/>
      <dgm:spPr/>
      <dgm:t>
        <a:bodyPr/>
        <a:lstStyle/>
        <a:p>
          <a:endParaRPr kumimoji="1" lang="ja-JP" altLang="en-US"/>
        </a:p>
      </dgm:t>
    </dgm:pt>
    <dgm:pt modelId="{2B587B32-5B2D-49D7-AADF-73157D137B31}">
      <dgm:prSet phldrT="[テキスト]" custT="1"/>
      <dgm:spPr/>
      <dgm:t>
        <a:bodyPr/>
        <a:lstStyle/>
        <a:p>
          <a:pPr algn="ctr"/>
          <a:r>
            <a:rPr kumimoji="1" lang="ja-JP" altLang="en-US" sz="2000" b="1" dirty="0"/>
            <a:t>テスト</a:t>
          </a:r>
        </a:p>
      </dgm:t>
    </dgm:pt>
    <dgm:pt modelId="{021F3D00-BF1F-4113-BCF4-CA003C6DE1E3}" type="parTrans" cxnId="{FC826A2C-3415-48A0-9B16-6AED22847093}">
      <dgm:prSet/>
      <dgm:spPr/>
      <dgm:t>
        <a:bodyPr/>
        <a:lstStyle/>
        <a:p>
          <a:endParaRPr kumimoji="1" lang="ja-JP" altLang="en-US"/>
        </a:p>
      </dgm:t>
    </dgm:pt>
    <dgm:pt modelId="{DEB67A7C-6E1F-4E0B-93CC-3537E3544FAD}" type="sibTrans" cxnId="{FC826A2C-3415-48A0-9B16-6AED22847093}">
      <dgm:prSet/>
      <dgm:spPr/>
      <dgm:t>
        <a:bodyPr/>
        <a:lstStyle/>
        <a:p>
          <a:endParaRPr kumimoji="1" lang="ja-JP" altLang="en-US"/>
        </a:p>
      </dgm:t>
    </dgm:pt>
    <dgm:pt modelId="{B4DBD82E-8A6A-4D79-A8A4-D538D9860F9C}">
      <dgm:prSet phldrT="[テキスト]" custT="1"/>
      <dgm:spPr/>
      <dgm:t>
        <a:bodyPr/>
        <a:lstStyle/>
        <a:p>
          <a:r>
            <a:rPr kumimoji="1" lang="ja-JP" altLang="en-US" sz="1800" b="1" dirty="0"/>
            <a:t>分析と再承認</a:t>
          </a:r>
        </a:p>
      </dgm:t>
    </dgm:pt>
    <dgm:pt modelId="{423E3D58-ED2C-460E-84D8-B5124135D74B}" type="parTrans" cxnId="{D6EF8FD2-DA40-4D52-81EE-AC4FDCAD9FFB}">
      <dgm:prSet/>
      <dgm:spPr/>
      <dgm:t>
        <a:bodyPr/>
        <a:lstStyle/>
        <a:p>
          <a:endParaRPr kumimoji="1" lang="ja-JP" altLang="en-US"/>
        </a:p>
      </dgm:t>
    </dgm:pt>
    <dgm:pt modelId="{A64BBBF3-62BF-4D8B-BC46-EE6FFD7DA931}" type="sibTrans" cxnId="{D6EF8FD2-DA40-4D52-81EE-AC4FDCAD9FFB}">
      <dgm:prSet/>
      <dgm:spPr/>
      <dgm:t>
        <a:bodyPr/>
        <a:lstStyle/>
        <a:p>
          <a:endParaRPr kumimoji="1" lang="ja-JP" altLang="en-US"/>
        </a:p>
      </dgm:t>
    </dgm:pt>
    <dgm:pt modelId="{04D062BF-5A02-408E-8F0A-7A202A91A3D2}">
      <dgm:prSet phldrT="[テキスト]" custT="1"/>
      <dgm:spPr/>
      <dgm:t>
        <a:bodyPr/>
        <a:lstStyle/>
        <a:p>
          <a:pPr algn="ctr"/>
          <a:r>
            <a:rPr kumimoji="1" lang="ja-JP" altLang="en-US" sz="2000" b="1" dirty="0"/>
            <a:t>製造</a:t>
          </a:r>
        </a:p>
      </dgm:t>
    </dgm:pt>
    <dgm:pt modelId="{B9E652F3-F5E6-4978-9BD4-A1D07556A688}" type="parTrans" cxnId="{842D8AB8-D3A3-467F-8245-84EDA1A7D6E4}">
      <dgm:prSet/>
      <dgm:spPr/>
      <dgm:t>
        <a:bodyPr/>
        <a:lstStyle/>
        <a:p>
          <a:endParaRPr kumimoji="1" lang="ja-JP" altLang="en-US"/>
        </a:p>
      </dgm:t>
    </dgm:pt>
    <dgm:pt modelId="{F4258284-7D87-4F82-8934-B729412B8F35}" type="sibTrans" cxnId="{842D8AB8-D3A3-467F-8245-84EDA1A7D6E4}">
      <dgm:prSet/>
      <dgm:spPr/>
      <dgm:t>
        <a:bodyPr/>
        <a:lstStyle/>
        <a:p>
          <a:endParaRPr kumimoji="1" lang="ja-JP" altLang="en-US"/>
        </a:p>
      </dgm:t>
    </dgm:pt>
    <dgm:pt modelId="{5D0C2591-7FA1-4DD7-AEF7-EB2630B30A94}">
      <dgm:prSet phldrT="[テキスト]" custT="1"/>
      <dgm:spPr/>
      <dgm:t>
        <a:bodyPr/>
        <a:lstStyle/>
        <a:p>
          <a:r>
            <a:rPr kumimoji="1" lang="ja-JP" altLang="en-US" sz="1800" b="1" dirty="0"/>
            <a:t>工程管理と再作業</a:t>
          </a:r>
        </a:p>
      </dgm:t>
    </dgm:pt>
    <dgm:pt modelId="{7F1B8036-F0A2-4BA7-B7B2-9BF0293C7202}" type="parTrans" cxnId="{B692A9A9-251F-4C0D-8DAF-77D643373155}">
      <dgm:prSet/>
      <dgm:spPr/>
      <dgm:t>
        <a:bodyPr/>
        <a:lstStyle/>
        <a:p>
          <a:endParaRPr kumimoji="1" lang="ja-JP" altLang="en-US"/>
        </a:p>
      </dgm:t>
    </dgm:pt>
    <dgm:pt modelId="{B00C75C5-CE83-4F44-BB74-D6E9EA6E23B9}" type="sibTrans" cxnId="{B692A9A9-251F-4C0D-8DAF-77D643373155}">
      <dgm:prSet/>
      <dgm:spPr/>
      <dgm:t>
        <a:bodyPr/>
        <a:lstStyle/>
        <a:p>
          <a:endParaRPr kumimoji="1" lang="ja-JP" altLang="en-US"/>
        </a:p>
      </dgm:t>
    </dgm:pt>
    <dgm:pt modelId="{B2F1D79B-AA38-4D19-9715-73F98F19C378}">
      <dgm:prSet phldrT="[テキスト]" custT="1"/>
      <dgm:spPr/>
      <dgm:t>
        <a:bodyPr/>
        <a:lstStyle/>
        <a:p>
          <a:r>
            <a:rPr kumimoji="1" lang="ja-JP" altLang="en-US" sz="1800" b="1" dirty="0"/>
            <a:t>交換・保証</a:t>
          </a:r>
        </a:p>
      </dgm:t>
    </dgm:pt>
    <dgm:pt modelId="{35A6A2F9-5D22-463B-9EC5-E71FBD17CA37}" type="parTrans" cxnId="{5C632980-3F62-4CD5-9DCA-6F8672281F96}">
      <dgm:prSet/>
      <dgm:spPr/>
      <dgm:t>
        <a:bodyPr/>
        <a:lstStyle/>
        <a:p>
          <a:endParaRPr kumimoji="1" lang="ja-JP" altLang="en-US"/>
        </a:p>
      </dgm:t>
    </dgm:pt>
    <dgm:pt modelId="{0203E60C-3064-4BC4-82C4-219CCA001578}" type="sibTrans" cxnId="{5C632980-3F62-4CD5-9DCA-6F8672281F96}">
      <dgm:prSet/>
      <dgm:spPr/>
      <dgm:t>
        <a:bodyPr/>
        <a:lstStyle/>
        <a:p>
          <a:endParaRPr kumimoji="1" lang="ja-JP" altLang="en-US"/>
        </a:p>
      </dgm:t>
    </dgm:pt>
    <dgm:pt modelId="{0D187B8A-1DB0-4296-85F3-1BF8CC75E0D8}">
      <dgm:prSet phldrT="[テキスト]" custT="1"/>
      <dgm:spPr/>
      <dgm:t>
        <a:bodyPr/>
        <a:lstStyle/>
        <a:p>
          <a:pPr algn="ctr"/>
          <a:r>
            <a:rPr kumimoji="1" lang="ja-JP" altLang="en-US" sz="2000" b="1" dirty="0"/>
            <a:t>顧客</a:t>
          </a:r>
        </a:p>
      </dgm:t>
    </dgm:pt>
    <dgm:pt modelId="{BF40382E-F418-4C61-A154-672343A5C97B}" type="parTrans" cxnId="{1DB523DF-5D87-4C17-9283-79DEE91B6421}">
      <dgm:prSet/>
      <dgm:spPr/>
      <dgm:t>
        <a:bodyPr/>
        <a:lstStyle/>
        <a:p>
          <a:endParaRPr kumimoji="1" lang="ja-JP" altLang="en-US"/>
        </a:p>
      </dgm:t>
    </dgm:pt>
    <dgm:pt modelId="{D06CD55A-A1C0-4509-9838-09F6E86A01C8}" type="sibTrans" cxnId="{1DB523DF-5D87-4C17-9283-79DEE91B6421}">
      <dgm:prSet/>
      <dgm:spPr/>
      <dgm:t>
        <a:bodyPr/>
        <a:lstStyle/>
        <a:p>
          <a:endParaRPr kumimoji="1" lang="ja-JP" altLang="en-US"/>
        </a:p>
      </dgm:t>
    </dgm:pt>
    <dgm:pt modelId="{0E99578E-6925-4BD5-9995-A1D0BF951516}">
      <dgm:prSet phldrT="[テキスト]" custT="1"/>
      <dgm:spPr/>
      <dgm:t>
        <a:bodyPr/>
        <a:lstStyle/>
        <a:p>
          <a:r>
            <a:rPr kumimoji="1" lang="ja-JP" altLang="en-US" sz="1800" b="1" dirty="0"/>
            <a:t>（</a:t>
          </a:r>
          <a:r>
            <a:rPr kumimoji="1" lang="en-US" altLang="ja-JP" sz="1800" b="1" dirty="0"/>
            <a:t>1,000</a:t>
          </a:r>
          <a:r>
            <a:rPr kumimoji="1" lang="ja-JP" altLang="en-US" sz="1800" b="1" dirty="0"/>
            <a:t>円）</a:t>
          </a:r>
        </a:p>
      </dgm:t>
    </dgm:pt>
    <dgm:pt modelId="{679EB802-D291-4414-B301-96F7EA2F58F1}" type="parTrans" cxnId="{9E1DECA0-77BD-4786-88EE-D46508C0BD17}">
      <dgm:prSet/>
      <dgm:spPr/>
      <dgm:t>
        <a:bodyPr/>
        <a:lstStyle/>
        <a:p>
          <a:endParaRPr kumimoji="1" lang="ja-JP" altLang="en-US"/>
        </a:p>
      </dgm:t>
    </dgm:pt>
    <dgm:pt modelId="{69A19539-9A80-45F5-8C27-B2C1D0B41510}" type="sibTrans" cxnId="{9E1DECA0-77BD-4786-88EE-D46508C0BD17}">
      <dgm:prSet/>
      <dgm:spPr/>
      <dgm:t>
        <a:bodyPr/>
        <a:lstStyle/>
        <a:p>
          <a:endParaRPr kumimoji="1" lang="ja-JP" altLang="en-US"/>
        </a:p>
      </dgm:t>
    </dgm:pt>
    <dgm:pt modelId="{D958759D-6EA9-436F-B489-F968788D1537}">
      <dgm:prSet phldrT="[テキスト]" custT="1"/>
      <dgm:spPr/>
      <dgm:t>
        <a:bodyPr/>
        <a:lstStyle/>
        <a:p>
          <a:r>
            <a:rPr kumimoji="1" lang="ja-JP" altLang="en-US" sz="1800" b="1" dirty="0"/>
            <a:t>（</a:t>
          </a:r>
          <a:r>
            <a:rPr kumimoji="1" lang="en-US" altLang="ja-JP" sz="1800" b="1" dirty="0"/>
            <a:t>100</a:t>
          </a:r>
          <a:r>
            <a:rPr kumimoji="1" lang="ja-JP" altLang="en-US" sz="1800" b="1" dirty="0"/>
            <a:t>円）</a:t>
          </a:r>
        </a:p>
      </dgm:t>
    </dgm:pt>
    <dgm:pt modelId="{00AB1501-2376-48BA-914D-346EFCE03B54}" type="parTrans" cxnId="{1254786A-0E9E-447E-896E-715A8A5DBA0D}">
      <dgm:prSet/>
      <dgm:spPr/>
      <dgm:t>
        <a:bodyPr/>
        <a:lstStyle/>
        <a:p>
          <a:endParaRPr kumimoji="1" lang="ja-JP" altLang="en-US"/>
        </a:p>
      </dgm:t>
    </dgm:pt>
    <dgm:pt modelId="{1DC4F134-EC44-40B4-82C8-E1AF02EC7037}" type="sibTrans" cxnId="{1254786A-0E9E-447E-896E-715A8A5DBA0D}">
      <dgm:prSet/>
      <dgm:spPr/>
      <dgm:t>
        <a:bodyPr/>
        <a:lstStyle/>
        <a:p>
          <a:endParaRPr kumimoji="1" lang="ja-JP" altLang="en-US"/>
        </a:p>
      </dgm:t>
    </dgm:pt>
    <dgm:pt modelId="{01AC8930-770A-4AC1-A923-8CD6707F2504}">
      <dgm:prSet phldrT="[テキスト]" custT="1"/>
      <dgm:spPr/>
      <dgm:t>
        <a:bodyPr/>
        <a:lstStyle/>
        <a:p>
          <a:r>
            <a:rPr kumimoji="1" lang="ja-JP" altLang="en-US" sz="1800" b="1" dirty="0"/>
            <a:t>（</a:t>
          </a:r>
          <a:r>
            <a:rPr kumimoji="1" lang="en-US" altLang="ja-JP" sz="1800" b="1" dirty="0"/>
            <a:t>10,000</a:t>
          </a:r>
          <a:r>
            <a:rPr kumimoji="1" lang="ja-JP" altLang="en-US" sz="1800" b="1" dirty="0"/>
            <a:t>円）</a:t>
          </a:r>
        </a:p>
      </dgm:t>
    </dgm:pt>
    <dgm:pt modelId="{C3C51D13-4B07-46CC-BD29-D864B099BBCB}" type="parTrans" cxnId="{3591ABFF-6C47-40DD-896E-EE5F84608468}">
      <dgm:prSet/>
      <dgm:spPr/>
      <dgm:t>
        <a:bodyPr/>
        <a:lstStyle/>
        <a:p>
          <a:endParaRPr kumimoji="1" lang="ja-JP" altLang="en-US"/>
        </a:p>
      </dgm:t>
    </dgm:pt>
    <dgm:pt modelId="{8D9F44EA-5D25-42CA-A0D6-1AE5C3B21F60}" type="sibTrans" cxnId="{3591ABFF-6C47-40DD-896E-EE5F84608468}">
      <dgm:prSet/>
      <dgm:spPr/>
      <dgm:t>
        <a:bodyPr/>
        <a:lstStyle/>
        <a:p>
          <a:endParaRPr kumimoji="1" lang="ja-JP" altLang="en-US"/>
        </a:p>
      </dgm:t>
    </dgm:pt>
    <dgm:pt modelId="{1FF98F94-9659-48DF-9E5E-C91E7025C04E}">
      <dgm:prSet phldrT="[テキスト]" custT="1"/>
      <dgm:spPr/>
      <dgm:t>
        <a:bodyPr/>
        <a:lstStyle/>
        <a:p>
          <a:r>
            <a:rPr kumimoji="1" lang="ja-JP" altLang="en-US" sz="1800" b="1" dirty="0"/>
            <a:t>（</a:t>
          </a:r>
          <a:r>
            <a:rPr kumimoji="1" lang="en-US" altLang="ja-JP" sz="1800" b="1" dirty="0"/>
            <a:t>100,000</a:t>
          </a:r>
          <a:r>
            <a:rPr kumimoji="1" lang="ja-JP" altLang="en-US" sz="1800" b="1" dirty="0"/>
            <a:t>円）</a:t>
          </a:r>
        </a:p>
      </dgm:t>
    </dgm:pt>
    <dgm:pt modelId="{2FD5F70B-2C6E-4894-A43C-7DFC1FE17FA5}" type="parTrans" cxnId="{B1C70E7D-47C1-47ED-8F81-EF321BB3C85C}">
      <dgm:prSet/>
      <dgm:spPr/>
      <dgm:t>
        <a:bodyPr/>
        <a:lstStyle/>
        <a:p>
          <a:endParaRPr kumimoji="1" lang="ja-JP" altLang="en-US"/>
        </a:p>
      </dgm:t>
    </dgm:pt>
    <dgm:pt modelId="{AC0AA34B-88D6-4F4D-9E2E-BD934404AE58}" type="sibTrans" cxnId="{B1C70E7D-47C1-47ED-8F81-EF321BB3C85C}">
      <dgm:prSet/>
      <dgm:spPr/>
      <dgm:t>
        <a:bodyPr/>
        <a:lstStyle/>
        <a:p>
          <a:endParaRPr kumimoji="1" lang="ja-JP" altLang="en-US"/>
        </a:p>
      </dgm:t>
    </dgm:pt>
    <dgm:pt modelId="{A1873C9F-B0C6-4377-A955-D7D308BFD23F}" type="pres">
      <dgm:prSet presAssocID="{AF4BF4EC-3473-47A9-8885-786677FAE6DA}" presName="linearFlow" presStyleCnt="0">
        <dgm:presLayoutVars>
          <dgm:dir/>
          <dgm:animLvl val="lvl"/>
          <dgm:resizeHandles val="exact"/>
        </dgm:presLayoutVars>
      </dgm:prSet>
      <dgm:spPr/>
      <dgm:t>
        <a:bodyPr/>
        <a:lstStyle/>
        <a:p>
          <a:endParaRPr kumimoji="1" lang="ja-JP" altLang="en-US"/>
        </a:p>
      </dgm:t>
    </dgm:pt>
    <dgm:pt modelId="{F9D30919-18FD-4F27-9475-104FF82AFE81}" type="pres">
      <dgm:prSet presAssocID="{A170C6BB-EEDA-4BAA-95C1-97A024712F50}" presName="composite" presStyleCnt="0"/>
      <dgm:spPr/>
    </dgm:pt>
    <dgm:pt modelId="{2B6FB2D9-0EDC-4B40-A58E-E7A8050144EF}" type="pres">
      <dgm:prSet presAssocID="{A170C6BB-EEDA-4BAA-95C1-97A024712F50}" presName="parTx" presStyleLbl="node1" presStyleIdx="0" presStyleCnt="4">
        <dgm:presLayoutVars>
          <dgm:chMax val="0"/>
          <dgm:chPref val="0"/>
          <dgm:bulletEnabled val="1"/>
        </dgm:presLayoutVars>
      </dgm:prSet>
      <dgm:spPr/>
      <dgm:t>
        <a:bodyPr/>
        <a:lstStyle/>
        <a:p>
          <a:endParaRPr kumimoji="1" lang="ja-JP" altLang="en-US"/>
        </a:p>
      </dgm:t>
    </dgm:pt>
    <dgm:pt modelId="{6D97E872-6288-4066-89F7-8BA23BCA8BDF}" type="pres">
      <dgm:prSet presAssocID="{A170C6BB-EEDA-4BAA-95C1-97A024712F50}" presName="parSh" presStyleLbl="node1" presStyleIdx="0" presStyleCnt="4"/>
      <dgm:spPr/>
      <dgm:t>
        <a:bodyPr/>
        <a:lstStyle/>
        <a:p>
          <a:endParaRPr kumimoji="1" lang="ja-JP" altLang="en-US"/>
        </a:p>
      </dgm:t>
    </dgm:pt>
    <dgm:pt modelId="{EB8C3C9D-8025-4180-8E15-07FDC23D44CD}" type="pres">
      <dgm:prSet presAssocID="{A170C6BB-EEDA-4BAA-95C1-97A024712F50}" presName="desTx" presStyleLbl="fgAcc1" presStyleIdx="0" presStyleCnt="4" custScaleX="128120" custLinFactNeighborX="-5754">
        <dgm:presLayoutVars>
          <dgm:bulletEnabled val="1"/>
        </dgm:presLayoutVars>
      </dgm:prSet>
      <dgm:spPr/>
      <dgm:t>
        <a:bodyPr/>
        <a:lstStyle/>
        <a:p>
          <a:endParaRPr kumimoji="1" lang="ja-JP" altLang="en-US"/>
        </a:p>
      </dgm:t>
    </dgm:pt>
    <dgm:pt modelId="{2319E05D-74B9-46BF-86A0-C9AAF83FB188}" type="pres">
      <dgm:prSet presAssocID="{935D1B39-888E-4AE7-9A95-92A4ED51AD6D}" presName="sibTrans" presStyleLbl="sibTrans2D1" presStyleIdx="0" presStyleCnt="3"/>
      <dgm:spPr/>
      <dgm:t>
        <a:bodyPr/>
        <a:lstStyle/>
        <a:p>
          <a:endParaRPr kumimoji="1" lang="ja-JP" altLang="en-US"/>
        </a:p>
      </dgm:t>
    </dgm:pt>
    <dgm:pt modelId="{90494B91-69A2-4589-9E17-60468BAADD9C}" type="pres">
      <dgm:prSet presAssocID="{935D1B39-888E-4AE7-9A95-92A4ED51AD6D}" presName="connTx" presStyleLbl="sibTrans2D1" presStyleIdx="0" presStyleCnt="3"/>
      <dgm:spPr/>
      <dgm:t>
        <a:bodyPr/>
        <a:lstStyle/>
        <a:p>
          <a:endParaRPr kumimoji="1" lang="ja-JP" altLang="en-US"/>
        </a:p>
      </dgm:t>
    </dgm:pt>
    <dgm:pt modelId="{4AC4B9B5-3F55-42E2-B239-92A3169D2511}" type="pres">
      <dgm:prSet presAssocID="{2B587B32-5B2D-49D7-AADF-73157D137B31}" presName="composite" presStyleCnt="0"/>
      <dgm:spPr/>
    </dgm:pt>
    <dgm:pt modelId="{2AC8728F-F808-47ED-8569-3290A468846E}" type="pres">
      <dgm:prSet presAssocID="{2B587B32-5B2D-49D7-AADF-73157D137B31}" presName="parTx" presStyleLbl="node1" presStyleIdx="0" presStyleCnt="4">
        <dgm:presLayoutVars>
          <dgm:chMax val="0"/>
          <dgm:chPref val="0"/>
          <dgm:bulletEnabled val="1"/>
        </dgm:presLayoutVars>
      </dgm:prSet>
      <dgm:spPr/>
      <dgm:t>
        <a:bodyPr/>
        <a:lstStyle/>
        <a:p>
          <a:endParaRPr kumimoji="1" lang="ja-JP" altLang="en-US"/>
        </a:p>
      </dgm:t>
    </dgm:pt>
    <dgm:pt modelId="{C8ACE034-3EB7-4AF9-AA18-447D599B0DB8}" type="pres">
      <dgm:prSet presAssocID="{2B587B32-5B2D-49D7-AADF-73157D137B31}" presName="parSh" presStyleLbl="node1" presStyleIdx="1" presStyleCnt="4"/>
      <dgm:spPr/>
      <dgm:t>
        <a:bodyPr/>
        <a:lstStyle/>
        <a:p>
          <a:endParaRPr kumimoji="1" lang="ja-JP" altLang="en-US"/>
        </a:p>
      </dgm:t>
    </dgm:pt>
    <dgm:pt modelId="{BF598845-A9B7-43F4-A735-95EFDD391E7C}" type="pres">
      <dgm:prSet presAssocID="{2B587B32-5B2D-49D7-AADF-73157D137B31}" presName="desTx" presStyleLbl="fgAcc1" presStyleIdx="1" presStyleCnt="4" custScaleX="128120" custLinFactNeighborX="-17097">
        <dgm:presLayoutVars>
          <dgm:bulletEnabled val="1"/>
        </dgm:presLayoutVars>
      </dgm:prSet>
      <dgm:spPr/>
      <dgm:t>
        <a:bodyPr/>
        <a:lstStyle/>
        <a:p>
          <a:endParaRPr kumimoji="1" lang="ja-JP" altLang="en-US"/>
        </a:p>
      </dgm:t>
    </dgm:pt>
    <dgm:pt modelId="{52BB6DF9-3AD9-49D2-9558-1A6303270B2E}" type="pres">
      <dgm:prSet presAssocID="{DEB67A7C-6E1F-4E0B-93CC-3537E3544FAD}" presName="sibTrans" presStyleLbl="sibTrans2D1" presStyleIdx="1" presStyleCnt="3"/>
      <dgm:spPr/>
      <dgm:t>
        <a:bodyPr/>
        <a:lstStyle/>
        <a:p>
          <a:endParaRPr kumimoji="1" lang="ja-JP" altLang="en-US"/>
        </a:p>
      </dgm:t>
    </dgm:pt>
    <dgm:pt modelId="{360F41C2-5278-4F07-A945-D79FB67EC2F1}" type="pres">
      <dgm:prSet presAssocID="{DEB67A7C-6E1F-4E0B-93CC-3537E3544FAD}" presName="connTx" presStyleLbl="sibTrans2D1" presStyleIdx="1" presStyleCnt="3"/>
      <dgm:spPr/>
      <dgm:t>
        <a:bodyPr/>
        <a:lstStyle/>
        <a:p>
          <a:endParaRPr kumimoji="1" lang="ja-JP" altLang="en-US"/>
        </a:p>
      </dgm:t>
    </dgm:pt>
    <dgm:pt modelId="{78FE0181-37DC-4C49-B357-FB45EA98C772}" type="pres">
      <dgm:prSet presAssocID="{04D062BF-5A02-408E-8F0A-7A202A91A3D2}" presName="composite" presStyleCnt="0"/>
      <dgm:spPr/>
    </dgm:pt>
    <dgm:pt modelId="{D9F83409-124C-4FF1-87DD-B0001CFA7106}" type="pres">
      <dgm:prSet presAssocID="{04D062BF-5A02-408E-8F0A-7A202A91A3D2}" presName="parTx" presStyleLbl="node1" presStyleIdx="1" presStyleCnt="4">
        <dgm:presLayoutVars>
          <dgm:chMax val="0"/>
          <dgm:chPref val="0"/>
          <dgm:bulletEnabled val="1"/>
        </dgm:presLayoutVars>
      </dgm:prSet>
      <dgm:spPr/>
      <dgm:t>
        <a:bodyPr/>
        <a:lstStyle/>
        <a:p>
          <a:endParaRPr kumimoji="1" lang="ja-JP" altLang="en-US"/>
        </a:p>
      </dgm:t>
    </dgm:pt>
    <dgm:pt modelId="{9B350709-5BD3-4A42-AD8D-B8E31933BE59}" type="pres">
      <dgm:prSet presAssocID="{04D062BF-5A02-408E-8F0A-7A202A91A3D2}" presName="parSh" presStyleLbl="node1" presStyleIdx="2" presStyleCnt="4"/>
      <dgm:spPr/>
      <dgm:t>
        <a:bodyPr/>
        <a:lstStyle/>
        <a:p>
          <a:endParaRPr kumimoji="1" lang="ja-JP" altLang="en-US"/>
        </a:p>
      </dgm:t>
    </dgm:pt>
    <dgm:pt modelId="{6BF6C3DB-AB1A-4DF9-8400-DBDFC6173B4F}" type="pres">
      <dgm:prSet presAssocID="{04D062BF-5A02-408E-8F0A-7A202A91A3D2}" presName="desTx" presStyleLbl="fgAcc1" presStyleIdx="2" presStyleCnt="4" custScaleX="128120" custLinFactNeighborX="-21172">
        <dgm:presLayoutVars>
          <dgm:bulletEnabled val="1"/>
        </dgm:presLayoutVars>
      </dgm:prSet>
      <dgm:spPr/>
      <dgm:t>
        <a:bodyPr/>
        <a:lstStyle/>
        <a:p>
          <a:endParaRPr kumimoji="1" lang="ja-JP" altLang="en-US"/>
        </a:p>
      </dgm:t>
    </dgm:pt>
    <dgm:pt modelId="{ACC0FF23-FE90-4DBB-854C-D58737EF19AD}" type="pres">
      <dgm:prSet presAssocID="{F4258284-7D87-4F82-8934-B729412B8F35}" presName="sibTrans" presStyleLbl="sibTrans2D1" presStyleIdx="2" presStyleCnt="3"/>
      <dgm:spPr/>
      <dgm:t>
        <a:bodyPr/>
        <a:lstStyle/>
        <a:p>
          <a:endParaRPr kumimoji="1" lang="ja-JP" altLang="en-US"/>
        </a:p>
      </dgm:t>
    </dgm:pt>
    <dgm:pt modelId="{85621C25-D244-468B-8F64-0410F6E8612B}" type="pres">
      <dgm:prSet presAssocID="{F4258284-7D87-4F82-8934-B729412B8F35}" presName="connTx" presStyleLbl="sibTrans2D1" presStyleIdx="2" presStyleCnt="3"/>
      <dgm:spPr/>
      <dgm:t>
        <a:bodyPr/>
        <a:lstStyle/>
        <a:p>
          <a:endParaRPr kumimoji="1" lang="ja-JP" altLang="en-US"/>
        </a:p>
      </dgm:t>
    </dgm:pt>
    <dgm:pt modelId="{8D6A8EF2-C07B-45FA-A31F-84D46FD91E3C}" type="pres">
      <dgm:prSet presAssocID="{0D187B8A-1DB0-4296-85F3-1BF8CC75E0D8}" presName="composite" presStyleCnt="0"/>
      <dgm:spPr/>
    </dgm:pt>
    <dgm:pt modelId="{7705AF8E-D50E-4856-B34E-725228A9CB28}" type="pres">
      <dgm:prSet presAssocID="{0D187B8A-1DB0-4296-85F3-1BF8CC75E0D8}" presName="parTx" presStyleLbl="node1" presStyleIdx="2" presStyleCnt="4">
        <dgm:presLayoutVars>
          <dgm:chMax val="0"/>
          <dgm:chPref val="0"/>
          <dgm:bulletEnabled val="1"/>
        </dgm:presLayoutVars>
      </dgm:prSet>
      <dgm:spPr/>
      <dgm:t>
        <a:bodyPr/>
        <a:lstStyle/>
        <a:p>
          <a:endParaRPr kumimoji="1" lang="ja-JP" altLang="en-US"/>
        </a:p>
      </dgm:t>
    </dgm:pt>
    <dgm:pt modelId="{DCB32CA0-4AC4-4CEB-8BFB-82CC764378D6}" type="pres">
      <dgm:prSet presAssocID="{0D187B8A-1DB0-4296-85F3-1BF8CC75E0D8}" presName="parSh" presStyleLbl="node1" presStyleIdx="3" presStyleCnt="4"/>
      <dgm:spPr/>
      <dgm:t>
        <a:bodyPr/>
        <a:lstStyle/>
        <a:p>
          <a:endParaRPr kumimoji="1" lang="ja-JP" altLang="en-US"/>
        </a:p>
      </dgm:t>
    </dgm:pt>
    <dgm:pt modelId="{140B46BA-3465-4DFA-A3A5-E97DF10C727F}" type="pres">
      <dgm:prSet presAssocID="{0D187B8A-1DB0-4296-85F3-1BF8CC75E0D8}" presName="desTx" presStyleLbl="fgAcc1" presStyleIdx="3" presStyleCnt="4" custScaleX="128120" custLinFactNeighborX="-15762">
        <dgm:presLayoutVars>
          <dgm:bulletEnabled val="1"/>
        </dgm:presLayoutVars>
      </dgm:prSet>
      <dgm:spPr/>
      <dgm:t>
        <a:bodyPr/>
        <a:lstStyle/>
        <a:p>
          <a:endParaRPr kumimoji="1" lang="ja-JP" altLang="en-US"/>
        </a:p>
      </dgm:t>
    </dgm:pt>
  </dgm:ptLst>
  <dgm:cxnLst>
    <dgm:cxn modelId="{D27800F1-F090-4A85-99FB-04D918B82A9F}" type="presOf" srcId="{B4DBD82E-8A6A-4D79-A8A4-D538D9860F9C}" destId="{BF598845-A9B7-43F4-A735-95EFDD391E7C}" srcOrd="0" destOrd="0" presId="urn:microsoft.com/office/officeart/2005/8/layout/process3"/>
    <dgm:cxn modelId="{7097A483-AE2C-41C5-952C-F1F1FA7DDAEE}" type="presOf" srcId="{A95C946C-60F4-4111-83ED-17720E8A8751}" destId="{EB8C3C9D-8025-4180-8E15-07FDC23D44CD}" srcOrd="0" destOrd="0" presId="urn:microsoft.com/office/officeart/2005/8/layout/process3"/>
    <dgm:cxn modelId="{6D5C99B5-8229-4356-86C9-1A21C71B97F6}" type="presOf" srcId="{935D1B39-888E-4AE7-9A95-92A4ED51AD6D}" destId="{2319E05D-74B9-46BF-86A0-C9AAF83FB188}" srcOrd="0" destOrd="0" presId="urn:microsoft.com/office/officeart/2005/8/layout/process3"/>
    <dgm:cxn modelId="{FC826A2C-3415-48A0-9B16-6AED22847093}" srcId="{AF4BF4EC-3473-47A9-8885-786677FAE6DA}" destId="{2B587B32-5B2D-49D7-AADF-73157D137B31}" srcOrd="1" destOrd="0" parTransId="{021F3D00-BF1F-4113-BCF4-CA003C6DE1E3}" sibTransId="{DEB67A7C-6E1F-4E0B-93CC-3537E3544FAD}"/>
    <dgm:cxn modelId="{B1C70E7D-47C1-47ED-8F81-EF321BB3C85C}" srcId="{0D187B8A-1DB0-4296-85F3-1BF8CC75E0D8}" destId="{1FF98F94-9659-48DF-9E5E-C91E7025C04E}" srcOrd="1" destOrd="0" parTransId="{2FD5F70B-2C6E-4894-A43C-7DFC1FE17FA5}" sibTransId="{AC0AA34B-88D6-4F4D-9E2E-BD934404AE58}"/>
    <dgm:cxn modelId="{55596A84-D795-4F01-908C-C5686A341A5F}" type="presOf" srcId="{B2F1D79B-AA38-4D19-9715-73F98F19C378}" destId="{140B46BA-3465-4DFA-A3A5-E97DF10C727F}" srcOrd="0" destOrd="0" presId="urn:microsoft.com/office/officeart/2005/8/layout/process3"/>
    <dgm:cxn modelId="{589EA039-F6DC-4981-AC94-F3A5101D5574}" type="presOf" srcId="{F4258284-7D87-4F82-8934-B729412B8F35}" destId="{ACC0FF23-FE90-4DBB-854C-D58737EF19AD}" srcOrd="0" destOrd="0" presId="urn:microsoft.com/office/officeart/2005/8/layout/process3"/>
    <dgm:cxn modelId="{230EB3C0-BB72-49E7-B213-744BA5429FA6}" type="presOf" srcId="{DEB67A7C-6E1F-4E0B-93CC-3537E3544FAD}" destId="{360F41C2-5278-4F07-A945-D79FB67EC2F1}" srcOrd="1" destOrd="0" presId="urn:microsoft.com/office/officeart/2005/8/layout/process3"/>
    <dgm:cxn modelId="{0072FB69-D908-4FA2-94AF-3990CC909482}" type="presOf" srcId="{04D062BF-5A02-408E-8F0A-7A202A91A3D2}" destId="{D9F83409-124C-4FF1-87DD-B0001CFA7106}" srcOrd="0" destOrd="0" presId="urn:microsoft.com/office/officeart/2005/8/layout/process3"/>
    <dgm:cxn modelId="{1254786A-0E9E-447E-896E-715A8A5DBA0D}" srcId="{A170C6BB-EEDA-4BAA-95C1-97A024712F50}" destId="{D958759D-6EA9-436F-B489-F968788D1537}" srcOrd="1" destOrd="0" parTransId="{00AB1501-2376-48BA-914D-346EFCE03B54}" sibTransId="{1DC4F134-EC44-40B4-82C8-E1AF02EC7037}"/>
    <dgm:cxn modelId="{BABFCB21-8416-44CB-A399-FF2B34FFA766}" type="presOf" srcId="{2B587B32-5B2D-49D7-AADF-73157D137B31}" destId="{2AC8728F-F808-47ED-8569-3290A468846E}" srcOrd="0" destOrd="0" presId="urn:microsoft.com/office/officeart/2005/8/layout/process3"/>
    <dgm:cxn modelId="{156456D3-AE1E-4AB0-A141-9900EB359115}" type="presOf" srcId="{01AC8930-770A-4AC1-A923-8CD6707F2504}" destId="{6BF6C3DB-AB1A-4DF9-8400-DBDFC6173B4F}" srcOrd="0" destOrd="1" presId="urn:microsoft.com/office/officeart/2005/8/layout/process3"/>
    <dgm:cxn modelId="{7F80FCBF-C473-40D2-9478-57E5CB3EA114}" srcId="{A170C6BB-EEDA-4BAA-95C1-97A024712F50}" destId="{A95C946C-60F4-4111-83ED-17720E8A8751}" srcOrd="0" destOrd="0" parTransId="{E063B1A8-46F1-40C8-86DC-74AD6C0D504E}" sibTransId="{B9C4A5A4-7EFF-4C58-8E38-8BDEBF906C9D}"/>
    <dgm:cxn modelId="{522C469E-4208-43E3-AF12-4C687807EFBA}" type="presOf" srcId="{A170C6BB-EEDA-4BAA-95C1-97A024712F50}" destId="{6D97E872-6288-4066-89F7-8BA23BCA8BDF}" srcOrd="1" destOrd="0" presId="urn:microsoft.com/office/officeart/2005/8/layout/process3"/>
    <dgm:cxn modelId="{9E1DECA0-77BD-4786-88EE-D46508C0BD17}" srcId="{2B587B32-5B2D-49D7-AADF-73157D137B31}" destId="{0E99578E-6925-4BD5-9995-A1D0BF951516}" srcOrd="1" destOrd="0" parTransId="{679EB802-D291-4414-B301-96F7EA2F58F1}" sibTransId="{69A19539-9A80-45F5-8C27-B2C1D0B41510}"/>
    <dgm:cxn modelId="{D6EF8FD2-DA40-4D52-81EE-AC4FDCAD9FFB}" srcId="{2B587B32-5B2D-49D7-AADF-73157D137B31}" destId="{B4DBD82E-8A6A-4D79-A8A4-D538D9860F9C}" srcOrd="0" destOrd="0" parTransId="{423E3D58-ED2C-460E-84D8-B5124135D74B}" sibTransId="{A64BBBF3-62BF-4D8B-BC46-EE6FFD7DA931}"/>
    <dgm:cxn modelId="{89AA4FFD-12B8-44F1-AEF9-4958660233DE}" type="presOf" srcId="{AF4BF4EC-3473-47A9-8885-786677FAE6DA}" destId="{A1873C9F-B0C6-4377-A955-D7D308BFD23F}" srcOrd="0" destOrd="0" presId="urn:microsoft.com/office/officeart/2005/8/layout/process3"/>
    <dgm:cxn modelId="{D87DBF09-E9FF-4878-AFC8-A3E7D77D56EF}" type="presOf" srcId="{DEB67A7C-6E1F-4E0B-93CC-3537E3544FAD}" destId="{52BB6DF9-3AD9-49D2-9558-1A6303270B2E}" srcOrd="0" destOrd="0" presId="urn:microsoft.com/office/officeart/2005/8/layout/process3"/>
    <dgm:cxn modelId="{D1FD8BD2-9E87-4035-8D81-B050BF441F12}" type="presOf" srcId="{0D187B8A-1DB0-4296-85F3-1BF8CC75E0D8}" destId="{DCB32CA0-4AC4-4CEB-8BFB-82CC764378D6}" srcOrd="1" destOrd="0" presId="urn:microsoft.com/office/officeart/2005/8/layout/process3"/>
    <dgm:cxn modelId="{9F9A4C0A-EF06-42BD-8E41-32773B161990}" srcId="{AF4BF4EC-3473-47A9-8885-786677FAE6DA}" destId="{A170C6BB-EEDA-4BAA-95C1-97A024712F50}" srcOrd="0" destOrd="0" parTransId="{748FD800-30A5-493B-A365-CDAA04BEAAD6}" sibTransId="{935D1B39-888E-4AE7-9A95-92A4ED51AD6D}"/>
    <dgm:cxn modelId="{3591ABFF-6C47-40DD-896E-EE5F84608468}" srcId="{04D062BF-5A02-408E-8F0A-7A202A91A3D2}" destId="{01AC8930-770A-4AC1-A923-8CD6707F2504}" srcOrd="1" destOrd="0" parTransId="{C3C51D13-4B07-46CC-BD29-D864B099BBCB}" sibTransId="{8D9F44EA-5D25-42CA-A0D6-1AE5C3B21F60}"/>
    <dgm:cxn modelId="{B692A9A9-251F-4C0D-8DAF-77D643373155}" srcId="{04D062BF-5A02-408E-8F0A-7A202A91A3D2}" destId="{5D0C2591-7FA1-4DD7-AEF7-EB2630B30A94}" srcOrd="0" destOrd="0" parTransId="{7F1B8036-F0A2-4BA7-B7B2-9BF0293C7202}" sibTransId="{B00C75C5-CE83-4F44-BB74-D6E9EA6E23B9}"/>
    <dgm:cxn modelId="{F153D938-B96C-4367-B4C2-CA59C649A1F7}" type="presOf" srcId="{2B587B32-5B2D-49D7-AADF-73157D137B31}" destId="{C8ACE034-3EB7-4AF9-AA18-447D599B0DB8}" srcOrd="1" destOrd="0" presId="urn:microsoft.com/office/officeart/2005/8/layout/process3"/>
    <dgm:cxn modelId="{DBBC0CB0-B40B-44C0-A5F1-9EDD6F1E93FF}" type="presOf" srcId="{04D062BF-5A02-408E-8F0A-7A202A91A3D2}" destId="{9B350709-5BD3-4A42-AD8D-B8E31933BE59}" srcOrd="1" destOrd="0" presId="urn:microsoft.com/office/officeart/2005/8/layout/process3"/>
    <dgm:cxn modelId="{575F0B83-BDCE-4069-99C2-79978BB5930C}" type="presOf" srcId="{5D0C2591-7FA1-4DD7-AEF7-EB2630B30A94}" destId="{6BF6C3DB-AB1A-4DF9-8400-DBDFC6173B4F}" srcOrd="0" destOrd="0" presId="urn:microsoft.com/office/officeart/2005/8/layout/process3"/>
    <dgm:cxn modelId="{693C9785-8BF8-4775-BDD8-C85FCCA459EF}" type="presOf" srcId="{0E99578E-6925-4BD5-9995-A1D0BF951516}" destId="{BF598845-A9B7-43F4-A735-95EFDD391E7C}" srcOrd="0" destOrd="1" presId="urn:microsoft.com/office/officeart/2005/8/layout/process3"/>
    <dgm:cxn modelId="{1DB523DF-5D87-4C17-9283-79DEE91B6421}" srcId="{AF4BF4EC-3473-47A9-8885-786677FAE6DA}" destId="{0D187B8A-1DB0-4296-85F3-1BF8CC75E0D8}" srcOrd="3" destOrd="0" parTransId="{BF40382E-F418-4C61-A154-672343A5C97B}" sibTransId="{D06CD55A-A1C0-4509-9838-09F6E86A01C8}"/>
    <dgm:cxn modelId="{28F1AC35-6247-4405-BA45-0B8088659DCF}" type="presOf" srcId="{1FF98F94-9659-48DF-9E5E-C91E7025C04E}" destId="{140B46BA-3465-4DFA-A3A5-E97DF10C727F}" srcOrd="0" destOrd="1" presId="urn:microsoft.com/office/officeart/2005/8/layout/process3"/>
    <dgm:cxn modelId="{2B4CC3EE-150B-4CB1-B52E-55BCC759DC6D}" type="presOf" srcId="{D958759D-6EA9-436F-B489-F968788D1537}" destId="{EB8C3C9D-8025-4180-8E15-07FDC23D44CD}" srcOrd="0" destOrd="1" presId="urn:microsoft.com/office/officeart/2005/8/layout/process3"/>
    <dgm:cxn modelId="{435F8FF5-FB0F-45BB-95F0-DE47CF79D605}" type="presOf" srcId="{A170C6BB-EEDA-4BAA-95C1-97A024712F50}" destId="{2B6FB2D9-0EDC-4B40-A58E-E7A8050144EF}" srcOrd="0" destOrd="0" presId="urn:microsoft.com/office/officeart/2005/8/layout/process3"/>
    <dgm:cxn modelId="{17907FD8-CBB8-46E2-A1AE-361F7F0938AC}" type="presOf" srcId="{0D187B8A-1DB0-4296-85F3-1BF8CC75E0D8}" destId="{7705AF8E-D50E-4856-B34E-725228A9CB28}" srcOrd="0" destOrd="0" presId="urn:microsoft.com/office/officeart/2005/8/layout/process3"/>
    <dgm:cxn modelId="{B474D27B-C0DC-4B5B-B6EB-35561E248EA2}" type="presOf" srcId="{935D1B39-888E-4AE7-9A95-92A4ED51AD6D}" destId="{90494B91-69A2-4589-9E17-60468BAADD9C}" srcOrd="1" destOrd="0" presId="urn:microsoft.com/office/officeart/2005/8/layout/process3"/>
    <dgm:cxn modelId="{A6EDB83B-4139-41DD-A20B-B3B05DF324F0}" type="presOf" srcId="{F4258284-7D87-4F82-8934-B729412B8F35}" destId="{85621C25-D244-468B-8F64-0410F6E8612B}" srcOrd="1" destOrd="0" presId="urn:microsoft.com/office/officeart/2005/8/layout/process3"/>
    <dgm:cxn modelId="{842D8AB8-D3A3-467F-8245-84EDA1A7D6E4}" srcId="{AF4BF4EC-3473-47A9-8885-786677FAE6DA}" destId="{04D062BF-5A02-408E-8F0A-7A202A91A3D2}" srcOrd="2" destOrd="0" parTransId="{B9E652F3-F5E6-4978-9BD4-A1D07556A688}" sibTransId="{F4258284-7D87-4F82-8934-B729412B8F35}"/>
    <dgm:cxn modelId="{5C632980-3F62-4CD5-9DCA-6F8672281F96}" srcId="{0D187B8A-1DB0-4296-85F3-1BF8CC75E0D8}" destId="{B2F1D79B-AA38-4D19-9715-73F98F19C378}" srcOrd="0" destOrd="0" parTransId="{35A6A2F9-5D22-463B-9EC5-E71FBD17CA37}" sibTransId="{0203E60C-3064-4BC4-82C4-219CCA001578}"/>
    <dgm:cxn modelId="{6FC77A42-56BB-4AB7-8DFC-094A69832955}" type="presParOf" srcId="{A1873C9F-B0C6-4377-A955-D7D308BFD23F}" destId="{F9D30919-18FD-4F27-9475-104FF82AFE81}" srcOrd="0" destOrd="0" presId="urn:microsoft.com/office/officeart/2005/8/layout/process3"/>
    <dgm:cxn modelId="{2E50803F-48F1-4F84-9446-0DF3BE7359CA}" type="presParOf" srcId="{F9D30919-18FD-4F27-9475-104FF82AFE81}" destId="{2B6FB2D9-0EDC-4B40-A58E-E7A8050144EF}" srcOrd="0" destOrd="0" presId="urn:microsoft.com/office/officeart/2005/8/layout/process3"/>
    <dgm:cxn modelId="{87A935C5-8AFC-4730-998D-DBAB457CD78B}" type="presParOf" srcId="{F9D30919-18FD-4F27-9475-104FF82AFE81}" destId="{6D97E872-6288-4066-89F7-8BA23BCA8BDF}" srcOrd="1" destOrd="0" presId="urn:microsoft.com/office/officeart/2005/8/layout/process3"/>
    <dgm:cxn modelId="{EA7F6F52-D2A4-4BB8-BC2C-84F4429CAF55}" type="presParOf" srcId="{F9D30919-18FD-4F27-9475-104FF82AFE81}" destId="{EB8C3C9D-8025-4180-8E15-07FDC23D44CD}" srcOrd="2" destOrd="0" presId="urn:microsoft.com/office/officeart/2005/8/layout/process3"/>
    <dgm:cxn modelId="{B19353FF-2053-4AF2-95E2-87A1B84AB012}" type="presParOf" srcId="{A1873C9F-B0C6-4377-A955-D7D308BFD23F}" destId="{2319E05D-74B9-46BF-86A0-C9AAF83FB188}" srcOrd="1" destOrd="0" presId="urn:microsoft.com/office/officeart/2005/8/layout/process3"/>
    <dgm:cxn modelId="{4F876FC0-AFAE-4541-AC28-EAEE335A754F}" type="presParOf" srcId="{2319E05D-74B9-46BF-86A0-C9AAF83FB188}" destId="{90494B91-69A2-4589-9E17-60468BAADD9C}" srcOrd="0" destOrd="0" presId="urn:microsoft.com/office/officeart/2005/8/layout/process3"/>
    <dgm:cxn modelId="{7223227B-719E-4C0E-B394-EE822EE1257E}" type="presParOf" srcId="{A1873C9F-B0C6-4377-A955-D7D308BFD23F}" destId="{4AC4B9B5-3F55-42E2-B239-92A3169D2511}" srcOrd="2" destOrd="0" presId="urn:microsoft.com/office/officeart/2005/8/layout/process3"/>
    <dgm:cxn modelId="{1D18A422-F090-4639-9428-356B5049A574}" type="presParOf" srcId="{4AC4B9B5-3F55-42E2-B239-92A3169D2511}" destId="{2AC8728F-F808-47ED-8569-3290A468846E}" srcOrd="0" destOrd="0" presId="urn:microsoft.com/office/officeart/2005/8/layout/process3"/>
    <dgm:cxn modelId="{52383BC4-2BA8-422C-BA73-42C3211CE966}" type="presParOf" srcId="{4AC4B9B5-3F55-42E2-B239-92A3169D2511}" destId="{C8ACE034-3EB7-4AF9-AA18-447D599B0DB8}" srcOrd="1" destOrd="0" presId="urn:microsoft.com/office/officeart/2005/8/layout/process3"/>
    <dgm:cxn modelId="{6A170BBF-77D4-4487-86E8-D64239847F7F}" type="presParOf" srcId="{4AC4B9B5-3F55-42E2-B239-92A3169D2511}" destId="{BF598845-A9B7-43F4-A735-95EFDD391E7C}" srcOrd="2" destOrd="0" presId="urn:microsoft.com/office/officeart/2005/8/layout/process3"/>
    <dgm:cxn modelId="{9F15DC86-6767-4E9F-AC28-043BB7F003D5}" type="presParOf" srcId="{A1873C9F-B0C6-4377-A955-D7D308BFD23F}" destId="{52BB6DF9-3AD9-49D2-9558-1A6303270B2E}" srcOrd="3" destOrd="0" presId="urn:microsoft.com/office/officeart/2005/8/layout/process3"/>
    <dgm:cxn modelId="{B882EB87-E389-4F61-B4F9-C64973B8C8BB}" type="presParOf" srcId="{52BB6DF9-3AD9-49D2-9558-1A6303270B2E}" destId="{360F41C2-5278-4F07-A945-D79FB67EC2F1}" srcOrd="0" destOrd="0" presId="urn:microsoft.com/office/officeart/2005/8/layout/process3"/>
    <dgm:cxn modelId="{E1CB47C3-564E-476E-B810-AFB6B6E54CD2}" type="presParOf" srcId="{A1873C9F-B0C6-4377-A955-D7D308BFD23F}" destId="{78FE0181-37DC-4C49-B357-FB45EA98C772}" srcOrd="4" destOrd="0" presId="urn:microsoft.com/office/officeart/2005/8/layout/process3"/>
    <dgm:cxn modelId="{F4ADEA27-B749-40BD-8487-F16926281236}" type="presParOf" srcId="{78FE0181-37DC-4C49-B357-FB45EA98C772}" destId="{D9F83409-124C-4FF1-87DD-B0001CFA7106}" srcOrd="0" destOrd="0" presId="urn:microsoft.com/office/officeart/2005/8/layout/process3"/>
    <dgm:cxn modelId="{0B559EC9-D6F7-4764-AA24-EA31146B4066}" type="presParOf" srcId="{78FE0181-37DC-4C49-B357-FB45EA98C772}" destId="{9B350709-5BD3-4A42-AD8D-B8E31933BE59}" srcOrd="1" destOrd="0" presId="urn:microsoft.com/office/officeart/2005/8/layout/process3"/>
    <dgm:cxn modelId="{5F02A02A-CDCB-4A24-BF07-E3BAD65C42CE}" type="presParOf" srcId="{78FE0181-37DC-4C49-B357-FB45EA98C772}" destId="{6BF6C3DB-AB1A-4DF9-8400-DBDFC6173B4F}" srcOrd="2" destOrd="0" presId="urn:microsoft.com/office/officeart/2005/8/layout/process3"/>
    <dgm:cxn modelId="{815FB7B7-5ECC-4F1E-BDEB-A644EA547A15}" type="presParOf" srcId="{A1873C9F-B0C6-4377-A955-D7D308BFD23F}" destId="{ACC0FF23-FE90-4DBB-854C-D58737EF19AD}" srcOrd="5" destOrd="0" presId="urn:microsoft.com/office/officeart/2005/8/layout/process3"/>
    <dgm:cxn modelId="{F4277E75-AF2B-4F0E-8F81-6B11CC3CDCD5}" type="presParOf" srcId="{ACC0FF23-FE90-4DBB-854C-D58737EF19AD}" destId="{85621C25-D244-468B-8F64-0410F6E8612B}" srcOrd="0" destOrd="0" presId="urn:microsoft.com/office/officeart/2005/8/layout/process3"/>
    <dgm:cxn modelId="{F38D578B-D4C0-4132-84C2-EA75691ABE27}" type="presParOf" srcId="{A1873C9F-B0C6-4377-A955-D7D308BFD23F}" destId="{8D6A8EF2-C07B-45FA-A31F-84D46FD91E3C}" srcOrd="6" destOrd="0" presId="urn:microsoft.com/office/officeart/2005/8/layout/process3"/>
    <dgm:cxn modelId="{8A3277A9-9E46-4CEB-AA85-9B9950B50C39}" type="presParOf" srcId="{8D6A8EF2-C07B-45FA-A31F-84D46FD91E3C}" destId="{7705AF8E-D50E-4856-B34E-725228A9CB28}" srcOrd="0" destOrd="0" presId="urn:microsoft.com/office/officeart/2005/8/layout/process3"/>
    <dgm:cxn modelId="{E6D4B3D5-C629-42C7-AA93-420C65599B8B}" type="presParOf" srcId="{8D6A8EF2-C07B-45FA-A31F-84D46FD91E3C}" destId="{DCB32CA0-4AC4-4CEB-8BFB-82CC764378D6}" srcOrd="1" destOrd="0" presId="urn:microsoft.com/office/officeart/2005/8/layout/process3"/>
    <dgm:cxn modelId="{0ABED452-6620-453F-87A5-97A3B9118EC0}" type="presParOf" srcId="{8D6A8EF2-C07B-45FA-A31F-84D46FD91E3C}" destId="{140B46BA-3465-4DFA-A3A5-E97DF10C727F}"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a:t>
          </a:r>
          <a:r>
            <a:rPr kumimoji="1" lang="en-US" altLang="ja-JP" sz="2800" dirty="0">
              <a:solidFill>
                <a:schemeClr val="tx1"/>
              </a:solidFill>
            </a:rPr>
            <a:t>IATF16949</a:t>
          </a:r>
          <a:r>
            <a:rPr kumimoji="1" lang="ja-JP" altLang="en-US" sz="2800" dirty="0">
              <a:solidFill>
                <a:schemeClr val="tx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lumMod val="40000"/>
            <a:lumOff val="60000"/>
          </a:schemeClr>
        </a:solidFill>
      </dgm:spPr>
      <dgm:t>
        <a:bodyPr/>
        <a:lstStyle/>
        <a:p>
          <a:r>
            <a:rPr kumimoji="1" lang="ja-JP" altLang="en-US" sz="2800" dirty="0">
              <a:solidFill>
                <a:schemeClr val="tx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lumMod val="40000"/>
            <a:lumOff val="60000"/>
          </a:schemeClr>
        </a:solidFill>
      </dgm:spPr>
      <dgm:t>
        <a:bodyPr/>
        <a:lstStyle/>
        <a:p>
          <a:r>
            <a:rPr kumimoji="1" lang="ja-JP" altLang="en-US" sz="2800" dirty="0">
              <a:solidFill>
                <a:schemeClr val="tx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solidFill>
      </dgm:spPr>
      <dgm:t>
        <a:bodyPr/>
        <a:lstStyle/>
        <a:p>
          <a:r>
            <a:rPr kumimoji="1" lang="ja-JP" altLang="en-US" sz="3600" dirty="0">
              <a:solidFill>
                <a:schemeClr val="bg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DB36755-6D93-4ABF-BFB7-DA51FCBD4B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30D544C6-8FC3-47B7-9A69-7FEFAB8A93D9}">
      <dgm:prSet phldrT="[テキスト]" custT="1"/>
      <dgm:spPr>
        <a:solidFill>
          <a:schemeClr val="tx2">
            <a:lumMod val="40000"/>
            <a:lumOff val="60000"/>
          </a:schemeClr>
        </a:solidFill>
      </dgm:spPr>
      <dgm:t>
        <a:bodyPr/>
        <a:lstStyle/>
        <a:p>
          <a:r>
            <a:rPr kumimoji="1" lang="ja-JP" altLang="en-US" sz="2800" dirty="0">
              <a:solidFill>
                <a:schemeClr val="tx1"/>
              </a:solidFill>
            </a:rPr>
            <a:t>１．</a:t>
          </a:r>
          <a:r>
            <a:rPr kumimoji="1" lang="en-US" altLang="ja-JP" sz="2800" dirty="0">
              <a:solidFill>
                <a:schemeClr val="tx1"/>
              </a:solidFill>
            </a:rPr>
            <a:t>IATF16949</a:t>
          </a:r>
          <a:r>
            <a:rPr kumimoji="1" lang="ja-JP" altLang="en-US" sz="2800" dirty="0">
              <a:solidFill>
                <a:schemeClr val="tx1"/>
              </a:solidFill>
            </a:rPr>
            <a:t>とコアツール</a:t>
          </a:r>
        </a:p>
      </dgm:t>
    </dgm:pt>
    <dgm:pt modelId="{F650D2B6-7ED6-4F0F-AE8A-01F805D6ACFB}" type="parTrans" cxnId="{0419AD0C-5932-4E04-B6B3-65AFA067D022}">
      <dgm:prSet/>
      <dgm:spPr/>
      <dgm:t>
        <a:bodyPr/>
        <a:lstStyle/>
        <a:p>
          <a:endParaRPr kumimoji="1" lang="ja-JP" altLang="en-US"/>
        </a:p>
      </dgm:t>
    </dgm:pt>
    <dgm:pt modelId="{CB3294B4-3FC5-4365-A597-9692B793F8B3}" type="sibTrans" cxnId="{0419AD0C-5932-4E04-B6B3-65AFA067D022}">
      <dgm:prSet/>
      <dgm:spPr/>
      <dgm:t>
        <a:bodyPr/>
        <a:lstStyle/>
        <a:p>
          <a:endParaRPr kumimoji="1" lang="ja-JP" altLang="en-US"/>
        </a:p>
      </dgm:t>
    </dgm:pt>
    <dgm:pt modelId="{EE78FAFE-4716-4EC2-8352-CC1C86A33DC7}">
      <dgm:prSet phldrT="[テキスト]" custT="1"/>
      <dgm:spPr>
        <a:solidFill>
          <a:schemeClr val="tx2">
            <a:lumMod val="40000"/>
            <a:lumOff val="60000"/>
          </a:schemeClr>
        </a:solidFill>
      </dgm:spPr>
      <dgm:t>
        <a:bodyPr/>
        <a:lstStyle/>
        <a:p>
          <a:r>
            <a:rPr kumimoji="1" lang="ja-JP" altLang="en-US" sz="2800" dirty="0">
              <a:solidFill>
                <a:schemeClr val="tx1"/>
              </a:solidFill>
            </a:rPr>
            <a:t>２．ＡＰＱＰ（先行製品品質計画）</a:t>
          </a:r>
        </a:p>
      </dgm:t>
    </dgm:pt>
    <dgm:pt modelId="{DB3C7E64-3401-454B-BEBB-3EFF4BD3DA72}" type="parTrans" cxnId="{AEA931E7-15AD-4A79-9E49-1965B0D0C3F6}">
      <dgm:prSet/>
      <dgm:spPr/>
      <dgm:t>
        <a:bodyPr/>
        <a:lstStyle/>
        <a:p>
          <a:endParaRPr kumimoji="1" lang="ja-JP" altLang="en-US"/>
        </a:p>
      </dgm:t>
    </dgm:pt>
    <dgm:pt modelId="{954A972B-B4DD-4E7A-B001-1E4749E283F4}" type="sibTrans" cxnId="{AEA931E7-15AD-4A79-9E49-1965B0D0C3F6}">
      <dgm:prSet/>
      <dgm:spPr/>
      <dgm:t>
        <a:bodyPr/>
        <a:lstStyle/>
        <a:p>
          <a:endParaRPr kumimoji="1" lang="ja-JP" altLang="en-US"/>
        </a:p>
      </dgm:t>
    </dgm:pt>
    <dgm:pt modelId="{F807B01F-9F5D-43F4-AF79-C097B35FD0E3}">
      <dgm:prSet phldrT="[テキスト]" custT="1"/>
      <dgm:spPr>
        <a:solidFill>
          <a:schemeClr val="tx2">
            <a:lumMod val="40000"/>
            <a:lumOff val="60000"/>
          </a:schemeClr>
        </a:solidFill>
      </dgm:spPr>
      <dgm:t>
        <a:bodyPr/>
        <a:lstStyle/>
        <a:p>
          <a:r>
            <a:rPr kumimoji="1" lang="ja-JP" altLang="en-US" sz="2800" dirty="0">
              <a:solidFill>
                <a:schemeClr val="tx1"/>
              </a:solidFill>
            </a:rPr>
            <a:t>３．ＰＰＡＰ（生産部品承認プロセス）</a:t>
          </a:r>
        </a:p>
      </dgm:t>
    </dgm:pt>
    <dgm:pt modelId="{48A04A87-5DB1-4DC9-8048-2A08C2312703}" type="parTrans" cxnId="{AE1CF224-9ADC-4457-9D25-4F617F818F23}">
      <dgm:prSet/>
      <dgm:spPr/>
      <dgm:t>
        <a:bodyPr/>
        <a:lstStyle/>
        <a:p>
          <a:endParaRPr kumimoji="1" lang="ja-JP" altLang="en-US"/>
        </a:p>
      </dgm:t>
    </dgm:pt>
    <dgm:pt modelId="{AF1E4E9B-B4A2-43D5-9750-EB07A39E1F65}" type="sibTrans" cxnId="{AE1CF224-9ADC-4457-9D25-4F617F818F23}">
      <dgm:prSet/>
      <dgm:spPr/>
      <dgm:t>
        <a:bodyPr/>
        <a:lstStyle/>
        <a:p>
          <a:endParaRPr kumimoji="1" lang="ja-JP" altLang="en-US"/>
        </a:p>
      </dgm:t>
    </dgm:pt>
    <dgm:pt modelId="{707DEEFB-EB1D-444C-9C56-78B9210A950D}">
      <dgm:prSet phldrT="[テキスト]" custT="1"/>
      <dgm:spPr>
        <a:solidFill>
          <a:schemeClr val="tx2"/>
        </a:solidFill>
      </dgm:spPr>
      <dgm:t>
        <a:bodyPr/>
        <a:lstStyle/>
        <a:p>
          <a:r>
            <a:rPr kumimoji="1" lang="ja-JP" altLang="en-US" sz="3600" dirty="0">
              <a:solidFill>
                <a:schemeClr val="bg1"/>
              </a:solidFill>
            </a:rPr>
            <a:t>６．ＭＳＡ（測定システム解析）</a:t>
          </a:r>
        </a:p>
      </dgm:t>
    </dgm:pt>
    <dgm:pt modelId="{87A80CAE-1318-449F-AB48-4BBB56EA8B6E}" type="parTrans" cxnId="{88F3D6CA-5716-4872-B37C-C69BCAAB62E1}">
      <dgm:prSet/>
      <dgm:spPr/>
      <dgm:t>
        <a:bodyPr/>
        <a:lstStyle/>
        <a:p>
          <a:endParaRPr kumimoji="1" lang="ja-JP" altLang="en-US"/>
        </a:p>
      </dgm:t>
    </dgm:pt>
    <dgm:pt modelId="{0D0839CE-C7D0-4D81-A75D-06E4391D7132}" type="sibTrans" cxnId="{88F3D6CA-5716-4872-B37C-C69BCAAB62E1}">
      <dgm:prSet/>
      <dgm:spPr/>
      <dgm:t>
        <a:bodyPr/>
        <a:lstStyle/>
        <a:p>
          <a:endParaRPr kumimoji="1" lang="ja-JP" altLang="en-US"/>
        </a:p>
      </dgm:t>
    </dgm:pt>
    <dgm:pt modelId="{7F9F9599-0917-4439-8BC2-38EFA9FAC925}">
      <dgm:prSet phldrT="[テキスト]" custT="1"/>
      <dgm:spPr>
        <a:solidFill>
          <a:schemeClr val="tx2">
            <a:lumMod val="40000"/>
            <a:lumOff val="60000"/>
          </a:schemeClr>
        </a:solidFill>
      </dgm:spPr>
      <dgm:t>
        <a:bodyPr/>
        <a:lstStyle/>
        <a:p>
          <a:r>
            <a:rPr kumimoji="1" lang="ja-JP" altLang="en-US" sz="2800" dirty="0">
              <a:solidFill>
                <a:schemeClr val="tx1"/>
              </a:solidFill>
            </a:rPr>
            <a:t>４．ＦＭＥＡ（潜在的故障モード影響解析）</a:t>
          </a:r>
        </a:p>
      </dgm:t>
    </dgm:pt>
    <dgm:pt modelId="{524511BA-B8DA-4049-85A5-26714ED532C2}" type="parTrans" cxnId="{7CDC2502-F3B9-4F1A-9E93-9781C4387F3E}">
      <dgm:prSet/>
      <dgm:spPr/>
      <dgm:t>
        <a:bodyPr/>
        <a:lstStyle/>
        <a:p>
          <a:endParaRPr kumimoji="1" lang="ja-JP" altLang="en-US"/>
        </a:p>
      </dgm:t>
    </dgm:pt>
    <dgm:pt modelId="{B1C5FCDC-AAB1-444B-A2C8-0FEDEC4CA22C}" type="sibTrans" cxnId="{7CDC2502-F3B9-4F1A-9E93-9781C4387F3E}">
      <dgm:prSet/>
      <dgm:spPr/>
      <dgm:t>
        <a:bodyPr/>
        <a:lstStyle/>
        <a:p>
          <a:endParaRPr kumimoji="1" lang="ja-JP" altLang="en-US"/>
        </a:p>
      </dgm:t>
    </dgm:pt>
    <dgm:pt modelId="{27D4C3A9-D634-4C02-B7A2-6BDDD5E12333}">
      <dgm:prSet phldrT="[テキスト]" custT="1"/>
      <dgm:spPr>
        <a:solidFill>
          <a:schemeClr val="tx2">
            <a:lumMod val="40000"/>
            <a:lumOff val="60000"/>
          </a:schemeClr>
        </a:solidFill>
      </dgm:spPr>
      <dgm:t>
        <a:bodyPr/>
        <a:lstStyle/>
        <a:p>
          <a:r>
            <a:rPr kumimoji="1" lang="ja-JP" altLang="en-US" sz="2800" dirty="0">
              <a:solidFill>
                <a:schemeClr val="tx1"/>
              </a:solidFill>
            </a:rPr>
            <a:t>５．ＳＰＣ（統計的工程管理）</a:t>
          </a:r>
        </a:p>
      </dgm:t>
    </dgm:pt>
    <dgm:pt modelId="{DD1D56DA-EDB1-4337-913F-223CBF63E9E1}" type="parTrans" cxnId="{7F817904-8C79-4863-B29C-1E6878B8E4ED}">
      <dgm:prSet/>
      <dgm:spPr/>
      <dgm:t>
        <a:bodyPr/>
        <a:lstStyle/>
        <a:p>
          <a:endParaRPr kumimoji="1" lang="ja-JP" altLang="en-US"/>
        </a:p>
      </dgm:t>
    </dgm:pt>
    <dgm:pt modelId="{0585F30A-2ED9-4462-9BDE-9DFD2943EDC9}" type="sibTrans" cxnId="{7F817904-8C79-4863-B29C-1E6878B8E4ED}">
      <dgm:prSet/>
      <dgm:spPr/>
      <dgm:t>
        <a:bodyPr/>
        <a:lstStyle/>
        <a:p>
          <a:endParaRPr kumimoji="1" lang="ja-JP" altLang="en-US"/>
        </a:p>
      </dgm:t>
    </dgm:pt>
    <dgm:pt modelId="{ACA69D7D-9535-49E8-8BD1-5BC69CBE04B4}" type="pres">
      <dgm:prSet presAssocID="{8DB36755-6D93-4ABF-BFB7-DA51FCBD4B9D}" presName="linear" presStyleCnt="0">
        <dgm:presLayoutVars>
          <dgm:animLvl val="lvl"/>
          <dgm:resizeHandles val="exact"/>
        </dgm:presLayoutVars>
      </dgm:prSet>
      <dgm:spPr/>
      <dgm:t>
        <a:bodyPr/>
        <a:lstStyle/>
        <a:p>
          <a:endParaRPr kumimoji="1" lang="ja-JP" altLang="en-US"/>
        </a:p>
      </dgm:t>
    </dgm:pt>
    <dgm:pt modelId="{D8F9AC33-5A69-4D44-A289-6F31A2FF7255}" type="pres">
      <dgm:prSet presAssocID="{30D544C6-8FC3-47B7-9A69-7FEFAB8A93D9}" presName="parentText" presStyleLbl="node1" presStyleIdx="0" presStyleCnt="6">
        <dgm:presLayoutVars>
          <dgm:chMax val="0"/>
          <dgm:bulletEnabled val="1"/>
        </dgm:presLayoutVars>
      </dgm:prSet>
      <dgm:spPr/>
      <dgm:t>
        <a:bodyPr/>
        <a:lstStyle/>
        <a:p>
          <a:endParaRPr kumimoji="1" lang="ja-JP" altLang="en-US"/>
        </a:p>
      </dgm:t>
    </dgm:pt>
    <dgm:pt modelId="{25236759-C1EB-41E1-9CD8-7A81BD7FD3F2}" type="pres">
      <dgm:prSet presAssocID="{CB3294B4-3FC5-4365-A597-9692B793F8B3}" presName="spacer" presStyleCnt="0"/>
      <dgm:spPr/>
    </dgm:pt>
    <dgm:pt modelId="{81830890-C69A-4F20-B0B1-1C237CA135B2}" type="pres">
      <dgm:prSet presAssocID="{EE78FAFE-4716-4EC2-8352-CC1C86A33DC7}" presName="parentText" presStyleLbl="node1" presStyleIdx="1" presStyleCnt="6">
        <dgm:presLayoutVars>
          <dgm:chMax val="0"/>
          <dgm:bulletEnabled val="1"/>
        </dgm:presLayoutVars>
      </dgm:prSet>
      <dgm:spPr/>
      <dgm:t>
        <a:bodyPr/>
        <a:lstStyle/>
        <a:p>
          <a:endParaRPr kumimoji="1" lang="ja-JP" altLang="en-US"/>
        </a:p>
      </dgm:t>
    </dgm:pt>
    <dgm:pt modelId="{1EEBBD7E-58DA-4394-A698-4459DB4FAE14}" type="pres">
      <dgm:prSet presAssocID="{954A972B-B4DD-4E7A-B001-1E4749E283F4}" presName="spacer" presStyleCnt="0"/>
      <dgm:spPr/>
    </dgm:pt>
    <dgm:pt modelId="{65E655FC-AD2B-4464-B659-8288DA5BCAD7}" type="pres">
      <dgm:prSet presAssocID="{F807B01F-9F5D-43F4-AF79-C097B35FD0E3}" presName="parentText" presStyleLbl="node1" presStyleIdx="2" presStyleCnt="6">
        <dgm:presLayoutVars>
          <dgm:chMax val="0"/>
          <dgm:bulletEnabled val="1"/>
        </dgm:presLayoutVars>
      </dgm:prSet>
      <dgm:spPr/>
      <dgm:t>
        <a:bodyPr/>
        <a:lstStyle/>
        <a:p>
          <a:endParaRPr kumimoji="1" lang="ja-JP" altLang="en-US"/>
        </a:p>
      </dgm:t>
    </dgm:pt>
    <dgm:pt modelId="{8B95BCEB-3514-4426-A423-7F4543301DE1}" type="pres">
      <dgm:prSet presAssocID="{AF1E4E9B-B4A2-43D5-9750-EB07A39E1F65}" presName="spacer" presStyleCnt="0"/>
      <dgm:spPr/>
    </dgm:pt>
    <dgm:pt modelId="{E3A56FE4-79EA-4B49-A4ED-62565EF160D0}" type="pres">
      <dgm:prSet presAssocID="{7F9F9599-0917-4439-8BC2-38EFA9FAC925}" presName="parentText" presStyleLbl="node1" presStyleIdx="3" presStyleCnt="6">
        <dgm:presLayoutVars>
          <dgm:chMax val="0"/>
          <dgm:bulletEnabled val="1"/>
        </dgm:presLayoutVars>
      </dgm:prSet>
      <dgm:spPr/>
      <dgm:t>
        <a:bodyPr/>
        <a:lstStyle/>
        <a:p>
          <a:endParaRPr kumimoji="1" lang="ja-JP" altLang="en-US"/>
        </a:p>
      </dgm:t>
    </dgm:pt>
    <dgm:pt modelId="{B78083C0-F978-4CC2-9C1E-64267AF891F6}" type="pres">
      <dgm:prSet presAssocID="{B1C5FCDC-AAB1-444B-A2C8-0FEDEC4CA22C}" presName="spacer" presStyleCnt="0"/>
      <dgm:spPr/>
    </dgm:pt>
    <dgm:pt modelId="{D3F5427D-628A-4877-809F-6AE771E909C6}" type="pres">
      <dgm:prSet presAssocID="{27D4C3A9-D634-4C02-B7A2-6BDDD5E12333}" presName="parentText" presStyleLbl="node1" presStyleIdx="4" presStyleCnt="6">
        <dgm:presLayoutVars>
          <dgm:chMax val="0"/>
          <dgm:bulletEnabled val="1"/>
        </dgm:presLayoutVars>
      </dgm:prSet>
      <dgm:spPr/>
      <dgm:t>
        <a:bodyPr/>
        <a:lstStyle/>
        <a:p>
          <a:endParaRPr kumimoji="1" lang="ja-JP" altLang="en-US"/>
        </a:p>
      </dgm:t>
    </dgm:pt>
    <dgm:pt modelId="{C9530E25-3767-444E-A47E-26D0B8465772}" type="pres">
      <dgm:prSet presAssocID="{0585F30A-2ED9-4462-9BDE-9DFD2943EDC9}" presName="spacer" presStyleCnt="0"/>
      <dgm:spPr/>
    </dgm:pt>
    <dgm:pt modelId="{EA344365-D2E0-4CE9-B2FA-657414E957A5}" type="pres">
      <dgm:prSet presAssocID="{707DEEFB-EB1D-444C-9C56-78B9210A950D}" presName="parentText" presStyleLbl="node1" presStyleIdx="5" presStyleCnt="6">
        <dgm:presLayoutVars>
          <dgm:chMax val="0"/>
          <dgm:bulletEnabled val="1"/>
        </dgm:presLayoutVars>
      </dgm:prSet>
      <dgm:spPr/>
      <dgm:t>
        <a:bodyPr/>
        <a:lstStyle/>
        <a:p>
          <a:endParaRPr kumimoji="1" lang="ja-JP" altLang="en-US"/>
        </a:p>
      </dgm:t>
    </dgm:pt>
  </dgm:ptLst>
  <dgm:cxnLst>
    <dgm:cxn modelId="{DA8FC53D-E610-4014-B008-A609E2C0FAA1}" type="presOf" srcId="{27D4C3A9-D634-4C02-B7A2-6BDDD5E12333}" destId="{D3F5427D-628A-4877-809F-6AE771E909C6}" srcOrd="0" destOrd="0" presId="urn:microsoft.com/office/officeart/2005/8/layout/vList2"/>
    <dgm:cxn modelId="{88F3D6CA-5716-4872-B37C-C69BCAAB62E1}" srcId="{8DB36755-6D93-4ABF-BFB7-DA51FCBD4B9D}" destId="{707DEEFB-EB1D-444C-9C56-78B9210A950D}" srcOrd="5" destOrd="0" parTransId="{87A80CAE-1318-449F-AB48-4BBB56EA8B6E}" sibTransId="{0D0839CE-C7D0-4D81-A75D-06E4391D7132}"/>
    <dgm:cxn modelId="{4F9727C4-B9AA-4668-B560-3548B8E732D0}" type="presOf" srcId="{F807B01F-9F5D-43F4-AF79-C097B35FD0E3}" destId="{65E655FC-AD2B-4464-B659-8288DA5BCAD7}" srcOrd="0" destOrd="0" presId="urn:microsoft.com/office/officeart/2005/8/layout/vList2"/>
    <dgm:cxn modelId="{CE558987-8133-44FC-B13C-0873AE72E350}" type="presOf" srcId="{EE78FAFE-4716-4EC2-8352-CC1C86A33DC7}" destId="{81830890-C69A-4F20-B0B1-1C237CA135B2}" srcOrd="0" destOrd="0" presId="urn:microsoft.com/office/officeart/2005/8/layout/vList2"/>
    <dgm:cxn modelId="{AEA931E7-15AD-4A79-9E49-1965B0D0C3F6}" srcId="{8DB36755-6D93-4ABF-BFB7-DA51FCBD4B9D}" destId="{EE78FAFE-4716-4EC2-8352-CC1C86A33DC7}" srcOrd="1" destOrd="0" parTransId="{DB3C7E64-3401-454B-BEBB-3EFF4BD3DA72}" sibTransId="{954A972B-B4DD-4E7A-B001-1E4749E283F4}"/>
    <dgm:cxn modelId="{3BAC9796-D46E-49ED-BA67-2908CAEA1085}" type="presOf" srcId="{30D544C6-8FC3-47B7-9A69-7FEFAB8A93D9}" destId="{D8F9AC33-5A69-4D44-A289-6F31A2FF7255}" srcOrd="0" destOrd="0" presId="urn:microsoft.com/office/officeart/2005/8/layout/vList2"/>
    <dgm:cxn modelId="{74DD7BBD-D607-45B4-9884-F2BB32C7403B}" type="presOf" srcId="{8DB36755-6D93-4ABF-BFB7-DA51FCBD4B9D}" destId="{ACA69D7D-9535-49E8-8BD1-5BC69CBE04B4}" srcOrd="0" destOrd="0" presId="urn:microsoft.com/office/officeart/2005/8/layout/vList2"/>
    <dgm:cxn modelId="{7A44D703-1469-4D3B-A823-55DB582D5CBE}" type="presOf" srcId="{707DEEFB-EB1D-444C-9C56-78B9210A950D}" destId="{EA344365-D2E0-4CE9-B2FA-657414E957A5}" srcOrd="0" destOrd="0" presId="urn:microsoft.com/office/officeart/2005/8/layout/vList2"/>
    <dgm:cxn modelId="{7CDC2502-F3B9-4F1A-9E93-9781C4387F3E}" srcId="{8DB36755-6D93-4ABF-BFB7-DA51FCBD4B9D}" destId="{7F9F9599-0917-4439-8BC2-38EFA9FAC925}" srcOrd="3" destOrd="0" parTransId="{524511BA-B8DA-4049-85A5-26714ED532C2}" sibTransId="{B1C5FCDC-AAB1-444B-A2C8-0FEDEC4CA22C}"/>
    <dgm:cxn modelId="{AE1CF224-9ADC-4457-9D25-4F617F818F23}" srcId="{8DB36755-6D93-4ABF-BFB7-DA51FCBD4B9D}" destId="{F807B01F-9F5D-43F4-AF79-C097B35FD0E3}" srcOrd="2" destOrd="0" parTransId="{48A04A87-5DB1-4DC9-8048-2A08C2312703}" sibTransId="{AF1E4E9B-B4A2-43D5-9750-EB07A39E1F65}"/>
    <dgm:cxn modelId="{0419AD0C-5932-4E04-B6B3-65AFA067D022}" srcId="{8DB36755-6D93-4ABF-BFB7-DA51FCBD4B9D}" destId="{30D544C6-8FC3-47B7-9A69-7FEFAB8A93D9}" srcOrd="0" destOrd="0" parTransId="{F650D2B6-7ED6-4F0F-AE8A-01F805D6ACFB}" sibTransId="{CB3294B4-3FC5-4365-A597-9692B793F8B3}"/>
    <dgm:cxn modelId="{7F817904-8C79-4863-B29C-1E6878B8E4ED}" srcId="{8DB36755-6D93-4ABF-BFB7-DA51FCBD4B9D}" destId="{27D4C3A9-D634-4C02-B7A2-6BDDD5E12333}" srcOrd="4" destOrd="0" parTransId="{DD1D56DA-EDB1-4337-913F-223CBF63E9E1}" sibTransId="{0585F30A-2ED9-4462-9BDE-9DFD2943EDC9}"/>
    <dgm:cxn modelId="{031CD87B-4EF9-4C43-8859-E1E79833EE81}" type="presOf" srcId="{7F9F9599-0917-4439-8BC2-38EFA9FAC925}" destId="{E3A56FE4-79EA-4B49-A4ED-62565EF160D0}" srcOrd="0" destOrd="0" presId="urn:microsoft.com/office/officeart/2005/8/layout/vList2"/>
    <dgm:cxn modelId="{97286E73-A514-4CF9-B749-DCAC89F8ED80}" type="presParOf" srcId="{ACA69D7D-9535-49E8-8BD1-5BC69CBE04B4}" destId="{D8F9AC33-5A69-4D44-A289-6F31A2FF7255}" srcOrd="0" destOrd="0" presId="urn:microsoft.com/office/officeart/2005/8/layout/vList2"/>
    <dgm:cxn modelId="{C58EE9CE-90D0-4D91-B61B-DBE555C12047}" type="presParOf" srcId="{ACA69D7D-9535-49E8-8BD1-5BC69CBE04B4}" destId="{25236759-C1EB-41E1-9CD8-7A81BD7FD3F2}" srcOrd="1" destOrd="0" presId="urn:microsoft.com/office/officeart/2005/8/layout/vList2"/>
    <dgm:cxn modelId="{93390866-6219-4E07-99F3-04BD50FCBA82}" type="presParOf" srcId="{ACA69D7D-9535-49E8-8BD1-5BC69CBE04B4}" destId="{81830890-C69A-4F20-B0B1-1C237CA135B2}" srcOrd="2" destOrd="0" presId="urn:microsoft.com/office/officeart/2005/8/layout/vList2"/>
    <dgm:cxn modelId="{EE67CA88-3AA5-493C-B460-F5D662B38931}" type="presParOf" srcId="{ACA69D7D-9535-49E8-8BD1-5BC69CBE04B4}" destId="{1EEBBD7E-58DA-4394-A698-4459DB4FAE14}" srcOrd="3" destOrd="0" presId="urn:microsoft.com/office/officeart/2005/8/layout/vList2"/>
    <dgm:cxn modelId="{ED3038B1-E78D-4A08-9FD6-A71FB16BD3B5}" type="presParOf" srcId="{ACA69D7D-9535-49E8-8BD1-5BC69CBE04B4}" destId="{65E655FC-AD2B-4464-B659-8288DA5BCAD7}" srcOrd="4" destOrd="0" presId="urn:microsoft.com/office/officeart/2005/8/layout/vList2"/>
    <dgm:cxn modelId="{B294379B-24EA-451F-9D69-0CD6CACA6ACE}" type="presParOf" srcId="{ACA69D7D-9535-49E8-8BD1-5BC69CBE04B4}" destId="{8B95BCEB-3514-4426-A423-7F4543301DE1}" srcOrd="5" destOrd="0" presId="urn:microsoft.com/office/officeart/2005/8/layout/vList2"/>
    <dgm:cxn modelId="{B53F2980-B8D7-4064-8EF1-6554D34A3B67}" type="presParOf" srcId="{ACA69D7D-9535-49E8-8BD1-5BC69CBE04B4}" destId="{E3A56FE4-79EA-4B49-A4ED-62565EF160D0}" srcOrd="6" destOrd="0" presId="urn:microsoft.com/office/officeart/2005/8/layout/vList2"/>
    <dgm:cxn modelId="{1A690C9E-BBFC-46F0-B1EF-C61EC3E2058B}" type="presParOf" srcId="{ACA69D7D-9535-49E8-8BD1-5BC69CBE04B4}" destId="{B78083C0-F978-4CC2-9C1E-64267AF891F6}" srcOrd="7" destOrd="0" presId="urn:microsoft.com/office/officeart/2005/8/layout/vList2"/>
    <dgm:cxn modelId="{8F05D3B2-722F-4C22-8DBD-0E4D55EB2EDA}" type="presParOf" srcId="{ACA69D7D-9535-49E8-8BD1-5BC69CBE04B4}" destId="{D3F5427D-628A-4877-809F-6AE771E909C6}" srcOrd="8" destOrd="0" presId="urn:microsoft.com/office/officeart/2005/8/layout/vList2"/>
    <dgm:cxn modelId="{5834BA21-5A94-4177-9D0A-A07A7BC91704}" type="presParOf" srcId="{ACA69D7D-9535-49E8-8BD1-5BC69CBE04B4}" destId="{C9530E25-3767-444E-A47E-26D0B8465772}" srcOrd="9" destOrd="0" presId="urn:microsoft.com/office/officeart/2005/8/layout/vList2"/>
    <dgm:cxn modelId="{A7DBE783-6027-4232-882D-19F6C18948CE}" type="presParOf" srcId="{ACA69D7D-9535-49E8-8BD1-5BC69CBE04B4}" destId="{EA344365-D2E0-4CE9-B2FA-657414E957A5}" srcOrd="10" destOrd="0" presId="urn:microsoft.com/office/officeart/2005/8/layout/vList2"/>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159"/>
          <a:ext cx="9489440" cy="1067040"/>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第１章　</a:t>
          </a:r>
          <a:r>
            <a:rPr kumimoji="1" lang="en-US" altLang="ja-JP" sz="3600" kern="1200" dirty="0">
              <a:solidFill>
                <a:schemeClr val="bg1"/>
              </a:solidFill>
            </a:rPr>
            <a:t>IATF16949:2016</a:t>
          </a:r>
          <a:r>
            <a:rPr kumimoji="1" lang="ja-JP" altLang="en-US" sz="3600" kern="1200" dirty="0">
              <a:solidFill>
                <a:schemeClr val="bg1"/>
              </a:solidFill>
            </a:rPr>
            <a:t>概要</a:t>
          </a:r>
        </a:p>
      </dsp:txBody>
      <dsp:txXfrm>
        <a:off x="52089" y="66248"/>
        <a:ext cx="9385262" cy="962862"/>
      </dsp:txXfrm>
    </dsp:sp>
    <dsp:sp modelId="{81830890-C69A-4F20-B0B1-1C237CA135B2}">
      <dsp:nvSpPr>
        <dsp:cNvPr id="0" name=""/>
        <dsp:cNvSpPr/>
      </dsp:nvSpPr>
      <dsp:spPr>
        <a:xfrm>
          <a:off x="0" y="1173360"/>
          <a:ext cx="9489440" cy="106704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第２章　</a:t>
          </a:r>
          <a:r>
            <a:rPr kumimoji="1" lang="en-US" altLang="ja-JP" sz="2800" kern="1200" dirty="0">
              <a:solidFill>
                <a:schemeClr val="tx1"/>
              </a:solidFill>
            </a:rPr>
            <a:t>IATF16949:2016</a:t>
          </a:r>
          <a:r>
            <a:rPr kumimoji="1" lang="ja-JP" altLang="en-US" sz="2800" kern="1200" dirty="0">
              <a:solidFill>
                <a:schemeClr val="tx1"/>
              </a:solidFill>
            </a:rPr>
            <a:t>要求事項の理解</a:t>
          </a:r>
        </a:p>
      </dsp:txBody>
      <dsp:txXfrm>
        <a:off x="52089" y="1225449"/>
        <a:ext cx="9385262" cy="962862"/>
      </dsp:txXfrm>
    </dsp:sp>
    <dsp:sp modelId="{65E655FC-AD2B-4464-B659-8288DA5BCAD7}">
      <dsp:nvSpPr>
        <dsp:cNvPr id="0" name=""/>
        <dsp:cNvSpPr/>
      </dsp:nvSpPr>
      <dsp:spPr>
        <a:xfrm>
          <a:off x="0" y="2332560"/>
          <a:ext cx="9489440" cy="106704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第３章　コアツールの理解</a:t>
          </a:r>
        </a:p>
      </dsp:txBody>
      <dsp:txXfrm>
        <a:off x="52089" y="2384649"/>
        <a:ext cx="9385262" cy="962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159"/>
          <a:ext cx="9489440" cy="1067040"/>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１．自動車産業を取り巻く環境</a:t>
          </a:r>
        </a:p>
      </dsp:txBody>
      <dsp:txXfrm>
        <a:off x="52089" y="66248"/>
        <a:ext cx="9385262" cy="962862"/>
      </dsp:txXfrm>
    </dsp:sp>
    <dsp:sp modelId="{81830890-C69A-4F20-B0B1-1C237CA135B2}">
      <dsp:nvSpPr>
        <dsp:cNvPr id="0" name=""/>
        <dsp:cNvSpPr/>
      </dsp:nvSpPr>
      <dsp:spPr>
        <a:xfrm>
          <a:off x="0" y="1173360"/>
          <a:ext cx="9489440" cy="106704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a:t>
          </a:r>
          <a:r>
            <a:rPr kumimoji="1" lang="en-US" altLang="ja-JP" sz="2800" kern="1200" dirty="0">
              <a:solidFill>
                <a:schemeClr val="tx1"/>
              </a:solidFill>
            </a:rPr>
            <a:t>IATF16949</a:t>
          </a:r>
          <a:r>
            <a:rPr kumimoji="1" lang="ja-JP" altLang="en-US" sz="2800" kern="1200" dirty="0">
              <a:solidFill>
                <a:schemeClr val="tx1"/>
              </a:solidFill>
            </a:rPr>
            <a:t>とは</a:t>
          </a:r>
        </a:p>
      </dsp:txBody>
      <dsp:txXfrm>
        <a:off x="52089" y="1225449"/>
        <a:ext cx="9385262" cy="962862"/>
      </dsp:txXfrm>
    </dsp:sp>
    <dsp:sp modelId="{65E655FC-AD2B-4464-B659-8288DA5BCAD7}">
      <dsp:nvSpPr>
        <dsp:cNvPr id="0" name=""/>
        <dsp:cNvSpPr/>
      </dsp:nvSpPr>
      <dsp:spPr>
        <a:xfrm>
          <a:off x="0" y="2332560"/>
          <a:ext cx="9489440" cy="106704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３．要求事項の概要</a:t>
          </a:r>
        </a:p>
      </dsp:txBody>
      <dsp:txXfrm>
        <a:off x="52089" y="2384649"/>
        <a:ext cx="9385262" cy="962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D98B2C-054B-4AED-9D2E-315F9F120B9E}">
      <dsp:nvSpPr>
        <dsp:cNvPr id="0" name=""/>
        <dsp:cNvSpPr/>
      </dsp:nvSpPr>
      <dsp:spPr>
        <a:xfrm>
          <a:off x="0" y="0"/>
          <a:ext cx="8412480" cy="1008005"/>
        </a:xfrm>
        <a:prstGeom prst="roundRect">
          <a:avLst>
            <a:gd name="adj" fmla="val 10000"/>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kumimoji="1" lang="en-US" altLang="ja-JP" sz="2400" kern="1200" dirty="0">
              <a:solidFill>
                <a:schemeClr val="tx1"/>
              </a:solidFill>
            </a:rPr>
            <a:t>2008</a:t>
          </a:r>
          <a:r>
            <a:rPr kumimoji="1" lang="ja-JP" altLang="en-US" sz="2400" kern="1200" dirty="0">
              <a:solidFill>
                <a:schemeClr val="tx1"/>
              </a:solidFill>
            </a:rPr>
            <a:t>年　リーマンショックにおける経営環境の悪化</a:t>
          </a:r>
        </a:p>
      </dsp:txBody>
      <dsp:txXfrm>
        <a:off x="29523" y="29523"/>
        <a:ext cx="7239587" cy="948959"/>
      </dsp:txXfrm>
    </dsp:sp>
    <dsp:sp modelId="{E321AA24-3C16-4E54-94B9-9CB238FEE758}">
      <dsp:nvSpPr>
        <dsp:cNvPr id="0" name=""/>
        <dsp:cNvSpPr/>
      </dsp:nvSpPr>
      <dsp:spPr>
        <a:xfrm>
          <a:off x="704545" y="1191279"/>
          <a:ext cx="8412480" cy="1008005"/>
        </a:xfrm>
        <a:prstGeom prst="roundRect">
          <a:avLst>
            <a:gd name="adj" fmla="val 10000"/>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kumimoji="1" lang="ja-JP" altLang="en-US" sz="2400" kern="1200" dirty="0">
              <a:solidFill>
                <a:schemeClr val="tx1"/>
              </a:solidFill>
            </a:rPr>
            <a:t>安全神話の岐路（リコール隠し／安全装置のリコール）</a:t>
          </a:r>
        </a:p>
      </dsp:txBody>
      <dsp:txXfrm>
        <a:off x="734068" y="1220802"/>
        <a:ext cx="6993685" cy="948959"/>
      </dsp:txXfrm>
    </dsp:sp>
    <dsp:sp modelId="{ECBFD607-1ED8-4E85-8D39-7E68E32FF1CB}">
      <dsp:nvSpPr>
        <dsp:cNvPr id="0" name=""/>
        <dsp:cNvSpPr/>
      </dsp:nvSpPr>
      <dsp:spPr>
        <a:xfrm>
          <a:off x="1398574" y="2382558"/>
          <a:ext cx="8412480" cy="1008005"/>
        </a:xfrm>
        <a:prstGeom prst="roundRect">
          <a:avLst>
            <a:gd name="adj" fmla="val 10000"/>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kumimoji="1" lang="ja-JP" altLang="en-US" sz="2400" kern="1200" dirty="0">
              <a:solidFill>
                <a:schemeClr val="tx1"/>
              </a:solidFill>
            </a:rPr>
            <a:t>ニーズの多様化と高度化（基本性能</a:t>
          </a:r>
          <a:r>
            <a:rPr kumimoji="1" lang="en-US" altLang="ja-JP" sz="2400" kern="1200" dirty="0">
              <a:solidFill>
                <a:schemeClr val="tx1"/>
              </a:solidFill>
            </a:rPr>
            <a:t>+</a:t>
          </a:r>
          <a:r>
            <a:rPr kumimoji="1" lang="ja-JP" altLang="en-US" sz="2400" kern="1200" dirty="0">
              <a:solidFill>
                <a:schemeClr val="tx1"/>
              </a:solidFill>
            </a:rPr>
            <a:t>安全性能</a:t>
          </a:r>
          <a:r>
            <a:rPr kumimoji="1" lang="en-US" altLang="ja-JP" sz="2400" kern="1200" dirty="0">
              <a:solidFill>
                <a:schemeClr val="tx1"/>
              </a:solidFill>
            </a:rPr>
            <a:t>+</a:t>
          </a:r>
          <a:r>
            <a:rPr kumimoji="1" lang="ja-JP" altLang="en-US" sz="2400" kern="1200" dirty="0">
              <a:solidFill>
                <a:schemeClr val="tx1"/>
              </a:solidFill>
            </a:rPr>
            <a:t>環境性能</a:t>
          </a:r>
          <a:r>
            <a:rPr kumimoji="1" lang="en-US" altLang="ja-JP" sz="2400" kern="1200" dirty="0">
              <a:solidFill>
                <a:schemeClr val="tx1"/>
              </a:solidFill>
            </a:rPr>
            <a:t>+</a:t>
          </a:r>
          <a:r>
            <a:rPr kumimoji="1" lang="ja-JP" altLang="en-US" sz="2400" kern="1200" dirty="0">
              <a:solidFill>
                <a:schemeClr val="tx1"/>
              </a:solidFill>
            </a:rPr>
            <a:t>自動化）</a:t>
          </a:r>
        </a:p>
      </dsp:txBody>
      <dsp:txXfrm>
        <a:off x="1428097" y="2412081"/>
        <a:ext cx="7004200" cy="948959"/>
      </dsp:txXfrm>
    </dsp:sp>
    <dsp:sp modelId="{D9D890B3-69DC-432B-99EE-AC5ABC588664}">
      <dsp:nvSpPr>
        <dsp:cNvPr id="0" name=""/>
        <dsp:cNvSpPr/>
      </dsp:nvSpPr>
      <dsp:spPr>
        <a:xfrm>
          <a:off x="2103119" y="3573837"/>
          <a:ext cx="8412480" cy="1008005"/>
        </a:xfrm>
        <a:prstGeom prst="roundRect">
          <a:avLst>
            <a:gd name="adj" fmla="val 10000"/>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kumimoji="1" lang="ja-JP" altLang="en-US" sz="2400" kern="1200" dirty="0">
              <a:solidFill>
                <a:schemeClr val="tx1"/>
              </a:solidFill>
            </a:rPr>
            <a:t>サプライチェーンによる体系的品質保証の見直し</a:t>
          </a:r>
        </a:p>
      </dsp:txBody>
      <dsp:txXfrm>
        <a:off x="2132642" y="3603360"/>
        <a:ext cx="6993685" cy="948959"/>
      </dsp:txXfrm>
    </dsp:sp>
    <dsp:sp modelId="{8B7D37E8-73CB-4503-A964-839C0FCF004C}">
      <dsp:nvSpPr>
        <dsp:cNvPr id="0" name=""/>
        <dsp:cNvSpPr/>
      </dsp:nvSpPr>
      <dsp:spPr>
        <a:xfrm>
          <a:off x="7757276" y="772040"/>
          <a:ext cx="655203" cy="655203"/>
        </a:xfrm>
        <a:prstGeom prst="downArrow">
          <a:avLst>
            <a:gd name="adj1" fmla="val 55000"/>
            <a:gd name="adj2" fmla="val 45000"/>
          </a:avLst>
        </a:prstGeom>
        <a:solidFill>
          <a:schemeClr val="accent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kumimoji="1" lang="ja-JP" altLang="en-US" sz="2200" kern="1200"/>
        </a:p>
      </dsp:txBody>
      <dsp:txXfrm>
        <a:off x="7904697" y="772040"/>
        <a:ext cx="360361" cy="493040"/>
      </dsp:txXfrm>
    </dsp:sp>
    <dsp:sp modelId="{9033DEB2-BC28-49FB-9CD6-7E8D832B5B66}">
      <dsp:nvSpPr>
        <dsp:cNvPr id="0" name=""/>
        <dsp:cNvSpPr/>
      </dsp:nvSpPr>
      <dsp:spPr>
        <a:xfrm>
          <a:off x="8461821" y="1963319"/>
          <a:ext cx="655203" cy="655203"/>
        </a:xfrm>
        <a:prstGeom prst="downArrow">
          <a:avLst>
            <a:gd name="adj1" fmla="val 55000"/>
            <a:gd name="adj2" fmla="val 45000"/>
          </a:avLst>
        </a:prstGeom>
        <a:solidFill>
          <a:schemeClr val="accent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kumimoji="1" lang="ja-JP" altLang="en-US" sz="2200" kern="1200"/>
        </a:p>
      </dsp:txBody>
      <dsp:txXfrm>
        <a:off x="8609242" y="1963319"/>
        <a:ext cx="360361" cy="493040"/>
      </dsp:txXfrm>
    </dsp:sp>
    <dsp:sp modelId="{36291D65-AA77-497B-9471-1F84E3AE4DC3}">
      <dsp:nvSpPr>
        <dsp:cNvPr id="0" name=""/>
        <dsp:cNvSpPr/>
      </dsp:nvSpPr>
      <dsp:spPr>
        <a:xfrm>
          <a:off x="9155851" y="3154598"/>
          <a:ext cx="655203" cy="655203"/>
        </a:xfrm>
        <a:prstGeom prst="downArrow">
          <a:avLst>
            <a:gd name="adj1" fmla="val 55000"/>
            <a:gd name="adj2" fmla="val 45000"/>
          </a:avLst>
        </a:prstGeom>
        <a:solidFill>
          <a:schemeClr val="accent1">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endParaRPr kumimoji="1" lang="ja-JP" altLang="en-US" sz="2200" kern="1200"/>
        </a:p>
      </dsp:txBody>
      <dsp:txXfrm>
        <a:off x="9303272" y="3154598"/>
        <a:ext cx="360361" cy="493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8CBD3-60EF-415A-93CB-5B31E4AE3845}">
      <dsp:nvSpPr>
        <dsp:cNvPr id="0" name=""/>
        <dsp:cNvSpPr/>
      </dsp:nvSpPr>
      <dsp:spPr>
        <a:xfrm>
          <a:off x="0" y="5341"/>
          <a:ext cx="7848600" cy="85995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設計評価基準の甘さ</a:t>
          </a:r>
        </a:p>
      </dsp:txBody>
      <dsp:txXfrm>
        <a:off x="41979" y="47320"/>
        <a:ext cx="7764642" cy="775992"/>
      </dsp:txXfrm>
    </dsp:sp>
    <dsp:sp modelId="{A8A0AD6D-5FA3-4465-9CAE-AAD382E03F7A}">
      <dsp:nvSpPr>
        <dsp:cNvPr id="0" name=""/>
        <dsp:cNvSpPr/>
      </dsp:nvSpPr>
      <dsp:spPr>
        <a:xfrm>
          <a:off x="0" y="865291"/>
          <a:ext cx="7848600"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193" tIns="30480" rIns="170688" bIns="30480" numCol="1" spcCol="1270" anchor="t" anchorCtr="0">
          <a:noAutofit/>
        </a:bodyPr>
        <a:lstStyle/>
        <a:p>
          <a:pPr marL="228600" lvl="1" indent="-228600" algn="l" defTabSz="1066800">
            <a:lnSpc>
              <a:spcPct val="90000"/>
            </a:lnSpc>
            <a:spcBef>
              <a:spcPct val="0"/>
            </a:spcBef>
            <a:spcAft>
              <a:spcPct val="20000"/>
            </a:spcAft>
            <a:buChar char="••"/>
          </a:pPr>
          <a:r>
            <a:rPr kumimoji="1" lang="ja-JP" altLang="en-US" sz="2400" kern="1200" dirty="0"/>
            <a:t>ＤＦＭＥＡ、設計審査、試作評価など</a:t>
          </a:r>
        </a:p>
      </dsp:txBody>
      <dsp:txXfrm>
        <a:off x="0" y="865291"/>
        <a:ext cx="7848600" cy="695520"/>
      </dsp:txXfrm>
    </dsp:sp>
    <dsp:sp modelId="{AA64189D-2D5D-4151-828A-79BEB29D8FA2}">
      <dsp:nvSpPr>
        <dsp:cNvPr id="0" name=""/>
        <dsp:cNvSpPr/>
      </dsp:nvSpPr>
      <dsp:spPr>
        <a:xfrm>
          <a:off x="0" y="1560811"/>
          <a:ext cx="7848600" cy="85995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製造工程・作業管理の不適切</a:t>
          </a:r>
        </a:p>
      </dsp:txBody>
      <dsp:txXfrm>
        <a:off x="41979" y="1602790"/>
        <a:ext cx="7764642" cy="775992"/>
      </dsp:txXfrm>
    </dsp:sp>
    <dsp:sp modelId="{09F784CA-11F4-4887-B3DC-DCCFD4321E4A}">
      <dsp:nvSpPr>
        <dsp:cNvPr id="0" name=""/>
        <dsp:cNvSpPr/>
      </dsp:nvSpPr>
      <dsp:spPr>
        <a:xfrm>
          <a:off x="0" y="2420761"/>
          <a:ext cx="7848600"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193" tIns="30480" rIns="170688" bIns="30480" numCol="1" spcCol="1270" anchor="t" anchorCtr="0">
          <a:noAutofit/>
        </a:bodyPr>
        <a:lstStyle/>
        <a:p>
          <a:pPr marL="228600" lvl="1" indent="-228600" algn="l" defTabSz="1066800">
            <a:lnSpc>
              <a:spcPct val="90000"/>
            </a:lnSpc>
            <a:spcBef>
              <a:spcPct val="0"/>
            </a:spcBef>
            <a:spcAft>
              <a:spcPct val="20000"/>
            </a:spcAft>
            <a:buChar char="••"/>
          </a:pPr>
          <a:r>
            <a:rPr kumimoji="1" lang="ja-JP" altLang="en-US" sz="2400" kern="1200" dirty="0"/>
            <a:t>ＰＦＭＥＡ、ＣＰ、妥当性検証、変更管理など</a:t>
          </a:r>
        </a:p>
      </dsp:txBody>
      <dsp:txXfrm>
        <a:off x="0" y="2420761"/>
        <a:ext cx="7848600" cy="695520"/>
      </dsp:txXfrm>
    </dsp:sp>
    <dsp:sp modelId="{9C456FAF-8557-4C07-887F-211068AAD1F3}">
      <dsp:nvSpPr>
        <dsp:cNvPr id="0" name=""/>
        <dsp:cNvSpPr/>
      </dsp:nvSpPr>
      <dsp:spPr>
        <a:xfrm>
          <a:off x="0" y="3116281"/>
          <a:ext cx="7848600" cy="85995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作業員のミス</a:t>
          </a:r>
        </a:p>
      </dsp:txBody>
      <dsp:txXfrm>
        <a:off x="41979" y="3158260"/>
        <a:ext cx="7764642" cy="775992"/>
      </dsp:txXfrm>
    </dsp:sp>
    <dsp:sp modelId="{9D6ED3A8-BE2F-424A-AB0B-7B47332D6E86}">
      <dsp:nvSpPr>
        <dsp:cNvPr id="0" name=""/>
        <dsp:cNvSpPr/>
      </dsp:nvSpPr>
      <dsp:spPr>
        <a:xfrm>
          <a:off x="0" y="3976231"/>
          <a:ext cx="7848600"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193" tIns="30480" rIns="170688" bIns="30480" numCol="1" spcCol="1270" anchor="t" anchorCtr="0">
          <a:noAutofit/>
        </a:bodyPr>
        <a:lstStyle/>
        <a:p>
          <a:pPr marL="228600" lvl="1" indent="-228600" algn="l" defTabSz="1066800">
            <a:lnSpc>
              <a:spcPct val="90000"/>
            </a:lnSpc>
            <a:spcBef>
              <a:spcPct val="0"/>
            </a:spcBef>
            <a:spcAft>
              <a:spcPct val="20000"/>
            </a:spcAft>
            <a:buChar char="••"/>
          </a:pPr>
          <a:r>
            <a:rPr kumimoji="1" lang="ja-JP" altLang="en-US" sz="2400" kern="1200" dirty="0"/>
            <a:t>力量、変更管理、ポカヨケなど</a:t>
          </a:r>
        </a:p>
      </dsp:txBody>
      <dsp:txXfrm>
        <a:off x="0" y="3976231"/>
        <a:ext cx="7848600" cy="6955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197"/>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１．自動車産業を取り巻く環境</a:t>
          </a:r>
        </a:p>
      </dsp:txBody>
      <dsp:txXfrm>
        <a:off x="53493" y="67690"/>
        <a:ext cx="9382454" cy="988828"/>
      </dsp:txXfrm>
    </dsp:sp>
    <dsp:sp modelId="{81830890-C69A-4F20-B0B1-1C237CA135B2}">
      <dsp:nvSpPr>
        <dsp:cNvPr id="0" name=""/>
        <dsp:cNvSpPr/>
      </dsp:nvSpPr>
      <dsp:spPr>
        <a:xfrm>
          <a:off x="0" y="1158972"/>
          <a:ext cx="9489440" cy="1095814"/>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２．</a:t>
          </a:r>
          <a:r>
            <a:rPr kumimoji="1" lang="en-US" altLang="ja-JP" sz="3600" kern="1200" dirty="0">
              <a:solidFill>
                <a:schemeClr val="bg1"/>
              </a:solidFill>
            </a:rPr>
            <a:t>IATF16949</a:t>
          </a:r>
          <a:r>
            <a:rPr kumimoji="1" lang="ja-JP" altLang="en-US" sz="3600" kern="1200" dirty="0">
              <a:solidFill>
                <a:schemeClr val="bg1"/>
              </a:solidFill>
            </a:rPr>
            <a:t>とは</a:t>
          </a:r>
        </a:p>
      </dsp:txBody>
      <dsp:txXfrm>
        <a:off x="53493" y="1212465"/>
        <a:ext cx="9382454" cy="988828"/>
      </dsp:txXfrm>
    </dsp:sp>
    <dsp:sp modelId="{65E655FC-AD2B-4464-B659-8288DA5BCAD7}">
      <dsp:nvSpPr>
        <dsp:cNvPr id="0" name=""/>
        <dsp:cNvSpPr/>
      </dsp:nvSpPr>
      <dsp:spPr>
        <a:xfrm>
          <a:off x="0" y="2303747"/>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３．要求事項の概要</a:t>
          </a:r>
        </a:p>
      </dsp:txBody>
      <dsp:txXfrm>
        <a:off x="53493" y="2357240"/>
        <a:ext cx="9382454" cy="9888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197"/>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１．自動車産業を取り巻く環境</a:t>
          </a:r>
        </a:p>
      </dsp:txBody>
      <dsp:txXfrm>
        <a:off x="53493" y="67690"/>
        <a:ext cx="9382454" cy="988828"/>
      </dsp:txXfrm>
    </dsp:sp>
    <dsp:sp modelId="{81830890-C69A-4F20-B0B1-1C237CA135B2}">
      <dsp:nvSpPr>
        <dsp:cNvPr id="0" name=""/>
        <dsp:cNvSpPr/>
      </dsp:nvSpPr>
      <dsp:spPr>
        <a:xfrm>
          <a:off x="0" y="1158972"/>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a:t>
          </a:r>
          <a:r>
            <a:rPr kumimoji="1" lang="en-US" altLang="ja-JP" sz="2800" kern="1200" dirty="0">
              <a:solidFill>
                <a:schemeClr val="tx1"/>
              </a:solidFill>
            </a:rPr>
            <a:t>IATF16949</a:t>
          </a:r>
          <a:r>
            <a:rPr kumimoji="1" lang="ja-JP" altLang="en-US" sz="2800" kern="1200" dirty="0">
              <a:solidFill>
                <a:schemeClr val="tx1"/>
              </a:solidFill>
            </a:rPr>
            <a:t>とは</a:t>
          </a:r>
        </a:p>
      </dsp:txBody>
      <dsp:txXfrm>
        <a:off x="53493" y="1212465"/>
        <a:ext cx="9382454" cy="988828"/>
      </dsp:txXfrm>
    </dsp:sp>
    <dsp:sp modelId="{65E655FC-AD2B-4464-B659-8288DA5BCAD7}">
      <dsp:nvSpPr>
        <dsp:cNvPr id="0" name=""/>
        <dsp:cNvSpPr/>
      </dsp:nvSpPr>
      <dsp:spPr>
        <a:xfrm>
          <a:off x="0" y="2303747"/>
          <a:ext cx="9489440" cy="1095814"/>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３．要求事項の概要</a:t>
          </a:r>
        </a:p>
      </dsp:txBody>
      <dsp:txXfrm>
        <a:off x="53493" y="2357240"/>
        <a:ext cx="9382454" cy="9888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F716C-6F4D-4CAA-9B3A-767874DB7F70}">
      <dsp:nvSpPr>
        <dsp:cNvPr id="0" name=""/>
        <dsp:cNvSpPr/>
      </dsp:nvSpPr>
      <dsp:spPr>
        <a:xfrm>
          <a:off x="1906693" y="0"/>
          <a:ext cx="1906693" cy="1450446"/>
        </a:xfrm>
        <a:prstGeom prst="trapezoid">
          <a:avLst>
            <a:gd name="adj" fmla="val 65728"/>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ts val="1500"/>
            </a:lnSpc>
            <a:spcBef>
              <a:spcPct val="0"/>
            </a:spcBef>
            <a:spcAft>
              <a:spcPct val="35000"/>
            </a:spcAft>
          </a:pPr>
          <a:r>
            <a:rPr kumimoji="1" lang="ja-JP" altLang="en-US" sz="2400" kern="1200" dirty="0"/>
            <a:t>顧客固有</a:t>
          </a:r>
          <a:endParaRPr kumimoji="1" lang="en-US" altLang="ja-JP" sz="2400" kern="1200" dirty="0"/>
        </a:p>
        <a:p>
          <a:pPr lvl="0" algn="ctr" defTabSz="1066800">
            <a:lnSpc>
              <a:spcPts val="1500"/>
            </a:lnSpc>
            <a:spcBef>
              <a:spcPct val="0"/>
            </a:spcBef>
            <a:spcAft>
              <a:spcPct val="35000"/>
            </a:spcAft>
          </a:pPr>
          <a:r>
            <a:rPr kumimoji="1" lang="ja-JP" altLang="en-US" sz="2400" kern="1200" dirty="0"/>
            <a:t>要求事項</a:t>
          </a:r>
        </a:p>
      </dsp:txBody>
      <dsp:txXfrm>
        <a:off x="1906693" y="0"/>
        <a:ext cx="1906693" cy="1450446"/>
      </dsp:txXfrm>
    </dsp:sp>
    <dsp:sp modelId="{BCD10B9B-942C-46A1-8BBF-808A1076A61F}">
      <dsp:nvSpPr>
        <dsp:cNvPr id="0" name=""/>
        <dsp:cNvSpPr/>
      </dsp:nvSpPr>
      <dsp:spPr>
        <a:xfrm>
          <a:off x="953346" y="1450446"/>
          <a:ext cx="3813386" cy="1450446"/>
        </a:xfrm>
        <a:prstGeom prst="trapezoid">
          <a:avLst>
            <a:gd name="adj" fmla="val 65728"/>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ts val="1500"/>
            </a:lnSpc>
            <a:spcBef>
              <a:spcPct val="0"/>
            </a:spcBef>
            <a:spcAft>
              <a:spcPct val="35000"/>
            </a:spcAft>
          </a:pPr>
          <a:r>
            <a:rPr kumimoji="1" lang="en-US" altLang="ja-JP" sz="2400" kern="1200" dirty="0"/>
            <a:t>IATF16949</a:t>
          </a:r>
        </a:p>
        <a:p>
          <a:pPr lvl="0" algn="ctr" defTabSz="1066800">
            <a:lnSpc>
              <a:spcPts val="1500"/>
            </a:lnSpc>
            <a:spcBef>
              <a:spcPct val="0"/>
            </a:spcBef>
            <a:spcAft>
              <a:spcPct val="35000"/>
            </a:spcAft>
          </a:pPr>
          <a:r>
            <a:rPr kumimoji="1" lang="ja-JP" altLang="en-US" sz="2400" kern="1200" dirty="0"/>
            <a:t>追加要求事項</a:t>
          </a:r>
        </a:p>
      </dsp:txBody>
      <dsp:txXfrm>
        <a:off x="1620689" y="1450446"/>
        <a:ext cx="2478701" cy="1450446"/>
      </dsp:txXfrm>
    </dsp:sp>
    <dsp:sp modelId="{C602214F-45D7-4C24-8E6C-B5FB3A8215A2}">
      <dsp:nvSpPr>
        <dsp:cNvPr id="0" name=""/>
        <dsp:cNvSpPr/>
      </dsp:nvSpPr>
      <dsp:spPr>
        <a:xfrm>
          <a:off x="0" y="2900892"/>
          <a:ext cx="5720080" cy="1450446"/>
        </a:xfrm>
        <a:prstGeom prst="trapezoid">
          <a:avLst>
            <a:gd name="adj" fmla="val 65728"/>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kumimoji="1" lang="en-US" altLang="ja-JP" sz="2400" kern="1200" dirty="0"/>
            <a:t>ISO9001</a:t>
          </a:r>
          <a:r>
            <a:rPr kumimoji="1" lang="ja-JP" altLang="en-US" sz="2400" kern="1200" dirty="0"/>
            <a:t>要求事項</a:t>
          </a:r>
        </a:p>
      </dsp:txBody>
      <dsp:txXfrm>
        <a:off x="1001013" y="2900892"/>
        <a:ext cx="3718052" cy="14504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80B5E-EC66-44F4-B7CC-627D2C3B0A59}">
      <dsp:nvSpPr>
        <dsp:cNvPr id="0" name=""/>
        <dsp:cNvSpPr/>
      </dsp:nvSpPr>
      <dsp:spPr>
        <a:xfrm>
          <a:off x="2309706" y="0"/>
          <a:ext cx="2309706" cy="1041823"/>
        </a:xfrm>
        <a:prstGeom prst="trapezoid">
          <a:avLst>
            <a:gd name="adj" fmla="val 110849"/>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kumimoji="1" lang="ja-JP" altLang="en-US" sz="2400" kern="1200" dirty="0"/>
            <a:t>品質マニュアル</a:t>
          </a:r>
        </a:p>
      </dsp:txBody>
      <dsp:txXfrm>
        <a:off x="2309706" y="0"/>
        <a:ext cx="2309706" cy="1041823"/>
      </dsp:txXfrm>
    </dsp:sp>
    <dsp:sp modelId="{D2995954-9D10-4F6E-BDF2-049904F63635}">
      <dsp:nvSpPr>
        <dsp:cNvPr id="0" name=""/>
        <dsp:cNvSpPr/>
      </dsp:nvSpPr>
      <dsp:spPr>
        <a:xfrm>
          <a:off x="1154853" y="1041823"/>
          <a:ext cx="4619413" cy="1041823"/>
        </a:xfrm>
        <a:prstGeom prst="trapezoid">
          <a:avLst>
            <a:gd name="adj" fmla="val 110849"/>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kumimoji="1" lang="ja-JP" altLang="en-US" sz="2400" kern="1200" dirty="0"/>
            <a:t>規定・手順書等</a:t>
          </a:r>
        </a:p>
      </dsp:txBody>
      <dsp:txXfrm>
        <a:off x="1963250" y="1041823"/>
        <a:ext cx="3002618" cy="1041823"/>
      </dsp:txXfrm>
    </dsp:sp>
    <dsp:sp modelId="{FA5ABC5E-D2D3-48D0-AA03-16442EF7CFA4}">
      <dsp:nvSpPr>
        <dsp:cNvPr id="0" name=""/>
        <dsp:cNvSpPr/>
      </dsp:nvSpPr>
      <dsp:spPr>
        <a:xfrm>
          <a:off x="0" y="2083646"/>
          <a:ext cx="6929120" cy="1041823"/>
        </a:xfrm>
        <a:prstGeom prst="trapezoid">
          <a:avLst>
            <a:gd name="adj" fmla="val 110849"/>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kumimoji="1" lang="ja-JP" altLang="en-US" sz="2400" kern="1200" dirty="0"/>
            <a:t>作業指示書・図面・ＣＰ等</a:t>
          </a:r>
        </a:p>
      </dsp:txBody>
      <dsp:txXfrm>
        <a:off x="1212595" y="2083646"/>
        <a:ext cx="4503928" cy="10418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197"/>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第１章　</a:t>
          </a:r>
          <a:r>
            <a:rPr kumimoji="1" lang="en-US" altLang="ja-JP" sz="2800" kern="1200" dirty="0">
              <a:solidFill>
                <a:schemeClr val="tx1"/>
              </a:solidFill>
            </a:rPr>
            <a:t>IATF16949:2016</a:t>
          </a:r>
          <a:r>
            <a:rPr kumimoji="1" lang="ja-JP" altLang="en-US" sz="2800" kern="1200" dirty="0">
              <a:solidFill>
                <a:schemeClr val="tx1"/>
              </a:solidFill>
            </a:rPr>
            <a:t>概要</a:t>
          </a:r>
        </a:p>
      </dsp:txBody>
      <dsp:txXfrm>
        <a:off x="53493" y="67690"/>
        <a:ext cx="9382454" cy="988828"/>
      </dsp:txXfrm>
    </dsp:sp>
    <dsp:sp modelId="{81830890-C69A-4F20-B0B1-1C237CA135B2}">
      <dsp:nvSpPr>
        <dsp:cNvPr id="0" name=""/>
        <dsp:cNvSpPr/>
      </dsp:nvSpPr>
      <dsp:spPr>
        <a:xfrm>
          <a:off x="0" y="1158972"/>
          <a:ext cx="9489440" cy="1095814"/>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第２章　</a:t>
          </a:r>
          <a:r>
            <a:rPr kumimoji="1" lang="en-US" altLang="ja-JP" sz="3600" kern="1200" dirty="0">
              <a:solidFill>
                <a:schemeClr val="bg1"/>
              </a:solidFill>
            </a:rPr>
            <a:t>IATF16949:2016</a:t>
          </a:r>
          <a:r>
            <a:rPr kumimoji="1" lang="ja-JP" altLang="en-US" sz="3600" kern="1200" dirty="0">
              <a:solidFill>
                <a:schemeClr val="bg1"/>
              </a:solidFill>
            </a:rPr>
            <a:t>要求事項の理解</a:t>
          </a:r>
        </a:p>
      </dsp:txBody>
      <dsp:txXfrm>
        <a:off x="53493" y="1212465"/>
        <a:ext cx="9382454" cy="988828"/>
      </dsp:txXfrm>
    </dsp:sp>
    <dsp:sp modelId="{65E655FC-AD2B-4464-B659-8288DA5BCAD7}">
      <dsp:nvSpPr>
        <dsp:cNvPr id="0" name=""/>
        <dsp:cNvSpPr/>
      </dsp:nvSpPr>
      <dsp:spPr>
        <a:xfrm>
          <a:off x="0" y="2303747"/>
          <a:ext cx="9489440" cy="1095814"/>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第３章　コアツールの理解</a:t>
          </a:r>
        </a:p>
      </dsp:txBody>
      <dsp:txXfrm>
        <a:off x="53493" y="2357240"/>
        <a:ext cx="9382454" cy="9888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987476-ED4A-4940-882E-97280F11F57C}">
      <dsp:nvSpPr>
        <dsp:cNvPr id="0" name=""/>
        <dsp:cNvSpPr/>
      </dsp:nvSpPr>
      <dsp:spPr>
        <a:xfrm>
          <a:off x="0" y="46222"/>
          <a:ext cx="8639672" cy="63882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kumimoji="1" lang="ja-JP" altLang="en-US" sz="2100" kern="1200" dirty="0">
              <a:solidFill>
                <a:schemeClr val="tx1"/>
              </a:solidFill>
            </a:rPr>
            <a:t>顧客志向プロセス</a:t>
          </a:r>
        </a:p>
      </dsp:txBody>
      <dsp:txXfrm>
        <a:off x="31185" y="77407"/>
        <a:ext cx="8577302" cy="576450"/>
      </dsp:txXfrm>
    </dsp:sp>
    <dsp:sp modelId="{38510904-DDB5-401E-AFCD-4A200C94AA37}">
      <dsp:nvSpPr>
        <dsp:cNvPr id="0" name=""/>
        <dsp:cNvSpPr/>
      </dsp:nvSpPr>
      <dsp:spPr>
        <a:xfrm>
          <a:off x="0" y="685042"/>
          <a:ext cx="8639672" cy="369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4310" tIns="26670" rIns="149352" bIns="26670" numCol="1" spcCol="1270" anchor="t" anchorCtr="0">
          <a:noAutofit/>
        </a:bodyPr>
        <a:lstStyle/>
        <a:p>
          <a:pPr marL="171450" lvl="1" indent="-171450" algn="l" defTabSz="711200">
            <a:lnSpc>
              <a:spcPct val="90000"/>
            </a:lnSpc>
            <a:spcBef>
              <a:spcPct val="0"/>
            </a:spcBef>
            <a:spcAft>
              <a:spcPct val="20000"/>
            </a:spcAft>
            <a:buChar char="••"/>
          </a:pPr>
          <a:r>
            <a:rPr kumimoji="1" lang="ja-JP" altLang="en-US" sz="1600" kern="1200" dirty="0"/>
            <a:t>例）受注／製品設計／金型設計／製造／検査</a:t>
          </a:r>
        </a:p>
      </dsp:txBody>
      <dsp:txXfrm>
        <a:off x="0" y="685042"/>
        <a:ext cx="8639672" cy="369495"/>
      </dsp:txXfrm>
    </dsp:sp>
    <dsp:sp modelId="{FF7B120D-DAD3-4048-8965-5E29C74EB841}">
      <dsp:nvSpPr>
        <dsp:cNvPr id="0" name=""/>
        <dsp:cNvSpPr/>
      </dsp:nvSpPr>
      <dsp:spPr>
        <a:xfrm>
          <a:off x="0" y="1054537"/>
          <a:ext cx="8639672" cy="63882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kumimoji="1" lang="ja-JP" altLang="en-US" sz="2100" kern="1200" dirty="0">
              <a:solidFill>
                <a:schemeClr val="tx1"/>
              </a:solidFill>
            </a:rPr>
            <a:t>マネジメントプロセス</a:t>
          </a:r>
        </a:p>
      </dsp:txBody>
      <dsp:txXfrm>
        <a:off x="31185" y="1085722"/>
        <a:ext cx="8577302" cy="576450"/>
      </dsp:txXfrm>
    </dsp:sp>
    <dsp:sp modelId="{52C64ED3-61B2-4C5D-81BB-DC905C4D92B5}">
      <dsp:nvSpPr>
        <dsp:cNvPr id="0" name=""/>
        <dsp:cNvSpPr/>
      </dsp:nvSpPr>
      <dsp:spPr>
        <a:xfrm>
          <a:off x="0" y="1693357"/>
          <a:ext cx="8639672" cy="369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4310" tIns="26670" rIns="149352" bIns="26670" numCol="1" spcCol="1270" anchor="t" anchorCtr="0">
          <a:noAutofit/>
        </a:bodyPr>
        <a:lstStyle/>
        <a:p>
          <a:pPr marL="171450" lvl="1" indent="-171450" algn="l" defTabSz="711200">
            <a:lnSpc>
              <a:spcPct val="90000"/>
            </a:lnSpc>
            <a:spcBef>
              <a:spcPct val="0"/>
            </a:spcBef>
            <a:spcAft>
              <a:spcPct val="20000"/>
            </a:spcAft>
            <a:buChar char="••"/>
          </a:pPr>
          <a:r>
            <a:rPr kumimoji="1" lang="ja-JP" altLang="en-US" sz="1600" kern="1200" dirty="0"/>
            <a:t>例）方針管理／内部監査／改善</a:t>
          </a:r>
        </a:p>
      </dsp:txBody>
      <dsp:txXfrm>
        <a:off x="0" y="1693357"/>
        <a:ext cx="8639672" cy="369495"/>
      </dsp:txXfrm>
    </dsp:sp>
    <dsp:sp modelId="{318FE4A4-A74B-48A9-A7D2-091E4ADEB76F}">
      <dsp:nvSpPr>
        <dsp:cNvPr id="0" name=""/>
        <dsp:cNvSpPr/>
      </dsp:nvSpPr>
      <dsp:spPr>
        <a:xfrm>
          <a:off x="0" y="2062852"/>
          <a:ext cx="8639672" cy="638820"/>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kumimoji="1" lang="ja-JP" altLang="en-US" sz="2100" kern="1200" dirty="0">
              <a:solidFill>
                <a:schemeClr val="tx1"/>
              </a:solidFill>
            </a:rPr>
            <a:t>支援プロセス</a:t>
          </a:r>
        </a:p>
      </dsp:txBody>
      <dsp:txXfrm>
        <a:off x="31185" y="2094037"/>
        <a:ext cx="8577302" cy="576450"/>
      </dsp:txXfrm>
    </dsp:sp>
    <dsp:sp modelId="{494E09E8-07B6-474D-B093-EE4EEFE89CE3}">
      <dsp:nvSpPr>
        <dsp:cNvPr id="0" name=""/>
        <dsp:cNvSpPr/>
      </dsp:nvSpPr>
      <dsp:spPr>
        <a:xfrm>
          <a:off x="0" y="2701673"/>
          <a:ext cx="8639672" cy="369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4310" tIns="26670" rIns="149352" bIns="26670" numCol="1" spcCol="1270" anchor="t" anchorCtr="0">
          <a:noAutofit/>
        </a:bodyPr>
        <a:lstStyle/>
        <a:p>
          <a:pPr marL="171450" lvl="1" indent="-171450" algn="l" defTabSz="711200">
            <a:lnSpc>
              <a:spcPct val="90000"/>
            </a:lnSpc>
            <a:spcBef>
              <a:spcPct val="0"/>
            </a:spcBef>
            <a:spcAft>
              <a:spcPct val="20000"/>
            </a:spcAft>
            <a:buChar char="••"/>
          </a:pPr>
          <a:r>
            <a:rPr kumimoji="1" lang="ja-JP" altLang="en-US" sz="1600" kern="1200" dirty="0"/>
            <a:t>例）設備管理／購買／測定機器</a:t>
          </a:r>
        </a:p>
      </dsp:txBody>
      <dsp:txXfrm>
        <a:off x="0" y="2701673"/>
        <a:ext cx="8639672" cy="36949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0176B-E7A1-4380-B64F-E41B39105018}">
      <dsp:nvSpPr>
        <dsp:cNvPr id="0" name=""/>
        <dsp:cNvSpPr/>
      </dsp:nvSpPr>
      <dsp:spPr>
        <a:xfrm>
          <a:off x="2776247" y="0"/>
          <a:ext cx="2049143" cy="854832"/>
        </a:xfrm>
        <a:prstGeom prst="trapezoid">
          <a:avLst>
            <a:gd name="adj" fmla="val 88925"/>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kumimoji="1" lang="ja-JP" altLang="en-US" sz="3200" b="1" kern="1200" dirty="0">
              <a:solidFill>
                <a:srgbClr val="FF0000"/>
              </a:solidFill>
              <a:effectLst>
                <a:outerShdw blurRad="38100" dist="38100" dir="2700000" algn="tl">
                  <a:srgbClr val="000000">
                    <a:alpha val="43137"/>
                  </a:srgbClr>
                </a:outerShdw>
              </a:effectLst>
            </a:rPr>
            <a:t>自己実現</a:t>
          </a:r>
        </a:p>
      </dsp:txBody>
      <dsp:txXfrm>
        <a:off x="2776247" y="0"/>
        <a:ext cx="2049143" cy="854832"/>
      </dsp:txXfrm>
    </dsp:sp>
    <dsp:sp modelId="{37FC5A6A-E2C8-487A-A47D-515CF2CF0561}">
      <dsp:nvSpPr>
        <dsp:cNvPr id="0" name=""/>
        <dsp:cNvSpPr/>
      </dsp:nvSpPr>
      <dsp:spPr>
        <a:xfrm>
          <a:off x="2280491" y="854832"/>
          <a:ext cx="3040655" cy="854832"/>
        </a:xfrm>
        <a:prstGeom prst="trapezoid">
          <a:avLst>
            <a:gd name="adj" fmla="val 88925"/>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kumimoji="1" lang="ja-JP" altLang="en-US" sz="3200" b="1" kern="1200" dirty="0">
              <a:solidFill>
                <a:schemeClr val="accent1"/>
              </a:solidFill>
              <a:effectLst>
                <a:outerShdw blurRad="38100" dist="38100" dir="2700000" algn="tl">
                  <a:srgbClr val="000000">
                    <a:alpha val="43137"/>
                  </a:srgbClr>
                </a:outerShdw>
              </a:effectLst>
            </a:rPr>
            <a:t>承認</a:t>
          </a:r>
        </a:p>
      </dsp:txBody>
      <dsp:txXfrm>
        <a:off x="2812606" y="854832"/>
        <a:ext cx="1976426" cy="854832"/>
      </dsp:txXfrm>
    </dsp:sp>
    <dsp:sp modelId="{9AE05E8D-191A-4803-BC48-6AF57074BBD5}">
      <dsp:nvSpPr>
        <dsp:cNvPr id="0" name=""/>
        <dsp:cNvSpPr/>
      </dsp:nvSpPr>
      <dsp:spPr>
        <a:xfrm>
          <a:off x="1520327" y="1709664"/>
          <a:ext cx="4560983" cy="854832"/>
        </a:xfrm>
        <a:prstGeom prst="trapezoid">
          <a:avLst>
            <a:gd name="adj" fmla="val 88925"/>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kumimoji="1" lang="ja-JP" altLang="en-US" sz="3200" b="1" kern="1200" dirty="0">
              <a:solidFill>
                <a:schemeClr val="accent1"/>
              </a:solidFill>
              <a:effectLst>
                <a:outerShdw blurRad="38100" dist="38100" dir="2700000" algn="tl">
                  <a:srgbClr val="000000">
                    <a:alpha val="43137"/>
                  </a:srgbClr>
                </a:outerShdw>
              </a:effectLst>
            </a:rPr>
            <a:t>社会的</a:t>
          </a:r>
          <a:r>
            <a:rPr kumimoji="1" lang="ja-JP" altLang="en-US" sz="2000" b="1" kern="1200" dirty="0">
              <a:solidFill>
                <a:schemeClr val="accent1"/>
              </a:solidFill>
              <a:effectLst>
                <a:outerShdw blurRad="38100" dist="38100" dir="2700000" algn="tl">
                  <a:srgbClr val="000000">
                    <a:alpha val="43137"/>
                  </a:srgbClr>
                </a:outerShdw>
              </a:effectLst>
            </a:rPr>
            <a:t>（所属と愛）</a:t>
          </a:r>
        </a:p>
      </dsp:txBody>
      <dsp:txXfrm>
        <a:off x="2318499" y="1709664"/>
        <a:ext cx="2964639" cy="854832"/>
      </dsp:txXfrm>
    </dsp:sp>
    <dsp:sp modelId="{A9515ACA-A178-48B4-8B70-4D172D6C52A0}">
      <dsp:nvSpPr>
        <dsp:cNvPr id="0" name=""/>
        <dsp:cNvSpPr/>
      </dsp:nvSpPr>
      <dsp:spPr>
        <a:xfrm>
          <a:off x="760163" y="2564497"/>
          <a:ext cx="6081311" cy="854832"/>
        </a:xfrm>
        <a:prstGeom prst="trapezoid">
          <a:avLst>
            <a:gd name="adj" fmla="val 88925"/>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kumimoji="1" lang="ja-JP" altLang="en-US" sz="3200" b="1" kern="1200" dirty="0">
              <a:solidFill>
                <a:schemeClr val="accent1"/>
              </a:solidFill>
              <a:effectLst>
                <a:outerShdw blurRad="38100" dist="38100" dir="2700000" algn="tl">
                  <a:srgbClr val="000000">
                    <a:alpha val="43137"/>
                  </a:srgbClr>
                </a:outerShdw>
              </a:effectLst>
            </a:rPr>
            <a:t>安全</a:t>
          </a:r>
        </a:p>
      </dsp:txBody>
      <dsp:txXfrm>
        <a:off x="1824393" y="2564497"/>
        <a:ext cx="3952852" cy="854832"/>
      </dsp:txXfrm>
    </dsp:sp>
    <dsp:sp modelId="{316FB093-9917-40A3-BECE-0F53CE813E3A}">
      <dsp:nvSpPr>
        <dsp:cNvPr id="0" name=""/>
        <dsp:cNvSpPr/>
      </dsp:nvSpPr>
      <dsp:spPr>
        <a:xfrm>
          <a:off x="0" y="3419329"/>
          <a:ext cx="7601639" cy="854832"/>
        </a:xfrm>
        <a:prstGeom prst="trapezoid">
          <a:avLst>
            <a:gd name="adj" fmla="val 88925"/>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kumimoji="1" lang="ja-JP" altLang="en-US" sz="3200" b="1" kern="1200" dirty="0">
              <a:solidFill>
                <a:schemeClr val="accent1"/>
              </a:solidFill>
              <a:effectLst>
                <a:outerShdw blurRad="38100" dist="38100" dir="2700000" algn="tl">
                  <a:srgbClr val="000000">
                    <a:alpha val="43137"/>
                  </a:srgbClr>
                </a:outerShdw>
              </a:effectLst>
            </a:rPr>
            <a:t>生理的</a:t>
          </a:r>
        </a:p>
      </dsp:txBody>
      <dsp:txXfrm>
        <a:off x="1330286" y="3419329"/>
        <a:ext cx="4941065" cy="8548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6A32C7-C43B-4130-A7B9-B8506A252002}">
      <dsp:nvSpPr>
        <dsp:cNvPr id="0" name=""/>
        <dsp:cNvSpPr/>
      </dsp:nvSpPr>
      <dsp:spPr>
        <a:xfrm>
          <a:off x="0" y="0"/>
          <a:ext cx="5770880" cy="657521"/>
        </a:xfrm>
        <a:prstGeom prst="roundRect">
          <a:avLst>
            <a:gd name="adj" fmla="val 10000"/>
          </a:avLst>
        </a:prstGeom>
        <a:solidFill>
          <a:schemeClr val="tx2">
            <a:lumMod val="40000"/>
            <a:lumOff val="6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kumimoji="1" lang="ja-JP" altLang="en-US" sz="2200" kern="1200" dirty="0">
              <a:solidFill>
                <a:schemeClr val="tx1"/>
              </a:solidFill>
            </a:rPr>
            <a:t>工程フロー</a:t>
          </a:r>
        </a:p>
      </dsp:txBody>
      <dsp:txXfrm>
        <a:off x="19258" y="19258"/>
        <a:ext cx="5005803" cy="619005"/>
      </dsp:txXfrm>
    </dsp:sp>
    <dsp:sp modelId="{A1ED21FA-9DDF-4EDE-B5E8-9CBC05ADB852}">
      <dsp:nvSpPr>
        <dsp:cNvPr id="0" name=""/>
        <dsp:cNvSpPr/>
      </dsp:nvSpPr>
      <dsp:spPr>
        <a:xfrm>
          <a:off x="483311" y="777070"/>
          <a:ext cx="5770880" cy="657521"/>
        </a:xfrm>
        <a:prstGeom prst="roundRect">
          <a:avLst>
            <a:gd name="adj" fmla="val 10000"/>
          </a:avLst>
        </a:prstGeom>
        <a:solidFill>
          <a:schemeClr val="tx2">
            <a:lumMod val="40000"/>
            <a:lumOff val="6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kumimoji="1" lang="ja-JP" altLang="en-US" sz="2200" kern="1200" dirty="0">
              <a:solidFill>
                <a:schemeClr val="tx1"/>
              </a:solidFill>
            </a:rPr>
            <a:t>工程ＦＭＥＡ</a:t>
          </a:r>
        </a:p>
      </dsp:txBody>
      <dsp:txXfrm>
        <a:off x="502569" y="796328"/>
        <a:ext cx="4821663" cy="619005"/>
      </dsp:txXfrm>
    </dsp:sp>
    <dsp:sp modelId="{E15C656C-86EF-40CC-B71A-907271DD3DC9}">
      <dsp:nvSpPr>
        <dsp:cNvPr id="0" name=""/>
        <dsp:cNvSpPr/>
      </dsp:nvSpPr>
      <dsp:spPr>
        <a:xfrm>
          <a:off x="959408" y="1554141"/>
          <a:ext cx="5770880" cy="657521"/>
        </a:xfrm>
        <a:prstGeom prst="roundRect">
          <a:avLst>
            <a:gd name="adj" fmla="val 10000"/>
          </a:avLst>
        </a:prstGeom>
        <a:solidFill>
          <a:schemeClr val="tx2">
            <a:lumMod val="40000"/>
            <a:lumOff val="6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kumimoji="1" lang="ja-JP" altLang="en-US" sz="2200" kern="1200" dirty="0">
              <a:solidFill>
                <a:schemeClr val="tx1"/>
              </a:solidFill>
            </a:rPr>
            <a:t>コントロールプラン</a:t>
          </a:r>
        </a:p>
      </dsp:txBody>
      <dsp:txXfrm>
        <a:off x="978666" y="1573399"/>
        <a:ext cx="4828877" cy="619005"/>
      </dsp:txXfrm>
    </dsp:sp>
    <dsp:sp modelId="{7445A4A8-7E3E-4A2E-9E48-9B13557198E2}">
      <dsp:nvSpPr>
        <dsp:cNvPr id="0" name=""/>
        <dsp:cNvSpPr/>
      </dsp:nvSpPr>
      <dsp:spPr>
        <a:xfrm>
          <a:off x="1442720" y="2331211"/>
          <a:ext cx="5770880" cy="657521"/>
        </a:xfrm>
        <a:prstGeom prst="roundRect">
          <a:avLst>
            <a:gd name="adj" fmla="val 10000"/>
          </a:avLst>
        </a:prstGeom>
        <a:solidFill>
          <a:schemeClr val="tx2">
            <a:lumMod val="40000"/>
            <a:lumOff val="6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kumimoji="1" lang="ja-JP" altLang="en-US" sz="2200" kern="1200" dirty="0">
              <a:solidFill>
                <a:schemeClr val="tx1"/>
              </a:solidFill>
            </a:rPr>
            <a:t>作業標準類</a:t>
          </a:r>
        </a:p>
      </dsp:txBody>
      <dsp:txXfrm>
        <a:off x="1461978" y="2350469"/>
        <a:ext cx="4821663" cy="619005"/>
      </dsp:txXfrm>
    </dsp:sp>
    <dsp:sp modelId="{3209749C-E6F2-4C7E-9DCA-2A0101D7743D}">
      <dsp:nvSpPr>
        <dsp:cNvPr id="0" name=""/>
        <dsp:cNvSpPr/>
      </dsp:nvSpPr>
      <dsp:spPr>
        <a:xfrm>
          <a:off x="5343491" y="503601"/>
          <a:ext cx="427388" cy="427388"/>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kumimoji="1" lang="ja-JP" altLang="en-US" sz="1400" kern="1200"/>
        </a:p>
      </dsp:txBody>
      <dsp:txXfrm>
        <a:off x="5439653" y="503601"/>
        <a:ext cx="235064" cy="321609"/>
      </dsp:txXfrm>
    </dsp:sp>
    <dsp:sp modelId="{8C2D2FEC-9202-4473-81B3-99A89745B436}">
      <dsp:nvSpPr>
        <dsp:cNvPr id="0" name=""/>
        <dsp:cNvSpPr/>
      </dsp:nvSpPr>
      <dsp:spPr>
        <a:xfrm>
          <a:off x="5826802" y="1280672"/>
          <a:ext cx="427388" cy="427388"/>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kumimoji="1" lang="ja-JP" altLang="en-US" sz="1400" kern="1200"/>
        </a:p>
      </dsp:txBody>
      <dsp:txXfrm>
        <a:off x="5922964" y="1280672"/>
        <a:ext cx="235064" cy="321609"/>
      </dsp:txXfrm>
    </dsp:sp>
    <dsp:sp modelId="{2366170A-2908-4F70-ADC9-DD8C26B29A1E}">
      <dsp:nvSpPr>
        <dsp:cNvPr id="0" name=""/>
        <dsp:cNvSpPr/>
      </dsp:nvSpPr>
      <dsp:spPr>
        <a:xfrm>
          <a:off x="6302899" y="2057742"/>
          <a:ext cx="427388" cy="427388"/>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kumimoji="1" lang="ja-JP" altLang="en-US" sz="1400" kern="1200"/>
        </a:p>
      </dsp:txBody>
      <dsp:txXfrm>
        <a:off x="6399061" y="2057742"/>
        <a:ext cx="235064" cy="32160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0AFCA3-8E57-447C-92BD-FA2862CD8D71}">
      <dsp:nvSpPr>
        <dsp:cNvPr id="0" name=""/>
        <dsp:cNvSpPr/>
      </dsp:nvSpPr>
      <dsp:spPr>
        <a:xfrm rot="5400000">
          <a:off x="976857" y="1395805"/>
          <a:ext cx="507268" cy="577507"/>
        </a:xfrm>
        <a:prstGeom prst="bentUpArrow">
          <a:avLst>
            <a:gd name="adj1" fmla="val 32840"/>
            <a:gd name="adj2" fmla="val 25000"/>
            <a:gd name="adj3" fmla="val 35780"/>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19E879-3DF5-42C4-BBB1-236160C71FF3}">
      <dsp:nvSpPr>
        <dsp:cNvPr id="0" name=""/>
        <dsp:cNvSpPr/>
      </dsp:nvSpPr>
      <dsp:spPr>
        <a:xfrm>
          <a:off x="3729" y="469500"/>
          <a:ext cx="3456353" cy="902604"/>
        </a:xfrm>
        <a:prstGeom prst="roundRect">
          <a:avLst>
            <a:gd name="adj" fmla="val 1667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kumimoji="1" lang="ja-JP" altLang="en-US" sz="1800" b="1" kern="1200" dirty="0"/>
            <a:t>ＩＳＯ９００１の第二者監査</a:t>
          </a:r>
        </a:p>
      </dsp:txBody>
      <dsp:txXfrm>
        <a:off x="47798" y="513569"/>
        <a:ext cx="3368215" cy="814466"/>
      </dsp:txXfrm>
    </dsp:sp>
    <dsp:sp modelId="{A452F67A-6846-4A20-9F9F-850BAC2FBBBB}">
      <dsp:nvSpPr>
        <dsp:cNvPr id="0" name=""/>
        <dsp:cNvSpPr/>
      </dsp:nvSpPr>
      <dsp:spPr>
        <a:xfrm>
          <a:off x="2158877" y="678944"/>
          <a:ext cx="621075" cy="483112"/>
        </a:xfrm>
        <a:prstGeom prst="rect">
          <a:avLst/>
        </a:prstGeom>
        <a:noFill/>
        <a:ln>
          <a:noFill/>
        </a:ln>
        <a:effectLst/>
      </dsp:spPr>
      <dsp:style>
        <a:lnRef idx="0">
          <a:scrgbClr r="0" g="0" b="0"/>
        </a:lnRef>
        <a:fillRef idx="0">
          <a:scrgbClr r="0" g="0" b="0"/>
        </a:fillRef>
        <a:effectRef idx="0">
          <a:scrgbClr r="0" g="0" b="0"/>
        </a:effectRef>
        <a:fontRef idx="minor"/>
      </dsp:style>
    </dsp:sp>
    <dsp:sp modelId="{88DFDAB8-329E-40A4-B7CF-CC33FCE3101E}">
      <dsp:nvSpPr>
        <dsp:cNvPr id="0" name=""/>
        <dsp:cNvSpPr/>
      </dsp:nvSpPr>
      <dsp:spPr>
        <a:xfrm rot="5400000">
          <a:off x="2731103" y="2279823"/>
          <a:ext cx="507268" cy="577507"/>
        </a:xfrm>
        <a:prstGeom prst="bentUpArrow">
          <a:avLst>
            <a:gd name="adj1" fmla="val 32840"/>
            <a:gd name="adj2" fmla="val 25000"/>
            <a:gd name="adj3" fmla="val 35780"/>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8D9276-C068-4AC9-94F3-1841D7364DFF}">
      <dsp:nvSpPr>
        <dsp:cNvPr id="0" name=""/>
        <dsp:cNvSpPr/>
      </dsp:nvSpPr>
      <dsp:spPr>
        <a:xfrm>
          <a:off x="1593652" y="1366459"/>
          <a:ext cx="3456353" cy="902604"/>
        </a:xfrm>
        <a:prstGeom prst="roundRect">
          <a:avLst>
            <a:gd name="adj" fmla="val 1667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kumimoji="1" lang="ja-JP" altLang="en-US" sz="1800" b="1" kern="1200" dirty="0"/>
            <a:t>ＩＳＯ９００１の第三者認証</a:t>
          </a:r>
        </a:p>
      </dsp:txBody>
      <dsp:txXfrm>
        <a:off x="1637721" y="1410528"/>
        <a:ext cx="3368215" cy="814466"/>
      </dsp:txXfrm>
    </dsp:sp>
    <dsp:sp modelId="{CAFC032F-8C7F-4405-BFC0-1E22F829E1B2}">
      <dsp:nvSpPr>
        <dsp:cNvPr id="0" name=""/>
        <dsp:cNvSpPr/>
      </dsp:nvSpPr>
      <dsp:spPr>
        <a:xfrm>
          <a:off x="3817927" y="1502830"/>
          <a:ext cx="621075" cy="483112"/>
        </a:xfrm>
        <a:prstGeom prst="rect">
          <a:avLst/>
        </a:prstGeom>
        <a:noFill/>
        <a:ln>
          <a:noFill/>
        </a:ln>
        <a:effectLst/>
      </dsp:spPr>
      <dsp:style>
        <a:lnRef idx="0">
          <a:scrgbClr r="0" g="0" b="0"/>
        </a:lnRef>
        <a:fillRef idx="0">
          <a:scrgbClr r="0" g="0" b="0"/>
        </a:fillRef>
        <a:effectRef idx="0">
          <a:scrgbClr r="0" g="0" b="0"/>
        </a:effectRef>
        <a:fontRef idx="minor"/>
      </dsp:style>
    </dsp:sp>
    <dsp:sp modelId="{85DCB213-D45C-4681-AB75-93FA8038FEF9}">
      <dsp:nvSpPr>
        <dsp:cNvPr id="0" name=""/>
        <dsp:cNvSpPr/>
      </dsp:nvSpPr>
      <dsp:spPr>
        <a:xfrm rot="5400000">
          <a:off x="4404620" y="3170511"/>
          <a:ext cx="507268" cy="577507"/>
        </a:xfrm>
        <a:prstGeom prst="bentUpArrow">
          <a:avLst>
            <a:gd name="adj1" fmla="val 32840"/>
            <a:gd name="adj2" fmla="val 25000"/>
            <a:gd name="adj3" fmla="val 35780"/>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4DEF7A-DAD3-484B-9595-F5F4BF4FFBDF}">
      <dsp:nvSpPr>
        <dsp:cNvPr id="0" name=""/>
        <dsp:cNvSpPr/>
      </dsp:nvSpPr>
      <dsp:spPr>
        <a:xfrm>
          <a:off x="3342981" y="2224105"/>
          <a:ext cx="3950700" cy="902604"/>
        </a:xfrm>
        <a:prstGeom prst="roundRect">
          <a:avLst>
            <a:gd name="adj" fmla="val 1667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kumimoji="1" lang="ja-JP" altLang="en-US" sz="1800" b="1" kern="1200" dirty="0"/>
            <a:t>ＩＳＯ９００１の第三者認証　</a:t>
          </a:r>
          <a:r>
            <a:rPr kumimoji="1" lang="en-US" altLang="ja-JP" sz="1800" b="1" kern="1200" dirty="0"/>
            <a:t>+</a:t>
          </a:r>
          <a:r>
            <a:rPr kumimoji="1" lang="ja-JP" altLang="en-US" sz="1800" b="1" kern="1200" dirty="0"/>
            <a:t>　　顧客要求事項の第二者監査</a:t>
          </a:r>
        </a:p>
      </dsp:txBody>
      <dsp:txXfrm>
        <a:off x="3387050" y="2268174"/>
        <a:ext cx="3862562" cy="814466"/>
      </dsp:txXfrm>
    </dsp:sp>
    <dsp:sp modelId="{461AEE48-3347-426C-B7FB-AAB42F82D901}">
      <dsp:nvSpPr>
        <dsp:cNvPr id="0" name=""/>
        <dsp:cNvSpPr/>
      </dsp:nvSpPr>
      <dsp:spPr>
        <a:xfrm>
          <a:off x="5724150" y="2326716"/>
          <a:ext cx="621075" cy="483112"/>
        </a:xfrm>
        <a:prstGeom prst="rect">
          <a:avLst/>
        </a:prstGeom>
        <a:noFill/>
        <a:ln>
          <a:noFill/>
        </a:ln>
        <a:effectLst/>
      </dsp:spPr>
      <dsp:style>
        <a:lnRef idx="0">
          <a:scrgbClr r="0" g="0" b="0"/>
        </a:lnRef>
        <a:fillRef idx="0">
          <a:scrgbClr r="0" g="0" b="0"/>
        </a:fillRef>
        <a:effectRef idx="0">
          <a:scrgbClr r="0" g="0" b="0"/>
        </a:effectRef>
        <a:fontRef idx="minor"/>
      </dsp:style>
    </dsp:sp>
    <dsp:sp modelId="{91881A58-51EB-4805-9759-0F28504F81BB}">
      <dsp:nvSpPr>
        <dsp:cNvPr id="0" name=""/>
        <dsp:cNvSpPr/>
      </dsp:nvSpPr>
      <dsp:spPr>
        <a:xfrm rot="5400000">
          <a:off x="5757665" y="4100173"/>
          <a:ext cx="507268" cy="577507"/>
        </a:xfrm>
        <a:prstGeom prst="bentUpArrow">
          <a:avLst>
            <a:gd name="adj1" fmla="val 32840"/>
            <a:gd name="adj2" fmla="val 25000"/>
            <a:gd name="adj3" fmla="val 35780"/>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64EBAD-D574-4193-9D44-5F345A2AE936}">
      <dsp:nvSpPr>
        <dsp:cNvPr id="0" name=""/>
        <dsp:cNvSpPr/>
      </dsp:nvSpPr>
      <dsp:spPr>
        <a:xfrm>
          <a:off x="4980879" y="3152707"/>
          <a:ext cx="3867560" cy="902604"/>
        </a:xfrm>
        <a:prstGeom prst="roundRect">
          <a:avLst>
            <a:gd name="adj" fmla="val 1667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kumimoji="1" lang="ja-JP" altLang="en-US" sz="1800" b="1" kern="1200" dirty="0"/>
            <a:t>ＩＳＯ９００１の第三者認証　</a:t>
          </a:r>
          <a:r>
            <a:rPr kumimoji="1" lang="en-US" altLang="ja-JP" sz="1800" b="1" kern="1200" dirty="0"/>
            <a:t>+</a:t>
          </a:r>
          <a:r>
            <a:rPr kumimoji="1" lang="ja-JP" altLang="en-US" sz="1800" b="1" kern="1200" dirty="0"/>
            <a:t>　　ＩＡＴＦ１６９４９の第二者監査</a:t>
          </a:r>
        </a:p>
      </dsp:txBody>
      <dsp:txXfrm>
        <a:off x="5024948" y="3196776"/>
        <a:ext cx="3779422" cy="814466"/>
      </dsp:txXfrm>
    </dsp:sp>
    <dsp:sp modelId="{F4D5DB58-3F3C-45C5-82AC-FF8FF1ED17A5}">
      <dsp:nvSpPr>
        <dsp:cNvPr id="0" name=""/>
        <dsp:cNvSpPr/>
      </dsp:nvSpPr>
      <dsp:spPr>
        <a:xfrm>
          <a:off x="7341630" y="3150602"/>
          <a:ext cx="621075" cy="483112"/>
        </a:xfrm>
        <a:prstGeom prst="rect">
          <a:avLst/>
        </a:prstGeom>
        <a:noFill/>
        <a:ln>
          <a:noFill/>
        </a:ln>
        <a:effectLst/>
      </dsp:spPr>
      <dsp:style>
        <a:lnRef idx="0">
          <a:scrgbClr r="0" g="0" b="0"/>
        </a:lnRef>
        <a:fillRef idx="0">
          <a:scrgbClr r="0" g="0" b="0"/>
        </a:fillRef>
        <a:effectRef idx="0">
          <a:scrgbClr r="0" g="0" b="0"/>
        </a:effectRef>
        <a:fontRef idx="minor"/>
      </dsp:style>
    </dsp:sp>
    <dsp:sp modelId="{2A5BA03A-6042-48DA-A2E2-4B2480886AD8}">
      <dsp:nvSpPr>
        <dsp:cNvPr id="0" name=""/>
        <dsp:cNvSpPr/>
      </dsp:nvSpPr>
      <dsp:spPr>
        <a:xfrm>
          <a:off x="6639928" y="4040061"/>
          <a:ext cx="3871941" cy="902604"/>
        </a:xfrm>
        <a:prstGeom prst="roundRect">
          <a:avLst>
            <a:gd name="adj" fmla="val 1667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kumimoji="1" lang="ja-JP" altLang="en-US" sz="1800" b="1" kern="1200" dirty="0"/>
            <a:t>ＩＡＴＦ１６９４９の第三者認証</a:t>
          </a:r>
        </a:p>
      </dsp:txBody>
      <dsp:txXfrm>
        <a:off x="6683997" y="4084130"/>
        <a:ext cx="3783803" cy="81446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223E9D-C61E-43E4-A7A2-F25A112BCD91}">
      <dsp:nvSpPr>
        <dsp:cNvPr id="0" name=""/>
        <dsp:cNvSpPr/>
      </dsp:nvSpPr>
      <dsp:spPr>
        <a:xfrm>
          <a:off x="0" y="0"/>
          <a:ext cx="7221728" cy="875360"/>
        </a:xfrm>
        <a:prstGeom prst="roundRect">
          <a:avLst>
            <a:gd name="adj" fmla="val 10000"/>
          </a:avLst>
        </a:prstGeom>
        <a:solidFill>
          <a:schemeClr val="tx2">
            <a:lumMod val="20000"/>
            <a:lumOff val="80000"/>
          </a:schemeClr>
        </a:solidFill>
        <a:ln w="190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kumimoji="1" lang="ja-JP" altLang="en-US" sz="2000" kern="1200" dirty="0">
              <a:solidFill>
                <a:schemeClr val="tx1"/>
              </a:solidFill>
            </a:rPr>
            <a:t>供給者情報の監視（パフォーマンス／二社監査／認証状態／不適合などのリスク）</a:t>
          </a:r>
        </a:p>
      </dsp:txBody>
      <dsp:txXfrm>
        <a:off x="25638" y="25638"/>
        <a:ext cx="6203178" cy="824084"/>
      </dsp:txXfrm>
    </dsp:sp>
    <dsp:sp modelId="{FA301EB3-1C7A-46D8-BF65-16888DD1CE17}">
      <dsp:nvSpPr>
        <dsp:cNvPr id="0" name=""/>
        <dsp:cNvSpPr/>
      </dsp:nvSpPr>
      <dsp:spPr>
        <a:xfrm>
          <a:off x="604819" y="1034516"/>
          <a:ext cx="7221728" cy="875360"/>
        </a:xfrm>
        <a:prstGeom prst="roundRect">
          <a:avLst>
            <a:gd name="adj" fmla="val 10000"/>
          </a:avLst>
        </a:prstGeom>
        <a:solidFill>
          <a:schemeClr val="tx2">
            <a:lumMod val="20000"/>
            <a:lumOff val="80000"/>
          </a:schemeClr>
        </a:solidFill>
        <a:ln w="190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kumimoji="1" lang="ja-JP" altLang="en-US" sz="2000" kern="1200" dirty="0">
              <a:solidFill>
                <a:schemeClr val="tx1"/>
              </a:solidFill>
            </a:rPr>
            <a:t>開発（改善）方法の計画（供給者の優先順位／方法・程度・日程）</a:t>
          </a:r>
        </a:p>
      </dsp:txBody>
      <dsp:txXfrm>
        <a:off x="630457" y="1060154"/>
        <a:ext cx="5996648" cy="824084"/>
      </dsp:txXfrm>
    </dsp:sp>
    <dsp:sp modelId="{32EFF8E0-554A-4B74-99F0-1C6EEB66DAD7}">
      <dsp:nvSpPr>
        <dsp:cNvPr id="0" name=""/>
        <dsp:cNvSpPr/>
      </dsp:nvSpPr>
      <dsp:spPr>
        <a:xfrm>
          <a:off x="1200612" y="2069033"/>
          <a:ext cx="7221728" cy="875360"/>
        </a:xfrm>
        <a:prstGeom prst="roundRect">
          <a:avLst>
            <a:gd name="adj" fmla="val 10000"/>
          </a:avLst>
        </a:prstGeom>
        <a:solidFill>
          <a:schemeClr val="tx2">
            <a:lumMod val="20000"/>
            <a:lumOff val="80000"/>
          </a:schemeClr>
        </a:solidFill>
        <a:ln w="190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kumimoji="1" lang="ja-JP" altLang="en-US" sz="2000" kern="1200" dirty="0">
              <a:solidFill>
                <a:schemeClr val="tx1"/>
              </a:solidFill>
            </a:rPr>
            <a:t>供給者の開発（改善）活動</a:t>
          </a:r>
        </a:p>
      </dsp:txBody>
      <dsp:txXfrm>
        <a:off x="1226250" y="2094671"/>
        <a:ext cx="6005675" cy="824084"/>
      </dsp:txXfrm>
    </dsp:sp>
    <dsp:sp modelId="{118AED77-3F6C-4E5B-836D-B4649DCB61E6}">
      <dsp:nvSpPr>
        <dsp:cNvPr id="0" name=""/>
        <dsp:cNvSpPr/>
      </dsp:nvSpPr>
      <dsp:spPr>
        <a:xfrm>
          <a:off x="1805432" y="3103549"/>
          <a:ext cx="7221728" cy="875360"/>
        </a:xfrm>
        <a:prstGeom prst="roundRect">
          <a:avLst>
            <a:gd name="adj" fmla="val 10000"/>
          </a:avLst>
        </a:prstGeom>
        <a:solidFill>
          <a:schemeClr val="tx2">
            <a:lumMod val="20000"/>
            <a:lumOff val="80000"/>
          </a:schemeClr>
        </a:solidFill>
        <a:ln w="190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kumimoji="1" lang="ja-JP" altLang="en-US" sz="2000" kern="1200" dirty="0">
              <a:solidFill>
                <a:schemeClr val="tx1"/>
              </a:solidFill>
            </a:rPr>
            <a:t>フォロー（個別是正の実施／再計画）</a:t>
          </a:r>
        </a:p>
      </dsp:txBody>
      <dsp:txXfrm>
        <a:off x="1831070" y="3129187"/>
        <a:ext cx="5996648" cy="824084"/>
      </dsp:txXfrm>
    </dsp:sp>
    <dsp:sp modelId="{596A8B2F-3EFA-4080-A031-572F5E55E1A9}">
      <dsp:nvSpPr>
        <dsp:cNvPr id="0" name=""/>
        <dsp:cNvSpPr/>
      </dsp:nvSpPr>
      <dsp:spPr>
        <a:xfrm>
          <a:off x="6652743" y="670446"/>
          <a:ext cx="568984" cy="568984"/>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kumimoji="1" lang="ja-JP" altLang="en-US" sz="1900" kern="1200"/>
        </a:p>
      </dsp:txBody>
      <dsp:txXfrm>
        <a:off x="6780764" y="670446"/>
        <a:ext cx="312942" cy="428160"/>
      </dsp:txXfrm>
    </dsp:sp>
    <dsp:sp modelId="{42BF5D12-CA91-4868-A35E-A87FF8246EC2}">
      <dsp:nvSpPr>
        <dsp:cNvPr id="0" name=""/>
        <dsp:cNvSpPr/>
      </dsp:nvSpPr>
      <dsp:spPr>
        <a:xfrm>
          <a:off x="7257563" y="1704962"/>
          <a:ext cx="568984" cy="568984"/>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kumimoji="1" lang="ja-JP" altLang="en-US" sz="1900" kern="1200"/>
        </a:p>
      </dsp:txBody>
      <dsp:txXfrm>
        <a:off x="7385584" y="1704962"/>
        <a:ext cx="312942" cy="428160"/>
      </dsp:txXfrm>
    </dsp:sp>
    <dsp:sp modelId="{603A6774-4331-490F-AA6C-344EDB22F97C}">
      <dsp:nvSpPr>
        <dsp:cNvPr id="0" name=""/>
        <dsp:cNvSpPr/>
      </dsp:nvSpPr>
      <dsp:spPr>
        <a:xfrm>
          <a:off x="7853356" y="2739479"/>
          <a:ext cx="568984" cy="568984"/>
        </a:xfrm>
        <a:prstGeom prst="downArrow">
          <a:avLst>
            <a:gd name="adj1" fmla="val 55000"/>
            <a:gd name="adj2" fmla="val 45000"/>
          </a:avLst>
        </a:prstGeom>
        <a:solidFill>
          <a:schemeClr val="accent1">
            <a:alpha val="90000"/>
          </a:schemeClr>
        </a:solidFill>
        <a:ln w="12700" cap="flat" cmpd="sng" algn="ctr">
          <a:solidFill>
            <a:schemeClr val="tx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kumimoji="1" lang="ja-JP" altLang="en-US" sz="1900" kern="1200"/>
        </a:p>
      </dsp:txBody>
      <dsp:txXfrm>
        <a:off x="7981377" y="2739479"/>
        <a:ext cx="312942" cy="42816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4352"/>
          <a:ext cx="9489440" cy="1068831"/>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第１章　</a:t>
          </a:r>
          <a:r>
            <a:rPr kumimoji="1" lang="en-US" altLang="ja-JP" sz="2800" kern="1200" dirty="0">
              <a:solidFill>
                <a:schemeClr val="tx1"/>
              </a:solidFill>
            </a:rPr>
            <a:t>IATF16949:2016</a:t>
          </a:r>
          <a:r>
            <a:rPr kumimoji="1" lang="ja-JP" altLang="en-US" sz="2800" kern="1200" dirty="0">
              <a:solidFill>
                <a:schemeClr val="tx1"/>
              </a:solidFill>
            </a:rPr>
            <a:t>概要</a:t>
          </a:r>
        </a:p>
      </dsp:txBody>
      <dsp:txXfrm>
        <a:off x="52176" y="66528"/>
        <a:ext cx="9385088" cy="964479"/>
      </dsp:txXfrm>
    </dsp:sp>
    <dsp:sp modelId="{81830890-C69A-4F20-B0B1-1C237CA135B2}">
      <dsp:nvSpPr>
        <dsp:cNvPr id="0" name=""/>
        <dsp:cNvSpPr/>
      </dsp:nvSpPr>
      <dsp:spPr>
        <a:xfrm>
          <a:off x="0" y="1172464"/>
          <a:ext cx="9489440" cy="1068831"/>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第２章　</a:t>
          </a:r>
          <a:r>
            <a:rPr kumimoji="1" lang="en-US" altLang="ja-JP" sz="2800" kern="1200" dirty="0">
              <a:solidFill>
                <a:schemeClr val="tx1"/>
              </a:solidFill>
            </a:rPr>
            <a:t>IATF16949:2016</a:t>
          </a:r>
          <a:r>
            <a:rPr kumimoji="1" lang="ja-JP" altLang="en-US" sz="2800" kern="1200" dirty="0">
              <a:solidFill>
                <a:schemeClr val="tx1"/>
              </a:solidFill>
            </a:rPr>
            <a:t>要求事項の理解</a:t>
          </a:r>
        </a:p>
      </dsp:txBody>
      <dsp:txXfrm>
        <a:off x="52176" y="1224640"/>
        <a:ext cx="9385088" cy="964479"/>
      </dsp:txXfrm>
    </dsp:sp>
    <dsp:sp modelId="{65E655FC-AD2B-4464-B659-8288DA5BCAD7}">
      <dsp:nvSpPr>
        <dsp:cNvPr id="0" name=""/>
        <dsp:cNvSpPr/>
      </dsp:nvSpPr>
      <dsp:spPr>
        <a:xfrm>
          <a:off x="0" y="2330575"/>
          <a:ext cx="9489440" cy="1068831"/>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第３章　コアツールの理解</a:t>
          </a:r>
        </a:p>
      </dsp:txBody>
      <dsp:txXfrm>
        <a:off x="52176" y="2382751"/>
        <a:ext cx="9385088" cy="96447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93"/>
          <a:ext cx="9489440" cy="562788"/>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１．</a:t>
          </a:r>
          <a:r>
            <a:rPr kumimoji="1" lang="en-US" altLang="ja-JP" sz="3600" kern="1200" dirty="0">
              <a:solidFill>
                <a:schemeClr val="bg1"/>
              </a:solidFill>
            </a:rPr>
            <a:t>IATF16949</a:t>
          </a:r>
          <a:r>
            <a:rPr kumimoji="1" lang="ja-JP" altLang="en-US" sz="3600" kern="1200" dirty="0">
              <a:solidFill>
                <a:schemeClr val="bg1"/>
              </a:solidFill>
            </a:rPr>
            <a:t>とコアツール</a:t>
          </a:r>
        </a:p>
      </dsp:txBody>
      <dsp:txXfrm>
        <a:off x="27473" y="27566"/>
        <a:ext cx="9434494" cy="507842"/>
      </dsp:txXfrm>
    </dsp:sp>
    <dsp:sp modelId="{81830890-C69A-4F20-B0B1-1C237CA135B2}">
      <dsp:nvSpPr>
        <dsp:cNvPr id="0" name=""/>
        <dsp:cNvSpPr/>
      </dsp:nvSpPr>
      <dsp:spPr>
        <a:xfrm>
          <a:off x="0" y="570250"/>
          <a:ext cx="9489440" cy="562788"/>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２．ＡＰＱＰ（先行製品品質計画）</a:t>
          </a:r>
        </a:p>
      </dsp:txBody>
      <dsp:txXfrm>
        <a:off x="27473" y="597723"/>
        <a:ext cx="9434494" cy="507842"/>
      </dsp:txXfrm>
    </dsp:sp>
    <dsp:sp modelId="{65E655FC-AD2B-4464-B659-8288DA5BCAD7}">
      <dsp:nvSpPr>
        <dsp:cNvPr id="0" name=""/>
        <dsp:cNvSpPr/>
      </dsp:nvSpPr>
      <dsp:spPr>
        <a:xfrm>
          <a:off x="0" y="1140407"/>
          <a:ext cx="9489440" cy="562788"/>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３．ＰＰＡＰ（生産部品承認プロセス）</a:t>
          </a:r>
        </a:p>
      </dsp:txBody>
      <dsp:txXfrm>
        <a:off x="27473" y="1167880"/>
        <a:ext cx="9434494" cy="507842"/>
      </dsp:txXfrm>
    </dsp:sp>
    <dsp:sp modelId="{E3A56FE4-79EA-4B49-A4ED-62565EF160D0}">
      <dsp:nvSpPr>
        <dsp:cNvPr id="0" name=""/>
        <dsp:cNvSpPr/>
      </dsp:nvSpPr>
      <dsp:spPr>
        <a:xfrm>
          <a:off x="0" y="1710564"/>
          <a:ext cx="9489440" cy="562788"/>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４．ＦＭＥＡ（潜在的故障モード影響解析）</a:t>
          </a:r>
        </a:p>
      </dsp:txBody>
      <dsp:txXfrm>
        <a:off x="27473" y="1738037"/>
        <a:ext cx="9434494" cy="507842"/>
      </dsp:txXfrm>
    </dsp:sp>
    <dsp:sp modelId="{D3F5427D-628A-4877-809F-6AE771E909C6}">
      <dsp:nvSpPr>
        <dsp:cNvPr id="0" name=""/>
        <dsp:cNvSpPr/>
      </dsp:nvSpPr>
      <dsp:spPr>
        <a:xfrm>
          <a:off x="0" y="2280721"/>
          <a:ext cx="9489440" cy="562788"/>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５．ＳＰＣ（統計的工程管理）</a:t>
          </a:r>
        </a:p>
      </dsp:txBody>
      <dsp:txXfrm>
        <a:off x="27473" y="2308194"/>
        <a:ext cx="9434494" cy="507842"/>
      </dsp:txXfrm>
    </dsp:sp>
    <dsp:sp modelId="{EA344365-D2E0-4CE9-B2FA-657414E957A5}">
      <dsp:nvSpPr>
        <dsp:cNvPr id="0" name=""/>
        <dsp:cNvSpPr/>
      </dsp:nvSpPr>
      <dsp:spPr>
        <a:xfrm>
          <a:off x="0" y="2850878"/>
          <a:ext cx="9489440" cy="562788"/>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６．ＭＳＡ（測定システム解析）</a:t>
          </a:r>
        </a:p>
      </dsp:txBody>
      <dsp:txXfrm>
        <a:off x="27473" y="2878351"/>
        <a:ext cx="9434494" cy="50784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925"/>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a:t>
          </a:r>
          <a:r>
            <a:rPr kumimoji="1" lang="en-US" altLang="ja-JP" sz="2800" kern="1200" dirty="0">
              <a:solidFill>
                <a:schemeClr val="tx1"/>
              </a:solidFill>
            </a:rPr>
            <a:t>IATF16949</a:t>
          </a:r>
          <a:r>
            <a:rPr kumimoji="1" lang="ja-JP" altLang="en-US" sz="2800" kern="1200" dirty="0">
              <a:solidFill>
                <a:schemeClr val="tx1"/>
              </a:solidFill>
            </a:rPr>
            <a:t>とコアツール</a:t>
          </a:r>
        </a:p>
      </dsp:txBody>
      <dsp:txXfrm>
        <a:off x="27446" y="29371"/>
        <a:ext cx="9434548" cy="507344"/>
      </dsp:txXfrm>
    </dsp:sp>
    <dsp:sp modelId="{81830890-C69A-4F20-B0B1-1C237CA135B2}">
      <dsp:nvSpPr>
        <dsp:cNvPr id="0" name=""/>
        <dsp:cNvSpPr/>
      </dsp:nvSpPr>
      <dsp:spPr>
        <a:xfrm>
          <a:off x="0" y="571459"/>
          <a:ext cx="9489440" cy="562236"/>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２．ＡＰＱＰ（先行製品品質計画）</a:t>
          </a:r>
        </a:p>
      </dsp:txBody>
      <dsp:txXfrm>
        <a:off x="27446" y="598905"/>
        <a:ext cx="9434548" cy="507344"/>
      </dsp:txXfrm>
    </dsp:sp>
    <dsp:sp modelId="{65E655FC-AD2B-4464-B659-8288DA5BCAD7}">
      <dsp:nvSpPr>
        <dsp:cNvPr id="0" name=""/>
        <dsp:cNvSpPr/>
      </dsp:nvSpPr>
      <dsp:spPr>
        <a:xfrm>
          <a:off x="0" y="1140994"/>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３．ＰＰＡＰ（生産部品承認プロセス）</a:t>
          </a:r>
        </a:p>
      </dsp:txBody>
      <dsp:txXfrm>
        <a:off x="27446" y="1168440"/>
        <a:ext cx="9434548" cy="507344"/>
      </dsp:txXfrm>
    </dsp:sp>
    <dsp:sp modelId="{E3A56FE4-79EA-4B49-A4ED-62565EF160D0}">
      <dsp:nvSpPr>
        <dsp:cNvPr id="0" name=""/>
        <dsp:cNvSpPr/>
      </dsp:nvSpPr>
      <dsp:spPr>
        <a:xfrm>
          <a:off x="0" y="171052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４．ＦＭＥＡ（潜在的故障モード影響解析）</a:t>
          </a:r>
        </a:p>
      </dsp:txBody>
      <dsp:txXfrm>
        <a:off x="27446" y="1737975"/>
        <a:ext cx="9434548" cy="507344"/>
      </dsp:txXfrm>
    </dsp:sp>
    <dsp:sp modelId="{D3F5427D-628A-4877-809F-6AE771E909C6}">
      <dsp:nvSpPr>
        <dsp:cNvPr id="0" name=""/>
        <dsp:cNvSpPr/>
      </dsp:nvSpPr>
      <dsp:spPr>
        <a:xfrm>
          <a:off x="0" y="2280063"/>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５．ＳＰＣ（統計的工程管理）</a:t>
          </a:r>
        </a:p>
      </dsp:txBody>
      <dsp:txXfrm>
        <a:off x="27446" y="2307509"/>
        <a:ext cx="9434548" cy="507344"/>
      </dsp:txXfrm>
    </dsp:sp>
    <dsp:sp modelId="{EA344365-D2E0-4CE9-B2FA-657414E957A5}">
      <dsp:nvSpPr>
        <dsp:cNvPr id="0" name=""/>
        <dsp:cNvSpPr/>
      </dsp:nvSpPr>
      <dsp:spPr>
        <a:xfrm>
          <a:off x="0" y="2849598"/>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６．ＭＳＡ（測定システム解析）</a:t>
          </a:r>
        </a:p>
      </dsp:txBody>
      <dsp:txXfrm>
        <a:off x="27446" y="2877044"/>
        <a:ext cx="9434548" cy="50734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5B7B2-5B66-46B8-BA14-93B2464B2D23}">
      <dsp:nvSpPr>
        <dsp:cNvPr id="0" name=""/>
        <dsp:cNvSpPr/>
      </dsp:nvSpPr>
      <dsp:spPr>
        <a:xfrm>
          <a:off x="708900" y="0"/>
          <a:ext cx="8034207" cy="914553"/>
        </a:xfrm>
        <a:prstGeom prst="rightArrow">
          <a:avLst/>
        </a:prstGeom>
        <a:solidFill>
          <a:schemeClr val="accent4">
            <a:lumMod val="20000"/>
            <a:lumOff val="80000"/>
          </a:schemeClr>
        </a:solidFill>
        <a:ln w="19050">
          <a:solidFill>
            <a:schemeClr val="tx1"/>
          </a:solidFill>
        </a:ln>
        <a:effectLst/>
      </dsp:spPr>
      <dsp:style>
        <a:lnRef idx="0">
          <a:scrgbClr r="0" g="0" b="0"/>
        </a:lnRef>
        <a:fillRef idx="1">
          <a:scrgbClr r="0" g="0" b="0"/>
        </a:fillRef>
        <a:effectRef idx="0">
          <a:scrgbClr r="0" g="0" b="0"/>
        </a:effectRef>
        <a:fontRef idx="minor"/>
      </dsp:style>
    </dsp:sp>
    <dsp:sp modelId="{16084BF1-2851-497A-8C17-C05D99993E55}">
      <dsp:nvSpPr>
        <dsp:cNvPr id="0" name=""/>
        <dsp:cNvSpPr/>
      </dsp:nvSpPr>
      <dsp:spPr>
        <a:xfrm>
          <a:off x="2769" y="274365"/>
          <a:ext cx="1667024" cy="365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kumimoji="1" lang="ja-JP" altLang="en-US" sz="1600" b="1" kern="1200" dirty="0"/>
            <a:t>Ｐｌａｎ</a:t>
          </a:r>
        </a:p>
      </dsp:txBody>
      <dsp:txXfrm>
        <a:off x="20627" y="292223"/>
        <a:ext cx="1631308" cy="330105"/>
      </dsp:txXfrm>
    </dsp:sp>
    <dsp:sp modelId="{13EAC30A-F985-4F70-B263-2C4FA37926BB}">
      <dsp:nvSpPr>
        <dsp:cNvPr id="0" name=""/>
        <dsp:cNvSpPr/>
      </dsp:nvSpPr>
      <dsp:spPr>
        <a:xfrm>
          <a:off x="1947630" y="274365"/>
          <a:ext cx="1667024" cy="365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kumimoji="1" lang="ja-JP" altLang="en-US" sz="1600" b="1" kern="1200" dirty="0"/>
            <a:t>Ｄｏ</a:t>
          </a:r>
        </a:p>
      </dsp:txBody>
      <dsp:txXfrm>
        <a:off x="1965488" y="292223"/>
        <a:ext cx="1631308" cy="330105"/>
      </dsp:txXfrm>
    </dsp:sp>
    <dsp:sp modelId="{83D05647-4F85-4FC8-A7CC-7A7A33DB9F94}">
      <dsp:nvSpPr>
        <dsp:cNvPr id="0" name=""/>
        <dsp:cNvSpPr/>
      </dsp:nvSpPr>
      <dsp:spPr>
        <a:xfrm>
          <a:off x="3892492" y="274365"/>
          <a:ext cx="1667024" cy="365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kumimoji="1" lang="ja-JP" altLang="en-US" sz="1600" b="1" kern="1200" dirty="0"/>
            <a:t>Ｄｏ</a:t>
          </a:r>
        </a:p>
      </dsp:txBody>
      <dsp:txXfrm>
        <a:off x="3910350" y="292223"/>
        <a:ext cx="1631308" cy="330105"/>
      </dsp:txXfrm>
    </dsp:sp>
    <dsp:sp modelId="{06D949EC-624F-49E3-A2C8-7DFA298772A7}">
      <dsp:nvSpPr>
        <dsp:cNvPr id="0" name=""/>
        <dsp:cNvSpPr/>
      </dsp:nvSpPr>
      <dsp:spPr>
        <a:xfrm>
          <a:off x="5837353" y="274365"/>
          <a:ext cx="1667024" cy="365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kumimoji="1" lang="ja-JP" altLang="en-US" sz="1600" b="1" kern="1200" dirty="0"/>
            <a:t>Ｃｈｅｋ</a:t>
          </a:r>
        </a:p>
      </dsp:txBody>
      <dsp:txXfrm>
        <a:off x="5855211" y="292223"/>
        <a:ext cx="1631308" cy="330105"/>
      </dsp:txXfrm>
    </dsp:sp>
    <dsp:sp modelId="{6757111D-2DFF-489C-B0EC-3F7943CA478A}">
      <dsp:nvSpPr>
        <dsp:cNvPr id="0" name=""/>
        <dsp:cNvSpPr/>
      </dsp:nvSpPr>
      <dsp:spPr>
        <a:xfrm>
          <a:off x="7782215" y="274365"/>
          <a:ext cx="1667024" cy="365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kumimoji="1" lang="ja-JP" altLang="en-US" sz="1600" b="1" kern="1200" dirty="0"/>
            <a:t>Ａｃｔ</a:t>
          </a:r>
        </a:p>
      </dsp:txBody>
      <dsp:txXfrm>
        <a:off x="7800073" y="292223"/>
        <a:ext cx="1631308" cy="33010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925"/>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a:t>
          </a:r>
          <a:r>
            <a:rPr kumimoji="1" lang="en-US" altLang="ja-JP" sz="2800" kern="1200" dirty="0">
              <a:solidFill>
                <a:schemeClr val="tx1"/>
              </a:solidFill>
            </a:rPr>
            <a:t>IATF16949</a:t>
          </a:r>
          <a:r>
            <a:rPr kumimoji="1" lang="ja-JP" altLang="en-US" sz="2800" kern="1200" dirty="0">
              <a:solidFill>
                <a:schemeClr val="tx1"/>
              </a:solidFill>
            </a:rPr>
            <a:t>とコアツール</a:t>
          </a:r>
        </a:p>
      </dsp:txBody>
      <dsp:txXfrm>
        <a:off x="27446" y="29371"/>
        <a:ext cx="9434548" cy="507344"/>
      </dsp:txXfrm>
    </dsp:sp>
    <dsp:sp modelId="{81830890-C69A-4F20-B0B1-1C237CA135B2}">
      <dsp:nvSpPr>
        <dsp:cNvPr id="0" name=""/>
        <dsp:cNvSpPr/>
      </dsp:nvSpPr>
      <dsp:spPr>
        <a:xfrm>
          <a:off x="0" y="57145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２．ＡＰＱＰ（先行製品品質計画）</a:t>
          </a:r>
        </a:p>
      </dsp:txBody>
      <dsp:txXfrm>
        <a:off x="27446" y="598905"/>
        <a:ext cx="9434548" cy="507344"/>
      </dsp:txXfrm>
    </dsp:sp>
    <dsp:sp modelId="{65E655FC-AD2B-4464-B659-8288DA5BCAD7}">
      <dsp:nvSpPr>
        <dsp:cNvPr id="0" name=""/>
        <dsp:cNvSpPr/>
      </dsp:nvSpPr>
      <dsp:spPr>
        <a:xfrm>
          <a:off x="0" y="1140994"/>
          <a:ext cx="9489440" cy="562236"/>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３．ＰＰＡＰ（生産部品承認プロセス）</a:t>
          </a:r>
        </a:p>
      </dsp:txBody>
      <dsp:txXfrm>
        <a:off x="27446" y="1168440"/>
        <a:ext cx="9434548" cy="507344"/>
      </dsp:txXfrm>
    </dsp:sp>
    <dsp:sp modelId="{E3A56FE4-79EA-4B49-A4ED-62565EF160D0}">
      <dsp:nvSpPr>
        <dsp:cNvPr id="0" name=""/>
        <dsp:cNvSpPr/>
      </dsp:nvSpPr>
      <dsp:spPr>
        <a:xfrm>
          <a:off x="0" y="171052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４．ＦＭＥＡ（潜在的故障モード影響解析）</a:t>
          </a:r>
        </a:p>
      </dsp:txBody>
      <dsp:txXfrm>
        <a:off x="27446" y="1737975"/>
        <a:ext cx="9434548" cy="507344"/>
      </dsp:txXfrm>
    </dsp:sp>
    <dsp:sp modelId="{D3F5427D-628A-4877-809F-6AE771E909C6}">
      <dsp:nvSpPr>
        <dsp:cNvPr id="0" name=""/>
        <dsp:cNvSpPr/>
      </dsp:nvSpPr>
      <dsp:spPr>
        <a:xfrm>
          <a:off x="0" y="2280063"/>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５．ＳＰＣ（統計的工程管理）</a:t>
          </a:r>
        </a:p>
      </dsp:txBody>
      <dsp:txXfrm>
        <a:off x="27446" y="2307509"/>
        <a:ext cx="9434548" cy="507344"/>
      </dsp:txXfrm>
    </dsp:sp>
    <dsp:sp modelId="{EA344365-D2E0-4CE9-B2FA-657414E957A5}">
      <dsp:nvSpPr>
        <dsp:cNvPr id="0" name=""/>
        <dsp:cNvSpPr/>
      </dsp:nvSpPr>
      <dsp:spPr>
        <a:xfrm>
          <a:off x="0" y="2849598"/>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６．ＭＳＡ（測定システム解析）</a:t>
          </a:r>
        </a:p>
      </dsp:txBody>
      <dsp:txXfrm>
        <a:off x="27446" y="2877044"/>
        <a:ext cx="9434548" cy="50734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028"/>
          <a:ext cx="9489440" cy="565037"/>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a:t>
          </a:r>
          <a:r>
            <a:rPr kumimoji="1" lang="en-US" altLang="ja-JP" sz="2800" kern="1200" dirty="0">
              <a:solidFill>
                <a:schemeClr val="tx1"/>
              </a:solidFill>
            </a:rPr>
            <a:t>IATF16949</a:t>
          </a:r>
          <a:r>
            <a:rPr kumimoji="1" lang="ja-JP" altLang="en-US" sz="2800" kern="1200" dirty="0">
              <a:solidFill>
                <a:schemeClr val="tx1"/>
              </a:solidFill>
            </a:rPr>
            <a:t>とコアツール</a:t>
          </a:r>
        </a:p>
      </dsp:txBody>
      <dsp:txXfrm>
        <a:off x="27583" y="28611"/>
        <a:ext cx="9434274" cy="509871"/>
      </dsp:txXfrm>
    </dsp:sp>
    <dsp:sp modelId="{81830890-C69A-4F20-B0B1-1C237CA135B2}">
      <dsp:nvSpPr>
        <dsp:cNvPr id="0" name=""/>
        <dsp:cNvSpPr/>
      </dsp:nvSpPr>
      <dsp:spPr>
        <a:xfrm>
          <a:off x="0" y="570361"/>
          <a:ext cx="9489440" cy="565037"/>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２．ＡＰＱＰ（先行製品品質計画）</a:t>
          </a:r>
        </a:p>
      </dsp:txBody>
      <dsp:txXfrm>
        <a:off x="27583" y="597944"/>
        <a:ext cx="9434274" cy="509871"/>
      </dsp:txXfrm>
    </dsp:sp>
    <dsp:sp modelId="{65E655FC-AD2B-4464-B659-8288DA5BCAD7}">
      <dsp:nvSpPr>
        <dsp:cNvPr id="0" name=""/>
        <dsp:cNvSpPr/>
      </dsp:nvSpPr>
      <dsp:spPr>
        <a:xfrm>
          <a:off x="0" y="1139694"/>
          <a:ext cx="9489440" cy="565037"/>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３．ＰＰＡＰ（生産部品承認プロセス）</a:t>
          </a:r>
        </a:p>
      </dsp:txBody>
      <dsp:txXfrm>
        <a:off x="27583" y="1167277"/>
        <a:ext cx="9434274" cy="509871"/>
      </dsp:txXfrm>
    </dsp:sp>
    <dsp:sp modelId="{E3A56FE4-79EA-4B49-A4ED-62565EF160D0}">
      <dsp:nvSpPr>
        <dsp:cNvPr id="0" name=""/>
        <dsp:cNvSpPr/>
      </dsp:nvSpPr>
      <dsp:spPr>
        <a:xfrm>
          <a:off x="0" y="1709028"/>
          <a:ext cx="9489440" cy="565037"/>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４．ＦＭＥＡ（潜在的故障モード影響解析）</a:t>
          </a:r>
        </a:p>
      </dsp:txBody>
      <dsp:txXfrm>
        <a:off x="27583" y="1736611"/>
        <a:ext cx="9434274" cy="509871"/>
      </dsp:txXfrm>
    </dsp:sp>
    <dsp:sp modelId="{D3F5427D-628A-4877-809F-6AE771E909C6}">
      <dsp:nvSpPr>
        <dsp:cNvPr id="0" name=""/>
        <dsp:cNvSpPr/>
      </dsp:nvSpPr>
      <dsp:spPr>
        <a:xfrm>
          <a:off x="0" y="2278361"/>
          <a:ext cx="9489440" cy="565037"/>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５．ＳＰＣ（統計的工程管理）</a:t>
          </a:r>
        </a:p>
      </dsp:txBody>
      <dsp:txXfrm>
        <a:off x="27583" y="2305944"/>
        <a:ext cx="9434274" cy="509871"/>
      </dsp:txXfrm>
    </dsp:sp>
    <dsp:sp modelId="{EA344365-D2E0-4CE9-B2FA-657414E957A5}">
      <dsp:nvSpPr>
        <dsp:cNvPr id="0" name=""/>
        <dsp:cNvSpPr/>
      </dsp:nvSpPr>
      <dsp:spPr>
        <a:xfrm>
          <a:off x="0" y="2847694"/>
          <a:ext cx="9489440" cy="565037"/>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６．ＭＳＡ（測定システム解析）</a:t>
          </a:r>
        </a:p>
      </dsp:txBody>
      <dsp:txXfrm>
        <a:off x="27583" y="2875277"/>
        <a:ext cx="9434274" cy="50987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97E872-6288-4066-89F7-8BA23BCA8BDF}">
      <dsp:nvSpPr>
        <dsp:cNvPr id="0" name=""/>
        <dsp:cNvSpPr/>
      </dsp:nvSpPr>
      <dsp:spPr>
        <a:xfrm>
          <a:off x="6796" y="267755"/>
          <a:ext cx="1550178" cy="9310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76200" numCol="1" spcCol="1270" anchor="t" anchorCtr="0">
          <a:noAutofit/>
        </a:bodyPr>
        <a:lstStyle/>
        <a:p>
          <a:pPr lvl="0" algn="ctr" defTabSz="889000">
            <a:lnSpc>
              <a:spcPct val="90000"/>
            </a:lnSpc>
            <a:spcBef>
              <a:spcPct val="0"/>
            </a:spcBef>
            <a:spcAft>
              <a:spcPct val="35000"/>
            </a:spcAft>
          </a:pPr>
          <a:r>
            <a:rPr kumimoji="1" lang="ja-JP" altLang="en-US" sz="2000" b="1" kern="1200" dirty="0"/>
            <a:t>製品設計</a:t>
          </a:r>
        </a:p>
      </dsp:txBody>
      <dsp:txXfrm>
        <a:off x="6796" y="267755"/>
        <a:ext cx="1550178" cy="620071"/>
      </dsp:txXfrm>
    </dsp:sp>
    <dsp:sp modelId="{EB8C3C9D-8025-4180-8E15-07FDC23D44CD}">
      <dsp:nvSpPr>
        <dsp:cNvPr id="0" name=""/>
        <dsp:cNvSpPr/>
      </dsp:nvSpPr>
      <dsp:spPr>
        <a:xfrm>
          <a:off x="17151" y="887827"/>
          <a:ext cx="1986088" cy="179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t>ＦＭＥＡ</a:t>
          </a:r>
        </a:p>
        <a:p>
          <a:pPr marL="171450" lvl="1" indent="-171450" algn="l" defTabSz="800100">
            <a:lnSpc>
              <a:spcPct val="90000"/>
            </a:lnSpc>
            <a:spcBef>
              <a:spcPct val="0"/>
            </a:spcBef>
            <a:spcAft>
              <a:spcPct val="15000"/>
            </a:spcAft>
            <a:buChar char="••"/>
          </a:pPr>
          <a:r>
            <a:rPr kumimoji="1" lang="ja-JP" altLang="en-US" sz="1800" b="1" kern="1200" dirty="0"/>
            <a:t>（</a:t>
          </a:r>
          <a:r>
            <a:rPr kumimoji="1" lang="en-US" altLang="ja-JP" sz="1800" b="1" kern="1200" dirty="0"/>
            <a:t>100</a:t>
          </a:r>
          <a:r>
            <a:rPr kumimoji="1" lang="ja-JP" altLang="en-US" sz="1800" b="1" kern="1200" dirty="0"/>
            <a:t>円）</a:t>
          </a:r>
        </a:p>
      </dsp:txBody>
      <dsp:txXfrm>
        <a:off x="69838" y="940514"/>
        <a:ext cx="1880714" cy="1693501"/>
      </dsp:txXfrm>
    </dsp:sp>
    <dsp:sp modelId="{2319E05D-74B9-46BF-86A0-C9AAF83FB188}">
      <dsp:nvSpPr>
        <dsp:cNvPr id="0" name=""/>
        <dsp:cNvSpPr/>
      </dsp:nvSpPr>
      <dsp:spPr>
        <a:xfrm>
          <a:off x="1846465" y="384816"/>
          <a:ext cx="613719" cy="385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77800">
            <a:lnSpc>
              <a:spcPct val="90000"/>
            </a:lnSpc>
            <a:spcBef>
              <a:spcPct val="0"/>
            </a:spcBef>
            <a:spcAft>
              <a:spcPct val="35000"/>
            </a:spcAft>
          </a:pPr>
          <a:endParaRPr kumimoji="1" lang="ja-JP" altLang="en-US" sz="400" kern="1200"/>
        </a:p>
      </dsp:txBody>
      <dsp:txXfrm>
        <a:off x="1846465" y="462006"/>
        <a:ext cx="497934" cy="231569"/>
      </dsp:txXfrm>
    </dsp:sp>
    <dsp:sp modelId="{C8ACE034-3EB7-4AF9-AA18-447D599B0DB8}">
      <dsp:nvSpPr>
        <dsp:cNvPr id="0" name=""/>
        <dsp:cNvSpPr/>
      </dsp:nvSpPr>
      <dsp:spPr>
        <a:xfrm>
          <a:off x="2714936" y="267755"/>
          <a:ext cx="1550178" cy="9310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76200" numCol="1" spcCol="1270" anchor="t" anchorCtr="0">
          <a:noAutofit/>
        </a:bodyPr>
        <a:lstStyle/>
        <a:p>
          <a:pPr lvl="0" algn="ctr" defTabSz="889000">
            <a:lnSpc>
              <a:spcPct val="90000"/>
            </a:lnSpc>
            <a:spcBef>
              <a:spcPct val="0"/>
            </a:spcBef>
            <a:spcAft>
              <a:spcPct val="35000"/>
            </a:spcAft>
          </a:pPr>
          <a:r>
            <a:rPr kumimoji="1" lang="ja-JP" altLang="en-US" sz="2000" b="1" kern="1200" dirty="0"/>
            <a:t>テスト</a:t>
          </a:r>
        </a:p>
      </dsp:txBody>
      <dsp:txXfrm>
        <a:off x="2714936" y="267755"/>
        <a:ext cx="1550178" cy="620071"/>
      </dsp:txXfrm>
    </dsp:sp>
    <dsp:sp modelId="{BF598845-A9B7-43F4-A735-95EFDD391E7C}">
      <dsp:nvSpPr>
        <dsp:cNvPr id="0" name=""/>
        <dsp:cNvSpPr/>
      </dsp:nvSpPr>
      <dsp:spPr>
        <a:xfrm>
          <a:off x="2549453" y="887827"/>
          <a:ext cx="1986088" cy="179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t>分析と再承認</a:t>
          </a:r>
        </a:p>
        <a:p>
          <a:pPr marL="171450" lvl="1" indent="-171450" algn="l" defTabSz="800100">
            <a:lnSpc>
              <a:spcPct val="90000"/>
            </a:lnSpc>
            <a:spcBef>
              <a:spcPct val="0"/>
            </a:spcBef>
            <a:spcAft>
              <a:spcPct val="15000"/>
            </a:spcAft>
            <a:buChar char="••"/>
          </a:pPr>
          <a:r>
            <a:rPr kumimoji="1" lang="ja-JP" altLang="en-US" sz="1800" b="1" kern="1200" dirty="0"/>
            <a:t>（</a:t>
          </a:r>
          <a:r>
            <a:rPr kumimoji="1" lang="en-US" altLang="ja-JP" sz="1800" b="1" kern="1200" dirty="0"/>
            <a:t>1,000</a:t>
          </a:r>
          <a:r>
            <a:rPr kumimoji="1" lang="ja-JP" altLang="en-US" sz="1800" b="1" kern="1200" dirty="0"/>
            <a:t>円）</a:t>
          </a:r>
        </a:p>
      </dsp:txBody>
      <dsp:txXfrm>
        <a:off x="2602140" y="940514"/>
        <a:ext cx="1880714" cy="1693501"/>
      </dsp:txXfrm>
    </dsp:sp>
    <dsp:sp modelId="{52BB6DF9-3AD9-49D2-9558-1A6303270B2E}">
      <dsp:nvSpPr>
        <dsp:cNvPr id="0" name=""/>
        <dsp:cNvSpPr/>
      </dsp:nvSpPr>
      <dsp:spPr>
        <a:xfrm>
          <a:off x="4554605" y="384816"/>
          <a:ext cx="613719" cy="385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77800">
            <a:lnSpc>
              <a:spcPct val="90000"/>
            </a:lnSpc>
            <a:spcBef>
              <a:spcPct val="0"/>
            </a:spcBef>
            <a:spcAft>
              <a:spcPct val="35000"/>
            </a:spcAft>
          </a:pPr>
          <a:endParaRPr kumimoji="1" lang="ja-JP" altLang="en-US" sz="400" kern="1200"/>
        </a:p>
      </dsp:txBody>
      <dsp:txXfrm>
        <a:off x="4554605" y="462006"/>
        <a:ext cx="497934" cy="231569"/>
      </dsp:txXfrm>
    </dsp:sp>
    <dsp:sp modelId="{9B350709-5BD3-4A42-AD8D-B8E31933BE59}">
      <dsp:nvSpPr>
        <dsp:cNvPr id="0" name=""/>
        <dsp:cNvSpPr/>
      </dsp:nvSpPr>
      <dsp:spPr>
        <a:xfrm>
          <a:off x="5423076" y="267755"/>
          <a:ext cx="1550178" cy="9310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76200" numCol="1" spcCol="1270" anchor="t" anchorCtr="0">
          <a:noAutofit/>
        </a:bodyPr>
        <a:lstStyle/>
        <a:p>
          <a:pPr lvl="0" algn="ctr" defTabSz="889000">
            <a:lnSpc>
              <a:spcPct val="90000"/>
            </a:lnSpc>
            <a:spcBef>
              <a:spcPct val="0"/>
            </a:spcBef>
            <a:spcAft>
              <a:spcPct val="35000"/>
            </a:spcAft>
          </a:pPr>
          <a:r>
            <a:rPr kumimoji="1" lang="ja-JP" altLang="en-US" sz="2000" b="1" kern="1200" dirty="0"/>
            <a:t>製造</a:t>
          </a:r>
        </a:p>
      </dsp:txBody>
      <dsp:txXfrm>
        <a:off x="5423076" y="267755"/>
        <a:ext cx="1550178" cy="620071"/>
      </dsp:txXfrm>
    </dsp:sp>
    <dsp:sp modelId="{6BF6C3DB-AB1A-4DF9-8400-DBDFC6173B4F}">
      <dsp:nvSpPr>
        <dsp:cNvPr id="0" name=""/>
        <dsp:cNvSpPr/>
      </dsp:nvSpPr>
      <dsp:spPr>
        <a:xfrm>
          <a:off x="5194423" y="887827"/>
          <a:ext cx="1986088" cy="179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t>工程管理と再作業</a:t>
          </a:r>
        </a:p>
        <a:p>
          <a:pPr marL="171450" lvl="1" indent="-171450" algn="l" defTabSz="800100">
            <a:lnSpc>
              <a:spcPct val="90000"/>
            </a:lnSpc>
            <a:spcBef>
              <a:spcPct val="0"/>
            </a:spcBef>
            <a:spcAft>
              <a:spcPct val="15000"/>
            </a:spcAft>
            <a:buChar char="••"/>
          </a:pPr>
          <a:r>
            <a:rPr kumimoji="1" lang="ja-JP" altLang="en-US" sz="1800" b="1" kern="1200" dirty="0"/>
            <a:t>（</a:t>
          </a:r>
          <a:r>
            <a:rPr kumimoji="1" lang="en-US" altLang="ja-JP" sz="1800" b="1" kern="1200" dirty="0"/>
            <a:t>10,000</a:t>
          </a:r>
          <a:r>
            <a:rPr kumimoji="1" lang="ja-JP" altLang="en-US" sz="1800" b="1" kern="1200" dirty="0"/>
            <a:t>円）</a:t>
          </a:r>
        </a:p>
      </dsp:txBody>
      <dsp:txXfrm>
        <a:off x="5247110" y="940514"/>
        <a:ext cx="1880714" cy="1693501"/>
      </dsp:txXfrm>
    </dsp:sp>
    <dsp:sp modelId="{ACC0FF23-FE90-4DBB-854C-D58737EF19AD}">
      <dsp:nvSpPr>
        <dsp:cNvPr id="0" name=""/>
        <dsp:cNvSpPr/>
      </dsp:nvSpPr>
      <dsp:spPr>
        <a:xfrm>
          <a:off x="7262745" y="384816"/>
          <a:ext cx="613719" cy="385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77800">
            <a:lnSpc>
              <a:spcPct val="90000"/>
            </a:lnSpc>
            <a:spcBef>
              <a:spcPct val="0"/>
            </a:spcBef>
            <a:spcAft>
              <a:spcPct val="35000"/>
            </a:spcAft>
          </a:pPr>
          <a:endParaRPr kumimoji="1" lang="ja-JP" altLang="en-US" sz="400" kern="1200"/>
        </a:p>
      </dsp:txBody>
      <dsp:txXfrm>
        <a:off x="7262745" y="462006"/>
        <a:ext cx="497934" cy="231569"/>
      </dsp:txXfrm>
    </dsp:sp>
    <dsp:sp modelId="{DCB32CA0-4AC4-4CEB-8BFB-82CC764378D6}">
      <dsp:nvSpPr>
        <dsp:cNvPr id="0" name=""/>
        <dsp:cNvSpPr/>
      </dsp:nvSpPr>
      <dsp:spPr>
        <a:xfrm>
          <a:off x="8131215" y="267755"/>
          <a:ext cx="1550178" cy="93101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76200" numCol="1" spcCol="1270" anchor="t" anchorCtr="0">
          <a:noAutofit/>
        </a:bodyPr>
        <a:lstStyle/>
        <a:p>
          <a:pPr lvl="0" algn="ctr" defTabSz="889000">
            <a:lnSpc>
              <a:spcPct val="90000"/>
            </a:lnSpc>
            <a:spcBef>
              <a:spcPct val="0"/>
            </a:spcBef>
            <a:spcAft>
              <a:spcPct val="35000"/>
            </a:spcAft>
          </a:pPr>
          <a:r>
            <a:rPr kumimoji="1" lang="ja-JP" altLang="en-US" sz="2000" b="1" kern="1200" dirty="0"/>
            <a:t>顧客</a:t>
          </a:r>
        </a:p>
      </dsp:txBody>
      <dsp:txXfrm>
        <a:off x="8131215" y="267755"/>
        <a:ext cx="1550178" cy="620071"/>
      </dsp:txXfrm>
    </dsp:sp>
    <dsp:sp modelId="{140B46BA-3465-4DFA-A3A5-E97DF10C727F}">
      <dsp:nvSpPr>
        <dsp:cNvPr id="0" name=""/>
        <dsp:cNvSpPr/>
      </dsp:nvSpPr>
      <dsp:spPr>
        <a:xfrm>
          <a:off x="7986428" y="887827"/>
          <a:ext cx="1986088" cy="179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t>交換・保証</a:t>
          </a:r>
        </a:p>
        <a:p>
          <a:pPr marL="171450" lvl="1" indent="-171450" algn="l" defTabSz="800100">
            <a:lnSpc>
              <a:spcPct val="90000"/>
            </a:lnSpc>
            <a:spcBef>
              <a:spcPct val="0"/>
            </a:spcBef>
            <a:spcAft>
              <a:spcPct val="15000"/>
            </a:spcAft>
            <a:buChar char="••"/>
          </a:pPr>
          <a:r>
            <a:rPr kumimoji="1" lang="ja-JP" altLang="en-US" sz="1800" b="1" kern="1200" dirty="0"/>
            <a:t>（</a:t>
          </a:r>
          <a:r>
            <a:rPr kumimoji="1" lang="en-US" altLang="ja-JP" sz="1800" b="1" kern="1200" dirty="0"/>
            <a:t>100,000</a:t>
          </a:r>
          <a:r>
            <a:rPr kumimoji="1" lang="ja-JP" altLang="en-US" sz="1800" b="1" kern="1200" dirty="0"/>
            <a:t>円）</a:t>
          </a:r>
        </a:p>
      </dsp:txBody>
      <dsp:txXfrm>
        <a:off x="8039115" y="940514"/>
        <a:ext cx="1880714" cy="169350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925"/>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a:t>
          </a:r>
          <a:r>
            <a:rPr kumimoji="1" lang="en-US" altLang="ja-JP" sz="2800" kern="1200" dirty="0">
              <a:solidFill>
                <a:schemeClr val="tx1"/>
              </a:solidFill>
            </a:rPr>
            <a:t>IATF16949</a:t>
          </a:r>
          <a:r>
            <a:rPr kumimoji="1" lang="ja-JP" altLang="en-US" sz="2800" kern="1200" dirty="0">
              <a:solidFill>
                <a:schemeClr val="tx1"/>
              </a:solidFill>
            </a:rPr>
            <a:t>とコアツール</a:t>
          </a:r>
        </a:p>
      </dsp:txBody>
      <dsp:txXfrm>
        <a:off x="27446" y="29371"/>
        <a:ext cx="9434548" cy="507344"/>
      </dsp:txXfrm>
    </dsp:sp>
    <dsp:sp modelId="{81830890-C69A-4F20-B0B1-1C237CA135B2}">
      <dsp:nvSpPr>
        <dsp:cNvPr id="0" name=""/>
        <dsp:cNvSpPr/>
      </dsp:nvSpPr>
      <dsp:spPr>
        <a:xfrm>
          <a:off x="0" y="57145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２．ＡＰＱＰ（先行製品品質計画）</a:t>
          </a:r>
        </a:p>
      </dsp:txBody>
      <dsp:txXfrm>
        <a:off x="27446" y="598905"/>
        <a:ext cx="9434548" cy="507344"/>
      </dsp:txXfrm>
    </dsp:sp>
    <dsp:sp modelId="{65E655FC-AD2B-4464-B659-8288DA5BCAD7}">
      <dsp:nvSpPr>
        <dsp:cNvPr id="0" name=""/>
        <dsp:cNvSpPr/>
      </dsp:nvSpPr>
      <dsp:spPr>
        <a:xfrm>
          <a:off x="0" y="1140994"/>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３．ＰＰＡＰ（生産部品承認プロセス）</a:t>
          </a:r>
        </a:p>
      </dsp:txBody>
      <dsp:txXfrm>
        <a:off x="27446" y="1168440"/>
        <a:ext cx="9434548" cy="507344"/>
      </dsp:txXfrm>
    </dsp:sp>
    <dsp:sp modelId="{E3A56FE4-79EA-4B49-A4ED-62565EF160D0}">
      <dsp:nvSpPr>
        <dsp:cNvPr id="0" name=""/>
        <dsp:cNvSpPr/>
      </dsp:nvSpPr>
      <dsp:spPr>
        <a:xfrm>
          <a:off x="0" y="171052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４．ＦＭＥＡ（潜在的故障モード影響解析）</a:t>
          </a:r>
        </a:p>
      </dsp:txBody>
      <dsp:txXfrm>
        <a:off x="27446" y="1737975"/>
        <a:ext cx="9434548" cy="507344"/>
      </dsp:txXfrm>
    </dsp:sp>
    <dsp:sp modelId="{D3F5427D-628A-4877-809F-6AE771E909C6}">
      <dsp:nvSpPr>
        <dsp:cNvPr id="0" name=""/>
        <dsp:cNvSpPr/>
      </dsp:nvSpPr>
      <dsp:spPr>
        <a:xfrm>
          <a:off x="0" y="2280063"/>
          <a:ext cx="9489440" cy="562236"/>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５．ＳＰＣ（統計的工程管理）</a:t>
          </a:r>
        </a:p>
      </dsp:txBody>
      <dsp:txXfrm>
        <a:off x="27446" y="2307509"/>
        <a:ext cx="9434548" cy="507344"/>
      </dsp:txXfrm>
    </dsp:sp>
    <dsp:sp modelId="{EA344365-D2E0-4CE9-B2FA-657414E957A5}">
      <dsp:nvSpPr>
        <dsp:cNvPr id="0" name=""/>
        <dsp:cNvSpPr/>
      </dsp:nvSpPr>
      <dsp:spPr>
        <a:xfrm>
          <a:off x="0" y="2849598"/>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６．ＭＳＡ（測定システム解析）</a:t>
          </a:r>
        </a:p>
      </dsp:txBody>
      <dsp:txXfrm>
        <a:off x="27446" y="2877044"/>
        <a:ext cx="9434548" cy="50734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F9AC33-5A69-4D44-A289-6F31A2FF7255}">
      <dsp:nvSpPr>
        <dsp:cNvPr id="0" name=""/>
        <dsp:cNvSpPr/>
      </dsp:nvSpPr>
      <dsp:spPr>
        <a:xfrm>
          <a:off x="0" y="1925"/>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１．</a:t>
          </a:r>
          <a:r>
            <a:rPr kumimoji="1" lang="en-US" altLang="ja-JP" sz="2800" kern="1200" dirty="0">
              <a:solidFill>
                <a:schemeClr val="tx1"/>
              </a:solidFill>
            </a:rPr>
            <a:t>IATF16949</a:t>
          </a:r>
          <a:r>
            <a:rPr kumimoji="1" lang="ja-JP" altLang="en-US" sz="2800" kern="1200" dirty="0">
              <a:solidFill>
                <a:schemeClr val="tx1"/>
              </a:solidFill>
            </a:rPr>
            <a:t>とコアツール</a:t>
          </a:r>
        </a:p>
      </dsp:txBody>
      <dsp:txXfrm>
        <a:off x="27446" y="29371"/>
        <a:ext cx="9434548" cy="507344"/>
      </dsp:txXfrm>
    </dsp:sp>
    <dsp:sp modelId="{81830890-C69A-4F20-B0B1-1C237CA135B2}">
      <dsp:nvSpPr>
        <dsp:cNvPr id="0" name=""/>
        <dsp:cNvSpPr/>
      </dsp:nvSpPr>
      <dsp:spPr>
        <a:xfrm>
          <a:off x="0" y="57145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２．ＡＰＱＰ（先行製品品質計画）</a:t>
          </a:r>
        </a:p>
      </dsp:txBody>
      <dsp:txXfrm>
        <a:off x="27446" y="598905"/>
        <a:ext cx="9434548" cy="507344"/>
      </dsp:txXfrm>
    </dsp:sp>
    <dsp:sp modelId="{65E655FC-AD2B-4464-B659-8288DA5BCAD7}">
      <dsp:nvSpPr>
        <dsp:cNvPr id="0" name=""/>
        <dsp:cNvSpPr/>
      </dsp:nvSpPr>
      <dsp:spPr>
        <a:xfrm>
          <a:off x="0" y="1140994"/>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３．ＰＰＡＰ（生産部品承認プロセス）</a:t>
          </a:r>
        </a:p>
      </dsp:txBody>
      <dsp:txXfrm>
        <a:off x="27446" y="1168440"/>
        <a:ext cx="9434548" cy="507344"/>
      </dsp:txXfrm>
    </dsp:sp>
    <dsp:sp modelId="{E3A56FE4-79EA-4B49-A4ED-62565EF160D0}">
      <dsp:nvSpPr>
        <dsp:cNvPr id="0" name=""/>
        <dsp:cNvSpPr/>
      </dsp:nvSpPr>
      <dsp:spPr>
        <a:xfrm>
          <a:off x="0" y="1710529"/>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４．ＦＭＥＡ（潜在的故障モード影響解析）</a:t>
          </a:r>
        </a:p>
      </dsp:txBody>
      <dsp:txXfrm>
        <a:off x="27446" y="1737975"/>
        <a:ext cx="9434548" cy="507344"/>
      </dsp:txXfrm>
    </dsp:sp>
    <dsp:sp modelId="{D3F5427D-628A-4877-809F-6AE771E909C6}">
      <dsp:nvSpPr>
        <dsp:cNvPr id="0" name=""/>
        <dsp:cNvSpPr/>
      </dsp:nvSpPr>
      <dsp:spPr>
        <a:xfrm>
          <a:off x="0" y="2280063"/>
          <a:ext cx="9489440" cy="562236"/>
        </a:xfrm>
        <a:prstGeom prst="round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kumimoji="1" lang="ja-JP" altLang="en-US" sz="2800" kern="1200" dirty="0">
              <a:solidFill>
                <a:schemeClr val="tx1"/>
              </a:solidFill>
            </a:rPr>
            <a:t>５．ＳＰＣ（統計的工程管理）</a:t>
          </a:r>
        </a:p>
      </dsp:txBody>
      <dsp:txXfrm>
        <a:off x="27446" y="2307509"/>
        <a:ext cx="9434548" cy="507344"/>
      </dsp:txXfrm>
    </dsp:sp>
    <dsp:sp modelId="{EA344365-D2E0-4CE9-B2FA-657414E957A5}">
      <dsp:nvSpPr>
        <dsp:cNvPr id="0" name=""/>
        <dsp:cNvSpPr/>
      </dsp:nvSpPr>
      <dsp:spPr>
        <a:xfrm>
          <a:off x="0" y="2849598"/>
          <a:ext cx="9489440" cy="562236"/>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kumimoji="1" lang="ja-JP" altLang="en-US" sz="3600" kern="1200" dirty="0">
              <a:solidFill>
                <a:schemeClr val="bg1"/>
              </a:solidFill>
            </a:rPr>
            <a:t>６．ＭＳＡ（測定システム解析）</a:t>
          </a:r>
        </a:p>
      </dsp:txBody>
      <dsp:txXfrm>
        <a:off x="27446" y="2877044"/>
        <a:ext cx="9434548" cy="50734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35B49E5-F8BB-49CA-9870-9D1585C1D80E}"/>
              </a:ext>
            </a:extLst>
          </p:cNvPr>
          <p:cNvSpPr>
            <a:spLocks noGrp="1"/>
          </p:cNvSpPr>
          <p:nvPr>
            <p:ph type="hdr" sz="quarter"/>
          </p:nvPr>
        </p:nvSpPr>
        <p:spPr>
          <a:xfrm>
            <a:off x="3815372" y="0"/>
            <a:ext cx="2918831" cy="495029"/>
          </a:xfrm>
          <a:prstGeom prst="rect">
            <a:avLst/>
          </a:prstGeom>
        </p:spPr>
        <p:txBody>
          <a:bodyPr vert="horz" lIns="91440" tIns="45720" rIns="91440" bIns="45720" rtlCol="0"/>
          <a:lstStyle>
            <a:lvl1pPr algn="l">
              <a:defRPr sz="1200"/>
            </a:lvl1pPr>
          </a:lstStyle>
          <a:p>
            <a:pPr algn="r"/>
            <a:r>
              <a:rPr kumimoji="1" lang="en-US" altLang="ja-JP"/>
              <a:t>IATF16949:2016</a:t>
            </a:r>
            <a:r>
              <a:rPr kumimoji="1" lang="ja-JP" altLang="en-US"/>
              <a:t>解説</a:t>
            </a:r>
            <a:r>
              <a:rPr kumimoji="1" lang="en-US" altLang="ja-JP"/>
              <a:t>1-</a:t>
            </a:r>
            <a:r>
              <a:rPr kumimoji="1" lang="ja-JP" altLang="en-US"/>
              <a:t>３</a:t>
            </a:r>
            <a:endParaRPr kumimoji="1" lang="ja-JP" altLang="en-US" dirty="0"/>
          </a:p>
        </p:txBody>
      </p:sp>
      <p:sp>
        <p:nvSpPr>
          <p:cNvPr id="4" name="フッター プレースホルダー 3">
            <a:extLst>
              <a:ext uri="{FF2B5EF4-FFF2-40B4-BE49-F238E27FC236}">
                <a16:creationId xmlns:a16="http://schemas.microsoft.com/office/drawing/2014/main" id="{31CA853B-8FBB-4110-9384-EF492C9439CA}"/>
              </a:ext>
            </a:extLst>
          </p:cNvPr>
          <p:cNvSpPr>
            <a:spLocks noGrp="1"/>
          </p:cNvSpPr>
          <p:nvPr>
            <p:ph type="ftr" sz="quarter" idx="2"/>
          </p:nvPr>
        </p:nvSpPr>
        <p:spPr>
          <a:xfrm>
            <a:off x="4735773" y="9352910"/>
            <a:ext cx="1998429" cy="495029"/>
          </a:xfrm>
          <a:prstGeom prst="rect">
            <a:avLst/>
          </a:prstGeom>
        </p:spPr>
        <p:txBody>
          <a:bodyPr vert="horz" lIns="91440" tIns="45720" rIns="91440" bIns="45720" rtlCol="0" anchor="b"/>
          <a:lstStyle>
            <a:lvl1pPr algn="l">
              <a:defRPr sz="1200"/>
            </a:lvl1pPr>
          </a:lstStyle>
          <a:p>
            <a:pPr algn="r"/>
            <a:r>
              <a:rPr kumimoji="1" lang="zh-TW" altLang="en-US"/>
              <a:t>㈱東北環境技術</a:t>
            </a:r>
            <a:endParaRPr kumimoji="1" lang="ja-JP" altLang="en-US"/>
          </a:p>
        </p:txBody>
      </p:sp>
      <p:sp>
        <p:nvSpPr>
          <p:cNvPr id="5" name="スライド番号プレースホルダー 4">
            <a:extLst>
              <a:ext uri="{FF2B5EF4-FFF2-40B4-BE49-F238E27FC236}">
                <a16:creationId xmlns:a16="http://schemas.microsoft.com/office/drawing/2014/main" id="{B9AE1783-B314-4184-A8EA-7C5B8D0E2DF3}"/>
              </a:ext>
            </a:extLst>
          </p:cNvPr>
          <p:cNvSpPr>
            <a:spLocks noGrp="1"/>
          </p:cNvSpPr>
          <p:nvPr>
            <p:ph type="sldNum" sz="quarter" idx="3"/>
          </p:nvPr>
        </p:nvSpPr>
        <p:spPr>
          <a:xfrm>
            <a:off x="3019956" y="9371284"/>
            <a:ext cx="695849" cy="495029"/>
          </a:xfrm>
          <a:prstGeom prst="rect">
            <a:avLst/>
          </a:prstGeom>
        </p:spPr>
        <p:txBody>
          <a:bodyPr vert="horz" lIns="91440" tIns="45720" rIns="91440" bIns="45720" rtlCol="0" anchor="b"/>
          <a:lstStyle>
            <a:lvl1pPr algn="r">
              <a:defRPr sz="1200"/>
            </a:lvl1pPr>
          </a:lstStyle>
          <a:p>
            <a:pPr algn="ctr"/>
            <a:fld id="{91B8A1F2-3583-4DAD-B423-748E2F52F22B}" type="slidenum">
              <a:rPr kumimoji="1" lang="ja-JP" altLang="en-US" smtClean="0"/>
              <a:pPr algn="ctr"/>
              <a:t>‹#›</a:t>
            </a:fld>
            <a:endParaRPr kumimoji="1" lang="ja-JP" altLang="en-US"/>
          </a:p>
        </p:txBody>
      </p:sp>
    </p:spTree>
    <p:extLst>
      <p:ext uri="{BB962C8B-B14F-4D97-AF65-F5344CB8AC3E}">
        <p14:creationId xmlns:p14="http://schemas.microsoft.com/office/powerpoint/2010/main" val="404780999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r>
              <a:rPr kumimoji="1" lang="en-US" altLang="ja-JP"/>
              <a:t>IATF16949:2016</a:t>
            </a:r>
            <a:r>
              <a:rPr kumimoji="1" lang="ja-JP" altLang="en-US"/>
              <a:t>解説</a:t>
            </a:r>
            <a:r>
              <a:rPr kumimoji="1" lang="en-US" altLang="ja-JP"/>
              <a:t>1-</a:t>
            </a:r>
            <a:r>
              <a:rPr kumimoji="1" lang="ja-JP" altLang="en-US"/>
              <a:t>３</a:t>
            </a:r>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45531A8-607E-455E-A6E7-237F29793D6E}" type="datetimeFigureOut">
              <a:rPr kumimoji="1" lang="ja-JP" altLang="en-US" smtClean="0"/>
              <a:t>2023/5/27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r>
              <a:rPr kumimoji="1" lang="zh-TW" altLang="en-US"/>
              <a:t>㈱東北環境技術</a:t>
            </a:r>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3A4350E-CCE0-4FDC-8F5C-E20A8629E31D}" type="slidenum">
              <a:rPr kumimoji="1" lang="ja-JP" altLang="en-US" smtClean="0"/>
              <a:t>‹#›</a:t>
            </a:fld>
            <a:endParaRPr kumimoji="1" lang="ja-JP" altLang="en-US"/>
          </a:p>
        </p:txBody>
      </p:sp>
    </p:spTree>
    <p:extLst>
      <p:ext uri="{BB962C8B-B14F-4D97-AF65-F5344CB8AC3E}">
        <p14:creationId xmlns:p14="http://schemas.microsoft.com/office/powerpoint/2010/main" val="1023639614"/>
      </p:ext>
    </p:extLst>
  </p:cSld>
  <p:clrMap bg1="lt1" tx1="dk1" bg2="lt2" tx2="dk2" accent1="accent1" accent2="accent2" accent3="accent3" accent4="accent4" accent5="accent5" accent6="accent6" hlink="hlink" folHlink="folHlink"/>
  <p:hf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79</a:t>
            </a:fld>
            <a:endParaRPr kumimoji="1" lang="ja-JP" altLang="en-US"/>
          </a:p>
        </p:txBody>
      </p:sp>
    </p:spTree>
    <p:extLst>
      <p:ext uri="{BB962C8B-B14F-4D97-AF65-F5344CB8AC3E}">
        <p14:creationId xmlns:p14="http://schemas.microsoft.com/office/powerpoint/2010/main" val="1211115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80</a:t>
            </a:fld>
            <a:endParaRPr kumimoji="1" lang="ja-JP" altLang="en-US"/>
          </a:p>
        </p:txBody>
      </p:sp>
    </p:spTree>
    <p:extLst>
      <p:ext uri="{BB962C8B-B14F-4D97-AF65-F5344CB8AC3E}">
        <p14:creationId xmlns:p14="http://schemas.microsoft.com/office/powerpoint/2010/main" val="4232106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81</a:t>
            </a:fld>
            <a:endParaRPr kumimoji="1" lang="ja-JP" altLang="en-US"/>
          </a:p>
        </p:txBody>
      </p:sp>
    </p:spTree>
    <p:extLst>
      <p:ext uri="{BB962C8B-B14F-4D97-AF65-F5344CB8AC3E}">
        <p14:creationId xmlns:p14="http://schemas.microsoft.com/office/powerpoint/2010/main" val="244813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82</a:t>
            </a:fld>
            <a:endParaRPr kumimoji="1" lang="ja-JP" altLang="en-US"/>
          </a:p>
        </p:txBody>
      </p:sp>
    </p:spTree>
    <p:extLst>
      <p:ext uri="{BB962C8B-B14F-4D97-AF65-F5344CB8AC3E}">
        <p14:creationId xmlns:p14="http://schemas.microsoft.com/office/powerpoint/2010/main" val="1694168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83</a:t>
            </a:fld>
            <a:endParaRPr kumimoji="1" lang="ja-JP" altLang="en-US"/>
          </a:p>
        </p:txBody>
      </p:sp>
    </p:spTree>
    <p:extLst>
      <p:ext uri="{BB962C8B-B14F-4D97-AF65-F5344CB8AC3E}">
        <p14:creationId xmlns:p14="http://schemas.microsoft.com/office/powerpoint/2010/main" val="1833492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84</a:t>
            </a:fld>
            <a:endParaRPr kumimoji="1" lang="ja-JP" altLang="en-US"/>
          </a:p>
        </p:txBody>
      </p:sp>
    </p:spTree>
    <p:extLst>
      <p:ext uri="{BB962C8B-B14F-4D97-AF65-F5344CB8AC3E}">
        <p14:creationId xmlns:p14="http://schemas.microsoft.com/office/powerpoint/2010/main" val="909800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85</a:t>
            </a:fld>
            <a:endParaRPr kumimoji="1" lang="ja-JP" altLang="en-US"/>
          </a:p>
        </p:txBody>
      </p:sp>
    </p:spTree>
    <p:extLst>
      <p:ext uri="{BB962C8B-B14F-4D97-AF65-F5344CB8AC3E}">
        <p14:creationId xmlns:p14="http://schemas.microsoft.com/office/powerpoint/2010/main" val="821767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86</a:t>
            </a:fld>
            <a:endParaRPr kumimoji="1" lang="ja-JP" altLang="en-US"/>
          </a:p>
        </p:txBody>
      </p:sp>
    </p:spTree>
    <p:extLst>
      <p:ext uri="{BB962C8B-B14F-4D97-AF65-F5344CB8AC3E}">
        <p14:creationId xmlns:p14="http://schemas.microsoft.com/office/powerpoint/2010/main" val="2454174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87</a:t>
            </a:fld>
            <a:endParaRPr kumimoji="1" lang="ja-JP" altLang="en-US"/>
          </a:p>
        </p:txBody>
      </p:sp>
    </p:spTree>
    <p:extLst>
      <p:ext uri="{BB962C8B-B14F-4D97-AF65-F5344CB8AC3E}">
        <p14:creationId xmlns:p14="http://schemas.microsoft.com/office/powerpoint/2010/main" val="2921923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88</a:t>
            </a:fld>
            <a:endParaRPr kumimoji="1" lang="ja-JP" altLang="en-US"/>
          </a:p>
        </p:txBody>
      </p:sp>
    </p:spTree>
    <p:extLst>
      <p:ext uri="{BB962C8B-B14F-4D97-AF65-F5344CB8AC3E}">
        <p14:creationId xmlns:p14="http://schemas.microsoft.com/office/powerpoint/2010/main" val="2427714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89</a:t>
            </a:fld>
            <a:endParaRPr kumimoji="1" lang="ja-JP" altLang="en-US"/>
          </a:p>
        </p:txBody>
      </p:sp>
    </p:spTree>
    <p:extLst>
      <p:ext uri="{BB962C8B-B14F-4D97-AF65-F5344CB8AC3E}">
        <p14:creationId xmlns:p14="http://schemas.microsoft.com/office/powerpoint/2010/main" val="2958483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90</a:t>
            </a:fld>
            <a:endParaRPr kumimoji="1" lang="ja-JP" altLang="en-US"/>
          </a:p>
        </p:txBody>
      </p:sp>
    </p:spTree>
    <p:extLst>
      <p:ext uri="{BB962C8B-B14F-4D97-AF65-F5344CB8AC3E}">
        <p14:creationId xmlns:p14="http://schemas.microsoft.com/office/powerpoint/2010/main" val="3681576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91</a:t>
            </a:fld>
            <a:endParaRPr kumimoji="1" lang="ja-JP" altLang="en-US"/>
          </a:p>
        </p:txBody>
      </p:sp>
    </p:spTree>
    <p:extLst>
      <p:ext uri="{BB962C8B-B14F-4D97-AF65-F5344CB8AC3E}">
        <p14:creationId xmlns:p14="http://schemas.microsoft.com/office/powerpoint/2010/main" val="2510992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92</a:t>
            </a:fld>
            <a:endParaRPr kumimoji="1" lang="ja-JP" altLang="en-US"/>
          </a:p>
        </p:txBody>
      </p:sp>
    </p:spTree>
    <p:extLst>
      <p:ext uri="{BB962C8B-B14F-4D97-AF65-F5344CB8AC3E}">
        <p14:creationId xmlns:p14="http://schemas.microsoft.com/office/powerpoint/2010/main" val="446181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93</a:t>
            </a:fld>
            <a:endParaRPr kumimoji="1" lang="ja-JP" altLang="en-US"/>
          </a:p>
        </p:txBody>
      </p:sp>
    </p:spTree>
    <p:extLst>
      <p:ext uri="{BB962C8B-B14F-4D97-AF65-F5344CB8AC3E}">
        <p14:creationId xmlns:p14="http://schemas.microsoft.com/office/powerpoint/2010/main" val="843402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IATF16949:2016</a:t>
            </a:r>
            <a:r>
              <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解説</a:t>
            </a: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1-</a:t>
            </a:r>
            <a:r>
              <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３</a:t>
            </a:r>
          </a:p>
        </p:txBody>
      </p:sp>
      <p:sp>
        <p:nvSpPr>
          <p:cNvPr id="5" name="フッター プレースホルダー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u="none" strike="noStrike" kern="1200" cap="none" spc="0" normalizeH="0" baseline="0" noProof="0">
                <a:ln>
                  <a:noFill/>
                </a:ln>
                <a:solidFill>
                  <a:prstClr val="black"/>
                </a:solidFill>
                <a:effectLst/>
                <a:uLnTx/>
                <a:uFillTx/>
                <a:latin typeface="游ゴシック" panose="020F0502020204030204"/>
                <a:ea typeface="新細明體" panose="02020500000000000000" pitchFamily="18" charset="-120"/>
                <a:cs typeface="+mn-cs"/>
              </a:rPr>
              <a:t>㈱東北環境技術</a:t>
            </a:r>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6" name="スライド番号プレースホルダー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A4350E-CCE0-4FDC-8F5C-E20A8629E31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158318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131</a:t>
            </a:fld>
            <a:endParaRPr kumimoji="1" lang="ja-JP" altLang="en-US"/>
          </a:p>
        </p:txBody>
      </p:sp>
    </p:spTree>
    <p:extLst>
      <p:ext uri="{BB962C8B-B14F-4D97-AF65-F5344CB8AC3E}">
        <p14:creationId xmlns:p14="http://schemas.microsoft.com/office/powerpoint/2010/main" val="1803694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145</a:t>
            </a:fld>
            <a:endParaRPr kumimoji="1" lang="ja-JP" altLang="en-US"/>
          </a:p>
        </p:txBody>
      </p:sp>
    </p:spTree>
    <p:extLst>
      <p:ext uri="{BB962C8B-B14F-4D97-AF65-F5344CB8AC3E}">
        <p14:creationId xmlns:p14="http://schemas.microsoft.com/office/powerpoint/2010/main" val="3634629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178</a:t>
            </a:fld>
            <a:endParaRPr kumimoji="1" lang="ja-JP" altLang="en-US"/>
          </a:p>
        </p:txBody>
      </p:sp>
    </p:spTree>
    <p:extLst>
      <p:ext uri="{BB962C8B-B14F-4D97-AF65-F5344CB8AC3E}">
        <p14:creationId xmlns:p14="http://schemas.microsoft.com/office/powerpoint/2010/main" val="2397235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196</a:t>
            </a:fld>
            <a:endParaRPr kumimoji="1" lang="ja-JP" altLang="en-US"/>
          </a:p>
        </p:txBody>
      </p:sp>
    </p:spTree>
    <p:extLst>
      <p:ext uri="{BB962C8B-B14F-4D97-AF65-F5344CB8AC3E}">
        <p14:creationId xmlns:p14="http://schemas.microsoft.com/office/powerpoint/2010/main" val="388210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238</a:t>
            </a:fld>
            <a:endParaRPr kumimoji="1" lang="ja-JP" altLang="en-US"/>
          </a:p>
        </p:txBody>
      </p:sp>
    </p:spTree>
    <p:extLst>
      <p:ext uri="{BB962C8B-B14F-4D97-AF65-F5344CB8AC3E}">
        <p14:creationId xmlns:p14="http://schemas.microsoft.com/office/powerpoint/2010/main" val="1809911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259</a:t>
            </a:fld>
            <a:endParaRPr kumimoji="1" lang="ja-JP" altLang="en-US"/>
          </a:p>
        </p:txBody>
      </p:sp>
    </p:spTree>
    <p:extLst>
      <p:ext uri="{BB962C8B-B14F-4D97-AF65-F5344CB8AC3E}">
        <p14:creationId xmlns:p14="http://schemas.microsoft.com/office/powerpoint/2010/main" val="3989406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260</a:t>
            </a:fld>
            <a:endParaRPr kumimoji="1" lang="ja-JP" altLang="en-US"/>
          </a:p>
        </p:txBody>
      </p:sp>
    </p:spTree>
    <p:extLst>
      <p:ext uri="{BB962C8B-B14F-4D97-AF65-F5344CB8AC3E}">
        <p14:creationId xmlns:p14="http://schemas.microsoft.com/office/powerpoint/2010/main" val="830339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313</a:t>
            </a:fld>
            <a:endParaRPr kumimoji="1" lang="ja-JP" altLang="en-US"/>
          </a:p>
        </p:txBody>
      </p:sp>
    </p:spTree>
    <p:extLst>
      <p:ext uri="{BB962C8B-B14F-4D97-AF65-F5344CB8AC3E}">
        <p14:creationId xmlns:p14="http://schemas.microsoft.com/office/powerpoint/2010/main" val="261226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358</a:t>
            </a:fld>
            <a:endParaRPr kumimoji="1" lang="ja-JP" altLang="en-US"/>
          </a:p>
        </p:txBody>
      </p:sp>
    </p:spTree>
    <p:extLst>
      <p:ext uri="{BB962C8B-B14F-4D97-AF65-F5344CB8AC3E}">
        <p14:creationId xmlns:p14="http://schemas.microsoft.com/office/powerpoint/2010/main" val="3115478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366</a:t>
            </a:fld>
            <a:endParaRPr kumimoji="1" lang="ja-JP" altLang="en-US"/>
          </a:p>
        </p:txBody>
      </p:sp>
    </p:spTree>
    <p:extLst>
      <p:ext uri="{BB962C8B-B14F-4D97-AF65-F5344CB8AC3E}">
        <p14:creationId xmlns:p14="http://schemas.microsoft.com/office/powerpoint/2010/main" val="38986552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547</a:t>
            </a:fld>
            <a:endParaRPr kumimoji="1" lang="ja-JP" altLang="en-US"/>
          </a:p>
        </p:txBody>
      </p:sp>
    </p:spTree>
    <p:extLst>
      <p:ext uri="{BB962C8B-B14F-4D97-AF65-F5344CB8AC3E}">
        <p14:creationId xmlns:p14="http://schemas.microsoft.com/office/powerpoint/2010/main" val="766664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548</a:t>
            </a:fld>
            <a:endParaRPr kumimoji="1" lang="ja-JP" altLang="en-US"/>
          </a:p>
        </p:txBody>
      </p:sp>
    </p:spTree>
    <p:extLst>
      <p:ext uri="{BB962C8B-B14F-4D97-AF65-F5344CB8AC3E}">
        <p14:creationId xmlns:p14="http://schemas.microsoft.com/office/powerpoint/2010/main" val="28764417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554</a:t>
            </a:fld>
            <a:endParaRPr kumimoji="1" lang="ja-JP" altLang="en-US"/>
          </a:p>
        </p:txBody>
      </p:sp>
    </p:spTree>
    <p:extLst>
      <p:ext uri="{BB962C8B-B14F-4D97-AF65-F5344CB8AC3E}">
        <p14:creationId xmlns:p14="http://schemas.microsoft.com/office/powerpoint/2010/main" val="126666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555</a:t>
            </a:fld>
            <a:endParaRPr kumimoji="1" lang="ja-JP" altLang="en-US"/>
          </a:p>
        </p:txBody>
      </p:sp>
    </p:spTree>
    <p:extLst>
      <p:ext uri="{BB962C8B-B14F-4D97-AF65-F5344CB8AC3E}">
        <p14:creationId xmlns:p14="http://schemas.microsoft.com/office/powerpoint/2010/main" val="28175951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556</a:t>
            </a:fld>
            <a:endParaRPr kumimoji="1" lang="ja-JP" altLang="en-US"/>
          </a:p>
        </p:txBody>
      </p:sp>
    </p:spTree>
    <p:extLst>
      <p:ext uri="{BB962C8B-B14F-4D97-AF65-F5344CB8AC3E}">
        <p14:creationId xmlns:p14="http://schemas.microsoft.com/office/powerpoint/2010/main" val="17819465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557</a:t>
            </a:fld>
            <a:endParaRPr kumimoji="1" lang="ja-JP" altLang="en-US"/>
          </a:p>
        </p:txBody>
      </p:sp>
    </p:spTree>
    <p:extLst>
      <p:ext uri="{BB962C8B-B14F-4D97-AF65-F5344CB8AC3E}">
        <p14:creationId xmlns:p14="http://schemas.microsoft.com/office/powerpoint/2010/main" val="31670317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558</a:t>
            </a:fld>
            <a:endParaRPr kumimoji="1" lang="ja-JP" altLang="en-US"/>
          </a:p>
        </p:txBody>
      </p:sp>
    </p:spTree>
    <p:extLst>
      <p:ext uri="{BB962C8B-B14F-4D97-AF65-F5344CB8AC3E}">
        <p14:creationId xmlns:p14="http://schemas.microsoft.com/office/powerpoint/2010/main" val="10941306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559</a:t>
            </a:fld>
            <a:endParaRPr kumimoji="1" lang="ja-JP" altLang="en-US"/>
          </a:p>
        </p:txBody>
      </p:sp>
    </p:spTree>
    <p:extLst>
      <p:ext uri="{BB962C8B-B14F-4D97-AF65-F5344CB8AC3E}">
        <p14:creationId xmlns:p14="http://schemas.microsoft.com/office/powerpoint/2010/main" val="23207192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en-US" altLang="ja-JP"/>
              <a:t>IATF16949:2016</a:t>
            </a:r>
            <a:r>
              <a:rPr kumimoji="1" lang="ja-JP" altLang="en-US"/>
              <a:t>解説</a:t>
            </a:r>
            <a:r>
              <a:rPr kumimoji="1" lang="en-US" altLang="ja-JP"/>
              <a:t>1-</a:t>
            </a:r>
            <a:r>
              <a:rPr kumimoji="1" lang="ja-JP" altLang="en-US"/>
              <a:t>３</a:t>
            </a:r>
          </a:p>
        </p:txBody>
      </p:sp>
      <p:sp>
        <p:nvSpPr>
          <p:cNvPr id="5" name="フッター プレースホルダー 4"/>
          <p:cNvSpPr>
            <a:spLocks noGrp="1"/>
          </p:cNvSpPr>
          <p:nvPr>
            <p:ph type="ftr" sz="quarter" idx="4"/>
          </p:nvPr>
        </p:nvSpPr>
        <p:spPr/>
        <p:txBody>
          <a:bodyPr/>
          <a:lstStyle/>
          <a:p>
            <a:r>
              <a:rPr kumimoji="1" lang="zh-TW" altLang="en-US"/>
              <a:t>㈱東北環境技術</a:t>
            </a:r>
            <a:endParaRPr kumimoji="1" lang="ja-JP" altLang="en-US"/>
          </a:p>
        </p:txBody>
      </p:sp>
      <p:sp>
        <p:nvSpPr>
          <p:cNvPr id="6" name="スライド番号プレースホルダー 5"/>
          <p:cNvSpPr>
            <a:spLocks noGrp="1"/>
          </p:cNvSpPr>
          <p:nvPr>
            <p:ph type="sldNum" sz="quarter" idx="5"/>
          </p:nvPr>
        </p:nvSpPr>
        <p:spPr/>
        <p:txBody>
          <a:bodyPr/>
          <a:lstStyle/>
          <a:p>
            <a:fld id="{B3A4350E-CCE0-4FDC-8F5C-E20A8629E31D}" type="slidenum">
              <a:rPr kumimoji="1" lang="ja-JP" altLang="en-US" smtClean="0"/>
              <a:t>560</a:t>
            </a:fld>
            <a:endParaRPr kumimoji="1" lang="ja-JP" altLang="en-US"/>
          </a:p>
        </p:txBody>
      </p:sp>
    </p:spTree>
    <p:extLst>
      <p:ext uri="{BB962C8B-B14F-4D97-AF65-F5344CB8AC3E}">
        <p14:creationId xmlns:p14="http://schemas.microsoft.com/office/powerpoint/2010/main" val="82990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D079C4-8F86-467B-AD5B-361CA44EEAB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D70FF56-808D-4070-A631-EECF1F4F8C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CB72EE6-AB3A-4D20-A0B0-9F86D13C19F1}"/>
              </a:ext>
            </a:extLst>
          </p:cNvPr>
          <p:cNvSpPr>
            <a:spLocks noGrp="1"/>
          </p:cNvSpPr>
          <p:nvPr>
            <p:ph type="dt" sz="half" idx="10"/>
          </p:nvPr>
        </p:nvSpPr>
        <p:spPr/>
        <p:txBody>
          <a:bodyPr/>
          <a:lstStyle/>
          <a:p>
            <a:fld id="{938E4219-6AB3-4B42-A407-45F1C525E4F9}"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4B387EFF-D29F-408A-8F1B-397799AD2CCC}"/>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32E1DD64-6F7B-4FE6-88EF-893BB65CE29D}"/>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2547487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EED8BF-8566-4F16-98A3-DBF46045BC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493465-0E2F-4C68-8979-310A6957004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1017C-CCD3-4502-A3E4-C3BB4B89F576}"/>
              </a:ext>
            </a:extLst>
          </p:cNvPr>
          <p:cNvSpPr>
            <a:spLocks noGrp="1"/>
          </p:cNvSpPr>
          <p:nvPr>
            <p:ph type="dt" sz="half" idx="10"/>
          </p:nvPr>
        </p:nvSpPr>
        <p:spPr/>
        <p:txBody>
          <a:bodyPr/>
          <a:lstStyle/>
          <a:p>
            <a:fld id="{449266A3-0806-4A85-AFAB-52E52161D769}"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9BDD03E8-2FF1-4415-BA7A-B99ABE39F1FE}"/>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D6748762-7761-4F87-95BC-575C5012FD5C}"/>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2471966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06B301-1BD6-4098-A4F1-32755AE51C1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87A3A4B-55A1-4B40-8628-1B24CA6F44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4F08BEF-4488-4EC1-AF01-0598449BB2E2}"/>
              </a:ext>
            </a:extLst>
          </p:cNvPr>
          <p:cNvSpPr>
            <a:spLocks noGrp="1"/>
          </p:cNvSpPr>
          <p:nvPr>
            <p:ph type="dt" sz="half" idx="10"/>
          </p:nvPr>
        </p:nvSpPr>
        <p:spPr/>
        <p:txBody>
          <a:bodyPr/>
          <a:lstStyle/>
          <a:p>
            <a:fld id="{5BED25D0-08CE-4A77-9B1A-9182665F2FE8}"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5697121E-F11F-41BB-8CBC-04BBADB6DB2B}"/>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BC757B84-B64B-4A34-A3A1-8B975CF85C12}"/>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68317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ECB964-C206-47D0-B426-D01E855801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2D4A2C-32F8-4838-9CA0-E7D101AF68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69A90BA-FD40-4DD1-B682-D5CD2CF7CA0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4C6114D-ADEB-42B9-AC0F-16BD4CCC24E0}"/>
              </a:ext>
            </a:extLst>
          </p:cNvPr>
          <p:cNvSpPr>
            <a:spLocks noGrp="1"/>
          </p:cNvSpPr>
          <p:nvPr>
            <p:ph type="dt" sz="half" idx="10"/>
          </p:nvPr>
        </p:nvSpPr>
        <p:spPr/>
        <p:txBody>
          <a:bodyPr/>
          <a:lstStyle/>
          <a:p>
            <a:fld id="{9F20A435-EB3D-4748-982A-222E7B2C3940}" type="datetime1">
              <a:rPr kumimoji="1" lang="ja-JP" altLang="en-US" smtClean="0"/>
              <a:t>2023/5/27</a:t>
            </a:fld>
            <a:endParaRPr kumimoji="1" lang="ja-JP" altLang="en-US"/>
          </a:p>
        </p:txBody>
      </p:sp>
      <p:sp>
        <p:nvSpPr>
          <p:cNvPr id="6" name="フッター プレースホルダー 5">
            <a:extLst>
              <a:ext uri="{FF2B5EF4-FFF2-40B4-BE49-F238E27FC236}">
                <a16:creationId xmlns:a16="http://schemas.microsoft.com/office/drawing/2014/main" id="{0206CA16-0D6B-4969-B49A-AB86D5AA8728}"/>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7" name="スライド番号プレースホルダー 6">
            <a:extLst>
              <a:ext uri="{FF2B5EF4-FFF2-40B4-BE49-F238E27FC236}">
                <a16:creationId xmlns:a16="http://schemas.microsoft.com/office/drawing/2014/main" id="{A2ED582E-19BB-4CB4-A354-434FAC6E108E}"/>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3260366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BF502A-3D73-45A7-95C1-35795B6C7FF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B6848AE-D0F9-452D-85D0-4F12CE32CC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2C2CEE3-63A5-40C1-A916-B4BC5822E1B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1FB9FFA-0858-4B22-8307-E69E3ACE2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DA07316-4B94-4C4B-86A0-12CEB354E6C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45157AE-B296-45E9-A9B4-E6D45AF8C900}"/>
              </a:ext>
            </a:extLst>
          </p:cNvPr>
          <p:cNvSpPr>
            <a:spLocks noGrp="1"/>
          </p:cNvSpPr>
          <p:nvPr>
            <p:ph type="dt" sz="half" idx="10"/>
          </p:nvPr>
        </p:nvSpPr>
        <p:spPr/>
        <p:txBody>
          <a:bodyPr/>
          <a:lstStyle/>
          <a:p>
            <a:fld id="{D479DAC6-F8BF-468C-BF2C-323BB8BD8F72}" type="datetime1">
              <a:rPr kumimoji="1" lang="ja-JP" altLang="en-US" smtClean="0"/>
              <a:t>2023/5/27</a:t>
            </a:fld>
            <a:endParaRPr kumimoji="1" lang="ja-JP" altLang="en-US"/>
          </a:p>
        </p:txBody>
      </p:sp>
      <p:sp>
        <p:nvSpPr>
          <p:cNvPr id="8" name="フッター プレースホルダー 7">
            <a:extLst>
              <a:ext uri="{FF2B5EF4-FFF2-40B4-BE49-F238E27FC236}">
                <a16:creationId xmlns:a16="http://schemas.microsoft.com/office/drawing/2014/main" id="{72E346C5-415D-446D-979E-2337396A429A}"/>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9" name="スライド番号プレースホルダー 8">
            <a:extLst>
              <a:ext uri="{FF2B5EF4-FFF2-40B4-BE49-F238E27FC236}">
                <a16:creationId xmlns:a16="http://schemas.microsoft.com/office/drawing/2014/main" id="{56789FFD-D759-4485-8A3E-79BC2AD2B857}"/>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88281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4E037B-B687-4E29-A31F-B33DF6707E6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204F54C-7588-45F9-A4D6-0CE58B6AB262}"/>
              </a:ext>
            </a:extLst>
          </p:cNvPr>
          <p:cNvSpPr>
            <a:spLocks noGrp="1"/>
          </p:cNvSpPr>
          <p:nvPr>
            <p:ph type="dt" sz="half" idx="10"/>
          </p:nvPr>
        </p:nvSpPr>
        <p:spPr/>
        <p:txBody>
          <a:bodyPr/>
          <a:lstStyle/>
          <a:p>
            <a:fld id="{E1DA0F28-44FB-42E1-8DED-B1B2F16ACF6B}" type="datetime1">
              <a:rPr kumimoji="1" lang="ja-JP" altLang="en-US" smtClean="0"/>
              <a:t>2023/5/27</a:t>
            </a:fld>
            <a:endParaRPr kumimoji="1" lang="ja-JP" altLang="en-US"/>
          </a:p>
        </p:txBody>
      </p:sp>
      <p:sp>
        <p:nvSpPr>
          <p:cNvPr id="4" name="フッター プレースホルダー 3">
            <a:extLst>
              <a:ext uri="{FF2B5EF4-FFF2-40B4-BE49-F238E27FC236}">
                <a16:creationId xmlns:a16="http://schemas.microsoft.com/office/drawing/2014/main" id="{1D497915-35F5-430F-BCC5-E6A2934C5665}"/>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20480B4D-B2C0-4574-B67F-08526C57895A}"/>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2227629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8A4A4BA-0D80-430A-B077-220BDF5C6DD2}"/>
              </a:ext>
            </a:extLst>
          </p:cNvPr>
          <p:cNvSpPr>
            <a:spLocks noGrp="1"/>
          </p:cNvSpPr>
          <p:nvPr>
            <p:ph type="dt" sz="half" idx="10"/>
          </p:nvPr>
        </p:nvSpPr>
        <p:spPr/>
        <p:txBody>
          <a:bodyPr/>
          <a:lstStyle/>
          <a:p>
            <a:fld id="{A743369B-5EBD-4CEC-B6C6-A6013D133AD7}" type="datetime1">
              <a:rPr kumimoji="1" lang="ja-JP" altLang="en-US" smtClean="0"/>
              <a:t>2023/5/27</a:t>
            </a:fld>
            <a:endParaRPr kumimoji="1" lang="ja-JP" altLang="en-US"/>
          </a:p>
        </p:txBody>
      </p:sp>
      <p:sp>
        <p:nvSpPr>
          <p:cNvPr id="3" name="フッター プレースホルダー 2">
            <a:extLst>
              <a:ext uri="{FF2B5EF4-FFF2-40B4-BE49-F238E27FC236}">
                <a16:creationId xmlns:a16="http://schemas.microsoft.com/office/drawing/2014/main" id="{E99FC288-DC46-4ADE-AE08-60894497267B}"/>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4" name="スライド番号プレースホルダー 3">
            <a:extLst>
              <a:ext uri="{FF2B5EF4-FFF2-40B4-BE49-F238E27FC236}">
                <a16:creationId xmlns:a16="http://schemas.microsoft.com/office/drawing/2014/main" id="{BCCF4229-D4DF-4A49-B16B-CE059046F989}"/>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773710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66499-6BAA-4C9E-AFEC-9B09DFCE86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C0ACE5-EB31-4B74-99B6-A0C750454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7418ED7-108B-485E-8793-0342BD4224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6B3514-B3D1-4F25-8174-07AD921990A7}"/>
              </a:ext>
            </a:extLst>
          </p:cNvPr>
          <p:cNvSpPr>
            <a:spLocks noGrp="1"/>
          </p:cNvSpPr>
          <p:nvPr>
            <p:ph type="dt" sz="half" idx="10"/>
          </p:nvPr>
        </p:nvSpPr>
        <p:spPr/>
        <p:txBody>
          <a:bodyPr/>
          <a:lstStyle/>
          <a:p>
            <a:fld id="{B9BE22CF-B0E1-460B-8245-1D955CC0429E}" type="datetime1">
              <a:rPr kumimoji="1" lang="ja-JP" altLang="en-US" smtClean="0"/>
              <a:t>2023/5/27</a:t>
            </a:fld>
            <a:endParaRPr kumimoji="1" lang="ja-JP" altLang="en-US"/>
          </a:p>
        </p:txBody>
      </p:sp>
      <p:sp>
        <p:nvSpPr>
          <p:cNvPr id="6" name="フッター プレースホルダー 5">
            <a:extLst>
              <a:ext uri="{FF2B5EF4-FFF2-40B4-BE49-F238E27FC236}">
                <a16:creationId xmlns:a16="http://schemas.microsoft.com/office/drawing/2014/main" id="{599170CC-6604-423F-8392-54942684D17F}"/>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7" name="スライド番号プレースホルダー 6">
            <a:extLst>
              <a:ext uri="{FF2B5EF4-FFF2-40B4-BE49-F238E27FC236}">
                <a16:creationId xmlns:a16="http://schemas.microsoft.com/office/drawing/2014/main" id="{96D0C608-E5D3-40FA-AA10-3D545DD74E49}"/>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29761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F80123-F836-4BD8-898C-B6828B5EF96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694961A-F373-4319-ABCE-A19F3D9975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F152BC3-F666-4ADC-9DF2-617AEA456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2DA52F-AEAA-40A9-948D-C142DEB704D3}"/>
              </a:ext>
            </a:extLst>
          </p:cNvPr>
          <p:cNvSpPr>
            <a:spLocks noGrp="1"/>
          </p:cNvSpPr>
          <p:nvPr>
            <p:ph type="dt" sz="half" idx="10"/>
          </p:nvPr>
        </p:nvSpPr>
        <p:spPr/>
        <p:txBody>
          <a:bodyPr/>
          <a:lstStyle/>
          <a:p>
            <a:fld id="{E57FF77E-47DC-4F94-AEDE-66CB831A20AE}" type="datetime1">
              <a:rPr kumimoji="1" lang="ja-JP" altLang="en-US" smtClean="0"/>
              <a:t>2023/5/27</a:t>
            </a:fld>
            <a:endParaRPr kumimoji="1" lang="ja-JP" altLang="en-US"/>
          </a:p>
        </p:txBody>
      </p:sp>
      <p:sp>
        <p:nvSpPr>
          <p:cNvPr id="6" name="フッター プレースホルダー 5">
            <a:extLst>
              <a:ext uri="{FF2B5EF4-FFF2-40B4-BE49-F238E27FC236}">
                <a16:creationId xmlns:a16="http://schemas.microsoft.com/office/drawing/2014/main" id="{A40A73A0-2323-453C-A196-581FF50395E7}"/>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7" name="スライド番号プレースホルダー 6">
            <a:extLst>
              <a:ext uri="{FF2B5EF4-FFF2-40B4-BE49-F238E27FC236}">
                <a16:creationId xmlns:a16="http://schemas.microsoft.com/office/drawing/2014/main" id="{685CE6F9-FCCC-4FF7-9A71-98379ABFABF1}"/>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3043230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80DC34-0AA5-48C3-A5E2-8831E885542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83B9DAB-2C20-4C62-B4E7-55ADCAA721D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A0BC98-F51D-48A2-9E0D-BDA8F6F97D4C}"/>
              </a:ext>
            </a:extLst>
          </p:cNvPr>
          <p:cNvSpPr>
            <a:spLocks noGrp="1"/>
          </p:cNvSpPr>
          <p:nvPr>
            <p:ph type="dt" sz="half" idx="10"/>
          </p:nvPr>
        </p:nvSpPr>
        <p:spPr/>
        <p:txBody>
          <a:bodyPr/>
          <a:lstStyle/>
          <a:p>
            <a:fld id="{CD96B81A-44D9-48AE-891D-63BF6D46BA84}"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E7B94F55-FAFF-4922-9549-A3F20A4FCE1B}"/>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EB018AA3-FD35-4AD2-985B-4EF45BF3D76F}"/>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147217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8BDA22F-27A0-45F0-8203-3E9F1117223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93E7011-7D10-42A3-8AA7-13CB171577A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B9E6E29-AAC2-4FA1-AC9F-F8FA31BCC9F6}"/>
              </a:ext>
            </a:extLst>
          </p:cNvPr>
          <p:cNvSpPr>
            <a:spLocks noGrp="1"/>
          </p:cNvSpPr>
          <p:nvPr>
            <p:ph type="dt" sz="half" idx="10"/>
          </p:nvPr>
        </p:nvSpPr>
        <p:spPr/>
        <p:txBody>
          <a:bodyPr/>
          <a:lstStyle/>
          <a:p>
            <a:fld id="{95E0DD8F-111F-4AB3-9F90-E58904B6ECED}"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F0A91D59-3A8F-4527-8F4A-5EF92A246B72}"/>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5CAD07EE-B3B1-4C14-BE20-1627109164C4}"/>
              </a:ext>
            </a:extLst>
          </p:cNvPr>
          <p:cNvSpPr>
            <a:spLocks noGrp="1"/>
          </p:cNvSpPr>
          <p:nvPr>
            <p:ph type="sldNum" sz="quarter" idx="12"/>
          </p:nvPr>
        </p:nvSpPr>
        <p:spPr/>
        <p:txBody>
          <a:body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2956150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30786C0-FBA3-4CF9-8FC6-0A21DF2C8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22D051-E32B-4E7C-968F-F95FD5B16F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7B4BE00-9032-4DAA-888F-6BE912916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7C997-9434-491E-A4BB-4F39DF1A4884}" type="datetime1">
              <a:rPr kumimoji="1" lang="ja-JP" altLang="en-US" smtClean="0"/>
              <a:t>2023/5/27</a:t>
            </a:fld>
            <a:endParaRPr kumimoji="1" lang="ja-JP" altLang="en-US"/>
          </a:p>
        </p:txBody>
      </p:sp>
      <p:sp>
        <p:nvSpPr>
          <p:cNvPr id="5" name="フッター プレースホルダー 4">
            <a:extLst>
              <a:ext uri="{FF2B5EF4-FFF2-40B4-BE49-F238E27FC236}">
                <a16:creationId xmlns:a16="http://schemas.microsoft.com/office/drawing/2014/main" id="{D2DEEDE6-9C75-44F0-BEFD-861201A4C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en-US" altLang="ja-JP"/>
              <a:t>TKG</a:t>
            </a:r>
            <a:r>
              <a:rPr kumimoji="1" lang="ja-JP" altLang="en-US"/>
              <a:t>　</a:t>
            </a:r>
            <a:r>
              <a:rPr kumimoji="1" lang="en-US" altLang="ja-JP"/>
              <a:t>IATF16949</a:t>
            </a:r>
            <a:endParaRPr kumimoji="1" lang="ja-JP" altLang="en-US"/>
          </a:p>
        </p:txBody>
      </p:sp>
      <p:sp>
        <p:nvSpPr>
          <p:cNvPr id="6" name="スライド番号プレースホルダー 5">
            <a:extLst>
              <a:ext uri="{FF2B5EF4-FFF2-40B4-BE49-F238E27FC236}">
                <a16:creationId xmlns:a16="http://schemas.microsoft.com/office/drawing/2014/main" id="{7AE69F09-0DF5-4735-A092-8019339D58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99B491-871B-4465-93C9-200AD56BCEBF}" type="slidenum">
              <a:rPr kumimoji="1" lang="ja-JP" altLang="en-US" smtClean="0"/>
              <a:t>‹#›</a:t>
            </a:fld>
            <a:endParaRPr kumimoji="1" lang="ja-JP" altLang="en-US"/>
          </a:p>
        </p:txBody>
      </p:sp>
    </p:spTree>
    <p:extLst>
      <p:ext uri="{BB962C8B-B14F-4D97-AF65-F5344CB8AC3E}">
        <p14:creationId xmlns:p14="http://schemas.microsoft.com/office/powerpoint/2010/main" val="876253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9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9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9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9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mmons.wikimedia.org/wiki/File:Cistoclemmys_flavomarginata_Stuffed_specimen.jpg"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s://en.wikipedia.org/wiki/Liquid_chromatography%E2%80%93mass_spectrometry"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pl.wikipedia.org/wiki/Suwmiarka" TargetMode="External"/><Relationship Id="rId4" Type="http://schemas.openxmlformats.org/officeDocument/2006/relationships/image" Target="../media/image8.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4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7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image" Target="../media/image34.emf"/></Relationships>
</file>

<file path=ppt/slides/_rels/slide536.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image" Target="../media/image47.emf"/><Relationship Id="rId3" Type="http://schemas.openxmlformats.org/officeDocument/2006/relationships/image" Target="../media/image37.emf"/><Relationship Id="rId7" Type="http://schemas.openxmlformats.org/officeDocument/2006/relationships/image" Target="../media/image41.emf"/><Relationship Id="rId12" Type="http://schemas.openxmlformats.org/officeDocument/2006/relationships/image" Target="../media/image46.emf"/><Relationship Id="rId2" Type="http://schemas.openxmlformats.org/officeDocument/2006/relationships/image" Target="../media/image36.emf"/><Relationship Id="rId1" Type="http://schemas.openxmlformats.org/officeDocument/2006/relationships/slideLayout" Target="../slideLayouts/slideLayout2.xml"/><Relationship Id="rId6" Type="http://schemas.openxmlformats.org/officeDocument/2006/relationships/image" Target="../media/image40.emf"/><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44.emf"/><Relationship Id="rId4" Type="http://schemas.openxmlformats.org/officeDocument/2006/relationships/image" Target="../media/image38.emf"/><Relationship Id="rId9" Type="http://schemas.openxmlformats.org/officeDocument/2006/relationships/image" Target="../media/image43.emf"/></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3" Type="http://schemas.openxmlformats.org/officeDocument/2006/relationships/image" Target="../media/image55.emf"/><Relationship Id="rId7" Type="http://schemas.openxmlformats.org/officeDocument/2006/relationships/image" Target="../media/image59.emf"/><Relationship Id="rId2" Type="http://schemas.openxmlformats.org/officeDocument/2006/relationships/image" Target="../media/image54.emf"/><Relationship Id="rId1"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1F34F2-BA72-4EB4-BF76-09209D7F0D63}"/>
              </a:ext>
            </a:extLst>
          </p:cNvPr>
          <p:cNvSpPr>
            <a:spLocks noGrp="1"/>
          </p:cNvSpPr>
          <p:nvPr>
            <p:ph type="ctrTitle"/>
          </p:nvPr>
        </p:nvSpPr>
        <p:spPr>
          <a:xfrm>
            <a:off x="1524000" y="1600200"/>
            <a:ext cx="9144000" cy="2270760"/>
          </a:xfrm>
          <a:solidFill>
            <a:schemeClr val="tx2"/>
          </a:solidFill>
        </p:spPr>
        <p:txBody>
          <a:bodyPr/>
          <a:lstStyle/>
          <a:p>
            <a:r>
              <a:rPr lang="en-US" altLang="ja-JP" b="1" dirty="0">
                <a:solidFill>
                  <a:schemeClr val="bg1"/>
                </a:solidFill>
                <a:effectLst>
                  <a:outerShdw blurRad="38100" dist="38100" dir="2700000" algn="tl">
                    <a:srgbClr val="000000">
                      <a:alpha val="43137"/>
                    </a:srgbClr>
                  </a:outerShdw>
                </a:effectLst>
              </a:rPr>
              <a:t>IATF</a:t>
            </a:r>
            <a:r>
              <a:rPr lang="ja-JP" altLang="en-US" b="1" dirty="0">
                <a:solidFill>
                  <a:schemeClr val="bg1"/>
                </a:solidFill>
                <a:effectLst>
                  <a:outerShdw blurRad="38100" dist="38100" dir="2700000" algn="tl">
                    <a:srgbClr val="000000">
                      <a:alpha val="43137"/>
                    </a:srgbClr>
                  </a:outerShdw>
                </a:effectLst>
              </a:rPr>
              <a:t>規格要求事項　　　　</a:t>
            </a:r>
            <a:r>
              <a:rPr lang="en-US" altLang="ja-JP" b="1" dirty="0">
                <a:solidFill>
                  <a:schemeClr val="bg1"/>
                </a:solidFill>
                <a:effectLst>
                  <a:outerShdw blurRad="38100" dist="38100" dir="2700000" algn="tl">
                    <a:srgbClr val="000000">
                      <a:alpha val="43137"/>
                    </a:srgbClr>
                  </a:outerShdw>
                </a:effectLst>
              </a:rPr>
              <a:t>(</a:t>
            </a:r>
            <a:r>
              <a:rPr lang="ja-JP" altLang="en-US" b="1" dirty="0">
                <a:solidFill>
                  <a:schemeClr val="bg1"/>
                </a:solidFill>
                <a:effectLst>
                  <a:outerShdw blurRad="38100" dist="38100" dir="2700000" algn="tl">
                    <a:srgbClr val="000000">
                      <a:alpha val="43137"/>
                    </a:srgbClr>
                  </a:outerShdw>
                </a:effectLst>
              </a:rPr>
              <a:t>コアツール含む）解説</a:t>
            </a:r>
            <a:endParaRPr kumimoji="1" lang="ja-JP" altLang="en-US" b="1" dirty="0">
              <a:solidFill>
                <a:schemeClr val="bg1"/>
              </a:solidFill>
              <a:effectLst>
                <a:outerShdw blurRad="38100" dist="38100" dir="2700000" algn="tl">
                  <a:srgbClr val="000000">
                    <a:alpha val="43137"/>
                  </a:srgbClr>
                </a:outerShdw>
              </a:effectLst>
            </a:endParaRPr>
          </a:p>
        </p:txBody>
      </p:sp>
      <p:sp>
        <p:nvSpPr>
          <p:cNvPr id="3" name="字幕 2">
            <a:extLst>
              <a:ext uri="{FF2B5EF4-FFF2-40B4-BE49-F238E27FC236}">
                <a16:creationId xmlns:a16="http://schemas.microsoft.com/office/drawing/2014/main" id="{E3982ADE-3FC0-4CC0-8C83-A11119F58170}"/>
              </a:ext>
            </a:extLst>
          </p:cNvPr>
          <p:cNvSpPr>
            <a:spLocks noGrp="1"/>
          </p:cNvSpPr>
          <p:nvPr>
            <p:ph type="subTitle" idx="1"/>
          </p:nvPr>
        </p:nvSpPr>
        <p:spPr/>
        <p:txBody>
          <a:bodyPr/>
          <a:lstStyle/>
          <a:p>
            <a:pPr algn="r"/>
            <a:endParaRPr kumimoji="1" lang="ja-JP" altLang="en-US" u="sng" dirty="0"/>
          </a:p>
        </p:txBody>
      </p:sp>
      <p:sp>
        <p:nvSpPr>
          <p:cNvPr id="4" name="フッター プレースホルダー 3">
            <a:extLst>
              <a:ext uri="{FF2B5EF4-FFF2-40B4-BE49-F238E27FC236}">
                <a16:creationId xmlns:a16="http://schemas.microsoft.com/office/drawing/2014/main" id="{85F3662F-0CB9-45EC-8B1F-B3A5EB419B20}"/>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589DC41B-2E9C-42F3-88DE-E9FEAF487171}"/>
              </a:ext>
            </a:extLst>
          </p:cNvPr>
          <p:cNvSpPr>
            <a:spLocks noGrp="1"/>
          </p:cNvSpPr>
          <p:nvPr>
            <p:ph type="sldNum" sz="quarter" idx="12"/>
          </p:nvPr>
        </p:nvSpPr>
        <p:spPr/>
        <p:txBody>
          <a:bodyPr/>
          <a:lstStyle/>
          <a:p>
            <a:fld id="{F599B491-871B-4465-93C9-200AD56BCEBF}" type="slidenum">
              <a:rPr kumimoji="1" lang="ja-JP" altLang="en-US" smtClean="0"/>
              <a:t>1</a:t>
            </a:fld>
            <a:endParaRPr kumimoji="1" lang="ja-JP" altLang="en-US"/>
          </a:p>
        </p:txBody>
      </p:sp>
    </p:spTree>
    <p:extLst>
      <p:ext uri="{BB962C8B-B14F-4D97-AF65-F5344CB8AC3E}">
        <p14:creationId xmlns:p14="http://schemas.microsoft.com/office/powerpoint/2010/main" val="19508708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この資料の構成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3186598937"/>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a:t>
            </a:fld>
            <a:endParaRPr kumimoji="1" lang="ja-JP" altLang="en-US"/>
          </a:p>
        </p:txBody>
      </p:sp>
    </p:spTree>
    <p:extLst>
      <p:ext uri="{BB962C8B-B14F-4D97-AF65-F5344CB8AC3E}">
        <p14:creationId xmlns:p14="http://schemas.microsoft.com/office/powerpoint/2010/main" val="9624905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第１章の構成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2700073408"/>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a:t>
            </a:fld>
            <a:endParaRPr kumimoji="1" lang="ja-JP" altLang="en-US"/>
          </a:p>
        </p:txBody>
      </p:sp>
    </p:spTree>
    <p:extLst>
      <p:ext uri="{BB962C8B-B14F-4D97-AF65-F5344CB8AC3E}">
        <p14:creationId xmlns:p14="http://schemas.microsoft.com/office/powerpoint/2010/main" val="21715132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2519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1.1</a:t>
            </a:r>
            <a:r>
              <a:rPr lang="ja-JP" altLang="en-US" sz="3600" dirty="0">
                <a:solidFill>
                  <a:schemeClr val="bg1"/>
                </a:solidFill>
              </a:rPr>
              <a:t>　近年の動き</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a:t>
            </a:fld>
            <a:endParaRPr kumimoji="1" lang="ja-JP" altLang="en-US"/>
          </a:p>
        </p:txBody>
      </p:sp>
      <p:graphicFrame>
        <p:nvGraphicFramePr>
          <p:cNvPr id="7" name="コンテンツ プレースホルダー 6">
            <a:extLst>
              <a:ext uri="{FF2B5EF4-FFF2-40B4-BE49-F238E27FC236}">
                <a16:creationId xmlns:a16="http://schemas.microsoft.com/office/drawing/2014/main" id="{DFD83E78-F1AE-4853-955B-B4171860058B}"/>
              </a:ext>
            </a:extLst>
          </p:cNvPr>
          <p:cNvGraphicFramePr>
            <a:graphicFrameLocks noGrp="1"/>
          </p:cNvGraphicFramePr>
          <p:nvPr>
            <p:ph idx="1"/>
            <p:extLst>
              <p:ext uri="{D42A27DB-BD31-4B8C-83A1-F6EECF244321}">
                <p14:modId xmlns:p14="http://schemas.microsoft.com/office/powerpoint/2010/main" val="192057093"/>
              </p:ext>
            </p:extLst>
          </p:nvPr>
        </p:nvGraphicFramePr>
        <p:xfrm>
          <a:off x="838200" y="1595120"/>
          <a:ext cx="10515600" cy="45818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4509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1.2</a:t>
            </a:r>
            <a:r>
              <a:rPr lang="ja-JP" altLang="en-US" sz="3600" dirty="0">
                <a:solidFill>
                  <a:schemeClr val="bg1"/>
                </a:solidFill>
              </a:rPr>
              <a:t>　リコール</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34160"/>
            <a:ext cx="10515600" cy="4642803"/>
          </a:xfrm>
        </p:spPr>
        <p:txBody>
          <a:bodyPr/>
          <a:lstStyle/>
          <a:p>
            <a:pPr marL="514350" indent="-514350">
              <a:buFont typeface="+mj-lt"/>
              <a:buAutoNum type="arabicPeriod"/>
            </a:pPr>
            <a:r>
              <a:rPr kumimoji="1" lang="ja-JP" altLang="en-US" dirty="0"/>
              <a:t>リコールとは「道路輸送車両の保安基準」に適合しない場合の市場回収及び改善措置の実施。　</a:t>
            </a:r>
            <a:r>
              <a:rPr kumimoji="1" lang="en-US" altLang="ja-JP" sz="2000" dirty="0"/>
              <a:t>※</a:t>
            </a:r>
            <a:r>
              <a:rPr kumimoji="1" lang="ja-JP" altLang="en-US" sz="2000" dirty="0"/>
              <a:t>日本の場合</a:t>
            </a:r>
            <a:endParaRPr kumimoji="1" lang="en-US" altLang="ja-JP" sz="2000" dirty="0"/>
          </a:p>
          <a:p>
            <a:pPr marL="514350" indent="-514350">
              <a:buFont typeface="+mj-lt"/>
              <a:buAutoNum type="arabicPeriod"/>
            </a:pPr>
            <a:r>
              <a:rPr lang="ja-JP" altLang="en-US" dirty="0"/>
              <a:t>「保安基準」に関わる装置。</a:t>
            </a:r>
            <a:endParaRPr lang="en-US" altLang="ja-JP" dirty="0"/>
          </a:p>
          <a:p>
            <a:pPr marL="457200" lvl="1" indent="0">
              <a:buNone/>
            </a:pPr>
            <a:r>
              <a:rPr kumimoji="1" lang="ja-JP" altLang="en-US" dirty="0"/>
              <a:t>　操舵・制動・燃料・電気の各装置、前照灯・番号灯・尾灯などの安全</a:t>
            </a:r>
            <a:endParaRPr kumimoji="1" lang="en-US" altLang="ja-JP" dirty="0"/>
          </a:p>
          <a:p>
            <a:pPr marL="457200" lvl="1" indent="0">
              <a:buNone/>
            </a:pPr>
            <a:r>
              <a:rPr kumimoji="1" lang="ja-JP" altLang="en-US" dirty="0"/>
              <a:t>　機能など。</a:t>
            </a:r>
            <a:endParaRPr kumimoji="1" lang="en-US" altLang="ja-JP" dirty="0"/>
          </a:p>
          <a:p>
            <a:pPr marL="514350" indent="-514350">
              <a:buFont typeface="+mj-lt"/>
              <a:buAutoNum type="arabicPeriod"/>
            </a:pPr>
            <a:r>
              <a:rPr kumimoji="1" lang="ja-JP" altLang="en-US" dirty="0"/>
              <a:t>経営への甚大な影響。</a:t>
            </a:r>
            <a:endParaRPr kumimoji="1" lang="en-US" altLang="ja-JP" dirty="0"/>
          </a:p>
          <a:p>
            <a:pPr marL="971550" lvl="1" indent="-514350">
              <a:buFont typeface="+mj-ea"/>
              <a:buAutoNum type="circleNumDbPlain"/>
            </a:pPr>
            <a:r>
              <a:rPr lang="ja-JP" altLang="en-US" dirty="0"/>
              <a:t>回収及び対策費用。</a:t>
            </a:r>
            <a:endParaRPr lang="en-US" altLang="ja-JP" dirty="0"/>
          </a:p>
          <a:p>
            <a:pPr marL="971550" lvl="1" indent="-514350">
              <a:buFont typeface="+mj-ea"/>
              <a:buAutoNum type="circleNumDbPlain"/>
            </a:pPr>
            <a:r>
              <a:rPr kumimoji="1" lang="ja-JP" altLang="en-US" dirty="0"/>
              <a:t>社会からの評価。</a:t>
            </a:r>
            <a:endParaRPr kumimoji="1" lang="en-US" altLang="ja-JP" dirty="0"/>
          </a:p>
          <a:p>
            <a:pPr marL="971550" lvl="1" indent="-514350">
              <a:buFont typeface="+mj-ea"/>
              <a:buAutoNum type="circleNumDbPlain"/>
            </a:pPr>
            <a:r>
              <a:rPr lang="ja-JP" altLang="en-US" dirty="0"/>
              <a:t>届け出義務違反。（刑事罰及び社会的制裁）</a:t>
            </a:r>
            <a:endParaRPr kumimoji="1" lang="en-US" altLang="ja-JP" dirty="0"/>
          </a:p>
          <a:p>
            <a:endParaRPr kumimoji="1" lang="ja-JP" altLang="en-US" dirty="0"/>
          </a:p>
        </p:txBody>
      </p:sp>
    </p:spTree>
    <p:extLst>
      <p:ext uri="{BB962C8B-B14F-4D97-AF65-F5344CB8AC3E}">
        <p14:creationId xmlns:p14="http://schemas.microsoft.com/office/powerpoint/2010/main" val="2522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2141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1.2</a:t>
            </a:r>
            <a:r>
              <a:rPr lang="ja-JP" altLang="en-US" sz="3600" dirty="0">
                <a:solidFill>
                  <a:schemeClr val="bg1"/>
                </a:solidFill>
              </a:rPr>
              <a:t>　リコール</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a:t>
            </a:fld>
            <a:endParaRPr kumimoji="1" lang="ja-JP" altLang="en-US"/>
          </a:p>
        </p:txBody>
      </p:sp>
      <p:pic>
        <p:nvPicPr>
          <p:cNvPr id="7" name="図 6">
            <a:extLst>
              <a:ext uri="{FF2B5EF4-FFF2-40B4-BE49-F238E27FC236}">
                <a16:creationId xmlns:a16="http://schemas.microsoft.com/office/drawing/2014/main" id="{FB4E4661-AE10-404B-9253-8650CCF4B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63040"/>
            <a:ext cx="10515600" cy="4893309"/>
          </a:xfrm>
          <a:prstGeom prst="rect">
            <a:avLst/>
          </a:prstGeom>
        </p:spPr>
      </p:pic>
      <p:sp>
        <p:nvSpPr>
          <p:cNvPr id="3" name="正方形/長方形 2">
            <a:extLst>
              <a:ext uri="{FF2B5EF4-FFF2-40B4-BE49-F238E27FC236}">
                <a16:creationId xmlns:a16="http://schemas.microsoft.com/office/drawing/2014/main" id="{BFED0439-8506-468D-9516-18BE1CE5066E}"/>
              </a:ext>
            </a:extLst>
          </p:cNvPr>
          <p:cNvSpPr/>
          <p:nvPr/>
        </p:nvSpPr>
        <p:spPr>
          <a:xfrm>
            <a:off x="8569960" y="6102349"/>
            <a:ext cx="2783840" cy="254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900" dirty="0">
                <a:solidFill>
                  <a:schemeClr val="tx1"/>
                </a:solidFill>
              </a:rPr>
              <a:t>国交省　自動車のリコール・不具合情報</a:t>
            </a:r>
          </a:p>
        </p:txBody>
      </p:sp>
    </p:spTree>
    <p:extLst>
      <p:ext uri="{BB962C8B-B14F-4D97-AF65-F5344CB8AC3E}">
        <p14:creationId xmlns:p14="http://schemas.microsoft.com/office/powerpoint/2010/main" val="14753983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74577"/>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1.2</a:t>
            </a:r>
            <a:r>
              <a:rPr lang="ja-JP" altLang="en-US" sz="3600" dirty="0">
                <a:solidFill>
                  <a:schemeClr val="bg1"/>
                </a:solidFill>
              </a:rPr>
              <a:t>　リコール</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52247"/>
            <a:ext cx="10515600" cy="519430"/>
          </a:xfrm>
        </p:spPr>
        <p:txBody>
          <a:bodyPr/>
          <a:lstStyle/>
          <a:p>
            <a:pPr marL="0" indent="0">
              <a:buNone/>
            </a:pPr>
            <a:r>
              <a:rPr kumimoji="1" lang="en-US" altLang="ja-JP" dirty="0"/>
              <a:t>2010</a:t>
            </a:r>
            <a:r>
              <a:rPr kumimoji="1" lang="ja-JP" altLang="en-US" dirty="0"/>
              <a:t>～</a:t>
            </a:r>
            <a:r>
              <a:rPr kumimoji="1" lang="en-US" altLang="ja-JP" dirty="0"/>
              <a:t>2014</a:t>
            </a:r>
            <a:r>
              <a:rPr kumimoji="1" lang="ja-JP" altLang="en-US" dirty="0"/>
              <a:t>年度　主な原因別届出件数</a:t>
            </a:r>
            <a:endParaRPr kumimoji="1" lang="en-US" altLang="ja-JP" dirty="0"/>
          </a:p>
          <a:p>
            <a:endParaRPr kumimoji="1" lang="ja-JP" altLang="en-US" dirty="0"/>
          </a:p>
        </p:txBody>
      </p:sp>
      <p:graphicFrame>
        <p:nvGraphicFramePr>
          <p:cNvPr id="7" name="表 6">
            <a:extLst>
              <a:ext uri="{FF2B5EF4-FFF2-40B4-BE49-F238E27FC236}">
                <a16:creationId xmlns:a16="http://schemas.microsoft.com/office/drawing/2014/main" id="{9482CE96-0496-4EDB-BF5C-2DF4D7C3A371}"/>
              </a:ext>
            </a:extLst>
          </p:cNvPr>
          <p:cNvGraphicFramePr>
            <a:graphicFrameLocks noGrp="1"/>
          </p:cNvGraphicFramePr>
          <p:nvPr>
            <p:extLst>
              <p:ext uri="{D42A27DB-BD31-4B8C-83A1-F6EECF244321}">
                <p14:modId xmlns:p14="http://schemas.microsoft.com/office/powerpoint/2010/main" val="62381335"/>
              </p:ext>
            </p:extLst>
          </p:nvPr>
        </p:nvGraphicFramePr>
        <p:xfrm>
          <a:off x="838200" y="2174244"/>
          <a:ext cx="10515600" cy="4182112"/>
        </p:xfrm>
        <a:graphic>
          <a:graphicData uri="http://schemas.openxmlformats.org/drawingml/2006/table">
            <a:tbl>
              <a:tblPr firstRow="1" bandRow="1">
                <a:tableStyleId>{5940675A-B579-460E-94D1-54222C63F5DA}</a:tableStyleId>
              </a:tblPr>
              <a:tblGrid>
                <a:gridCol w="2372360">
                  <a:extLst>
                    <a:ext uri="{9D8B030D-6E8A-4147-A177-3AD203B41FA5}">
                      <a16:colId xmlns:a16="http://schemas.microsoft.com/office/drawing/2014/main" val="1905068442"/>
                    </a:ext>
                  </a:extLst>
                </a:gridCol>
                <a:gridCol w="2763520">
                  <a:extLst>
                    <a:ext uri="{9D8B030D-6E8A-4147-A177-3AD203B41FA5}">
                      <a16:colId xmlns:a16="http://schemas.microsoft.com/office/drawing/2014/main" val="441269635"/>
                    </a:ext>
                  </a:extLst>
                </a:gridCol>
                <a:gridCol w="5379720">
                  <a:extLst>
                    <a:ext uri="{9D8B030D-6E8A-4147-A177-3AD203B41FA5}">
                      <a16:colId xmlns:a16="http://schemas.microsoft.com/office/drawing/2014/main" val="3100770153"/>
                    </a:ext>
                  </a:extLst>
                </a:gridCol>
              </a:tblGrid>
              <a:tr h="522764">
                <a:tc rowSpan="8">
                  <a:txBody>
                    <a:bodyPr/>
                    <a:lstStyle/>
                    <a:p>
                      <a:r>
                        <a:rPr kumimoji="1" lang="ja-JP" altLang="en-US" sz="2200" dirty="0"/>
                        <a:t>設計</a:t>
                      </a:r>
                      <a:endParaRPr kumimoji="1" lang="en-US" altLang="ja-JP" sz="2200" dirty="0"/>
                    </a:p>
                    <a:p>
                      <a:r>
                        <a:rPr kumimoji="1" lang="ja-JP" altLang="en-US" sz="2200" dirty="0"/>
                        <a:t>（</a:t>
                      </a:r>
                      <a:r>
                        <a:rPr kumimoji="1" lang="en-US" altLang="ja-JP" sz="2200" dirty="0"/>
                        <a:t>214</a:t>
                      </a:r>
                      <a:r>
                        <a:rPr kumimoji="1" lang="ja-JP" altLang="en-US" sz="2200" dirty="0"/>
                        <a:t>件　</a:t>
                      </a:r>
                      <a:r>
                        <a:rPr kumimoji="1" lang="en-US" altLang="ja-JP" sz="2200" dirty="0"/>
                        <a:t>61%</a:t>
                      </a:r>
                      <a:r>
                        <a:rPr kumimoji="1" lang="ja-JP" altLang="en-US" sz="2200" dirty="0"/>
                        <a:t>）</a:t>
                      </a:r>
                    </a:p>
                  </a:txBody>
                  <a:tcPr anchor="ctr"/>
                </a:tc>
                <a:tc rowSpan="3">
                  <a:txBody>
                    <a:bodyPr/>
                    <a:lstStyle/>
                    <a:p>
                      <a:r>
                        <a:rPr kumimoji="1" lang="ja-JP" altLang="en-US" sz="2200" dirty="0"/>
                        <a:t>性能（</a:t>
                      </a:r>
                      <a:r>
                        <a:rPr kumimoji="1" lang="en-US" altLang="ja-JP" sz="2200" dirty="0"/>
                        <a:t>8.2%</a:t>
                      </a:r>
                      <a:r>
                        <a:rPr kumimoji="1" lang="ja-JP" altLang="en-US" sz="2200" dirty="0"/>
                        <a:t>）</a:t>
                      </a:r>
                    </a:p>
                  </a:txBody>
                  <a:tcPr anchor="ctr"/>
                </a:tc>
                <a:tc>
                  <a:txBody>
                    <a:bodyPr/>
                    <a:lstStyle/>
                    <a:p>
                      <a:r>
                        <a:rPr kumimoji="1" lang="ja-JP" altLang="en-US" sz="2200" dirty="0"/>
                        <a:t>量産部品の品質見込み違い（</a:t>
                      </a:r>
                      <a:r>
                        <a:rPr kumimoji="1" lang="en-US" altLang="ja-JP" sz="2200" dirty="0"/>
                        <a:t>0.9%</a:t>
                      </a:r>
                      <a:r>
                        <a:rPr kumimoji="1" lang="ja-JP" altLang="en-US" sz="2200" dirty="0"/>
                        <a:t>）</a:t>
                      </a:r>
                    </a:p>
                  </a:txBody>
                  <a:tcPr anchor="ctr"/>
                </a:tc>
                <a:extLst>
                  <a:ext uri="{0D108BD9-81ED-4DB2-BD59-A6C34878D82A}">
                    <a16:rowId xmlns:a16="http://schemas.microsoft.com/office/drawing/2014/main" val="1147279621"/>
                  </a:ext>
                </a:extLst>
              </a:tr>
              <a:tr h="522764">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t>部品、材料の特性不十分（</a:t>
                      </a:r>
                      <a:r>
                        <a:rPr kumimoji="1" lang="en-US" altLang="ja-JP" sz="2200" dirty="0"/>
                        <a:t>5.1%</a:t>
                      </a:r>
                      <a:r>
                        <a:rPr kumimoji="1" lang="ja-JP" altLang="en-US" sz="2200" dirty="0"/>
                        <a:t>）</a:t>
                      </a:r>
                    </a:p>
                  </a:txBody>
                  <a:tcPr anchor="ctr"/>
                </a:tc>
                <a:extLst>
                  <a:ext uri="{0D108BD9-81ED-4DB2-BD59-A6C34878D82A}">
                    <a16:rowId xmlns:a16="http://schemas.microsoft.com/office/drawing/2014/main" val="3142643006"/>
                  </a:ext>
                </a:extLst>
              </a:tr>
              <a:tr h="522764">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t>使用環境条件の甘さ（</a:t>
                      </a:r>
                      <a:r>
                        <a:rPr kumimoji="1" lang="en-US" altLang="ja-JP" sz="2200" dirty="0"/>
                        <a:t>2.2%</a:t>
                      </a:r>
                      <a:r>
                        <a:rPr kumimoji="1" lang="ja-JP" altLang="en-US" sz="2200" dirty="0"/>
                        <a:t>）</a:t>
                      </a:r>
                    </a:p>
                  </a:txBody>
                  <a:tcPr anchor="ctr"/>
                </a:tc>
                <a:extLst>
                  <a:ext uri="{0D108BD9-81ED-4DB2-BD59-A6C34878D82A}">
                    <a16:rowId xmlns:a16="http://schemas.microsoft.com/office/drawing/2014/main" val="296231382"/>
                  </a:ext>
                </a:extLst>
              </a:tr>
              <a:tr h="522764">
                <a:tc vMerge="1">
                  <a:txBody>
                    <a:bodyPr/>
                    <a:lstStyle/>
                    <a:p>
                      <a:endParaRPr kumimoji="1" lang="ja-JP" altLang="en-US" dirty="0"/>
                    </a:p>
                  </a:txBody>
                  <a:tcPr anchor="ctr"/>
                </a:tc>
                <a:tc rowSpan="2">
                  <a:txBody>
                    <a:bodyPr/>
                    <a:lstStyle/>
                    <a:p>
                      <a:r>
                        <a:rPr kumimoji="1" lang="ja-JP" altLang="en-US" sz="2200" dirty="0">
                          <a:solidFill>
                            <a:schemeClr val="tx1"/>
                          </a:solidFill>
                          <a:effectLst/>
                        </a:rPr>
                        <a:t>耐久性（</a:t>
                      </a:r>
                      <a:r>
                        <a:rPr kumimoji="1" lang="en-US" altLang="ja-JP" sz="2200" dirty="0">
                          <a:solidFill>
                            <a:schemeClr val="tx1"/>
                          </a:solidFill>
                          <a:effectLst/>
                        </a:rPr>
                        <a:t>7.9%</a:t>
                      </a:r>
                      <a:r>
                        <a:rPr kumimoji="1" lang="ja-JP" altLang="en-US" sz="2200" dirty="0">
                          <a:solidFill>
                            <a:schemeClr val="tx1"/>
                          </a:solidFill>
                          <a:effectLst/>
                        </a:rPr>
                        <a:t>）</a:t>
                      </a:r>
                    </a:p>
                  </a:txBody>
                  <a:tcPr anchor="ctr"/>
                </a:tc>
                <a:tc>
                  <a:txBody>
                    <a:bodyPr/>
                    <a:lstStyle/>
                    <a:p>
                      <a:r>
                        <a:rPr kumimoji="1" lang="ja-JP" altLang="en-US" sz="2200" dirty="0"/>
                        <a:t>開発評価の不備（</a:t>
                      </a:r>
                      <a:r>
                        <a:rPr kumimoji="1" lang="en-US" altLang="ja-JP" sz="2200" dirty="0"/>
                        <a:t>5.5%</a:t>
                      </a:r>
                      <a:r>
                        <a:rPr kumimoji="1" lang="ja-JP" altLang="en-US" sz="2200" dirty="0"/>
                        <a:t>）</a:t>
                      </a:r>
                    </a:p>
                  </a:txBody>
                  <a:tcPr anchor="ctr"/>
                </a:tc>
                <a:extLst>
                  <a:ext uri="{0D108BD9-81ED-4DB2-BD59-A6C34878D82A}">
                    <a16:rowId xmlns:a16="http://schemas.microsoft.com/office/drawing/2014/main" val="3149461693"/>
                  </a:ext>
                </a:extLst>
              </a:tr>
              <a:tr h="522764">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solidFill>
                            <a:schemeClr val="tx1"/>
                          </a:solidFill>
                          <a:effectLst/>
                        </a:rPr>
                        <a:t>実車相当テスト不十分（</a:t>
                      </a:r>
                      <a:r>
                        <a:rPr kumimoji="1" lang="en-US" altLang="ja-JP" sz="2200" dirty="0">
                          <a:solidFill>
                            <a:schemeClr val="tx1"/>
                          </a:solidFill>
                          <a:effectLst/>
                        </a:rPr>
                        <a:t>2.4%</a:t>
                      </a:r>
                      <a:r>
                        <a:rPr kumimoji="1" lang="ja-JP" altLang="en-US" sz="2200" dirty="0">
                          <a:solidFill>
                            <a:schemeClr val="tx1"/>
                          </a:solidFill>
                          <a:effectLst/>
                        </a:rPr>
                        <a:t>）</a:t>
                      </a:r>
                    </a:p>
                  </a:txBody>
                  <a:tcPr anchor="ctr"/>
                </a:tc>
                <a:extLst>
                  <a:ext uri="{0D108BD9-81ED-4DB2-BD59-A6C34878D82A}">
                    <a16:rowId xmlns:a16="http://schemas.microsoft.com/office/drawing/2014/main" val="4088768742"/>
                  </a:ext>
                </a:extLst>
              </a:tr>
              <a:tr h="522764">
                <a:tc vMerge="1">
                  <a:txBody>
                    <a:bodyPr/>
                    <a:lstStyle/>
                    <a:p>
                      <a:endParaRPr kumimoji="1" lang="ja-JP" altLang="en-US" dirty="0"/>
                    </a:p>
                  </a:txBody>
                  <a:tcPr anchor="ctr"/>
                </a:tc>
                <a:tc rowSpan="3">
                  <a:txBody>
                    <a:bodyPr/>
                    <a:lstStyle/>
                    <a:p>
                      <a:r>
                        <a:rPr kumimoji="1" lang="ja-JP" altLang="en-US" sz="2200" dirty="0">
                          <a:solidFill>
                            <a:schemeClr val="tx1"/>
                          </a:solidFill>
                          <a:effectLst/>
                        </a:rPr>
                        <a:t>設計自体（</a:t>
                      </a:r>
                      <a:r>
                        <a:rPr kumimoji="1" lang="en-US" altLang="ja-JP" sz="2200" dirty="0">
                          <a:solidFill>
                            <a:schemeClr val="tx1"/>
                          </a:solidFill>
                          <a:effectLst/>
                        </a:rPr>
                        <a:t>45.3%</a:t>
                      </a:r>
                      <a:r>
                        <a:rPr kumimoji="1" lang="ja-JP" altLang="en-US" sz="2200" dirty="0">
                          <a:solidFill>
                            <a:schemeClr val="tx1"/>
                          </a:solidFill>
                          <a:effectLst/>
                        </a:rPr>
                        <a:t>）</a:t>
                      </a:r>
                    </a:p>
                  </a:txBody>
                  <a:tcPr anchor="ctr"/>
                </a:tc>
                <a:tc>
                  <a:txBody>
                    <a:bodyPr/>
                    <a:lstStyle/>
                    <a:p>
                      <a:r>
                        <a:rPr kumimoji="1" lang="ja-JP" altLang="en-US" sz="2200" dirty="0">
                          <a:solidFill>
                            <a:schemeClr val="tx1"/>
                          </a:solidFill>
                          <a:effectLst/>
                        </a:rPr>
                        <a:t>評価基準の甘さ（</a:t>
                      </a:r>
                      <a:r>
                        <a:rPr kumimoji="1" lang="en-US" altLang="ja-JP" sz="2200" dirty="0">
                          <a:solidFill>
                            <a:schemeClr val="tx1"/>
                          </a:solidFill>
                          <a:effectLst/>
                        </a:rPr>
                        <a:t>35.6%</a:t>
                      </a:r>
                      <a:r>
                        <a:rPr kumimoji="1" lang="ja-JP" altLang="en-US" sz="2200" dirty="0">
                          <a:solidFill>
                            <a:schemeClr val="tx1"/>
                          </a:solidFill>
                          <a:effectLst/>
                        </a:rPr>
                        <a:t>）</a:t>
                      </a:r>
                    </a:p>
                  </a:txBody>
                  <a:tcPr anchor="ctr"/>
                </a:tc>
                <a:extLst>
                  <a:ext uri="{0D108BD9-81ED-4DB2-BD59-A6C34878D82A}">
                    <a16:rowId xmlns:a16="http://schemas.microsoft.com/office/drawing/2014/main" val="1120814160"/>
                  </a:ext>
                </a:extLst>
              </a:tr>
              <a:tr h="522764">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solidFill>
                            <a:schemeClr val="tx1"/>
                          </a:solidFill>
                          <a:effectLst/>
                        </a:rPr>
                        <a:t>図面等の不備（</a:t>
                      </a:r>
                      <a:r>
                        <a:rPr kumimoji="1" lang="en-US" altLang="ja-JP" sz="2200" dirty="0">
                          <a:solidFill>
                            <a:schemeClr val="tx1"/>
                          </a:solidFill>
                          <a:effectLst/>
                        </a:rPr>
                        <a:t>4.4%</a:t>
                      </a:r>
                      <a:r>
                        <a:rPr kumimoji="1" lang="ja-JP" altLang="en-US" sz="2200" dirty="0">
                          <a:solidFill>
                            <a:schemeClr val="tx1"/>
                          </a:solidFill>
                          <a:effectLst/>
                        </a:rPr>
                        <a:t>）</a:t>
                      </a:r>
                    </a:p>
                  </a:txBody>
                  <a:tcPr anchor="ctr"/>
                </a:tc>
                <a:extLst>
                  <a:ext uri="{0D108BD9-81ED-4DB2-BD59-A6C34878D82A}">
                    <a16:rowId xmlns:a16="http://schemas.microsoft.com/office/drawing/2014/main" val="4042490604"/>
                  </a:ext>
                </a:extLst>
              </a:tr>
              <a:tr h="522764">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t>プログラムミス（</a:t>
                      </a:r>
                      <a:r>
                        <a:rPr kumimoji="1" lang="en-US" altLang="ja-JP" sz="2200" dirty="0"/>
                        <a:t>5.4%</a:t>
                      </a:r>
                      <a:r>
                        <a:rPr kumimoji="1" lang="ja-JP" altLang="en-US" sz="2200" dirty="0"/>
                        <a:t>）</a:t>
                      </a:r>
                    </a:p>
                  </a:txBody>
                  <a:tcPr anchor="ctr"/>
                </a:tc>
                <a:extLst>
                  <a:ext uri="{0D108BD9-81ED-4DB2-BD59-A6C34878D82A}">
                    <a16:rowId xmlns:a16="http://schemas.microsoft.com/office/drawing/2014/main" val="3266781869"/>
                  </a:ext>
                </a:extLst>
              </a:tr>
            </a:tbl>
          </a:graphicData>
        </a:graphic>
      </p:graphicFrame>
      <p:sp>
        <p:nvSpPr>
          <p:cNvPr id="8" name="正方形/長方形 7">
            <a:extLst>
              <a:ext uri="{FF2B5EF4-FFF2-40B4-BE49-F238E27FC236}">
                <a16:creationId xmlns:a16="http://schemas.microsoft.com/office/drawing/2014/main" id="{EFB954BD-2B3D-495F-BDC7-8F280BEDADC8}"/>
              </a:ext>
            </a:extLst>
          </p:cNvPr>
          <p:cNvSpPr/>
          <p:nvPr/>
        </p:nvSpPr>
        <p:spPr>
          <a:xfrm>
            <a:off x="8569960" y="1920244"/>
            <a:ext cx="2783840" cy="254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900" dirty="0">
                <a:solidFill>
                  <a:schemeClr val="tx1"/>
                </a:solidFill>
              </a:rPr>
              <a:t>国交省　自動車のリコール・不具合情報</a:t>
            </a:r>
          </a:p>
        </p:txBody>
      </p:sp>
    </p:spTree>
    <p:extLst>
      <p:ext uri="{BB962C8B-B14F-4D97-AF65-F5344CB8AC3E}">
        <p14:creationId xmlns:p14="http://schemas.microsoft.com/office/powerpoint/2010/main" val="3609462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40117"/>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1.2</a:t>
            </a:r>
            <a:r>
              <a:rPr lang="ja-JP" altLang="en-US" sz="3600" dirty="0">
                <a:solidFill>
                  <a:schemeClr val="bg1"/>
                </a:solidFill>
              </a:rPr>
              <a:t>　リコール</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60502"/>
            <a:ext cx="10515600" cy="511175"/>
          </a:xfrm>
        </p:spPr>
        <p:txBody>
          <a:bodyPr/>
          <a:lstStyle/>
          <a:p>
            <a:pPr marL="0" indent="0">
              <a:buNone/>
            </a:pPr>
            <a:r>
              <a:rPr kumimoji="1" lang="en-US" altLang="ja-JP" dirty="0"/>
              <a:t>2010</a:t>
            </a:r>
            <a:r>
              <a:rPr kumimoji="1" lang="ja-JP" altLang="en-US" dirty="0"/>
              <a:t>～</a:t>
            </a:r>
            <a:r>
              <a:rPr kumimoji="1" lang="en-US" altLang="ja-JP" dirty="0"/>
              <a:t>2014</a:t>
            </a:r>
            <a:r>
              <a:rPr kumimoji="1" lang="ja-JP" altLang="en-US" dirty="0"/>
              <a:t>年度　主な原因別届出件数</a:t>
            </a:r>
            <a:endParaRPr kumimoji="1" lang="en-US" altLang="ja-JP" dirty="0"/>
          </a:p>
          <a:p>
            <a:endParaRPr kumimoji="1" lang="ja-JP" altLang="en-US" dirty="0"/>
          </a:p>
        </p:txBody>
      </p:sp>
      <p:graphicFrame>
        <p:nvGraphicFramePr>
          <p:cNvPr id="7" name="表 6">
            <a:extLst>
              <a:ext uri="{FF2B5EF4-FFF2-40B4-BE49-F238E27FC236}">
                <a16:creationId xmlns:a16="http://schemas.microsoft.com/office/drawing/2014/main" id="{9482CE96-0496-4EDB-BF5C-2DF4D7C3A371}"/>
              </a:ext>
            </a:extLst>
          </p:cNvPr>
          <p:cNvGraphicFramePr>
            <a:graphicFrameLocks noGrp="1"/>
          </p:cNvGraphicFramePr>
          <p:nvPr>
            <p:extLst>
              <p:ext uri="{D42A27DB-BD31-4B8C-83A1-F6EECF244321}">
                <p14:modId xmlns:p14="http://schemas.microsoft.com/office/powerpoint/2010/main" val="2000989443"/>
              </p:ext>
            </p:extLst>
          </p:nvPr>
        </p:nvGraphicFramePr>
        <p:xfrm>
          <a:off x="838200" y="2126937"/>
          <a:ext cx="10515600" cy="4229416"/>
        </p:xfrm>
        <a:graphic>
          <a:graphicData uri="http://schemas.openxmlformats.org/drawingml/2006/table">
            <a:tbl>
              <a:tblPr firstRow="1" bandRow="1">
                <a:tableStyleId>{5940675A-B579-460E-94D1-54222C63F5DA}</a:tableStyleId>
              </a:tblPr>
              <a:tblGrid>
                <a:gridCol w="2372360">
                  <a:extLst>
                    <a:ext uri="{9D8B030D-6E8A-4147-A177-3AD203B41FA5}">
                      <a16:colId xmlns:a16="http://schemas.microsoft.com/office/drawing/2014/main" val="1905068442"/>
                    </a:ext>
                  </a:extLst>
                </a:gridCol>
                <a:gridCol w="2865120">
                  <a:extLst>
                    <a:ext uri="{9D8B030D-6E8A-4147-A177-3AD203B41FA5}">
                      <a16:colId xmlns:a16="http://schemas.microsoft.com/office/drawing/2014/main" val="441269635"/>
                    </a:ext>
                  </a:extLst>
                </a:gridCol>
                <a:gridCol w="5278120">
                  <a:extLst>
                    <a:ext uri="{9D8B030D-6E8A-4147-A177-3AD203B41FA5}">
                      <a16:colId xmlns:a16="http://schemas.microsoft.com/office/drawing/2014/main" val="3100770153"/>
                    </a:ext>
                  </a:extLst>
                </a:gridCol>
              </a:tblGrid>
              <a:tr h="528677">
                <a:tc rowSpan="8">
                  <a:txBody>
                    <a:bodyPr/>
                    <a:lstStyle/>
                    <a:p>
                      <a:r>
                        <a:rPr kumimoji="1" lang="ja-JP" altLang="en-US" sz="2200" dirty="0"/>
                        <a:t>製造</a:t>
                      </a:r>
                      <a:endParaRPr kumimoji="1" lang="en-US" altLang="ja-JP" sz="2200" dirty="0"/>
                    </a:p>
                    <a:p>
                      <a:r>
                        <a:rPr kumimoji="1" lang="ja-JP" altLang="en-US" sz="2200" dirty="0"/>
                        <a:t>（</a:t>
                      </a:r>
                      <a:r>
                        <a:rPr kumimoji="1" lang="en-US" altLang="ja-JP" sz="2200" dirty="0"/>
                        <a:t>134</a:t>
                      </a:r>
                      <a:r>
                        <a:rPr kumimoji="1" lang="ja-JP" altLang="en-US" sz="2200" dirty="0"/>
                        <a:t>件　</a:t>
                      </a:r>
                      <a:r>
                        <a:rPr kumimoji="1" lang="en-US" altLang="ja-JP" sz="2200" dirty="0"/>
                        <a:t>38%</a:t>
                      </a:r>
                      <a:r>
                        <a:rPr kumimoji="1" lang="ja-JP" altLang="en-US" sz="2200" dirty="0"/>
                        <a:t>）</a:t>
                      </a:r>
                    </a:p>
                  </a:txBody>
                  <a:tcPr anchor="ctr"/>
                </a:tc>
                <a:tc rowSpan="4">
                  <a:txBody>
                    <a:bodyPr/>
                    <a:lstStyle/>
                    <a:p>
                      <a:r>
                        <a:rPr kumimoji="1" lang="ja-JP" altLang="en-US" sz="2200" dirty="0">
                          <a:solidFill>
                            <a:schemeClr val="tx1"/>
                          </a:solidFill>
                          <a:effectLst/>
                        </a:rPr>
                        <a:t>作業工程（</a:t>
                      </a:r>
                      <a:r>
                        <a:rPr kumimoji="1" lang="en-US" altLang="ja-JP" sz="2200" dirty="0">
                          <a:solidFill>
                            <a:schemeClr val="tx1"/>
                          </a:solidFill>
                          <a:effectLst/>
                        </a:rPr>
                        <a:t>32.9%</a:t>
                      </a:r>
                      <a:r>
                        <a:rPr kumimoji="1" lang="ja-JP" altLang="en-US" sz="2200" dirty="0">
                          <a:solidFill>
                            <a:schemeClr val="tx1"/>
                          </a:solidFill>
                          <a:effectLst/>
                        </a:rPr>
                        <a:t>）</a:t>
                      </a:r>
                    </a:p>
                  </a:txBody>
                  <a:tcPr anchor="ctr"/>
                </a:tc>
                <a:tc>
                  <a:txBody>
                    <a:bodyPr/>
                    <a:lstStyle/>
                    <a:p>
                      <a:r>
                        <a:rPr kumimoji="1" lang="ja-JP" altLang="en-US" sz="2200" dirty="0">
                          <a:solidFill>
                            <a:schemeClr val="tx1"/>
                          </a:solidFill>
                          <a:effectLst/>
                        </a:rPr>
                        <a:t>作業員のミス（</a:t>
                      </a:r>
                      <a:r>
                        <a:rPr kumimoji="1" lang="en-US" altLang="ja-JP" sz="2200" dirty="0">
                          <a:solidFill>
                            <a:schemeClr val="tx1"/>
                          </a:solidFill>
                          <a:effectLst/>
                        </a:rPr>
                        <a:t>8.5%</a:t>
                      </a:r>
                      <a:r>
                        <a:rPr kumimoji="1" lang="ja-JP" altLang="en-US" sz="2200" dirty="0">
                          <a:solidFill>
                            <a:schemeClr val="tx1"/>
                          </a:solidFill>
                          <a:effectLst/>
                        </a:rPr>
                        <a:t>）</a:t>
                      </a:r>
                    </a:p>
                  </a:txBody>
                  <a:tcPr anchor="ctr"/>
                </a:tc>
                <a:extLst>
                  <a:ext uri="{0D108BD9-81ED-4DB2-BD59-A6C34878D82A}">
                    <a16:rowId xmlns:a16="http://schemas.microsoft.com/office/drawing/2014/main" val="1147279621"/>
                  </a:ext>
                </a:extLst>
              </a:tr>
              <a:tr h="528677">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solidFill>
                            <a:schemeClr val="tx1"/>
                          </a:solidFill>
                          <a:effectLst/>
                        </a:rPr>
                        <a:t>マニュアルの不備（</a:t>
                      </a:r>
                      <a:r>
                        <a:rPr kumimoji="1" lang="en-US" altLang="ja-JP" sz="2200" dirty="0">
                          <a:solidFill>
                            <a:schemeClr val="tx1"/>
                          </a:solidFill>
                          <a:effectLst/>
                        </a:rPr>
                        <a:t>3.6%</a:t>
                      </a:r>
                      <a:r>
                        <a:rPr kumimoji="1" lang="ja-JP" altLang="en-US" sz="2200" dirty="0">
                          <a:solidFill>
                            <a:schemeClr val="tx1"/>
                          </a:solidFill>
                          <a:effectLst/>
                        </a:rPr>
                        <a:t>）</a:t>
                      </a:r>
                    </a:p>
                  </a:txBody>
                  <a:tcPr anchor="ctr"/>
                </a:tc>
                <a:extLst>
                  <a:ext uri="{0D108BD9-81ED-4DB2-BD59-A6C34878D82A}">
                    <a16:rowId xmlns:a16="http://schemas.microsoft.com/office/drawing/2014/main" val="3142643006"/>
                  </a:ext>
                </a:extLst>
              </a:tr>
              <a:tr h="528677">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solidFill>
                            <a:schemeClr val="tx1"/>
                          </a:solidFill>
                          <a:effectLst/>
                        </a:rPr>
                        <a:t>製造工程不適切（</a:t>
                      </a:r>
                      <a:r>
                        <a:rPr kumimoji="1" lang="en-US" altLang="ja-JP" sz="2200" dirty="0">
                          <a:solidFill>
                            <a:schemeClr val="tx1"/>
                          </a:solidFill>
                          <a:effectLst/>
                        </a:rPr>
                        <a:t>16.2%</a:t>
                      </a:r>
                      <a:r>
                        <a:rPr kumimoji="1" lang="ja-JP" altLang="en-US" sz="2200" dirty="0">
                          <a:solidFill>
                            <a:schemeClr val="tx1"/>
                          </a:solidFill>
                          <a:effectLst/>
                        </a:rPr>
                        <a:t>）</a:t>
                      </a:r>
                    </a:p>
                  </a:txBody>
                  <a:tcPr anchor="ctr"/>
                </a:tc>
                <a:extLst>
                  <a:ext uri="{0D108BD9-81ED-4DB2-BD59-A6C34878D82A}">
                    <a16:rowId xmlns:a16="http://schemas.microsoft.com/office/drawing/2014/main" val="296231382"/>
                  </a:ext>
                </a:extLst>
              </a:tr>
              <a:tr h="528677">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solidFill>
                            <a:schemeClr val="tx1"/>
                          </a:solidFill>
                          <a:effectLst/>
                        </a:rPr>
                        <a:t>作業管理不適切（</a:t>
                      </a:r>
                      <a:r>
                        <a:rPr kumimoji="1" lang="en-US" altLang="ja-JP" sz="2200" dirty="0">
                          <a:solidFill>
                            <a:schemeClr val="tx1"/>
                          </a:solidFill>
                          <a:effectLst/>
                        </a:rPr>
                        <a:t>4.6%</a:t>
                      </a:r>
                      <a:r>
                        <a:rPr kumimoji="1" lang="ja-JP" altLang="en-US" sz="2200" dirty="0">
                          <a:solidFill>
                            <a:schemeClr val="tx1"/>
                          </a:solidFill>
                          <a:effectLst/>
                        </a:rPr>
                        <a:t>）</a:t>
                      </a:r>
                    </a:p>
                  </a:txBody>
                  <a:tcPr anchor="ctr"/>
                </a:tc>
                <a:extLst>
                  <a:ext uri="{0D108BD9-81ED-4DB2-BD59-A6C34878D82A}">
                    <a16:rowId xmlns:a16="http://schemas.microsoft.com/office/drawing/2014/main" val="3149461693"/>
                  </a:ext>
                </a:extLst>
              </a:tr>
              <a:tr h="528677">
                <a:tc vMerge="1">
                  <a:txBody>
                    <a:bodyPr/>
                    <a:lstStyle/>
                    <a:p>
                      <a:endParaRPr kumimoji="1" lang="ja-JP" altLang="en-US" dirty="0"/>
                    </a:p>
                  </a:txBody>
                  <a:tcPr anchor="ctr"/>
                </a:tc>
                <a:tc>
                  <a:txBody>
                    <a:bodyPr/>
                    <a:lstStyle/>
                    <a:p>
                      <a:r>
                        <a:rPr kumimoji="1" lang="ja-JP" altLang="en-US" sz="2200" dirty="0"/>
                        <a:t>機械設備（</a:t>
                      </a:r>
                      <a:r>
                        <a:rPr kumimoji="1" lang="en-US" altLang="ja-JP" sz="2200" dirty="0"/>
                        <a:t>1.7%</a:t>
                      </a:r>
                      <a:r>
                        <a:rPr kumimoji="1" lang="ja-JP" altLang="en-US" sz="2200" dirty="0"/>
                        <a:t>）</a:t>
                      </a:r>
                    </a:p>
                  </a:txBody>
                  <a:tcPr anchor="ctr"/>
                </a:tc>
                <a:tc>
                  <a:txBody>
                    <a:bodyPr/>
                    <a:lstStyle/>
                    <a:p>
                      <a:r>
                        <a:rPr kumimoji="1" lang="ja-JP" altLang="en-US" sz="2200" dirty="0">
                          <a:effectLst/>
                        </a:rPr>
                        <a:t>保守管理の不備（</a:t>
                      </a:r>
                      <a:r>
                        <a:rPr kumimoji="1" lang="en-US" altLang="ja-JP" sz="2200" dirty="0">
                          <a:effectLst/>
                        </a:rPr>
                        <a:t>1.7%</a:t>
                      </a:r>
                      <a:r>
                        <a:rPr kumimoji="1" lang="ja-JP" altLang="en-US" sz="2200" dirty="0">
                          <a:effectLst/>
                        </a:rPr>
                        <a:t>）</a:t>
                      </a:r>
                    </a:p>
                  </a:txBody>
                  <a:tcPr anchor="ctr"/>
                </a:tc>
                <a:extLst>
                  <a:ext uri="{0D108BD9-81ED-4DB2-BD59-A6C34878D82A}">
                    <a16:rowId xmlns:a16="http://schemas.microsoft.com/office/drawing/2014/main" val="4088768742"/>
                  </a:ext>
                </a:extLst>
              </a:tr>
              <a:tr h="528677">
                <a:tc vMerge="1">
                  <a:txBody>
                    <a:bodyPr/>
                    <a:lstStyle/>
                    <a:p>
                      <a:endParaRPr kumimoji="1" lang="ja-JP" altLang="en-US" dirty="0"/>
                    </a:p>
                  </a:txBody>
                  <a:tcPr anchor="ctr"/>
                </a:tc>
                <a:tc rowSpan="2">
                  <a:txBody>
                    <a:bodyPr/>
                    <a:lstStyle/>
                    <a:p>
                      <a:r>
                        <a:rPr kumimoji="1" lang="ja-JP" altLang="en-US" sz="2200" dirty="0"/>
                        <a:t>工具・治具（</a:t>
                      </a:r>
                      <a:r>
                        <a:rPr kumimoji="1" lang="en-US" altLang="ja-JP" sz="2200" dirty="0"/>
                        <a:t>1.3%</a:t>
                      </a:r>
                      <a:r>
                        <a:rPr kumimoji="1" lang="ja-JP" altLang="en-US" sz="2200" dirty="0"/>
                        <a:t>）</a:t>
                      </a:r>
                    </a:p>
                  </a:txBody>
                  <a:tcPr anchor="ctr"/>
                </a:tc>
                <a:tc>
                  <a:txBody>
                    <a:bodyPr/>
                    <a:lstStyle/>
                    <a:p>
                      <a:r>
                        <a:rPr kumimoji="1" lang="ja-JP" altLang="en-US" sz="2200" dirty="0">
                          <a:effectLst/>
                        </a:rPr>
                        <a:t>保守管理の不備（</a:t>
                      </a:r>
                      <a:r>
                        <a:rPr kumimoji="1" lang="en-US" altLang="ja-JP" sz="2200" dirty="0">
                          <a:effectLst/>
                        </a:rPr>
                        <a:t>0.8%</a:t>
                      </a:r>
                      <a:r>
                        <a:rPr kumimoji="1" lang="ja-JP" altLang="en-US" sz="2200" dirty="0">
                          <a:effectLst/>
                        </a:rPr>
                        <a:t>）</a:t>
                      </a:r>
                    </a:p>
                  </a:txBody>
                  <a:tcPr anchor="ctr"/>
                </a:tc>
                <a:extLst>
                  <a:ext uri="{0D108BD9-81ED-4DB2-BD59-A6C34878D82A}">
                    <a16:rowId xmlns:a16="http://schemas.microsoft.com/office/drawing/2014/main" val="1120814160"/>
                  </a:ext>
                </a:extLst>
              </a:tr>
              <a:tr h="528677">
                <a:tc vMerge="1">
                  <a:txBody>
                    <a:bodyPr/>
                    <a:lstStyle/>
                    <a:p>
                      <a:endParaRPr kumimoji="1" lang="ja-JP" altLang="en-US" dirty="0"/>
                    </a:p>
                  </a:txBody>
                  <a:tcPr anchor="ctr"/>
                </a:tc>
                <a:tc vMerge="1">
                  <a:txBody>
                    <a:bodyPr/>
                    <a:lstStyle/>
                    <a:p>
                      <a:endParaRPr kumimoji="1" lang="ja-JP" altLang="en-US" dirty="0"/>
                    </a:p>
                  </a:txBody>
                  <a:tcPr anchor="ctr"/>
                </a:tc>
                <a:tc>
                  <a:txBody>
                    <a:bodyPr/>
                    <a:lstStyle/>
                    <a:p>
                      <a:r>
                        <a:rPr kumimoji="1" lang="ja-JP" altLang="en-US" sz="2200" dirty="0"/>
                        <a:t>金型寸法の不適切（</a:t>
                      </a:r>
                      <a:r>
                        <a:rPr kumimoji="1" lang="en-US" altLang="ja-JP" sz="2200" dirty="0"/>
                        <a:t>0.5%</a:t>
                      </a:r>
                      <a:r>
                        <a:rPr kumimoji="1" lang="ja-JP" altLang="en-US" sz="2200" dirty="0"/>
                        <a:t>）</a:t>
                      </a:r>
                    </a:p>
                  </a:txBody>
                  <a:tcPr anchor="ctr"/>
                </a:tc>
                <a:extLst>
                  <a:ext uri="{0D108BD9-81ED-4DB2-BD59-A6C34878D82A}">
                    <a16:rowId xmlns:a16="http://schemas.microsoft.com/office/drawing/2014/main" val="4042490604"/>
                  </a:ext>
                </a:extLst>
              </a:tr>
              <a:tr h="528677">
                <a:tc vMerge="1">
                  <a:txBody>
                    <a:bodyPr/>
                    <a:lstStyle/>
                    <a:p>
                      <a:endParaRPr kumimoji="1" lang="ja-JP" altLang="en-US" dirty="0"/>
                    </a:p>
                  </a:txBody>
                  <a:tcPr anchor="ctr"/>
                </a:tc>
                <a:tc>
                  <a:txBody>
                    <a:bodyPr/>
                    <a:lstStyle/>
                    <a:p>
                      <a:r>
                        <a:rPr kumimoji="1" lang="ja-JP" altLang="en-US" sz="2200" dirty="0"/>
                        <a:t>部品・材料（</a:t>
                      </a:r>
                      <a:r>
                        <a:rPr kumimoji="1" lang="en-US" altLang="ja-JP" sz="2200" dirty="0"/>
                        <a:t>2.4%</a:t>
                      </a:r>
                      <a:r>
                        <a:rPr kumimoji="1" lang="ja-JP" altLang="en-US" sz="2200" dirty="0"/>
                        <a:t>）</a:t>
                      </a:r>
                    </a:p>
                  </a:txBody>
                  <a:tcPr anchor="ctr"/>
                </a:tc>
                <a:tc>
                  <a:txBody>
                    <a:bodyPr/>
                    <a:lstStyle/>
                    <a:p>
                      <a:r>
                        <a:rPr kumimoji="1" lang="ja-JP" altLang="en-US" sz="2200" dirty="0"/>
                        <a:t>管理の不備（</a:t>
                      </a:r>
                      <a:r>
                        <a:rPr kumimoji="1" lang="en-US" altLang="ja-JP" sz="2200" dirty="0"/>
                        <a:t>2.3%</a:t>
                      </a:r>
                      <a:r>
                        <a:rPr kumimoji="1" lang="ja-JP" altLang="en-US" sz="2200" dirty="0"/>
                        <a:t>）</a:t>
                      </a:r>
                    </a:p>
                  </a:txBody>
                  <a:tcPr anchor="ctr"/>
                </a:tc>
                <a:extLst>
                  <a:ext uri="{0D108BD9-81ED-4DB2-BD59-A6C34878D82A}">
                    <a16:rowId xmlns:a16="http://schemas.microsoft.com/office/drawing/2014/main" val="3266781869"/>
                  </a:ext>
                </a:extLst>
              </a:tr>
            </a:tbl>
          </a:graphicData>
        </a:graphic>
      </p:graphicFrame>
      <p:sp>
        <p:nvSpPr>
          <p:cNvPr id="8" name="正方形/長方形 7">
            <a:extLst>
              <a:ext uri="{FF2B5EF4-FFF2-40B4-BE49-F238E27FC236}">
                <a16:creationId xmlns:a16="http://schemas.microsoft.com/office/drawing/2014/main" id="{E3FA2BA1-AA7D-43DA-8878-CE8AFBD11EB2}"/>
              </a:ext>
            </a:extLst>
          </p:cNvPr>
          <p:cNvSpPr/>
          <p:nvPr/>
        </p:nvSpPr>
        <p:spPr>
          <a:xfrm>
            <a:off x="8569960" y="1872937"/>
            <a:ext cx="2783840" cy="254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900" dirty="0">
                <a:solidFill>
                  <a:schemeClr val="tx1"/>
                </a:solidFill>
              </a:rPr>
              <a:t>国交省　自動車のリコール・不具合情報</a:t>
            </a:r>
          </a:p>
        </p:txBody>
      </p:sp>
    </p:spTree>
    <p:extLst>
      <p:ext uri="{BB962C8B-B14F-4D97-AF65-F5344CB8AC3E}">
        <p14:creationId xmlns:p14="http://schemas.microsoft.com/office/powerpoint/2010/main" val="2734760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294326"/>
            <a:ext cx="10515600" cy="919471"/>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1.2</a:t>
            </a:r>
            <a:r>
              <a:rPr lang="ja-JP" altLang="en-US" sz="3600" dirty="0">
                <a:solidFill>
                  <a:schemeClr val="bg1"/>
                </a:solidFill>
              </a:rPr>
              <a:t>　リコール</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63991"/>
            <a:ext cx="10515600" cy="511175"/>
          </a:xfrm>
        </p:spPr>
        <p:txBody>
          <a:bodyPr/>
          <a:lstStyle/>
          <a:p>
            <a:pPr marL="0" indent="0">
              <a:buNone/>
            </a:pPr>
            <a:r>
              <a:rPr lang="en-US" altLang="ja-JP" dirty="0"/>
              <a:t>2018</a:t>
            </a:r>
            <a:r>
              <a:rPr kumimoji="1" lang="ja-JP" altLang="en-US" dirty="0"/>
              <a:t>年度　主な原因別届出件数</a:t>
            </a:r>
            <a:endParaRPr kumimoji="1" lang="en-US" altLang="ja-JP" dirty="0"/>
          </a:p>
          <a:p>
            <a:endParaRPr kumimoji="1" lang="ja-JP" altLang="en-US" dirty="0"/>
          </a:p>
        </p:txBody>
      </p:sp>
      <p:graphicFrame>
        <p:nvGraphicFramePr>
          <p:cNvPr id="6" name="表 5">
            <a:extLst>
              <a:ext uri="{FF2B5EF4-FFF2-40B4-BE49-F238E27FC236}">
                <a16:creationId xmlns:a16="http://schemas.microsoft.com/office/drawing/2014/main" id="{FD13D21B-A129-4BEB-B05F-489E300C2C1F}"/>
              </a:ext>
            </a:extLst>
          </p:cNvPr>
          <p:cNvGraphicFramePr>
            <a:graphicFrameLocks noGrp="1"/>
          </p:cNvGraphicFramePr>
          <p:nvPr>
            <p:extLst>
              <p:ext uri="{D42A27DB-BD31-4B8C-83A1-F6EECF244321}">
                <p14:modId xmlns:p14="http://schemas.microsoft.com/office/powerpoint/2010/main" val="864388975"/>
              </p:ext>
            </p:extLst>
          </p:nvPr>
        </p:nvGraphicFramePr>
        <p:xfrm>
          <a:off x="838200" y="2100262"/>
          <a:ext cx="10515600" cy="4005894"/>
        </p:xfrm>
        <a:graphic>
          <a:graphicData uri="http://schemas.openxmlformats.org/drawingml/2006/table">
            <a:tbl>
              <a:tblPr firstRow="1" bandRow="1">
                <a:tableStyleId>{5940675A-B579-460E-94D1-54222C63F5DA}</a:tableStyleId>
              </a:tblPr>
              <a:tblGrid>
                <a:gridCol w="4251960">
                  <a:extLst>
                    <a:ext uri="{9D8B030D-6E8A-4147-A177-3AD203B41FA5}">
                      <a16:colId xmlns:a16="http://schemas.microsoft.com/office/drawing/2014/main" val="2517770"/>
                    </a:ext>
                  </a:extLst>
                </a:gridCol>
                <a:gridCol w="6263640">
                  <a:extLst>
                    <a:ext uri="{9D8B030D-6E8A-4147-A177-3AD203B41FA5}">
                      <a16:colId xmlns:a16="http://schemas.microsoft.com/office/drawing/2014/main" val="259646853"/>
                    </a:ext>
                  </a:extLst>
                </a:gridCol>
              </a:tblGrid>
              <a:tr h="667649">
                <a:tc rowSpan="3">
                  <a:txBody>
                    <a:bodyPr/>
                    <a:lstStyle/>
                    <a:p>
                      <a:r>
                        <a:rPr kumimoji="1" lang="ja-JP" altLang="en-US" sz="2400" dirty="0"/>
                        <a:t>設計（</a:t>
                      </a:r>
                      <a:r>
                        <a:rPr kumimoji="1" lang="en-US" altLang="ja-JP" sz="2400" dirty="0"/>
                        <a:t>269</a:t>
                      </a:r>
                      <a:r>
                        <a:rPr kumimoji="1" lang="ja-JP" altLang="en-US" sz="2400" dirty="0"/>
                        <a:t>件　</a:t>
                      </a:r>
                      <a:r>
                        <a:rPr kumimoji="1" lang="en-US" altLang="ja-JP" sz="2400" dirty="0"/>
                        <a:t>60%</a:t>
                      </a:r>
                      <a:r>
                        <a:rPr kumimoji="1" lang="ja-JP" altLang="en-US" sz="2400" dirty="0"/>
                        <a:t>）</a:t>
                      </a:r>
                      <a:endParaRPr kumimoji="1" lang="ja-JP" altLang="en-US" sz="2400" b="0" dirty="0"/>
                    </a:p>
                  </a:txBody>
                  <a:tcPr/>
                </a:tc>
                <a:tc>
                  <a:txBody>
                    <a:bodyPr/>
                    <a:lstStyle/>
                    <a:p>
                      <a:r>
                        <a:rPr kumimoji="1" lang="ja-JP" altLang="en-US" sz="2400" dirty="0">
                          <a:solidFill>
                            <a:schemeClr val="tx1"/>
                          </a:solidFill>
                          <a:effectLst/>
                        </a:rPr>
                        <a:t>評価基準の甘さ（</a:t>
                      </a:r>
                      <a:r>
                        <a:rPr kumimoji="1" lang="en-US" altLang="ja-JP" sz="2400" dirty="0">
                          <a:solidFill>
                            <a:schemeClr val="tx1"/>
                          </a:solidFill>
                          <a:effectLst/>
                        </a:rPr>
                        <a:t>117</a:t>
                      </a:r>
                      <a:r>
                        <a:rPr kumimoji="1" lang="ja-JP" altLang="en-US" sz="2400" dirty="0">
                          <a:solidFill>
                            <a:schemeClr val="tx1"/>
                          </a:solidFill>
                          <a:effectLst/>
                        </a:rPr>
                        <a:t>件　</a:t>
                      </a:r>
                      <a:r>
                        <a:rPr kumimoji="1" lang="en-US" altLang="ja-JP" sz="2400" dirty="0">
                          <a:solidFill>
                            <a:schemeClr val="tx1"/>
                          </a:solidFill>
                          <a:effectLst/>
                        </a:rPr>
                        <a:t>26%</a:t>
                      </a:r>
                      <a:r>
                        <a:rPr kumimoji="1" lang="ja-JP" altLang="en-US" sz="2400" dirty="0">
                          <a:solidFill>
                            <a:schemeClr val="tx1"/>
                          </a:solidFill>
                          <a:effectLst/>
                        </a:rPr>
                        <a:t>）</a:t>
                      </a:r>
                      <a:endParaRPr kumimoji="1" lang="ja-JP" altLang="en-US" sz="2400" b="0" dirty="0">
                        <a:solidFill>
                          <a:schemeClr val="tx1"/>
                        </a:solidFill>
                        <a:effectLst/>
                      </a:endParaRPr>
                    </a:p>
                  </a:txBody>
                  <a:tcPr anchor="ctr"/>
                </a:tc>
                <a:extLst>
                  <a:ext uri="{0D108BD9-81ED-4DB2-BD59-A6C34878D82A}">
                    <a16:rowId xmlns:a16="http://schemas.microsoft.com/office/drawing/2014/main" val="4212908818"/>
                  </a:ext>
                </a:extLst>
              </a:tr>
              <a:tr h="667649">
                <a:tc vMerge="1">
                  <a:txBody>
                    <a:bodyPr/>
                    <a:lstStyle/>
                    <a:p>
                      <a:endParaRPr kumimoji="1" lang="ja-JP" altLang="en-US" sz="2400" b="0" dirty="0"/>
                    </a:p>
                  </a:txBody>
                  <a:tcPr anchor="ctr"/>
                </a:tc>
                <a:tc>
                  <a:txBody>
                    <a:bodyPr/>
                    <a:lstStyle/>
                    <a:p>
                      <a:r>
                        <a:rPr kumimoji="1" lang="ja-JP" altLang="en-US" sz="2400" dirty="0">
                          <a:solidFill>
                            <a:schemeClr val="tx1"/>
                          </a:solidFill>
                          <a:effectLst/>
                        </a:rPr>
                        <a:t>開発評価の不備（</a:t>
                      </a:r>
                      <a:r>
                        <a:rPr kumimoji="1" lang="en-US" altLang="ja-JP" sz="2400" dirty="0">
                          <a:solidFill>
                            <a:schemeClr val="tx1"/>
                          </a:solidFill>
                          <a:effectLst/>
                        </a:rPr>
                        <a:t>26</a:t>
                      </a:r>
                      <a:r>
                        <a:rPr kumimoji="1" lang="ja-JP" altLang="en-US" sz="2400" dirty="0">
                          <a:solidFill>
                            <a:schemeClr val="tx1"/>
                          </a:solidFill>
                          <a:effectLst/>
                        </a:rPr>
                        <a:t>件　</a:t>
                      </a:r>
                      <a:r>
                        <a:rPr kumimoji="1" lang="en-US" altLang="ja-JP" sz="2400" dirty="0">
                          <a:solidFill>
                            <a:schemeClr val="tx1"/>
                          </a:solidFill>
                          <a:effectLst/>
                        </a:rPr>
                        <a:t>6%</a:t>
                      </a:r>
                      <a:r>
                        <a:rPr kumimoji="1" lang="ja-JP" altLang="en-US" sz="2400" dirty="0">
                          <a:solidFill>
                            <a:schemeClr val="tx1"/>
                          </a:solidFill>
                          <a:effectLst/>
                        </a:rPr>
                        <a:t>）</a:t>
                      </a:r>
                      <a:endParaRPr kumimoji="1" lang="ja-JP" altLang="en-US" sz="2400" b="0" dirty="0">
                        <a:solidFill>
                          <a:schemeClr val="tx1"/>
                        </a:solidFill>
                        <a:effectLst/>
                      </a:endParaRPr>
                    </a:p>
                  </a:txBody>
                  <a:tcPr anchor="ctr"/>
                </a:tc>
                <a:extLst>
                  <a:ext uri="{0D108BD9-81ED-4DB2-BD59-A6C34878D82A}">
                    <a16:rowId xmlns:a16="http://schemas.microsoft.com/office/drawing/2014/main" val="68074732"/>
                  </a:ext>
                </a:extLst>
              </a:tr>
              <a:tr h="667649">
                <a:tc vMerge="1">
                  <a:txBody>
                    <a:bodyPr/>
                    <a:lstStyle/>
                    <a:p>
                      <a:endParaRPr kumimoji="1" lang="ja-JP" altLang="en-US" sz="2400" b="0" dirty="0"/>
                    </a:p>
                  </a:txBody>
                  <a:tcPr anchor="ctr"/>
                </a:tc>
                <a:tc>
                  <a:txBody>
                    <a:bodyPr/>
                    <a:lstStyle/>
                    <a:p>
                      <a:r>
                        <a:rPr kumimoji="1" lang="ja-JP" altLang="en-US" sz="2400" u="sng" dirty="0">
                          <a:solidFill>
                            <a:schemeClr val="tx1"/>
                          </a:solidFill>
                          <a:effectLst/>
                        </a:rPr>
                        <a:t>プログラムミス（</a:t>
                      </a:r>
                      <a:r>
                        <a:rPr kumimoji="1" lang="en-US" altLang="ja-JP" sz="2400" u="sng" dirty="0">
                          <a:solidFill>
                            <a:schemeClr val="tx1"/>
                          </a:solidFill>
                          <a:effectLst/>
                        </a:rPr>
                        <a:t>42</a:t>
                      </a:r>
                      <a:r>
                        <a:rPr kumimoji="1" lang="ja-JP" altLang="en-US" sz="2400" u="sng" dirty="0">
                          <a:solidFill>
                            <a:schemeClr val="tx1"/>
                          </a:solidFill>
                          <a:effectLst/>
                        </a:rPr>
                        <a:t>件　</a:t>
                      </a:r>
                      <a:r>
                        <a:rPr kumimoji="1" lang="en-US" altLang="ja-JP" sz="2400" u="sng" dirty="0">
                          <a:solidFill>
                            <a:schemeClr val="tx1"/>
                          </a:solidFill>
                          <a:effectLst/>
                        </a:rPr>
                        <a:t>9%</a:t>
                      </a:r>
                      <a:r>
                        <a:rPr kumimoji="1" lang="ja-JP" altLang="en-US" sz="2400" u="sng" dirty="0">
                          <a:solidFill>
                            <a:schemeClr val="tx1"/>
                          </a:solidFill>
                          <a:effectLst/>
                        </a:rPr>
                        <a:t>）</a:t>
                      </a:r>
                      <a:endParaRPr kumimoji="1" lang="ja-JP" altLang="en-US" sz="2400" b="0" u="sng" dirty="0">
                        <a:solidFill>
                          <a:schemeClr val="tx1"/>
                        </a:solidFill>
                        <a:effectLst/>
                      </a:endParaRPr>
                    </a:p>
                  </a:txBody>
                  <a:tcPr anchor="ctr"/>
                </a:tc>
                <a:extLst>
                  <a:ext uri="{0D108BD9-81ED-4DB2-BD59-A6C34878D82A}">
                    <a16:rowId xmlns:a16="http://schemas.microsoft.com/office/drawing/2014/main" val="3727544173"/>
                  </a:ext>
                </a:extLst>
              </a:tr>
              <a:tr h="667649">
                <a:tc rowSpan="3">
                  <a:txBody>
                    <a:bodyPr/>
                    <a:lstStyle/>
                    <a:p>
                      <a:r>
                        <a:rPr kumimoji="1" lang="ja-JP" altLang="en-US" sz="2400" dirty="0"/>
                        <a:t>製造（</a:t>
                      </a:r>
                      <a:r>
                        <a:rPr kumimoji="1" lang="en-US" altLang="ja-JP" sz="2400" dirty="0"/>
                        <a:t>149</a:t>
                      </a:r>
                      <a:r>
                        <a:rPr kumimoji="1" lang="ja-JP" altLang="en-US" sz="2400" dirty="0"/>
                        <a:t>件　</a:t>
                      </a:r>
                      <a:r>
                        <a:rPr kumimoji="1" lang="en-US" altLang="ja-JP" sz="2400" dirty="0"/>
                        <a:t>33%</a:t>
                      </a:r>
                      <a:r>
                        <a:rPr kumimoji="1" lang="ja-JP" altLang="en-US" sz="2400" dirty="0"/>
                        <a:t>）</a:t>
                      </a:r>
                      <a:endParaRPr kumimoji="1" lang="ja-JP" altLang="en-US" sz="2400" b="0" dirty="0"/>
                    </a:p>
                  </a:txBody>
                  <a:tcPr/>
                </a:tc>
                <a:tc>
                  <a:txBody>
                    <a:bodyPr/>
                    <a:lstStyle/>
                    <a:p>
                      <a:r>
                        <a:rPr kumimoji="1" lang="ja-JP" altLang="en-US" sz="2400" dirty="0">
                          <a:solidFill>
                            <a:schemeClr val="tx1"/>
                          </a:solidFill>
                          <a:effectLst/>
                        </a:rPr>
                        <a:t>製造工程不適切（</a:t>
                      </a:r>
                      <a:r>
                        <a:rPr kumimoji="1" lang="en-US" altLang="ja-JP" sz="2400" dirty="0">
                          <a:solidFill>
                            <a:schemeClr val="tx1"/>
                          </a:solidFill>
                          <a:effectLst/>
                        </a:rPr>
                        <a:t>36</a:t>
                      </a:r>
                      <a:r>
                        <a:rPr kumimoji="1" lang="ja-JP" altLang="en-US" sz="2400" dirty="0">
                          <a:solidFill>
                            <a:schemeClr val="tx1"/>
                          </a:solidFill>
                          <a:effectLst/>
                        </a:rPr>
                        <a:t>件　</a:t>
                      </a:r>
                      <a:r>
                        <a:rPr kumimoji="1" lang="en-US" altLang="ja-JP" sz="2400" dirty="0">
                          <a:solidFill>
                            <a:schemeClr val="tx1"/>
                          </a:solidFill>
                          <a:effectLst/>
                        </a:rPr>
                        <a:t>8%</a:t>
                      </a:r>
                      <a:r>
                        <a:rPr kumimoji="1" lang="ja-JP" altLang="en-US" sz="2400" dirty="0">
                          <a:solidFill>
                            <a:schemeClr val="tx1"/>
                          </a:solidFill>
                          <a:effectLst/>
                        </a:rPr>
                        <a:t>）</a:t>
                      </a:r>
                      <a:endParaRPr kumimoji="1" lang="ja-JP" altLang="en-US" sz="2400" b="0" dirty="0">
                        <a:solidFill>
                          <a:schemeClr val="tx1"/>
                        </a:solidFill>
                        <a:effectLst/>
                      </a:endParaRPr>
                    </a:p>
                  </a:txBody>
                  <a:tcPr anchor="ctr"/>
                </a:tc>
                <a:extLst>
                  <a:ext uri="{0D108BD9-81ED-4DB2-BD59-A6C34878D82A}">
                    <a16:rowId xmlns:a16="http://schemas.microsoft.com/office/drawing/2014/main" val="1618721555"/>
                  </a:ext>
                </a:extLst>
              </a:tr>
              <a:tr h="667649">
                <a:tc vMerge="1">
                  <a:txBody>
                    <a:bodyPr/>
                    <a:lstStyle/>
                    <a:p>
                      <a:endParaRPr kumimoji="1" lang="ja-JP" altLang="en-US" sz="2400" b="0" dirty="0"/>
                    </a:p>
                  </a:txBody>
                  <a:tcPr anchor="ctr"/>
                </a:tc>
                <a:tc>
                  <a:txBody>
                    <a:bodyPr/>
                    <a:lstStyle/>
                    <a:p>
                      <a:r>
                        <a:rPr kumimoji="1" lang="ja-JP" altLang="en-US" sz="2400" dirty="0">
                          <a:solidFill>
                            <a:schemeClr val="tx1"/>
                          </a:solidFill>
                          <a:effectLst/>
                        </a:rPr>
                        <a:t>作業員のミス（</a:t>
                      </a:r>
                      <a:r>
                        <a:rPr kumimoji="1" lang="en-US" altLang="ja-JP" sz="2400" dirty="0">
                          <a:solidFill>
                            <a:schemeClr val="tx1"/>
                          </a:solidFill>
                          <a:effectLst/>
                        </a:rPr>
                        <a:t>26</a:t>
                      </a:r>
                      <a:r>
                        <a:rPr kumimoji="1" lang="ja-JP" altLang="en-US" sz="2400" dirty="0">
                          <a:solidFill>
                            <a:schemeClr val="tx1"/>
                          </a:solidFill>
                          <a:effectLst/>
                        </a:rPr>
                        <a:t>件　</a:t>
                      </a:r>
                      <a:r>
                        <a:rPr kumimoji="1" lang="en-US" altLang="ja-JP" sz="2400" dirty="0">
                          <a:solidFill>
                            <a:schemeClr val="tx1"/>
                          </a:solidFill>
                          <a:effectLst/>
                        </a:rPr>
                        <a:t>6%</a:t>
                      </a:r>
                      <a:r>
                        <a:rPr kumimoji="1" lang="ja-JP" altLang="en-US" sz="2400" dirty="0">
                          <a:solidFill>
                            <a:schemeClr val="tx1"/>
                          </a:solidFill>
                          <a:effectLst/>
                        </a:rPr>
                        <a:t>）</a:t>
                      </a:r>
                      <a:endParaRPr kumimoji="1" lang="ja-JP" altLang="en-US" sz="2400" b="0" dirty="0">
                        <a:solidFill>
                          <a:schemeClr val="tx1"/>
                        </a:solidFill>
                        <a:effectLst/>
                      </a:endParaRPr>
                    </a:p>
                  </a:txBody>
                  <a:tcPr anchor="ctr"/>
                </a:tc>
                <a:extLst>
                  <a:ext uri="{0D108BD9-81ED-4DB2-BD59-A6C34878D82A}">
                    <a16:rowId xmlns:a16="http://schemas.microsoft.com/office/drawing/2014/main" val="2329162025"/>
                  </a:ext>
                </a:extLst>
              </a:tr>
              <a:tr h="667649">
                <a:tc vMerge="1">
                  <a:txBody>
                    <a:bodyPr/>
                    <a:lstStyle/>
                    <a:p>
                      <a:endParaRPr kumimoji="1" lang="ja-JP" altLang="en-US" sz="2400" b="0" dirty="0"/>
                    </a:p>
                  </a:txBody>
                  <a:tcPr anchor="ctr"/>
                </a:tc>
                <a:tc>
                  <a:txBody>
                    <a:bodyPr/>
                    <a:lstStyle/>
                    <a:p>
                      <a:r>
                        <a:rPr kumimoji="1" lang="ja-JP" altLang="en-US" sz="2400" u="sng" dirty="0">
                          <a:solidFill>
                            <a:schemeClr val="tx1"/>
                          </a:solidFill>
                          <a:effectLst/>
                        </a:rPr>
                        <a:t>作業管理不適切（</a:t>
                      </a:r>
                      <a:r>
                        <a:rPr kumimoji="1" lang="en-US" altLang="ja-JP" sz="2400" u="sng" dirty="0">
                          <a:solidFill>
                            <a:schemeClr val="tx1"/>
                          </a:solidFill>
                          <a:effectLst/>
                        </a:rPr>
                        <a:t>52</a:t>
                      </a:r>
                      <a:r>
                        <a:rPr kumimoji="1" lang="ja-JP" altLang="en-US" sz="2400" u="sng" dirty="0">
                          <a:solidFill>
                            <a:schemeClr val="tx1"/>
                          </a:solidFill>
                          <a:effectLst/>
                        </a:rPr>
                        <a:t>件　</a:t>
                      </a:r>
                      <a:r>
                        <a:rPr kumimoji="1" lang="en-US" altLang="ja-JP" sz="2400" u="sng" dirty="0">
                          <a:solidFill>
                            <a:schemeClr val="tx1"/>
                          </a:solidFill>
                          <a:effectLst/>
                        </a:rPr>
                        <a:t>12%</a:t>
                      </a:r>
                      <a:r>
                        <a:rPr kumimoji="1" lang="ja-JP" altLang="en-US" sz="2400" u="sng" dirty="0">
                          <a:solidFill>
                            <a:schemeClr val="tx1"/>
                          </a:solidFill>
                          <a:effectLst/>
                        </a:rPr>
                        <a:t>）</a:t>
                      </a:r>
                      <a:endParaRPr kumimoji="1" lang="ja-JP" altLang="en-US" sz="2400" b="0" u="sng" dirty="0">
                        <a:solidFill>
                          <a:schemeClr val="tx1"/>
                        </a:solidFill>
                        <a:effectLst/>
                      </a:endParaRPr>
                    </a:p>
                  </a:txBody>
                  <a:tcPr anchor="ctr"/>
                </a:tc>
                <a:extLst>
                  <a:ext uri="{0D108BD9-81ED-4DB2-BD59-A6C34878D82A}">
                    <a16:rowId xmlns:a16="http://schemas.microsoft.com/office/drawing/2014/main" val="369278628"/>
                  </a:ext>
                </a:extLst>
              </a:tr>
            </a:tbl>
          </a:graphicData>
        </a:graphic>
      </p:graphicFrame>
      <p:sp>
        <p:nvSpPr>
          <p:cNvPr id="7" name="正方形/長方形 6">
            <a:extLst>
              <a:ext uri="{FF2B5EF4-FFF2-40B4-BE49-F238E27FC236}">
                <a16:creationId xmlns:a16="http://schemas.microsoft.com/office/drawing/2014/main" id="{AB537BA9-AC8F-47A7-8440-3E32B89AFD04}"/>
              </a:ext>
            </a:extLst>
          </p:cNvPr>
          <p:cNvSpPr/>
          <p:nvPr/>
        </p:nvSpPr>
        <p:spPr>
          <a:xfrm>
            <a:off x="8569960" y="1846262"/>
            <a:ext cx="2783840" cy="254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900" dirty="0">
                <a:solidFill>
                  <a:schemeClr val="tx1"/>
                </a:solidFill>
              </a:rPr>
              <a:t>国交省　自動車のリコール・不具合情報</a:t>
            </a:r>
          </a:p>
        </p:txBody>
      </p:sp>
      <p:sp>
        <p:nvSpPr>
          <p:cNvPr id="8" name="思考の吹き出し: 雲形 7">
            <a:extLst>
              <a:ext uri="{FF2B5EF4-FFF2-40B4-BE49-F238E27FC236}">
                <a16:creationId xmlns:a16="http://schemas.microsoft.com/office/drawing/2014/main" id="{22E0FD9E-CC10-4EE3-ADC3-E73FE9C7A13E}"/>
              </a:ext>
            </a:extLst>
          </p:cNvPr>
          <p:cNvSpPr/>
          <p:nvPr/>
        </p:nvSpPr>
        <p:spPr>
          <a:xfrm>
            <a:off x="1574800" y="3037840"/>
            <a:ext cx="3373120" cy="1005840"/>
          </a:xfrm>
          <a:prstGeom prst="cloudCallout">
            <a:avLst>
              <a:gd name="adj1" fmla="val -49834"/>
              <a:gd name="adj2" fmla="val -98066"/>
            </a:avLst>
          </a:prstGeom>
          <a:solidFill>
            <a:schemeClr val="tx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ＦＭＥＡ、</a:t>
            </a:r>
            <a:endParaRPr kumimoji="1" lang="en-US" altLang="ja-JP" dirty="0">
              <a:solidFill>
                <a:schemeClr val="tx1"/>
              </a:solidFill>
            </a:endParaRPr>
          </a:p>
          <a:p>
            <a:pPr algn="ctr"/>
            <a:r>
              <a:rPr kumimoji="1" lang="ja-JP" altLang="en-US" dirty="0">
                <a:solidFill>
                  <a:schemeClr val="tx1"/>
                </a:solidFill>
              </a:rPr>
              <a:t>ＰＰＡＰ・・・</a:t>
            </a:r>
          </a:p>
        </p:txBody>
      </p:sp>
      <p:sp>
        <p:nvSpPr>
          <p:cNvPr id="10" name="思考の吹き出し: 雲形 9">
            <a:extLst>
              <a:ext uri="{FF2B5EF4-FFF2-40B4-BE49-F238E27FC236}">
                <a16:creationId xmlns:a16="http://schemas.microsoft.com/office/drawing/2014/main" id="{7B095689-6950-4E37-9062-2B85D577BB6D}"/>
              </a:ext>
            </a:extLst>
          </p:cNvPr>
          <p:cNvSpPr/>
          <p:nvPr/>
        </p:nvSpPr>
        <p:spPr>
          <a:xfrm>
            <a:off x="1574800" y="4867909"/>
            <a:ext cx="3495040" cy="1005840"/>
          </a:xfrm>
          <a:prstGeom prst="cloudCallout">
            <a:avLst>
              <a:gd name="adj1" fmla="val -54035"/>
              <a:gd name="adj2" fmla="val -83768"/>
            </a:avLst>
          </a:prstGeom>
          <a:solidFill>
            <a:schemeClr val="tx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コントロールプラン、工程調査・・・</a:t>
            </a:r>
            <a:endParaRPr kumimoji="1" lang="ja-JP" altLang="en-US" dirty="0">
              <a:solidFill>
                <a:schemeClr val="tx1"/>
              </a:solidFill>
            </a:endParaRPr>
          </a:p>
        </p:txBody>
      </p:sp>
      <p:sp>
        <p:nvSpPr>
          <p:cNvPr id="9" name="楕円 8">
            <a:extLst>
              <a:ext uri="{FF2B5EF4-FFF2-40B4-BE49-F238E27FC236}">
                <a16:creationId xmlns:a16="http://schemas.microsoft.com/office/drawing/2014/main" id="{D8A35D23-5DBE-4239-91A7-0358541D5D18}"/>
              </a:ext>
            </a:extLst>
          </p:cNvPr>
          <p:cNvSpPr/>
          <p:nvPr/>
        </p:nvSpPr>
        <p:spPr>
          <a:xfrm>
            <a:off x="3722915" y="1846262"/>
            <a:ext cx="1428750" cy="699133"/>
          </a:xfrm>
          <a:prstGeom prst="ellipse">
            <a:avLst/>
          </a:prstGeom>
          <a:solidFill>
            <a:schemeClr val="tx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予防的視点</a:t>
            </a:r>
          </a:p>
        </p:txBody>
      </p:sp>
      <p:cxnSp>
        <p:nvCxnSpPr>
          <p:cNvPr id="12" name="直線矢印コネクタ 11">
            <a:extLst>
              <a:ext uri="{FF2B5EF4-FFF2-40B4-BE49-F238E27FC236}">
                <a16:creationId xmlns:a16="http://schemas.microsoft.com/office/drawing/2014/main" id="{A52C98E5-FF2A-41A2-8920-B20A053843E4}"/>
              </a:ext>
            </a:extLst>
          </p:cNvPr>
          <p:cNvCxnSpPr>
            <a:stCxn id="8" idx="3"/>
            <a:endCxn id="9" idx="3"/>
          </p:cNvCxnSpPr>
          <p:nvPr/>
        </p:nvCxnSpPr>
        <p:spPr>
          <a:xfrm flipV="1">
            <a:off x="3261360" y="2443009"/>
            <a:ext cx="670791" cy="652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FC0A21B-7D3D-47C5-817D-C40BE7BD2180}"/>
              </a:ext>
            </a:extLst>
          </p:cNvPr>
          <p:cNvCxnSpPr>
            <a:stCxn id="10" idx="3"/>
            <a:endCxn id="9" idx="4"/>
          </p:cNvCxnSpPr>
          <p:nvPr/>
        </p:nvCxnSpPr>
        <p:spPr>
          <a:xfrm flipV="1">
            <a:off x="3322320" y="2545395"/>
            <a:ext cx="1114970" cy="2380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4570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864235"/>
          </a:xfrm>
          <a:solidFill>
            <a:schemeClr val="tx2"/>
          </a:solidFill>
        </p:spPr>
        <p:txBody>
          <a:bodyPr>
            <a:normAutofit fontScale="90000"/>
          </a:bodyPr>
          <a:lstStyle/>
          <a:p>
            <a:r>
              <a:rPr lang="ja-JP" altLang="en-US" sz="27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4000" dirty="0">
                <a:solidFill>
                  <a:schemeClr val="bg1"/>
                </a:solidFill>
              </a:rPr>
              <a:t>　</a:t>
            </a:r>
            <a:r>
              <a:rPr lang="en-US" altLang="ja-JP" sz="4000" dirty="0">
                <a:solidFill>
                  <a:schemeClr val="bg1"/>
                </a:solidFill>
              </a:rPr>
              <a:t>1.2</a:t>
            </a:r>
            <a:r>
              <a:rPr lang="ja-JP" altLang="en-US" sz="4000" dirty="0">
                <a:solidFill>
                  <a:schemeClr val="bg1"/>
                </a:solidFill>
              </a:rPr>
              <a:t>　リコール</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a:t>
            </a:fld>
            <a:endParaRPr kumimoji="1" lang="ja-JP" altLang="en-US"/>
          </a:p>
        </p:txBody>
      </p:sp>
      <p:graphicFrame>
        <p:nvGraphicFramePr>
          <p:cNvPr id="7" name="コンテンツ プレースホルダー 6">
            <a:extLst>
              <a:ext uri="{FF2B5EF4-FFF2-40B4-BE49-F238E27FC236}">
                <a16:creationId xmlns:a16="http://schemas.microsoft.com/office/drawing/2014/main" id="{F0A95440-5E1B-4E96-B1AA-26DD3574747A}"/>
              </a:ext>
            </a:extLst>
          </p:cNvPr>
          <p:cNvGraphicFramePr>
            <a:graphicFrameLocks noGrp="1"/>
          </p:cNvGraphicFramePr>
          <p:nvPr>
            <p:ph idx="1"/>
            <p:extLst>
              <p:ext uri="{D42A27DB-BD31-4B8C-83A1-F6EECF244321}">
                <p14:modId xmlns:p14="http://schemas.microsoft.com/office/powerpoint/2010/main" val="4258854951"/>
              </p:ext>
            </p:extLst>
          </p:nvPr>
        </p:nvGraphicFramePr>
        <p:xfrm>
          <a:off x="838200" y="1499870"/>
          <a:ext cx="7848600" cy="46770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右中かっこ 8">
            <a:extLst>
              <a:ext uri="{FF2B5EF4-FFF2-40B4-BE49-F238E27FC236}">
                <a16:creationId xmlns:a16="http://schemas.microsoft.com/office/drawing/2014/main" id="{887D5860-237B-4CDE-B00E-21F93782BDB5}"/>
              </a:ext>
            </a:extLst>
          </p:cNvPr>
          <p:cNvSpPr/>
          <p:nvPr/>
        </p:nvSpPr>
        <p:spPr>
          <a:xfrm>
            <a:off x="8994671" y="1499870"/>
            <a:ext cx="782320" cy="4411832"/>
          </a:xfrm>
          <a:prstGeom prst="rightBrace">
            <a:avLst>
              <a:gd name="adj1" fmla="val 10135"/>
              <a:gd name="adj2" fmla="val 5050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0DD53D9D-2514-4B2D-9A50-23B75BBDFC50}"/>
              </a:ext>
            </a:extLst>
          </p:cNvPr>
          <p:cNvSpPr/>
          <p:nvPr/>
        </p:nvSpPr>
        <p:spPr>
          <a:xfrm>
            <a:off x="9952074" y="1595563"/>
            <a:ext cx="1401726" cy="4411832"/>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800" b="1" dirty="0">
                <a:solidFill>
                  <a:schemeClr val="tx1"/>
                </a:solidFill>
                <a:effectLst>
                  <a:outerShdw blurRad="38100" dist="38100" dir="2700000" algn="tl">
                    <a:srgbClr val="000000">
                      <a:alpha val="43137"/>
                    </a:srgbClr>
                  </a:outerShdw>
                </a:effectLst>
              </a:rPr>
              <a:t>ＩＡＴＦ規格による強化</a:t>
            </a:r>
          </a:p>
        </p:txBody>
      </p:sp>
    </p:spTree>
    <p:extLst>
      <p:ext uri="{BB962C8B-B14F-4D97-AF65-F5344CB8AC3E}">
        <p14:creationId xmlns:p14="http://schemas.microsoft.com/office/powerpoint/2010/main" val="2190586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1.3</a:t>
            </a:r>
            <a:r>
              <a:rPr lang="ja-JP" altLang="en-US" sz="3600" dirty="0">
                <a:solidFill>
                  <a:schemeClr val="bg1"/>
                </a:solidFill>
              </a:rPr>
              <a:t>　自動車産業の特徴</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2963"/>
          </a:xfrm>
        </p:spPr>
        <p:txBody>
          <a:bodyPr/>
          <a:lstStyle/>
          <a:p>
            <a:pPr marL="514350" indent="-514350">
              <a:buFont typeface="+mj-lt"/>
              <a:buAutoNum type="arabicPeriod"/>
            </a:pPr>
            <a:r>
              <a:rPr lang="ja-JP" altLang="en-US" dirty="0"/>
              <a:t>安全及び環境</a:t>
            </a:r>
            <a:endParaRPr lang="en-US" altLang="ja-JP" dirty="0"/>
          </a:p>
          <a:p>
            <a:pPr lvl="1">
              <a:buFont typeface="Wingdings" panose="05000000000000000000" pitchFamily="2" charset="2"/>
              <a:buChar char="Ø"/>
            </a:pPr>
            <a:r>
              <a:rPr kumimoji="1" lang="ja-JP" altLang="en-US" dirty="0"/>
              <a:t>安全が優先される製品、また環境規制も高まっている。</a:t>
            </a:r>
            <a:endParaRPr kumimoji="1" lang="en-US" altLang="ja-JP" dirty="0"/>
          </a:p>
          <a:p>
            <a:pPr lvl="1">
              <a:buFont typeface="Wingdings" panose="05000000000000000000" pitchFamily="2" charset="2"/>
              <a:buChar char="Ø"/>
            </a:pPr>
            <a:r>
              <a:rPr lang="en-US" altLang="ja-JP" dirty="0"/>
              <a:t>IATF16949</a:t>
            </a:r>
            <a:r>
              <a:rPr lang="ja-JP" altLang="en-US" dirty="0"/>
              <a:t>では「特殊特性」として設計～製造まで一貫した対処。</a:t>
            </a:r>
            <a:endParaRPr lang="en-US" altLang="ja-JP" dirty="0"/>
          </a:p>
          <a:p>
            <a:pPr marL="514350" indent="-514350">
              <a:buFont typeface="+mj-lt"/>
              <a:buAutoNum type="arabicPeriod"/>
            </a:pPr>
            <a:r>
              <a:rPr kumimoji="1" lang="ja-JP" altLang="en-US" dirty="0"/>
              <a:t>大量生産の組立産業</a:t>
            </a:r>
            <a:endParaRPr kumimoji="1" lang="en-US" altLang="ja-JP" dirty="0"/>
          </a:p>
          <a:p>
            <a:pPr lvl="1">
              <a:buFont typeface="Wingdings" panose="05000000000000000000" pitchFamily="2" charset="2"/>
              <a:buChar char="Ø"/>
            </a:pPr>
            <a:r>
              <a:rPr kumimoji="1" lang="en-US" altLang="ja-JP" dirty="0"/>
              <a:t>1</a:t>
            </a:r>
            <a:r>
              <a:rPr kumimoji="1" lang="ja-JP" altLang="en-US" dirty="0"/>
              <a:t>台当たり</a:t>
            </a:r>
            <a:r>
              <a:rPr kumimoji="1" lang="en-US" altLang="ja-JP" dirty="0"/>
              <a:t>4</a:t>
            </a:r>
            <a:r>
              <a:rPr kumimoji="1" lang="ja-JP" altLang="en-US" dirty="0"/>
              <a:t>万点の部品／年間</a:t>
            </a:r>
            <a:r>
              <a:rPr kumimoji="1" lang="en-US" altLang="ja-JP" dirty="0"/>
              <a:t>1,000</a:t>
            </a:r>
            <a:r>
              <a:rPr kumimoji="1" lang="ja-JP" altLang="en-US" dirty="0"/>
              <a:t>万台（国内）、年間</a:t>
            </a:r>
            <a:r>
              <a:rPr kumimoji="1" lang="en-US" altLang="ja-JP" dirty="0"/>
              <a:t>1</a:t>
            </a:r>
            <a:r>
              <a:rPr kumimoji="1" lang="ja-JP" altLang="en-US" dirty="0"/>
              <a:t>億台（世界）の生産。</a:t>
            </a:r>
            <a:endParaRPr kumimoji="1" lang="en-US" altLang="ja-JP" dirty="0"/>
          </a:p>
          <a:p>
            <a:pPr lvl="1">
              <a:buFont typeface="Wingdings" panose="05000000000000000000" pitchFamily="2" charset="2"/>
              <a:buChar char="Ø"/>
            </a:pPr>
            <a:r>
              <a:rPr lang="en-US" altLang="ja-JP" dirty="0"/>
              <a:t>JIT</a:t>
            </a:r>
            <a:r>
              <a:rPr lang="ja-JP" altLang="en-US" dirty="0"/>
              <a:t>及びシンクロ納入の能力が求められる。</a:t>
            </a:r>
            <a:endParaRPr lang="en-US" altLang="ja-JP" dirty="0"/>
          </a:p>
          <a:p>
            <a:pPr lvl="1">
              <a:buFont typeface="Wingdings" panose="05000000000000000000" pitchFamily="2" charset="2"/>
              <a:buChar char="Ø"/>
            </a:pPr>
            <a:r>
              <a:rPr lang="ja-JP" altLang="en-US" dirty="0"/>
              <a:t>製造工程の安定と能力（</a:t>
            </a:r>
            <a:r>
              <a:rPr lang="en-US" altLang="ja-JP" dirty="0" err="1"/>
              <a:t>cpk</a:t>
            </a:r>
            <a:r>
              <a:rPr lang="ja-JP" altLang="en-US" dirty="0"/>
              <a:t>）が不可欠。</a:t>
            </a:r>
            <a:endParaRPr lang="en-US" altLang="ja-JP" dirty="0"/>
          </a:p>
          <a:p>
            <a:pPr marL="514350" indent="-514350">
              <a:buFont typeface="+mj-lt"/>
              <a:buAutoNum type="arabicPeriod"/>
            </a:pPr>
            <a:r>
              <a:rPr lang="ja-JP" altLang="en-US" dirty="0"/>
              <a:t>車両と部品の同時開発</a:t>
            </a:r>
            <a:endParaRPr lang="en-US" altLang="ja-JP" dirty="0"/>
          </a:p>
          <a:p>
            <a:pPr lvl="1">
              <a:buFont typeface="Wingdings" panose="05000000000000000000" pitchFamily="2" charset="2"/>
              <a:buChar char="Ø"/>
            </a:pPr>
            <a:r>
              <a:rPr lang="ja-JP" altLang="en-US" dirty="0"/>
              <a:t>顧客との綿密な計画と連携による開発。（</a:t>
            </a:r>
            <a:r>
              <a:rPr lang="en-US" altLang="ja-JP" dirty="0"/>
              <a:t>APQP</a:t>
            </a:r>
            <a:r>
              <a:rPr lang="ja-JP" altLang="en-US" dirty="0"/>
              <a:t>）</a:t>
            </a:r>
            <a:endParaRPr kumimoji="1" lang="en-US" altLang="ja-JP" dirty="0"/>
          </a:p>
          <a:p>
            <a:endParaRPr kumimoji="1" lang="ja-JP" altLang="en-US" dirty="0"/>
          </a:p>
        </p:txBody>
      </p:sp>
    </p:spTree>
    <p:extLst>
      <p:ext uri="{BB962C8B-B14F-4D97-AF65-F5344CB8AC3E}">
        <p14:creationId xmlns:p14="http://schemas.microsoft.com/office/powerpoint/2010/main" val="2632384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1.3</a:t>
            </a:r>
            <a:r>
              <a:rPr lang="ja-JP" altLang="en-US" sz="3600" dirty="0">
                <a:solidFill>
                  <a:schemeClr val="bg1"/>
                </a:solidFill>
              </a:rPr>
              <a:t>　自動車産業の特徴</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a:t>
            </a:fld>
            <a:endParaRPr kumimoji="1" lang="ja-JP" altLang="en-US"/>
          </a:p>
        </p:txBody>
      </p:sp>
      <p:pic>
        <p:nvPicPr>
          <p:cNvPr id="6" name="コンテンツ プレースホルダー 6">
            <a:extLst>
              <a:ext uri="{FF2B5EF4-FFF2-40B4-BE49-F238E27FC236}">
                <a16:creationId xmlns:a16="http://schemas.microsoft.com/office/drawing/2014/main" id="{8DA5E76F-12CA-4887-B465-C552890CE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24763"/>
            <a:ext cx="7315200" cy="4931587"/>
          </a:xfrm>
          <a:prstGeom prst="rect">
            <a:avLst/>
          </a:prstGeom>
        </p:spPr>
      </p:pic>
      <p:sp>
        <p:nvSpPr>
          <p:cNvPr id="8" name="四角形: 角を丸くする 7">
            <a:extLst>
              <a:ext uri="{FF2B5EF4-FFF2-40B4-BE49-F238E27FC236}">
                <a16:creationId xmlns:a16="http://schemas.microsoft.com/office/drawing/2014/main" id="{15DE211B-5D59-4EA2-8D08-161111C62238}"/>
              </a:ext>
            </a:extLst>
          </p:cNvPr>
          <p:cNvSpPr/>
          <p:nvPr/>
        </p:nvSpPr>
        <p:spPr>
          <a:xfrm>
            <a:off x="9260958" y="1743739"/>
            <a:ext cx="2092842" cy="429555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nchorCtr="1"/>
          <a:lstStyle/>
          <a:p>
            <a:r>
              <a:rPr lang="ja-JP" altLang="en-US" sz="2400" u="sng" dirty="0">
                <a:solidFill>
                  <a:srgbClr val="FF0000"/>
                </a:solidFill>
                <a:effectLst>
                  <a:outerShdw blurRad="38100" dist="38100" dir="2700000" algn="tl">
                    <a:srgbClr val="000000">
                      <a:alpha val="43137"/>
                    </a:srgbClr>
                  </a:outerShdw>
                </a:effectLst>
              </a:rPr>
              <a:t>一つの不具合が重大な不具合につながる</a:t>
            </a:r>
            <a:endParaRPr lang="en-US" altLang="ja-JP" sz="2400" u="sng" dirty="0">
              <a:solidFill>
                <a:srgbClr val="FF0000"/>
              </a:solidFill>
              <a:effectLst>
                <a:outerShdw blurRad="38100" dist="38100" dir="2700000" algn="tl">
                  <a:srgbClr val="000000">
                    <a:alpha val="43137"/>
                  </a:srgbClr>
                </a:outerShdw>
              </a:effectLst>
            </a:endParaRPr>
          </a:p>
          <a:p>
            <a:endParaRPr lang="en-US" altLang="ja-JP" sz="2400" b="1" u="sng" dirty="0">
              <a:solidFill>
                <a:srgbClr val="FF0000"/>
              </a:solidFill>
              <a:effectLst>
                <a:outerShdw blurRad="38100" dist="38100" dir="2700000" algn="tl">
                  <a:srgbClr val="000000">
                    <a:alpha val="43137"/>
                  </a:srgbClr>
                </a:outerShdw>
              </a:effectLst>
            </a:endParaRPr>
          </a:p>
          <a:p>
            <a:r>
              <a:rPr lang="ja-JP" altLang="en-US" sz="2400" b="1" dirty="0">
                <a:solidFill>
                  <a:schemeClr val="tx1"/>
                </a:solidFill>
              </a:rPr>
              <a:t>３万点～４万点の部品点数</a:t>
            </a:r>
            <a:endParaRPr kumimoji="1" lang="ja-JP" altLang="en-US" sz="2400" u="sng" dirty="0">
              <a:solidFill>
                <a:srgbClr val="FF0000"/>
              </a:solidFill>
              <a:effectLst>
                <a:outerShdw blurRad="38100" dist="38100" dir="2700000" algn="tl">
                  <a:srgbClr val="000000">
                    <a:alpha val="43137"/>
                  </a:srgbClr>
                </a:outerShdw>
              </a:effectLst>
            </a:endParaRPr>
          </a:p>
        </p:txBody>
      </p:sp>
      <p:sp>
        <p:nvSpPr>
          <p:cNvPr id="9" name="矢印: 右 8">
            <a:extLst>
              <a:ext uri="{FF2B5EF4-FFF2-40B4-BE49-F238E27FC236}">
                <a16:creationId xmlns:a16="http://schemas.microsoft.com/office/drawing/2014/main" id="{5762963A-061A-4AE7-BA0D-8CE06122C434}"/>
              </a:ext>
            </a:extLst>
          </p:cNvPr>
          <p:cNvSpPr/>
          <p:nvPr/>
        </p:nvSpPr>
        <p:spPr>
          <a:xfrm>
            <a:off x="8444909" y="2898066"/>
            <a:ext cx="584791" cy="1860698"/>
          </a:xfrm>
          <a:prstGeom prst="rightArrow">
            <a:avLst>
              <a:gd name="adj1" fmla="val 7514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44668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1.3</a:t>
            </a:r>
            <a:r>
              <a:rPr lang="ja-JP" altLang="en-US" sz="3600" dirty="0">
                <a:solidFill>
                  <a:schemeClr val="bg1"/>
                </a:solidFill>
              </a:rPr>
              <a:t>　自動車産業の特徴</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2963"/>
          </a:xfrm>
        </p:spPr>
        <p:txBody>
          <a:bodyPr>
            <a:normAutofit/>
          </a:bodyPr>
          <a:lstStyle/>
          <a:p>
            <a:pPr marL="514350" indent="-514350">
              <a:buFont typeface="+mj-lt"/>
              <a:buAutoNum type="arabicPeriod" startAt="4"/>
            </a:pPr>
            <a:r>
              <a:rPr lang="ja-JP" altLang="en-US" dirty="0"/>
              <a:t>競争の激化による</a:t>
            </a:r>
            <a:r>
              <a:rPr lang="en-US" altLang="ja-JP" dirty="0" err="1"/>
              <a:t>leam</a:t>
            </a:r>
            <a:r>
              <a:rPr lang="ja-JP" altLang="en-US" dirty="0"/>
              <a:t>（リーン）生産</a:t>
            </a:r>
            <a:endParaRPr lang="en-US" altLang="ja-JP" dirty="0"/>
          </a:p>
          <a:p>
            <a:pPr lvl="1">
              <a:buFont typeface="Wingdings" panose="05000000000000000000" pitchFamily="2" charset="2"/>
              <a:buChar char="Ø"/>
            </a:pPr>
            <a:r>
              <a:rPr kumimoji="1" lang="ja-JP" altLang="en-US" dirty="0"/>
              <a:t>トヨタ生産方式に基づく　“贅肉のとれたスリムな生産”　。</a:t>
            </a:r>
            <a:endParaRPr kumimoji="1" lang="en-US" altLang="ja-JP" dirty="0"/>
          </a:p>
          <a:p>
            <a:pPr lvl="1">
              <a:buFont typeface="Wingdings" panose="05000000000000000000" pitchFamily="2" charset="2"/>
              <a:buChar char="Ø"/>
            </a:pPr>
            <a:r>
              <a:rPr lang="ja-JP" altLang="en-US" dirty="0"/>
              <a:t>「</a:t>
            </a:r>
            <a:r>
              <a:rPr lang="en-US" altLang="ja-JP" dirty="0"/>
              <a:t>7</a:t>
            </a:r>
            <a:r>
              <a:rPr lang="ja-JP" altLang="en-US" dirty="0"/>
              <a:t>つのムダ」の排除が原則。（作りすぎ／手待ち／運搬／加工／在庫動作／不良）</a:t>
            </a:r>
            <a:endParaRPr lang="en-US" altLang="ja-JP" dirty="0"/>
          </a:p>
          <a:p>
            <a:pPr lvl="1">
              <a:buFont typeface="Wingdings" panose="05000000000000000000" pitchFamily="2" charset="2"/>
              <a:buChar char="Ø"/>
            </a:pPr>
            <a:r>
              <a:rPr lang="en-US" altLang="ja-JP" dirty="0"/>
              <a:t>IATF</a:t>
            </a:r>
            <a:r>
              <a:rPr lang="ja-JP" altLang="en-US" dirty="0"/>
              <a:t>による要求。</a:t>
            </a:r>
            <a:endParaRPr lang="en-US" altLang="ja-JP" dirty="0"/>
          </a:p>
          <a:p>
            <a:pPr lvl="2"/>
            <a:r>
              <a:rPr lang="en-US" altLang="ja-JP" sz="2400" dirty="0"/>
              <a:t>7.1.3.1</a:t>
            </a:r>
            <a:r>
              <a:rPr lang="ja-JP" altLang="en-US" sz="2400" dirty="0"/>
              <a:t>　工場計画（リーン生産）</a:t>
            </a:r>
            <a:endParaRPr lang="en-US" altLang="ja-JP" sz="2400" dirty="0"/>
          </a:p>
          <a:p>
            <a:pPr lvl="2"/>
            <a:r>
              <a:rPr lang="en-US" altLang="ja-JP" sz="2400" dirty="0"/>
              <a:t>8.3.5.2</a:t>
            </a:r>
            <a:r>
              <a:rPr lang="ja-JP" altLang="en-US" sz="2400" dirty="0"/>
              <a:t>　工程設計アウトプット（標準作業）</a:t>
            </a:r>
            <a:endParaRPr lang="en-US" altLang="ja-JP" sz="2400" dirty="0"/>
          </a:p>
          <a:p>
            <a:pPr lvl="2"/>
            <a:r>
              <a:rPr lang="en-US" altLang="ja-JP" sz="2400" dirty="0"/>
              <a:t>8.5.1.7</a:t>
            </a:r>
            <a:r>
              <a:rPr lang="ja-JP" altLang="en-US" sz="2400" dirty="0"/>
              <a:t>　生産計画（</a:t>
            </a:r>
            <a:r>
              <a:rPr lang="en-US" altLang="ja-JP" sz="2400" dirty="0"/>
              <a:t>JIT</a:t>
            </a:r>
            <a:r>
              <a:rPr lang="ja-JP" altLang="en-US" sz="2400" dirty="0"/>
              <a:t>）</a:t>
            </a:r>
            <a:endParaRPr kumimoji="1" lang="ja-JP" altLang="en-US" dirty="0"/>
          </a:p>
        </p:txBody>
      </p:sp>
      <p:sp>
        <p:nvSpPr>
          <p:cNvPr id="7" name="矢印: 右 6">
            <a:extLst>
              <a:ext uri="{FF2B5EF4-FFF2-40B4-BE49-F238E27FC236}">
                <a16:creationId xmlns:a16="http://schemas.microsoft.com/office/drawing/2014/main" id="{9F6F0C9E-2492-42F9-81F2-0C357AF1E791}"/>
              </a:ext>
            </a:extLst>
          </p:cNvPr>
          <p:cNvSpPr/>
          <p:nvPr/>
        </p:nvSpPr>
        <p:spPr>
          <a:xfrm>
            <a:off x="1579879" y="4947920"/>
            <a:ext cx="419101" cy="1040204"/>
          </a:xfrm>
          <a:prstGeom prst="rightArrow">
            <a:avLst>
              <a:gd name="adj1" fmla="val 7514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6F366C9B-E1D2-4F2E-9E06-5292B12288DE}"/>
              </a:ext>
            </a:extLst>
          </p:cNvPr>
          <p:cNvSpPr/>
          <p:nvPr/>
        </p:nvSpPr>
        <p:spPr>
          <a:xfrm>
            <a:off x="2275840" y="4775200"/>
            <a:ext cx="7274560" cy="148133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lstStyle/>
          <a:p>
            <a:pPr algn="ctr"/>
            <a:r>
              <a:rPr lang="ja-JP" altLang="en-US" sz="2400" dirty="0">
                <a:solidFill>
                  <a:schemeClr val="tx1"/>
                </a:solidFill>
              </a:rPr>
              <a:t>組織のための生産に関する改善も要求している</a:t>
            </a:r>
            <a:endParaRPr lang="en-US" altLang="ja-JP" sz="2400" dirty="0">
              <a:solidFill>
                <a:schemeClr val="tx1"/>
              </a:solidFill>
            </a:endParaRPr>
          </a:p>
          <a:p>
            <a:pPr algn="ctr"/>
            <a:r>
              <a:rPr lang="ja-JP" altLang="en-US" sz="2400" u="sng" dirty="0">
                <a:solidFill>
                  <a:srgbClr val="FF0000"/>
                </a:solidFill>
                <a:effectLst>
                  <a:outerShdw blurRad="38100" dist="38100" dir="2700000" algn="tl">
                    <a:srgbClr val="000000">
                      <a:alpha val="43137"/>
                    </a:srgbClr>
                  </a:outerShdw>
                </a:effectLst>
              </a:rPr>
              <a:t>自動車産業にとって、</a:t>
            </a:r>
            <a:endParaRPr lang="en-US" altLang="ja-JP" sz="2400" u="sng" dirty="0">
              <a:solidFill>
                <a:srgbClr val="FF0000"/>
              </a:solidFill>
              <a:effectLst>
                <a:outerShdw blurRad="38100" dist="38100" dir="2700000" algn="tl">
                  <a:srgbClr val="000000">
                    <a:alpha val="43137"/>
                  </a:srgbClr>
                </a:outerShdw>
              </a:effectLst>
            </a:endParaRPr>
          </a:p>
          <a:p>
            <a:pPr algn="ctr"/>
            <a:r>
              <a:rPr lang="ja-JP" altLang="en-US" sz="2400" u="sng" dirty="0">
                <a:solidFill>
                  <a:srgbClr val="FF0000"/>
                </a:solidFill>
                <a:effectLst>
                  <a:outerShdw blurRad="38100" dist="38100" dir="2700000" algn="tl">
                    <a:srgbClr val="000000">
                      <a:alpha val="43137"/>
                    </a:srgbClr>
                  </a:outerShdw>
                </a:effectLst>
              </a:rPr>
              <a:t>サプライヤーの強化は避けられない。）</a:t>
            </a:r>
            <a:endParaRPr lang="en-US" altLang="ja-JP" sz="2400" u="sng" dirty="0">
              <a:solidFill>
                <a:srgbClr val="FF0000"/>
              </a:solidFill>
              <a:effectLst>
                <a:outerShdw blurRad="38100" dist="38100" dir="2700000" algn="tl">
                  <a:srgbClr val="000000">
                    <a:alpha val="43137"/>
                  </a:srgbClr>
                </a:outerShdw>
              </a:effectLst>
            </a:endParaRPr>
          </a:p>
        </p:txBody>
      </p:sp>
      <p:sp>
        <p:nvSpPr>
          <p:cNvPr id="11" name="思考の吹き出し: 雲形 10">
            <a:extLst>
              <a:ext uri="{FF2B5EF4-FFF2-40B4-BE49-F238E27FC236}">
                <a16:creationId xmlns:a16="http://schemas.microsoft.com/office/drawing/2014/main" id="{30E552DA-8987-4E74-83EE-F8806EECE0E0}"/>
              </a:ext>
            </a:extLst>
          </p:cNvPr>
          <p:cNvSpPr/>
          <p:nvPr/>
        </p:nvSpPr>
        <p:spPr>
          <a:xfrm>
            <a:off x="8153400" y="2926080"/>
            <a:ext cx="3373120" cy="1198880"/>
          </a:xfrm>
          <a:prstGeom prst="cloudCallout">
            <a:avLst>
              <a:gd name="adj1" fmla="val -66099"/>
              <a:gd name="adj2" fmla="val 111667"/>
            </a:avLst>
          </a:prstGeom>
          <a:solidFill>
            <a:schemeClr val="tx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強固なサプライチェーン</a:t>
            </a:r>
            <a:endParaRPr kumimoji="1" lang="en-US" altLang="ja-JP" dirty="0">
              <a:solidFill>
                <a:schemeClr val="tx1"/>
              </a:solidFill>
            </a:endParaRPr>
          </a:p>
        </p:txBody>
      </p:sp>
    </p:spTree>
    <p:extLst>
      <p:ext uri="{BB962C8B-B14F-4D97-AF65-F5344CB8AC3E}">
        <p14:creationId xmlns:p14="http://schemas.microsoft.com/office/powerpoint/2010/main" val="1843061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１．自動車産業を取り巻く環境</a:t>
            </a:r>
            <a:r>
              <a:rPr lang="en-US" altLang="ja-JP" dirty="0">
                <a:solidFill>
                  <a:schemeClr val="bg1"/>
                </a:solidFill>
              </a:rPr>
              <a:t/>
            </a:r>
            <a:br>
              <a:rPr lang="en-US" altLang="ja-JP" dirty="0">
                <a:solidFill>
                  <a:schemeClr val="bg1"/>
                </a:solidFill>
              </a:rPr>
            </a:br>
            <a:r>
              <a:rPr lang="ja-JP" altLang="en-US" sz="3600" dirty="0">
                <a:solidFill>
                  <a:schemeClr val="bg1"/>
                </a:solidFill>
              </a:rPr>
              <a:t>　</a:t>
            </a:r>
            <a:r>
              <a:rPr lang="en-US" altLang="ja-JP" sz="3600" dirty="0">
                <a:solidFill>
                  <a:schemeClr val="bg1"/>
                </a:solidFill>
              </a:rPr>
              <a:t>1.3</a:t>
            </a:r>
            <a:r>
              <a:rPr lang="ja-JP" altLang="en-US" sz="3600" dirty="0">
                <a:solidFill>
                  <a:schemeClr val="bg1"/>
                </a:solidFill>
              </a:rPr>
              <a:t>　自動車産業の特徴</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2963"/>
          </a:xfrm>
        </p:spPr>
        <p:txBody>
          <a:bodyPr>
            <a:normAutofit/>
          </a:bodyPr>
          <a:lstStyle/>
          <a:p>
            <a:pPr marL="514350" indent="-514350">
              <a:buFont typeface="+mj-lt"/>
              <a:buAutoNum type="arabicPeriod" startAt="5"/>
            </a:pPr>
            <a:r>
              <a:rPr lang="ja-JP" altLang="en-US" dirty="0"/>
              <a:t>求められる品質レベル</a:t>
            </a:r>
            <a:endParaRPr lang="en-US" altLang="ja-JP" dirty="0"/>
          </a:p>
        </p:txBody>
      </p:sp>
      <p:graphicFrame>
        <p:nvGraphicFramePr>
          <p:cNvPr id="6" name="表 7">
            <a:extLst>
              <a:ext uri="{FF2B5EF4-FFF2-40B4-BE49-F238E27FC236}">
                <a16:creationId xmlns:a16="http://schemas.microsoft.com/office/drawing/2014/main" id="{58FE3685-00D2-45FD-BF43-DB3F440F1699}"/>
              </a:ext>
            </a:extLst>
          </p:cNvPr>
          <p:cNvGraphicFramePr>
            <a:graphicFrameLocks noGrp="1"/>
          </p:cNvGraphicFramePr>
          <p:nvPr>
            <p:extLst>
              <p:ext uri="{D42A27DB-BD31-4B8C-83A1-F6EECF244321}">
                <p14:modId xmlns:p14="http://schemas.microsoft.com/office/powerpoint/2010/main" val="3363465899"/>
              </p:ext>
            </p:extLst>
          </p:nvPr>
        </p:nvGraphicFramePr>
        <p:xfrm>
          <a:off x="1483360" y="2009986"/>
          <a:ext cx="9870440" cy="2560320"/>
        </p:xfrm>
        <a:graphic>
          <a:graphicData uri="http://schemas.openxmlformats.org/drawingml/2006/table">
            <a:tbl>
              <a:tblPr firstRow="1" bandRow="1">
                <a:tableStyleId>{5940675A-B579-460E-94D1-54222C63F5DA}</a:tableStyleId>
              </a:tblPr>
              <a:tblGrid>
                <a:gridCol w="3119120">
                  <a:extLst>
                    <a:ext uri="{9D8B030D-6E8A-4147-A177-3AD203B41FA5}">
                      <a16:colId xmlns:a16="http://schemas.microsoft.com/office/drawing/2014/main" val="1160403038"/>
                    </a:ext>
                  </a:extLst>
                </a:gridCol>
                <a:gridCol w="6751320">
                  <a:extLst>
                    <a:ext uri="{9D8B030D-6E8A-4147-A177-3AD203B41FA5}">
                      <a16:colId xmlns:a16="http://schemas.microsoft.com/office/drawing/2014/main" val="2080888846"/>
                    </a:ext>
                  </a:extLst>
                </a:gridCol>
              </a:tblGrid>
              <a:tr h="370840">
                <a:tc>
                  <a:txBody>
                    <a:bodyPr/>
                    <a:lstStyle/>
                    <a:p>
                      <a:pPr algn="ctr"/>
                      <a:r>
                        <a:rPr kumimoji="1" lang="ja-JP" altLang="en-US" sz="2200" dirty="0"/>
                        <a:t>良品率（部品）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kumimoji="1" lang="ja-JP" altLang="en-US" sz="2200" dirty="0"/>
                        <a:t>自動車としての不良数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0631200"/>
                  </a:ext>
                </a:extLst>
              </a:tr>
              <a:tr h="370840">
                <a:tc>
                  <a:txBody>
                    <a:bodyPr/>
                    <a:lstStyle/>
                    <a:p>
                      <a:r>
                        <a:rPr kumimoji="1" lang="ja-JP" altLang="en-US" sz="2200" dirty="0"/>
                        <a:t>９９．９％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a:t>
                      </a:r>
                      <a:r>
                        <a:rPr kumimoji="1" lang="en-US" altLang="ja-JP" sz="2200" dirty="0"/>
                        <a:t>1-0.999</a:t>
                      </a:r>
                      <a:r>
                        <a:rPr kumimoji="1" lang="ja-JP" altLang="en-US" sz="2200" dirty="0"/>
                        <a:t>）</a:t>
                      </a:r>
                      <a:r>
                        <a:rPr kumimoji="1" lang="en-US" altLang="ja-JP" sz="2200" dirty="0"/>
                        <a:t>×40,000</a:t>
                      </a:r>
                      <a:r>
                        <a:rPr kumimoji="1" lang="ja-JP" altLang="en-US" sz="2200" dirty="0"/>
                        <a:t>個</a:t>
                      </a:r>
                      <a:r>
                        <a:rPr kumimoji="1" lang="en-US" altLang="ja-JP" sz="2200" dirty="0"/>
                        <a:t>/</a:t>
                      </a:r>
                      <a:r>
                        <a:rPr kumimoji="1" lang="ja-JP" altLang="en-US" sz="2200" dirty="0"/>
                        <a:t>台＝</a:t>
                      </a:r>
                      <a:r>
                        <a:rPr kumimoji="1" lang="en-US" altLang="ja-JP" sz="2200" dirty="0"/>
                        <a:t>40</a:t>
                      </a:r>
                      <a:r>
                        <a:rPr kumimoji="1" lang="ja-JP" altLang="en-US" sz="2200" dirty="0"/>
                        <a:t>個</a:t>
                      </a:r>
                      <a:r>
                        <a:rPr kumimoji="1" lang="en-US" altLang="ja-JP" sz="2200" dirty="0"/>
                        <a:t>/</a:t>
                      </a:r>
                      <a:r>
                        <a:rPr kumimoji="1" lang="ja-JP" altLang="en-US" sz="2200" dirty="0"/>
                        <a:t>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816950"/>
                  </a:ext>
                </a:extLst>
              </a:tr>
              <a:tr h="370840">
                <a:tc>
                  <a:txBody>
                    <a:bodyPr/>
                    <a:lstStyle/>
                    <a:p>
                      <a:r>
                        <a:rPr kumimoji="1" lang="ja-JP" altLang="en-US" sz="2200" dirty="0"/>
                        <a:t>９９．９９％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　　　　　　　　　　　　＝</a:t>
                      </a:r>
                      <a:r>
                        <a:rPr kumimoji="1" lang="en-US" altLang="ja-JP" sz="2200" dirty="0"/>
                        <a:t>4</a:t>
                      </a:r>
                      <a:r>
                        <a:rPr kumimoji="1" lang="ja-JP" altLang="en-US" sz="2200" dirty="0"/>
                        <a:t>個</a:t>
                      </a:r>
                      <a:r>
                        <a:rPr kumimoji="1" lang="en-US" altLang="ja-JP" sz="2200" dirty="0"/>
                        <a:t>/</a:t>
                      </a:r>
                      <a:r>
                        <a:rPr kumimoji="1" lang="ja-JP" altLang="en-US" sz="2200" dirty="0"/>
                        <a:t>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1505065"/>
                  </a:ext>
                </a:extLst>
              </a:tr>
              <a:tr h="370840">
                <a:tc>
                  <a:txBody>
                    <a:bodyPr/>
                    <a:lstStyle/>
                    <a:p>
                      <a:r>
                        <a:rPr kumimoji="1" lang="ja-JP" altLang="en-US" sz="2200" dirty="0"/>
                        <a:t>９９．９９９％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　　　　　　　　　　　　＝</a:t>
                      </a:r>
                      <a:r>
                        <a:rPr kumimoji="1" lang="en-US" altLang="ja-JP" sz="2200" dirty="0"/>
                        <a:t>0.4</a:t>
                      </a:r>
                      <a:r>
                        <a:rPr kumimoji="1" lang="ja-JP" altLang="en-US" sz="2200" dirty="0"/>
                        <a:t>個</a:t>
                      </a:r>
                      <a:r>
                        <a:rPr kumimoji="1" lang="en-US" altLang="ja-JP" sz="2200" dirty="0"/>
                        <a:t>/</a:t>
                      </a:r>
                      <a:r>
                        <a:rPr kumimoji="1" lang="ja-JP" altLang="en-US" sz="2200" dirty="0"/>
                        <a:t>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4180560"/>
                  </a:ext>
                </a:extLst>
              </a:tr>
              <a:tr h="370840">
                <a:tc>
                  <a:txBody>
                    <a:bodyPr/>
                    <a:lstStyle/>
                    <a:p>
                      <a:r>
                        <a:rPr kumimoji="1" lang="ja-JP" altLang="en-US" sz="2200" dirty="0"/>
                        <a:t>９９．９９９９％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　　　　　　　　　　　　＝</a:t>
                      </a:r>
                      <a:r>
                        <a:rPr kumimoji="1" lang="en-US" altLang="ja-JP" sz="2200" dirty="0"/>
                        <a:t>0.04</a:t>
                      </a:r>
                      <a:r>
                        <a:rPr kumimoji="1" lang="ja-JP" altLang="en-US" sz="2200" dirty="0"/>
                        <a:t>個</a:t>
                      </a:r>
                      <a:r>
                        <a:rPr kumimoji="1" lang="en-US" altLang="ja-JP" sz="2200" dirty="0"/>
                        <a:t>/</a:t>
                      </a:r>
                      <a:r>
                        <a:rPr kumimoji="1" lang="ja-JP" altLang="en-US" sz="2200" dirty="0"/>
                        <a:t>台（</a:t>
                      </a:r>
                      <a:r>
                        <a:rPr kumimoji="1" lang="en-US" altLang="ja-JP" sz="2200" dirty="0"/>
                        <a:t>4%</a:t>
                      </a:r>
                      <a:r>
                        <a:rPr kumimoji="1" lang="ja-JP" altLang="en-US" sz="2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126355"/>
                  </a:ext>
                </a:extLst>
              </a:tr>
              <a:tr h="370840">
                <a:tc>
                  <a:txBody>
                    <a:bodyPr/>
                    <a:lstStyle/>
                    <a:p>
                      <a:r>
                        <a:rPr kumimoji="1" lang="ja-JP" altLang="en-US" sz="2200" u="sng" dirty="0">
                          <a:effectLst>
                            <a:outerShdw blurRad="38100" dist="38100" dir="2700000" algn="tl">
                              <a:srgbClr val="000000">
                                <a:alpha val="43137"/>
                              </a:srgbClr>
                            </a:outerShdw>
                          </a:effectLst>
                        </a:rPr>
                        <a:t>９９．９９９９９％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effectLst>
                            <a:outerShdw blurRad="38100" dist="38100" dir="2700000" algn="tl">
                              <a:srgbClr val="000000">
                                <a:alpha val="43137"/>
                              </a:srgbClr>
                            </a:outerShdw>
                          </a:effectLst>
                        </a:rPr>
                        <a:t>　　　　　　　　　　　　＝</a:t>
                      </a:r>
                      <a:r>
                        <a:rPr kumimoji="1" lang="en-US" altLang="ja-JP" sz="2200" dirty="0">
                          <a:effectLst>
                            <a:outerShdw blurRad="38100" dist="38100" dir="2700000" algn="tl">
                              <a:srgbClr val="000000">
                                <a:alpha val="43137"/>
                              </a:srgbClr>
                            </a:outerShdw>
                          </a:effectLst>
                        </a:rPr>
                        <a:t>0.004</a:t>
                      </a:r>
                      <a:r>
                        <a:rPr kumimoji="1" lang="ja-JP" altLang="en-US" sz="2200" dirty="0">
                          <a:effectLst>
                            <a:outerShdw blurRad="38100" dist="38100" dir="2700000" algn="tl">
                              <a:srgbClr val="000000">
                                <a:alpha val="43137"/>
                              </a:srgbClr>
                            </a:outerShdw>
                          </a:effectLst>
                        </a:rPr>
                        <a:t>個</a:t>
                      </a:r>
                      <a:r>
                        <a:rPr kumimoji="1" lang="en-US" altLang="ja-JP" sz="2200" dirty="0">
                          <a:effectLst>
                            <a:outerShdw blurRad="38100" dist="38100" dir="2700000" algn="tl">
                              <a:srgbClr val="000000">
                                <a:alpha val="43137"/>
                              </a:srgbClr>
                            </a:outerShdw>
                          </a:effectLst>
                        </a:rPr>
                        <a:t>/</a:t>
                      </a:r>
                      <a:r>
                        <a:rPr kumimoji="1" lang="ja-JP" altLang="en-US" sz="2200" dirty="0">
                          <a:effectLst>
                            <a:outerShdw blurRad="38100" dist="38100" dir="2700000" algn="tl">
                              <a:srgbClr val="000000">
                                <a:alpha val="43137"/>
                              </a:srgbClr>
                            </a:outerShdw>
                          </a:effectLst>
                        </a:rPr>
                        <a:t>台（</a:t>
                      </a:r>
                      <a:r>
                        <a:rPr kumimoji="1" lang="en-US" altLang="ja-JP" sz="2200" dirty="0">
                          <a:effectLst>
                            <a:outerShdw blurRad="38100" dist="38100" dir="2700000" algn="tl">
                              <a:srgbClr val="000000">
                                <a:alpha val="43137"/>
                              </a:srgbClr>
                            </a:outerShdw>
                          </a:effectLst>
                        </a:rPr>
                        <a:t>0.4%</a:t>
                      </a:r>
                      <a:r>
                        <a:rPr kumimoji="1" lang="ja-JP" altLang="en-US" sz="2200" dirty="0">
                          <a:effectLst>
                            <a:outerShdw blurRad="38100" dist="38100" dir="2700000" algn="tl">
                              <a:srgbClr val="000000">
                                <a:alpha val="43137"/>
                              </a:srgbClr>
                            </a:outerShdw>
                          </a:effectLs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322166"/>
                  </a:ext>
                </a:extLst>
              </a:tr>
            </a:tbl>
          </a:graphicData>
        </a:graphic>
      </p:graphicFrame>
      <p:sp>
        <p:nvSpPr>
          <p:cNvPr id="8" name="矢印: ストライプ 7">
            <a:extLst>
              <a:ext uri="{FF2B5EF4-FFF2-40B4-BE49-F238E27FC236}">
                <a16:creationId xmlns:a16="http://schemas.microsoft.com/office/drawing/2014/main" id="{B844325B-4A82-4455-95C7-2F86C7012D9A}"/>
              </a:ext>
            </a:extLst>
          </p:cNvPr>
          <p:cNvSpPr/>
          <p:nvPr/>
        </p:nvSpPr>
        <p:spPr>
          <a:xfrm rot="5400000">
            <a:off x="6429587" y="3405293"/>
            <a:ext cx="1542626" cy="421640"/>
          </a:xfrm>
          <a:prstGeom prst="stripedRightArrow">
            <a:avLst>
              <a:gd name="adj1" fmla="val 79577"/>
              <a:gd name="adj2" fmla="val 5000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角を丸めた四角形 9">
            <a:extLst>
              <a:ext uri="{FF2B5EF4-FFF2-40B4-BE49-F238E27FC236}">
                <a16:creationId xmlns:a16="http://schemas.microsoft.com/office/drawing/2014/main" id="{4F8993E9-7BBF-4436-83AF-0159332B2678}"/>
              </a:ext>
            </a:extLst>
          </p:cNvPr>
          <p:cNvSpPr/>
          <p:nvPr/>
        </p:nvSpPr>
        <p:spPr>
          <a:xfrm>
            <a:off x="3332480" y="2629746"/>
            <a:ext cx="1544320" cy="660400"/>
          </a:xfrm>
          <a:prstGeom prst="wedgeRoundRectCallout">
            <a:avLst>
              <a:gd name="adj1" fmla="val -66700"/>
              <a:gd name="adj2" fmla="val -49808"/>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部品として</a:t>
            </a:r>
            <a:r>
              <a:rPr kumimoji="1" lang="en-US" altLang="ja-JP" dirty="0">
                <a:solidFill>
                  <a:schemeClr val="tx1"/>
                </a:solidFill>
              </a:rPr>
              <a:t>99.9%</a:t>
            </a:r>
            <a:endParaRPr kumimoji="1" lang="ja-JP" altLang="en-US" dirty="0">
              <a:solidFill>
                <a:schemeClr val="tx1"/>
              </a:solidFill>
            </a:endParaRPr>
          </a:p>
        </p:txBody>
      </p:sp>
      <p:sp>
        <p:nvSpPr>
          <p:cNvPr id="13" name="吹き出し: 角を丸めた四角形 12">
            <a:extLst>
              <a:ext uri="{FF2B5EF4-FFF2-40B4-BE49-F238E27FC236}">
                <a16:creationId xmlns:a16="http://schemas.microsoft.com/office/drawing/2014/main" id="{C6417560-6B35-42C8-AECD-46A1434367AF}"/>
              </a:ext>
            </a:extLst>
          </p:cNvPr>
          <p:cNvSpPr/>
          <p:nvPr/>
        </p:nvSpPr>
        <p:spPr>
          <a:xfrm>
            <a:off x="9563100" y="4628892"/>
            <a:ext cx="1645920" cy="660400"/>
          </a:xfrm>
          <a:prstGeom prst="wedgeRoundRectCallout">
            <a:avLst>
              <a:gd name="adj1" fmla="val -48799"/>
              <a:gd name="adj2" fmla="val -69808"/>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車</a:t>
            </a:r>
            <a:r>
              <a:rPr kumimoji="1" lang="ja-JP" altLang="en-US" dirty="0">
                <a:solidFill>
                  <a:schemeClr val="tx1"/>
                </a:solidFill>
              </a:rPr>
              <a:t>として</a:t>
            </a:r>
            <a:r>
              <a:rPr kumimoji="1" lang="en-US" altLang="ja-JP" dirty="0">
                <a:solidFill>
                  <a:schemeClr val="tx1"/>
                </a:solidFill>
              </a:rPr>
              <a:t>99.9%</a:t>
            </a:r>
            <a:endParaRPr kumimoji="1" lang="ja-JP" altLang="en-US" dirty="0">
              <a:solidFill>
                <a:schemeClr val="tx1"/>
              </a:solidFill>
            </a:endParaRPr>
          </a:p>
        </p:txBody>
      </p:sp>
      <p:sp>
        <p:nvSpPr>
          <p:cNvPr id="14" name="矢印: 上向き折線 13">
            <a:extLst>
              <a:ext uri="{FF2B5EF4-FFF2-40B4-BE49-F238E27FC236}">
                <a16:creationId xmlns:a16="http://schemas.microsoft.com/office/drawing/2014/main" id="{042B2EBA-D9A6-4E01-95C4-C528737DF3A2}"/>
              </a:ext>
            </a:extLst>
          </p:cNvPr>
          <p:cNvSpPr/>
          <p:nvPr/>
        </p:nvSpPr>
        <p:spPr>
          <a:xfrm rot="5400000">
            <a:off x="1497751" y="4734984"/>
            <a:ext cx="997376" cy="668021"/>
          </a:xfrm>
          <a:prstGeom prst="bentUpArrow">
            <a:avLst>
              <a:gd name="adj1" fmla="val 37513"/>
              <a:gd name="adj2" fmla="val 25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308F00B2-44AF-4546-B41C-F238BBDB25ED}"/>
              </a:ext>
            </a:extLst>
          </p:cNvPr>
          <p:cNvSpPr/>
          <p:nvPr/>
        </p:nvSpPr>
        <p:spPr>
          <a:xfrm>
            <a:off x="2330450" y="4811772"/>
            <a:ext cx="6803390" cy="118669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lstStyle/>
          <a:p>
            <a:pPr algn="ctr"/>
            <a:r>
              <a:rPr lang="ja-JP" altLang="en-US" sz="2400" dirty="0">
                <a:solidFill>
                  <a:schemeClr val="tx1"/>
                </a:solidFill>
              </a:rPr>
              <a:t>自動車産業における部品品質レベル</a:t>
            </a:r>
            <a:endParaRPr lang="en-US" altLang="ja-JP" sz="2400" dirty="0">
              <a:solidFill>
                <a:schemeClr val="tx1"/>
              </a:solidFill>
            </a:endParaRPr>
          </a:p>
          <a:p>
            <a:pPr algn="ctr"/>
            <a:r>
              <a:rPr lang="en-US" altLang="ja-JP" sz="2400" u="sng" dirty="0">
                <a:solidFill>
                  <a:srgbClr val="FF0000"/>
                </a:solidFill>
                <a:effectLst>
                  <a:outerShdw blurRad="38100" dist="38100" dir="2700000" algn="tl">
                    <a:srgbClr val="000000">
                      <a:alpha val="43137"/>
                    </a:srgbClr>
                  </a:outerShdw>
                </a:effectLst>
              </a:rPr>
              <a:t>Cp</a:t>
            </a:r>
            <a:r>
              <a:rPr lang="ja-JP" altLang="en-US" sz="2400" u="sng" dirty="0">
                <a:solidFill>
                  <a:srgbClr val="FF0000"/>
                </a:solidFill>
                <a:effectLst>
                  <a:outerShdw blurRad="38100" dist="38100" dir="2700000" algn="tl">
                    <a:srgbClr val="000000">
                      <a:alpha val="43137"/>
                    </a:srgbClr>
                  </a:outerShdw>
                </a:effectLst>
              </a:rPr>
              <a:t>（</a:t>
            </a:r>
            <a:r>
              <a:rPr lang="en-US" altLang="ja-JP" sz="2400" u="sng" dirty="0">
                <a:solidFill>
                  <a:srgbClr val="FF0000"/>
                </a:solidFill>
                <a:effectLst>
                  <a:outerShdw blurRad="38100" dist="38100" dir="2700000" algn="tl">
                    <a:srgbClr val="000000">
                      <a:alpha val="43137"/>
                    </a:srgbClr>
                  </a:outerShdw>
                </a:effectLst>
              </a:rPr>
              <a:t>Pp</a:t>
            </a:r>
            <a:r>
              <a:rPr lang="ja-JP" altLang="en-US" sz="2400" u="sng" dirty="0">
                <a:solidFill>
                  <a:srgbClr val="FF0000"/>
                </a:solidFill>
                <a:effectLst>
                  <a:outerShdw blurRad="38100" dist="38100" dir="2700000" algn="tl">
                    <a:srgbClr val="000000">
                      <a:alpha val="43137"/>
                    </a:srgbClr>
                  </a:outerShdw>
                </a:effectLst>
              </a:rPr>
              <a:t>）＝最低</a:t>
            </a:r>
            <a:r>
              <a:rPr lang="en-US" altLang="ja-JP" sz="2400" u="sng" dirty="0">
                <a:solidFill>
                  <a:srgbClr val="FF0000"/>
                </a:solidFill>
                <a:effectLst>
                  <a:outerShdw blurRad="38100" dist="38100" dir="2700000" algn="tl">
                    <a:srgbClr val="000000">
                      <a:alpha val="43137"/>
                    </a:srgbClr>
                  </a:outerShdw>
                </a:effectLst>
              </a:rPr>
              <a:t>1.67</a:t>
            </a:r>
            <a:r>
              <a:rPr lang="ja-JP" altLang="en-US" sz="2400" u="sng" dirty="0">
                <a:solidFill>
                  <a:srgbClr val="FF0000"/>
                </a:solidFill>
                <a:effectLst>
                  <a:outerShdw blurRad="38100" dist="38100" dir="2700000" algn="tl">
                    <a:srgbClr val="000000">
                      <a:alpha val="43137"/>
                    </a:srgbClr>
                  </a:outerShdw>
                </a:effectLst>
              </a:rPr>
              <a:t>（不良率</a:t>
            </a:r>
            <a:r>
              <a:rPr lang="en-US" altLang="ja-JP" sz="2400" u="sng" dirty="0">
                <a:solidFill>
                  <a:srgbClr val="FF0000"/>
                </a:solidFill>
                <a:effectLst>
                  <a:outerShdw blurRad="38100" dist="38100" dir="2700000" algn="tl">
                    <a:srgbClr val="000000">
                      <a:alpha val="43137"/>
                    </a:srgbClr>
                  </a:outerShdw>
                </a:effectLst>
              </a:rPr>
              <a:t>0.67ppm</a:t>
            </a:r>
            <a:r>
              <a:rPr lang="ja-JP" altLang="en-US" sz="2400" u="sng" dirty="0">
                <a:solidFill>
                  <a:srgbClr val="FF0000"/>
                </a:solidFill>
                <a:effectLst>
                  <a:outerShdw blurRad="38100" dist="38100" dir="2700000" algn="tl">
                    <a:srgbClr val="000000">
                      <a:alpha val="43137"/>
                    </a:srgbClr>
                  </a:outerShdw>
                </a:effectLst>
              </a:rPr>
              <a:t>）</a:t>
            </a:r>
            <a:endParaRPr lang="en-US" altLang="ja-JP" sz="2400"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25969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第１章の構成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825395020"/>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a:t>
            </a:fld>
            <a:endParaRPr kumimoji="1" lang="ja-JP" altLang="en-US"/>
          </a:p>
        </p:txBody>
      </p:sp>
    </p:spTree>
    <p:extLst>
      <p:ext uri="{BB962C8B-B14F-4D97-AF65-F5344CB8AC3E}">
        <p14:creationId xmlns:p14="http://schemas.microsoft.com/office/powerpoint/2010/main" val="364137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894715"/>
          </a:xfrm>
          <a:solidFill>
            <a:schemeClr val="tx2"/>
          </a:solidFill>
        </p:spPr>
        <p:txBody>
          <a:bodyPr>
            <a:normAutofit fontScale="90000"/>
          </a:bodyPr>
          <a:lstStyle/>
          <a:p>
            <a:r>
              <a:rPr lang="ja-JP" altLang="en-US" sz="2700" dirty="0">
                <a:solidFill>
                  <a:schemeClr val="bg1"/>
                </a:solidFill>
              </a:rPr>
              <a:t>２．ＩＡＴＦ１６９４９とは</a:t>
            </a:r>
            <a:r>
              <a:rPr lang="en-US" altLang="ja-JP" sz="2700" dirty="0">
                <a:solidFill>
                  <a:schemeClr val="bg1"/>
                </a:solidFill>
              </a:rPr>
              <a:t/>
            </a:r>
            <a:br>
              <a:rPr lang="en-US" altLang="ja-JP" sz="2700" dirty="0">
                <a:solidFill>
                  <a:schemeClr val="bg1"/>
                </a:solidFill>
              </a:rPr>
            </a:br>
            <a:r>
              <a:rPr lang="ja-JP" altLang="en-US" sz="4000" dirty="0">
                <a:solidFill>
                  <a:schemeClr val="bg1"/>
                </a:solidFill>
              </a:rPr>
              <a:t>　</a:t>
            </a:r>
            <a:r>
              <a:rPr lang="en-US" altLang="ja-JP" sz="4000" dirty="0">
                <a:solidFill>
                  <a:schemeClr val="bg1"/>
                </a:solidFill>
              </a:rPr>
              <a:t>2.1</a:t>
            </a:r>
            <a:r>
              <a:rPr lang="ja-JP" altLang="en-US" sz="4000" dirty="0">
                <a:solidFill>
                  <a:schemeClr val="bg1"/>
                </a:solidFill>
              </a:rPr>
              <a:t>　ＩＡＴＦとは</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52365"/>
            <a:ext cx="10515600" cy="2207257"/>
          </a:xfrm>
        </p:spPr>
        <p:txBody>
          <a:bodyPr/>
          <a:lstStyle/>
          <a:p>
            <a:pPr marL="0" indent="0">
              <a:buNone/>
            </a:pPr>
            <a:r>
              <a:rPr kumimoji="1" lang="ja-JP" altLang="en-US" dirty="0"/>
              <a:t>ＩＡＴＦ：</a:t>
            </a:r>
            <a:r>
              <a:rPr kumimoji="1" lang="en-US" altLang="ja-JP" dirty="0"/>
              <a:t>International</a:t>
            </a:r>
            <a:r>
              <a:rPr kumimoji="1" lang="ja-JP" altLang="en-US" dirty="0"/>
              <a:t>　</a:t>
            </a:r>
            <a:r>
              <a:rPr kumimoji="1" lang="en-US" altLang="ja-JP" dirty="0"/>
              <a:t>Automotive</a:t>
            </a:r>
            <a:r>
              <a:rPr kumimoji="1" lang="ja-JP" altLang="en-US" dirty="0"/>
              <a:t>　</a:t>
            </a:r>
            <a:r>
              <a:rPr kumimoji="1" lang="en-US" altLang="ja-JP" dirty="0"/>
              <a:t>Task</a:t>
            </a:r>
            <a:r>
              <a:rPr kumimoji="1" lang="ja-JP" altLang="en-US" dirty="0"/>
              <a:t>　</a:t>
            </a:r>
            <a:r>
              <a:rPr kumimoji="1" lang="en-US" altLang="ja-JP" dirty="0"/>
              <a:t>Force</a:t>
            </a:r>
          </a:p>
          <a:p>
            <a:pPr marL="0" indent="0">
              <a:buNone/>
            </a:pPr>
            <a:r>
              <a:rPr lang="ja-JP" altLang="en-US" dirty="0"/>
              <a:t>　　　　　（国際自動車産業特別委員会）</a:t>
            </a:r>
            <a:endParaRPr kumimoji="1" lang="en-US" altLang="ja-JP" dirty="0"/>
          </a:p>
          <a:p>
            <a:pPr lvl="1"/>
            <a:r>
              <a:rPr lang="en-US" altLang="ja-JP" dirty="0"/>
              <a:t>IATF16949</a:t>
            </a:r>
            <a:r>
              <a:rPr lang="ja-JP" altLang="en-US" dirty="0"/>
              <a:t>認証制度の総元締め。</a:t>
            </a:r>
            <a:endParaRPr lang="en-US" altLang="ja-JP" dirty="0"/>
          </a:p>
          <a:p>
            <a:pPr lvl="1"/>
            <a:r>
              <a:rPr lang="en-US" altLang="ja-JP" dirty="0"/>
              <a:t>IATF16949</a:t>
            </a:r>
            <a:r>
              <a:rPr lang="ja-JP" altLang="en-US" dirty="0"/>
              <a:t>の原案作成、認証ルールの制定。</a:t>
            </a:r>
            <a:endParaRPr lang="en-US" altLang="ja-JP" dirty="0"/>
          </a:p>
          <a:p>
            <a:pPr lvl="1"/>
            <a:r>
              <a:rPr kumimoji="1" lang="ja-JP" altLang="en-US" dirty="0"/>
              <a:t>自動車メーカー</a:t>
            </a:r>
            <a:r>
              <a:rPr kumimoji="1" lang="en-US" altLang="ja-JP" dirty="0"/>
              <a:t>9</a:t>
            </a:r>
            <a:r>
              <a:rPr kumimoji="1" lang="ja-JP" altLang="en-US" dirty="0"/>
              <a:t>社と自動車産業</a:t>
            </a:r>
            <a:r>
              <a:rPr kumimoji="1" lang="en-US" altLang="ja-JP" dirty="0"/>
              <a:t>5</a:t>
            </a:r>
            <a:r>
              <a:rPr kumimoji="1" lang="ja-JP" altLang="en-US" dirty="0"/>
              <a:t>団体により構成。</a:t>
            </a:r>
            <a:endParaRPr kumimoji="1" lang="en-US" altLang="ja-JP" dirty="0"/>
          </a:p>
          <a:p>
            <a:pPr marL="457200" lvl="1" indent="0">
              <a:buNone/>
            </a:pPr>
            <a:endParaRPr lang="en-US" altLang="ja-JP" dirty="0"/>
          </a:p>
        </p:txBody>
      </p:sp>
      <p:graphicFrame>
        <p:nvGraphicFramePr>
          <p:cNvPr id="6" name="表 5">
            <a:extLst>
              <a:ext uri="{FF2B5EF4-FFF2-40B4-BE49-F238E27FC236}">
                <a16:creationId xmlns:a16="http://schemas.microsoft.com/office/drawing/2014/main" id="{CB504C6A-6619-4903-80EE-E5162ED89C06}"/>
              </a:ext>
            </a:extLst>
          </p:cNvPr>
          <p:cNvGraphicFramePr>
            <a:graphicFrameLocks noGrp="1"/>
          </p:cNvGraphicFramePr>
          <p:nvPr>
            <p:extLst>
              <p:ext uri="{D42A27DB-BD31-4B8C-83A1-F6EECF244321}">
                <p14:modId xmlns:p14="http://schemas.microsoft.com/office/powerpoint/2010/main" val="4141098791"/>
              </p:ext>
            </p:extLst>
          </p:nvPr>
        </p:nvGraphicFramePr>
        <p:xfrm>
          <a:off x="838200" y="3856568"/>
          <a:ext cx="10515600" cy="2207258"/>
        </p:xfrm>
        <a:graphic>
          <a:graphicData uri="http://schemas.openxmlformats.org/drawingml/2006/table">
            <a:tbl>
              <a:tblPr firstRow="1" bandRow="1">
                <a:tableStyleId>{5940675A-B579-460E-94D1-54222C63F5DA}</a:tableStyleId>
              </a:tblPr>
              <a:tblGrid>
                <a:gridCol w="2646680">
                  <a:extLst>
                    <a:ext uri="{9D8B030D-6E8A-4147-A177-3AD203B41FA5}">
                      <a16:colId xmlns:a16="http://schemas.microsoft.com/office/drawing/2014/main" val="2149450672"/>
                    </a:ext>
                  </a:extLst>
                </a:gridCol>
                <a:gridCol w="7868920">
                  <a:extLst>
                    <a:ext uri="{9D8B030D-6E8A-4147-A177-3AD203B41FA5}">
                      <a16:colId xmlns:a16="http://schemas.microsoft.com/office/drawing/2014/main" val="3969562627"/>
                    </a:ext>
                  </a:extLst>
                </a:gridCol>
              </a:tblGrid>
              <a:tr h="1304289">
                <a:tc>
                  <a:txBody>
                    <a:bodyPr/>
                    <a:lstStyle/>
                    <a:p>
                      <a:r>
                        <a:rPr kumimoji="1" lang="ja-JP" altLang="en-US" sz="2400" dirty="0"/>
                        <a:t>自動車メーカー</a:t>
                      </a:r>
                    </a:p>
                  </a:txBody>
                  <a:tcPr anchor="ctr">
                    <a:solidFill>
                      <a:schemeClr val="tx2">
                        <a:lumMod val="20000"/>
                        <a:lumOff val="80000"/>
                      </a:schemeClr>
                    </a:solidFill>
                  </a:tcPr>
                </a:tc>
                <a:tc>
                  <a:txBody>
                    <a:bodyPr/>
                    <a:lstStyle/>
                    <a:p>
                      <a:r>
                        <a:rPr kumimoji="1" lang="ja-JP" altLang="en-US" sz="2400" dirty="0"/>
                        <a:t>フォード、ＧＭ、クライスラー、ＢＭＷ、</a:t>
                      </a:r>
                      <a:endParaRPr kumimoji="1" lang="en-US" altLang="ja-JP" sz="2400" dirty="0"/>
                    </a:p>
                    <a:p>
                      <a:r>
                        <a:rPr kumimoji="1" lang="ja-JP" altLang="en-US" sz="2400" dirty="0"/>
                        <a:t>ダイムラー、フォルクスワーゲン、ＰＳＡグループ、</a:t>
                      </a:r>
                      <a:endParaRPr kumimoji="1" lang="en-US" altLang="ja-JP" sz="2400" dirty="0"/>
                    </a:p>
                    <a:p>
                      <a:r>
                        <a:rPr kumimoji="1" lang="ja-JP" altLang="en-US" sz="2400" dirty="0"/>
                        <a:t>ルノー、ＦＣＡイタリア</a:t>
                      </a:r>
                    </a:p>
                  </a:txBody>
                  <a:tcPr anchor="ctr">
                    <a:solidFill>
                      <a:schemeClr val="tx2">
                        <a:lumMod val="20000"/>
                        <a:lumOff val="80000"/>
                      </a:schemeClr>
                    </a:solidFill>
                  </a:tcPr>
                </a:tc>
                <a:extLst>
                  <a:ext uri="{0D108BD9-81ED-4DB2-BD59-A6C34878D82A}">
                    <a16:rowId xmlns:a16="http://schemas.microsoft.com/office/drawing/2014/main" val="1393152967"/>
                  </a:ext>
                </a:extLst>
              </a:tr>
              <a:tr h="902969">
                <a:tc>
                  <a:txBody>
                    <a:bodyPr/>
                    <a:lstStyle/>
                    <a:p>
                      <a:r>
                        <a:rPr kumimoji="1" lang="ja-JP" altLang="en-US" sz="2400" dirty="0"/>
                        <a:t>自動車産業</a:t>
                      </a:r>
                    </a:p>
                  </a:txBody>
                  <a:tcPr anchor="ctr">
                    <a:solidFill>
                      <a:schemeClr val="tx2">
                        <a:lumMod val="20000"/>
                        <a:lumOff val="80000"/>
                      </a:schemeClr>
                    </a:solidFill>
                  </a:tcPr>
                </a:tc>
                <a:tc>
                  <a:txBody>
                    <a:bodyPr/>
                    <a:lstStyle/>
                    <a:p>
                      <a:r>
                        <a:rPr kumimoji="1" lang="ja-JP" altLang="en-US" sz="2400" dirty="0"/>
                        <a:t>ＡＩＡＧ（米）、ＶＤＡ（独）、ＦＩＥＶ（仏）、</a:t>
                      </a:r>
                      <a:endParaRPr kumimoji="1" lang="en-US" altLang="ja-JP" sz="2400" dirty="0"/>
                    </a:p>
                    <a:p>
                      <a:r>
                        <a:rPr kumimoji="1" lang="ja-JP" altLang="en-US" sz="2400" dirty="0"/>
                        <a:t>ＡＮＦＩＡ（伊）、ＳＭＭＴ（英）</a:t>
                      </a:r>
                    </a:p>
                  </a:txBody>
                  <a:tcPr anchor="ctr">
                    <a:solidFill>
                      <a:schemeClr val="tx2">
                        <a:lumMod val="20000"/>
                        <a:lumOff val="80000"/>
                      </a:schemeClr>
                    </a:solidFill>
                  </a:tcPr>
                </a:tc>
                <a:extLst>
                  <a:ext uri="{0D108BD9-81ED-4DB2-BD59-A6C34878D82A}">
                    <a16:rowId xmlns:a16="http://schemas.microsoft.com/office/drawing/2014/main" val="445463427"/>
                  </a:ext>
                </a:extLst>
              </a:tr>
            </a:tbl>
          </a:graphicData>
        </a:graphic>
      </p:graphicFrame>
      <p:sp>
        <p:nvSpPr>
          <p:cNvPr id="8" name="吹き出し: 角を丸めた四角形 7">
            <a:extLst>
              <a:ext uri="{FF2B5EF4-FFF2-40B4-BE49-F238E27FC236}">
                <a16:creationId xmlns:a16="http://schemas.microsoft.com/office/drawing/2014/main" id="{70C1C54D-2DCE-479D-B9A2-5F1830F6C645}"/>
              </a:ext>
            </a:extLst>
          </p:cNvPr>
          <p:cNvSpPr/>
          <p:nvPr/>
        </p:nvSpPr>
        <p:spPr>
          <a:xfrm>
            <a:off x="8525434" y="2528047"/>
            <a:ext cx="2828365" cy="1182259"/>
          </a:xfrm>
          <a:prstGeom prst="wedgeRoundRectCallout">
            <a:avLst>
              <a:gd name="adj1" fmla="val -46253"/>
              <a:gd name="adj2" fmla="val 5991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OEM</a:t>
            </a:r>
            <a:r>
              <a:rPr lang="ja-JP" altLang="en-US" dirty="0">
                <a:solidFill>
                  <a:schemeClr val="tx1"/>
                </a:solidFill>
              </a:rPr>
              <a:t>（</a:t>
            </a:r>
            <a:r>
              <a:rPr lang="en-US" altLang="ja-JP" dirty="0">
                <a:solidFill>
                  <a:schemeClr val="tx1"/>
                </a:solidFill>
              </a:rPr>
              <a:t>Original Equipment Manufacturer</a:t>
            </a:r>
            <a:r>
              <a:rPr lang="ja-JP" altLang="en-US" dirty="0">
                <a:solidFill>
                  <a:schemeClr val="tx1"/>
                </a:solidFill>
              </a:rPr>
              <a:t>）という。</a:t>
            </a:r>
            <a:endParaRPr lang="en-US" altLang="ja-JP" dirty="0">
              <a:solidFill>
                <a:schemeClr val="tx1"/>
              </a:solidFill>
            </a:endParaRPr>
          </a:p>
        </p:txBody>
      </p:sp>
    </p:spTree>
    <p:extLst>
      <p:ext uri="{BB962C8B-B14F-4D97-AF65-F5344CB8AC3E}">
        <p14:creationId xmlns:p14="http://schemas.microsoft.com/office/powerpoint/2010/main" val="8224354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874395"/>
          </a:xfrm>
          <a:solidFill>
            <a:schemeClr val="tx2"/>
          </a:solidFill>
        </p:spPr>
        <p:txBody>
          <a:bodyPr>
            <a:normAutofit fontScale="90000"/>
          </a:bodyPr>
          <a:lstStyle/>
          <a:p>
            <a:r>
              <a:rPr lang="ja-JP" altLang="en-US" sz="2700" dirty="0">
                <a:solidFill>
                  <a:schemeClr val="bg1"/>
                </a:solidFill>
              </a:rPr>
              <a:t>２．ＩＡＴＦ１６９４９とは</a:t>
            </a:r>
            <a:r>
              <a:rPr lang="en-US" altLang="ja-JP" sz="2700" dirty="0">
                <a:solidFill>
                  <a:schemeClr val="bg1"/>
                </a:solidFill>
              </a:rPr>
              <a:t/>
            </a:r>
            <a:br>
              <a:rPr lang="en-US" altLang="ja-JP" sz="2700" dirty="0">
                <a:solidFill>
                  <a:schemeClr val="bg1"/>
                </a:solidFill>
              </a:rPr>
            </a:br>
            <a:r>
              <a:rPr lang="ja-JP" altLang="en-US" sz="4000" dirty="0">
                <a:solidFill>
                  <a:schemeClr val="bg1"/>
                </a:solidFill>
              </a:rPr>
              <a:t>　</a:t>
            </a:r>
            <a:r>
              <a:rPr lang="en-US" altLang="ja-JP" sz="4000" dirty="0">
                <a:solidFill>
                  <a:schemeClr val="bg1"/>
                </a:solidFill>
              </a:rPr>
              <a:t>2.1</a:t>
            </a:r>
            <a:r>
              <a:rPr lang="ja-JP" altLang="en-US" sz="4000" dirty="0">
                <a:solidFill>
                  <a:schemeClr val="bg1"/>
                </a:solidFill>
              </a:rPr>
              <a:t>　ＩＡＴＦとは</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91358"/>
            <a:ext cx="10515600" cy="507999"/>
          </a:xfrm>
        </p:spPr>
        <p:txBody>
          <a:bodyPr>
            <a:normAutofit/>
          </a:bodyPr>
          <a:lstStyle/>
          <a:p>
            <a:pPr marL="0" indent="0">
              <a:buNone/>
            </a:pPr>
            <a:r>
              <a:rPr lang="ja-JP" altLang="en-US" dirty="0"/>
              <a:t>関連団体</a:t>
            </a:r>
            <a:endParaRPr lang="en-US" altLang="ja-JP" dirty="0"/>
          </a:p>
        </p:txBody>
      </p:sp>
      <p:graphicFrame>
        <p:nvGraphicFramePr>
          <p:cNvPr id="7" name="表 6">
            <a:extLst>
              <a:ext uri="{FF2B5EF4-FFF2-40B4-BE49-F238E27FC236}">
                <a16:creationId xmlns:a16="http://schemas.microsoft.com/office/drawing/2014/main" id="{72849A3E-B4B1-4CD5-AC7F-9C9CFDBFA9AF}"/>
              </a:ext>
            </a:extLst>
          </p:cNvPr>
          <p:cNvGraphicFramePr>
            <a:graphicFrameLocks noGrp="1"/>
          </p:cNvGraphicFramePr>
          <p:nvPr>
            <p:extLst>
              <p:ext uri="{D42A27DB-BD31-4B8C-83A1-F6EECF244321}">
                <p14:modId xmlns:p14="http://schemas.microsoft.com/office/powerpoint/2010/main" val="1952503655"/>
              </p:ext>
            </p:extLst>
          </p:nvPr>
        </p:nvGraphicFramePr>
        <p:xfrm>
          <a:off x="838200" y="1899357"/>
          <a:ext cx="10515600" cy="4516756"/>
        </p:xfrm>
        <a:graphic>
          <a:graphicData uri="http://schemas.openxmlformats.org/drawingml/2006/table">
            <a:tbl>
              <a:tblPr firstRow="1" bandRow="1">
                <a:tableStyleId>{5940675A-B579-460E-94D1-54222C63F5DA}</a:tableStyleId>
              </a:tblPr>
              <a:tblGrid>
                <a:gridCol w="1661160">
                  <a:extLst>
                    <a:ext uri="{9D8B030D-6E8A-4147-A177-3AD203B41FA5}">
                      <a16:colId xmlns:a16="http://schemas.microsoft.com/office/drawing/2014/main" val="2746621520"/>
                    </a:ext>
                  </a:extLst>
                </a:gridCol>
                <a:gridCol w="8854440">
                  <a:extLst>
                    <a:ext uri="{9D8B030D-6E8A-4147-A177-3AD203B41FA5}">
                      <a16:colId xmlns:a16="http://schemas.microsoft.com/office/drawing/2014/main" val="3884208230"/>
                    </a:ext>
                  </a:extLst>
                </a:gridCol>
              </a:tblGrid>
              <a:tr h="1443993">
                <a:tc>
                  <a:txBody>
                    <a:bodyPr/>
                    <a:lstStyle/>
                    <a:p>
                      <a:r>
                        <a:rPr kumimoji="1" lang="ja-JP" altLang="en-US" sz="2000" dirty="0"/>
                        <a:t>ＡＩＡＧ</a:t>
                      </a:r>
                    </a:p>
                  </a:txBody>
                  <a:tcPr anchor="ctr">
                    <a:solidFill>
                      <a:schemeClr val="tx2">
                        <a:lumMod val="20000"/>
                        <a:lumOff val="80000"/>
                      </a:schemeClr>
                    </a:solidFill>
                  </a:tcPr>
                </a:tc>
                <a:tc>
                  <a:txBody>
                    <a:bodyPr/>
                    <a:lstStyle/>
                    <a:p>
                      <a:r>
                        <a:rPr kumimoji="1" lang="en-US" altLang="ja-JP" sz="2000" dirty="0"/>
                        <a:t>Automotive</a:t>
                      </a:r>
                      <a:r>
                        <a:rPr kumimoji="1" lang="ja-JP" altLang="en-US" sz="2000" dirty="0"/>
                        <a:t>　</a:t>
                      </a:r>
                      <a:r>
                        <a:rPr kumimoji="1" lang="en-US" altLang="ja-JP" sz="2000" dirty="0"/>
                        <a:t>Industry</a:t>
                      </a:r>
                      <a:r>
                        <a:rPr kumimoji="1" lang="ja-JP" altLang="en-US" sz="2000" dirty="0"/>
                        <a:t>　</a:t>
                      </a:r>
                      <a:r>
                        <a:rPr kumimoji="1" lang="en-US" altLang="ja-JP" sz="2000" dirty="0"/>
                        <a:t>Action</a:t>
                      </a:r>
                      <a:r>
                        <a:rPr kumimoji="1" lang="ja-JP" altLang="en-US" sz="2000" dirty="0"/>
                        <a:t>　</a:t>
                      </a:r>
                      <a:r>
                        <a:rPr kumimoji="1" lang="en-US" altLang="ja-JP" sz="2000" dirty="0"/>
                        <a:t>Group</a:t>
                      </a:r>
                      <a:r>
                        <a:rPr kumimoji="1" lang="ja-JP" altLang="en-US" sz="2000" dirty="0"/>
                        <a:t>（全米自動車産業協会）</a:t>
                      </a:r>
                      <a:endParaRPr kumimoji="1" lang="en-US" altLang="ja-JP" sz="2000" dirty="0"/>
                    </a:p>
                    <a:p>
                      <a:r>
                        <a:rPr kumimoji="1" lang="en-US" altLang="ja-JP" sz="2000" dirty="0"/>
                        <a:t>1982</a:t>
                      </a:r>
                      <a:r>
                        <a:rPr kumimoji="1" lang="ja-JP" altLang="en-US" sz="2000" dirty="0"/>
                        <a:t>年設立。自動車メーカー、部品メーカーの他、輸送業や情報システムなどを含む約</a:t>
                      </a:r>
                      <a:r>
                        <a:rPr kumimoji="1" lang="en-US" altLang="ja-JP" sz="2000" dirty="0"/>
                        <a:t>1,600</a:t>
                      </a:r>
                      <a:r>
                        <a:rPr kumimoji="1" lang="ja-JP" altLang="en-US" sz="2000" dirty="0"/>
                        <a:t>社からなる標準化推進機構。レファレンスマニュアルを発行。</a:t>
                      </a:r>
                    </a:p>
                  </a:txBody>
                  <a:tcPr anchor="ctr">
                    <a:solidFill>
                      <a:schemeClr val="tx2">
                        <a:lumMod val="20000"/>
                        <a:lumOff val="80000"/>
                      </a:schemeClr>
                    </a:solidFill>
                  </a:tcPr>
                </a:tc>
                <a:extLst>
                  <a:ext uri="{0D108BD9-81ED-4DB2-BD59-A6C34878D82A}">
                    <a16:rowId xmlns:a16="http://schemas.microsoft.com/office/drawing/2014/main" val="889743441"/>
                  </a:ext>
                </a:extLst>
              </a:tr>
              <a:tr h="1281168">
                <a:tc>
                  <a:txBody>
                    <a:bodyPr/>
                    <a:lstStyle/>
                    <a:p>
                      <a:r>
                        <a:rPr kumimoji="1" lang="ja-JP" altLang="en-US" sz="2000" dirty="0"/>
                        <a:t>ＩＡＯＢ</a:t>
                      </a:r>
                    </a:p>
                  </a:txBody>
                  <a:tcPr anchor="ctr">
                    <a:solidFill>
                      <a:schemeClr val="tx2">
                        <a:lumMod val="20000"/>
                        <a:lumOff val="80000"/>
                      </a:schemeClr>
                    </a:solidFill>
                  </a:tcPr>
                </a:tc>
                <a:tc>
                  <a:txBody>
                    <a:bodyPr/>
                    <a:lstStyle/>
                    <a:p>
                      <a:r>
                        <a:rPr kumimoji="1" lang="en-US" altLang="ja-JP" sz="2000" dirty="0"/>
                        <a:t>International</a:t>
                      </a:r>
                      <a:r>
                        <a:rPr kumimoji="1" lang="ja-JP" altLang="en-US" sz="2000" dirty="0"/>
                        <a:t>　</a:t>
                      </a:r>
                      <a:r>
                        <a:rPr kumimoji="1" lang="en-US" altLang="ja-JP" sz="2000" dirty="0"/>
                        <a:t>Automotive</a:t>
                      </a:r>
                      <a:r>
                        <a:rPr kumimoji="1" lang="ja-JP" altLang="en-US" sz="2000" dirty="0"/>
                        <a:t>　</a:t>
                      </a:r>
                      <a:r>
                        <a:rPr kumimoji="1" lang="en-US" altLang="ja-JP" sz="2000" dirty="0"/>
                        <a:t>Oversight</a:t>
                      </a:r>
                      <a:r>
                        <a:rPr kumimoji="1" lang="ja-JP" altLang="en-US" sz="2000" dirty="0"/>
                        <a:t>　</a:t>
                      </a:r>
                      <a:r>
                        <a:rPr kumimoji="1" lang="en-US" altLang="ja-JP" sz="2000" dirty="0"/>
                        <a:t>Bureau</a:t>
                      </a:r>
                      <a:r>
                        <a:rPr kumimoji="1" lang="ja-JP" altLang="en-US" sz="2000" dirty="0"/>
                        <a:t>（国際自動車監視機構）</a:t>
                      </a:r>
                      <a:endParaRPr kumimoji="1" lang="en-US" altLang="ja-JP" sz="2000" dirty="0"/>
                    </a:p>
                    <a:p>
                      <a:r>
                        <a:rPr kumimoji="1" lang="ja-JP" altLang="en-US" sz="2000" dirty="0"/>
                        <a:t>メンバーには</a:t>
                      </a:r>
                      <a:r>
                        <a:rPr kumimoji="1" lang="en-US" altLang="ja-JP" sz="2000" dirty="0"/>
                        <a:t>AIAG</a:t>
                      </a:r>
                      <a:r>
                        <a:rPr kumimoji="1" lang="ja-JP" altLang="en-US" sz="2000" dirty="0"/>
                        <a:t>が含まれる。米国、アジア、太平洋地域の</a:t>
                      </a:r>
                      <a:r>
                        <a:rPr kumimoji="1" lang="en-US" altLang="ja-JP" sz="2000" dirty="0"/>
                        <a:t>IATF</a:t>
                      </a:r>
                      <a:r>
                        <a:rPr kumimoji="1" lang="ja-JP" altLang="en-US" sz="2000" dirty="0"/>
                        <a:t>監督機関。</a:t>
                      </a:r>
                    </a:p>
                  </a:txBody>
                  <a:tcPr anchor="ctr">
                    <a:solidFill>
                      <a:schemeClr val="tx2">
                        <a:lumMod val="20000"/>
                        <a:lumOff val="80000"/>
                      </a:schemeClr>
                    </a:solidFill>
                  </a:tcPr>
                </a:tc>
                <a:extLst>
                  <a:ext uri="{0D108BD9-81ED-4DB2-BD59-A6C34878D82A}">
                    <a16:rowId xmlns:a16="http://schemas.microsoft.com/office/drawing/2014/main" val="1074432321"/>
                  </a:ext>
                </a:extLst>
              </a:tr>
              <a:tr h="1791595">
                <a:tc>
                  <a:txBody>
                    <a:bodyPr/>
                    <a:lstStyle/>
                    <a:p>
                      <a:r>
                        <a:rPr kumimoji="1" lang="ja-JP" altLang="en-US" sz="2000" dirty="0"/>
                        <a:t>ＶＤＡ－</a:t>
                      </a:r>
                      <a:endParaRPr kumimoji="1" lang="en-US" altLang="ja-JP" sz="2000" dirty="0"/>
                    </a:p>
                    <a:p>
                      <a:r>
                        <a:rPr kumimoji="1" lang="ja-JP" altLang="en-US" sz="2000" dirty="0"/>
                        <a:t>ＱＭＣ</a:t>
                      </a:r>
                    </a:p>
                  </a:txBody>
                  <a:tcPr anchor="ctr">
                    <a:solidFill>
                      <a:schemeClr val="tx2">
                        <a:lumMod val="20000"/>
                        <a:lumOff val="80000"/>
                      </a:schemeClr>
                    </a:solidFill>
                  </a:tcPr>
                </a:tc>
                <a:tc>
                  <a:txBody>
                    <a:bodyPr/>
                    <a:lstStyle/>
                    <a:p>
                      <a:r>
                        <a:rPr kumimoji="1" lang="en-US" altLang="ja-JP" sz="2000" dirty="0"/>
                        <a:t>VDA</a:t>
                      </a:r>
                      <a:r>
                        <a:rPr kumimoji="1" lang="ja-JP" altLang="en-US" sz="2000" dirty="0"/>
                        <a:t>（ドイツ自動車工業会）の下部組織である</a:t>
                      </a:r>
                      <a:r>
                        <a:rPr kumimoji="1" lang="en-US" altLang="ja-JP" sz="2000" dirty="0"/>
                        <a:t>VDA-QMC</a:t>
                      </a:r>
                      <a:r>
                        <a:rPr kumimoji="1" lang="ja-JP" altLang="en-US" sz="2000" dirty="0"/>
                        <a:t>は、品質マネジメントシステムに関する規格及びガイドラインを発行している。</a:t>
                      </a:r>
                      <a:endParaRPr kumimoji="1" lang="en-US" altLang="ja-JP" sz="2000" dirty="0"/>
                    </a:p>
                    <a:p>
                      <a:r>
                        <a:rPr kumimoji="1" lang="en-US" altLang="ja-JP" sz="2000" dirty="0"/>
                        <a:t>EU</a:t>
                      </a:r>
                      <a:r>
                        <a:rPr kumimoji="1" lang="ja-JP" altLang="en-US" sz="2000" dirty="0" err="1"/>
                        <a:t>、</a:t>
                      </a:r>
                      <a:r>
                        <a:rPr kumimoji="1" lang="ja-JP" altLang="en-US" sz="2000" dirty="0"/>
                        <a:t>特にドイツの自動車メーカーや一次供給者は、これらの規格及びガイドラインに適合することを要求している。</a:t>
                      </a:r>
                    </a:p>
                  </a:txBody>
                  <a:tcPr anchor="ctr">
                    <a:solidFill>
                      <a:schemeClr val="tx2">
                        <a:lumMod val="20000"/>
                        <a:lumOff val="80000"/>
                      </a:schemeClr>
                    </a:solidFill>
                  </a:tcPr>
                </a:tc>
                <a:extLst>
                  <a:ext uri="{0D108BD9-81ED-4DB2-BD59-A6C34878D82A}">
                    <a16:rowId xmlns:a16="http://schemas.microsoft.com/office/drawing/2014/main" val="4195413145"/>
                  </a:ext>
                </a:extLst>
              </a:tr>
            </a:tbl>
          </a:graphicData>
        </a:graphic>
      </p:graphicFrame>
    </p:spTree>
    <p:extLst>
      <p:ext uri="{BB962C8B-B14F-4D97-AF65-F5344CB8AC3E}">
        <p14:creationId xmlns:p14="http://schemas.microsoft.com/office/powerpoint/2010/main" val="51233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35355"/>
          </a:xfrm>
          <a:solidFill>
            <a:schemeClr val="tx2"/>
          </a:solidFill>
        </p:spPr>
        <p:txBody>
          <a:bodyPr>
            <a:normAutofit/>
          </a:bodyPr>
          <a:lstStyle/>
          <a:p>
            <a:r>
              <a:rPr lang="ja-JP" altLang="en-US" sz="2400" dirty="0">
                <a:solidFill>
                  <a:schemeClr val="bg1"/>
                </a:solidFill>
              </a:rPr>
              <a:t>２．ＩＡＴＦ１６９４９とは</a:t>
            </a:r>
            <a:r>
              <a:rPr lang="en-US" altLang="ja-JP" sz="2400" dirty="0">
                <a:solidFill>
                  <a:schemeClr val="bg1"/>
                </a:solidFill>
              </a:rPr>
              <a:t/>
            </a:r>
            <a:br>
              <a:rPr lang="en-US" altLang="ja-JP" sz="2400" dirty="0">
                <a:solidFill>
                  <a:schemeClr val="bg1"/>
                </a:solidFill>
              </a:rPr>
            </a:br>
            <a:r>
              <a:rPr lang="ja-JP" altLang="en-US" sz="3600" dirty="0">
                <a:solidFill>
                  <a:schemeClr val="bg1"/>
                </a:solidFill>
              </a:rPr>
              <a:t>　</a:t>
            </a:r>
            <a:r>
              <a:rPr lang="en-US" altLang="ja-JP" sz="3600" dirty="0">
                <a:solidFill>
                  <a:schemeClr val="bg1"/>
                </a:solidFill>
              </a:rPr>
              <a:t>2.2</a:t>
            </a:r>
            <a:r>
              <a:rPr lang="ja-JP" altLang="en-US" sz="3600" dirty="0">
                <a:solidFill>
                  <a:schemeClr val="bg1"/>
                </a:solidFill>
              </a:rPr>
              <a:t>　ＩＡＴＦ１６９４９経緯</a:t>
            </a:r>
            <a:endParaRPr kumimoji="1" lang="ja-JP" altLang="en-US" sz="36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a:t>
            </a:fld>
            <a:endParaRPr kumimoji="1" lang="ja-JP" altLang="en-US"/>
          </a:p>
        </p:txBody>
      </p:sp>
      <p:graphicFrame>
        <p:nvGraphicFramePr>
          <p:cNvPr id="8" name="表 7">
            <a:extLst>
              <a:ext uri="{FF2B5EF4-FFF2-40B4-BE49-F238E27FC236}">
                <a16:creationId xmlns:a16="http://schemas.microsoft.com/office/drawing/2014/main" id="{2645DFBC-832F-450C-84A8-E451E2147AD8}"/>
              </a:ext>
            </a:extLst>
          </p:cNvPr>
          <p:cNvGraphicFramePr>
            <a:graphicFrameLocks noGrp="1"/>
          </p:cNvGraphicFramePr>
          <p:nvPr>
            <p:extLst>
              <p:ext uri="{D42A27DB-BD31-4B8C-83A1-F6EECF244321}">
                <p14:modId xmlns:p14="http://schemas.microsoft.com/office/powerpoint/2010/main" val="1365541349"/>
              </p:ext>
            </p:extLst>
          </p:nvPr>
        </p:nvGraphicFramePr>
        <p:xfrm>
          <a:off x="838200" y="1574800"/>
          <a:ext cx="10515600" cy="4663440"/>
        </p:xfrm>
        <a:graphic>
          <a:graphicData uri="http://schemas.openxmlformats.org/drawingml/2006/table">
            <a:tbl>
              <a:tblPr firstRow="1" bandRow="1">
                <a:tableStyleId>{5940675A-B579-460E-94D1-54222C63F5DA}</a:tableStyleId>
              </a:tblPr>
              <a:tblGrid>
                <a:gridCol w="1275080">
                  <a:extLst>
                    <a:ext uri="{9D8B030D-6E8A-4147-A177-3AD203B41FA5}">
                      <a16:colId xmlns:a16="http://schemas.microsoft.com/office/drawing/2014/main" val="2874943305"/>
                    </a:ext>
                  </a:extLst>
                </a:gridCol>
                <a:gridCol w="1656080">
                  <a:extLst>
                    <a:ext uri="{9D8B030D-6E8A-4147-A177-3AD203B41FA5}">
                      <a16:colId xmlns:a16="http://schemas.microsoft.com/office/drawing/2014/main" val="686059603"/>
                    </a:ext>
                  </a:extLst>
                </a:gridCol>
                <a:gridCol w="1859280">
                  <a:extLst>
                    <a:ext uri="{9D8B030D-6E8A-4147-A177-3AD203B41FA5}">
                      <a16:colId xmlns:a16="http://schemas.microsoft.com/office/drawing/2014/main" val="2555082739"/>
                    </a:ext>
                  </a:extLst>
                </a:gridCol>
                <a:gridCol w="1899920">
                  <a:extLst>
                    <a:ext uri="{9D8B030D-6E8A-4147-A177-3AD203B41FA5}">
                      <a16:colId xmlns:a16="http://schemas.microsoft.com/office/drawing/2014/main" val="3075898832"/>
                    </a:ext>
                  </a:extLst>
                </a:gridCol>
                <a:gridCol w="1950720">
                  <a:extLst>
                    <a:ext uri="{9D8B030D-6E8A-4147-A177-3AD203B41FA5}">
                      <a16:colId xmlns:a16="http://schemas.microsoft.com/office/drawing/2014/main" val="2839669867"/>
                    </a:ext>
                  </a:extLst>
                </a:gridCol>
                <a:gridCol w="1874520">
                  <a:extLst>
                    <a:ext uri="{9D8B030D-6E8A-4147-A177-3AD203B41FA5}">
                      <a16:colId xmlns:a16="http://schemas.microsoft.com/office/drawing/2014/main" val="4272112686"/>
                    </a:ext>
                  </a:extLst>
                </a:gridCol>
              </a:tblGrid>
              <a:tr h="393865">
                <a:tc>
                  <a:txBody>
                    <a:bodyPr/>
                    <a:lstStyle/>
                    <a:p>
                      <a:r>
                        <a:rPr kumimoji="1" lang="ja-JP" altLang="en-US" dirty="0">
                          <a:solidFill>
                            <a:schemeClr val="bg1"/>
                          </a:solidFill>
                        </a:rPr>
                        <a:t>各社要求</a:t>
                      </a:r>
                    </a:p>
                  </a:txBody>
                  <a:tcPr anchor="ctr" anchorCtr="1">
                    <a:solidFill>
                      <a:schemeClr val="tx2"/>
                    </a:solidFill>
                  </a:tcPr>
                </a:tc>
                <a:tc>
                  <a:txBody>
                    <a:bodyPr/>
                    <a:lstStyle/>
                    <a:p>
                      <a:r>
                        <a:rPr kumimoji="1" lang="ja-JP" altLang="en-US" dirty="0">
                          <a:solidFill>
                            <a:schemeClr val="bg1"/>
                          </a:solidFill>
                        </a:rPr>
                        <a:t>各業界要求</a:t>
                      </a:r>
                    </a:p>
                  </a:txBody>
                  <a:tcPr anchor="ctr" anchorCtr="1">
                    <a:solidFill>
                      <a:schemeClr val="tx2"/>
                    </a:solidFill>
                  </a:tcPr>
                </a:tc>
                <a:tc>
                  <a:txBody>
                    <a:bodyPr/>
                    <a:lstStyle/>
                    <a:p>
                      <a:r>
                        <a:rPr kumimoji="1" lang="en-US" altLang="ja-JP" dirty="0">
                          <a:solidFill>
                            <a:schemeClr val="bg1"/>
                          </a:solidFill>
                        </a:rPr>
                        <a:t>1999</a:t>
                      </a:r>
                      <a:r>
                        <a:rPr kumimoji="1" lang="ja-JP" altLang="en-US" dirty="0">
                          <a:solidFill>
                            <a:schemeClr val="bg1"/>
                          </a:solidFill>
                        </a:rPr>
                        <a:t>年</a:t>
                      </a:r>
                    </a:p>
                  </a:txBody>
                  <a:tcPr anchor="ctr" anchorCtr="1">
                    <a:solidFill>
                      <a:schemeClr val="tx2"/>
                    </a:solidFill>
                  </a:tcPr>
                </a:tc>
                <a:tc>
                  <a:txBody>
                    <a:bodyPr/>
                    <a:lstStyle/>
                    <a:p>
                      <a:r>
                        <a:rPr kumimoji="1" lang="en-US" altLang="ja-JP" dirty="0">
                          <a:solidFill>
                            <a:schemeClr val="bg1"/>
                          </a:solidFill>
                        </a:rPr>
                        <a:t>2002</a:t>
                      </a:r>
                      <a:r>
                        <a:rPr kumimoji="1" lang="ja-JP" altLang="en-US" dirty="0">
                          <a:solidFill>
                            <a:schemeClr val="bg1"/>
                          </a:solidFill>
                        </a:rPr>
                        <a:t>年</a:t>
                      </a:r>
                    </a:p>
                  </a:txBody>
                  <a:tcPr anchor="ctr" anchorCtr="1">
                    <a:solidFill>
                      <a:schemeClr val="tx2"/>
                    </a:solidFill>
                  </a:tcPr>
                </a:tc>
                <a:tc>
                  <a:txBody>
                    <a:bodyPr/>
                    <a:lstStyle/>
                    <a:p>
                      <a:r>
                        <a:rPr kumimoji="1" lang="en-US" altLang="ja-JP" dirty="0">
                          <a:solidFill>
                            <a:schemeClr val="bg1"/>
                          </a:solidFill>
                        </a:rPr>
                        <a:t>2009</a:t>
                      </a:r>
                      <a:r>
                        <a:rPr kumimoji="1" lang="ja-JP" altLang="en-US" dirty="0">
                          <a:solidFill>
                            <a:schemeClr val="bg1"/>
                          </a:solidFill>
                        </a:rPr>
                        <a:t>年</a:t>
                      </a:r>
                    </a:p>
                  </a:txBody>
                  <a:tcPr anchor="ctr" anchorCtr="1">
                    <a:solidFill>
                      <a:schemeClr val="tx2"/>
                    </a:solidFill>
                  </a:tcPr>
                </a:tc>
                <a:tc>
                  <a:txBody>
                    <a:bodyPr/>
                    <a:lstStyle/>
                    <a:p>
                      <a:r>
                        <a:rPr kumimoji="1" lang="en-US" altLang="ja-JP" dirty="0">
                          <a:solidFill>
                            <a:schemeClr val="bg1"/>
                          </a:solidFill>
                        </a:rPr>
                        <a:t>2016</a:t>
                      </a:r>
                      <a:r>
                        <a:rPr kumimoji="1" lang="ja-JP" altLang="en-US" dirty="0">
                          <a:solidFill>
                            <a:schemeClr val="bg1"/>
                          </a:solidFill>
                        </a:rPr>
                        <a:t>年</a:t>
                      </a:r>
                    </a:p>
                  </a:txBody>
                  <a:tcPr anchor="ctr" anchorCtr="1">
                    <a:solidFill>
                      <a:schemeClr val="tx2"/>
                    </a:solidFill>
                  </a:tcPr>
                </a:tc>
                <a:extLst>
                  <a:ext uri="{0D108BD9-81ED-4DB2-BD59-A6C34878D82A}">
                    <a16:rowId xmlns:a16="http://schemas.microsoft.com/office/drawing/2014/main" val="1736156714"/>
                  </a:ext>
                </a:extLst>
              </a:tr>
              <a:tr h="4269575">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2690516107"/>
                  </a:ext>
                </a:extLst>
              </a:tr>
            </a:tbl>
          </a:graphicData>
        </a:graphic>
      </p:graphicFrame>
      <p:grpSp>
        <p:nvGrpSpPr>
          <p:cNvPr id="25" name="グループ化 24">
            <a:extLst>
              <a:ext uri="{FF2B5EF4-FFF2-40B4-BE49-F238E27FC236}">
                <a16:creationId xmlns:a16="http://schemas.microsoft.com/office/drawing/2014/main" id="{A397989F-66DA-44F0-A69B-FAAA0F11A29C}"/>
              </a:ext>
            </a:extLst>
          </p:cNvPr>
          <p:cNvGrpSpPr/>
          <p:nvPr/>
        </p:nvGrpSpPr>
        <p:grpSpPr>
          <a:xfrm>
            <a:off x="975360" y="2092960"/>
            <a:ext cx="10236200" cy="3981028"/>
            <a:chOff x="975360" y="2316480"/>
            <a:chExt cx="10236200" cy="3757508"/>
          </a:xfrm>
        </p:grpSpPr>
        <p:sp>
          <p:nvSpPr>
            <p:cNvPr id="9" name="フローチャート: 複数書類 8">
              <a:extLst>
                <a:ext uri="{FF2B5EF4-FFF2-40B4-BE49-F238E27FC236}">
                  <a16:creationId xmlns:a16="http://schemas.microsoft.com/office/drawing/2014/main" id="{31A0AC31-66AE-466B-B2D3-8EA7796A2C2A}"/>
                </a:ext>
              </a:extLst>
            </p:cNvPr>
            <p:cNvSpPr/>
            <p:nvPr/>
          </p:nvSpPr>
          <p:spPr>
            <a:xfrm>
              <a:off x="975360" y="2316480"/>
              <a:ext cx="883920" cy="1016000"/>
            </a:xfrm>
            <a:prstGeom prst="flowChartMulti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フローチャート: 複数書類 9">
              <a:extLst>
                <a:ext uri="{FF2B5EF4-FFF2-40B4-BE49-F238E27FC236}">
                  <a16:creationId xmlns:a16="http://schemas.microsoft.com/office/drawing/2014/main" id="{C60B5BF9-C8DD-4FB1-AA23-16E4699FC556}"/>
                </a:ext>
              </a:extLst>
            </p:cNvPr>
            <p:cNvSpPr/>
            <p:nvPr/>
          </p:nvSpPr>
          <p:spPr>
            <a:xfrm>
              <a:off x="975360" y="3683000"/>
              <a:ext cx="883920" cy="1016000"/>
            </a:xfrm>
            <a:prstGeom prst="flowChartMulti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フローチャート: 複数書類 10">
              <a:extLst>
                <a:ext uri="{FF2B5EF4-FFF2-40B4-BE49-F238E27FC236}">
                  <a16:creationId xmlns:a16="http://schemas.microsoft.com/office/drawing/2014/main" id="{DBC7490D-66A5-44E4-B877-47BC041CE2E4}"/>
                </a:ext>
              </a:extLst>
            </p:cNvPr>
            <p:cNvSpPr/>
            <p:nvPr/>
          </p:nvSpPr>
          <p:spPr>
            <a:xfrm>
              <a:off x="975360" y="5049520"/>
              <a:ext cx="883920" cy="1016000"/>
            </a:xfrm>
            <a:prstGeom prst="flowChartMulti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フローチャート: 書類 11">
              <a:extLst>
                <a:ext uri="{FF2B5EF4-FFF2-40B4-BE49-F238E27FC236}">
                  <a16:creationId xmlns:a16="http://schemas.microsoft.com/office/drawing/2014/main" id="{F149FF94-B537-4006-8D5B-E96DA9BA1AB3}"/>
                </a:ext>
              </a:extLst>
            </p:cNvPr>
            <p:cNvSpPr/>
            <p:nvPr/>
          </p:nvSpPr>
          <p:spPr>
            <a:xfrm>
              <a:off x="2204720" y="2316480"/>
              <a:ext cx="1280160" cy="833120"/>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QS9000</a:t>
              </a:r>
            </a:p>
            <a:p>
              <a:pPr algn="ctr"/>
              <a:r>
                <a:rPr lang="ja-JP" altLang="en-US" dirty="0">
                  <a:solidFill>
                    <a:schemeClr val="tx1"/>
                  </a:solidFill>
                </a:rPr>
                <a:t>（米）</a:t>
              </a:r>
              <a:endParaRPr kumimoji="1" lang="ja-JP" altLang="en-US" dirty="0">
                <a:solidFill>
                  <a:schemeClr val="tx1"/>
                </a:solidFill>
              </a:endParaRPr>
            </a:p>
          </p:txBody>
        </p:sp>
        <p:sp>
          <p:nvSpPr>
            <p:cNvPr id="13" name="フローチャート: 書類 12">
              <a:extLst>
                <a:ext uri="{FF2B5EF4-FFF2-40B4-BE49-F238E27FC236}">
                  <a16:creationId xmlns:a16="http://schemas.microsoft.com/office/drawing/2014/main" id="{6C5262DE-C571-4A89-AEB0-7E7EFA9A48D6}"/>
                </a:ext>
              </a:extLst>
            </p:cNvPr>
            <p:cNvSpPr/>
            <p:nvPr/>
          </p:nvSpPr>
          <p:spPr>
            <a:xfrm>
              <a:off x="2204720" y="3291841"/>
              <a:ext cx="1280160" cy="833120"/>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VDA6.1</a:t>
              </a:r>
            </a:p>
            <a:p>
              <a:pPr algn="ctr"/>
              <a:r>
                <a:rPr lang="ja-JP" altLang="en-US" dirty="0">
                  <a:solidFill>
                    <a:schemeClr val="tx1"/>
                  </a:solidFill>
                </a:rPr>
                <a:t>（独）</a:t>
              </a:r>
              <a:endParaRPr kumimoji="1" lang="ja-JP" altLang="en-US" dirty="0">
                <a:solidFill>
                  <a:schemeClr val="tx1"/>
                </a:solidFill>
              </a:endParaRPr>
            </a:p>
          </p:txBody>
        </p:sp>
        <p:sp>
          <p:nvSpPr>
            <p:cNvPr id="14" name="フローチャート: 書類 13">
              <a:extLst>
                <a:ext uri="{FF2B5EF4-FFF2-40B4-BE49-F238E27FC236}">
                  <a16:creationId xmlns:a16="http://schemas.microsoft.com/office/drawing/2014/main" id="{18AA71F0-196C-4F62-AC61-EAE87A2FAC0D}"/>
                </a:ext>
              </a:extLst>
            </p:cNvPr>
            <p:cNvSpPr/>
            <p:nvPr/>
          </p:nvSpPr>
          <p:spPr>
            <a:xfrm>
              <a:off x="2204720" y="4267202"/>
              <a:ext cx="1280160" cy="833120"/>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EAQF</a:t>
              </a:r>
            </a:p>
            <a:p>
              <a:pPr algn="ctr"/>
              <a:r>
                <a:rPr lang="ja-JP" altLang="en-US" dirty="0">
                  <a:solidFill>
                    <a:schemeClr val="tx1"/>
                  </a:solidFill>
                </a:rPr>
                <a:t>（仏）</a:t>
              </a:r>
              <a:endParaRPr kumimoji="1" lang="ja-JP" altLang="en-US" dirty="0">
                <a:solidFill>
                  <a:schemeClr val="tx1"/>
                </a:solidFill>
              </a:endParaRPr>
            </a:p>
          </p:txBody>
        </p:sp>
        <p:sp>
          <p:nvSpPr>
            <p:cNvPr id="15" name="フローチャート: 書類 14">
              <a:extLst>
                <a:ext uri="{FF2B5EF4-FFF2-40B4-BE49-F238E27FC236}">
                  <a16:creationId xmlns:a16="http://schemas.microsoft.com/office/drawing/2014/main" id="{EE9BFD77-2B42-4466-9F35-7368C6E8472F}"/>
                </a:ext>
              </a:extLst>
            </p:cNvPr>
            <p:cNvSpPr/>
            <p:nvPr/>
          </p:nvSpPr>
          <p:spPr>
            <a:xfrm>
              <a:off x="2204720" y="5240868"/>
              <a:ext cx="1280160" cy="833120"/>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AVSQ</a:t>
              </a:r>
            </a:p>
            <a:p>
              <a:pPr algn="ctr"/>
              <a:r>
                <a:rPr lang="ja-JP" altLang="en-US" dirty="0">
                  <a:solidFill>
                    <a:schemeClr val="tx1"/>
                  </a:solidFill>
                </a:rPr>
                <a:t>（伊）</a:t>
              </a:r>
              <a:endParaRPr kumimoji="1" lang="ja-JP" altLang="en-US" dirty="0">
                <a:solidFill>
                  <a:schemeClr val="tx1"/>
                </a:solidFill>
              </a:endParaRPr>
            </a:p>
          </p:txBody>
        </p:sp>
        <p:sp>
          <p:nvSpPr>
            <p:cNvPr id="16" name="正方形/長方形 15">
              <a:extLst>
                <a:ext uri="{FF2B5EF4-FFF2-40B4-BE49-F238E27FC236}">
                  <a16:creationId xmlns:a16="http://schemas.microsoft.com/office/drawing/2014/main" id="{FFAAA0A3-1430-4AC8-AE3D-7A7980E3F8D7}"/>
                </a:ext>
              </a:extLst>
            </p:cNvPr>
            <p:cNvSpPr/>
            <p:nvPr/>
          </p:nvSpPr>
          <p:spPr>
            <a:xfrm>
              <a:off x="3840480" y="3698242"/>
              <a:ext cx="1562100" cy="112776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700" dirty="0">
                  <a:solidFill>
                    <a:schemeClr val="tx1"/>
                  </a:solidFill>
                </a:rPr>
                <a:t>ISO/TS16949:1999</a:t>
              </a:r>
              <a:endParaRPr kumimoji="1" lang="ja-JP" altLang="en-US" sz="1700" dirty="0">
                <a:solidFill>
                  <a:schemeClr val="tx1"/>
                </a:solidFill>
              </a:endParaRPr>
            </a:p>
          </p:txBody>
        </p:sp>
        <p:sp>
          <p:nvSpPr>
            <p:cNvPr id="17" name="正方形/長方形 16">
              <a:extLst>
                <a:ext uri="{FF2B5EF4-FFF2-40B4-BE49-F238E27FC236}">
                  <a16:creationId xmlns:a16="http://schemas.microsoft.com/office/drawing/2014/main" id="{00FA5A25-F917-430E-A6C3-3CE20D6BEA8E}"/>
                </a:ext>
              </a:extLst>
            </p:cNvPr>
            <p:cNvSpPr/>
            <p:nvPr/>
          </p:nvSpPr>
          <p:spPr>
            <a:xfrm>
              <a:off x="5712460" y="3708401"/>
              <a:ext cx="1562100" cy="112776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700" dirty="0">
                  <a:solidFill>
                    <a:schemeClr val="tx1"/>
                  </a:solidFill>
                </a:rPr>
                <a:t>ISO/TS16949:2002</a:t>
              </a:r>
              <a:endParaRPr kumimoji="1" lang="ja-JP" altLang="en-US" sz="1700" dirty="0">
                <a:solidFill>
                  <a:schemeClr val="tx1"/>
                </a:solidFill>
              </a:endParaRPr>
            </a:p>
          </p:txBody>
        </p:sp>
        <p:sp>
          <p:nvSpPr>
            <p:cNvPr id="18" name="正方形/長方形 17">
              <a:extLst>
                <a:ext uri="{FF2B5EF4-FFF2-40B4-BE49-F238E27FC236}">
                  <a16:creationId xmlns:a16="http://schemas.microsoft.com/office/drawing/2014/main" id="{73E18607-A68F-4162-B9DE-7882B7BD209B}"/>
                </a:ext>
              </a:extLst>
            </p:cNvPr>
            <p:cNvSpPr/>
            <p:nvPr/>
          </p:nvSpPr>
          <p:spPr>
            <a:xfrm>
              <a:off x="7584440" y="3682999"/>
              <a:ext cx="1562100" cy="112776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700" dirty="0">
                  <a:solidFill>
                    <a:schemeClr val="tx1"/>
                  </a:solidFill>
                </a:rPr>
                <a:t>ISO/TS16949:2009</a:t>
              </a:r>
              <a:endParaRPr kumimoji="1" lang="ja-JP" altLang="en-US" sz="1700" dirty="0">
                <a:solidFill>
                  <a:schemeClr val="tx1"/>
                </a:solidFill>
              </a:endParaRPr>
            </a:p>
          </p:txBody>
        </p:sp>
        <p:sp>
          <p:nvSpPr>
            <p:cNvPr id="19" name="正方形/長方形 18">
              <a:extLst>
                <a:ext uri="{FF2B5EF4-FFF2-40B4-BE49-F238E27FC236}">
                  <a16:creationId xmlns:a16="http://schemas.microsoft.com/office/drawing/2014/main" id="{141D7661-E6BD-4114-9A0E-7BEF96E37A8D}"/>
                </a:ext>
              </a:extLst>
            </p:cNvPr>
            <p:cNvSpPr/>
            <p:nvPr/>
          </p:nvSpPr>
          <p:spPr>
            <a:xfrm>
              <a:off x="9535160" y="3683000"/>
              <a:ext cx="1676400" cy="112776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900" b="1" dirty="0">
                  <a:solidFill>
                    <a:schemeClr val="tx1"/>
                  </a:solidFill>
                </a:rPr>
                <a:t>IATF16949</a:t>
              </a:r>
            </a:p>
            <a:p>
              <a:pPr algn="ctr"/>
              <a:r>
                <a:rPr kumimoji="1" lang="en-US" altLang="ja-JP" sz="1900" b="1" dirty="0">
                  <a:solidFill>
                    <a:schemeClr val="tx1"/>
                  </a:solidFill>
                </a:rPr>
                <a:t>:2016</a:t>
              </a:r>
              <a:endParaRPr kumimoji="1" lang="ja-JP" altLang="en-US" sz="1900" b="1" dirty="0">
                <a:solidFill>
                  <a:schemeClr val="tx1"/>
                </a:solidFill>
              </a:endParaRPr>
            </a:p>
          </p:txBody>
        </p:sp>
        <p:sp>
          <p:nvSpPr>
            <p:cNvPr id="20" name="矢印: 右 19">
              <a:extLst>
                <a:ext uri="{FF2B5EF4-FFF2-40B4-BE49-F238E27FC236}">
                  <a16:creationId xmlns:a16="http://schemas.microsoft.com/office/drawing/2014/main" id="{74FA56BC-EAC0-48C5-8B8D-E175796D09F2}"/>
                </a:ext>
              </a:extLst>
            </p:cNvPr>
            <p:cNvSpPr/>
            <p:nvPr/>
          </p:nvSpPr>
          <p:spPr>
            <a:xfrm>
              <a:off x="1907540" y="3635583"/>
              <a:ext cx="172720" cy="1127761"/>
            </a:xfrm>
            <a:prstGeom prst="rightArrow">
              <a:avLst>
                <a:gd name="adj1" fmla="val 7882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右 20">
              <a:extLst>
                <a:ext uri="{FF2B5EF4-FFF2-40B4-BE49-F238E27FC236}">
                  <a16:creationId xmlns:a16="http://schemas.microsoft.com/office/drawing/2014/main" id="{3BE6EF02-A4DB-4EE0-AA0D-1F68E263CD24}"/>
                </a:ext>
              </a:extLst>
            </p:cNvPr>
            <p:cNvSpPr/>
            <p:nvPr/>
          </p:nvSpPr>
          <p:spPr>
            <a:xfrm>
              <a:off x="3578860" y="3682998"/>
              <a:ext cx="172720" cy="1127761"/>
            </a:xfrm>
            <a:prstGeom prst="rightArrow">
              <a:avLst>
                <a:gd name="adj1" fmla="val 7882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右 21">
              <a:extLst>
                <a:ext uri="{FF2B5EF4-FFF2-40B4-BE49-F238E27FC236}">
                  <a16:creationId xmlns:a16="http://schemas.microsoft.com/office/drawing/2014/main" id="{4CE7C83C-76F6-476C-8459-B9E698B6332E}"/>
                </a:ext>
              </a:extLst>
            </p:cNvPr>
            <p:cNvSpPr/>
            <p:nvPr/>
          </p:nvSpPr>
          <p:spPr>
            <a:xfrm>
              <a:off x="5450840" y="3635584"/>
              <a:ext cx="172720" cy="1127761"/>
            </a:xfrm>
            <a:prstGeom prst="rightArrow">
              <a:avLst>
                <a:gd name="adj1" fmla="val 7882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右 22">
              <a:extLst>
                <a:ext uri="{FF2B5EF4-FFF2-40B4-BE49-F238E27FC236}">
                  <a16:creationId xmlns:a16="http://schemas.microsoft.com/office/drawing/2014/main" id="{9E9EFB8E-E69D-4103-A766-F2533F360990}"/>
                </a:ext>
              </a:extLst>
            </p:cNvPr>
            <p:cNvSpPr/>
            <p:nvPr/>
          </p:nvSpPr>
          <p:spPr>
            <a:xfrm>
              <a:off x="7335520" y="3631352"/>
              <a:ext cx="172720" cy="1127761"/>
            </a:xfrm>
            <a:prstGeom prst="rightArrow">
              <a:avLst>
                <a:gd name="adj1" fmla="val 7882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右 23">
              <a:extLst>
                <a:ext uri="{FF2B5EF4-FFF2-40B4-BE49-F238E27FC236}">
                  <a16:creationId xmlns:a16="http://schemas.microsoft.com/office/drawing/2014/main" id="{89F6F805-53C7-43BD-B08E-EBEB7DFCF005}"/>
                </a:ext>
              </a:extLst>
            </p:cNvPr>
            <p:cNvSpPr/>
            <p:nvPr/>
          </p:nvSpPr>
          <p:spPr>
            <a:xfrm>
              <a:off x="9273540" y="3635585"/>
              <a:ext cx="172720" cy="1127761"/>
            </a:xfrm>
            <a:prstGeom prst="rightArrow">
              <a:avLst>
                <a:gd name="adj1" fmla="val 7882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848522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894715"/>
          </a:xfrm>
          <a:solidFill>
            <a:schemeClr val="tx2"/>
          </a:solidFill>
        </p:spPr>
        <p:txBody>
          <a:bodyPr>
            <a:normAutofit fontScale="90000"/>
          </a:bodyPr>
          <a:lstStyle/>
          <a:p>
            <a:r>
              <a:rPr lang="ja-JP" altLang="en-US" sz="2700" dirty="0">
                <a:solidFill>
                  <a:schemeClr val="bg1"/>
                </a:solidFill>
              </a:rPr>
              <a:t>２．ＩＡＴＦ１６９４９とは</a:t>
            </a:r>
            <a:r>
              <a:rPr lang="en-US" altLang="ja-JP" sz="2700" dirty="0">
                <a:solidFill>
                  <a:schemeClr val="bg1"/>
                </a:solidFill>
              </a:rPr>
              <a:t/>
            </a:r>
            <a:br>
              <a:rPr lang="en-US" altLang="ja-JP" sz="2700" dirty="0">
                <a:solidFill>
                  <a:schemeClr val="bg1"/>
                </a:solidFill>
              </a:rPr>
            </a:br>
            <a:r>
              <a:rPr lang="ja-JP" altLang="en-US" sz="4000" dirty="0">
                <a:solidFill>
                  <a:schemeClr val="bg1"/>
                </a:solidFill>
              </a:rPr>
              <a:t>　</a:t>
            </a:r>
            <a:r>
              <a:rPr lang="en-US" altLang="ja-JP" sz="4000" dirty="0">
                <a:solidFill>
                  <a:schemeClr val="bg1"/>
                </a:solidFill>
              </a:rPr>
              <a:t>2.2</a:t>
            </a:r>
            <a:r>
              <a:rPr lang="ja-JP" altLang="en-US" sz="4000" dirty="0">
                <a:solidFill>
                  <a:schemeClr val="bg1"/>
                </a:solidFill>
              </a:rPr>
              <a:t>　ＩＡＴＦ１６９４９経緯</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a:t>
            </a:fld>
            <a:endParaRPr kumimoji="1" lang="ja-JP" altLang="en-US"/>
          </a:p>
        </p:txBody>
      </p:sp>
      <p:graphicFrame>
        <p:nvGraphicFramePr>
          <p:cNvPr id="3" name="表 2">
            <a:extLst>
              <a:ext uri="{FF2B5EF4-FFF2-40B4-BE49-F238E27FC236}">
                <a16:creationId xmlns:a16="http://schemas.microsoft.com/office/drawing/2014/main" id="{91C3DA16-EAB5-4448-B878-F1D59D27B9BF}"/>
              </a:ext>
            </a:extLst>
          </p:cNvPr>
          <p:cNvGraphicFramePr>
            <a:graphicFrameLocks noGrp="1"/>
          </p:cNvGraphicFramePr>
          <p:nvPr>
            <p:extLst>
              <p:ext uri="{D42A27DB-BD31-4B8C-83A1-F6EECF244321}">
                <p14:modId xmlns:p14="http://schemas.microsoft.com/office/powerpoint/2010/main" val="2985661742"/>
              </p:ext>
            </p:extLst>
          </p:nvPr>
        </p:nvGraphicFramePr>
        <p:xfrm>
          <a:off x="838200" y="1412240"/>
          <a:ext cx="10515600" cy="5008876"/>
        </p:xfrm>
        <a:graphic>
          <a:graphicData uri="http://schemas.openxmlformats.org/drawingml/2006/table">
            <a:tbl>
              <a:tblPr firstRow="1" bandRow="1">
                <a:tableStyleId>{5940675A-B579-460E-94D1-54222C63F5DA}</a:tableStyleId>
              </a:tblPr>
              <a:tblGrid>
                <a:gridCol w="1529080">
                  <a:extLst>
                    <a:ext uri="{9D8B030D-6E8A-4147-A177-3AD203B41FA5}">
                      <a16:colId xmlns:a16="http://schemas.microsoft.com/office/drawing/2014/main" val="2737731833"/>
                    </a:ext>
                  </a:extLst>
                </a:gridCol>
                <a:gridCol w="8986520">
                  <a:extLst>
                    <a:ext uri="{9D8B030D-6E8A-4147-A177-3AD203B41FA5}">
                      <a16:colId xmlns:a16="http://schemas.microsoft.com/office/drawing/2014/main" val="3654251711"/>
                    </a:ext>
                  </a:extLst>
                </a:gridCol>
              </a:tblGrid>
              <a:tr h="392853">
                <a:tc>
                  <a:txBody>
                    <a:bodyPr/>
                    <a:lstStyle/>
                    <a:p>
                      <a:pPr algn="ctr"/>
                      <a:r>
                        <a:rPr kumimoji="1" lang="ja-JP" altLang="en-US" dirty="0">
                          <a:solidFill>
                            <a:schemeClr val="bg1"/>
                          </a:solidFill>
                        </a:rPr>
                        <a:t>年</a:t>
                      </a:r>
                    </a:p>
                  </a:txBody>
                  <a:tcPr anchor="ctr">
                    <a:solidFill>
                      <a:schemeClr val="tx2"/>
                    </a:solidFill>
                  </a:tcPr>
                </a:tc>
                <a:tc>
                  <a:txBody>
                    <a:bodyPr/>
                    <a:lstStyle/>
                    <a:p>
                      <a:pPr algn="ctr"/>
                      <a:r>
                        <a:rPr kumimoji="1" lang="ja-JP" altLang="en-US" dirty="0">
                          <a:solidFill>
                            <a:schemeClr val="bg1"/>
                          </a:solidFill>
                        </a:rPr>
                        <a:t>イベント</a:t>
                      </a:r>
                    </a:p>
                  </a:txBody>
                  <a:tcPr anchor="ctr">
                    <a:solidFill>
                      <a:schemeClr val="tx2"/>
                    </a:solidFill>
                  </a:tcPr>
                </a:tc>
                <a:extLst>
                  <a:ext uri="{0D108BD9-81ED-4DB2-BD59-A6C34878D82A}">
                    <a16:rowId xmlns:a16="http://schemas.microsoft.com/office/drawing/2014/main" val="4142297824"/>
                  </a:ext>
                </a:extLst>
              </a:tr>
              <a:tr h="392853">
                <a:tc>
                  <a:txBody>
                    <a:bodyPr/>
                    <a:lstStyle/>
                    <a:p>
                      <a:pPr algn="ctr"/>
                      <a:r>
                        <a:rPr kumimoji="1" lang="en-US" altLang="ja-JP" dirty="0"/>
                        <a:t>1987</a:t>
                      </a:r>
                      <a:endParaRPr kumimoji="1" lang="ja-JP" altLang="en-US" dirty="0"/>
                    </a:p>
                  </a:txBody>
                  <a:tcPr anchor="ctr"/>
                </a:tc>
                <a:tc>
                  <a:txBody>
                    <a:bodyPr/>
                    <a:lstStyle/>
                    <a:p>
                      <a:r>
                        <a:rPr kumimoji="1" lang="en-US" altLang="ja-JP" dirty="0"/>
                        <a:t>ISO9001:1987</a:t>
                      </a:r>
                      <a:r>
                        <a:rPr kumimoji="1" lang="ja-JP" altLang="en-US" dirty="0"/>
                        <a:t>発行。</a:t>
                      </a:r>
                      <a:r>
                        <a:rPr kumimoji="1" lang="en-US" altLang="ja-JP" dirty="0"/>
                        <a:t>VDA6.1</a:t>
                      </a:r>
                      <a:r>
                        <a:rPr kumimoji="1" lang="ja-JP" altLang="en-US" dirty="0"/>
                        <a:t>（独）発行。</a:t>
                      </a:r>
                    </a:p>
                  </a:txBody>
                  <a:tcPr anchor="ctr"/>
                </a:tc>
                <a:extLst>
                  <a:ext uri="{0D108BD9-81ED-4DB2-BD59-A6C34878D82A}">
                    <a16:rowId xmlns:a16="http://schemas.microsoft.com/office/drawing/2014/main" val="3820639212"/>
                  </a:ext>
                </a:extLst>
              </a:tr>
              <a:tr h="392853">
                <a:tc>
                  <a:txBody>
                    <a:bodyPr/>
                    <a:lstStyle/>
                    <a:p>
                      <a:pPr algn="ctr"/>
                      <a:r>
                        <a:rPr kumimoji="1" lang="en-US" altLang="ja-JP" dirty="0"/>
                        <a:t>1994</a:t>
                      </a:r>
                      <a:endParaRPr kumimoji="1" lang="ja-JP" altLang="en-US" dirty="0"/>
                    </a:p>
                  </a:txBody>
                  <a:tcPr anchor="ctr"/>
                </a:tc>
                <a:tc>
                  <a:txBody>
                    <a:bodyPr/>
                    <a:lstStyle/>
                    <a:p>
                      <a:r>
                        <a:rPr kumimoji="1" lang="en-US" altLang="ja-JP" dirty="0"/>
                        <a:t>ISO9001:1994</a:t>
                      </a:r>
                      <a:r>
                        <a:rPr kumimoji="1" lang="ja-JP" altLang="en-US" dirty="0"/>
                        <a:t>発行。</a:t>
                      </a:r>
                      <a:r>
                        <a:rPr kumimoji="1" lang="en-US" altLang="ja-JP" dirty="0"/>
                        <a:t>QS9000</a:t>
                      </a:r>
                      <a:r>
                        <a:rPr kumimoji="1" lang="ja-JP" altLang="en-US" dirty="0"/>
                        <a:t>（米）、</a:t>
                      </a:r>
                      <a:r>
                        <a:rPr kumimoji="1" lang="en-US" altLang="ja-JP" dirty="0"/>
                        <a:t>AVSQ</a:t>
                      </a:r>
                      <a:r>
                        <a:rPr kumimoji="1" lang="ja-JP" altLang="en-US" dirty="0"/>
                        <a:t>（伊）、</a:t>
                      </a:r>
                      <a:r>
                        <a:rPr kumimoji="1" lang="en-US" altLang="ja-JP" dirty="0"/>
                        <a:t>EAQF</a:t>
                      </a:r>
                      <a:r>
                        <a:rPr kumimoji="1" lang="ja-JP" altLang="en-US" dirty="0"/>
                        <a:t>（仏）発行。</a:t>
                      </a:r>
                    </a:p>
                  </a:txBody>
                  <a:tcPr anchor="ctr"/>
                </a:tc>
                <a:extLst>
                  <a:ext uri="{0D108BD9-81ED-4DB2-BD59-A6C34878D82A}">
                    <a16:rowId xmlns:a16="http://schemas.microsoft.com/office/drawing/2014/main" val="3741029361"/>
                  </a:ext>
                </a:extLst>
              </a:tr>
              <a:tr h="392853">
                <a:tc>
                  <a:txBody>
                    <a:bodyPr/>
                    <a:lstStyle/>
                    <a:p>
                      <a:pPr algn="ctr"/>
                      <a:r>
                        <a:rPr kumimoji="1" lang="en-US" altLang="ja-JP" dirty="0"/>
                        <a:t>1996</a:t>
                      </a:r>
                      <a:endParaRPr kumimoji="1" lang="ja-JP" altLang="en-US" dirty="0"/>
                    </a:p>
                  </a:txBody>
                  <a:tcPr anchor="ctr"/>
                </a:tc>
                <a:tc>
                  <a:txBody>
                    <a:bodyPr/>
                    <a:lstStyle/>
                    <a:p>
                      <a:r>
                        <a:rPr kumimoji="1" lang="en-US" altLang="ja-JP" dirty="0"/>
                        <a:t>ISO/TC176</a:t>
                      </a:r>
                      <a:r>
                        <a:rPr kumimoji="1" lang="ja-JP" altLang="en-US" dirty="0"/>
                        <a:t>テルアビブ総会。各国規格の国際規格化を</a:t>
                      </a:r>
                      <a:r>
                        <a:rPr kumimoji="1" lang="en-US" altLang="ja-JP" dirty="0"/>
                        <a:t>IATF</a:t>
                      </a:r>
                      <a:r>
                        <a:rPr kumimoji="1" lang="ja-JP" altLang="en-US" dirty="0"/>
                        <a:t>が要求。</a:t>
                      </a:r>
                    </a:p>
                  </a:txBody>
                  <a:tcPr anchor="ctr"/>
                </a:tc>
                <a:extLst>
                  <a:ext uri="{0D108BD9-81ED-4DB2-BD59-A6C34878D82A}">
                    <a16:rowId xmlns:a16="http://schemas.microsoft.com/office/drawing/2014/main" val="3161115609"/>
                  </a:ext>
                </a:extLst>
              </a:tr>
              <a:tr h="687493">
                <a:tc>
                  <a:txBody>
                    <a:bodyPr/>
                    <a:lstStyle/>
                    <a:p>
                      <a:pPr algn="ctr"/>
                      <a:r>
                        <a:rPr kumimoji="1" lang="en-US" altLang="ja-JP" dirty="0"/>
                        <a:t>1997</a:t>
                      </a:r>
                      <a:endParaRPr kumimoji="1" lang="ja-JP" altLang="en-US" dirty="0"/>
                    </a:p>
                  </a:txBody>
                  <a:tcPr anchor="ctr"/>
                </a:tc>
                <a:tc>
                  <a:txBody>
                    <a:bodyPr/>
                    <a:lstStyle/>
                    <a:p>
                      <a:r>
                        <a:rPr kumimoji="1" lang="en-US" altLang="ja-JP" dirty="0"/>
                        <a:t>ISO/TC176</a:t>
                      </a:r>
                      <a:r>
                        <a:rPr kumimoji="1" lang="ja-JP" altLang="en-US" dirty="0"/>
                        <a:t>リオデジャネイロ総会。</a:t>
                      </a:r>
                      <a:r>
                        <a:rPr kumimoji="1" lang="en-US" altLang="ja-JP" dirty="0"/>
                        <a:t>Automotive</a:t>
                      </a:r>
                      <a:r>
                        <a:rPr kumimoji="1" lang="ja-JP" altLang="en-US" dirty="0"/>
                        <a:t>　</a:t>
                      </a:r>
                      <a:r>
                        <a:rPr kumimoji="1" lang="en-US" altLang="ja-JP" dirty="0"/>
                        <a:t>Pilot</a:t>
                      </a:r>
                      <a:r>
                        <a:rPr kumimoji="1" lang="ja-JP" altLang="en-US" dirty="0"/>
                        <a:t>　</a:t>
                      </a:r>
                      <a:r>
                        <a:rPr kumimoji="1" lang="en-US" altLang="ja-JP" dirty="0"/>
                        <a:t>Project</a:t>
                      </a:r>
                      <a:r>
                        <a:rPr kumimoji="1" lang="ja-JP" altLang="en-US" dirty="0"/>
                        <a:t>は発足し、国際規格化への活動開始。</a:t>
                      </a:r>
                    </a:p>
                  </a:txBody>
                  <a:tcPr anchor="ctr"/>
                </a:tc>
                <a:extLst>
                  <a:ext uri="{0D108BD9-81ED-4DB2-BD59-A6C34878D82A}">
                    <a16:rowId xmlns:a16="http://schemas.microsoft.com/office/drawing/2014/main" val="2352280189"/>
                  </a:ext>
                </a:extLst>
              </a:tr>
              <a:tr h="392853">
                <a:tc>
                  <a:txBody>
                    <a:bodyPr/>
                    <a:lstStyle/>
                    <a:p>
                      <a:pPr algn="ctr"/>
                      <a:r>
                        <a:rPr kumimoji="1" lang="en-US" altLang="ja-JP" dirty="0"/>
                        <a:t>1999</a:t>
                      </a:r>
                      <a:endParaRPr kumimoji="1" lang="ja-JP" altLang="en-US" dirty="0"/>
                    </a:p>
                  </a:txBody>
                  <a:tcPr anchor="ctr"/>
                </a:tc>
                <a:tc>
                  <a:txBody>
                    <a:bodyPr/>
                    <a:lstStyle/>
                    <a:p>
                      <a:r>
                        <a:rPr kumimoji="1" lang="en-US" altLang="ja-JP" b="1" dirty="0"/>
                        <a:t>ISO/TS16949:1999</a:t>
                      </a:r>
                      <a:r>
                        <a:rPr kumimoji="1" lang="ja-JP" altLang="en-US" b="1" dirty="0"/>
                        <a:t>発行。</a:t>
                      </a:r>
                    </a:p>
                  </a:txBody>
                  <a:tcPr anchor="ctr"/>
                </a:tc>
                <a:extLst>
                  <a:ext uri="{0D108BD9-81ED-4DB2-BD59-A6C34878D82A}">
                    <a16:rowId xmlns:a16="http://schemas.microsoft.com/office/drawing/2014/main" val="635204274"/>
                  </a:ext>
                </a:extLst>
              </a:tr>
              <a:tr h="392853">
                <a:tc>
                  <a:txBody>
                    <a:bodyPr/>
                    <a:lstStyle/>
                    <a:p>
                      <a:pPr algn="ctr"/>
                      <a:r>
                        <a:rPr kumimoji="1" lang="en-US" altLang="ja-JP" dirty="0"/>
                        <a:t>2000</a:t>
                      </a:r>
                      <a:endParaRPr kumimoji="1" lang="ja-JP" altLang="en-US" dirty="0"/>
                    </a:p>
                  </a:txBody>
                  <a:tcPr anchor="ctr"/>
                </a:tc>
                <a:tc>
                  <a:txBody>
                    <a:bodyPr/>
                    <a:lstStyle/>
                    <a:p>
                      <a:r>
                        <a:rPr kumimoji="1" lang="en-US" altLang="ja-JP" dirty="0"/>
                        <a:t>ISO9001:2000</a:t>
                      </a:r>
                      <a:r>
                        <a:rPr kumimoji="1" lang="ja-JP" altLang="en-US" dirty="0"/>
                        <a:t>発行</a:t>
                      </a:r>
                    </a:p>
                  </a:txBody>
                  <a:tcPr anchor="ctr"/>
                </a:tc>
                <a:extLst>
                  <a:ext uri="{0D108BD9-81ED-4DB2-BD59-A6C34878D82A}">
                    <a16:rowId xmlns:a16="http://schemas.microsoft.com/office/drawing/2014/main" val="4033985311"/>
                  </a:ext>
                </a:extLst>
              </a:tr>
              <a:tr h="392853">
                <a:tc>
                  <a:txBody>
                    <a:bodyPr/>
                    <a:lstStyle/>
                    <a:p>
                      <a:pPr algn="ctr"/>
                      <a:r>
                        <a:rPr kumimoji="1" lang="en-US" altLang="ja-JP" dirty="0"/>
                        <a:t>2002</a:t>
                      </a:r>
                      <a:endParaRPr kumimoji="1" lang="ja-JP" altLang="en-US" dirty="0"/>
                    </a:p>
                  </a:txBody>
                  <a:tcPr anchor="ctr"/>
                </a:tc>
                <a:tc>
                  <a:txBody>
                    <a:bodyPr/>
                    <a:lstStyle/>
                    <a:p>
                      <a:r>
                        <a:rPr kumimoji="1" lang="en-US" altLang="ja-JP" b="1" dirty="0"/>
                        <a:t>ISO/TS16949:2002</a:t>
                      </a:r>
                      <a:r>
                        <a:rPr kumimoji="1" lang="ja-JP" altLang="en-US" b="1" dirty="0"/>
                        <a:t>発行</a:t>
                      </a:r>
                      <a:r>
                        <a:rPr kumimoji="1" lang="ja-JP" altLang="en-US" dirty="0"/>
                        <a:t>。</a:t>
                      </a:r>
                    </a:p>
                  </a:txBody>
                  <a:tcPr anchor="ctr"/>
                </a:tc>
                <a:extLst>
                  <a:ext uri="{0D108BD9-81ED-4DB2-BD59-A6C34878D82A}">
                    <a16:rowId xmlns:a16="http://schemas.microsoft.com/office/drawing/2014/main" val="2421974090"/>
                  </a:ext>
                </a:extLst>
              </a:tr>
              <a:tr h="392853">
                <a:tc>
                  <a:txBody>
                    <a:bodyPr/>
                    <a:lstStyle/>
                    <a:p>
                      <a:pPr algn="ctr"/>
                      <a:r>
                        <a:rPr kumimoji="1" lang="en-US" altLang="ja-JP" dirty="0"/>
                        <a:t>2008</a:t>
                      </a:r>
                      <a:endParaRPr kumimoji="1" lang="ja-JP" altLang="en-US" dirty="0"/>
                    </a:p>
                  </a:txBody>
                  <a:tcPr anchor="ctr"/>
                </a:tc>
                <a:tc>
                  <a:txBody>
                    <a:bodyPr/>
                    <a:lstStyle/>
                    <a:p>
                      <a:r>
                        <a:rPr kumimoji="1" lang="en-US" altLang="ja-JP" dirty="0"/>
                        <a:t>ISO9001:2008</a:t>
                      </a:r>
                      <a:r>
                        <a:rPr kumimoji="1" lang="ja-JP" altLang="en-US" dirty="0"/>
                        <a:t>発行。</a:t>
                      </a:r>
                    </a:p>
                  </a:txBody>
                  <a:tcPr anchor="ctr"/>
                </a:tc>
                <a:extLst>
                  <a:ext uri="{0D108BD9-81ED-4DB2-BD59-A6C34878D82A}">
                    <a16:rowId xmlns:a16="http://schemas.microsoft.com/office/drawing/2014/main" val="3161984266"/>
                  </a:ext>
                </a:extLst>
              </a:tr>
              <a:tr h="392853">
                <a:tc>
                  <a:txBody>
                    <a:bodyPr/>
                    <a:lstStyle/>
                    <a:p>
                      <a:pPr algn="ctr"/>
                      <a:r>
                        <a:rPr kumimoji="1" lang="en-US" altLang="ja-JP" dirty="0"/>
                        <a:t>2009</a:t>
                      </a:r>
                      <a:endParaRPr kumimoji="1" lang="ja-JP" altLang="en-US" dirty="0"/>
                    </a:p>
                  </a:txBody>
                  <a:tcPr anchor="ctr"/>
                </a:tc>
                <a:tc>
                  <a:txBody>
                    <a:bodyPr/>
                    <a:lstStyle/>
                    <a:p>
                      <a:r>
                        <a:rPr kumimoji="1" lang="en-US" altLang="ja-JP" b="1" dirty="0"/>
                        <a:t>ISO/TS16949:2009</a:t>
                      </a:r>
                      <a:r>
                        <a:rPr kumimoji="1" lang="ja-JP" altLang="en-US" b="1" dirty="0"/>
                        <a:t>発行。</a:t>
                      </a:r>
                    </a:p>
                  </a:txBody>
                  <a:tcPr anchor="ctr"/>
                </a:tc>
                <a:extLst>
                  <a:ext uri="{0D108BD9-81ED-4DB2-BD59-A6C34878D82A}">
                    <a16:rowId xmlns:a16="http://schemas.microsoft.com/office/drawing/2014/main" val="654809339"/>
                  </a:ext>
                </a:extLst>
              </a:tr>
              <a:tr h="392853">
                <a:tc>
                  <a:txBody>
                    <a:bodyPr/>
                    <a:lstStyle/>
                    <a:p>
                      <a:pPr algn="ctr"/>
                      <a:r>
                        <a:rPr kumimoji="1" lang="en-US" altLang="ja-JP" dirty="0"/>
                        <a:t>2015</a:t>
                      </a:r>
                      <a:endParaRPr kumimoji="1" lang="ja-JP" altLang="en-US" dirty="0"/>
                    </a:p>
                  </a:txBody>
                  <a:tcPr anchor="ctr"/>
                </a:tc>
                <a:tc>
                  <a:txBody>
                    <a:bodyPr/>
                    <a:lstStyle/>
                    <a:p>
                      <a:r>
                        <a:rPr kumimoji="1" lang="en-US" altLang="ja-JP" dirty="0"/>
                        <a:t>ISO9001:2015</a:t>
                      </a:r>
                      <a:r>
                        <a:rPr kumimoji="1" lang="ja-JP" altLang="en-US" dirty="0"/>
                        <a:t>発行。</a:t>
                      </a:r>
                    </a:p>
                  </a:txBody>
                  <a:tcPr anchor="ctr"/>
                </a:tc>
                <a:extLst>
                  <a:ext uri="{0D108BD9-81ED-4DB2-BD59-A6C34878D82A}">
                    <a16:rowId xmlns:a16="http://schemas.microsoft.com/office/drawing/2014/main" val="165151700"/>
                  </a:ext>
                </a:extLst>
              </a:tr>
              <a:tr h="392853">
                <a:tc>
                  <a:txBody>
                    <a:bodyPr/>
                    <a:lstStyle/>
                    <a:p>
                      <a:pPr algn="ctr"/>
                      <a:r>
                        <a:rPr kumimoji="1" lang="en-US" altLang="ja-JP" dirty="0"/>
                        <a:t>2016</a:t>
                      </a:r>
                      <a:endParaRPr kumimoji="1" lang="ja-JP" altLang="en-US" dirty="0"/>
                    </a:p>
                  </a:txBody>
                  <a:tcPr anchor="ctr"/>
                </a:tc>
                <a:tc>
                  <a:txBody>
                    <a:bodyPr/>
                    <a:lstStyle/>
                    <a:p>
                      <a:r>
                        <a:rPr kumimoji="1" lang="en-US" altLang="ja-JP" b="1" dirty="0">
                          <a:solidFill>
                            <a:srgbClr val="FF0000"/>
                          </a:solidFill>
                          <a:effectLst>
                            <a:outerShdw blurRad="38100" dist="38100" dir="2700000" algn="tl">
                              <a:srgbClr val="000000">
                                <a:alpha val="43137"/>
                              </a:srgbClr>
                            </a:outerShdw>
                          </a:effectLst>
                        </a:rPr>
                        <a:t>IATF16949:2016</a:t>
                      </a:r>
                      <a:r>
                        <a:rPr kumimoji="1" lang="ja-JP" altLang="en-US" b="1" dirty="0">
                          <a:solidFill>
                            <a:srgbClr val="FF0000"/>
                          </a:solidFill>
                          <a:effectLst>
                            <a:outerShdw blurRad="38100" dist="38100" dir="2700000" algn="tl">
                              <a:srgbClr val="000000">
                                <a:alpha val="43137"/>
                              </a:srgbClr>
                            </a:outerShdw>
                          </a:effectLst>
                        </a:rPr>
                        <a:t>発行。</a:t>
                      </a:r>
                    </a:p>
                  </a:txBody>
                  <a:tcPr anchor="ctr"/>
                </a:tc>
                <a:extLst>
                  <a:ext uri="{0D108BD9-81ED-4DB2-BD59-A6C34878D82A}">
                    <a16:rowId xmlns:a16="http://schemas.microsoft.com/office/drawing/2014/main" val="1583319634"/>
                  </a:ext>
                </a:extLst>
              </a:tr>
            </a:tbl>
          </a:graphicData>
        </a:graphic>
      </p:graphicFrame>
    </p:spTree>
    <p:extLst>
      <p:ext uri="{BB962C8B-B14F-4D97-AF65-F5344CB8AC3E}">
        <p14:creationId xmlns:p14="http://schemas.microsoft.com/office/powerpoint/2010/main" val="2509260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6"/>
            <a:ext cx="10515600" cy="864870"/>
          </a:xfrm>
          <a:solidFill>
            <a:schemeClr val="tx2"/>
          </a:solidFill>
        </p:spPr>
        <p:txBody>
          <a:bodyPr>
            <a:normAutofit fontScale="90000"/>
          </a:bodyPr>
          <a:lstStyle/>
          <a:p>
            <a:r>
              <a:rPr lang="ja-JP" altLang="en-US" sz="2700" dirty="0">
                <a:solidFill>
                  <a:schemeClr val="bg1"/>
                </a:solidFill>
              </a:rPr>
              <a:t>２．ＩＡＴＦ１６９４９とは</a:t>
            </a:r>
            <a:r>
              <a:rPr lang="en-US" altLang="ja-JP" sz="2700" dirty="0">
                <a:solidFill>
                  <a:schemeClr val="bg1"/>
                </a:solidFill>
              </a:rPr>
              <a:t/>
            </a:r>
            <a:br>
              <a:rPr lang="en-US" altLang="ja-JP" sz="2700" dirty="0">
                <a:solidFill>
                  <a:schemeClr val="bg1"/>
                </a:solidFill>
              </a:rPr>
            </a:br>
            <a:r>
              <a:rPr lang="ja-JP" altLang="en-US" sz="4000" dirty="0">
                <a:solidFill>
                  <a:schemeClr val="bg1"/>
                </a:solidFill>
              </a:rPr>
              <a:t>　</a:t>
            </a:r>
            <a:r>
              <a:rPr lang="en-US" altLang="ja-JP" sz="4000" dirty="0">
                <a:solidFill>
                  <a:schemeClr val="bg1"/>
                </a:solidFill>
              </a:rPr>
              <a:t>2.3</a:t>
            </a:r>
            <a:r>
              <a:rPr lang="ja-JP" altLang="en-US" sz="4000" dirty="0">
                <a:solidFill>
                  <a:schemeClr val="bg1"/>
                </a:solidFill>
              </a:rPr>
              <a:t>　</a:t>
            </a:r>
            <a:r>
              <a:rPr lang="en-US" altLang="ja-JP" sz="4000" dirty="0">
                <a:solidFill>
                  <a:schemeClr val="bg1"/>
                </a:solidFill>
              </a:rPr>
              <a:t>ISO/TS16949</a:t>
            </a:r>
            <a:r>
              <a:rPr lang="ja-JP" altLang="en-US" sz="4000" dirty="0">
                <a:solidFill>
                  <a:schemeClr val="bg1"/>
                </a:solidFill>
              </a:rPr>
              <a:t>認証件数</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a:t>
            </a:fld>
            <a:endParaRPr kumimoji="1" lang="ja-JP" altLang="en-US"/>
          </a:p>
        </p:txBody>
      </p:sp>
      <p:graphicFrame>
        <p:nvGraphicFramePr>
          <p:cNvPr id="9" name="グラフ 8">
            <a:extLst>
              <a:ext uri="{FF2B5EF4-FFF2-40B4-BE49-F238E27FC236}">
                <a16:creationId xmlns:a16="http://schemas.microsoft.com/office/drawing/2014/main" id="{3E48D969-2875-445E-968F-96E29A3A4B45}"/>
              </a:ext>
            </a:extLst>
          </p:cNvPr>
          <p:cNvGraphicFramePr/>
          <p:nvPr>
            <p:extLst>
              <p:ext uri="{D42A27DB-BD31-4B8C-83A1-F6EECF244321}">
                <p14:modId xmlns:p14="http://schemas.microsoft.com/office/powerpoint/2010/main" val="3642639756"/>
              </p:ext>
            </p:extLst>
          </p:nvPr>
        </p:nvGraphicFramePr>
        <p:xfrm>
          <a:off x="838200" y="1330960"/>
          <a:ext cx="8614272" cy="502539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表 2">
            <a:extLst>
              <a:ext uri="{FF2B5EF4-FFF2-40B4-BE49-F238E27FC236}">
                <a16:creationId xmlns:a16="http://schemas.microsoft.com/office/drawing/2014/main" id="{2604AEF7-3FD2-4B1E-9066-3FFF02A5F389}"/>
              </a:ext>
            </a:extLst>
          </p:cNvPr>
          <p:cNvGraphicFramePr>
            <a:graphicFrameLocks noGrp="1"/>
          </p:cNvGraphicFramePr>
          <p:nvPr>
            <p:extLst>
              <p:ext uri="{D42A27DB-BD31-4B8C-83A1-F6EECF244321}">
                <p14:modId xmlns:p14="http://schemas.microsoft.com/office/powerpoint/2010/main" val="2538663362"/>
              </p:ext>
            </p:extLst>
          </p:nvPr>
        </p:nvGraphicFramePr>
        <p:xfrm>
          <a:off x="9452472" y="1330960"/>
          <a:ext cx="1901328" cy="5025394"/>
        </p:xfrm>
        <a:graphic>
          <a:graphicData uri="http://schemas.openxmlformats.org/drawingml/2006/table">
            <a:tbl>
              <a:tblPr firstRow="1" bandRow="1">
                <a:tableStyleId>{5940675A-B579-460E-94D1-54222C63F5DA}</a:tableStyleId>
              </a:tblPr>
              <a:tblGrid>
                <a:gridCol w="1013552">
                  <a:extLst>
                    <a:ext uri="{9D8B030D-6E8A-4147-A177-3AD203B41FA5}">
                      <a16:colId xmlns:a16="http://schemas.microsoft.com/office/drawing/2014/main" val="1609279397"/>
                    </a:ext>
                  </a:extLst>
                </a:gridCol>
                <a:gridCol w="887776">
                  <a:extLst>
                    <a:ext uri="{9D8B030D-6E8A-4147-A177-3AD203B41FA5}">
                      <a16:colId xmlns:a16="http://schemas.microsoft.com/office/drawing/2014/main" val="1685155397"/>
                    </a:ext>
                  </a:extLst>
                </a:gridCol>
              </a:tblGrid>
              <a:tr h="456854">
                <a:tc>
                  <a:txBody>
                    <a:bodyPr/>
                    <a:lstStyle/>
                    <a:p>
                      <a:pPr algn="ctr"/>
                      <a:r>
                        <a:rPr kumimoji="1" lang="ja-JP" altLang="en-US" sz="1800" b="1" dirty="0"/>
                        <a:t>国名</a:t>
                      </a:r>
                    </a:p>
                  </a:txBody>
                  <a:tcPr anchor="ctr">
                    <a:solidFill>
                      <a:schemeClr val="bg1">
                        <a:lumMod val="95000"/>
                      </a:schemeClr>
                    </a:solidFill>
                  </a:tcPr>
                </a:tc>
                <a:tc>
                  <a:txBody>
                    <a:bodyPr/>
                    <a:lstStyle/>
                    <a:p>
                      <a:pPr algn="ctr"/>
                      <a:r>
                        <a:rPr kumimoji="1" lang="ja-JP" altLang="en-US" sz="1800" b="1" dirty="0"/>
                        <a:t>件数</a:t>
                      </a:r>
                    </a:p>
                  </a:txBody>
                  <a:tcPr anchor="ctr">
                    <a:solidFill>
                      <a:schemeClr val="bg1">
                        <a:lumMod val="95000"/>
                      </a:schemeClr>
                    </a:solidFill>
                  </a:tcPr>
                </a:tc>
                <a:extLst>
                  <a:ext uri="{0D108BD9-81ED-4DB2-BD59-A6C34878D82A}">
                    <a16:rowId xmlns:a16="http://schemas.microsoft.com/office/drawing/2014/main" val="4238849724"/>
                  </a:ext>
                </a:extLst>
              </a:tr>
              <a:tr h="456854">
                <a:tc>
                  <a:txBody>
                    <a:bodyPr/>
                    <a:lstStyle/>
                    <a:p>
                      <a:r>
                        <a:rPr kumimoji="1" lang="ja-JP" altLang="en-US" sz="1400" dirty="0"/>
                        <a:t>中国</a:t>
                      </a:r>
                    </a:p>
                  </a:txBody>
                  <a:tcPr anchor="ctr">
                    <a:solidFill>
                      <a:schemeClr val="bg1">
                        <a:lumMod val="95000"/>
                      </a:schemeClr>
                    </a:solidFill>
                  </a:tcPr>
                </a:tc>
                <a:tc>
                  <a:txBody>
                    <a:bodyPr/>
                    <a:lstStyle/>
                    <a:p>
                      <a:pPr algn="r"/>
                      <a:r>
                        <a:rPr kumimoji="1" lang="en-US" altLang="ja-JP" dirty="0"/>
                        <a:t>28,830</a:t>
                      </a:r>
                      <a:endParaRPr kumimoji="1" lang="ja-JP" altLang="en-US" dirty="0"/>
                    </a:p>
                  </a:txBody>
                  <a:tcPr anchor="ctr">
                    <a:solidFill>
                      <a:schemeClr val="bg1">
                        <a:lumMod val="95000"/>
                      </a:schemeClr>
                    </a:solidFill>
                  </a:tcPr>
                </a:tc>
                <a:extLst>
                  <a:ext uri="{0D108BD9-81ED-4DB2-BD59-A6C34878D82A}">
                    <a16:rowId xmlns:a16="http://schemas.microsoft.com/office/drawing/2014/main" val="3397358757"/>
                  </a:ext>
                </a:extLst>
              </a:tr>
              <a:tr h="456854">
                <a:tc>
                  <a:txBody>
                    <a:bodyPr/>
                    <a:lstStyle/>
                    <a:p>
                      <a:r>
                        <a:rPr kumimoji="1" lang="ja-JP" altLang="en-US" sz="1400" dirty="0"/>
                        <a:t>韓国</a:t>
                      </a:r>
                    </a:p>
                  </a:txBody>
                  <a:tcPr anchor="ctr">
                    <a:solidFill>
                      <a:schemeClr val="bg1">
                        <a:lumMod val="95000"/>
                      </a:schemeClr>
                    </a:solidFill>
                  </a:tcPr>
                </a:tc>
                <a:tc>
                  <a:txBody>
                    <a:bodyPr/>
                    <a:lstStyle/>
                    <a:p>
                      <a:pPr algn="r"/>
                      <a:r>
                        <a:rPr kumimoji="1" lang="en-US" altLang="ja-JP" dirty="0"/>
                        <a:t>5,352</a:t>
                      </a:r>
                      <a:endParaRPr kumimoji="1" lang="ja-JP" altLang="en-US" dirty="0"/>
                    </a:p>
                  </a:txBody>
                  <a:tcPr anchor="ctr">
                    <a:solidFill>
                      <a:schemeClr val="bg1">
                        <a:lumMod val="95000"/>
                      </a:schemeClr>
                    </a:solidFill>
                  </a:tcPr>
                </a:tc>
                <a:extLst>
                  <a:ext uri="{0D108BD9-81ED-4DB2-BD59-A6C34878D82A}">
                    <a16:rowId xmlns:a16="http://schemas.microsoft.com/office/drawing/2014/main" val="2608375700"/>
                  </a:ext>
                </a:extLst>
              </a:tr>
              <a:tr h="456854">
                <a:tc>
                  <a:txBody>
                    <a:bodyPr/>
                    <a:lstStyle/>
                    <a:p>
                      <a:r>
                        <a:rPr kumimoji="1" lang="ja-JP" altLang="en-US" sz="1400" dirty="0"/>
                        <a:t>インド</a:t>
                      </a:r>
                    </a:p>
                  </a:txBody>
                  <a:tcPr anchor="ctr">
                    <a:solidFill>
                      <a:schemeClr val="bg1">
                        <a:lumMod val="95000"/>
                      </a:schemeClr>
                    </a:solidFill>
                  </a:tcPr>
                </a:tc>
                <a:tc>
                  <a:txBody>
                    <a:bodyPr/>
                    <a:lstStyle/>
                    <a:p>
                      <a:pPr algn="r"/>
                      <a:r>
                        <a:rPr kumimoji="1" lang="en-US" altLang="ja-JP" dirty="0"/>
                        <a:t>5,289</a:t>
                      </a:r>
                      <a:endParaRPr kumimoji="1" lang="ja-JP" altLang="en-US" dirty="0"/>
                    </a:p>
                  </a:txBody>
                  <a:tcPr anchor="ctr">
                    <a:solidFill>
                      <a:schemeClr val="bg1">
                        <a:lumMod val="95000"/>
                      </a:schemeClr>
                    </a:solidFill>
                  </a:tcPr>
                </a:tc>
                <a:extLst>
                  <a:ext uri="{0D108BD9-81ED-4DB2-BD59-A6C34878D82A}">
                    <a16:rowId xmlns:a16="http://schemas.microsoft.com/office/drawing/2014/main" val="2926746320"/>
                  </a:ext>
                </a:extLst>
              </a:tr>
              <a:tr h="456854">
                <a:tc>
                  <a:txBody>
                    <a:bodyPr/>
                    <a:lstStyle/>
                    <a:p>
                      <a:r>
                        <a:rPr kumimoji="1" lang="ja-JP" altLang="en-US" sz="1400" dirty="0"/>
                        <a:t>アメリカ</a:t>
                      </a:r>
                    </a:p>
                  </a:txBody>
                  <a:tcPr anchor="ctr">
                    <a:solidFill>
                      <a:schemeClr val="bg1">
                        <a:lumMod val="95000"/>
                      </a:schemeClr>
                    </a:solidFill>
                  </a:tcPr>
                </a:tc>
                <a:tc>
                  <a:txBody>
                    <a:bodyPr/>
                    <a:lstStyle/>
                    <a:p>
                      <a:pPr algn="r"/>
                      <a:r>
                        <a:rPr kumimoji="1" lang="en-US" altLang="ja-JP" dirty="0"/>
                        <a:t>4,293</a:t>
                      </a:r>
                      <a:endParaRPr kumimoji="1" lang="ja-JP" altLang="en-US" dirty="0"/>
                    </a:p>
                  </a:txBody>
                  <a:tcPr anchor="ctr">
                    <a:solidFill>
                      <a:schemeClr val="bg1">
                        <a:lumMod val="95000"/>
                      </a:schemeClr>
                    </a:solidFill>
                  </a:tcPr>
                </a:tc>
                <a:extLst>
                  <a:ext uri="{0D108BD9-81ED-4DB2-BD59-A6C34878D82A}">
                    <a16:rowId xmlns:a16="http://schemas.microsoft.com/office/drawing/2014/main" val="583240716"/>
                  </a:ext>
                </a:extLst>
              </a:tr>
              <a:tr h="456854">
                <a:tc>
                  <a:txBody>
                    <a:bodyPr/>
                    <a:lstStyle/>
                    <a:p>
                      <a:r>
                        <a:rPr kumimoji="1" lang="ja-JP" altLang="en-US" sz="1400" dirty="0"/>
                        <a:t>ドイツ</a:t>
                      </a:r>
                    </a:p>
                  </a:txBody>
                  <a:tcPr anchor="ctr">
                    <a:solidFill>
                      <a:schemeClr val="bg1">
                        <a:lumMod val="95000"/>
                      </a:schemeClr>
                    </a:solidFill>
                  </a:tcPr>
                </a:tc>
                <a:tc>
                  <a:txBody>
                    <a:bodyPr/>
                    <a:lstStyle/>
                    <a:p>
                      <a:pPr algn="r"/>
                      <a:r>
                        <a:rPr kumimoji="1" lang="en-US" altLang="ja-JP" dirty="0"/>
                        <a:t>3,460</a:t>
                      </a:r>
                      <a:endParaRPr kumimoji="1" lang="ja-JP" altLang="en-US" dirty="0"/>
                    </a:p>
                  </a:txBody>
                  <a:tcPr anchor="ctr">
                    <a:solidFill>
                      <a:schemeClr val="bg1">
                        <a:lumMod val="95000"/>
                      </a:schemeClr>
                    </a:solidFill>
                  </a:tcPr>
                </a:tc>
                <a:extLst>
                  <a:ext uri="{0D108BD9-81ED-4DB2-BD59-A6C34878D82A}">
                    <a16:rowId xmlns:a16="http://schemas.microsoft.com/office/drawing/2014/main" val="1468904696"/>
                  </a:ext>
                </a:extLst>
              </a:tr>
              <a:tr h="456854">
                <a:tc>
                  <a:txBody>
                    <a:bodyPr/>
                    <a:lstStyle/>
                    <a:p>
                      <a:r>
                        <a:rPr kumimoji="1" lang="ja-JP" altLang="en-US" sz="1400" dirty="0"/>
                        <a:t>メキシコ</a:t>
                      </a:r>
                    </a:p>
                  </a:txBody>
                  <a:tcPr anchor="ctr">
                    <a:solidFill>
                      <a:schemeClr val="bg1">
                        <a:lumMod val="95000"/>
                      </a:schemeClr>
                    </a:solidFill>
                  </a:tcPr>
                </a:tc>
                <a:tc>
                  <a:txBody>
                    <a:bodyPr/>
                    <a:lstStyle/>
                    <a:p>
                      <a:pPr algn="r"/>
                      <a:r>
                        <a:rPr kumimoji="1" lang="en-US" altLang="ja-JP" dirty="0"/>
                        <a:t>1,575</a:t>
                      </a:r>
                      <a:endParaRPr kumimoji="1" lang="ja-JP" altLang="en-US" dirty="0"/>
                    </a:p>
                  </a:txBody>
                  <a:tcPr anchor="ctr">
                    <a:solidFill>
                      <a:schemeClr val="bg1">
                        <a:lumMod val="95000"/>
                      </a:schemeClr>
                    </a:solidFill>
                  </a:tcPr>
                </a:tc>
                <a:extLst>
                  <a:ext uri="{0D108BD9-81ED-4DB2-BD59-A6C34878D82A}">
                    <a16:rowId xmlns:a16="http://schemas.microsoft.com/office/drawing/2014/main" val="558706134"/>
                  </a:ext>
                </a:extLst>
              </a:tr>
              <a:tr h="456854">
                <a:tc>
                  <a:txBody>
                    <a:bodyPr/>
                    <a:lstStyle/>
                    <a:p>
                      <a:r>
                        <a:rPr kumimoji="1" lang="ja-JP" altLang="en-US" sz="1400" dirty="0"/>
                        <a:t>タイ</a:t>
                      </a:r>
                    </a:p>
                  </a:txBody>
                  <a:tcPr anchor="ctr">
                    <a:solidFill>
                      <a:schemeClr val="bg1">
                        <a:lumMod val="95000"/>
                      </a:schemeClr>
                    </a:solidFill>
                  </a:tcPr>
                </a:tc>
                <a:tc>
                  <a:txBody>
                    <a:bodyPr/>
                    <a:lstStyle/>
                    <a:p>
                      <a:pPr algn="r"/>
                      <a:r>
                        <a:rPr kumimoji="1" lang="en-US" altLang="ja-JP" dirty="0"/>
                        <a:t>1,547</a:t>
                      </a:r>
                      <a:endParaRPr kumimoji="1" lang="ja-JP" altLang="en-US" dirty="0"/>
                    </a:p>
                  </a:txBody>
                  <a:tcPr anchor="ctr">
                    <a:solidFill>
                      <a:schemeClr val="bg1">
                        <a:lumMod val="95000"/>
                      </a:schemeClr>
                    </a:solidFill>
                  </a:tcPr>
                </a:tc>
                <a:extLst>
                  <a:ext uri="{0D108BD9-81ED-4DB2-BD59-A6C34878D82A}">
                    <a16:rowId xmlns:a16="http://schemas.microsoft.com/office/drawing/2014/main" val="2963308063"/>
                  </a:ext>
                </a:extLst>
              </a:tr>
              <a:tr h="456854">
                <a:tc>
                  <a:txBody>
                    <a:bodyPr/>
                    <a:lstStyle/>
                    <a:p>
                      <a:r>
                        <a:rPr kumimoji="1" lang="ja-JP" altLang="en-US" sz="1400" dirty="0"/>
                        <a:t>日本</a:t>
                      </a:r>
                    </a:p>
                  </a:txBody>
                  <a:tcPr anchor="ctr">
                    <a:solidFill>
                      <a:schemeClr val="bg1">
                        <a:lumMod val="95000"/>
                      </a:schemeClr>
                    </a:solidFill>
                  </a:tcPr>
                </a:tc>
                <a:tc>
                  <a:txBody>
                    <a:bodyPr/>
                    <a:lstStyle/>
                    <a:p>
                      <a:pPr algn="r"/>
                      <a:r>
                        <a:rPr kumimoji="1" lang="en-US" altLang="ja-JP" dirty="0"/>
                        <a:t>1,506</a:t>
                      </a:r>
                      <a:endParaRPr kumimoji="1" lang="ja-JP" altLang="en-US" dirty="0"/>
                    </a:p>
                  </a:txBody>
                  <a:tcPr anchor="ctr">
                    <a:solidFill>
                      <a:schemeClr val="bg1">
                        <a:lumMod val="95000"/>
                      </a:schemeClr>
                    </a:solidFill>
                  </a:tcPr>
                </a:tc>
                <a:extLst>
                  <a:ext uri="{0D108BD9-81ED-4DB2-BD59-A6C34878D82A}">
                    <a16:rowId xmlns:a16="http://schemas.microsoft.com/office/drawing/2014/main" val="3813271288"/>
                  </a:ext>
                </a:extLst>
              </a:tr>
              <a:tr h="456854">
                <a:tc>
                  <a:txBody>
                    <a:bodyPr/>
                    <a:lstStyle/>
                    <a:p>
                      <a:r>
                        <a:rPr kumimoji="1" lang="ja-JP" altLang="en-US" sz="1400" dirty="0"/>
                        <a:t>イタリア</a:t>
                      </a:r>
                    </a:p>
                  </a:txBody>
                  <a:tcPr anchor="ctr">
                    <a:solidFill>
                      <a:schemeClr val="bg1">
                        <a:lumMod val="95000"/>
                      </a:schemeClr>
                    </a:solidFill>
                  </a:tcPr>
                </a:tc>
                <a:tc>
                  <a:txBody>
                    <a:bodyPr/>
                    <a:lstStyle/>
                    <a:p>
                      <a:pPr algn="r"/>
                      <a:r>
                        <a:rPr kumimoji="1" lang="en-US" altLang="ja-JP" dirty="0"/>
                        <a:t>1,405</a:t>
                      </a:r>
                      <a:endParaRPr kumimoji="1" lang="ja-JP" altLang="en-US" dirty="0"/>
                    </a:p>
                  </a:txBody>
                  <a:tcPr anchor="ctr">
                    <a:solidFill>
                      <a:schemeClr val="bg1">
                        <a:lumMod val="95000"/>
                      </a:schemeClr>
                    </a:solidFill>
                  </a:tcPr>
                </a:tc>
                <a:extLst>
                  <a:ext uri="{0D108BD9-81ED-4DB2-BD59-A6C34878D82A}">
                    <a16:rowId xmlns:a16="http://schemas.microsoft.com/office/drawing/2014/main" val="2142643538"/>
                  </a:ext>
                </a:extLst>
              </a:tr>
              <a:tr h="456854">
                <a:tc>
                  <a:txBody>
                    <a:bodyPr/>
                    <a:lstStyle/>
                    <a:p>
                      <a:r>
                        <a:rPr kumimoji="1" lang="ja-JP" altLang="en-US" sz="1400" dirty="0"/>
                        <a:t>台湾</a:t>
                      </a:r>
                    </a:p>
                  </a:txBody>
                  <a:tcPr anchor="ctr">
                    <a:solidFill>
                      <a:schemeClr val="bg1">
                        <a:lumMod val="95000"/>
                      </a:schemeClr>
                    </a:solidFill>
                  </a:tcPr>
                </a:tc>
                <a:tc>
                  <a:txBody>
                    <a:bodyPr/>
                    <a:lstStyle/>
                    <a:p>
                      <a:pPr algn="r"/>
                      <a:r>
                        <a:rPr kumimoji="1" lang="en-US" altLang="ja-JP" dirty="0"/>
                        <a:t>1,384</a:t>
                      </a:r>
                      <a:endParaRPr kumimoji="1" lang="ja-JP" altLang="en-US" dirty="0"/>
                    </a:p>
                  </a:txBody>
                  <a:tcPr anchor="ctr">
                    <a:solidFill>
                      <a:schemeClr val="bg1">
                        <a:lumMod val="95000"/>
                      </a:schemeClr>
                    </a:solidFill>
                  </a:tcPr>
                </a:tc>
                <a:extLst>
                  <a:ext uri="{0D108BD9-81ED-4DB2-BD59-A6C34878D82A}">
                    <a16:rowId xmlns:a16="http://schemas.microsoft.com/office/drawing/2014/main" val="2818363318"/>
                  </a:ext>
                </a:extLst>
              </a:tr>
            </a:tbl>
          </a:graphicData>
        </a:graphic>
      </p:graphicFrame>
      <p:graphicFrame>
        <p:nvGraphicFramePr>
          <p:cNvPr id="6" name="表 5">
            <a:extLst>
              <a:ext uri="{FF2B5EF4-FFF2-40B4-BE49-F238E27FC236}">
                <a16:creationId xmlns:a16="http://schemas.microsoft.com/office/drawing/2014/main" id="{71E07B2A-6148-47AF-9D69-77B6F772CA97}"/>
              </a:ext>
            </a:extLst>
          </p:cNvPr>
          <p:cNvGraphicFramePr>
            <a:graphicFrameLocks noGrp="1"/>
          </p:cNvGraphicFramePr>
          <p:nvPr>
            <p:extLst>
              <p:ext uri="{D42A27DB-BD31-4B8C-83A1-F6EECF244321}">
                <p14:modId xmlns:p14="http://schemas.microsoft.com/office/powerpoint/2010/main" val="1353835441"/>
              </p:ext>
            </p:extLst>
          </p:nvPr>
        </p:nvGraphicFramePr>
        <p:xfrm>
          <a:off x="838200" y="1809557"/>
          <a:ext cx="8603255" cy="741680"/>
        </p:xfrm>
        <a:graphic>
          <a:graphicData uri="http://schemas.openxmlformats.org/drawingml/2006/table">
            <a:tbl>
              <a:tblPr firstRow="1" bandRow="1">
                <a:tableStyleId>{5940675A-B579-460E-94D1-54222C63F5DA}</a:tableStyleId>
              </a:tblPr>
              <a:tblGrid>
                <a:gridCol w="596174">
                  <a:extLst>
                    <a:ext uri="{9D8B030D-6E8A-4147-A177-3AD203B41FA5}">
                      <a16:colId xmlns:a16="http://schemas.microsoft.com/office/drawing/2014/main" val="2328116701"/>
                    </a:ext>
                  </a:extLst>
                </a:gridCol>
                <a:gridCol w="596174">
                  <a:extLst>
                    <a:ext uri="{9D8B030D-6E8A-4147-A177-3AD203B41FA5}">
                      <a16:colId xmlns:a16="http://schemas.microsoft.com/office/drawing/2014/main" val="2139867041"/>
                    </a:ext>
                  </a:extLst>
                </a:gridCol>
                <a:gridCol w="596174">
                  <a:extLst>
                    <a:ext uri="{9D8B030D-6E8A-4147-A177-3AD203B41FA5}">
                      <a16:colId xmlns:a16="http://schemas.microsoft.com/office/drawing/2014/main" val="653464503"/>
                    </a:ext>
                  </a:extLst>
                </a:gridCol>
                <a:gridCol w="596174">
                  <a:extLst>
                    <a:ext uri="{9D8B030D-6E8A-4147-A177-3AD203B41FA5}">
                      <a16:colId xmlns:a16="http://schemas.microsoft.com/office/drawing/2014/main" val="3041211967"/>
                    </a:ext>
                  </a:extLst>
                </a:gridCol>
                <a:gridCol w="596174">
                  <a:extLst>
                    <a:ext uri="{9D8B030D-6E8A-4147-A177-3AD203B41FA5}">
                      <a16:colId xmlns:a16="http://schemas.microsoft.com/office/drawing/2014/main" val="840405117"/>
                    </a:ext>
                  </a:extLst>
                </a:gridCol>
                <a:gridCol w="596174">
                  <a:extLst>
                    <a:ext uri="{9D8B030D-6E8A-4147-A177-3AD203B41FA5}">
                      <a16:colId xmlns:a16="http://schemas.microsoft.com/office/drawing/2014/main" val="1691368802"/>
                    </a:ext>
                  </a:extLst>
                </a:gridCol>
                <a:gridCol w="596174">
                  <a:extLst>
                    <a:ext uri="{9D8B030D-6E8A-4147-A177-3AD203B41FA5}">
                      <a16:colId xmlns:a16="http://schemas.microsoft.com/office/drawing/2014/main" val="4150072367"/>
                    </a:ext>
                  </a:extLst>
                </a:gridCol>
                <a:gridCol w="596174">
                  <a:extLst>
                    <a:ext uri="{9D8B030D-6E8A-4147-A177-3AD203B41FA5}">
                      <a16:colId xmlns:a16="http://schemas.microsoft.com/office/drawing/2014/main" val="1187720220"/>
                    </a:ext>
                  </a:extLst>
                </a:gridCol>
                <a:gridCol w="596174">
                  <a:extLst>
                    <a:ext uri="{9D8B030D-6E8A-4147-A177-3AD203B41FA5}">
                      <a16:colId xmlns:a16="http://schemas.microsoft.com/office/drawing/2014/main" val="2058140733"/>
                    </a:ext>
                  </a:extLst>
                </a:gridCol>
                <a:gridCol w="596174">
                  <a:extLst>
                    <a:ext uri="{9D8B030D-6E8A-4147-A177-3AD203B41FA5}">
                      <a16:colId xmlns:a16="http://schemas.microsoft.com/office/drawing/2014/main" val="3847006067"/>
                    </a:ext>
                  </a:extLst>
                </a:gridCol>
                <a:gridCol w="596174">
                  <a:extLst>
                    <a:ext uri="{9D8B030D-6E8A-4147-A177-3AD203B41FA5}">
                      <a16:colId xmlns:a16="http://schemas.microsoft.com/office/drawing/2014/main" val="940372816"/>
                    </a:ext>
                  </a:extLst>
                </a:gridCol>
                <a:gridCol w="596174">
                  <a:extLst>
                    <a:ext uri="{9D8B030D-6E8A-4147-A177-3AD203B41FA5}">
                      <a16:colId xmlns:a16="http://schemas.microsoft.com/office/drawing/2014/main" val="3539643544"/>
                    </a:ext>
                  </a:extLst>
                </a:gridCol>
                <a:gridCol w="596174">
                  <a:extLst>
                    <a:ext uri="{9D8B030D-6E8A-4147-A177-3AD203B41FA5}">
                      <a16:colId xmlns:a16="http://schemas.microsoft.com/office/drawing/2014/main" val="1043333392"/>
                    </a:ext>
                  </a:extLst>
                </a:gridCol>
                <a:gridCol w="852993">
                  <a:extLst>
                    <a:ext uri="{9D8B030D-6E8A-4147-A177-3AD203B41FA5}">
                      <a16:colId xmlns:a16="http://schemas.microsoft.com/office/drawing/2014/main" val="1402532176"/>
                    </a:ext>
                  </a:extLst>
                </a:gridCol>
              </a:tblGrid>
              <a:tr h="370840">
                <a:tc rowSpan="2">
                  <a:txBody>
                    <a:bodyPr/>
                    <a:lstStyle/>
                    <a:p>
                      <a:r>
                        <a:rPr kumimoji="1" lang="ja-JP" altLang="en-US" b="1" dirty="0"/>
                        <a:t>日本</a:t>
                      </a:r>
                    </a:p>
                  </a:txBody>
                  <a:tcPr vert="eaVert" anchor="ctr" anchorCtr="1"/>
                </a:tc>
                <a:tc>
                  <a:txBody>
                    <a:bodyPr/>
                    <a:lstStyle/>
                    <a:p>
                      <a:r>
                        <a:rPr kumimoji="1" lang="en-US" altLang="ja-JP" sz="1400" b="1" dirty="0"/>
                        <a:t>2004</a:t>
                      </a:r>
                      <a:endParaRPr kumimoji="1" lang="ja-JP" altLang="en-US" sz="1400" b="1" dirty="0"/>
                    </a:p>
                  </a:txBody>
                  <a:tcPr anchor="ctr" anchorCtr="1"/>
                </a:tc>
                <a:tc>
                  <a:txBody>
                    <a:bodyPr/>
                    <a:lstStyle/>
                    <a:p>
                      <a:r>
                        <a:rPr kumimoji="1" lang="en-US" altLang="ja-JP" sz="1400" b="1" dirty="0"/>
                        <a:t>2005</a:t>
                      </a:r>
                      <a:endParaRPr kumimoji="1" lang="ja-JP" altLang="en-US" sz="1400" b="1" dirty="0"/>
                    </a:p>
                  </a:txBody>
                  <a:tcPr anchor="ctr" anchorCtr="1"/>
                </a:tc>
                <a:tc>
                  <a:txBody>
                    <a:bodyPr/>
                    <a:lstStyle/>
                    <a:p>
                      <a:r>
                        <a:rPr kumimoji="1" lang="en-US" altLang="ja-JP" sz="1400" b="1" dirty="0"/>
                        <a:t>2006</a:t>
                      </a:r>
                      <a:endParaRPr kumimoji="1" lang="ja-JP" altLang="en-US" sz="1400" b="1" dirty="0"/>
                    </a:p>
                  </a:txBody>
                  <a:tcPr anchor="ctr" anchorCtr="1"/>
                </a:tc>
                <a:tc>
                  <a:txBody>
                    <a:bodyPr/>
                    <a:lstStyle/>
                    <a:p>
                      <a:r>
                        <a:rPr kumimoji="1" lang="en-US" altLang="ja-JP" sz="1400" b="1" dirty="0"/>
                        <a:t>2007</a:t>
                      </a:r>
                      <a:endParaRPr kumimoji="1" lang="ja-JP" altLang="en-US" sz="1400" b="1" dirty="0"/>
                    </a:p>
                  </a:txBody>
                  <a:tcPr anchor="ctr" anchorCtr="1"/>
                </a:tc>
                <a:tc>
                  <a:txBody>
                    <a:bodyPr/>
                    <a:lstStyle/>
                    <a:p>
                      <a:r>
                        <a:rPr kumimoji="1" lang="en-US" altLang="ja-JP" sz="1400" b="1" dirty="0"/>
                        <a:t>2008</a:t>
                      </a:r>
                      <a:endParaRPr kumimoji="1" lang="ja-JP" altLang="en-US" sz="1400" b="1" dirty="0"/>
                    </a:p>
                  </a:txBody>
                  <a:tcPr anchor="ctr" anchorCtr="1"/>
                </a:tc>
                <a:tc>
                  <a:txBody>
                    <a:bodyPr/>
                    <a:lstStyle/>
                    <a:p>
                      <a:r>
                        <a:rPr kumimoji="1" lang="en-US" altLang="ja-JP" sz="1400" b="1" dirty="0"/>
                        <a:t>2009</a:t>
                      </a:r>
                      <a:endParaRPr kumimoji="1" lang="ja-JP" altLang="en-US" sz="1400" b="1" dirty="0"/>
                    </a:p>
                  </a:txBody>
                  <a:tcPr anchor="ctr" anchorCtr="1"/>
                </a:tc>
                <a:tc>
                  <a:txBody>
                    <a:bodyPr/>
                    <a:lstStyle/>
                    <a:p>
                      <a:r>
                        <a:rPr kumimoji="1" lang="en-US" altLang="ja-JP" sz="1400" b="1" dirty="0"/>
                        <a:t>2010</a:t>
                      </a:r>
                      <a:endParaRPr kumimoji="1" lang="ja-JP" altLang="en-US" sz="1400" b="1" dirty="0"/>
                    </a:p>
                  </a:txBody>
                  <a:tcPr anchor="ctr" anchorCtr="1"/>
                </a:tc>
                <a:tc>
                  <a:txBody>
                    <a:bodyPr/>
                    <a:lstStyle/>
                    <a:p>
                      <a:r>
                        <a:rPr kumimoji="1" lang="en-US" altLang="ja-JP" sz="1400" b="1" dirty="0"/>
                        <a:t>2011</a:t>
                      </a:r>
                      <a:endParaRPr kumimoji="1" lang="ja-JP" altLang="en-US" sz="1400" b="1" dirty="0"/>
                    </a:p>
                  </a:txBody>
                  <a:tcPr anchor="ctr" anchorCtr="1"/>
                </a:tc>
                <a:tc>
                  <a:txBody>
                    <a:bodyPr/>
                    <a:lstStyle/>
                    <a:p>
                      <a:r>
                        <a:rPr kumimoji="1" lang="en-US" altLang="ja-JP" sz="1400" b="1" dirty="0"/>
                        <a:t>2012</a:t>
                      </a:r>
                      <a:endParaRPr kumimoji="1" lang="ja-JP" altLang="en-US" sz="1400" b="1" dirty="0"/>
                    </a:p>
                  </a:txBody>
                  <a:tcPr anchor="ctr" anchorCtr="1"/>
                </a:tc>
                <a:tc>
                  <a:txBody>
                    <a:bodyPr/>
                    <a:lstStyle/>
                    <a:p>
                      <a:r>
                        <a:rPr kumimoji="1" lang="en-US" altLang="ja-JP" sz="1400" b="1" dirty="0"/>
                        <a:t>2013</a:t>
                      </a:r>
                      <a:endParaRPr kumimoji="1" lang="ja-JP" altLang="en-US" sz="1400" b="1" dirty="0"/>
                    </a:p>
                  </a:txBody>
                  <a:tcPr anchor="ctr" anchorCtr="1"/>
                </a:tc>
                <a:tc>
                  <a:txBody>
                    <a:bodyPr/>
                    <a:lstStyle/>
                    <a:p>
                      <a:r>
                        <a:rPr kumimoji="1" lang="en-US" altLang="ja-JP" sz="1400" b="1" dirty="0"/>
                        <a:t>2014</a:t>
                      </a:r>
                      <a:endParaRPr kumimoji="1" lang="ja-JP" altLang="en-US" sz="1400" b="1" dirty="0"/>
                    </a:p>
                  </a:txBody>
                  <a:tcPr anchor="ctr" anchorCtr="1"/>
                </a:tc>
                <a:tc>
                  <a:txBody>
                    <a:bodyPr/>
                    <a:lstStyle/>
                    <a:p>
                      <a:r>
                        <a:rPr kumimoji="1" lang="en-US" altLang="ja-JP" sz="1400" b="1" dirty="0"/>
                        <a:t>2015</a:t>
                      </a:r>
                      <a:endParaRPr kumimoji="1" lang="ja-JP" altLang="en-US" sz="1400" b="1" dirty="0"/>
                    </a:p>
                  </a:txBody>
                  <a:tcPr anchor="ctr" anchorCtr="1"/>
                </a:tc>
                <a:tc>
                  <a:txBody>
                    <a:bodyPr/>
                    <a:lstStyle/>
                    <a:p>
                      <a:r>
                        <a:rPr kumimoji="1" lang="en-US" altLang="ja-JP" sz="1400" b="1" dirty="0"/>
                        <a:t>2016</a:t>
                      </a:r>
                      <a:r>
                        <a:rPr kumimoji="1" lang="ja-JP" altLang="en-US" sz="1400" b="1" dirty="0"/>
                        <a:t>年</a:t>
                      </a:r>
                    </a:p>
                  </a:txBody>
                  <a:tcPr anchor="ctr" anchorCtr="1"/>
                </a:tc>
                <a:extLst>
                  <a:ext uri="{0D108BD9-81ED-4DB2-BD59-A6C34878D82A}">
                    <a16:rowId xmlns:a16="http://schemas.microsoft.com/office/drawing/2014/main" val="205649971"/>
                  </a:ext>
                </a:extLst>
              </a:tr>
              <a:tr h="370840">
                <a:tc vMerge="1">
                  <a:txBody>
                    <a:bodyPr/>
                    <a:lstStyle/>
                    <a:p>
                      <a:endParaRPr kumimoji="1" lang="ja-JP" altLang="en-US" dirty="0"/>
                    </a:p>
                  </a:txBody>
                  <a:tcPr/>
                </a:tc>
                <a:tc>
                  <a:txBody>
                    <a:bodyPr/>
                    <a:lstStyle/>
                    <a:p>
                      <a:r>
                        <a:rPr kumimoji="1" lang="en-US" altLang="ja-JP" sz="1400" b="1" dirty="0"/>
                        <a:t>164</a:t>
                      </a:r>
                      <a:endParaRPr kumimoji="1" lang="ja-JP" altLang="en-US" sz="1400" b="1" dirty="0"/>
                    </a:p>
                  </a:txBody>
                  <a:tcPr anchor="ctr" anchorCtr="1"/>
                </a:tc>
                <a:tc>
                  <a:txBody>
                    <a:bodyPr/>
                    <a:lstStyle/>
                    <a:p>
                      <a:r>
                        <a:rPr kumimoji="1" lang="en-US" altLang="ja-JP" sz="1400" b="1" dirty="0"/>
                        <a:t>177</a:t>
                      </a:r>
                      <a:endParaRPr kumimoji="1" lang="ja-JP" altLang="en-US" sz="1400" b="1" dirty="0"/>
                    </a:p>
                  </a:txBody>
                  <a:tcPr anchor="ctr" anchorCtr="1"/>
                </a:tc>
                <a:tc>
                  <a:txBody>
                    <a:bodyPr/>
                    <a:lstStyle/>
                    <a:p>
                      <a:r>
                        <a:rPr kumimoji="1" lang="en-US" altLang="ja-JP" sz="1400" b="1" dirty="0"/>
                        <a:t>935</a:t>
                      </a:r>
                      <a:endParaRPr kumimoji="1" lang="ja-JP" altLang="en-US" sz="1400" b="1" dirty="0"/>
                    </a:p>
                  </a:txBody>
                  <a:tcPr anchor="ctr" anchorCtr="1"/>
                </a:tc>
                <a:tc>
                  <a:txBody>
                    <a:bodyPr/>
                    <a:lstStyle/>
                    <a:p>
                      <a:r>
                        <a:rPr kumimoji="1" lang="en-US" altLang="ja-JP" sz="1400" b="1" dirty="0"/>
                        <a:t>1106</a:t>
                      </a:r>
                      <a:endParaRPr kumimoji="1" lang="ja-JP" altLang="en-US" sz="1400" b="1" dirty="0"/>
                    </a:p>
                  </a:txBody>
                  <a:tcPr anchor="ctr" anchorCtr="1"/>
                </a:tc>
                <a:tc>
                  <a:txBody>
                    <a:bodyPr/>
                    <a:lstStyle/>
                    <a:p>
                      <a:r>
                        <a:rPr kumimoji="1" lang="en-US" altLang="ja-JP" sz="1400" b="1" dirty="0"/>
                        <a:t>1189</a:t>
                      </a:r>
                      <a:endParaRPr kumimoji="1" lang="ja-JP" altLang="en-US" sz="1400" b="1" dirty="0"/>
                    </a:p>
                  </a:txBody>
                  <a:tcPr anchor="ctr" anchorCtr="1"/>
                </a:tc>
                <a:tc>
                  <a:txBody>
                    <a:bodyPr/>
                    <a:lstStyle/>
                    <a:p>
                      <a:r>
                        <a:rPr kumimoji="1" lang="en-US" altLang="ja-JP" sz="1400" b="1" dirty="0"/>
                        <a:t>1195</a:t>
                      </a:r>
                      <a:endParaRPr kumimoji="1" lang="ja-JP" altLang="en-US" sz="1400" b="1" dirty="0"/>
                    </a:p>
                  </a:txBody>
                  <a:tcPr anchor="ctr" anchorCtr="1"/>
                </a:tc>
                <a:tc>
                  <a:txBody>
                    <a:bodyPr/>
                    <a:lstStyle/>
                    <a:p>
                      <a:r>
                        <a:rPr kumimoji="1" lang="en-US" altLang="ja-JP" sz="1400" b="1" dirty="0"/>
                        <a:t>1195</a:t>
                      </a:r>
                      <a:endParaRPr kumimoji="1" lang="ja-JP" altLang="en-US" sz="1400" b="1" dirty="0"/>
                    </a:p>
                  </a:txBody>
                  <a:tcPr anchor="ctr" anchorCtr="1"/>
                </a:tc>
                <a:tc>
                  <a:txBody>
                    <a:bodyPr/>
                    <a:lstStyle/>
                    <a:p>
                      <a:r>
                        <a:rPr kumimoji="1" lang="en-US" altLang="ja-JP" sz="1400" b="1" dirty="0"/>
                        <a:t>1223</a:t>
                      </a:r>
                      <a:endParaRPr kumimoji="1" lang="ja-JP" altLang="en-US" sz="1400" b="1" dirty="0"/>
                    </a:p>
                  </a:txBody>
                  <a:tcPr anchor="ctr" anchorCtr="1"/>
                </a:tc>
                <a:tc>
                  <a:txBody>
                    <a:bodyPr/>
                    <a:lstStyle/>
                    <a:p>
                      <a:r>
                        <a:rPr kumimoji="1" lang="en-US" altLang="ja-JP" sz="1400" b="1" dirty="0"/>
                        <a:t>1237</a:t>
                      </a:r>
                      <a:endParaRPr kumimoji="1" lang="ja-JP" altLang="en-US" sz="1400" b="1" dirty="0"/>
                    </a:p>
                  </a:txBody>
                  <a:tcPr anchor="ctr" anchorCtr="1"/>
                </a:tc>
                <a:tc>
                  <a:txBody>
                    <a:bodyPr/>
                    <a:lstStyle/>
                    <a:p>
                      <a:r>
                        <a:rPr kumimoji="1" lang="en-US" altLang="ja-JP" sz="1400" b="1" dirty="0"/>
                        <a:t>1281</a:t>
                      </a:r>
                      <a:endParaRPr kumimoji="1" lang="ja-JP" altLang="en-US" sz="1400" b="1" dirty="0"/>
                    </a:p>
                  </a:txBody>
                  <a:tcPr anchor="ctr" anchorCtr="1"/>
                </a:tc>
                <a:tc>
                  <a:txBody>
                    <a:bodyPr/>
                    <a:lstStyle/>
                    <a:p>
                      <a:r>
                        <a:rPr kumimoji="1" lang="en-US" altLang="ja-JP" sz="1400" b="1" dirty="0"/>
                        <a:t>1441</a:t>
                      </a:r>
                      <a:endParaRPr kumimoji="1" lang="ja-JP" altLang="en-US" sz="1400" b="1" dirty="0"/>
                    </a:p>
                  </a:txBody>
                  <a:tcPr anchor="ctr" anchorCtr="1"/>
                </a:tc>
                <a:tc>
                  <a:txBody>
                    <a:bodyPr/>
                    <a:lstStyle/>
                    <a:p>
                      <a:r>
                        <a:rPr kumimoji="1" lang="en-US" altLang="ja-JP" sz="1400" b="1" dirty="0"/>
                        <a:t>1482</a:t>
                      </a:r>
                      <a:endParaRPr kumimoji="1" lang="ja-JP" altLang="en-US" sz="1400" b="1" dirty="0"/>
                    </a:p>
                  </a:txBody>
                  <a:tcPr anchor="ctr" anchorCtr="1"/>
                </a:tc>
                <a:tc>
                  <a:txBody>
                    <a:bodyPr/>
                    <a:lstStyle/>
                    <a:p>
                      <a:r>
                        <a:rPr kumimoji="1" lang="en-US" altLang="ja-JP" sz="1400" b="1" dirty="0"/>
                        <a:t>1506</a:t>
                      </a:r>
                      <a:r>
                        <a:rPr kumimoji="1" lang="ja-JP" altLang="en-US" sz="1400" b="1" dirty="0"/>
                        <a:t>件</a:t>
                      </a:r>
                    </a:p>
                  </a:txBody>
                  <a:tcPr anchor="ctr" anchorCtr="1"/>
                </a:tc>
                <a:extLst>
                  <a:ext uri="{0D108BD9-81ED-4DB2-BD59-A6C34878D82A}">
                    <a16:rowId xmlns:a16="http://schemas.microsoft.com/office/drawing/2014/main" val="2091413778"/>
                  </a:ext>
                </a:extLst>
              </a:tr>
            </a:tbl>
          </a:graphicData>
        </a:graphic>
      </p:graphicFrame>
    </p:spTree>
    <p:extLst>
      <p:ext uri="{BB962C8B-B14F-4D97-AF65-F5344CB8AC3E}">
        <p14:creationId xmlns:p14="http://schemas.microsoft.com/office/powerpoint/2010/main" val="1561821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第１章の構成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3444066792"/>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a:t>
            </a:fld>
            <a:endParaRPr kumimoji="1" lang="ja-JP" altLang="en-US"/>
          </a:p>
        </p:txBody>
      </p:sp>
    </p:spTree>
    <p:extLst>
      <p:ext uri="{BB962C8B-B14F-4D97-AF65-F5344CB8AC3E}">
        <p14:creationId xmlns:p14="http://schemas.microsoft.com/office/powerpoint/2010/main" val="1755339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6"/>
            <a:ext cx="10515600" cy="9048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3.1</a:t>
            </a:r>
            <a:r>
              <a:rPr lang="ja-JP" altLang="en-US" sz="4000" dirty="0">
                <a:solidFill>
                  <a:schemeClr val="bg1"/>
                </a:solidFill>
              </a:rPr>
              <a:t>　要求事項の構成</a:t>
            </a:r>
            <a:endParaRPr kumimoji="1" lang="ja-JP" altLang="en-US" sz="4000" dirty="0">
              <a:solidFill>
                <a:schemeClr val="bg1"/>
              </a:solidFill>
            </a:endParaRP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a:t>
            </a:fld>
            <a:endParaRPr kumimoji="1" lang="ja-JP" altLang="en-US"/>
          </a:p>
        </p:txBody>
      </p:sp>
      <p:graphicFrame>
        <p:nvGraphicFramePr>
          <p:cNvPr id="7" name="コンテンツ プレースホルダー 6">
            <a:extLst>
              <a:ext uri="{FF2B5EF4-FFF2-40B4-BE49-F238E27FC236}">
                <a16:creationId xmlns:a16="http://schemas.microsoft.com/office/drawing/2014/main" id="{807D8E88-1C6C-4462-9C66-2729634E17EC}"/>
              </a:ext>
            </a:extLst>
          </p:cNvPr>
          <p:cNvGraphicFramePr>
            <a:graphicFrameLocks noGrp="1"/>
          </p:cNvGraphicFramePr>
          <p:nvPr>
            <p:ph idx="1"/>
            <p:extLst>
              <p:ext uri="{D42A27DB-BD31-4B8C-83A1-F6EECF244321}">
                <p14:modId xmlns:p14="http://schemas.microsoft.com/office/powerpoint/2010/main" val="3796655673"/>
              </p:ext>
            </p:extLst>
          </p:nvPr>
        </p:nvGraphicFramePr>
        <p:xfrm>
          <a:off x="2311400" y="1825625"/>
          <a:ext cx="572008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直線コネクタ 8">
            <a:extLst>
              <a:ext uri="{FF2B5EF4-FFF2-40B4-BE49-F238E27FC236}">
                <a16:creationId xmlns:a16="http://schemas.microsoft.com/office/drawing/2014/main" id="{0DAC72C1-2BCC-41C3-96AF-FE5A8321FC82}"/>
              </a:ext>
            </a:extLst>
          </p:cNvPr>
          <p:cNvCxnSpPr>
            <a:cxnSpLocks/>
            <a:stCxn id="7" idx="0"/>
          </p:cNvCxnSpPr>
          <p:nvPr/>
        </p:nvCxnSpPr>
        <p:spPr>
          <a:xfrm flipH="1">
            <a:off x="838200" y="1825625"/>
            <a:ext cx="43332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82AEF675-111C-4149-BBB8-93A41BE03C9E}"/>
              </a:ext>
            </a:extLst>
          </p:cNvPr>
          <p:cNvCxnSpPr>
            <a:cxnSpLocks/>
          </p:cNvCxnSpPr>
          <p:nvPr/>
        </p:nvCxnSpPr>
        <p:spPr>
          <a:xfrm flipH="1">
            <a:off x="995680" y="6176963"/>
            <a:ext cx="13157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DABB9FA1-B8BD-4277-8B86-356392D40D2A}"/>
              </a:ext>
            </a:extLst>
          </p:cNvPr>
          <p:cNvCxnSpPr/>
          <p:nvPr/>
        </p:nvCxnSpPr>
        <p:spPr>
          <a:xfrm>
            <a:off x="6207760" y="3281680"/>
            <a:ext cx="43281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463FFF33-094F-4CA1-9B03-B2FFCD7EB902}"/>
              </a:ext>
            </a:extLst>
          </p:cNvPr>
          <p:cNvCxnSpPr/>
          <p:nvPr/>
        </p:nvCxnSpPr>
        <p:spPr>
          <a:xfrm>
            <a:off x="8031480" y="6176963"/>
            <a:ext cx="25044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EDF8D6A-7DB4-4F3D-9DAA-700DFF8E1BC9}"/>
              </a:ext>
            </a:extLst>
          </p:cNvPr>
          <p:cNvCxnSpPr/>
          <p:nvPr/>
        </p:nvCxnSpPr>
        <p:spPr>
          <a:xfrm>
            <a:off x="1381760" y="1825625"/>
            <a:ext cx="0" cy="4351338"/>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013E0BF8-4D5D-4FD0-8A4B-DAC83980A90B}"/>
              </a:ext>
            </a:extLst>
          </p:cNvPr>
          <p:cNvCxnSpPr/>
          <p:nvPr/>
        </p:nvCxnSpPr>
        <p:spPr>
          <a:xfrm>
            <a:off x="9900093" y="3281680"/>
            <a:ext cx="0" cy="289528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四角形: 角を丸くする 19">
            <a:extLst>
              <a:ext uri="{FF2B5EF4-FFF2-40B4-BE49-F238E27FC236}">
                <a16:creationId xmlns:a16="http://schemas.microsoft.com/office/drawing/2014/main" id="{22E928DF-898A-49C4-8161-32AC9C8878F7}"/>
              </a:ext>
            </a:extLst>
          </p:cNvPr>
          <p:cNvSpPr/>
          <p:nvPr/>
        </p:nvSpPr>
        <p:spPr>
          <a:xfrm>
            <a:off x="1463040" y="3048000"/>
            <a:ext cx="2280911" cy="893986"/>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審査対象範囲</a:t>
            </a:r>
          </a:p>
        </p:txBody>
      </p:sp>
      <p:sp>
        <p:nvSpPr>
          <p:cNvPr id="21" name="四角形: 角を丸くする 20">
            <a:extLst>
              <a:ext uri="{FF2B5EF4-FFF2-40B4-BE49-F238E27FC236}">
                <a16:creationId xmlns:a16="http://schemas.microsoft.com/office/drawing/2014/main" id="{77DCA6C7-9EC9-4692-8CAF-2CF11E79401C}"/>
              </a:ext>
            </a:extLst>
          </p:cNvPr>
          <p:cNvSpPr/>
          <p:nvPr/>
        </p:nvSpPr>
        <p:spPr>
          <a:xfrm>
            <a:off x="7299965" y="4155535"/>
            <a:ext cx="2280911" cy="893986"/>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t>規格要求</a:t>
            </a:r>
            <a:r>
              <a:rPr kumimoji="1" lang="ja-JP" altLang="en-US" sz="2400" dirty="0"/>
              <a:t>範囲</a:t>
            </a:r>
          </a:p>
        </p:txBody>
      </p:sp>
      <p:sp>
        <p:nvSpPr>
          <p:cNvPr id="22" name="四角形: 角を丸くする 21">
            <a:extLst>
              <a:ext uri="{FF2B5EF4-FFF2-40B4-BE49-F238E27FC236}">
                <a16:creationId xmlns:a16="http://schemas.microsoft.com/office/drawing/2014/main" id="{4B836697-1537-47AA-B447-60C3151A4A17}"/>
              </a:ext>
            </a:extLst>
          </p:cNvPr>
          <p:cNvSpPr/>
          <p:nvPr/>
        </p:nvSpPr>
        <p:spPr>
          <a:xfrm>
            <a:off x="6443333" y="1382232"/>
            <a:ext cx="4910467" cy="179689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solidFill>
              </a:rPr>
              <a:t>●</a:t>
            </a:r>
            <a:r>
              <a:rPr lang="en-US" altLang="ja-JP" sz="1600" dirty="0">
                <a:solidFill>
                  <a:schemeClr val="tx1"/>
                </a:solidFill>
              </a:rPr>
              <a:t>IATF16949</a:t>
            </a:r>
            <a:r>
              <a:rPr lang="ja-JP" altLang="en-US" sz="1600" dirty="0">
                <a:solidFill>
                  <a:schemeClr val="tx1"/>
                </a:solidFill>
              </a:rPr>
              <a:t>に対する自動車産業認証スキーム　</a:t>
            </a:r>
            <a:r>
              <a:rPr lang="en-US" altLang="ja-JP" sz="1600" dirty="0">
                <a:solidFill>
                  <a:schemeClr val="tx1"/>
                </a:solidFill>
              </a:rPr>
              <a:t>IATF</a:t>
            </a:r>
            <a:r>
              <a:rPr lang="ja-JP" altLang="en-US" sz="1600" dirty="0">
                <a:solidFill>
                  <a:schemeClr val="tx1"/>
                </a:solidFill>
              </a:rPr>
              <a:t>認証及び維持ルール（第</a:t>
            </a:r>
            <a:r>
              <a:rPr lang="en-US" altLang="ja-JP" sz="1600" dirty="0">
                <a:solidFill>
                  <a:schemeClr val="tx1"/>
                </a:solidFill>
              </a:rPr>
              <a:t>5</a:t>
            </a:r>
            <a:r>
              <a:rPr lang="ja-JP" altLang="en-US" sz="1600" dirty="0">
                <a:solidFill>
                  <a:schemeClr val="tx1"/>
                </a:solidFill>
              </a:rPr>
              <a:t>版）</a:t>
            </a:r>
            <a:endParaRPr lang="en-US" altLang="ja-JP" sz="1600" dirty="0">
              <a:solidFill>
                <a:schemeClr val="tx1"/>
              </a:solidFill>
            </a:endParaRPr>
          </a:p>
          <a:p>
            <a:r>
              <a:rPr kumimoji="1" lang="ja-JP" altLang="en-US" sz="1600" u="sng" dirty="0">
                <a:solidFill>
                  <a:schemeClr val="tx1"/>
                </a:solidFill>
              </a:rPr>
              <a:t>●公式解釈（</a:t>
            </a:r>
            <a:r>
              <a:rPr kumimoji="1" lang="en-US" altLang="ja-JP" sz="1600" u="sng" dirty="0">
                <a:solidFill>
                  <a:schemeClr val="tx1"/>
                </a:solidFill>
              </a:rPr>
              <a:t>SI</a:t>
            </a:r>
            <a:r>
              <a:rPr kumimoji="1" lang="ja-JP" altLang="en-US" sz="1600" u="sng" dirty="0">
                <a:solidFill>
                  <a:schemeClr val="tx1"/>
                </a:solidFill>
              </a:rPr>
              <a:t>）</a:t>
            </a:r>
            <a:r>
              <a:rPr kumimoji="1" lang="en-US" altLang="ja-JP" sz="1600" u="sng" dirty="0">
                <a:solidFill>
                  <a:schemeClr val="tx1"/>
                </a:solidFill>
              </a:rPr>
              <a:t>Sanctioned Interpretations</a:t>
            </a:r>
          </a:p>
          <a:p>
            <a:r>
              <a:rPr lang="ja-JP" altLang="en-US" sz="1600" u="sng" dirty="0">
                <a:solidFill>
                  <a:schemeClr val="tx1"/>
                </a:solidFill>
              </a:rPr>
              <a:t>　➠要求事項又はルールの解釈の変更。</a:t>
            </a:r>
            <a:endParaRPr lang="en-US" altLang="ja-JP" sz="1600" u="sng" dirty="0">
              <a:solidFill>
                <a:schemeClr val="tx1"/>
              </a:solidFill>
            </a:endParaRPr>
          </a:p>
          <a:p>
            <a:r>
              <a:rPr kumimoji="1" lang="ja-JP" altLang="en-US" sz="1600" dirty="0">
                <a:solidFill>
                  <a:schemeClr val="tx1"/>
                </a:solidFill>
              </a:rPr>
              <a:t>●よくある質問（</a:t>
            </a:r>
            <a:r>
              <a:rPr kumimoji="1" lang="en-US" altLang="ja-JP" sz="1600" dirty="0">
                <a:solidFill>
                  <a:schemeClr val="tx1"/>
                </a:solidFill>
              </a:rPr>
              <a:t>FAQ</a:t>
            </a:r>
            <a:r>
              <a:rPr kumimoji="1" lang="ja-JP" altLang="en-US" sz="1600" dirty="0">
                <a:solidFill>
                  <a:schemeClr val="tx1"/>
                </a:solidFill>
              </a:rPr>
              <a:t>）</a:t>
            </a:r>
            <a:r>
              <a:rPr kumimoji="1" lang="en-US" altLang="ja-JP" sz="1600" dirty="0">
                <a:solidFill>
                  <a:schemeClr val="tx1"/>
                </a:solidFill>
              </a:rPr>
              <a:t>Frequently Asked </a:t>
            </a:r>
            <a:r>
              <a:rPr lang="en-US" altLang="ja-JP" sz="1600" dirty="0">
                <a:solidFill>
                  <a:schemeClr val="tx1"/>
                </a:solidFill>
              </a:rPr>
              <a:t>Q</a:t>
            </a:r>
            <a:r>
              <a:rPr kumimoji="1" lang="en-US" altLang="ja-JP" sz="1600" dirty="0">
                <a:solidFill>
                  <a:schemeClr val="tx1"/>
                </a:solidFill>
              </a:rPr>
              <a:t>uestions</a:t>
            </a:r>
          </a:p>
          <a:p>
            <a:r>
              <a:rPr lang="ja-JP" altLang="en-US" sz="1600" dirty="0">
                <a:solidFill>
                  <a:schemeClr val="tx1"/>
                </a:solidFill>
              </a:rPr>
              <a:t>　➠要求事項又はルールの明確化。</a:t>
            </a:r>
            <a:endParaRPr kumimoji="1" lang="ja-JP" altLang="en-US" sz="1600" dirty="0">
              <a:solidFill>
                <a:schemeClr val="tx1"/>
              </a:solidFill>
            </a:endParaRPr>
          </a:p>
        </p:txBody>
      </p:sp>
      <p:cxnSp>
        <p:nvCxnSpPr>
          <p:cNvPr id="6" name="コネクタ: 曲線 5">
            <a:extLst>
              <a:ext uri="{FF2B5EF4-FFF2-40B4-BE49-F238E27FC236}">
                <a16:creationId xmlns:a16="http://schemas.microsoft.com/office/drawing/2014/main" id="{2E26FED4-11DC-4196-886C-4A99C65FE7B1}"/>
              </a:ext>
            </a:extLst>
          </p:cNvPr>
          <p:cNvCxnSpPr/>
          <p:nvPr/>
        </p:nvCxnSpPr>
        <p:spPr>
          <a:xfrm rot="5400000">
            <a:off x="5466080" y="2265680"/>
            <a:ext cx="1341120" cy="1158240"/>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494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49"/>
          </a:xfrm>
        </p:spPr>
        <p:txBody>
          <a:bodyPr>
            <a:normAutofit fontScale="92500" lnSpcReduction="10000"/>
          </a:bodyPr>
          <a:lstStyle/>
          <a:p>
            <a:pPr marL="0" indent="0">
              <a:buNone/>
            </a:pPr>
            <a:r>
              <a:rPr kumimoji="1" lang="en-US" altLang="ja-JP" dirty="0"/>
              <a:t>Big3</a:t>
            </a:r>
            <a:r>
              <a:rPr kumimoji="1" lang="ja-JP" altLang="en-US" dirty="0"/>
              <a:t>が要求するコアツール（レファレンス（参照）マニュアル）</a:t>
            </a: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sz="1600" dirty="0"/>
          </a:p>
          <a:p>
            <a:pPr marL="0" indent="0">
              <a:buNone/>
            </a:pPr>
            <a:endParaRPr kumimoji="1" lang="en-US" altLang="ja-JP" sz="1600" dirty="0"/>
          </a:p>
          <a:p>
            <a:pPr marL="0" indent="0">
              <a:buNone/>
            </a:pPr>
            <a:endParaRPr kumimoji="1" lang="en-US" altLang="ja-JP" sz="1600" dirty="0"/>
          </a:p>
          <a:p>
            <a:pPr marL="0" indent="0">
              <a:buNone/>
            </a:pPr>
            <a:r>
              <a:rPr kumimoji="1" lang="en-US" altLang="ja-JP" sz="1600" dirty="0"/>
              <a:t>※PPAP</a:t>
            </a:r>
            <a:r>
              <a:rPr kumimoji="1" lang="ja-JP" altLang="en-US" sz="1600" dirty="0"/>
              <a:t>のみ“義務的要求事項”として位置付けられ、“レファレンスマニュアル”の表記が無い。</a:t>
            </a:r>
            <a:endParaRPr kumimoji="1" lang="ja-JP" altLang="en-US" dirty="0"/>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3.2</a:t>
            </a:r>
            <a:r>
              <a:rPr lang="ja-JP" altLang="en-US" sz="4000" dirty="0">
                <a:solidFill>
                  <a:schemeClr val="bg1"/>
                </a:solidFill>
              </a:rPr>
              <a:t>　コアツール</a:t>
            </a:r>
            <a:endParaRPr kumimoji="1" lang="ja-JP" altLang="en-US" sz="4000" dirty="0">
              <a:solidFill>
                <a:schemeClr val="bg1"/>
              </a:solidFill>
            </a:endParaRPr>
          </a:p>
        </p:txBody>
      </p:sp>
      <p:graphicFrame>
        <p:nvGraphicFramePr>
          <p:cNvPr id="9" name="表 8">
            <a:extLst>
              <a:ext uri="{FF2B5EF4-FFF2-40B4-BE49-F238E27FC236}">
                <a16:creationId xmlns:a16="http://schemas.microsoft.com/office/drawing/2014/main" id="{FFE7F341-CB5E-432C-8A40-75622C2A67F1}"/>
              </a:ext>
            </a:extLst>
          </p:cNvPr>
          <p:cNvGraphicFramePr>
            <a:graphicFrameLocks noGrp="1"/>
          </p:cNvGraphicFramePr>
          <p:nvPr>
            <p:extLst>
              <p:ext uri="{D42A27DB-BD31-4B8C-83A1-F6EECF244321}">
                <p14:modId xmlns:p14="http://schemas.microsoft.com/office/powerpoint/2010/main" val="3825132855"/>
              </p:ext>
            </p:extLst>
          </p:nvPr>
        </p:nvGraphicFramePr>
        <p:xfrm>
          <a:off x="838200" y="1981200"/>
          <a:ext cx="10591800" cy="3962400"/>
        </p:xfrm>
        <a:graphic>
          <a:graphicData uri="http://schemas.openxmlformats.org/drawingml/2006/table">
            <a:tbl>
              <a:tblPr firstRow="1" bandRow="1">
                <a:tableStyleId>{5940675A-B579-460E-94D1-54222C63F5DA}</a:tableStyleId>
              </a:tblPr>
              <a:tblGrid>
                <a:gridCol w="2402840">
                  <a:extLst>
                    <a:ext uri="{9D8B030D-6E8A-4147-A177-3AD203B41FA5}">
                      <a16:colId xmlns:a16="http://schemas.microsoft.com/office/drawing/2014/main" val="2431007522"/>
                    </a:ext>
                  </a:extLst>
                </a:gridCol>
                <a:gridCol w="6573520">
                  <a:extLst>
                    <a:ext uri="{9D8B030D-6E8A-4147-A177-3AD203B41FA5}">
                      <a16:colId xmlns:a16="http://schemas.microsoft.com/office/drawing/2014/main" val="1127943111"/>
                    </a:ext>
                  </a:extLst>
                </a:gridCol>
                <a:gridCol w="1615440">
                  <a:extLst>
                    <a:ext uri="{9D8B030D-6E8A-4147-A177-3AD203B41FA5}">
                      <a16:colId xmlns:a16="http://schemas.microsoft.com/office/drawing/2014/main" val="2979988814"/>
                    </a:ext>
                  </a:extLst>
                </a:gridCol>
              </a:tblGrid>
              <a:tr h="792480">
                <a:tc>
                  <a:txBody>
                    <a:bodyPr/>
                    <a:lstStyle/>
                    <a:p>
                      <a:r>
                        <a:rPr kumimoji="1" lang="ja-JP" altLang="en-US" sz="2400" dirty="0"/>
                        <a:t>ＡＰＱＰ</a:t>
                      </a:r>
                      <a:r>
                        <a:rPr kumimoji="1" lang="en-US" altLang="ja-JP" sz="2400" dirty="0"/>
                        <a:t>&amp;</a:t>
                      </a:r>
                      <a:r>
                        <a:rPr kumimoji="1" lang="ja-JP" altLang="en-US" sz="2400" dirty="0"/>
                        <a:t>ＣＰ</a:t>
                      </a:r>
                    </a:p>
                  </a:txBody>
                  <a:tcPr anchor="ctr"/>
                </a:tc>
                <a:tc>
                  <a:txBody>
                    <a:bodyPr/>
                    <a:lstStyle/>
                    <a:p>
                      <a:r>
                        <a:rPr kumimoji="1" lang="ja-JP" altLang="en-US" sz="2400" dirty="0"/>
                        <a:t>先行製品品質計画</a:t>
                      </a:r>
                      <a:endParaRPr kumimoji="1" lang="en-US" altLang="ja-JP" sz="2400" dirty="0"/>
                    </a:p>
                    <a:p>
                      <a:r>
                        <a:rPr kumimoji="1" lang="ja-JP" altLang="en-US" sz="1600" dirty="0"/>
                        <a:t>（</a:t>
                      </a:r>
                      <a:r>
                        <a:rPr kumimoji="1" lang="en-US" altLang="ja-JP" sz="1600" dirty="0"/>
                        <a:t>Advanced  Product  Quality  Planning  and  Control  Plan</a:t>
                      </a:r>
                      <a:r>
                        <a:rPr kumimoji="1" lang="ja-JP" altLang="en-US" sz="1600" dirty="0"/>
                        <a:t>）</a:t>
                      </a:r>
                    </a:p>
                  </a:txBody>
                  <a:tcPr anchor="ctr"/>
                </a:tc>
                <a:tc>
                  <a:txBody>
                    <a:bodyPr/>
                    <a:lstStyle/>
                    <a:p>
                      <a:pPr algn="ctr"/>
                      <a:r>
                        <a:rPr kumimoji="1" lang="en-US" altLang="ja-JP" sz="2000" dirty="0"/>
                        <a:t>2008.07</a:t>
                      </a:r>
                    </a:p>
                    <a:p>
                      <a:pPr algn="ctr"/>
                      <a:r>
                        <a:rPr kumimoji="1" lang="ja-JP" altLang="en-US" sz="2000" dirty="0"/>
                        <a:t>第</a:t>
                      </a:r>
                      <a:r>
                        <a:rPr kumimoji="1" lang="en-US" altLang="ja-JP" sz="2000" dirty="0"/>
                        <a:t>2</a:t>
                      </a:r>
                      <a:r>
                        <a:rPr kumimoji="1" lang="ja-JP" altLang="en-US" sz="2000" dirty="0"/>
                        <a:t>版</a:t>
                      </a:r>
                    </a:p>
                  </a:txBody>
                  <a:tcPr anchor="ctr"/>
                </a:tc>
                <a:extLst>
                  <a:ext uri="{0D108BD9-81ED-4DB2-BD59-A6C34878D82A}">
                    <a16:rowId xmlns:a16="http://schemas.microsoft.com/office/drawing/2014/main" val="4079444182"/>
                  </a:ext>
                </a:extLst>
              </a:tr>
              <a:tr h="792480">
                <a:tc>
                  <a:txBody>
                    <a:bodyPr/>
                    <a:lstStyle/>
                    <a:p>
                      <a:r>
                        <a:rPr kumimoji="1" lang="ja-JP" altLang="en-US" sz="2400" dirty="0"/>
                        <a:t>ＰＰＡＰ</a:t>
                      </a:r>
                    </a:p>
                  </a:txBody>
                  <a:tcPr anchor="ctr"/>
                </a:tc>
                <a:tc>
                  <a:txBody>
                    <a:bodyPr/>
                    <a:lstStyle/>
                    <a:p>
                      <a:r>
                        <a:rPr kumimoji="1" lang="ja-JP" altLang="en-US" sz="2400" dirty="0"/>
                        <a:t>生産部品承認プロセス</a:t>
                      </a:r>
                      <a:endParaRPr kumimoji="1" lang="en-US" altLang="ja-JP" sz="2400" dirty="0"/>
                    </a:p>
                    <a:p>
                      <a:r>
                        <a:rPr kumimoji="1" lang="ja-JP" altLang="en-US" sz="1600" dirty="0"/>
                        <a:t>（</a:t>
                      </a:r>
                      <a:r>
                        <a:rPr kumimoji="1" lang="en-US" altLang="ja-JP" sz="1600" dirty="0"/>
                        <a:t>Production  Part  Approval  Process</a:t>
                      </a:r>
                      <a:r>
                        <a:rPr kumimoji="1" lang="ja-JP" altLang="en-US" sz="1600" dirty="0"/>
                        <a:t>）</a:t>
                      </a:r>
                    </a:p>
                  </a:txBody>
                  <a:tcPr anchor="ctr"/>
                </a:tc>
                <a:tc>
                  <a:txBody>
                    <a:bodyPr/>
                    <a:lstStyle/>
                    <a:p>
                      <a:pPr algn="ctr"/>
                      <a:r>
                        <a:rPr kumimoji="1" lang="en-US" altLang="ja-JP" sz="2000" dirty="0"/>
                        <a:t>2006.03</a:t>
                      </a:r>
                    </a:p>
                    <a:p>
                      <a:pPr algn="ctr"/>
                      <a:r>
                        <a:rPr kumimoji="1" lang="ja-JP" altLang="en-US" sz="2000" dirty="0"/>
                        <a:t>第</a:t>
                      </a:r>
                      <a:r>
                        <a:rPr kumimoji="1" lang="en-US" altLang="ja-JP" sz="2000" dirty="0"/>
                        <a:t>4</a:t>
                      </a:r>
                      <a:r>
                        <a:rPr kumimoji="1" lang="ja-JP" altLang="en-US" sz="2000" dirty="0"/>
                        <a:t>版</a:t>
                      </a:r>
                    </a:p>
                  </a:txBody>
                  <a:tcPr anchor="ctr"/>
                </a:tc>
                <a:extLst>
                  <a:ext uri="{0D108BD9-81ED-4DB2-BD59-A6C34878D82A}">
                    <a16:rowId xmlns:a16="http://schemas.microsoft.com/office/drawing/2014/main" val="1301144060"/>
                  </a:ext>
                </a:extLst>
              </a:tr>
              <a:tr h="792480">
                <a:tc>
                  <a:txBody>
                    <a:bodyPr/>
                    <a:lstStyle/>
                    <a:p>
                      <a:r>
                        <a:rPr kumimoji="1" lang="ja-JP" altLang="en-US" sz="2400" dirty="0"/>
                        <a:t>ＳＰＣ</a:t>
                      </a:r>
                    </a:p>
                  </a:txBody>
                  <a:tcPr anchor="ctr"/>
                </a:tc>
                <a:tc>
                  <a:txBody>
                    <a:bodyPr/>
                    <a:lstStyle/>
                    <a:p>
                      <a:r>
                        <a:rPr kumimoji="1" lang="ja-JP" altLang="en-US" sz="2400" dirty="0"/>
                        <a:t>統計的工程管理</a:t>
                      </a:r>
                      <a:endParaRPr kumimoji="1" lang="en-US" altLang="ja-JP" sz="2400" dirty="0"/>
                    </a:p>
                    <a:p>
                      <a:r>
                        <a:rPr kumimoji="1" lang="ja-JP" altLang="en-US" sz="1600" dirty="0"/>
                        <a:t>（</a:t>
                      </a:r>
                      <a:r>
                        <a:rPr kumimoji="1" lang="en-US" altLang="ja-JP" sz="1600" dirty="0"/>
                        <a:t>Statistical  Process</a:t>
                      </a:r>
                      <a:r>
                        <a:rPr kumimoji="1" lang="ja-JP" altLang="en-US" sz="1600" dirty="0"/>
                        <a:t>　</a:t>
                      </a:r>
                      <a:r>
                        <a:rPr kumimoji="1" lang="en-US" altLang="ja-JP" sz="1600" dirty="0"/>
                        <a:t>Control</a:t>
                      </a:r>
                      <a:r>
                        <a:rPr kumimoji="1" lang="ja-JP" altLang="en-US" sz="1600" dirty="0"/>
                        <a:t>）</a:t>
                      </a:r>
                    </a:p>
                  </a:txBody>
                  <a:tcPr anchor="ctr"/>
                </a:tc>
                <a:tc>
                  <a:txBody>
                    <a:bodyPr/>
                    <a:lstStyle/>
                    <a:p>
                      <a:pPr algn="ctr"/>
                      <a:r>
                        <a:rPr kumimoji="1" lang="en-US" altLang="ja-JP" sz="2000" dirty="0"/>
                        <a:t>2005.07</a:t>
                      </a:r>
                    </a:p>
                    <a:p>
                      <a:pPr algn="ctr"/>
                      <a:r>
                        <a:rPr kumimoji="1" lang="ja-JP" altLang="en-US" sz="2000" dirty="0"/>
                        <a:t>第</a:t>
                      </a:r>
                      <a:r>
                        <a:rPr kumimoji="1" lang="en-US" altLang="ja-JP" sz="2000" dirty="0"/>
                        <a:t>2</a:t>
                      </a:r>
                      <a:r>
                        <a:rPr kumimoji="1" lang="ja-JP" altLang="en-US" sz="2000" dirty="0"/>
                        <a:t>版</a:t>
                      </a:r>
                    </a:p>
                  </a:txBody>
                  <a:tcPr anchor="ctr"/>
                </a:tc>
                <a:extLst>
                  <a:ext uri="{0D108BD9-81ED-4DB2-BD59-A6C34878D82A}">
                    <a16:rowId xmlns:a16="http://schemas.microsoft.com/office/drawing/2014/main" val="337581176"/>
                  </a:ext>
                </a:extLst>
              </a:tr>
              <a:tr h="792480">
                <a:tc>
                  <a:txBody>
                    <a:bodyPr/>
                    <a:lstStyle/>
                    <a:p>
                      <a:r>
                        <a:rPr kumimoji="1" lang="ja-JP" altLang="en-US" sz="2400" dirty="0"/>
                        <a:t>ＦＭＥＡ</a:t>
                      </a:r>
                    </a:p>
                  </a:txBody>
                  <a:tcPr anchor="ctr"/>
                </a:tc>
                <a:tc>
                  <a:txBody>
                    <a:bodyPr/>
                    <a:lstStyle/>
                    <a:p>
                      <a:r>
                        <a:rPr kumimoji="1" lang="ja-JP" altLang="en-US" sz="2400" dirty="0"/>
                        <a:t>潜在的故障モード影響解析</a:t>
                      </a:r>
                      <a:endParaRPr kumimoji="1" lang="en-US" altLang="ja-JP" sz="2400" dirty="0"/>
                    </a:p>
                    <a:p>
                      <a:r>
                        <a:rPr kumimoji="1" lang="ja-JP" altLang="en-US" sz="1600" dirty="0"/>
                        <a:t>（</a:t>
                      </a:r>
                      <a:r>
                        <a:rPr kumimoji="1" lang="en-US" altLang="ja-JP" sz="1600" dirty="0"/>
                        <a:t>Potential</a:t>
                      </a:r>
                      <a:r>
                        <a:rPr kumimoji="1" lang="ja-JP" altLang="en-US" sz="1600" dirty="0"/>
                        <a:t>　</a:t>
                      </a:r>
                      <a:r>
                        <a:rPr kumimoji="1" lang="en-US" altLang="ja-JP" sz="1600" dirty="0"/>
                        <a:t>Failure </a:t>
                      </a:r>
                      <a:r>
                        <a:rPr kumimoji="1" lang="ja-JP" altLang="en-US" sz="1600" dirty="0"/>
                        <a:t>　</a:t>
                      </a:r>
                      <a:r>
                        <a:rPr kumimoji="1" lang="en-US" altLang="ja-JP" sz="1600" dirty="0"/>
                        <a:t>Mode</a:t>
                      </a:r>
                      <a:r>
                        <a:rPr kumimoji="1" lang="ja-JP" altLang="en-US" sz="1600" dirty="0"/>
                        <a:t>　</a:t>
                      </a:r>
                      <a:r>
                        <a:rPr kumimoji="1" lang="en-US" altLang="ja-JP" sz="1600" dirty="0"/>
                        <a:t>and  Effects  Analysis</a:t>
                      </a:r>
                      <a:r>
                        <a:rPr kumimoji="1" lang="ja-JP" altLang="en-US" sz="1600" dirty="0"/>
                        <a:t>）</a:t>
                      </a:r>
                    </a:p>
                  </a:txBody>
                  <a:tcPr anchor="ctr"/>
                </a:tc>
                <a:tc>
                  <a:txBody>
                    <a:bodyPr/>
                    <a:lstStyle/>
                    <a:p>
                      <a:pPr algn="ctr"/>
                      <a:r>
                        <a:rPr kumimoji="1" lang="en-US" altLang="ja-JP" sz="2000" dirty="0"/>
                        <a:t>2008.06</a:t>
                      </a:r>
                    </a:p>
                    <a:p>
                      <a:pPr algn="ctr"/>
                      <a:r>
                        <a:rPr kumimoji="1" lang="ja-JP" altLang="en-US" sz="2000" dirty="0"/>
                        <a:t>第</a:t>
                      </a:r>
                      <a:r>
                        <a:rPr kumimoji="1" lang="en-US" altLang="ja-JP" sz="2000" dirty="0"/>
                        <a:t>4</a:t>
                      </a:r>
                      <a:r>
                        <a:rPr kumimoji="1" lang="ja-JP" altLang="en-US" sz="2000" dirty="0"/>
                        <a:t>版</a:t>
                      </a:r>
                    </a:p>
                  </a:txBody>
                  <a:tcPr anchor="ctr"/>
                </a:tc>
                <a:extLst>
                  <a:ext uri="{0D108BD9-81ED-4DB2-BD59-A6C34878D82A}">
                    <a16:rowId xmlns:a16="http://schemas.microsoft.com/office/drawing/2014/main" val="3334235988"/>
                  </a:ext>
                </a:extLst>
              </a:tr>
              <a:tr h="792480">
                <a:tc>
                  <a:txBody>
                    <a:bodyPr/>
                    <a:lstStyle/>
                    <a:p>
                      <a:r>
                        <a:rPr kumimoji="1" lang="ja-JP" altLang="en-US" sz="2400" dirty="0"/>
                        <a:t>ＭＳＡ</a:t>
                      </a:r>
                    </a:p>
                  </a:txBody>
                  <a:tcPr anchor="ctr"/>
                </a:tc>
                <a:tc>
                  <a:txBody>
                    <a:bodyPr/>
                    <a:lstStyle/>
                    <a:p>
                      <a:r>
                        <a:rPr kumimoji="1" lang="ja-JP" altLang="en-US" sz="2400" dirty="0"/>
                        <a:t>測定システム解析</a:t>
                      </a:r>
                      <a:endParaRPr kumimoji="1" lang="en-US" altLang="ja-JP" sz="2400" dirty="0"/>
                    </a:p>
                    <a:p>
                      <a:r>
                        <a:rPr kumimoji="1" lang="ja-JP" altLang="en-US" sz="1600" dirty="0"/>
                        <a:t>（</a:t>
                      </a:r>
                      <a:r>
                        <a:rPr kumimoji="1" lang="en-US" altLang="ja-JP" sz="1600" dirty="0"/>
                        <a:t>Measurement</a:t>
                      </a:r>
                      <a:r>
                        <a:rPr kumimoji="1" lang="ja-JP" altLang="en-US" sz="1600" dirty="0"/>
                        <a:t>　</a:t>
                      </a:r>
                      <a:r>
                        <a:rPr kumimoji="1" lang="en-US" altLang="ja-JP" sz="1600" dirty="0"/>
                        <a:t>System</a:t>
                      </a:r>
                      <a:r>
                        <a:rPr kumimoji="1" lang="ja-JP" altLang="en-US" sz="1600" dirty="0"/>
                        <a:t>　</a:t>
                      </a:r>
                      <a:r>
                        <a:rPr kumimoji="1" lang="en-US" altLang="ja-JP" sz="1600" dirty="0"/>
                        <a:t>Analysis</a:t>
                      </a:r>
                      <a:r>
                        <a:rPr kumimoji="1" lang="ja-JP" altLang="en-US" sz="1600" dirty="0"/>
                        <a:t>）</a:t>
                      </a:r>
                    </a:p>
                  </a:txBody>
                  <a:tcPr anchor="ctr"/>
                </a:tc>
                <a:tc>
                  <a:txBody>
                    <a:bodyPr/>
                    <a:lstStyle/>
                    <a:p>
                      <a:pPr algn="ctr"/>
                      <a:r>
                        <a:rPr kumimoji="1" lang="en-US" altLang="ja-JP" sz="2000" dirty="0"/>
                        <a:t>2010.06</a:t>
                      </a:r>
                    </a:p>
                    <a:p>
                      <a:pPr algn="ctr"/>
                      <a:r>
                        <a:rPr kumimoji="1" lang="ja-JP" altLang="en-US" sz="2000" dirty="0"/>
                        <a:t>第</a:t>
                      </a:r>
                      <a:r>
                        <a:rPr kumimoji="1" lang="en-US" altLang="ja-JP" sz="2000" dirty="0"/>
                        <a:t>4</a:t>
                      </a:r>
                      <a:r>
                        <a:rPr kumimoji="1" lang="ja-JP" altLang="en-US" sz="2000" dirty="0"/>
                        <a:t>版</a:t>
                      </a:r>
                    </a:p>
                  </a:txBody>
                  <a:tcPr anchor="ctr"/>
                </a:tc>
                <a:extLst>
                  <a:ext uri="{0D108BD9-81ED-4DB2-BD59-A6C34878D82A}">
                    <a16:rowId xmlns:a16="http://schemas.microsoft.com/office/drawing/2014/main" val="3502686845"/>
                  </a:ext>
                </a:extLst>
              </a:tr>
            </a:tbl>
          </a:graphicData>
        </a:graphic>
      </p:graphicFrame>
      <p:sp>
        <p:nvSpPr>
          <p:cNvPr id="8" name="吹き出し: 角を丸めた四角形 7">
            <a:extLst>
              <a:ext uri="{FF2B5EF4-FFF2-40B4-BE49-F238E27FC236}">
                <a16:creationId xmlns:a16="http://schemas.microsoft.com/office/drawing/2014/main" id="{4C9B81BF-A079-4A3A-A32E-D7BA5518FC3E}"/>
              </a:ext>
            </a:extLst>
          </p:cNvPr>
          <p:cNvSpPr/>
          <p:nvPr/>
        </p:nvSpPr>
        <p:spPr>
          <a:xfrm>
            <a:off x="7058025" y="3872753"/>
            <a:ext cx="2752725" cy="752475"/>
          </a:xfrm>
          <a:prstGeom prst="wedgeRoundRectCallout">
            <a:avLst>
              <a:gd name="adj1" fmla="val -41732"/>
              <a:gd name="adj2" fmla="val 6376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AIAG&amp;VDA</a:t>
            </a:r>
            <a:r>
              <a:rPr kumimoji="1" lang="ja-JP" altLang="en-US" sz="2000" dirty="0">
                <a:solidFill>
                  <a:schemeClr val="tx1"/>
                </a:solidFill>
              </a:rPr>
              <a:t>　</a:t>
            </a:r>
            <a:r>
              <a:rPr kumimoji="1" lang="en-US" altLang="ja-JP" sz="2000" dirty="0">
                <a:solidFill>
                  <a:schemeClr val="tx1"/>
                </a:solidFill>
              </a:rPr>
              <a:t>FMEA</a:t>
            </a:r>
          </a:p>
          <a:p>
            <a:pPr algn="ctr"/>
            <a:r>
              <a:rPr kumimoji="1" lang="ja-JP" altLang="en-US" sz="2000" dirty="0">
                <a:solidFill>
                  <a:schemeClr val="tx1"/>
                </a:solidFill>
              </a:rPr>
              <a:t>ハンドブックへ移行</a:t>
            </a:r>
          </a:p>
        </p:txBody>
      </p:sp>
    </p:spTree>
    <p:extLst>
      <p:ext uri="{BB962C8B-B14F-4D97-AF65-F5344CB8AC3E}">
        <p14:creationId xmlns:p14="http://schemas.microsoft.com/office/powerpoint/2010/main" val="1901634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a:t>
            </a:fld>
            <a:endParaRPr kumimoji="1" lang="ja-JP" altLang="en-US"/>
          </a:p>
        </p:txBody>
      </p:sp>
      <p:graphicFrame>
        <p:nvGraphicFramePr>
          <p:cNvPr id="2" name="コンテンツ プレースホルダー 1">
            <a:extLst>
              <a:ext uri="{FF2B5EF4-FFF2-40B4-BE49-F238E27FC236}">
                <a16:creationId xmlns:a16="http://schemas.microsoft.com/office/drawing/2014/main" id="{7CF23CD6-CC36-4721-923A-E19DFA24095D}"/>
              </a:ext>
            </a:extLst>
          </p:cNvPr>
          <p:cNvGraphicFramePr>
            <a:graphicFrameLocks noGrp="1"/>
          </p:cNvGraphicFramePr>
          <p:nvPr>
            <p:ph idx="1"/>
            <p:extLst>
              <p:ext uri="{D42A27DB-BD31-4B8C-83A1-F6EECF244321}">
                <p14:modId xmlns:p14="http://schemas.microsoft.com/office/powerpoint/2010/main" val="1027410614"/>
              </p:ext>
            </p:extLst>
          </p:nvPr>
        </p:nvGraphicFramePr>
        <p:xfrm>
          <a:off x="2641600" y="3230880"/>
          <a:ext cx="6929120" cy="3125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3.3</a:t>
            </a:r>
            <a:r>
              <a:rPr lang="ja-JP" altLang="en-US" sz="4000" dirty="0">
                <a:solidFill>
                  <a:schemeClr val="bg1"/>
                </a:solidFill>
              </a:rPr>
              <a:t>　文書化の展開</a:t>
            </a:r>
            <a:endParaRPr kumimoji="1" lang="ja-JP" altLang="en-US" sz="4000" dirty="0">
              <a:solidFill>
                <a:schemeClr val="bg1"/>
              </a:solidFill>
            </a:endParaRPr>
          </a:p>
        </p:txBody>
      </p:sp>
      <p:sp>
        <p:nvSpPr>
          <p:cNvPr id="6" name="四角形: 角を丸くする 5">
            <a:extLst>
              <a:ext uri="{FF2B5EF4-FFF2-40B4-BE49-F238E27FC236}">
                <a16:creationId xmlns:a16="http://schemas.microsoft.com/office/drawing/2014/main" id="{0426056E-552E-4F53-A349-1AA939538854}"/>
              </a:ext>
            </a:extLst>
          </p:cNvPr>
          <p:cNvSpPr/>
          <p:nvPr/>
        </p:nvSpPr>
        <p:spPr>
          <a:xfrm>
            <a:off x="838200" y="1524635"/>
            <a:ext cx="3515360" cy="56896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ＩＳＯ９００１：２０１５</a:t>
            </a:r>
          </a:p>
        </p:txBody>
      </p:sp>
      <p:graphicFrame>
        <p:nvGraphicFramePr>
          <p:cNvPr id="8" name="表 7">
            <a:extLst>
              <a:ext uri="{FF2B5EF4-FFF2-40B4-BE49-F238E27FC236}">
                <a16:creationId xmlns:a16="http://schemas.microsoft.com/office/drawing/2014/main" id="{D20DF8D7-22DF-4138-A1D2-A86441223F03}"/>
              </a:ext>
            </a:extLst>
          </p:cNvPr>
          <p:cNvGraphicFramePr>
            <a:graphicFrameLocks noGrp="1"/>
          </p:cNvGraphicFramePr>
          <p:nvPr>
            <p:extLst>
              <p:ext uri="{D42A27DB-BD31-4B8C-83A1-F6EECF244321}">
                <p14:modId xmlns:p14="http://schemas.microsoft.com/office/powerpoint/2010/main" val="64033655"/>
              </p:ext>
            </p:extLst>
          </p:nvPr>
        </p:nvGraphicFramePr>
        <p:xfrm>
          <a:off x="838200" y="2399030"/>
          <a:ext cx="3606800" cy="1431291"/>
        </p:xfrm>
        <a:graphic>
          <a:graphicData uri="http://schemas.openxmlformats.org/drawingml/2006/table">
            <a:tbl>
              <a:tblPr firstRow="1" bandRow="1">
                <a:tableStyleId>{5940675A-B579-460E-94D1-54222C63F5DA}</a:tableStyleId>
              </a:tblPr>
              <a:tblGrid>
                <a:gridCol w="3606800">
                  <a:extLst>
                    <a:ext uri="{9D8B030D-6E8A-4147-A177-3AD203B41FA5}">
                      <a16:colId xmlns:a16="http://schemas.microsoft.com/office/drawing/2014/main" val="2262039705"/>
                    </a:ext>
                  </a:extLst>
                </a:gridCol>
              </a:tblGrid>
              <a:tr h="477097">
                <a:tc>
                  <a:txBody>
                    <a:bodyPr/>
                    <a:lstStyle/>
                    <a:p>
                      <a:r>
                        <a:rPr kumimoji="1" lang="ja-JP" altLang="en-US" dirty="0"/>
                        <a:t>ＩＡＴＦ１６９４９：２０１６</a:t>
                      </a:r>
                    </a:p>
                  </a:txBody>
                  <a:tcPr anchor="ctr" anchorCtr="1">
                    <a:solidFill>
                      <a:schemeClr val="tx2">
                        <a:lumMod val="40000"/>
                        <a:lumOff val="60000"/>
                      </a:schemeClr>
                    </a:solidFill>
                  </a:tcPr>
                </a:tc>
                <a:extLst>
                  <a:ext uri="{0D108BD9-81ED-4DB2-BD59-A6C34878D82A}">
                    <a16:rowId xmlns:a16="http://schemas.microsoft.com/office/drawing/2014/main" val="3814597916"/>
                  </a:ext>
                </a:extLst>
              </a:tr>
              <a:tr h="477097">
                <a:tc>
                  <a:txBody>
                    <a:bodyPr/>
                    <a:lstStyle/>
                    <a:p>
                      <a:r>
                        <a:rPr kumimoji="1" lang="ja-JP" altLang="en-US" dirty="0"/>
                        <a:t>顧客固有要求事項</a:t>
                      </a:r>
                    </a:p>
                  </a:txBody>
                  <a:tcPr anchor="ctr" anchorCtr="1">
                    <a:solidFill>
                      <a:schemeClr val="tx2">
                        <a:lumMod val="40000"/>
                        <a:lumOff val="60000"/>
                      </a:schemeClr>
                    </a:solidFill>
                  </a:tcPr>
                </a:tc>
                <a:extLst>
                  <a:ext uri="{0D108BD9-81ED-4DB2-BD59-A6C34878D82A}">
                    <a16:rowId xmlns:a16="http://schemas.microsoft.com/office/drawing/2014/main" val="2304108689"/>
                  </a:ext>
                </a:extLst>
              </a:tr>
              <a:tr h="477097">
                <a:tc>
                  <a:txBody>
                    <a:bodyPr/>
                    <a:lstStyle/>
                    <a:p>
                      <a:r>
                        <a:rPr kumimoji="1" lang="ja-JP" altLang="en-US" dirty="0"/>
                        <a:t>組織固有要求事項</a:t>
                      </a:r>
                    </a:p>
                  </a:txBody>
                  <a:tcPr anchor="ctr" anchorCtr="1">
                    <a:solidFill>
                      <a:schemeClr val="tx2">
                        <a:lumMod val="40000"/>
                        <a:lumOff val="60000"/>
                      </a:schemeClr>
                    </a:solidFill>
                  </a:tcPr>
                </a:tc>
                <a:extLst>
                  <a:ext uri="{0D108BD9-81ED-4DB2-BD59-A6C34878D82A}">
                    <a16:rowId xmlns:a16="http://schemas.microsoft.com/office/drawing/2014/main" val="2322463751"/>
                  </a:ext>
                </a:extLst>
              </a:tr>
            </a:tbl>
          </a:graphicData>
        </a:graphic>
      </p:graphicFrame>
      <p:graphicFrame>
        <p:nvGraphicFramePr>
          <p:cNvPr id="10" name="表 9">
            <a:extLst>
              <a:ext uri="{FF2B5EF4-FFF2-40B4-BE49-F238E27FC236}">
                <a16:creationId xmlns:a16="http://schemas.microsoft.com/office/drawing/2014/main" id="{40F1F6CF-254D-485A-918C-DE217211DA8B}"/>
              </a:ext>
            </a:extLst>
          </p:cNvPr>
          <p:cNvGraphicFramePr>
            <a:graphicFrameLocks noGrp="1"/>
          </p:cNvGraphicFramePr>
          <p:nvPr>
            <p:extLst>
              <p:ext uri="{D42A27DB-BD31-4B8C-83A1-F6EECF244321}">
                <p14:modId xmlns:p14="http://schemas.microsoft.com/office/powerpoint/2010/main" val="2573864643"/>
              </p:ext>
            </p:extLst>
          </p:nvPr>
        </p:nvGraphicFramePr>
        <p:xfrm>
          <a:off x="8879840" y="2501900"/>
          <a:ext cx="1915160" cy="1854200"/>
        </p:xfrm>
        <a:graphic>
          <a:graphicData uri="http://schemas.openxmlformats.org/drawingml/2006/table">
            <a:tbl>
              <a:tblPr firstRow="1" bandRow="1">
                <a:tableStyleId>{5940675A-B579-460E-94D1-54222C63F5DA}</a:tableStyleId>
              </a:tblPr>
              <a:tblGrid>
                <a:gridCol w="1915160">
                  <a:extLst>
                    <a:ext uri="{9D8B030D-6E8A-4147-A177-3AD203B41FA5}">
                      <a16:colId xmlns:a16="http://schemas.microsoft.com/office/drawing/2014/main" val="1990552309"/>
                    </a:ext>
                  </a:extLst>
                </a:gridCol>
              </a:tblGrid>
              <a:tr h="370840">
                <a:tc>
                  <a:txBody>
                    <a:bodyPr/>
                    <a:lstStyle/>
                    <a:p>
                      <a:r>
                        <a:rPr kumimoji="1" lang="en-US" altLang="ja-JP" dirty="0"/>
                        <a:t>APQP&amp;CP</a:t>
                      </a:r>
                      <a:endParaRPr kumimoji="1" lang="ja-JP" altLang="en-US" dirty="0"/>
                    </a:p>
                  </a:txBody>
                  <a:tcPr anchor="ctr" anchorCtr="1">
                    <a:solidFill>
                      <a:schemeClr val="tx2">
                        <a:lumMod val="40000"/>
                        <a:lumOff val="60000"/>
                      </a:schemeClr>
                    </a:solidFill>
                  </a:tcPr>
                </a:tc>
                <a:extLst>
                  <a:ext uri="{0D108BD9-81ED-4DB2-BD59-A6C34878D82A}">
                    <a16:rowId xmlns:a16="http://schemas.microsoft.com/office/drawing/2014/main" val="748081937"/>
                  </a:ext>
                </a:extLst>
              </a:tr>
              <a:tr h="370840">
                <a:tc>
                  <a:txBody>
                    <a:bodyPr/>
                    <a:lstStyle/>
                    <a:p>
                      <a:r>
                        <a:rPr kumimoji="1" lang="en-US" altLang="ja-JP" dirty="0"/>
                        <a:t>PPAP</a:t>
                      </a:r>
                      <a:endParaRPr kumimoji="1" lang="ja-JP" altLang="en-US" dirty="0"/>
                    </a:p>
                  </a:txBody>
                  <a:tcPr anchor="ctr" anchorCtr="1">
                    <a:solidFill>
                      <a:schemeClr val="tx2">
                        <a:lumMod val="40000"/>
                        <a:lumOff val="60000"/>
                      </a:schemeClr>
                    </a:solidFill>
                  </a:tcPr>
                </a:tc>
                <a:extLst>
                  <a:ext uri="{0D108BD9-81ED-4DB2-BD59-A6C34878D82A}">
                    <a16:rowId xmlns:a16="http://schemas.microsoft.com/office/drawing/2014/main" val="117123120"/>
                  </a:ext>
                </a:extLst>
              </a:tr>
              <a:tr h="370840">
                <a:tc>
                  <a:txBody>
                    <a:bodyPr/>
                    <a:lstStyle/>
                    <a:p>
                      <a:r>
                        <a:rPr kumimoji="1" lang="en-US" altLang="ja-JP" dirty="0"/>
                        <a:t>SPC</a:t>
                      </a:r>
                      <a:endParaRPr kumimoji="1" lang="ja-JP" altLang="en-US" dirty="0"/>
                    </a:p>
                  </a:txBody>
                  <a:tcPr anchor="ctr" anchorCtr="1">
                    <a:solidFill>
                      <a:schemeClr val="tx2">
                        <a:lumMod val="40000"/>
                        <a:lumOff val="60000"/>
                      </a:schemeClr>
                    </a:solidFill>
                  </a:tcPr>
                </a:tc>
                <a:extLst>
                  <a:ext uri="{0D108BD9-81ED-4DB2-BD59-A6C34878D82A}">
                    <a16:rowId xmlns:a16="http://schemas.microsoft.com/office/drawing/2014/main" val="1397485573"/>
                  </a:ext>
                </a:extLst>
              </a:tr>
              <a:tr h="370840">
                <a:tc>
                  <a:txBody>
                    <a:bodyPr/>
                    <a:lstStyle/>
                    <a:p>
                      <a:r>
                        <a:rPr kumimoji="1" lang="en-US" altLang="ja-JP" dirty="0"/>
                        <a:t>FMEA</a:t>
                      </a:r>
                      <a:endParaRPr kumimoji="1" lang="ja-JP" altLang="en-US" dirty="0"/>
                    </a:p>
                  </a:txBody>
                  <a:tcPr anchor="ctr" anchorCtr="1">
                    <a:solidFill>
                      <a:schemeClr val="tx2">
                        <a:lumMod val="40000"/>
                        <a:lumOff val="60000"/>
                      </a:schemeClr>
                    </a:solidFill>
                  </a:tcPr>
                </a:tc>
                <a:extLst>
                  <a:ext uri="{0D108BD9-81ED-4DB2-BD59-A6C34878D82A}">
                    <a16:rowId xmlns:a16="http://schemas.microsoft.com/office/drawing/2014/main" val="2345315196"/>
                  </a:ext>
                </a:extLst>
              </a:tr>
              <a:tr h="370840">
                <a:tc>
                  <a:txBody>
                    <a:bodyPr/>
                    <a:lstStyle/>
                    <a:p>
                      <a:r>
                        <a:rPr kumimoji="1" lang="en-US" altLang="ja-JP" dirty="0"/>
                        <a:t>MSA</a:t>
                      </a:r>
                      <a:endParaRPr kumimoji="1" lang="ja-JP" altLang="en-US" dirty="0"/>
                    </a:p>
                  </a:txBody>
                  <a:tcPr anchor="ctr" anchorCtr="1">
                    <a:solidFill>
                      <a:schemeClr val="tx2">
                        <a:lumMod val="40000"/>
                        <a:lumOff val="60000"/>
                      </a:schemeClr>
                    </a:solidFill>
                  </a:tcPr>
                </a:tc>
                <a:extLst>
                  <a:ext uri="{0D108BD9-81ED-4DB2-BD59-A6C34878D82A}">
                    <a16:rowId xmlns:a16="http://schemas.microsoft.com/office/drawing/2014/main" val="811739138"/>
                  </a:ext>
                </a:extLst>
              </a:tr>
            </a:tbl>
          </a:graphicData>
        </a:graphic>
      </p:graphicFrame>
      <p:sp>
        <p:nvSpPr>
          <p:cNvPr id="11" name="矢印: 下 10">
            <a:extLst>
              <a:ext uri="{FF2B5EF4-FFF2-40B4-BE49-F238E27FC236}">
                <a16:creationId xmlns:a16="http://schemas.microsoft.com/office/drawing/2014/main" id="{C9324D4A-3188-4A15-B833-6C19F1F270E2}"/>
              </a:ext>
            </a:extLst>
          </p:cNvPr>
          <p:cNvSpPr/>
          <p:nvPr/>
        </p:nvSpPr>
        <p:spPr>
          <a:xfrm>
            <a:off x="1981200" y="2119630"/>
            <a:ext cx="1229360" cy="253365"/>
          </a:xfrm>
          <a:prstGeom prst="downArrow">
            <a:avLst>
              <a:gd name="adj1" fmla="val 75175"/>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折線 11">
            <a:extLst>
              <a:ext uri="{FF2B5EF4-FFF2-40B4-BE49-F238E27FC236}">
                <a16:creationId xmlns:a16="http://schemas.microsoft.com/office/drawing/2014/main" id="{C118A5C2-24C4-4286-AC6A-C7B0E20FC5FC}"/>
              </a:ext>
            </a:extLst>
          </p:cNvPr>
          <p:cNvSpPr/>
          <p:nvPr/>
        </p:nvSpPr>
        <p:spPr>
          <a:xfrm rot="5400000">
            <a:off x="5103058" y="1960681"/>
            <a:ext cx="624443" cy="170688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矢印: 右 12">
            <a:extLst>
              <a:ext uri="{FF2B5EF4-FFF2-40B4-BE49-F238E27FC236}">
                <a16:creationId xmlns:a16="http://schemas.microsoft.com/office/drawing/2014/main" id="{D254CEC4-292B-465D-9EE3-78A70FDDAC29}"/>
              </a:ext>
            </a:extLst>
          </p:cNvPr>
          <p:cNvSpPr/>
          <p:nvPr/>
        </p:nvSpPr>
        <p:spPr>
          <a:xfrm>
            <a:off x="6431280" y="2450265"/>
            <a:ext cx="2286000" cy="363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7DB8CD76-D91D-4105-B382-763914935ACE}"/>
              </a:ext>
            </a:extLst>
          </p:cNvPr>
          <p:cNvSpPr/>
          <p:nvPr/>
        </p:nvSpPr>
        <p:spPr>
          <a:xfrm rot="9564376">
            <a:off x="7243103" y="3764452"/>
            <a:ext cx="1597972" cy="3638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854EA1DD-C874-47B9-802D-EC82D6FB5CA7}"/>
              </a:ext>
            </a:extLst>
          </p:cNvPr>
          <p:cNvSpPr/>
          <p:nvPr/>
        </p:nvSpPr>
        <p:spPr>
          <a:xfrm>
            <a:off x="858993" y="4397718"/>
            <a:ext cx="3237141" cy="73586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誰が、何を、いつ実施</a:t>
            </a:r>
          </a:p>
        </p:txBody>
      </p:sp>
      <p:sp>
        <p:nvSpPr>
          <p:cNvPr id="16" name="四角形: 角を丸くする 15">
            <a:extLst>
              <a:ext uri="{FF2B5EF4-FFF2-40B4-BE49-F238E27FC236}">
                <a16:creationId xmlns:a16="http://schemas.microsoft.com/office/drawing/2014/main" id="{4AB7C7A7-9F03-4CE8-BFE6-A98FAF5EA74B}"/>
              </a:ext>
            </a:extLst>
          </p:cNvPr>
          <p:cNvSpPr/>
          <p:nvPr/>
        </p:nvSpPr>
        <p:spPr>
          <a:xfrm>
            <a:off x="858520" y="5435118"/>
            <a:ext cx="3237141" cy="73586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どのように実施</a:t>
            </a:r>
          </a:p>
        </p:txBody>
      </p:sp>
      <p:sp>
        <p:nvSpPr>
          <p:cNvPr id="3" name="四角形: 角を丸くする 2">
            <a:extLst>
              <a:ext uri="{FF2B5EF4-FFF2-40B4-BE49-F238E27FC236}">
                <a16:creationId xmlns:a16="http://schemas.microsoft.com/office/drawing/2014/main" id="{59AC0996-F66F-461F-8620-FA7955B9721F}"/>
              </a:ext>
            </a:extLst>
          </p:cNvPr>
          <p:cNvSpPr/>
          <p:nvPr/>
        </p:nvSpPr>
        <p:spPr>
          <a:xfrm>
            <a:off x="8717280" y="2258458"/>
            <a:ext cx="2286000" cy="2302525"/>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2B0BF1A9-238A-43C0-8821-77992DC24D20}"/>
              </a:ext>
            </a:extLst>
          </p:cNvPr>
          <p:cNvSpPr/>
          <p:nvPr/>
        </p:nvSpPr>
        <p:spPr>
          <a:xfrm>
            <a:off x="8976913" y="1872118"/>
            <a:ext cx="1850834" cy="495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コアツール</a:t>
            </a:r>
          </a:p>
        </p:txBody>
      </p:sp>
    </p:spTree>
    <p:extLst>
      <p:ext uri="{BB962C8B-B14F-4D97-AF65-F5344CB8AC3E}">
        <p14:creationId xmlns:p14="http://schemas.microsoft.com/office/powerpoint/2010/main" val="3844754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49"/>
          </a:xfrm>
        </p:spPr>
        <p:txBody>
          <a:bodyPr>
            <a:normAutofit/>
          </a:bodyPr>
          <a:lstStyle/>
          <a:p>
            <a:pPr marL="514350" indent="-514350">
              <a:buFont typeface="+mj-lt"/>
              <a:buAutoNum type="arabicPeriod"/>
            </a:pPr>
            <a:r>
              <a:rPr lang="ja-JP" altLang="en-US" dirty="0"/>
              <a:t>顧客重視</a:t>
            </a:r>
            <a:endParaRPr lang="en-US" altLang="ja-JP" dirty="0"/>
          </a:p>
          <a:p>
            <a:pPr lvl="1">
              <a:buFont typeface="Wingdings" panose="05000000000000000000" pitchFamily="2" charset="2"/>
              <a:buChar char="Ø"/>
            </a:pPr>
            <a:r>
              <a:rPr kumimoji="1" lang="ja-JP" altLang="en-US" dirty="0"/>
              <a:t>顧客固有要求事項を含め、品質マネジメントシステムを構築する。</a:t>
            </a:r>
            <a:endParaRPr kumimoji="1" lang="en-US" altLang="ja-JP" dirty="0"/>
          </a:p>
          <a:p>
            <a:pPr lvl="1">
              <a:buFont typeface="Wingdings" panose="05000000000000000000" pitchFamily="2" charset="2"/>
              <a:buChar char="Ø"/>
            </a:pPr>
            <a:r>
              <a:rPr kumimoji="1" lang="ja-JP" altLang="en-US" dirty="0"/>
              <a:t>極めて</a:t>
            </a:r>
            <a:r>
              <a:rPr kumimoji="1" lang="ja-JP" altLang="en-US" dirty="0">
                <a:solidFill>
                  <a:srgbClr val="FF0000"/>
                </a:solidFill>
                <a:effectLst>
                  <a:outerShdw blurRad="38100" dist="38100" dir="2700000" algn="tl">
                    <a:srgbClr val="000000">
                      <a:alpha val="43137"/>
                    </a:srgbClr>
                  </a:outerShdw>
                </a:effectLst>
              </a:rPr>
              <a:t>顧客重視に重心を置いた規格</a:t>
            </a:r>
            <a:r>
              <a:rPr kumimoji="1" lang="ja-JP" altLang="en-US" dirty="0"/>
              <a:t>。</a:t>
            </a:r>
            <a:endParaRPr kumimoji="1" lang="en-US" altLang="ja-JP" dirty="0"/>
          </a:p>
          <a:p>
            <a:pPr lvl="1">
              <a:buFont typeface="Wingdings" panose="05000000000000000000" pitchFamily="2" charset="2"/>
              <a:buChar char="Ø"/>
            </a:pPr>
            <a:r>
              <a:rPr lang="ja-JP" altLang="en-US" dirty="0"/>
              <a:t>自動車開発においては、</a:t>
            </a:r>
            <a:r>
              <a:rPr lang="en-US" altLang="ja-JP" dirty="0"/>
              <a:t>OEM</a:t>
            </a:r>
            <a:r>
              <a:rPr lang="ja-JP" altLang="en-US" dirty="0"/>
              <a:t>とサプライヤーの緊密な連携が必須。</a:t>
            </a:r>
            <a:endParaRPr lang="en-US" altLang="ja-JP" dirty="0"/>
          </a:p>
          <a:p>
            <a:pPr marL="514350" indent="-514350">
              <a:buFont typeface="+mj-lt"/>
              <a:buAutoNum type="arabicPeriod"/>
            </a:pPr>
            <a:r>
              <a:rPr lang="ja-JP" altLang="en-US" dirty="0"/>
              <a:t>パフォーマンス重視</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供給者</a:t>
            </a:r>
            <a:r>
              <a:rPr lang="ja-JP" altLang="en-US" dirty="0"/>
              <a:t>のパフォーマンス（</a:t>
            </a:r>
            <a:r>
              <a:rPr lang="en-US" altLang="ja-JP" dirty="0"/>
              <a:t>8.4.2.4</a:t>
            </a:r>
            <a:r>
              <a:rPr lang="ja-JP" altLang="en-US" dirty="0"/>
              <a:t>）</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顧客</a:t>
            </a:r>
            <a:r>
              <a:rPr lang="ja-JP" altLang="en-US" dirty="0"/>
              <a:t>満足指標の監視（</a:t>
            </a:r>
            <a:r>
              <a:rPr lang="en-US" altLang="ja-JP" dirty="0"/>
              <a:t>9.1.2.1</a:t>
            </a:r>
            <a:r>
              <a:rPr lang="ja-JP" altLang="en-US" dirty="0"/>
              <a:t>）</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製造工程</a:t>
            </a:r>
            <a:r>
              <a:rPr lang="ja-JP" altLang="en-US" dirty="0"/>
              <a:t>の監視測定（</a:t>
            </a:r>
            <a:r>
              <a:rPr lang="en-US" altLang="ja-JP" dirty="0"/>
              <a:t>9.1.1.1</a:t>
            </a:r>
            <a:r>
              <a:rPr lang="ja-JP" altLang="en-US" dirty="0"/>
              <a:t>）</a:t>
            </a:r>
            <a:endParaRPr lang="en-US" altLang="ja-JP" dirty="0"/>
          </a:p>
          <a:p>
            <a:pPr marL="514350" indent="-514350">
              <a:buFont typeface="+mj-lt"/>
              <a:buAutoNum type="arabicPeriod"/>
            </a:pPr>
            <a:r>
              <a:rPr lang="ja-JP" altLang="en-US" dirty="0"/>
              <a:t>変更管理</a:t>
            </a:r>
            <a:endParaRPr lang="en-US" altLang="ja-JP" dirty="0"/>
          </a:p>
          <a:p>
            <a:pPr lvl="1">
              <a:buFont typeface="Wingdings" panose="05000000000000000000" pitchFamily="2" charset="2"/>
              <a:buChar char="Ø"/>
            </a:pPr>
            <a:r>
              <a:rPr lang="ja-JP" altLang="en-US" dirty="0"/>
              <a:t>品質問題は</a:t>
            </a:r>
            <a:r>
              <a:rPr lang="ja-JP" altLang="en-US" dirty="0">
                <a:solidFill>
                  <a:srgbClr val="FF0000"/>
                </a:solidFill>
                <a:effectLst>
                  <a:outerShdw blurRad="38100" dist="38100" dir="2700000" algn="tl">
                    <a:srgbClr val="000000">
                      <a:alpha val="43137"/>
                    </a:srgbClr>
                  </a:outerShdw>
                </a:effectLst>
              </a:rPr>
              <a:t>“変更”によって発生する</a:t>
            </a:r>
            <a:r>
              <a:rPr lang="ja-JP" altLang="en-US" dirty="0"/>
              <a:t>ことが多い。</a:t>
            </a:r>
            <a:endParaRPr lang="en-US" altLang="ja-JP" dirty="0"/>
          </a:p>
          <a:p>
            <a:pPr lvl="1">
              <a:buFont typeface="Wingdings" panose="05000000000000000000" pitchFamily="2" charset="2"/>
              <a:buChar char="Ø"/>
            </a:pPr>
            <a:r>
              <a:rPr lang="ja-JP" altLang="en-US" dirty="0"/>
              <a:t>“顧客への通知および同意”の要求。</a:t>
            </a:r>
            <a:endParaRPr lang="en-US" altLang="ja-JP" dirty="0"/>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3.4</a:t>
            </a:r>
            <a:r>
              <a:rPr lang="ja-JP" altLang="en-US" sz="4000" dirty="0">
                <a:solidFill>
                  <a:schemeClr val="bg1"/>
                </a:solidFill>
              </a:rPr>
              <a:t>　要求事項の特徴</a:t>
            </a:r>
            <a:endParaRPr kumimoji="1" lang="ja-JP" altLang="en-US" sz="4000" dirty="0">
              <a:solidFill>
                <a:schemeClr val="bg1"/>
              </a:solidFill>
            </a:endParaRPr>
          </a:p>
        </p:txBody>
      </p:sp>
    </p:spTree>
    <p:extLst>
      <p:ext uri="{BB962C8B-B14F-4D97-AF65-F5344CB8AC3E}">
        <p14:creationId xmlns:p14="http://schemas.microsoft.com/office/powerpoint/2010/main" val="1521017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49"/>
          </a:xfrm>
        </p:spPr>
        <p:txBody>
          <a:bodyPr>
            <a:normAutofit lnSpcReduction="10000"/>
          </a:bodyPr>
          <a:lstStyle/>
          <a:p>
            <a:pPr marL="514350" indent="-514350">
              <a:buFont typeface="+mj-lt"/>
              <a:buAutoNum type="arabicPeriod" startAt="4"/>
            </a:pPr>
            <a:r>
              <a:rPr lang="ja-JP" altLang="en-US" dirty="0"/>
              <a:t>製造工程重視</a:t>
            </a:r>
            <a:endParaRPr lang="en-US" altLang="ja-JP" dirty="0"/>
          </a:p>
          <a:p>
            <a:pPr lvl="1">
              <a:buFont typeface="Wingdings" panose="05000000000000000000" pitchFamily="2" charset="2"/>
              <a:buChar char="Ø"/>
            </a:pPr>
            <a:r>
              <a:rPr lang="ja-JP" altLang="en-US" dirty="0"/>
              <a:t>製造工程設計は除外されない。（製品設計は除外の可能性あり）</a:t>
            </a:r>
            <a:endParaRPr lang="en-US" altLang="ja-JP" dirty="0"/>
          </a:p>
          <a:p>
            <a:pPr marL="914400" lvl="2" indent="0">
              <a:buNone/>
            </a:pPr>
            <a:r>
              <a:rPr lang="ja-JP" altLang="en-US" sz="2400" dirty="0"/>
              <a:t>➠　「不具合の検出」ではなく「</a:t>
            </a:r>
            <a:r>
              <a:rPr lang="ja-JP" altLang="en-US" sz="2400" dirty="0">
                <a:solidFill>
                  <a:srgbClr val="FF0000"/>
                </a:solidFill>
                <a:effectLst>
                  <a:outerShdw blurRad="38100" dist="38100" dir="2700000" algn="tl">
                    <a:srgbClr val="000000">
                      <a:alpha val="43137"/>
                    </a:srgbClr>
                  </a:outerShdw>
                </a:effectLst>
              </a:rPr>
              <a:t>不具合の予防</a:t>
            </a:r>
            <a:r>
              <a:rPr lang="ja-JP" altLang="en-US" sz="2400" dirty="0"/>
              <a:t>」</a:t>
            </a:r>
            <a:endParaRPr lang="en-US" altLang="ja-JP" sz="2400" dirty="0"/>
          </a:p>
          <a:p>
            <a:pPr marL="914400" lvl="2" indent="0">
              <a:buNone/>
            </a:pPr>
            <a:r>
              <a:rPr lang="ja-JP" altLang="en-US" sz="2400" dirty="0"/>
              <a:t>➠　アウトプット（</a:t>
            </a:r>
            <a:r>
              <a:rPr lang="en-US" altLang="ja-JP" sz="2400" dirty="0"/>
              <a:t>CP</a:t>
            </a:r>
            <a:r>
              <a:rPr lang="ja-JP" altLang="en-US" sz="2400" dirty="0"/>
              <a:t>など、工程の最適化の努力の結果）</a:t>
            </a:r>
            <a:endParaRPr lang="en-US" altLang="ja-JP" sz="2400" dirty="0"/>
          </a:p>
          <a:p>
            <a:pPr lvl="1">
              <a:buFont typeface="Wingdings" panose="05000000000000000000" pitchFamily="2" charset="2"/>
              <a:buChar char="Ø"/>
            </a:pPr>
            <a:r>
              <a:rPr lang="ja-JP" altLang="en-US" dirty="0"/>
              <a:t>認証範囲の限定。（ルール</a:t>
            </a:r>
            <a:r>
              <a:rPr lang="en-US" altLang="ja-JP" dirty="0"/>
              <a:t>5</a:t>
            </a:r>
            <a:r>
              <a:rPr lang="ja-JP" altLang="en-US" dirty="0"/>
              <a:t>　</a:t>
            </a:r>
            <a:r>
              <a:rPr lang="en-US" altLang="ja-JP" dirty="0"/>
              <a:t>3.2</a:t>
            </a:r>
            <a:r>
              <a:rPr lang="ja-JP" altLang="en-US" dirty="0"/>
              <a:t>認証範囲）</a:t>
            </a:r>
            <a:endParaRPr lang="en-US" altLang="ja-JP" dirty="0"/>
          </a:p>
          <a:p>
            <a:pPr marL="1371600" lvl="2" indent="-457200">
              <a:buFont typeface="+mj-ea"/>
              <a:buAutoNum type="circleNumDbPlain"/>
            </a:pPr>
            <a:r>
              <a:rPr lang="ja-JP" altLang="en-US" sz="2400" dirty="0"/>
              <a:t>製品の設計及び</a:t>
            </a:r>
            <a:r>
              <a:rPr lang="ja-JP" altLang="en-US" sz="2400" dirty="0">
                <a:solidFill>
                  <a:srgbClr val="FF0000"/>
                </a:solidFill>
                <a:effectLst>
                  <a:outerShdw blurRad="38100" dist="38100" dir="2700000" algn="tl">
                    <a:srgbClr val="000000">
                      <a:alpha val="43137"/>
                    </a:srgbClr>
                  </a:outerShdw>
                </a:effectLst>
              </a:rPr>
              <a:t>製造</a:t>
            </a:r>
            <a:endParaRPr lang="en-US" altLang="ja-JP" sz="2400" dirty="0">
              <a:solidFill>
                <a:srgbClr val="FF0000"/>
              </a:solidFill>
              <a:effectLst>
                <a:outerShdw blurRad="38100" dist="38100" dir="2700000" algn="tl">
                  <a:srgbClr val="000000">
                    <a:alpha val="43137"/>
                  </a:srgbClr>
                </a:outerShdw>
              </a:effectLst>
            </a:endParaRPr>
          </a:p>
          <a:p>
            <a:pPr marL="1371600" lvl="2" indent="-457200">
              <a:buFont typeface="+mj-ea"/>
              <a:buAutoNum type="circleNumDbPlain"/>
            </a:pPr>
            <a:r>
              <a:rPr lang="ja-JP" altLang="en-US" sz="2400" dirty="0"/>
              <a:t>製品の</a:t>
            </a:r>
            <a:r>
              <a:rPr lang="ja-JP" altLang="en-US" sz="2400" dirty="0">
                <a:solidFill>
                  <a:srgbClr val="FF0000"/>
                </a:solidFill>
                <a:effectLst>
                  <a:outerShdw blurRad="38100" dist="38100" dir="2700000" algn="tl">
                    <a:srgbClr val="000000">
                      <a:alpha val="43137"/>
                    </a:srgbClr>
                  </a:outerShdw>
                </a:effectLst>
              </a:rPr>
              <a:t>製造</a:t>
            </a:r>
            <a:endParaRPr lang="en-US" altLang="ja-JP" sz="2400" dirty="0">
              <a:solidFill>
                <a:srgbClr val="FF0000"/>
              </a:solidFill>
              <a:effectLst>
                <a:outerShdw blurRad="38100" dist="38100" dir="2700000" algn="tl">
                  <a:srgbClr val="000000">
                    <a:alpha val="43137"/>
                  </a:srgbClr>
                </a:outerShdw>
              </a:effectLst>
            </a:endParaRPr>
          </a:p>
          <a:p>
            <a:pPr marL="1371600" lvl="2" indent="-457200">
              <a:buFont typeface="+mj-ea"/>
              <a:buAutoNum type="circleNumDbPlain"/>
            </a:pPr>
            <a:r>
              <a:rPr lang="ja-JP" altLang="en-US" sz="2400" dirty="0"/>
              <a:t>特定の</a:t>
            </a:r>
            <a:r>
              <a:rPr lang="ja-JP" altLang="en-US" sz="2400" dirty="0">
                <a:solidFill>
                  <a:srgbClr val="FF0000"/>
                </a:solidFill>
                <a:effectLst>
                  <a:outerShdw blurRad="38100" dist="38100" dir="2700000" algn="tl">
                    <a:srgbClr val="000000">
                      <a:alpha val="43137"/>
                    </a:srgbClr>
                  </a:outerShdw>
                </a:effectLst>
              </a:rPr>
              <a:t>製造</a:t>
            </a:r>
            <a:r>
              <a:rPr lang="ja-JP" altLang="en-US" sz="2400" dirty="0"/>
              <a:t>工程（表面処理など）</a:t>
            </a:r>
            <a:endParaRPr lang="en-US" altLang="ja-JP" sz="2400" dirty="0"/>
          </a:p>
          <a:p>
            <a:pPr marL="457200" indent="-457200">
              <a:buFont typeface="+mj-ea"/>
              <a:buAutoNum type="arabicPeriod" startAt="4"/>
            </a:pPr>
            <a:r>
              <a:rPr lang="ja-JP" altLang="en-US" dirty="0"/>
              <a:t>試験所要求事項（</a:t>
            </a:r>
            <a:r>
              <a:rPr lang="en-US" altLang="ja-JP" dirty="0"/>
              <a:t>7.1.5.3</a:t>
            </a:r>
            <a:r>
              <a:rPr lang="ja-JP" altLang="en-US" dirty="0"/>
              <a:t>）</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試験所適用範囲</a:t>
            </a:r>
            <a:r>
              <a:rPr lang="ja-JP" altLang="en-US" dirty="0"/>
              <a:t>の文書化。</a:t>
            </a:r>
            <a:endParaRPr lang="en-US" altLang="ja-JP" dirty="0"/>
          </a:p>
          <a:p>
            <a:pPr marL="914400" lvl="2" indent="0">
              <a:buNone/>
            </a:pPr>
            <a:r>
              <a:rPr lang="ja-JP" altLang="en-US" sz="2400" dirty="0"/>
              <a:t>（適格性確認された試験、評価及び校正／設備リスト／方法及び規格のリスト）</a:t>
            </a:r>
            <a:endParaRPr lang="en-US" altLang="ja-JP" sz="2400" dirty="0"/>
          </a:p>
        </p:txBody>
      </p:sp>
      <p:sp>
        <p:nvSpPr>
          <p:cNvPr id="8" name="タイトル 1">
            <a:extLst>
              <a:ext uri="{FF2B5EF4-FFF2-40B4-BE49-F238E27FC236}">
                <a16:creationId xmlns:a16="http://schemas.microsoft.com/office/drawing/2014/main" id="{7B58E650-C045-461B-B663-95AD7EFF3902}"/>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3.4</a:t>
            </a:r>
            <a:r>
              <a:rPr lang="ja-JP" altLang="en-US" sz="4000" dirty="0">
                <a:solidFill>
                  <a:schemeClr val="bg1"/>
                </a:solidFill>
              </a:rPr>
              <a:t>　要求事項の特徴</a:t>
            </a:r>
            <a:endParaRPr kumimoji="1" lang="ja-JP" altLang="en-US" sz="4000" dirty="0">
              <a:solidFill>
                <a:schemeClr val="bg1"/>
              </a:solidFill>
            </a:endParaRPr>
          </a:p>
        </p:txBody>
      </p:sp>
      <p:sp>
        <p:nvSpPr>
          <p:cNvPr id="6" name="吹き出し: 角を丸めた四角形 5">
            <a:extLst>
              <a:ext uri="{FF2B5EF4-FFF2-40B4-BE49-F238E27FC236}">
                <a16:creationId xmlns:a16="http://schemas.microsoft.com/office/drawing/2014/main" id="{AD77F6A1-3C02-44F6-A410-53CA33115D2F}"/>
              </a:ext>
            </a:extLst>
          </p:cNvPr>
          <p:cNvSpPr/>
          <p:nvPr/>
        </p:nvSpPr>
        <p:spPr>
          <a:xfrm>
            <a:off x="7439025" y="3429000"/>
            <a:ext cx="2857500" cy="828675"/>
          </a:xfrm>
          <a:prstGeom prst="wedgeRoundRectCallout">
            <a:avLst>
              <a:gd name="adj1" fmla="val -55732"/>
              <a:gd name="adj2" fmla="val -1752"/>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ＩＡＴＦ認証は</a:t>
            </a:r>
            <a:endParaRPr lang="en-US" altLang="ja-JP" sz="2000" dirty="0">
              <a:solidFill>
                <a:schemeClr val="tx1"/>
              </a:solidFill>
            </a:endParaRPr>
          </a:p>
          <a:p>
            <a:pPr algn="ctr"/>
            <a:r>
              <a:rPr lang="en-US" altLang="ja-JP" sz="2000" dirty="0">
                <a:solidFill>
                  <a:schemeClr val="tx1"/>
                </a:solidFill>
              </a:rPr>
              <a:t>『</a:t>
            </a:r>
            <a:r>
              <a:rPr lang="ja-JP" altLang="en-US" sz="2000" dirty="0">
                <a:solidFill>
                  <a:schemeClr val="tx1"/>
                </a:solidFill>
              </a:rPr>
              <a:t>製造工場</a:t>
            </a:r>
            <a:r>
              <a:rPr lang="en-US" altLang="ja-JP" sz="2000" dirty="0">
                <a:solidFill>
                  <a:schemeClr val="tx1"/>
                </a:solidFill>
              </a:rPr>
              <a:t>』</a:t>
            </a:r>
            <a:r>
              <a:rPr lang="ja-JP" altLang="en-US" sz="2000" dirty="0">
                <a:solidFill>
                  <a:schemeClr val="tx1"/>
                </a:solidFill>
              </a:rPr>
              <a:t>のみ</a:t>
            </a:r>
            <a:endParaRPr kumimoji="1" lang="en-US" altLang="ja-JP" sz="2000" dirty="0">
              <a:solidFill>
                <a:schemeClr val="tx1"/>
              </a:solidFill>
            </a:endParaRPr>
          </a:p>
        </p:txBody>
      </p:sp>
      <p:sp>
        <p:nvSpPr>
          <p:cNvPr id="7" name="右中かっこ 6">
            <a:extLst>
              <a:ext uri="{FF2B5EF4-FFF2-40B4-BE49-F238E27FC236}">
                <a16:creationId xmlns:a16="http://schemas.microsoft.com/office/drawing/2014/main" id="{27E05A13-5B20-4177-B3A2-54FF26829D95}"/>
              </a:ext>
            </a:extLst>
          </p:cNvPr>
          <p:cNvSpPr/>
          <p:nvPr/>
        </p:nvSpPr>
        <p:spPr>
          <a:xfrm>
            <a:off x="6815137" y="3348036"/>
            <a:ext cx="295275" cy="104298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555321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49"/>
          </a:xfrm>
        </p:spPr>
        <p:txBody>
          <a:bodyPr>
            <a:normAutofit/>
          </a:bodyPr>
          <a:lstStyle/>
          <a:p>
            <a:pPr marL="514350" indent="-514350">
              <a:buFont typeface="+mj-lt"/>
              <a:buAutoNum type="arabicPeriod" startAt="6"/>
            </a:pPr>
            <a:r>
              <a:rPr lang="ja-JP" altLang="en-US" dirty="0"/>
              <a:t>製品安全</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特殊特性</a:t>
            </a:r>
            <a:r>
              <a:rPr lang="ja-JP" altLang="en-US" dirty="0"/>
              <a:t>に関する要求事項。（</a:t>
            </a:r>
            <a:r>
              <a:rPr lang="en-US" altLang="ja-JP" dirty="0"/>
              <a:t>11</a:t>
            </a:r>
            <a:r>
              <a:rPr lang="ja-JP" altLang="en-US" dirty="0"/>
              <a:t>の箇条に登場：</a:t>
            </a:r>
            <a:r>
              <a:rPr lang="en-US" altLang="ja-JP" dirty="0"/>
              <a:t>5.3</a:t>
            </a:r>
            <a:r>
              <a:rPr lang="ja-JP" altLang="en-US" dirty="0"/>
              <a:t>／</a:t>
            </a:r>
            <a:r>
              <a:rPr lang="en-US" altLang="ja-JP" dirty="0"/>
              <a:t>7.1.5</a:t>
            </a:r>
            <a:r>
              <a:rPr lang="ja-JP" altLang="en-US" dirty="0"/>
              <a:t>／</a:t>
            </a:r>
            <a:r>
              <a:rPr lang="en-US" altLang="ja-JP" dirty="0"/>
              <a:t>8.2</a:t>
            </a:r>
            <a:r>
              <a:rPr lang="ja-JP" altLang="en-US" dirty="0"/>
              <a:t>／</a:t>
            </a:r>
            <a:r>
              <a:rPr lang="en-US" altLang="ja-JP" dirty="0"/>
              <a:t>8.3</a:t>
            </a:r>
            <a:r>
              <a:rPr lang="ja-JP" altLang="en-US" dirty="0"/>
              <a:t>／</a:t>
            </a:r>
            <a:r>
              <a:rPr lang="en-US" altLang="ja-JP" dirty="0"/>
              <a:t>8.4</a:t>
            </a:r>
            <a:r>
              <a:rPr lang="ja-JP" altLang="en-US" dirty="0"/>
              <a:t>／</a:t>
            </a:r>
            <a:r>
              <a:rPr lang="en-US" altLang="ja-JP" dirty="0"/>
              <a:t>8.5</a:t>
            </a:r>
            <a:r>
              <a:rPr lang="ja-JP" altLang="en-US" dirty="0"/>
              <a:t>／</a:t>
            </a:r>
            <a:r>
              <a:rPr lang="en-US" altLang="ja-JP" dirty="0"/>
              <a:t>9.1</a:t>
            </a:r>
            <a:r>
              <a:rPr lang="ja-JP" altLang="en-US" dirty="0"/>
              <a:t>）</a:t>
            </a:r>
            <a:endParaRPr lang="en-US" altLang="ja-JP" dirty="0"/>
          </a:p>
          <a:p>
            <a:pPr marL="914400" lvl="2" indent="0">
              <a:buNone/>
            </a:pPr>
            <a:r>
              <a:rPr lang="ja-JP" altLang="en-US" dirty="0"/>
              <a:t>「安全、規制への適合、組付けの合い、機能、性能・・・・・製品特性及び製造工程パラメータ」</a:t>
            </a:r>
            <a:endParaRPr lang="en-US" altLang="ja-JP" dirty="0"/>
          </a:p>
          <a:p>
            <a:pPr lvl="1">
              <a:buFont typeface="Wingdings" panose="05000000000000000000" pitchFamily="2" charset="2"/>
              <a:buChar char="Ø"/>
            </a:pPr>
            <a:r>
              <a:rPr lang="ja-JP" altLang="en-US" dirty="0"/>
              <a:t>製品安全に関係する運用管理の文書化プロセス。（</a:t>
            </a:r>
            <a:r>
              <a:rPr lang="en-US" altLang="ja-JP" dirty="0"/>
              <a:t>4.4.1.2</a:t>
            </a:r>
            <a:r>
              <a:rPr lang="ja-JP" altLang="en-US" dirty="0"/>
              <a:t>）</a:t>
            </a:r>
            <a:endParaRPr lang="en-US" altLang="ja-JP" dirty="0"/>
          </a:p>
          <a:p>
            <a:pPr lvl="2"/>
            <a:r>
              <a:rPr lang="ja-JP" altLang="en-US" sz="2400" dirty="0"/>
              <a:t>法令及び規制の特定。</a:t>
            </a:r>
            <a:endParaRPr lang="en-US" altLang="ja-JP" sz="2400" dirty="0"/>
          </a:p>
          <a:p>
            <a:pPr lvl="2"/>
            <a:r>
              <a:rPr lang="en-US" altLang="ja-JP" sz="2400" dirty="0"/>
              <a:t>DFMEA</a:t>
            </a:r>
            <a:r>
              <a:rPr lang="ja-JP" altLang="en-US" sz="2400" dirty="0" err="1"/>
              <a:t>、</a:t>
            </a:r>
            <a:r>
              <a:rPr lang="en-US" altLang="ja-JP" sz="2400" dirty="0"/>
              <a:t>CP</a:t>
            </a:r>
            <a:r>
              <a:rPr lang="ja-JP" altLang="en-US" sz="2400" dirty="0"/>
              <a:t>及び</a:t>
            </a:r>
            <a:r>
              <a:rPr lang="en-US" altLang="ja-JP" sz="2400" dirty="0"/>
              <a:t>PFMEA</a:t>
            </a:r>
            <a:r>
              <a:rPr lang="ja-JP" altLang="en-US" sz="2400" dirty="0"/>
              <a:t>に対する特別承認。</a:t>
            </a:r>
            <a:endParaRPr lang="en-US" altLang="ja-JP" sz="2400" dirty="0"/>
          </a:p>
          <a:p>
            <a:pPr lvl="2"/>
            <a:r>
              <a:rPr lang="ja-JP" altLang="en-US" sz="2400" dirty="0"/>
              <a:t>製品安全に関する特性の特定など、</a:t>
            </a:r>
            <a:r>
              <a:rPr lang="en-US" altLang="ja-JP" sz="2400" dirty="0"/>
              <a:t>13</a:t>
            </a:r>
            <a:r>
              <a:rPr lang="ja-JP" altLang="en-US" sz="2400" dirty="0"/>
              <a:t>項目。</a:t>
            </a:r>
            <a:endParaRPr lang="en-US" altLang="ja-JP" sz="2400" dirty="0"/>
          </a:p>
          <a:p>
            <a:pPr marL="514350" indent="-514350">
              <a:buFont typeface="+mj-lt"/>
              <a:buAutoNum type="arabicPeriod" startAt="7"/>
            </a:pPr>
            <a:r>
              <a:rPr lang="ja-JP" altLang="en-US" dirty="0"/>
              <a:t>企業責任（</a:t>
            </a:r>
            <a:r>
              <a:rPr lang="en-US" altLang="ja-JP" dirty="0"/>
              <a:t>5.1.1.1</a:t>
            </a:r>
            <a:r>
              <a:rPr lang="ja-JP" altLang="en-US" dirty="0"/>
              <a:t>）</a:t>
            </a:r>
            <a:endParaRPr lang="en-US" altLang="ja-JP" dirty="0"/>
          </a:p>
          <a:p>
            <a:pPr lvl="1">
              <a:buFont typeface="Wingdings" panose="05000000000000000000" pitchFamily="2" charset="2"/>
              <a:buChar char="Ø"/>
            </a:pPr>
            <a:r>
              <a:rPr lang="en-US" altLang="ja-JP" dirty="0"/>
              <a:t>QMS</a:t>
            </a:r>
            <a:r>
              <a:rPr lang="ja-JP" altLang="en-US" dirty="0"/>
              <a:t>というより「</a:t>
            </a:r>
            <a:r>
              <a:rPr lang="ja-JP" altLang="en-US" dirty="0">
                <a:solidFill>
                  <a:srgbClr val="FF0000"/>
                </a:solidFill>
                <a:effectLst>
                  <a:outerShdw blurRad="38100" dist="38100" dir="2700000" algn="tl">
                    <a:srgbClr val="000000">
                      <a:alpha val="43137"/>
                    </a:srgbClr>
                  </a:outerShdw>
                </a:effectLst>
              </a:rPr>
              <a:t>コンプライアンス要求</a:t>
            </a:r>
            <a:r>
              <a:rPr lang="ja-JP" altLang="en-US" dirty="0"/>
              <a:t>」。</a:t>
            </a:r>
            <a:endParaRPr lang="en-US" altLang="ja-JP" dirty="0"/>
          </a:p>
          <a:p>
            <a:pPr lvl="1">
              <a:buFont typeface="Wingdings" panose="05000000000000000000" pitchFamily="2" charset="2"/>
              <a:buChar char="Ø"/>
            </a:pPr>
            <a:r>
              <a:rPr lang="ja-JP" altLang="en-US" dirty="0"/>
              <a:t>企業責任方針の決定。（贈賄防止、行動規範及び上申方針を含む。）</a:t>
            </a:r>
            <a:endParaRPr lang="en-US" altLang="ja-JP" dirty="0"/>
          </a:p>
        </p:txBody>
      </p:sp>
      <p:sp>
        <p:nvSpPr>
          <p:cNvPr id="8" name="タイトル 1">
            <a:extLst>
              <a:ext uri="{FF2B5EF4-FFF2-40B4-BE49-F238E27FC236}">
                <a16:creationId xmlns:a16="http://schemas.microsoft.com/office/drawing/2014/main" id="{BE6F2C78-9CF0-4125-B68C-62BA0E1B6453}"/>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3.4</a:t>
            </a:r>
            <a:r>
              <a:rPr lang="ja-JP" altLang="en-US" sz="4000" dirty="0">
                <a:solidFill>
                  <a:schemeClr val="bg1"/>
                </a:solidFill>
              </a:rPr>
              <a:t>　要求事項の特徴</a:t>
            </a:r>
            <a:endParaRPr kumimoji="1" lang="ja-JP" altLang="en-US" sz="4000" dirty="0">
              <a:solidFill>
                <a:schemeClr val="bg1"/>
              </a:solidFill>
            </a:endParaRPr>
          </a:p>
        </p:txBody>
      </p:sp>
    </p:spTree>
    <p:extLst>
      <p:ext uri="{BB962C8B-B14F-4D97-AF65-F5344CB8AC3E}">
        <p14:creationId xmlns:p14="http://schemas.microsoft.com/office/powerpoint/2010/main" val="1243829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49"/>
          </a:xfrm>
        </p:spPr>
        <p:txBody>
          <a:bodyPr>
            <a:normAutofit/>
          </a:bodyPr>
          <a:lstStyle/>
          <a:p>
            <a:pPr marL="514350" indent="-514350">
              <a:buFont typeface="+mj-lt"/>
              <a:buAutoNum type="arabicPeriod" startAt="8"/>
            </a:pPr>
            <a:r>
              <a:rPr lang="ja-JP" altLang="en-US" dirty="0"/>
              <a:t>供給者の管理</a:t>
            </a:r>
            <a:endParaRPr lang="en-US" altLang="ja-JP" dirty="0"/>
          </a:p>
          <a:p>
            <a:pPr lvl="1">
              <a:buFont typeface="Wingdings" panose="05000000000000000000" pitchFamily="2" charset="2"/>
              <a:buChar char="Ø"/>
            </a:pPr>
            <a:r>
              <a:rPr lang="en-US" altLang="ja-JP" dirty="0">
                <a:solidFill>
                  <a:srgbClr val="FF0000"/>
                </a:solidFill>
                <a:effectLst>
                  <a:outerShdw blurRad="38100" dist="38100" dir="2700000" algn="tl">
                    <a:srgbClr val="000000">
                      <a:alpha val="43137"/>
                    </a:srgbClr>
                  </a:outerShdw>
                </a:effectLst>
              </a:rPr>
              <a:t>ISO9001</a:t>
            </a:r>
            <a:r>
              <a:rPr lang="ja-JP" altLang="en-US" dirty="0" err="1">
                <a:solidFill>
                  <a:srgbClr val="FF0000"/>
                </a:solidFill>
                <a:effectLst>
                  <a:outerShdw blurRad="38100" dist="38100" dir="2700000" algn="tl">
                    <a:srgbClr val="000000">
                      <a:alpha val="43137"/>
                    </a:srgbClr>
                  </a:outerShdw>
                </a:effectLst>
              </a:rPr>
              <a:t>には</a:t>
            </a:r>
            <a:r>
              <a:rPr lang="ja-JP" altLang="en-US" dirty="0">
                <a:solidFill>
                  <a:srgbClr val="FF0000"/>
                </a:solidFill>
                <a:effectLst>
                  <a:outerShdw blurRad="38100" dist="38100" dir="2700000" algn="tl">
                    <a:srgbClr val="000000">
                      <a:alpha val="43137"/>
                    </a:srgbClr>
                  </a:outerShdw>
                </a:effectLst>
              </a:rPr>
              <a:t>見られない強い特徴。</a:t>
            </a:r>
            <a:endParaRPr lang="en-US" altLang="ja-JP" dirty="0">
              <a:solidFill>
                <a:srgbClr val="FF0000"/>
              </a:solidFill>
              <a:effectLst>
                <a:outerShdw blurRad="38100" dist="38100" dir="2700000" algn="tl">
                  <a:srgbClr val="000000">
                    <a:alpha val="43137"/>
                  </a:srgbClr>
                </a:outerShdw>
              </a:effectLst>
            </a:endParaRPr>
          </a:p>
          <a:p>
            <a:pPr lvl="2"/>
            <a:r>
              <a:rPr lang="en-US" altLang="ja-JP" sz="2400" dirty="0"/>
              <a:t>8.4.1.2</a:t>
            </a:r>
            <a:r>
              <a:rPr lang="ja-JP" altLang="en-US" sz="2400" dirty="0"/>
              <a:t>　　供給者選定プロセス</a:t>
            </a:r>
            <a:endParaRPr lang="en-US" altLang="ja-JP" sz="2400" dirty="0"/>
          </a:p>
          <a:p>
            <a:pPr lvl="2"/>
            <a:r>
              <a:rPr lang="en-US" altLang="ja-JP" sz="2400" u="sng" dirty="0"/>
              <a:t>8.4.2.3</a:t>
            </a:r>
            <a:r>
              <a:rPr lang="ja-JP" altLang="en-US" sz="2400" u="sng" dirty="0"/>
              <a:t>　　供給者の品質マネジメントシステム開発</a:t>
            </a:r>
            <a:endParaRPr lang="en-US" altLang="ja-JP" sz="2400" u="sng" dirty="0"/>
          </a:p>
          <a:p>
            <a:pPr lvl="2"/>
            <a:r>
              <a:rPr lang="en-US" altLang="ja-JP" sz="2400" dirty="0"/>
              <a:t>8.4.2.4.1</a:t>
            </a:r>
            <a:r>
              <a:rPr lang="ja-JP" altLang="en-US" sz="2400" dirty="0"/>
              <a:t>    第二者監査</a:t>
            </a:r>
            <a:endParaRPr lang="en-US" altLang="ja-JP" sz="2400" dirty="0"/>
          </a:p>
          <a:p>
            <a:pPr lvl="2"/>
            <a:r>
              <a:rPr lang="en-US" altLang="ja-JP" sz="2400" dirty="0"/>
              <a:t>8.4.2.5</a:t>
            </a:r>
            <a:r>
              <a:rPr lang="ja-JP" altLang="en-US" sz="2400" dirty="0"/>
              <a:t>　　供給者の開発</a:t>
            </a:r>
            <a:endParaRPr lang="en-US" altLang="ja-JP" sz="2400" dirty="0"/>
          </a:p>
          <a:p>
            <a:pPr marL="514350" indent="-514350">
              <a:buFont typeface="+mj-lt"/>
              <a:buAutoNum type="arabicPeriod" startAt="9"/>
            </a:pPr>
            <a:r>
              <a:rPr lang="ja-JP" altLang="en-US" dirty="0"/>
              <a:t>コアツールの活用</a:t>
            </a:r>
            <a:endParaRPr lang="en-US" altLang="ja-JP" dirty="0"/>
          </a:p>
          <a:p>
            <a:pPr lvl="1">
              <a:buFont typeface="Wingdings" panose="05000000000000000000" pitchFamily="2" charset="2"/>
              <a:buChar char="Ø"/>
            </a:pPr>
            <a:r>
              <a:rPr lang="ja-JP" altLang="en-US" dirty="0"/>
              <a:t>参照マニュアルの位置付け</a:t>
            </a:r>
            <a:r>
              <a:rPr lang="ja-JP" altLang="en-US" sz="1600" dirty="0"/>
              <a:t>（</a:t>
            </a:r>
            <a:r>
              <a:rPr lang="en-US" altLang="ja-JP" sz="1600" dirty="0"/>
              <a:t>PPAP</a:t>
            </a:r>
            <a:r>
              <a:rPr lang="ja-JP" altLang="en-US" sz="1600" dirty="0"/>
              <a:t>は義務的要求）</a:t>
            </a:r>
            <a:r>
              <a:rPr lang="ja-JP" altLang="en-US" dirty="0"/>
              <a:t>だが、顧客要求を前提とした事実上の要求事項。</a:t>
            </a:r>
            <a:endParaRPr lang="en-US" altLang="ja-JP" dirty="0"/>
          </a:p>
          <a:p>
            <a:pPr lvl="1">
              <a:buFont typeface="Wingdings" panose="05000000000000000000" pitchFamily="2" charset="2"/>
              <a:buChar char="Ø"/>
            </a:pPr>
            <a:r>
              <a:rPr lang="ja-JP" altLang="en-US" dirty="0"/>
              <a:t>顧客要求に対する顧客との　“共通言語”　的活用。</a:t>
            </a:r>
            <a:endParaRPr lang="en-US" altLang="ja-JP" dirty="0"/>
          </a:p>
        </p:txBody>
      </p:sp>
      <p:sp>
        <p:nvSpPr>
          <p:cNvPr id="8" name="タイトル 1">
            <a:extLst>
              <a:ext uri="{FF2B5EF4-FFF2-40B4-BE49-F238E27FC236}">
                <a16:creationId xmlns:a16="http://schemas.microsoft.com/office/drawing/2014/main" id="{91C69462-7667-4FD2-BF8E-1BDFA6DC0068}"/>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3.4</a:t>
            </a:r>
            <a:r>
              <a:rPr lang="ja-JP" altLang="en-US" sz="4000" dirty="0">
                <a:solidFill>
                  <a:schemeClr val="bg1"/>
                </a:solidFill>
              </a:rPr>
              <a:t>　要求事項の特徴</a:t>
            </a:r>
            <a:endParaRPr kumimoji="1" lang="ja-JP" altLang="en-US" sz="4000" dirty="0">
              <a:solidFill>
                <a:schemeClr val="bg1"/>
              </a:solidFill>
            </a:endParaRPr>
          </a:p>
        </p:txBody>
      </p:sp>
    </p:spTree>
    <p:extLst>
      <p:ext uri="{BB962C8B-B14F-4D97-AF65-F5344CB8AC3E}">
        <p14:creationId xmlns:p14="http://schemas.microsoft.com/office/powerpoint/2010/main" val="2160662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1"/>
            <a:ext cx="10515600" cy="1905000"/>
          </a:xfrm>
        </p:spPr>
        <p:txBody>
          <a:bodyPr>
            <a:normAutofit/>
          </a:bodyPr>
          <a:lstStyle/>
          <a:p>
            <a:pPr marL="514350" indent="-514350">
              <a:buFont typeface="+mj-lt"/>
              <a:buAutoNum type="arabicPeriod"/>
            </a:pPr>
            <a:r>
              <a:rPr lang="ja-JP" altLang="en-US" dirty="0">
                <a:solidFill>
                  <a:srgbClr val="FF0000"/>
                </a:solidFill>
                <a:effectLst>
                  <a:outerShdw blurRad="38100" dist="38100" dir="2700000" algn="tl">
                    <a:srgbClr val="000000">
                      <a:alpha val="43137"/>
                    </a:srgbClr>
                  </a:outerShdw>
                </a:effectLst>
              </a:rPr>
              <a:t>不具合の予防と無駄の削減</a:t>
            </a:r>
            <a:endParaRPr lang="en-US" altLang="ja-JP" dirty="0">
              <a:solidFill>
                <a:srgbClr val="FF0000"/>
              </a:solidFill>
              <a:effectLst>
                <a:outerShdw blurRad="38100" dist="38100" dir="2700000" algn="tl">
                  <a:srgbClr val="000000">
                    <a:alpha val="43137"/>
                  </a:srgbClr>
                </a:outerShdw>
              </a:effectLst>
            </a:endParaRPr>
          </a:p>
          <a:p>
            <a:pPr lvl="1">
              <a:buFont typeface="Wingdings" panose="05000000000000000000" pitchFamily="2" charset="2"/>
              <a:buChar char="Ø"/>
            </a:pPr>
            <a:r>
              <a:rPr lang="ja-JP" altLang="en-US" dirty="0"/>
              <a:t>発生後の是正ではなく、“</a:t>
            </a:r>
            <a:r>
              <a:rPr lang="en-US" altLang="ja-JP" dirty="0"/>
              <a:t>100%</a:t>
            </a:r>
            <a:r>
              <a:rPr lang="ja-JP" altLang="en-US" dirty="0"/>
              <a:t>適合品をオンタイムで納入する”。</a:t>
            </a:r>
            <a:endParaRPr lang="en-US" altLang="ja-JP" dirty="0"/>
          </a:p>
          <a:p>
            <a:pPr lvl="1">
              <a:buFont typeface="Wingdings" panose="05000000000000000000" pitchFamily="2" charset="2"/>
              <a:buChar char="Ø"/>
            </a:pPr>
            <a:r>
              <a:rPr lang="ja-JP" altLang="en-US" dirty="0"/>
              <a:t>サプライチェーンにおけるばらつきの無駄削減。</a:t>
            </a:r>
            <a:endParaRPr lang="en-US" altLang="ja-JP" dirty="0"/>
          </a:p>
          <a:p>
            <a:pPr marL="514350" indent="-514350">
              <a:buFont typeface="+mj-lt"/>
              <a:buAutoNum type="arabicPeriod"/>
            </a:pPr>
            <a:r>
              <a:rPr lang="ja-JP" altLang="en-US" dirty="0"/>
              <a:t>顧客固有要求事項の順守。</a:t>
            </a:r>
            <a:endParaRPr lang="en-US" altLang="ja-JP" dirty="0"/>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3.5</a:t>
            </a:r>
            <a:r>
              <a:rPr lang="ja-JP" altLang="en-US" sz="4000" dirty="0">
                <a:solidFill>
                  <a:schemeClr val="bg1"/>
                </a:solidFill>
              </a:rPr>
              <a:t>　ＩＡＴＦ１６９４９の到達目標</a:t>
            </a:r>
            <a:endParaRPr kumimoji="1" lang="ja-JP" altLang="en-US" sz="4000" dirty="0">
              <a:solidFill>
                <a:schemeClr val="bg1"/>
              </a:solidFill>
            </a:endParaRPr>
          </a:p>
        </p:txBody>
      </p:sp>
      <p:graphicFrame>
        <p:nvGraphicFramePr>
          <p:cNvPr id="2" name="表 1">
            <a:extLst>
              <a:ext uri="{FF2B5EF4-FFF2-40B4-BE49-F238E27FC236}">
                <a16:creationId xmlns:a16="http://schemas.microsoft.com/office/drawing/2014/main" id="{4EF5AAC9-7718-4FEE-813C-EF45035C883C}"/>
              </a:ext>
            </a:extLst>
          </p:cNvPr>
          <p:cNvGraphicFramePr>
            <a:graphicFrameLocks noGrp="1"/>
          </p:cNvGraphicFramePr>
          <p:nvPr>
            <p:extLst>
              <p:ext uri="{D42A27DB-BD31-4B8C-83A1-F6EECF244321}">
                <p14:modId xmlns:p14="http://schemas.microsoft.com/office/powerpoint/2010/main" val="2540817975"/>
              </p:ext>
            </p:extLst>
          </p:nvPr>
        </p:nvGraphicFramePr>
        <p:xfrm>
          <a:off x="1404680" y="3428999"/>
          <a:ext cx="9949120" cy="2461438"/>
        </p:xfrm>
        <a:graphic>
          <a:graphicData uri="http://schemas.openxmlformats.org/drawingml/2006/table">
            <a:tbl>
              <a:tblPr firstRow="1" bandRow="1">
                <a:tableStyleId>{5940675A-B579-460E-94D1-54222C63F5DA}</a:tableStyleId>
              </a:tblPr>
              <a:tblGrid>
                <a:gridCol w="2890873">
                  <a:extLst>
                    <a:ext uri="{9D8B030D-6E8A-4147-A177-3AD203B41FA5}">
                      <a16:colId xmlns:a16="http://schemas.microsoft.com/office/drawing/2014/main" val="4038834879"/>
                    </a:ext>
                  </a:extLst>
                </a:gridCol>
                <a:gridCol w="7058247">
                  <a:extLst>
                    <a:ext uri="{9D8B030D-6E8A-4147-A177-3AD203B41FA5}">
                      <a16:colId xmlns:a16="http://schemas.microsoft.com/office/drawing/2014/main" val="1614191841"/>
                    </a:ext>
                  </a:extLst>
                </a:gridCol>
              </a:tblGrid>
              <a:tr h="559418">
                <a:tc>
                  <a:txBody>
                    <a:bodyPr/>
                    <a:lstStyle/>
                    <a:p>
                      <a:pPr algn="ctr"/>
                      <a:r>
                        <a:rPr kumimoji="1" lang="ja-JP" altLang="en-US" sz="2400" dirty="0"/>
                        <a:t>顧客要求事項</a:t>
                      </a:r>
                    </a:p>
                  </a:txBody>
                  <a:tcPr anchor="ctr">
                    <a:solidFill>
                      <a:schemeClr val="tx2">
                        <a:lumMod val="20000"/>
                        <a:lumOff val="80000"/>
                      </a:schemeClr>
                    </a:solidFill>
                  </a:tcPr>
                </a:tc>
                <a:tc>
                  <a:txBody>
                    <a:bodyPr/>
                    <a:lstStyle/>
                    <a:p>
                      <a:r>
                        <a:rPr kumimoji="1" lang="ja-JP" altLang="en-US" sz="2400" dirty="0"/>
                        <a:t>契約事項及び製品要求事項などの一般的な要求</a:t>
                      </a:r>
                    </a:p>
                  </a:txBody>
                  <a:tcPr anchor="ctr">
                    <a:solidFill>
                      <a:schemeClr val="tx2">
                        <a:lumMod val="20000"/>
                        <a:lumOff val="80000"/>
                      </a:schemeClr>
                    </a:solidFill>
                  </a:tcPr>
                </a:tc>
                <a:extLst>
                  <a:ext uri="{0D108BD9-81ED-4DB2-BD59-A6C34878D82A}">
                    <a16:rowId xmlns:a16="http://schemas.microsoft.com/office/drawing/2014/main" val="2692628372"/>
                  </a:ext>
                </a:extLst>
              </a:tr>
              <a:tr h="1902020">
                <a:tc>
                  <a:txBody>
                    <a:bodyPr/>
                    <a:lstStyle/>
                    <a:p>
                      <a:pPr algn="ctr"/>
                      <a:r>
                        <a:rPr kumimoji="1" lang="ja-JP" altLang="en-US" sz="2400" dirty="0"/>
                        <a:t>顧客固有要求事項</a:t>
                      </a:r>
                    </a:p>
                  </a:txBody>
                  <a:tcPr anchor="ctr">
                    <a:solidFill>
                      <a:schemeClr val="tx2">
                        <a:lumMod val="20000"/>
                        <a:lumOff val="80000"/>
                      </a:schemeClr>
                    </a:solidFill>
                  </a:tcPr>
                </a:tc>
                <a:tc>
                  <a:txBody>
                    <a:bodyPr/>
                    <a:lstStyle/>
                    <a:p>
                      <a:r>
                        <a:rPr kumimoji="1" lang="ja-JP" altLang="en-US" sz="2400" dirty="0"/>
                        <a:t>「</a:t>
                      </a:r>
                      <a:r>
                        <a:rPr kumimoji="1" lang="en-US" altLang="ja-JP" sz="2400" dirty="0"/>
                        <a:t>IATF16949</a:t>
                      </a:r>
                      <a:r>
                        <a:rPr kumimoji="1" lang="ja-JP" altLang="en-US" sz="2400" dirty="0"/>
                        <a:t>規格箇条にリンクした解釈又は補足の要求」</a:t>
                      </a:r>
                      <a:endParaRPr kumimoji="1" lang="en-US" altLang="ja-JP" sz="2400" dirty="0"/>
                    </a:p>
                    <a:p>
                      <a:r>
                        <a:rPr kumimoji="1" lang="ja-JP" altLang="en-US" sz="2400" dirty="0"/>
                        <a:t>製品実現、製品承認などに関する要求（取引先マニュアル、</a:t>
                      </a:r>
                      <a:r>
                        <a:rPr kumimoji="1" lang="en-US" altLang="ja-JP" sz="2400" dirty="0"/>
                        <a:t>APQP</a:t>
                      </a:r>
                      <a:r>
                        <a:rPr kumimoji="1" lang="ja-JP" altLang="en-US" sz="2400" dirty="0" err="1"/>
                        <a:t>、</a:t>
                      </a:r>
                      <a:r>
                        <a:rPr kumimoji="1" lang="en-US" altLang="ja-JP" sz="2400" dirty="0"/>
                        <a:t>PPAP</a:t>
                      </a:r>
                      <a:r>
                        <a:rPr kumimoji="1" lang="ja-JP" altLang="en-US" sz="2400" dirty="0"/>
                        <a:t>）</a:t>
                      </a:r>
                    </a:p>
                  </a:txBody>
                  <a:tcPr anchor="ctr">
                    <a:solidFill>
                      <a:schemeClr val="tx2">
                        <a:lumMod val="20000"/>
                        <a:lumOff val="80000"/>
                      </a:schemeClr>
                    </a:solidFill>
                  </a:tcPr>
                </a:tc>
                <a:extLst>
                  <a:ext uri="{0D108BD9-81ED-4DB2-BD59-A6C34878D82A}">
                    <a16:rowId xmlns:a16="http://schemas.microsoft.com/office/drawing/2014/main" val="1575260228"/>
                  </a:ext>
                </a:extLst>
              </a:tr>
            </a:tbl>
          </a:graphicData>
        </a:graphic>
      </p:graphicFrame>
    </p:spTree>
    <p:extLst>
      <p:ext uri="{BB962C8B-B14F-4D97-AF65-F5344CB8AC3E}">
        <p14:creationId xmlns:p14="http://schemas.microsoft.com/office/powerpoint/2010/main" val="2462626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8592A2B-9FD2-435C-B5F2-A2FC8F451E6C}"/>
              </a:ext>
            </a:extLst>
          </p:cNvPr>
          <p:cNvSpPr/>
          <p:nvPr/>
        </p:nvSpPr>
        <p:spPr>
          <a:xfrm>
            <a:off x="594245" y="1425389"/>
            <a:ext cx="11006083" cy="329901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714694C4-B023-44F8-B9AC-B7AA9EC02EF6}"/>
              </a:ext>
            </a:extLst>
          </p:cNvPr>
          <p:cNvSpPr/>
          <p:nvPr/>
        </p:nvSpPr>
        <p:spPr>
          <a:xfrm>
            <a:off x="8005482" y="4724401"/>
            <a:ext cx="3592273" cy="163194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E221628-0B06-4D2E-AC7E-FCC0D6C9228F}"/>
              </a:ext>
            </a:extLst>
          </p:cNvPr>
          <p:cNvSpPr/>
          <p:nvPr/>
        </p:nvSpPr>
        <p:spPr>
          <a:xfrm>
            <a:off x="8005481" y="1425389"/>
            <a:ext cx="3592273" cy="329976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3.6</a:t>
            </a:r>
            <a:r>
              <a:rPr lang="ja-JP" altLang="en-US" sz="4000" dirty="0">
                <a:solidFill>
                  <a:schemeClr val="bg1"/>
                </a:solidFill>
              </a:rPr>
              <a:t>　適用する範囲</a:t>
            </a:r>
            <a:endParaRPr kumimoji="1" lang="ja-JP" altLang="en-US" sz="4000" dirty="0">
              <a:solidFill>
                <a:schemeClr val="bg1"/>
              </a:solidFill>
            </a:endParaRPr>
          </a:p>
        </p:txBody>
      </p:sp>
      <p:graphicFrame>
        <p:nvGraphicFramePr>
          <p:cNvPr id="8" name="表 7">
            <a:extLst>
              <a:ext uri="{FF2B5EF4-FFF2-40B4-BE49-F238E27FC236}">
                <a16:creationId xmlns:a16="http://schemas.microsoft.com/office/drawing/2014/main" id="{DA284047-505E-4564-86E4-1CBA8DD95D68}"/>
              </a:ext>
            </a:extLst>
          </p:cNvPr>
          <p:cNvGraphicFramePr>
            <a:graphicFrameLocks noGrp="1"/>
          </p:cNvGraphicFramePr>
          <p:nvPr>
            <p:extLst>
              <p:ext uri="{D42A27DB-BD31-4B8C-83A1-F6EECF244321}">
                <p14:modId xmlns:p14="http://schemas.microsoft.com/office/powerpoint/2010/main" val="1968230152"/>
              </p:ext>
            </p:extLst>
          </p:nvPr>
        </p:nvGraphicFramePr>
        <p:xfrm>
          <a:off x="838200" y="2285618"/>
          <a:ext cx="6385445" cy="2286764"/>
        </p:xfrm>
        <a:graphic>
          <a:graphicData uri="http://schemas.openxmlformats.org/drawingml/2006/table">
            <a:tbl>
              <a:tblPr firstRow="1" bandRow="1">
                <a:tableStyleId>{5940675A-B579-460E-94D1-54222C63F5DA}</a:tableStyleId>
              </a:tblPr>
              <a:tblGrid>
                <a:gridCol w="1277089">
                  <a:extLst>
                    <a:ext uri="{9D8B030D-6E8A-4147-A177-3AD203B41FA5}">
                      <a16:colId xmlns:a16="http://schemas.microsoft.com/office/drawing/2014/main" val="209213768"/>
                    </a:ext>
                  </a:extLst>
                </a:gridCol>
                <a:gridCol w="1277089">
                  <a:extLst>
                    <a:ext uri="{9D8B030D-6E8A-4147-A177-3AD203B41FA5}">
                      <a16:colId xmlns:a16="http://schemas.microsoft.com/office/drawing/2014/main" val="4210603313"/>
                    </a:ext>
                  </a:extLst>
                </a:gridCol>
                <a:gridCol w="1277089">
                  <a:extLst>
                    <a:ext uri="{9D8B030D-6E8A-4147-A177-3AD203B41FA5}">
                      <a16:colId xmlns:a16="http://schemas.microsoft.com/office/drawing/2014/main" val="630214820"/>
                    </a:ext>
                  </a:extLst>
                </a:gridCol>
                <a:gridCol w="1277089">
                  <a:extLst>
                    <a:ext uri="{9D8B030D-6E8A-4147-A177-3AD203B41FA5}">
                      <a16:colId xmlns:a16="http://schemas.microsoft.com/office/drawing/2014/main" val="1879211203"/>
                    </a:ext>
                  </a:extLst>
                </a:gridCol>
                <a:gridCol w="1277089">
                  <a:extLst>
                    <a:ext uri="{9D8B030D-6E8A-4147-A177-3AD203B41FA5}">
                      <a16:colId xmlns:a16="http://schemas.microsoft.com/office/drawing/2014/main" val="2724042725"/>
                    </a:ext>
                  </a:extLst>
                </a:gridCol>
              </a:tblGrid>
              <a:tr h="2286764">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995285540"/>
                  </a:ext>
                </a:extLst>
              </a:tr>
            </a:tbl>
          </a:graphicData>
        </a:graphic>
      </p:graphicFrame>
      <p:graphicFrame>
        <p:nvGraphicFramePr>
          <p:cNvPr id="9" name="表 8">
            <a:extLst>
              <a:ext uri="{FF2B5EF4-FFF2-40B4-BE49-F238E27FC236}">
                <a16:creationId xmlns:a16="http://schemas.microsoft.com/office/drawing/2014/main" id="{0DB5EE89-CC1D-49BF-B840-8A0724846590}"/>
              </a:ext>
            </a:extLst>
          </p:cNvPr>
          <p:cNvGraphicFramePr>
            <a:graphicFrameLocks noGrp="1"/>
          </p:cNvGraphicFramePr>
          <p:nvPr>
            <p:extLst>
              <p:ext uri="{D42A27DB-BD31-4B8C-83A1-F6EECF244321}">
                <p14:modId xmlns:p14="http://schemas.microsoft.com/office/powerpoint/2010/main" val="952539687"/>
              </p:ext>
            </p:extLst>
          </p:nvPr>
        </p:nvGraphicFramePr>
        <p:xfrm>
          <a:off x="8801986" y="2285618"/>
          <a:ext cx="2551814" cy="2286764"/>
        </p:xfrm>
        <a:graphic>
          <a:graphicData uri="http://schemas.openxmlformats.org/drawingml/2006/table">
            <a:tbl>
              <a:tblPr firstRow="1" bandRow="1">
                <a:tableStyleId>{5940675A-B579-460E-94D1-54222C63F5DA}</a:tableStyleId>
              </a:tblPr>
              <a:tblGrid>
                <a:gridCol w="1275907">
                  <a:extLst>
                    <a:ext uri="{9D8B030D-6E8A-4147-A177-3AD203B41FA5}">
                      <a16:colId xmlns:a16="http://schemas.microsoft.com/office/drawing/2014/main" val="68372474"/>
                    </a:ext>
                  </a:extLst>
                </a:gridCol>
                <a:gridCol w="1275907">
                  <a:extLst>
                    <a:ext uri="{9D8B030D-6E8A-4147-A177-3AD203B41FA5}">
                      <a16:colId xmlns:a16="http://schemas.microsoft.com/office/drawing/2014/main" val="1222840525"/>
                    </a:ext>
                  </a:extLst>
                </a:gridCol>
              </a:tblGrid>
              <a:tr h="2286764">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909586470"/>
                  </a:ext>
                </a:extLst>
              </a:tr>
            </a:tbl>
          </a:graphicData>
        </a:graphic>
      </p:graphicFrame>
      <p:graphicFrame>
        <p:nvGraphicFramePr>
          <p:cNvPr id="10" name="表 9">
            <a:extLst>
              <a:ext uri="{FF2B5EF4-FFF2-40B4-BE49-F238E27FC236}">
                <a16:creationId xmlns:a16="http://schemas.microsoft.com/office/drawing/2014/main" id="{41F10564-D992-43FE-9C00-192D660949CE}"/>
              </a:ext>
            </a:extLst>
          </p:cNvPr>
          <p:cNvGraphicFramePr>
            <a:graphicFrameLocks noGrp="1"/>
          </p:cNvGraphicFramePr>
          <p:nvPr>
            <p:extLst>
              <p:ext uri="{D42A27DB-BD31-4B8C-83A1-F6EECF244321}">
                <p14:modId xmlns:p14="http://schemas.microsoft.com/office/powerpoint/2010/main" val="1514866888"/>
              </p:ext>
            </p:extLst>
          </p:nvPr>
        </p:nvGraphicFramePr>
        <p:xfrm>
          <a:off x="8801986" y="5211763"/>
          <a:ext cx="2551814" cy="854074"/>
        </p:xfrm>
        <a:graphic>
          <a:graphicData uri="http://schemas.openxmlformats.org/drawingml/2006/table">
            <a:tbl>
              <a:tblPr firstRow="1" bandRow="1">
                <a:tableStyleId>{5940675A-B579-460E-94D1-54222C63F5DA}</a:tableStyleId>
              </a:tblPr>
              <a:tblGrid>
                <a:gridCol w="2551814">
                  <a:extLst>
                    <a:ext uri="{9D8B030D-6E8A-4147-A177-3AD203B41FA5}">
                      <a16:colId xmlns:a16="http://schemas.microsoft.com/office/drawing/2014/main" val="37845503"/>
                    </a:ext>
                  </a:extLst>
                </a:gridCol>
              </a:tblGrid>
              <a:tr h="854074">
                <a:tc>
                  <a:txBody>
                    <a:bodyPr/>
                    <a:lstStyle/>
                    <a:p>
                      <a:endParaRPr kumimoji="1" lang="ja-JP" altLang="en-US" dirty="0"/>
                    </a:p>
                  </a:txBody>
                  <a:tcPr/>
                </a:tc>
                <a:extLst>
                  <a:ext uri="{0D108BD9-81ED-4DB2-BD59-A6C34878D82A}">
                    <a16:rowId xmlns:a16="http://schemas.microsoft.com/office/drawing/2014/main" val="2801200776"/>
                  </a:ext>
                </a:extLst>
              </a:tr>
            </a:tbl>
          </a:graphicData>
        </a:graphic>
      </p:graphicFrame>
      <p:cxnSp>
        <p:nvCxnSpPr>
          <p:cNvPr id="12" name="直線矢印コネクタ 11">
            <a:extLst>
              <a:ext uri="{FF2B5EF4-FFF2-40B4-BE49-F238E27FC236}">
                <a16:creationId xmlns:a16="http://schemas.microsoft.com/office/drawing/2014/main" id="{0610E584-4975-4EEC-9B27-C420F72FCDBF}"/>
              </a:ext>
            </a:extLst>
          </p:cNvPr>
          <p:cNvCxnSpPr/>
          <p:nvPr/>
        </p:nvCxnSpPr>
        <p:spPr>
          <a:xfrm>
            <a:off x="838200" y="2094613"/>
            <a:ext cx="6385445" cy="0"/>
          </a:xfrm>
          <a:prstGeom prst="straightConnector1">
            <a:avLst/>
          </a:prstGeom>
          <a:ln w="762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0E7E8428-F8B1-48B0-BAE6-E1E1F40C3404}"/>
              </a:ext>
            </a:extLst>
          </p:cNvPr>
          <p:cNvCxnSpPr>
            <a:cxnSpLocks/>
          </p:cNvCxnSpPr>
          <p:nvPr/>
        </p:nvCxnSpPr>
        <p:spPr>
          <a:xfrm>
            <a:off x="8801986" y="2094613"/>
            <a:ext cx="2506333" cy="0"/>
          </a:xfrm>
          <a:prstGeom prst="straightConnector1">
            <a:avLst/>
          </a:prstGeom>
          <a:ln w="762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四角形: 角を丸くする 15">
            <a:extLst>
              <a:ext uri="{FF2B5EF4-FFF2-40B4-BE49-F238E27FC236}">
                <a16:creationId xmlns:a16="http://schemas.microsoft.com/office/drawing/2014/main" id="{7202A2AB-816A-4769-BE1F-02733747D311}"/>
              </a:ext>
            </a:extLst>
          </p:cNvPr>
          <p:cNvSpPr/>
          <p:nvPr/>
        </p:nvSpPr>
        <p:spPr>
          <a:xfrm>
            <a:off x="3079308" y="1605339"/>
            <a:ext cx="1903228" cy="584777"/>
          </a:xfrm>
          <a:prstGeom prst="roundRect">
            <a:avLst/>
          </a:prstGeom>
          <a:solidFill>
            <a:schemeClr val="accent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u="sng" dirty="0">
                <a:solidFill>
                  <a:schemeClr val="tx1"/>
                </a:solidFill>
                <a:effectLst>
                  <a:outerShdw blurRad="38100" dist="38100" dir="2700000" algn="tl">
                    <a:srgbClr val="000000">
                      <a:alpha val="43137"/>
                    </a:srgbClr>
                  </a:outerShdw>
                </a:effectLst>
              </a:rPr>
              <a:t>工場</a:t>
            </a:r>
          </a:p>
        </p:txBody>
      </p:sp>
      <p:sp>
        <p:nvSpPr>
          <p:cNvPr id="17" name="四角形: 角を丸くする 16">
            <a:extLst>
              <a:ext uri="{FF2B5EF4-FFF2-40B4-BE49-F238E27FC236}">
                <a16:creationId xmlns:a16="http://schemas.microsoft.com/office/drawing/2014/main" id="{4196FB30-250F-4A7A-884B-402C4E4B665E}"/>
              </a:ext>
            </a:extLst>
          </p:cNvPr>
          <p:cNvSpPr/>
          <p:nvPr/>
        </p:nvSpPr>
        <p:spPr>
          <a:xfrm>
            <a:off x="9103538" y="1605339"/>
            <a:ext cx="1903228" cy="584777"/>
          </a:xfrm>
          <a:prstGeom prst="roundRect">
            <a:avLst/>
          </a:prstGeom>
          <a:solidFill>
            <a:schemeClr val="accent1">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u="sng" dirty="0">
                <a:solidFill>
                  <a:schemeClr val="tx1"/>
                </a:solidFill>
                <a:effectLst>
                  <a:outerShdw blurRad="38100" dist="38100" dir="2700000" algn="tl">
                    <a:srgbClr val="000000">
                      <a:alpha val="43137"/>
                    </a:srgbClr>
                  </a:outerShdw>
                </a:effectLst>
              </a:rPr>
              <a:t>別サイト</a:t>
            </a:r>
          </a:p>
        </p:txBody>
      </p:sp>
      <p:sp>
        <p:nvSpPr>
          <p:cNvPr id="18" name="四角形: 角を丸くする 17">
            <a:extLst>
              <a:ext uri="{FF2B5EF4-FFF2-40B4-BE49-F238E27FC236}">
                <a16:creationId xmlns:a16="http://schemas.microsoft.com/office/drawing/2014/main" id="{021F2C37-0B30-49A8-ACA9-ED6AD4F36995}"/>
              </a:ext>
            </a:extLst>
          </p:cNvPr>
          <p:cNvSpPr/>
          <p:nvPr/>
        </p:nvSpPr>
        <p:spPr>
          <a:xfrm>
            <a:off x="9103538" y="4626986"/>
            <a:ext cx="1903228" cy="584777"/>
          </a:xfrm>
          <a:prstGeom prst="roundRec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u="sng" dirty="0">
                <a:solidFill>
                  <a:schemeClr val="tx1"/>
                </a:solidFill>
                <a:effectLst>
                  <a:outerShdw blurRad="38100" dist="38100" dir="2700000" algn="tl">
                    <a:srgbClr val="000000">
                      <a:alpha val="43137"/>
                    </a:srgbClr>
                  </a:outerShdw>
                </a:effectLst>
              </a:rPr>
              <a:t>供給者</a:t>
            </a:r>
          </a:p>
        </p:txBody>
      </p:sp>
      <p:sp>
        <p:nvSpPr>
          <p:cNvPr id="19" name="直方体 18">
            <a:extLst>
              <a:ext uri="{FF2B5EF4-FFF2-40B4-BE49-F238E27FC236}">
                <a16:creationId xmlns:a16="http://schemas.microsoft.com/office/drawing/2014/main" id="{79214DC8-B353-4C84-AA36-AF2F9643644F}"/>
              </a:ext>
            </a:extLst>
          </p:cNvPr>
          <p:cNvSpPr/>
          <p:nvPr/>
        </p:nvSpPr>
        <p:spPr>
          <a:xfrm>
            <a:off x="3444949" y="2381120"/>
            <a:ext cx="1158949" cy="2116451"/>
          </a:xfrm>
          <a:prstGeom prst="cube">
            <a:avLst>
              <a:gd name="adj" fmla="val 13991"/>
            </a:avLst>
          </a:prstGeom>
          <a:solidFill>
            <a:schemeClr val="accent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b="1" dirty="0"/>
              <a:t>自動車部品</a:t>
            </a:r>
            <a:endParaRPr kumimoji="1" lang="en-US" altLang="ja-JP" b="1" dirty="0"/>
          </a:p>
          <a:p>
            <a:r>
              <a:rPr kumimoji="1" lang="ja-JP" altLang="en-US" b="1" dirty="0"/>
              <a:t>製造ライン</a:t>
            </a:r>
          </a:p>
        </p:txBody>
      </p:sp>
      <p:sp>
        <p:nvSpPr>
          <p:cNvPr id="20" name="直方体 19">
            <a:extLst>
              <a:ext uri="{FF2B5EF4-FFF2-40B4-BE49-F238E27FC236}">
                <a16:creationId xmlns:a16="http://schemas.microsoft.com/office/drawing/2014/main" id="{3A16CFE5-DB81-4218-82B0-8A55FFC2D758}"/>
              </a:ext>
            </a:extLst>
          </p:cNvPr>
          <p:cNvSpPr/>
          <p:nvPr/>
        </p:nvSpPr>
        <p:spPr>
          <a:xfrm>
            <a:off x="2172587" y="2381120"/>
            <a:ext cx="1158949" cy="2116451"/>
          </a:xfrm>
          <a:prstGeom prst="cube">
            <a:avLst>
              <a:gd name="adj" fmla="val 13991"/>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b="1" dirty="0">
                <a:solidFill>
                  <a:schemeClr val="bg1">
                    <a:lumMod val="75000"/>
                  </a:schemeClr>
                </a:solidFill>
              </a:rPr>
              <a:t>自動車部品以外</a:t>
            </a:r>
            <a:endParaRPr kumimoji="1" lang="en-US" altLang="ja-JP" b="1" dirty="0">
              <a:solidFill>
                <a:schemeClr val="bg1">
                  <a:lumMod val="75000"/>
                </a:schemeClr>
              </a:solidFill>
            </a:endParaRPr>
          </a:p>
          <a:p>
            <a:r>
              <a:rPr kumimoji="1" lang="ja-JP" altLang="en-US" b="1" dirty="0">
                <a:solidFill>
                  <a:schemeClr val="bg1">
                    <a:lumMod val="75000"/>
                  </a:schemeClr>
                </a:solidFill>
              </a:rPr>
              <a:t>製造ライン</a:t>
            </a:r>
          </a:p>
        </p:txBody>
      </p:sp>
      <p:sp>
        <p:nvSpPr>
          <p:cNvPr id="21" name="直方体 20">
            <a:extLst>
              <a:ext uri="{FF2B5EF4-FFF2-40B4-BE49-F238E27FC236}">
                <a16:creationId xmlns:a16="http://schemas.microsoft.com/office/drawing/2014/main" id="{921507BF-03F1-48A7-8FF5-9A157ADE41CE}"/>
              </a:ext>
            </a:extLst>
          </p:cNvPr>
          <p:cNvSpPr/>
          <p:nvPr/>
        </p:nvSpPr>
        <p:spPr>
          <a:xfrm>
            <a:off x="900225" y="2381119"/>
            <a:ext cx="1158949" cy="2116451"/>
          </a:xfrm>
          <a:prstGeom prst="cube">
            <a:avLst>
              <a:gd name="adj" fmla="val 13991"/>
            </a:avLst>
          </a:prstGeom>
          <a:solidFill>
            <a:schemeClr val="accent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lang="ja-JP" altLang="en-US" b="1" dirty="0"/>
              <a:t>品証（測定機器）</a:t>
            </a:r>
            <a:endParaRPr kumimoji="1" lang="ja-JP" altLang="en-US" b="1" dirty="0"/>
          </a:p>
        </p:txBody>
      </p:sp>
      <p:sp>
        <p:nvSpPr>
          <p:cNvPr id="22" name="直方体 21">
            <a:extLst>
              <a:ext uri="{FF2B5EF4-FFF2-40B4-BE49-F238E27FC236}">
                <a16:creationId xmlns:a16="http://schemas.microsoft.com/office/drawing/2014/main" id="{AEEF56C0-6A57-4CDB-A1C8-B81EC244838C}"/>
              </a:ext>
            </a:extLst>
          </p:cNvPr>
          <p:cNvSpPr/>
          <p:nvPr/>
        </p:nvSpPr>
        <p:spPr>
          <a:xfrm>
            <a:off x="4717311" y="2370774"/>
            <a:ext cx="1158949" cy="2116451"/>
          </a:xfrm>
          <a:prstGeom prst="cube">
            <a:avLst>
              <a:gd name="adj" fmla="val 13991"/>
            </a:avLst>
          </a:prstGeom>
          <a:solidFill>
            <a:schemeClr val="accent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b="1" dirty="0"/>
              <a:t>技術（製品設計）</a:t>
            </a:r>
          </a:p>
        </p:txBody>
      </p:sp>
      <p:sp>
        <p:nvSpPr>
          <p:cNvPr id="23" name="直方体 22">
            <a:extLst>
              <a:ext uri="{FF2B5EF4-FFF2-40B4-BE49-F238E27FC236}">
                <a16:creationId xmlns:a16="http://schemas.microsoft.com/office/drawing/2014/main" id="{E89CE3ED-4DC1-4E3D-BAB0-DE7C20014B34}"/>
              </a:ext>
            </a:extLst>
          </p:cNvPr>
          <p:cNvSpPr/>
          <p:nvPr/>
        </p:nvSpPr>
        <p:spPr>
          <a:xfrm>
            <a:off x="5989673" y="2370773"/>
            <a:ext cx="1158949" cy="2116451"/>
          </a:xfrm>
          <a:prstGeom prst="cube">
            <a:avLst>
              <a:gd name="adj" fmla="val 13991"/>
            </a:avLst>
          </a:prstGeom>
          <a:solidFill>
            <a:schemeClr val="accent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lang="ja-JP" altLang="en-US" b="1" dirty="0"/>
              <a:t>資材（購買）</a:t>
            </a:r>
            <a:endParaRPr kumimoji="1" lang="ja-JP" altLang="en-US" b="1" dirty="0"/>
          </a:p>
        </p:txBody>
      </p:sp>
      <p:sp>
        <p:nvSpPr>
          <p:cNvPr id="24" name="直方体 23">
            <a:extLst>
              <a:ext uri="{FF2B5EF4-FFF2-40B4-BE49-F238E27FC236}">
                <a16:creationId xmlns:a16="http://schemas.microsoft.com/office/drawing/2014/main" id="{51166C9A-7E1D-4E80-9B82-5335FFE7D194}"/>
              </a:ext>
            </a:extLst>
          </p:cNvPr>
          <p:cNvSpPr/>
          <p:nvPr/>
        </p:nvSpPr>
        <p:spPr>
          <a:xfrm>
            <a:off x="8860464" y="2370773"/>
            <a:ext cx="1158949" cy="2116451"/>
          </a:xfrm>
          <a:prstGeom prst="cube">
            <a:avLst>
              <a:gd name="adj" fmla="val 13991"/>
            </a:avLst>
          </a:prstGeom>
          <a:solidFill>
            <a:schemeClr val="accent1">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lang="ja-JP" altLang="en-US" b="1" dirty="0"/>
              <a:t>本社営業（受注）</a:t>
            </a:r>
            <a:endParaRPr kumimoji="1" lang="ja-JP" altLang="en-US" b="1" dirty="0"/>
          </a:p>
        </p:txBody>
      </p:sp>
      <p:sp>
        <p:nvSpPr>
          <p:cNvPr id="25" name="直方体 24">
            <a:extLst>
              <a:ext uri="{FF2B5EF4-FFF2-40B4-BE49-F238E27FC236}">
                <a16:creationId xmlns:a16="http://schemas.microsoft.com/office/drawing/2014/main" id="{0E629389-D977-467C-9BA0-AA80AD243C8B}"/>
              </a:ext>
            </a:extLst>
          </p:cNvPr>
          <p:cNvSpPr/>
          <p:nvPr/>
        </p:nvSpPr>
        <p:spPr>
          <a:xfrm>
            <a:off x="10132826" y="2370773"/>
            <a:ext cx="1158949" cy="2116451"/>
          </a:xfrm>
          <a:prstGeom prst="cube">
            <a:avLst>
              <a:gd name="adj" fmla="val 13991"/>
            </a:avLst>
          </a:prstGeom>
          <a:solidFill>
            <a:schemeClr val="accent1">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b="1" dirty="0"/>
              <a:t>材料倉庫</a:t>
            </a:r>
          </a:p>
        </p:txBody>
      </p:sp>
      <p:sp>
        <p:nvSpPr>
          <p:cNvPr id="26" name="直方体 25">
            <a:extLst>
              <a:ext uri="{FF2B5EF4-FFF2-40B4-BE49-F238E27FC236}">
                <a16:creationId xmlns:a16="http://schemas.microsoft.com/office/drawing/2014/main" id="{738CF189-B827-420F-9DF0-C0F938DDCAA9}"/>
              </a:ext>
            </a:extLst>
          </p:cNvPr>
          <p:cNvSpPr/>
          <p:nvPr/>
        </p:nvSpPr>
        <p:spPr>
          <a:xfrm>
            <a:off x="8860463" y="5247557"/>
            <a:ext cx="2397643" cy="738573"/>
          </a:xfrm>
          <a:prstGeom prst="cube">
            <a:avLst>
              <a:gd name="adj" fmla="val 13991"/>
            </a:avLst>
          </a:prstGeom>
          <a:solidFill>
            <a:schemeClr val="accent6"/>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b="1" dirty="0"/>
              <a:t>外注加工／購買先</a:t>
            </a:r>
          </a:p>
        </p:txBody>
      </p:sp>
      <p:graphicFrame>
        <p:nvGraphicFramePr>
          <p:cNvPr id="27" name="表 26">
            <a:extLst>
              <a:ext uri="{FF2B5EF4-FFF2-40B4-BE49-F238E27FC236}">
                <a16:creationId xmlns:a16="http://schemas.microsoft.com/office/drawing/2014/main" id="{733BD9FC-6B19-48EB-BC5B-F9A3BE6B9515}"/>
              </a:ext>
            </a:extLst>
          </p:cNvPr>
          <p:cNvGraphicFramePr>
            <a:graphicFrameLocks noGrp="1"/>
          </p:cNvGraphicFramePr>
          <p:nvPr>
            <p:extLst>
              <p:ext uri="{D42A27DB-BD31-4B8C-83A1-F6EECF244321}">
                <p14:modId xmlns:p14="http://schemas.microsoft.com/office/powerpoint/2010/main" val="1366402484"/>
              </p:ext>
            </p:extLst>
          </p:nvPr>
        </p:nvGraphicFramePr>
        <p:xfrm>
          <a:off x="1701209" y="4901609"/>
          <a:ext cx="5309190" cy="1369584"/>
        </p:xfrm>
        <a:graphic>
          <a:graphicData uri="http://schemas.openxmlformats.org/drawingml/2006/table">
            <a:tbl>
              <a:tblPr firstRow="1" bandRow="1">
                <a:tableStyleId>{5940675A-B579-460E-94D1-54222C63F5DA}</a:tableStyleId>
              </a:tblPr>
              <a:tblGrid>
                <a:gridCol w="2654595">
                  <a:extLst>
                    <a:ext uri="{9D8B030D-6E8A-4147-A177-3AD203B41FA5}">
                      <a16:colId xmlns:a16="http://schemas.microsoft.com/office/drawing/2014/main" val="753359736"/>
                    </a:ext>
                  </a:extLst>
                </a:gridCol>
                <a:gridCol w="2654595">
                  <a:extLst>
                    <a:ext uri="{9D8B030D-6E8A-4147-A177-3AD203B41FA5}">
                      <a16:colId xmlns:a16="http://schemas.microsoft.com/office/drawing/2014/main" val="2030698375"/>
                    </a:ext>
                  </a:extLst>
                </a:gridCol>
              </a:tblGrid>
              <a:tr h="456528">
                <a:tc>
                  <a:txBody>
                    <a:bodyPr/>
                    <a:lstStyle/>
                    <a:p>
                      <a:r>
                        <a:rPr kumimoji="1" lang="ja-JP" altLang="en-US" sz="2000" b="1" dirty="0">
                          <a:solidFill>
                            <a:schemeClr val="bg1"/>
                          </a:solidFill>
                        </a:rPr>
                        <a:t>認証対象</a:t>
                      </a:r>
                    </a:p>
                  </a:txBody>
                  <a:tcPr anchor="ctr" anchorCtr="1">
                    <a:solidFill>
                      <a:schemeClr val="accent2"/>
                    </a:solidFill>
                  </a:tcPr>
                </a:tc>
                <a:tc>
                  <a:txBody>
                    <a:bodyPr/>
                    <a:lstStyle/>
                    <a:p>
                      <a:r>
                        <a:rPr kumimoji="1" lang="ja-JP" altLang="en-US" sz="2000" b="1" dirty="0">
                          <a:solidFill>
                            <a:schemeClr val="bg1"/>
                          </a:solidFill>
                        </a:rPr>
                        <a:t>遠隔地支援事業所</a:t>
                      </a:r>
                    </a:p>
                  </a:txBody>
                  <a:tcPr anchor="ctr" anchorCtr="1">
                    <a:solidFill>
                      <a:schemeClr val="accent1">
                        <a:lumMod val="60000"/>
                        <a:lumOff val="40000"/>
                      </a:schemeClr>
                    </a:solidFill>
                  </a:tcPr>
                </a:tc>
                <a:extLst>
                  <a:ext uri="{0D108BD9-81ED-4DB2-BD59-A6C34878D82A}">
                    <a16:rowId xmlns:a16="http://schemas.microsoft.com/office/drawing/2014/main" val="2082533403"/>
                  </a:ext>
                </a:extLst>
              </a:tr>
              <a:tr h="456528">
                <a:tc>
                  <a:txBody>
                    <a:bodyPr/>
                    <a:lstStyle/>
                    <a:p>
                      <a:r>
                        <a:rPr kumimoji="1" lang="ja-JP" altLang="en-US" sz="2000" b="1" dirty="0">
                          <a:solidFill>
                            <a:schemeClr val="bg1"/>
                          </a:solidFill>
                        </a:rPr>
                        <a:t>支援部門</a:t>
                      </a:r>
                    </a:p>
                  </a:txBody>
                  <a:tcPr anchor="ctr" anchorCtr="1">
                    <a:solidFill>
                      <a:schemeClr val="accent1"/>
                    </a:solidFill>
                  </a:tcPr>
                </a:tc>
                <a:tc>
                  <a:txBody>
                    <a:bodyPr/>
                    <a:lstStyle/>
                    <a:p>
                      <a:r>
                        <a:rPr kumimoji="1" lang="ja-JP" altLang="en-US" sz="2000" b="1" dirty="0">
                          <a:solidFill>
                            <a:schemeClr val="bg1"/>
                          </a:solidFill>
                        </a:rPr>
                        <a:t>供給者管理</a:t>
                      </a:r>
                    </a:p>
                  </a:txBody>
                  <a:tcPr anchor="ctr" anchorCtr="1">
                    <a:solidFill>
                      <a:schemeClr val="accent6"/>
                    </a:solidFill>
                  </a:tcPr>
                </a:tc>
                <a:extLst>
                  <a:ext uri="{0D108BD9-81ED-4DB2-BD59-A6C34878D82A}">
                    <a16:rowId xmlns:a16="http://schemas.microsoft.com/office/drawing/2014/main" val="2432358600"/>
                  </a:ext>
                </a:extLst>
              </a:tr>
              <a:tr h="456528">
                <a:tc>
                  <a:txBody>
                    <a:bodyPr/>
                    <a:lstStyle/>
                    <a:p>
                      <a:r>
                        <a:rPr kumimoji="1" lang="ja-JP" altLang="en-US" sz="2000" b="1" dirty="0">
                          <a:solidFill>
                            <a:schemeClr val="bg1">
                              <a:lumMod val="75000"/>
                            </a:schemeClr>
                          </a:solidFill>
                        </a:rPr>
                        <a:t>適用外</a:t>
                      </a:r>
                    </a:p>
                  </a:txBody>
                  <a:tcPr anchor="ctr" anchorCtr="1">
                    <a:solidFill>
                      <a:schemeClr val="bg1">
                        <a:lumMod val="95000"/>
                      </a:schemeClr>
                    </a:solidFill>
                  </a:tcPr>
                </a:tc>
                <a:tc>
                  <a:txBody>
                    <a:bodyPr/>
                    <a:lstStyle/>
                    <a:p>
                      <a:endParaRPr kumimoji="1" lang="ja-JP" altLang="en-US" sz="2000" b="1" dirty="0">
                        <a:solidFill>
                          <a:schemeClr val="bg1"/>
                        </a:solidFill>
                      </a:endParaRPr>
                    </a:p>
                  </a:txBody>
                  <a:tcPr anchor="ctr" anchorCtr="1"/>
                </a:tc>
                <a:extLst>
                  <a:ext uri="{0D108BD9-81ED-4DB2-BD59-A6C34878D82A}">
                    <a16:rowId xmlns:a16="http://schemas.microsoft.com/office/drawing/2014/main" val="3792044122"/>
                  </a:ext>
                </a:extLst>
              </a:tr>
            </a:tbl>
          </a:graphicData>
        </a:graphic>
      </p:graphicFrame>
    </p:spTree>
    <p:extLst>
      <p:ext uri="{BB962C8B-B14F-4D97-AF65-F5344CB8AC3E}">
        <p14:creationId xmlns:p14="http://schemas.microsoft.com/office/powerpoint/2010/main" val="2845837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p:spPr>
        <p:txBody>
          <a:bodyPr>
            <a:normAutofit/>
          </a:bodyPr>
          <a:lstStyle/>
          <a:p>
            <a:pPr marL="514350" indent="-514350">
              <a:buFont typeface="+mj-lt"/>
              <a:buAutoNum type="arabicPeriod"/>
            </a:pPr>
            <a:r>
              <a:rPr lang="en-US" altLang="ja-JP" dirty="0"/>
              <a:t>IATF16949</a:t>
            </a:r>
            <a:r>
              <a:rPr lang="ja-JP" altLang="en-US" dirty="0"/>
              <a:t>の認証</a:t>
            </a:r>
            <a:endParaRPr lang="en-US" altLang="ja-JP" dirty="0"/>
          </a:p>
          <a:p>
            <a:pPr lvl="1">
              <a:buFont typeface="Wingdings" panose="05000000000000000000" pitchFamily="2" charset="2"/>
              <a:buChar char="Ø"/>
            </a:pPr>
            <a:r>
              <a:rPr lang="ja-JP" altLang="en-US" dirty="0"/>
              <a:t>自動車部品（生産部品、サービス部品及びアクセサリー部品）を製造する「製造サイト」。従って、間接業務サイト（本社営業、開発センターなど）は「支援サイト」として関わる。</a:t>
            </a:r>
            <a:endParaRPr lang="en-US" altLang="ja-JP" dirty="0"/>
          </a:p>
          <a:p>
            <a:pPr marL="514350" indent="-514350">
              <a:buFont typeface="+mj-lt"/>
              <a:buAutoNum type="arabicPeriod"/>
            </a:pPr>
            <a:r>
              <a:rPr lang="ja-JP" altLang="en-US" dirty="0"/>
              <a:t>対象製品</a:t>
            </a:r>
            <a:endParaRPr lang="en-US" altLang="ja-JP" dirty="0"/>
          </a:p>
          <a:p>
            <a:pPr marL="514350" indent="-514350">
              <a:buFont typeface="+mj-lt"/>
              <a:buAutoNum type="arabicPeriod"/>
            </a:pPr>
            <a:endParaRPr lang="en-US" altLang="ja-JP" dirty="0"/>
          </a:p>
        </p:txBody>
      </p:sp>
      <p:sp>
        <p:nvSpPr>
          <p:cNvPr id="10" name="タイトル 1">
            <a:extLst>
              <a:ext uri="{FF2B5EF4-FFF2-40B4-BE49-F238E27FC236}">
                <a16:creationId xmlns:a16="http://schemas.microsoft.com/office/drawing/2014/main" id="{D24B5A85-8736-48FF-B052-2502C1B59D1A}"/>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3.6</a:t>
            </a:r>
            <a:r>
              <a:rPr lang="ja-JP" altLang="en-US" sz="4000" dirty="0">
                <a:solidFill>
                  <a:schemeClr val="bg1"/>
                </a:solidFill>
              </a:rPr>
              <a:t>　適用する範囲</a:t>
            </a:r>
            <a:endParaRPr kumimoji="1" lang="ja-JP" altLang="en-US" sz="4000" dirty="0">
              <a:solidFill>
                <a:schemeClr val="bg1"/>
              </a:solidFill>
            </a:endParaRPr>
          </a:p>
        </p:txBody>
      </p:sp>
      <p:graphicFrame>
        <p:nvGraphicFramePr>
          <p:cNvPr id="11" name="表 11">
            <a:extLst>
              <a:ext uri="{FF2B5EF4-FFF2-40B4-BE49-F238E27FC236}">
                <a16:creationId xmlns:a16="http://schemas.microsoft.com/office/drawing/2014/main" id="{5C976F97-3EB8-491F-BCDB-4DD2B9CA775D}"/>
              </a:ext>
            </a:extLst>
          </p:cNvPr>
          <p:cNvGraphicFramePr>
            <a:graphicFrameLocks noGrp="1"/>
          </p:cNvGraphicFramePr>
          <p:nvPr>
            <p:extLst>
              <p:ext uri="{D42A27DB-BD31-4B8C-83A1-F6EECF244321}">
                <p14:modId xmlns:p14="http://schemas.microsoft.com/office/powerpoint/2010/main" val="502250867"/>
              </p:ext>
            </p:extLst>
          </p:nvPr>
        </p:nvGraphicFramePr>
        <p:xfrm>
          <a:off x="838200" y="3552190"/>
          <a:ext cx="10515600" cy="2651760"/>
        </p:xfrm>
        <a:graphic>
          <a:graphicData uri="http://schemas.openxmlformats.org/drawingml/2006/table">
            <a:tbl>
              <a:tblPr firstRow="1" bandRow="1">
                <a:tableStyleId>{5940675A-B579-460E-94D1-54222C63F5DA}</a:tableStyleId>
              </a:tblPr>
              <a:tblGrid>
                <a:gridCol w="716280">
                  <a:extLst>
                    <a:ext uri="{9D8B030D-6E8A-4147-A177-3AD203B41FA5}">
                      <a16:colId xmlns:a16="http://schemas.microsoft.com/office/drawing/2014/main" val="1285578013"/>
                    </a:ext>
                  </a:extLst>
                </a:gridCol>
                <a:gridCol w="772160">
                  <a:extLst>
                    <a:ext uri="{9D8B030D-6E8A-4147-A177-3AD203B41FA5}">
                      <a16:colId xmlns:a16="http://schemas.microsoft.com/office/drawing/2014/main" val="1514685485"/>
                    </a:ext>
                  </a:extLst>
                </a:gridCol>
                <a:gridCol w="1788160">
                  <a:extLst>
                    <a:ext uri="{9D8B030D-6E8A-4147-A177-3AD203B41FA5}">
                      <a16:colId xmlns:a16="http://schemas.microsoft.com/office/drawing/2014/main" val="2883764661"/>
                    </a:ext>
                  </a:extLst>
                </a:gridCol>
                <a:gridCol w="7239000">
                  <a:extLst>
                    <a:ext uri="{9D8B030D-6E8A-4147-A177-3AD203B41FA5}">
                      <a16:colId xmlns:a16="http://schemas.microsoft.com/office/drawing/2014/main" val="3497104009"/>
                    </a:ext>
                  </a:extLst>
                </a:gridCol>
              </a:tblGrid>
              <a:tr h="328377">
                <a:tc rowSpan="4">
                  <a:txBody>
                    <a:bodyPr/>
                    <a:lstStyle/>
                    <a:p>
                      <a:pPr algn="l"/>
                      <a:r>
                        <a:rPr kumimoji="1" lang="ja-JP" altLang="en-US" sz="1800" dirty="0"/>
                        <a:t>対象車両</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rowSpan="3">
                  <a:txBody>
                    <a:bodyPr/>
                    <a:lstStyle/>
                    <a:p>
                      <a:r>
                        <a:rPr kumimoji="1" lang="ja-JP" altLang="en-US" sz="1800" dirty="0"/>
                        <a:t>対象製品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t>生産部品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solidFill>
                            <a:srgbClr val="FF0000"/>
                          </a:solidFill>
                          <a:effectLst>
                            <a:outerShdw blurRad="38100" dist="38100" dir="2700000" algn="tl">
                              <a:srgbClr val="000000">
                                <a:alpha val="43137"/>
                              </a:srgbClr>
                            </a:outerShdw>
                          </a:effectLst>
                        </a:rPr>
                        <a:t>乗用車、小型商用車、大型トラック、バス及び自動二輪車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635114"/>
                  </a:ext>
                </a:extLst>
              </a:tr>
              <a:tr h="566788">
                <a:tc v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サービス部品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solidFill>
                            <a:srgbClr val="FF0000"/>
                          </a:solidFill>
                          <a:effectLst>
                            <a:outerShdw blurRad="38100" dist="38100" dir="2700000" algn="tl">
                              <a:srgbClr val="000000">
                                <a:alpha val="43137"/>
                              </a:srgbClr>
                            </a:outerShdw>
                          </a:effectLst>
                        </a:rPr>
                        <a:t>自動車メーカーの仕様通りに製造され、メンテナンスなどで使用される部品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8949991"/>
                  </a:ext>
                </a:extLst>
              </a:tr>
              <a:tr h="566788">
                <a:tc v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アクセサリー部品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solidFill>
                            <a:srgbClr val="FF0000"/>
                          </a:solidFill>
                          <a:effectLst>
                            <a:outerShdw blurRad="38100" dist="38100" dir="2700000" algn="tl">
                              <a:srgbClr val="000000">
                                <a:alpha val="43137"/>
                              </a:srgbClr>
                            </a:outerShdw>
                          </a:effectLst>
                        </a:rPr>
                        <a:t>自動車メーカーの仕様通りに製造され、自動車の引渡し時に組み込まれる部品（フロアマット、カーナビなど）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72053"/>
                  </a:ext>
                </a:extLst>
              </a:tr>
              <a:tr h="566788">
                <a:tc v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除外製品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t>アフターマーケット部品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sz="1800" dirty="0"/>
                        <a:t>自動車メーカが調達及びリリースするものではない部品（自動車メーカの使用通りであっても対象外）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377016"/>
                  </a:ext>
                </a:extLst>
              </a:tr>
              <a:tr h="328377">
                <a:tc gridSpan="3">
                  <a:txBody>
                    <a:bodyPr/>
                    <a:lstStyle/>
                    <a:p>
                      <a:r>
                        <a:rPr kumimoji="1" lang="ja-JP" altLang="en-US" sz="1800" dirty="0"/>
                        <a:t>除外車両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産業用車両、農業用車両、オフハイウェイ車両など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855970"/>
                  </a:ext>
                </a:extLst>
              </a:tr>
            </a:tbl>
          </a:graphicData>
        </a:graphic>
      </p:graphicFrame>
      <p:sp>
        <p:nvSpPr>
          <p:cNvPr id="2" name="吹き出し: 角を丸めた四角形 1">
            <a:extLst>
              <a:ext uri="{FF2B5EF4-FFF2-40B4-BE49-F238E27FC236}">
                <a16:creationId xmlns:a16="http://schemas.microsoft.com/office/drawing/2014/main" id="{FF437924-E666-4F49-A949-988FB461CA3D}"/>
              </a:ext>
            </a:extLst>
          </p:cNvPr>
          <p:cNvSpPr/>
          <p:nvPr/>
        </p:nvSpPr>
        <p:spPr>
          <a:xfrm>
            <a:off x="3585882" y="3083859"/>
            <a:ext cx="7767918" cy="458171"/>
          </a:xfrm>
          <a:prstGeom prst="wedgeRoundRectCallout">
            <a:avLst>
              <a:gd name="adj1" fmla="val -53532"/>
              <a:gd name="adj2" fmla="val 35944"/>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対象自動車顧客は</a:t>
            </a:r>
            <a:r>
              <a:rPr kumimoji="1" lang="en-US" altLang="ja-JP" dirty="0">
                <a:solidFill>
                  <a:schemeClr val="tx1"/>
                </a:solidFill>
              </a:rPr>
              <a:t>IATF</a:t>
            </a:r>
            <a:r>
              <a:rPr kumimoji="1" lang="ja-JP" altLang="en-US" dirty="0">
                <a:solidFill>
                  <a:schemeClr val="tx1"/>
                </a:solidFill>
              </a:rPr>
              <a:t>　</a:t>
            </a:r>
            <a:r>
              <a:rPr kumimoji="1" lang="en-US" altLang="ja-JP" dirty="0">
                <a:solidFill>
                  <a:schemeClr val="tx1"/>
                </a:solidFill>
              </a:rPr>
              <a:t>OEM</a:t>
            </a:r>
            <a:r>
              <a:rPr kumimoji="1" lang="ja-JP" altLang="en-US" dirty="0">
                <a:solidFill>
                  <a:schemeClr val="tx1"/>
                </a:solidFill>
              </a:rPr>
              <a:t>に限定しない。（ルール</a:t>
            </a:r>
            <a:r>
              <a:rPr kumimoji="1" lang="en-US" altLang="ja-JP" dirty="0">
                <a:solidFill>
                  <a:schemeClr val="tx1"/>
                </a:solidFill>
              </a:rPr>
              <a:t>5</a:t>
            </a:r>
            <a:r>
              <a:rPr kumimoji="1" lang="ja-JP" altLang="en-US" dirty="0">
                <a:solidFill>
                  <a:schemeClr val="tx1"/>
                </a:solidFill>
              </a:rPr>
              <a:t>　</a:t>
            </a:r>
            <a:r>
              <a:rPr kumimoji="1" lang="en-US" altLang="ja-JP" dirty="0">
                <a:solidFill>
                  <a:schemeClr val="tx1"/>
                </a:solidFill>
              </a:rPr>
              <a:t>1.0</a:t>
            </a:r>
            <a:r>
              <a:rPr kumimoji="1" lang="ja-JP" altLang="en-US" dirty="0">
                <a:solidFill>
                  <a:schemeClr val="tx1"/>
                </a:solidFill>
              </a:rPr>
              <a:t>適格性）</a:t>
            </a:r>
          </a:p>
        </p:txBody>
      </p:sp>
    </p:spTree>
    <p:extLst>
      <p:ext uri="{BB962C8B-B14F-4D97-AF65-F5344CB8AC3E}">
        <p14:creationId xmlns:p14="http://schemas.microsoft.com/office/powerpoint/2010/main" val="1089809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3675321"/>
          </a:xfrm>
        </p:spPr>
        <p:txBody>
          <a:bodyPr>
            <a:normAutofit/>
          </a:bodyPr>
          <a:lstStyle/>
          <a:p>
            <a:pPr>
              <a:buFont typeface="Wingdings" panose="05000000000000000000" pitchFamily="2" charset="2"/>
              <a:buChar char="ü"/>
            </a:pPr>
            <a:r>
              <a:rPr lang="ja-JP" altLang="en-US" dirty="0"/>
              <a:t>不具合予防及びバラツキ・ムダ低減による</a:t>
            </a:r>
            <a:r>
              <a:rPr lang="ja-JP" altLang="en-US" u="sng" dirty="0"/>
              <a:t>製品信頼性向上</a:t>
            </a:r>
            <a:endParaRPr lang="en-US" altLang="ja-JP" u="sng" dirty="0"/>
          </a:p>
          <a:p>
            <a:pPr>
              <a:buFont typeface="Wingdings" panose="05000000000000000000" pitchFamily="2" charset="2"/>
              <a:buChar char="ü"/>
            </a:pPr>
            <a:r>
              <a:rPr lang="ja-JP" altLang="en-US" dirty="0"/>
              <a:t>指標管理（</a:t>
            </a:r>
            <a:r>
              <a:rPr lang="en-US" altLang="ja-JP" dirty="0"/>
              <a:t>KPI</a:t>
            </a:r>
            <a:r>
              <a:rPr lang="ja-JP" altLang="en-US" dirty="0"/>
              <a:t>）による業務改善及び組織の強化</a:t>
            </a:r>
            <a:endParaRPr lang="en-US" altLang="ja-JP" dirty="0"/>
          </a:p>
          <a:p>
            <a:pPr>
              <a:buFont typeface="Wingdings" panose="05000000000000000000" pitchFamily="2" charset="2"/>
              <a:buChar char="ü"/>
            </a:pPr>
            <a:r>
              <a:rPr lang="ja-JP" altLang="en-US" dirty="0"/>
              <a:t>コンプライアンスの推進</a:t>
            </a:r>
            <a:endParaRPr lang="en-US" altLang="ja-JP" dirty="0"/>
          </a:p>
          <a:p>
            <a:pPr>
              <a:buFont typeface="Wingdings" panose="05000000000000000000" pitchFamily="2" charset="2"/>
              <a:buChar char="ü"/>
            </a:pPr>
            <a:r>
              <a:rPr lang="ja-JP" altLang="en-US" dirty="0"/>
              <a:t>仕事の見える化による人材育成及び業務継承</a:t>
            </a:r>
            <a:endParaRPr lang="en-US" altLang="ja-JP" dirty="0"/>
          </a:p>
          <a:p>
            <a:pPr>
              <a:buFont typeface="Wingdings" panose="05000000000000000000" pitchFamily="2" charset="2"/>
              <a:buChar char="ü"/>
            </a:pPr>
            <a:r>
              <a:rPr lang="ja-JP" altLang="en-US" dirty="0"/>
              <a:t>品質保証と継続的改善による顧客満足及び社会的信頼の獲得</a:t>
            </a:r>
            <a:endParaRPr lang="en-US" altLang="ja-JP" dirty="0"/>
          </a:p>
          <a:p>
            <a:pPr>
              <a:buFont typeface="Wingdings" panose="05000000000000000000" pitchFamily="2" charset="2"/>
              <a:buChar char="ü"/>
            </a:pPr>
            <a:r>
              <a:rPr lang="ja-JP" altLang="en-US" u="sng" dirty="0"/>
              <a:t>企業競争力の強化</a:t>
            </a:r>
            <a:r>
              <a:rPr lang="ja-JP" altLang="en-US" dirty="0"/>
              <a:t>（グローバル発注における優位性）</a:t>
            </a:r>
            <a:endParaRPr lang="en-US" altLang="ja-JP" dirty="0"/>
          </a:p>
          <a:p>
            <a:pPr>
              <a:buFont typeface="Wingdings" panose="05000000000000000000" pitchFamily="2" charset="2"/>
              <a:buChar char="ü"/>
            </a:pPr>
            <a:r>
              <a:rPr lang="ja-JP" altLang="en-US" u="sng" dirty="0"/>
              <a:t>顧客取引要件の満足</a:t>
            </a:r>
            <a:endParaRPr lang="en-US" altLang="ja-JP" u="sng" dirty="0"/>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3.7</a:t>
            </a:r>
            <a:r>
              <a:rPr lang="ja-JP" altLang="en-US" sz="4000" dirty="0">
                <a:solidFill>
                  <a:schemeClr val="bg1"/>
                </a:solidFill>
              </a:rPr>
              <a:t>　ＩＡＴＦ１６９４９適用企業の効果</a:t>
            </a:r>
            <a:endParaRPr kumimoji="1" lang="ja-JP" altLang="en-US" sz="4000" dirty="0">
              <a:solidFill>
                <a:schemeClr val="bg1"/>
              </a:solidFill>
            </a:endParaRPr>
          </a:p>
        </p:txBody>
      </p:sp>
      <p:sp>
        <p:nvSpPr>
          <p:cNvPr id="2" name="矢印: 上向き折線 1">
            <a:extLst>
              <a:ext uri="{FF2B5EF4-FFF2-40B4-BE49-F238E27FC236}">
                <a16:creationId xmlns:a16="http://schemas.microsoft.com/office/drawing/2014/main" id="{3CAB9FFB-D74C-4198-B241-593C6EB728EB}"/>
              </a:ext>
            </a:extLst>
          </p:cNvPr>
          <p:cNvSpPr/>
          <p:nvPr/>
        </p:nvSpPr>
        <p:spPr>
          <a:xfrm rot="5400000">
            <a:off x="2479157" y="5289699"/>
            <a:ext cx="676940" cy="765543"/>
          </a:xfrm>
          <a:prstGeom prst="bentUpArrow">
            <a:avLst>
              <a:gd name="adj1" fmla="val 38253"/>
              <a:gd name="adj2" fmla="val 29217"/>
              <a:gd name="adj3" fmla="val 298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74392A82-7EBE-47E7-8B34-C9AA4ED5CA28}"/>
              </a:ext>
            </a:extLst>
          </p:cNvPr>
          <p:cNvSpPr/>
          <p:nvPr/>
        </p:nvSpPr>
        <p:spPr>
          <a:xfrm>
            <a:off x="3381153" y="5334000"/>
            <a:ext cx="7389627" cy="907312"/>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solidFill>
              </a:rPr>
              <a:t>3.5</a:t>
            </a:r>
            <a:r>
              <a:rPr kumimoji="1" lang="ja-JP" altLang="en-US" sz="2400" dirty="0">
                <a:solidFill>
                  <a:schemeClr val="tx1"/>
                </a:solidFill>
              </a:rPr>
              <a:t>　ＩＡＴＦ１６９４９の到達目標　参照　</a:t>
            </a:r>
          </a:p>
        </p:txBody>
      </p:sp>
    </p:spTree>
    <p:extLst>
      <p:ext uri="{BB962C8B-B14F-4D97-AF65-F5344CB8AC3E}">
        <p14:creationId xmlns:p14="http://schemas.microsoft.com/office/powerpoint/2010/main" val="3228403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p:spPr>
        <p:txBody>
          <a:bodyPr>
            <a:normAutofit/>
          </a:bodyPr>
          <a:lstStyle/>
          <a:p>
            <a:pPr marL="514350" indent="-514350">
              <a:buFont typeface="+mj-lt"/>
              <a:buAutoNum type="arabicPeriod"/>
            </a:pPr>
            <a:r>
              <a:rPr lang="ja-JP" altLang="en-US" dirty="0"/>
              <a:t>文書化したプロセス</a:t>
            </a:r>
            <a:endParaRPr lang="en-US" altLang="ja-JP" dirty="0"/>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3.8</a:t>
            </a:r>
            <a:r>
              <a:rPr lang="ja-JP" altLang="en-US" sz="4000" dirty="0">
                <a:solidFill>
                  <a:schemeClr val="bg1"/>
                </a:solidFill>
              </a:rPr>
              <a:t>　要求事項情報</a:t>
            </a:r>
            <a:endParaRPr kumimoji="1" lang="ja-JP" altLang="en-US" sz="4000" dirty="0">
              <a:solidFill>
                <a:schemeClr val="bg1"/>
              </a:solidFill>
            </a:endParaRPr>
          </a:p>
        </p:txBody>
      </p:sp>
      <p:graphicFrame>
        <p:nvGraphicFramePr>
          <p:cNvPr id="8" name="表 8">
            <a:extLst>
              <a:ext uri="{FF2B5EF4-FFF2-40B4-BE49-F238E27FC236}">
                <a16:creationId xmlns:a16="http://schemas.microsoft.com/office/drawing/2014/main" id="{D7EE9A88-23AE-40AB-8E25-1FC75CCFE9EB}"/>
              </a:ext>
            </a:extLst>
          </p:cNvPr>
          <p:cNvGraphicFramePr>
            <a:graphicFrameLocks noGrp="1"/>
          </p:cNvGraphicFramePr>
          <p:nvPr>
            <p:extLst>
              <p:ext uri="{D42A27DB-BD31-4B8C-83A1-F6EECF244321}">
                <p14:modId xmlns:p14="http://schemas.microsoft.com/office/powerpoint/2010/main" val="2772954894"/>
              </p:ext>
            </p:extLst>
          </p:nvPr>
        </p:nvGraphicFramePr>
        <p:xfrm>
          <a:off x="838199" y="2088833"/>
          <a:ext cx="10515600" cy="4267200"/>
        </p:xfrm>
        <a:graphic>
          <a:graphicData uri="http://schemas.openxmlformats.org/drawingml/2006/table">
            <a:tbl>
              <a:tblPr firstRow="1" bandRow="1">
                <a:tableStyleId>{5940675A-B579-460E-94D1-54222C63F5DA}</a:tableStyleId>
              </a:tblPr>
              <a:tblGrid>
                <a:gridCol w="1394638">
                  <a:extLst>
                    <a:ext uri="{9D8B030D-6E8A-4147-A177-3AD203B41FA5}">
                      <a16:colId xmlns:a16="http://schemas.microsoft.com/office/drawing/2014/main" val="2754191226"/>
                    </a:ext>
                  </a:extLst>
                </a:gridCol>
                <a:gridCol w="9120962">
                  <a:extLst>
                    <a:ext uri="{9D8B030D-6E8A-4147-A177-3AD203B41FA5}">
                      <a16:colId xmlns:a16="http://schemas.microsoft.com/office/drawing/2014/main" val="1141502247"/>
                    </a:ext>
                  </a:extLst>
                </a:gridCol>
              </a:tblGrid>
              <a:tr h="370840">
                <a:tc>
                  <a:txBody>
                    <a:bodyPr/>
                    <a:lstStyle/>
                    <a:p>
                      <a:pPr algn="ctr"/>
                      <a:r>
                        <a:rPr kumimoji="1" lang="ja-JP" altLang="en-US" sz="2000" dirty="0"/>
                        <a:t>項番</a:t>
                      </a:r>
                    </a:p>
                  </a:txBody>
                  <a:tcPr>
                    <a:solidFill>
                      <a:schemeClr val="tx2">
                        <a:lumMod val="20000"/>
                        <a:lumOff val="80000"/>
                      </a:schemeClr>
                    </a:solidFill>
                  </a:tcPr>
                </a:tc>
                <a:tc>
                  <a:txBody>
                    <a:bodyPr/>
                    <a:lstStyle/>
                    <a:p>
                      <a:pPr algn="ctr"/>
                      <a:r>
                        <a:rPr kumimoji="1" lang="ja-JP" altLang="en-US" sz="2000" dirty="0"/>
                        <a:t>要求事項</a:t>
                      </a:r>
                    </a:p>
                  </a:txBody>
                  <a:tcPr>
                    <a:solidFill>
                      <a:schemeClr val="tx2">
                        <a:lumMod val="20000"/>
                        <a:lumOff val="80000"/>
                      </a:schemeClr>
                    </a:solidFill>
                  </a:tcPr>
                </a:tc>
                <a:extLst>
                  <a:ext uri="{0D108BD9-81ED-4DB2-BD59-A6C34878D82A}">
                    <a16:rowId xmlns:a16="http://schemas.microsoft.com/office/drawing/2014/main" val="1838949535"/>
                  </a:ext>
                </a:extLst>
              </a:tr>
              <a:tr h="370840">
                <a:tc>
                  <a:txBody>
                    <a:bodyPr/>
                    <a:lstStyle/>
                    <a:p>
                      <a:r>
                        <a:rPr kumimoji="1" lang="en-US" altLang="ja-JP" sz="2000" dirty="0"/>
                        <a:t>4.4.1.2</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製品安全に関係する製品・製造工程の運用管理</a:t>
                      </a:r>
                    </a:p>
                  </a:txBody>
                  <a:tcPr/>
                </a:tc>
                <a:extLst>
                  <a:ext uri="{0D108BD9-81ED-4DB2-BD59-A6C34878D82A}">
                    <a16:rowId xmlns:a16="http://schemas.microsoft.com/office/drawing/2014/main" val="2605563509"/>
                  </a:ext>
                </a:extLst>
              </a:tr>
              <a:tr h="370840">
                <a:tc>
                  <a:txBody>
                    <a:bodyPr/>
                    <a:lstStyle/>
                    <a:p>
                      <a:r>
                        <a:rPr kumimoji="1" lang="en-US" altLang="ja-JP" sz="2000" dirty="0"/>
                        <a:t>7.1.5.2.1</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校正・検証の記録の管理</a:t>
                      </a:r>
                    </a:p>
                  </a:txBody>
                  <a:tcPr/>
                </a:tc>
                <a:extLst>
                  <a:ext uri="{0D108BD9-81ED-4DB2-BD59-A6C34878D82A}">
                    <a16:rowId xmlns:a16="http://schemas.microsoft.com/office/drawing/2014/main" val="1014480612"/>
                  </a:ext>
                </a:extLst>
              </a:tr>
              <a:tr h="370840">
                <a:tc>
                  <a:txBody>
                    <a:bodyPr/>
                    <a:lstStyle/>
                    <a:p>
                      <a:r>
                        <a:rPr kumimoji="1" lang="en-US" altLang="ja-JP" sz="2000" dirty="0"/>
                        <a:t>7.2.1</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教育訓練のニーズと達成すべき力量の明確化</a:t>
                      </a:r>
                    </a:p>
                  </a:txBody>
                  <a:tcPr/>
                </a:tc>
                <a:extLst>
                  <a:ext uri="{0D108BD9-81ED-4DB2-BD59-A6C34878D82A}">
                    <a16:rowId xmlns:a16="http://schemas.microsoft.com/office/drawing/2014/main" val="380745870"/>
                  </a:ext>
                </a:extLst>
              </a:tr>
              <a:tr h="370840">
                <a:tc>
                  <a:txBody>
                    <a:bodyPr/>
                    <a:lstStyle/>
                    <a:p>
                      <a:r>
                        <a:rPr kumimoji="1" lang="en-US" altLang="ja-JP" sz="2000" dirty="0"/>
                        <a:t>7.2.3</a:t>
                      </a:r>
                      <a:endParaRPr kumimoji="1" lang="ja-JP" altLang="en-US" sz="2000" dirty="0"/>
                    </a:p>
                  </a:txBody>
                  <a:tcPr>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内部監査員が力量をもつことの検証</a:t>
                      </a:r>
                    </a:p>
                  </a:txBody>
                  <a:tcPr/>
                </a:tc>
                <a:extLst>
                  <a:ext uri="{0D108BD9-81ED-4DB2-BD59-A6C34878D82A}">
                    <a16:rowId xmlns:a16="http://schemas.microsoft.com/office/drawing/2014/main" val="1637372312"/>
                  </a:ext>
                </a:extLst>
              </a:tr>
              <a:tr h="370840">
                <a:tc>
                  <a:txBody>
                    <a:bodyPr/>
                    <a:lstStyle/>
                    <a:p>
                      <a:r>
                        <a:rPr kumimoji="1" lang="en-US" altLang="ja-JP" sz="2000" dirty="0"/>
                        <a:t>7.3.2</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品質目標を達成し、継続的改善を行い、革新を促進する環境を創り出す、従業員の動機付け</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900664"/>
                  </a:ext>
                </a:extLst>
              </a:tr>
              <a:tr h="370840">
                <a:tc>
                  <a:txBody>
                    <a:bodyPr/>
                    <a:lstStyle/>
                    <a:p>
                      <a:r>
                        <a:rPr kumimoji="1" lang="en-US" altLang="ja-JP" sz="2000" dirty="0"/>
                        <a:t>7.5.3.2.2</a:t>
                      </a:r>
                      <a:endParaRPr kumimoji="1" lang="ja-JP" altLang="en-US" sz="2000" dirty="0"/>
                    </a:p>
                  </a:txBody>
                  <a:tcPr>
                    <a:lnT w="12700" cap="flat" cmpd="sng" algn="ctr">
                      <a:solidFill>
                        <a:schemeClr val="tx1"/>
                      </a:solidFill>
                      <a:prstDash val="solid"/>
                      <a:round/>
                      <a:headEnd type="none" w="med" len="med"/>
                      <a:tailEnd type="none" w="med" len="med"/>
                    </a:lnT>
                  </a:tcPr>
                </a:tc>
                <a:tc>
                  <a:txBody>
                    <a:bodyPr/>
                    <a:lstStyle/>
                    <a:p>
                      <a:pPr marL="342900" indent="-342900">
                        <a:buFont typeface="Arial" panose="020B0604020202020204" pitchFamily="34" charset="0"/>
                        <a:buChar char="•"/>
                      </a:pPr>
                      <a:r>
                        <a:rPr kumimoji="1" lang="ja-JP" altLang="en-US" sz="2000" dirty="0"/>
                        <a:t>顧客の技術規格・仕様書及び改訂に対する、レビュー・配布・実施</a:t>
                      </a:r>
                    </a:p>
                  </a:txBody>
                  <a:tcPr/>
                </a:tc>
                <a:extLst>
                  <a:ext uri="{0D108BD9-81ED-4DB2-BD59-A6C34878D82A}">
                    <a16:rowId xmlns:a16="http://schemas.microsoft.com/office/drawing/2014/main" val="2147037762"/>
                  </a:ext>
                </a:extLst>
              </a:tr>
              <a:tr h="370840">
                <a:tc>
                  <a:txBody>
                    <a:bodyPr/>
                    <a:lstStyle/>
                    <a:p>
                      <a:r>
                        <a:rPr kumimoji="1" lang="en-US" altLang="ja-JP" sz="2000" dirty="0"/>
                        <a:t>8.3.1.1</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設計・開発</a:t>
                      </a:r>
                    </a:p>
                  </a:txBody>
                  <a:tcPr/>
                </a:tc>
                <a:extLst>
                  <a:ext uri="{0D108BD9-81ED-4DB2-BD59-A6C34878D82A}">
                    <a16:rowId xmlns:a16="http://schemas.microsoft.com/office/drawing/2014/main" val="2118810089"/>
                  </a:ext>
                </a:extLst>
              </a:tr>
              <a:tr h="370840">
                <a:tc>
                  <a:txBody>
                    <a:bodyPr/>
                    <a:lstStyle/>
                    <a:p>
                      <a:r>
                        <a:rPr kumimoji="1" lang="en-US" altLang="ja-JP" sz="2000" dirty="0"/>
                        <a:t>8.3.3.3</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特殊特性の特定</a:t>
                      </a:r>
                    </a:p>
                  </a:txBody>
                  <a:tcPr/>
                </a:tc>
                <a:extLst>
                  <a:ext uri="{0D108BD9-81ED-4DB2-BD59-A6C34878D82A}">
                    <a16:rowId xmlns:a16="http://schemas.microsoft.com/office/drawing/2014/main" val="1269944299"/>
                  </a:ext>
                </a:extLst>
              </a:tr>
              <a:tr h="370840">
                <a:tc>
                  <a:txBody>
                    <a:bodyPr/>
                    <a:lstStyle/>
                    <a:p>
                      <a:r>
                        <a:rPr kumimoji="1" lang="en-US" altLang="ja-JP" sz="2000" dirty="0"/>
                        <a:t>8.4.1.2</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供給者選定</a:t>
                      </a:r>
                    </a:p>
                  </a:txBody>
                  <a:tcPr/>
                </a:tc>
                <a:extLst>
                  <a:ext uri="{0D108BD9-81ED-4DB2-BD59-A6C34878D82A}">
                    <a16:rowId xmlns:a16="http://schemas.microsoft.com/office/drawing/2014/main" val="497414755"/>
                  </a:ext>
                </a:extLst>
              </a:tr>
            </a:tbl>
          </a:graphicData>
        </a:graphic>
      </p:graphicFrame>
    </p:spTree>
    <p:extLst>
      <p:ext uri="{BB962C8B-B14F-4D97-AF65-F5344CB8AC3E}">
        <p14:creationId xmlns:p14="http://schemas.microsoft.com/office/powerpoint/2010/main" val="1572468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3.8</a:t>
            </a:r>
            <a:r>
              <a:rPr lang="ja-JP" altLang="en-US" sz="4000" dirty="0">
                <a:solidFill>
                  <a:schemeClr val="bg1"/>
                </a:solidFill>
              </a:rPr>
              <a:t>　要求事項情報</a:t>
            </a:r>
            <a:endParaRPr kumimoji="1" lang="ja-JP" altLang="en-US" sz="4000" dirty="0">
              <a:solidFill>
                <a:schemeClr val="bg1"/>
              </a:solidFill>
            </a:endParaRPr>
          </a:p>
        </p:txBody>
      </p:sp>
      <p:graphicFrame>
        <p:nvGraphicFramePr>
          <p:cNvPr id="8" name="表 8">
            <a:extLst>
              <a:ext uri="{FF2B5EF4-FFF2-40B4-BE49-F238E27FC236}">
                <a16:creationId xmlns:a16="http://schemas.microsoft.com/office/drawing/2014/main" id="{D7EE9A88-23AE-40AB-8E25-1FC75CCFE9EB}"/>
              </a:ext>
            </a:extLst>
          </p:cNvPr>
          <p:cNvGraphicFramePr>
            <a:graphicFrameLocks noGrp="1"/>
          </p:cNvGraphicFramePr>
          <p:nvPr>
            <p:extLst>
              <p:ext uri="{D42A27DB-BD31-4B8C-83A1-F6EECF244321}">
                <p14:modId xmlns:p14="http://schemas.microsoft.com/office/powerpoint/2010/main" val="2763298285"/>
              </p:ext>
            </p:extLst>
          </p:nvPr>
        </p:nvGraphicFramePr>
        <p:xfrm>
          <a:off x="838200" y="1520943"/>
          <a:ext cx="10515600" cy="4480560"/>
        </p:xfrm>
        <a:graphic>
          <a:graphicData uri="http://schemas.openxmlformats.org/drawingml/2006/table">
            <a:tbl>
              <a:tblPr firstRow="1" bandRow="1">
                <a:tableStyleId>{5940675A-B579-460E-94D1-54222C63F5DA}</a:tableStyleId>
              </a:tblPr>
              <a:tblGrid>
                <a:gridCol w="1394638">
                  <a:extLst>
                    <a:ext uri="{9D8B030D-6E8A-4147-A177-3AD203B41FA5}">
                      <a16:colId xmlns:a16="http://schemas.microsoft.com/office/drawing/2014/main" val="2754191226"/>
                    </a:ext>
                  </a:extLst>
                </a:gridCol>
                <a:gridCol w="9120962">
                  <a:extLst>
                    <a:ext uri="{9D8B030D-6E8A-4147-A177-3AD203B41FA5}">
                      <a16:colId xmlns:a16="http://schemas.microsoft.com/office/drawing/2014/main" val="1141502247"/>
                    </a:ext>
                  </a:extLst>
                </a:gridCol>
              </a:tblGrid>
              <a:tr h="370840">
                <a:tc>
                  <a:txBody>
                    <a:bodyPr/>
                    <a:lstStyle/>
                    <a:p>
                      <a:pPr algn="ctr"/>
                      <a:r>
                        <a:rPr kumimoji="1" lang="ja-JP" altLang="en-US" sz="2000" dirty="0"/>
                        <a:t>項番</a:t>
                      </a:r>
                    </a:p>
                  </a:txBody>
                  <a:tcPr>
                    <a:solidFill>
                      <a:schemeClr val="tx2">
                        <a:lumMod val="20000"/>
                        <a:lumOff val="80000"/>
                      </a:schemeClr>
                    </a:solidFill>
                  </a:tcPr>
                </a:tc>
                <a:tc>
                  <a:txBody>
                    <a:bodyPr/>
                    <a:lstStyle/>
                    <a:p>
                      <a:pPr algn="ctr"/>
                      <a:r>
                        <a:rPr kumimoji="1" lang="ja-JP" altLang="en-US" sz="2000" dirty="0"/>
                        <a:t>要求事項</a:t>
                      </a:r>
                    </a:p>
                  </a:txBody>
                  <a:tcPr>
                    <a:solidFill>
                      <a:schemeClr val="tx2">
                        <a:lumMod val="20000"/>
                        <a:lumOff val="80000"/>
                      </a:schemeClr>
                    </a:solidFill>
                  </a:tcPr>
                </a:tc>
                <a:extLst>
                  <a:ext uri="{0D108BD9-81ED-4DB2-BD59-A6C34878D82A}">
                    <a16:rowId xmlns:a16="http://schemas.microsoft.com/office/drawing/2014/main" val="1838949535"/>
                  </a:ext>
                </a:extLst>
              </a:tr>
              <a:tr h="370840">
                <a:tc>
                  <a:txBody>
                    <a:bodyPr/>
                    <a:lstStyle/>
                    <a:p>
                      <a:r>
                        <a:rPr kumimoji="1" lang="en-US" altLang="ja-JP" sz="2000" dirty="0"/>
                        <a:t>8.4.2.1</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アウトソースしたプロセスの特定</a:t>
                      </a:r>
                      <a:endParaRPr kumimoji="1" lang="en-US" altLang="ja-JP" sz="2000" dirty="0"/>
                    </a:p>
                    <a:p>
                      <a:pPr marL="342900" indent="-342900">
                        <a:buFont typeface="Arial" panose="020B0604020202020204" pitchFamily="34" charset="0"/>
                        <a:buChar char="•"/>
                      </a:pPr>
                      <a:r>
                        <a:rPr kumimoji="1" lang="ja-JP" altLang="en-US" sz="2000" dirty="0"/>
                        <a:t>外部提供製品・プロセス・サービスに対し、顧客の要求事項への適合を検証するための、管理の方式と程度の選定</a:t>
                      </a:r>
                    </a:p>
                  </a:txBody>
                  <a:tcPr/>
                </a:tc>
                <a:extLst>
                  <a:ext uri="{0D108BD9-81ED-4DB2-BD59-A6C34878D82A}">
                    <a16:rowId xmlns:a16="http://schemas.microsoft.com/office/drawing/2014/main" val="2605563509"/>
                  </a:ext>
                </a:extLst>
              </a:tr>
              <a:tr h="370840">
                <a:tc>
                  <a:txBody>
                    <a:bodyPr/>
                    <a:lstStyle/>
                    <a:p>
                      <a:r>
                        <a:rPr kumimoji="1" lang="en-US" altLang="ja-JP" sz="2000" dirty="0"/>
                        <a:t>8.4.2.2</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購入製品・プロセス・サービスの、受入国・出荷国・仕向国の法令・規制要求事項への確実な適合</a:t>
                      </a:r>
                    </a:p>
                  </a:txBody>
                  <a:tcPr/>
                </a:tc>
                <a:extLst>
                  <a:ext uri="{0D108BD9-81ED-4DB2-BD59-A6C34878D82A}">
                    <a16:rowId xmlns:a16="http://schemas.microsoft.com/office/drawing/2014/main" val="1014480612"/>
                  </a:ext>
                </a:extLst>
              </a:tr>
              <a:tr h="370840">
                <a:tc>
                  <a:txBody>
                    <a:bodyPr/>
                    <a:lstStyle/>
                    <a:p>
                      <a:r>
                        <a:rPr kumimoji="1" lang="en-US" altLang="ja-JP" sz="2000" dirty="0"/>
                        <a:t>8.4.2.4</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供給者のパフォーマンスの評価</a:t>
                      </a:r>
                    </a:p>
                  </a:txBody>
                  <a:tcPr/>
                </a:tc>
                <a:extLst>
                  <a:ext uri="{0D108BD9-81ED-4DB2-BD59-A6C34878D82A}">
                    <a16:rowId xmlns:a16="http://schemas.microsoft.com/office/drawing/2014/main" val="380745870"/>
                  </a:ext>
                </a:extLst>
              </a:tr>
              <a:tr h="370840">
                <a:tc>
                  <a:txBody>
                    <a:bodyPr/>
                    <a:lstStyle/>
                    <a:p>
                      <a:r>
                        <a:rPr kumimoji="1" lang="en-US" altLang="ja-JP" sz="2000" dirty="0"/>
                        <a:t>8.5.6.1</a:t>
                      </a:r>
                      <a:endParaRPr kumimoji="1" lang="ja-JP" altLang="en-US" sz="2000" dirty="0"/>
                    </a:p>
                  </a:txBody>
                  <a:tcPr>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製品実現に影響する変更の管理・対応</a:t>
                      </a:r>
                    </a:p>
                  </a:txBody>
                  <a:tcPr/>
                </a:tc>
                <a:extLst>
                  <a:ext uri="{0D108BD9-81ED-4DB2-BD59-A6C34878D82A}">
                    <a16:rowId xmlns:a16="http://schemas.microsoft.com/office/drawing/2014/main" val="1637372312"/>
                  </a:ext>
                </a:extLst>
              </a:tr>
              <a:tr h="370840">
                <a:tc>
                  <a:txBody>
                    <a:bodyPr/>
                    <a:lstStyle/>
                    <a:p>
                      <a:r>
                        <a:rPr kumimoji="1" lang="en-US" altLang="ja-JP" sz="2000" dirty="0"/>
                        <a:t>8.5.6.1.1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代替管理方法の使用の運用管理</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9900664"/>
                  </a:ext>
                </a:extLst>
              </a:tr>
              <a:tr h="370840">
                <a:tc>
                  <a:txBody>
                    <a:bodyPr/>
                    <a:lstStyle/>
                    <a:p>
                      <a:r>
                        <a:rPr kumimoji="1" lang="en-US" altLang="ja-JP" sz="2000" dirty="0"/>
                        <a:t>8.7.1.4</a:t>
                      </a:r>
                      <a:endParaRPr kumimoji="1" lang="ja-JP" altLang="en-US" sz="2000" dirty="0"/>
                    </a:p>
                  </a:txBody>
                  <a:tcPr>
                    <a:lnT w="12700" cap="flat" cmpd="sng" algn="ctr">
                      <a:solidFill>
                        <a:schemeClr val="tx1"/>
                      </a:solidFill>
                      <a:prstDash val="solid"/>
                      <a:round/>
                      <a:headEnd type="none" w="med" len="med"/>
                      <a:tailEnd type="none" w="med" len="med"/>
                    </a:lnT>
                  </a:tcPr>
                </a:tc>
                <a:tc>
                  <a:txBody>
                    <a:bodyPr/>
                    <a:lstStyle/>
                    <a:p>
                      <a:pPr marL="342900" indent="-342900">
                        <a:buFont typeface="Arial" panose="020B0604020202020204" pitchFamily="34" charset="0"/>
                        <a:buChar char="•"/>
                      </a:pPr>
                      <a:r>
                        <a:rPr kumimoji="1" lang="ja-JP" altLang="en-US" sz="2000" dirty="0"/>
                        <a:t>原仕様への適合を検証する、手直し確認</a:t>
                      </a:r>
                    </a:p>
                  </a:txBody>
                  <a:tcPr/>
                </a:tc>
                <a:extLst>
                  <a:ext uri="{0D108BD9-81ED-4DB2-BD59-A6C34878D82A}">
                    <a16:rowId xmlns:a16="http://schemas.microsoft.com/office/drawing/2014/main" val="2147037762"/>
                  </a:ext>
                </a:extLst>
              </a:tr>
              <a:tr h="370840">
                <a:tc>
                  <a:txBody>
                    <a:bodyPr/>
                    <a:lstStyle/>
                    <a:p>
                      <a:r>
                        <a:rPr kumimoji="1" lang="en-US" altLang="ja-JP" sz="2000" dirty="0"/>
                        <a:t>8.7.1.5</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修理確認</a:t>
                      </a:r>
                    </a:p>
                  </a:txBody>
                  <a:tcPr/>
                </a:tc>
                <a:extLst>
                  <a:ext uri="{0D108BD9-81ED-4DB2-BD59-A6C34878D82A}">
                    <a16:rowId xmlns:a16="http://schemas.microsoft.com/office/drawing/2014/main" val="2118810089"/>
                  </a:ext>
                </a:extLst>
              </a:tr>
              <a:tr h="370840">
                <a:tc>
                  <a:txBody>
                    <a:bodyPr/>
                    <a:lstStyle/>
                    <a:p>
                      <a:r>
                        <a:rPr kumimoji="1" lang="en-US" altLang="ja-JP" sz="2000" dirty="0"/>
                        <a:t>8.7.1.7</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手直し又は修理できない不適合製品の廃棄</a:t>
                      </a:r>
                    </a:p>
                  </a:txBody>
                  <a:tcPr/>
                </a:tc>
                <a:extLst>
                  <a:ext uri="{0D108BD9-81ED-4DB2-BD59-A6C34878D82A}">
                    <a16:rowId xmlns:a16="http://schemas.microsoft.com/office/drawing/2014/main" val="3489167612"/>
                  </a:ext>
                </a:extLst>
              </a:tr>
            </a:tbl>
          </a:graphicData>
        </a:graphic>
      </p:graphicFrame>
    </p:spTree>
    <p:extLst>
      <p:ext uri="{BB962C8B-B14F-4D97-AF65-F5344CB8AC3E}">
        <p14:creationId xmlns:p14="http://schemas.microsoft.com/office/powerpoint/2010/main" val="520510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fontScale="90000"/>
          </a:bodyPr>
          <a:lstStyle/>
          <a:p>
            <a:r>
              <a:rPr lang="ja-JP" altLang="en-US" sz="2700" dirty="0">
                <a:solidFill>
                  <a:schemeClr val="bg1"/>
                </a:solidFill>
              </a:rPr>
              <a:t>３．要求事項の概要</a:t>
            </a:r>
            <a:r>
              <a:rPr lang="en-US" altLang="ja-JP" sz="2400" dirty="0">
                <a:solidFill>
                  <a:schemeClr val="bg1"/>
                </a:solidFill>
              </a:rPr>
              <a:t/>
            </a:r>
            <a:br>
              <a:rPr lang="en-US" altLang="ja-JP" sz="2400" dirty="0">
                <a:solidFill>
                  <a:schemeClr val="bg1"/>
                </a:solidFill>
              </a:rPr>
            </a:br>
            <a:r>
              <a:rPr lang="ja-JP" altLang="en-US" sz="4000" dirty="0">
                <a:solidFill>
                  <a:schemeClr val="bg1"/>
                </a:solidFill>
              </a:rPr>
              <a:t>　</a:t>
            </a:r>
            <a:r>
              <a:rPr lang="en-US" altLang="ja-JP" sz="4000" dirty="0">
                <a:solidFill>
                  <a:schemeClr val="bg1"/>
                </a:solidFill>
              </a:rPr>
              <a:t>3.8</a:t>
            </a:r>
            <a:r>
              <a:rPr lang="ja-JP" altLang="en-US" sz="4000" dirty="0">
                <a:solidFill>
                  <a:schemeClr val="bg1"/>
                </a:solidFill>
              </a:rPr>
              <a:t>　要求事項情報</a:t>
            </a:r>
            <a:endParaRPr kumimoji="1" lang="ja-JP" altLang="en-US" sz="4000" dirty="0">
              <a:solidFill>
                <a:schemeClr val="bg1"/>
              </a:solidFill>
            </a:endParaRPr>
          </a:p>
        </p:txBody>
      </p:sp>
      <p:graphicFrame>
        <p:nvGraphicFramePr>
          <p:cNvPr id="8" name="表 8">
            <a:extLst>
              <a:ext uri="{FF2B5EF4-FFF2-40B4-BE49-F238E27FC236}">
                <a16:creationId xmlns:a16="http://schemas.microsoft.com/office/drawing/2014/main" id="{D7EE9A88-23AE-40AB-8E25-1FC75CCFE9EB}"/>
              </a:ext>
            </a:extLst>
          </p:cNvPr>
          <p:cNvGraphicFramePr>
            <a:graphicFrameLocks noGrp="1"/>
          </p:cNvGraphicFramePr>
          <p:nvPr>
            <p:extLst>
              <p:ext uri="{D42A27DB-BD31-4B8C-83A1-F6EECF244321}">
                <p14:modId xmlns:p14="http://schemas.microsoft.com/office/powerpoint/2010/main" val="1679409539"/>
              </p:ext>
            </p:extLst>
          </p:nvPr>
        </p:nvGraphicFramePr>
        <p:xfrm>
          <a:off x="838200" y="1520943"/>
          <a:ext cx="10515600" cy="1981200"/>
        </p:xfrm>
        <a:graphic>
          <a:graphicData uri="http://schemas.openxmlformats.org/drawingml/2006/table">
            <a:tbl>
              <a:tblPr firstRow="1" bandRow="1">
                <a:tableStyleId>{5940675A-B579-460E-94D1-54222C63F5DA}</a:tableStyleId>
              </a:tblPr>
              <a:tblGrid>
                <a:gridCol w="1394638">
                  <a:extLst>
                    <a:ext uri="{9D8B030D-6E8A-4147-A177-3AD203B41FA5}">
                      <a16:colId xmlns:a16="http://schemas.microsoft.com/office/drawing/2014/main" val="2754191226"/>
                    </a:ext>
                  </a:extLst>
                </a:gridCol>
                <a:gridCol w="9120962">
                  <a:extLst>
                    <a:ext uri="{9D8B030D-6E8A-4147-A177-3AD203B41FA5}">
                      <a16:colId xmlns:a16="http://schemas.microsoft.com/office/drawing/2014/main" val="1141502247"/>
                    </a:ext>
                  </a:extLst>
                </a:gridCol>
              </a:tblGrid>
              <a:tr h="370840">
                <a:tc>
                  <a:txBody>
                    <a:bodyPr/>
                    <a:lstStyle/>
                    <a:p>
                      <a:pPr algn="ctr"/>
                      <a:r>
                        <a:rPr kumimoji="1" lang="ja-JP" altLang="en-US" sz="2000" dirty="0"/>
                        <a:t>項番</a:t>
                      </a:r>
                    </a:p>
                  </a:txBody>
                  <a:tcPr>
                    <a:solidFill>
                      <a:schemeClr val="tx2">
                        <a:lumMod val="20000"/>
                        <a:lumOff val="80000"/>
                      </a:schemeClr>
                    </a:solidFill>
                  </a:tcPr>
                </a:tc>
                <a:tc>
                  <a:txBody>
                    <a:bodyPr/>
                    <a:lstStyle/>
                    <a:p>
                      <a:pPr algn="ctr"/>
                      <a:r>
                        <a:rPr kumimoji="1" lang="ja-JP" altLang="en-US" sz="2000" dirty="0"/>
                        <a:t>要求事項</a:t>
                      </a:r>
                    </a:p>
                  </a:txBody>
                  <a:tcPr>
                    <a:solidFill>
                      <a:schemeClr val="tx2">
                        <a:lumMod val="20000"/>
                        <a:lumOff val="80000"/>
                      </a:schemeClr>
                    </a:solidFill>
                  </a:tcPr>
                </a:tc>
                <a:extLst>
                  <a:ext uri="{0D108BD9-81ED-4DB2-BD59-A6C34878D82A}">
                    <a16:rowId xmlns:a16="http://schemas.microsoft.com/office/drawing/2014/main" val="1838949535"/>
                  </a:ext>
                </a:extLst>
              </a:tr>
              <a:tr h="370840">
                <a:tc>
                  <a:txBody>
                    <a:bodyPr/>
                    <a:lstStyle/>
                    <a:p>
                      <a:r>
                        <a:rPr kumimoji="1" lang="en-US" altLang="ja-JP" sz="2000" dirty="0"/>
                        <a:t>9.2.2.1</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内部監査</a:t>
                      </a:r>
                    </a:p>
                  </a:txBody>
                  <a:tcPr/>
                </a:tc>
                <a:extLst>
                  <a:ext uri="{0D108BD9-81ED-4DB2-BD59-A6C34878D82A}">
                    <a16:rowId xmlns:a16="http://schemas.microsoft.com/office/drawing/2014/main" val="2605563509"/>
                  </a:ext>
                </a:extLst>
              </a:tr>
              <a:tr h="370840">
                <a:tc>
                  <a:txBody>
                    <a:bodyPr/>
                    <a:lstStyle/>
                    <a:p>
                      <a:r>
                        <a:rPr kumimoji="1" lang="en-US" altLang="ja-JP" sz="2000" dirty="0"/>
                        <a:t>10.2.3</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問題解決の方法</a:t>
                      </a:r>
                    </a:p>
                  </a:txBody>
                  <a:tcPr/>
                </a:tc>
                <a:extLst>
                  <a:ext uri="{0D108BD9-81ED-4DB2-BD59-A6C34878D82A}">
                    <a16:rowId xmlns:a16="http://schemas.microsoft.com/office/drawing/2014/main" val="1014480612"/>
                  </a:ext>
                </a:extLst>
              </a:tr>
              <a:tr h="370840">
                <a:tc>
                  <a:txBody>
                    <a:bodyPr/>
                    <a:lstStyle/>
                    <a:p>
                      <a:r>
                        <a:rPr kumimoji="1" lang="en-US" altLang="ja-JP" sz="2000" dirty="0"/>
                        <a:t>10.2.4</a:t>
                      </a:r>
                      <a:endParaRPr kumimoji="1" lang="ja-JP" altLang="en-US" sz="2000" dirty="0"/>
                    </a:p>
                  </a:txBody>
                  <a:tcPr/>
                </a:tc>
                <a:tc>
                  <a:txBody>
                    <a:bodyPr/>
                    <a:lstStyle/>
                    <a:p>
                      <a:pPr marL="342900" indent="-342900">
                        <a:buFont typeface="Arial" panose="020B0604020202020204" pitchFamily="34" charset="0"/>
                        <a:buChar char="•"/>
                      </a:pPr>
                      <a:r>
                        <a:rPr kumimoji="1" lang="ja-JP" altLang="en-US" sz="2000" dirty="0"/>
                        <a:t>ポカヨケ手法の活用の決定</a:t>
                      </a:r>
                    </a:p>
                  </a:txBody>
                  <a:tcPr/>
                </a:tc>
                <a:extLst>
                  <a:ext uri="{0D108BD9-81ED-4DB2-BD59-A6C34878D82A}">
                    <a16:rowId xmlns:a16="http://schemas.microsoft.com/office/drawing/2014/main" val="380745870"/>
                  </a:ext>
                </a:extLst>
              </a:tr>
              <a:tr h="370840">
                <a:tc>
                  <a:txBody>
                    <a:bodyPr/>
                    <a:lstStyle/>
                    <a:p>
                      <a:r>
                        <a:rPr kumimoji="1" lang="en-US" altLang="ja-JP" sz="2000" dirty="0"/>
                        <a:t>10.3.1</a:t>
                      </a:r>
                      <a:endParaRPr kumimoji="1" lang="ja-JP" altLang="en-US" sz="2000" dirty="0"/>
                    </a:p>
                  </a:txBody>
                  <a:tcPr>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継続的改善</a:t>
                      </a:r>
                    </a:p>
                  </a:txBody>
                  <a:tcPr/>
                </a:tc>
                <a:extLst>
                  <a:ext uri="{0D108BD9-81ED-4DB2-BD59-A6C34878D82A}">
                    <a16:rowId xmlns:a16="http://schemas.microsoft.com/office/drawing/2014/main" val="1637372312"/>
                  </a:ext>
                </a:extLst>
              </a:tr>
            </a:tbl>
          </a:graphicData>
        </a:graphic>
      </p:graphicFrame>
      <p:sp>
        <p:nvSpPr>
          <p:cNvPr id="2" name="正方形/長方形 1">
            <a:extLst>
              <a:ext uri="{FF2B5EF4-FFF2-40B4-BE49-F238E27FC236}">
                <a16:creationId xmlns:a16="http://schemas.microsoft.com/office/drawing/2014/main" id="{9199B8D8-05DA-4BC9-943C-2171C7DBD949}"/>
              </a:ext>
            </a:extLst>
          </p:cNvPr>
          <p:cNvSpPr/>
          <p:nvPr/>
        </p:nvSpPr>
        <p:spPr>
          <a:xfrm>
            <a:off x="838200" y="4073407"/>
            <a:ext cx="10515600" cy="2148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400" u="sng" dirty="0">
                <a:solidFill>
                  <a:schemeClr val="tx1"/>
                </a:solidFill>
              </a:rPr>
              <a:t>文書化したプロセスに対する対応</a:t>
            </a:r>
            <a:endParaRPr kumimoji="1" lang="en-US" altLang="ja-JP" sz="2400" u="sng" dirty="0">
              <a:solidFill>
                <a:schemeClr val="tx1"/>
              </a:solidFill>
            </a:endParaRPr>
          </a:p>
          <a:p>
            <a:endParaRPr lang="en-US" altLang="ja-JP" dirty="0">
              <a:solidFill>
                <a:schemeClr val="tx1"/>
              </a:solidFill>
            </a:endParaRPr>
          </a:p>
          <a:p>
            <a:r>
              <a:rPr kumimoji="1" lang="ja-JP" altLang="en-US" sz="2200" dirty="0">
                <a:solidFill>
                  <a:schemeClr val="tx1"/>
                </a:solidFill>
              </a:rPr>
              <a:t>必ずしも、全て「プロセス管理図」の作成ではなく、各項目を網羅する「下位規定」或いはマニュアルへの具体的表記での対応が現実的である。</a:t>
            </a:r>
          </a:p>
        </p:txBody>
      </p:sp>
    </p:spTree>
    <p:extLst>
      <p:ext uri="{BB962C8B-B14F-4D97-AF65-F5344CB8AC3E}">
        <p14:creationId xmlns:p14="http://schemas.microsoft.com/office/powerpoint/2010/main" val="4067113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C6A99-BFEF-4EFD-B15B-1267486581A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A877D99C-8548-40A9-A869-D5B7FC0A231C}"/>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FAEA1C37-4F01-43A3-B3A1-C247AF61C570}"/>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81E324BD-DE6D-4703-8FEB-D8CF95D3AC8E}"/>
              </a:ext>
            </a:extLst>
          </p:cNvPr>
          <p:cNvSpPr>
            <a:spLocks noGrp="1"/>
          </p:cNvSpPr>
          <p:nvPr>
            <p:ph type="sldNum" sz="quarter" idx="12"/>
          </p:nvPr>
        </p:nvSpPr>
        <p:spPr/>
        <p:txBody>
          <a:bodyPr/>
          <a:lstStyle/>
          <a:p>
            <a:fld id="{F599B491-871B-4465-93C9-200AD56BCEBF}" type="slidenum">
              <a:rPr kumimoji="1" lang="ja-JP" altLang="en-US" smtClean="0"/>
              <a:t>36</a:t>
            </a:fld>
            <a:endParaRPr kumimoji="1" lang="ja-JP" altLang="en-US"/>
          </a:p>
        </p:txBody>
      </p:sp>
    </p:spTree>
    <p:extLst>
      <p:ext uri="{BB962C8B-B14F-4D97-AF65-F5344CB8AC3E}">
        <p14:creationId xmlns:p14="http://schemas.microsoft.com/office/powerpoint/2010/main" val="2840786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この資料の構成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1401831005"/>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a:t>
            </a:fld>
            <a:endParaRPr kumimoji="1" lang="ja-JP" altLang="en-US"/>
          </a:p>
        </p:txBody>
      </p:sp>
    </p:spTree>
    <p:extLst>
      <p:ext uri="{BB962C8B-B14F-4D97-AF65-F5344CB8AC3E}">
        <p14:creationId xmlns:p14="http://schemas.microsoft.com/office/powerpoint/2010/main" val="2465124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メモ 9">
            <a:extLst>
              <a:ext uri="{FF2B5EF4-FFF2-40B4-BE49-F238E27FC236}">
                <a16:creationId xmlns:a16="http://schemas.microsoft.com/office/drawing/2014/main" id="{1546289B-64F2-4497-87BC-FE54F7AB392B}"/>
              </a:ext>
            </a:extLst>
          </p:cNvPr>
          <p:cNvSpPr/>
          <p:nvPr/>
        </p:nvSpPr>
        <p:spPr>
          <a:xfrm>
            <a:off x="838200" y="1945759"/>
            <a:ext cx="3187110"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ja-JP" altLang="en-US" sz="2000" dirty="0"/>
              <a:t>ＩＡＴＦ１６９４９</a:t>
            </a:r>
            <a:endParaRPr lang="en-US" altLang="ja-JP" sz="2000" dirty="0"/>
          </a:p>
          <a:p>
            <a:r>
              <a:rPr kumimoji="1" lang="ja-JP" altLang="en-US" sz="2000" dirty="0"/>
              <a:t>追加要求事項</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この章の箇条表記方法</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318711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dirty="0">
                <a:solidFill>
                  <a:schemeClr val="tx1"/>
                </a:solidFill>
              </a:rPr>
              <a:t>ＩＳＯ９００１要求事項</a:t>
            </a:r>
          </a:p>
        </p:txBody>
      </p:sp>
      <p:sp>
        <p:nvSpPr>
          <p:cNvPr id="8" name="四角形: メモ 7">
            <a:extLst>
              <a:ext uri="{FF2B5EF4-FFF2-40B4-BE49-F238E27FC236}">
                <a16:creationId xmlns:a16="http://schemas.microsoft.com/office/drawing/2014/main" id="{68469029-6091-49A8-AFC3-BAF386D00FA2}"/>
              </a:ext>
            </a:extLst>
          </p:cNvPr>
          <p:cNvSpPr/>
          <p:nvPr/>
        </p:nvSpPr>
        <p:spPr>
          <a:xfrm>
            <a:off x="4502445" y="1945759"/>
            <a:ext cx="3187110"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ja-JP" altLang="en-US" sz="2000" dirty="0"/>
              <a:t>ＩＡＴＦ１６９４９</a:t>
            </a:r>
            <a:endParaRPr lang="en-US" altLang="ja-JP" sz="2000" dirty="0"/>
          </a:p>
          <a:p>
            <a:r>
              <a:rPr kumimoji="1" lang="ja-JP" altLang="en-US" sz="2000" dirty="0"/>
              <a:t>追加要求事項</a:t>
            </a:r>
          </a:p>
        </p:txBody>
      </p:sp>
      <p:sp>
        <p:nvSpPr>
          <p:cNvPr id="11" name="フローチャート: 書類 10">
            <a:extLst>
              <a:ext uri="{FF2B5EF4-FFF2-40B4-BE49-F238E27FC236}">
                <a16:creationId xmlns:a16="http://schemas.microsoft.com/office/drawing/2014/main" id="{61DCC290-3FD9-4C17-8DBD-6686513C6E86}"/>
              </a:ext>
            </a:extLst>
          </p:cNvPr>
          <p:cNvSpPr/>
          <p:nvPr/>
        </p:nvSpPr>
        <p:spPr>
          <a:xfrm>
            <a:off x="4502445" y="1828800"/>
            <a:ext cx="318711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dirty="0">
                <a:solidFill>
                  <a:schemeClr val="tx1"/>
                </a:solidFill>
              </a:rPr>
              <a:t>ＩＳＯ９００１要求事項</a:t>
            </a:r>
          </a:p>
        </p:txBody>
      </p:sp>
      <p:sp>
        <p:nvSpPr>
          <p:cNvPr id="12" name="四角形: メモ 11">
            <a:extLst>
              <a:ext uri="{FF2B5EF4-FFF2-40B4-BE49-F238E27FC236}">
                <a16:creationId xmlns:a16="http://schemas.microsoft.com/office/drawing/2014/main" id="{23FC4FF7-7952-4BA4-A9A0-52BCFFB106AE}"/>
              </a:ext>
            </a:extLst>
          </p:cNvPr>
          <p:cNvSpPr/>
          <p:nvPr/>
        </p:nvSpPr>
        <p:spPr>
          <a:xfrm>
            <a:off x="8166690" y="1945759"/>
            <a:ext cx="3187110"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ja-JP" altLang="en-US" sz="2000" dirty="0"/>
              <a:t>ＩＡＴＦ１６９４９</a:t>
            </a:r>
            <a:endParaRPr lang="en-US" altLang="ja-JP" sz="2000" dirty="0"/>
          </a:p>
          <a:p>
            <a:r>
              <a:rPr kumimoji="1" lang="ja-JP" altLang="en-US" sz="2000" dirty="0"/>
              <a:t>追加要求事項</a:t>
            </a:r>
          </a:p>
        </p:txBody>
      </p:sp>
      <p:sp>
        <p:nvSpPr>
          <p:cNvPr id="13" name="フローチャート: 書類 12">
            <a:extLst>
              <a:ext uri="{FF2B5EF4-FFF2-40B4-BE49-F238E27FC236}">
                <a16:creationId xmlns:a16="http://schemas.microsoft.com/office/drawing/2014/main" id="{800FF624-4C2E-4F63-ACAE-A93B1DCB85C8}"/>
              </a:ext>
            </a:extLst>
          </p:cNvPr>
          <p:cNvSpPr/>
          <p:nvPr/>
        </p:nvSpPr>
        <p:spPr>
          <a:xfrm>
            <a:off x="8166690" y="1828800"/>
            <a:ext cx="318711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dirty="0">
                <a:solidFill>
                  <a:schemeClr val="tx1"/>
                </a:solidFill>
              </a:rPr>
              <a:t>ＩＳＯ９００１要求事項</a:t>
            </a:r>
          </a:p>
        </p:txBody>
      </p:sp>
    </p:spTree>
    <p:extLst>
      <p:ext uri="{BB962C8B-B14F-4D97-AF65-F5344CB8AC3E}">
        <p14:creationId xmlns:p14="http://schemas.microsoft.com/office/powerpoint/2010/main" val="2785712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箇条数と</a:t>
            </a:r>
            <a:r>
              <a:rPr kumimoji="1" lang="en-US" altLang="ja-JP" sz="3600" dirty="0">
                <a:solidFill>
                  <a:schemeClr val="bg1"/>
                </a:solidFill>
              </a:rPr>
              <a:t>shall</a:t>
            </a:r>
            <a:r>
              <a:rPr kumimoji="1" lang="ja-JP" altLang="en-US" sz="3600" dirty="0">
                <a:solidFill>
                  <a:schemeClr val="bg1"/>
                </a:solidFill>
              </a:rPr>
              <a:t>（要求事項）数</a:t>
            </a:r>
          </a:p>
        </p:txBody>
      </p:sp>
      <p:graphicFrame>
        <p:nvGraphicFramePr>
          <p:cNvPr id="2" name="表 1">
            <a:extLst>
              <a:ext uri="{FF2B5EF4-FFF2-40B4-BE49-F238E27FC236}">
                <a16:creationId xmlns:a16="http://schemas.microsoft.com/office/drawing/2014/main" id="{B08E48A2-7AA0-4DCB-9058-D8891D9510CE}"/>
              </a:ext>
            </a:extLst>
          </p:cNvPr>
          <p:cNvGraphicFramePr>
            <a:graphicFrameLocks noGrp="1"/>
          </p:cNvGraphicFramePr>
          <p:nvPr>
            <p:extLst>
              <p:ext uri="{D42A27DB-BD31-4B8C-83A1-F6EECF244321}">
                <p14:modId xmlns:p14="http://schemas.microsoft.com/office/powerpoint/2010/main" val="40126469"/>
              </p:ext>
            </p:extLst>
          </p:nvPr>
        </p:nvGraphicFramePr>
        <p:xfrm>
          <a:off x="838199" y="1574798"/>
          <a:ext cx="10515600" cy="4781550"/>
        </p:xfrm>
        <a:graphic>
          <a:graphicData uri="http://schemas.openxmlformats.org/drawingml/2006/table">
            <a:tbl>
              <a:tblPr firstRow="1" bandRow="1">
                <a:tableStyleId>{5940675A-B579-460E-94D1-54222C63F5DA}</a:tableStyleId>
              </a:tblPr>
              <a:tblGrid>
                <a:gridCol w="2424765">
                  <a:extLst>
                    <a:ext uri="{9D8B030D-6E8A-4147-A177-3AD203B41FA5}">
                      <a16:colId xmlns:a16="http://schemas.microsoft.com/office/drawing/2014/main" val="1100740076"/>
                    </a:ext>
                  </a:extLst>
                </a:gridCol>
                <a:gridCol w="760396">
                  <a:extLst>
                    <a:ext uri="{9D8B030D-6E8A-4147-A177-3AD203B41FA5}">
                      <a16:colId xmlns:a16="http://schemas.microsoft.com/office/drawing/2014/main" val="1667860704"/>
                    </a:ext>
                  </a:extLst>
                </a:gridCol>
                <a:gridCol w="789272">
                  <a:extLst>
                    <a:ext uri="{9D8B030D-6E8A-4147-A177-3AD203B41FA5}">
                      <a16:colId xmlns:a16="http://schemas.microsoft.com/office/drawing/2014/main" val="2976569807"/>
                    </a:ext>
                  </a:extLst>
                </a:gridCol>
                <a:gridCol w="798896">
                  <a:extLst>
                    <a:ext uri="{9D8B030D-6E8A-4147-A177-3AD203B41FA5}">
                      <a16:colId xmlns:a16="http://schemas.microsoft.com/office/drawing/2014/main" val="1822495874"/>
                    </a:ext>
                  </a:extLst>
                </a:gridCol>
                <a:gridCol w="798897">
                  <a:extLst>
                    <a:ext uri="{9D8B030D-6E8A-4147-A177-3AD203B41FA5}">
                      <a16:colId xmlns:a16="http://schemas.microsoft.com/office/drawing/2014/main" val="706934687"/>
                    </a:ext>
                  </a:extLst>
                </a:gridCol>
                <a:gridCol w="827773">
                  <a:extLst>
                    <a:ext uri="{9D8B030D-6E8A-4147-A177-3AD203B41FA5}">
                      <a16:colId xmlns:a16="http://schemas.microsoft.com/office/drawing/2014/main" val="729908195"/>
                    </a:ext>
                  </a:extLst>
                </a:gridCol>
                <a:gridCol w="837398">
                  <a:extLst>
                    <a:ext uri="{9D8B030D-6E8A-4147-A177-3AD203B41FA5}">
                      <a16:colId xmlns:a16="http://schemas.microsoft.com/office/drawing/2014/main" val="4268795540"/>
                    </a:ext>
                  </a:extLst>
                </a:gridCol>
                <a:gridCol w="837398">
                  <a:extLst>
                    <a:ext uri="{9D8B030D-6E8A-4147-A177-3AD203B41FA5}">
                      <a16:colId xmlns:a16="http://schemas.microsoft.com/office/drawing/2014/main" val="3096987600"/>
                    </a:ext>
                  </a:extLst>
                </a:gridCol>
                <a:gridCol w="1212783">
                  <a:extLst>
                    <a:ext uri="{9D8B030D-6E8A-4147-A177-3AD203B41FA5}">
                      <a16:colId xmlns:a16="http://schemas.microsoft.com/office/drawing/2014/main" val="2797836651"/>
                    </a:ext>
                  </a:extLst>
                </a:gridCol>
                <a:gridCol w="1228022">
                  <a:extLst>
                    <a:ext uri="{9D8B030D-6E8A-4147-A177-3AD203B41FA5}">
                      <a16:colId xmlns:a16="http://schemas.microsoft.com/office/drawing/2014/main" val="3736378500"/>
                    </a:ext>
                  </a:extLst>
                </a:gridCol>
              </a:tblGrid>
              <a:tr h="956310">
                <a:tc>
                  <a:txBody>
                    <a:bodyPr/>
                    <a:lstStyle/>
                    <a:p>
                      <a:r>
                        <a:rPr kumimoji="1" lang="ja-JP" altLang="en-US" dirty="0"/>
                        <a:t>規格</a:t>
                      </a:r>
                    </a:p>
                  </a:txBody>
                  <a:tcPr anchor="ctr" anchorCtr="1">
                    <a:solidFill>
                      <a:schemeClr val="tx2">
                        <a:lumMod val="20000"/>
                        <a:lumOff val="80000"/>
                      </a:schemeClr>
                    </a:solidFill>
                  </a:tcPr>
                </a:tc>
                <a:tc>
                  <a:txBody>
                    <a:bodyPr/>
                    <a:lstStyle/>
                    <a:p>
                      <a:r>
                        <a:rPr kumimoji="1" lang="en-US" altLang="ja-JP" sz="1600" dirty="0"/>
                        <a:t>4</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5</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6</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7</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8</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9</a:t>
                      </a:r>
                      <a:r>
                        <a:rPr kumimoji="1" lang="ja-JP" altLang="en-US" sz="1600" dirty="0"/>
                        <a:t>箇条</a:t>
                      </a:r>
                    </a:p>
                  </a:txBody>
                  <a:tcPr anchor="ctr" anchorCtr="1">
                    <a:solidFill>
                      <a:schemeClr val="tx2">
                        <a:lumMod val="20000"/>
                        <a:lumOff val="80000"/>
                      </a:schemeClr>
                    </a:solidFill>
                  </a:tcPr>
                </a:tc>
                <a:tc>
                  <a:txBody>
                    <a:bodyPr/>
                    <a:lstStyle/>
                    <a:p>
                      <a:r>
                        <a:rPr kumimoji="1" lang="en-US" altLang="ja-JP" sz="1600" dirty="0"/>
                        <a:t>10</a:t>
                      </a:r>
                      <a:r>
                        <a:rPr kumimoji="1" lang="ja-JP" altLang="en-US" sz="1600" dirty="0"/>
                        <a:t>箇条</a:t>
                      </a:r>
                    </a:p>
                  </a:txBody>
                  <a:tcPr anchor="ctr" anchorCtr="1">
                    <a:solidFill>
                      <a:schemeClr val="tx2">
                        <a:lumMod val="20000"/>
                        <a:lumOff val="80000"/>
                      </a:schemeClr>
                    </a:solidFill>
                  </a:tcPr>
                </a:tc>
                <a:tc>
                  <a:txBody>
                    <a:bodyPr/>
                    <a:lstStyle/>
                    <a:p>
                      <a:r>
                        <a:rPr kumimoji="1" lang="ja-JP" altLang="en-US" dirty="0"/>
                        <a:t>箇条数</a:t>
                      </a:r>
                    </a:p>
                  </a:txBody>
                  <a:tcPr anchor="ctr" anchorCtr="1">
                    <a:solidFill>
                      <a:schemeClr val="tx2">
                        <a:lumMod val="20000"/>
                        <a:lumOff val="80000"/>
                      </a:schemeClr>
                    </a:solidFill>
                  </a:tcPr>
                </a:tc>
                <a:tc>
                  <a:txBody>
                    <a:bodyPr/>
                    <a:lstStyle/>
                    <a:p>
                      <a:r>
                        <a:rPr kumimoji="1" lang="en-US" altLang="ja-JP" dirty="0"/>
                        <a:t>Shall</a:t>
                      </a:r>
                      <a:r>
                        <a:rPr kumimoji="1" lang="ja-JP" altLang="en-US" dirty="0"/>
                        <a:t>数</a:t>
                      </a:r>
                    </a:p>
                  </a:txBody>
                  <a:tcPr anchor="ctr" anchorCtr="1">
                    <a:solidFill>
                      <a:schemeClr val="tx2">
                        <a:lumMod val="20000"/>
                        <a:lumOff val="80000"/>
                      </a:schemeClr>
                    </a:solidFill>
                  </a:tcPr>
                </a:tc>
                <a:extLst>
                  <a:ext uri="{0D108BD9-81ED-4DB2-BD59-A6C34878D82A}">
                    <a16:rowId xmlns:a16="http://schemas.microsoft.com/office/drawing/2014/main" val="2964493508"/>
                  </a:ext>
                </a:extLst>
              </a:tr>
              <a:tr h="956310">
                <a:tc>
                  <a:txBody>
                    <a:bodyPr/>
                    <a:lstStyle/>
                    <a:p>
                      <a:pPr algn="l"/>
                      <a:r>
                        <a:rPr kumimoji="1" lang="en-US" altLang="ja-JP" dirty="0"/>
                        <a:t>ISO9001:2008</a:t>
                      </a:r>
                      <a:endParaRPr kumimoji="1" lang="ja-JP" altLang="en-US" dirty="0"/>
                    </a:p>
                  </a:txBody>
                  <a:tcPr anchor="ctr">
                    <a:solidFill>
                      <a:schemeClr val="tx2">
                        <a:lumMod val="20000"/>
                        <a:lumOff val="80000"/>
                      </a:schemeClr>
                    </a:solidFill>
                  </a:tcPr>
                </a:tc>
                <a:tc>
                  <a:txBody>
                    <a:bodyPr/>
                    <a:lstStyle/>
                    <a:p>
                      <a:r>
                        <a:rPr kumimoji="1" lang="ja-JP" altLang="en-US" dirty="0"/>
                        <a:t>５</a:t>
                      </a:r>
                    </a:p>
                  </a:txBody>
                  <a:tcPr anchor="ctr" anchorCtr="1"/>
                </a:tc>
                <a:tc>
                  <a:txBody>
                    <a:bodyPr/>
                    <a:lstStyle/>
                    <a:p>
                      <a:r>
                        <a:rPr kumimoji="1" lang="ja-JP" altLang="en-US" dirty="0"/>
                        <a:t>１１</a:t>
                      </a:r>
                    </a:p>
                  </a:txBody>
                  <a:tcPr anchor="ctr" anchorCtr="1"/>
                </a:tc>
                <a:tc>
                  <a:txBody>
                    <a:bodyPr/>
                    <a:lstStyle/>
                    <a:p>
                      <a:r>
                        <a:rPr kumimoji="1" lang="ja-JP" altLang="en-US" dirty="0"/>
                        <a:t>５</a:t>
                      </a:r>
                    </a:p>
                  </a:txBody>
                  <a:tcPr anchor="ctr" anchorCtr="1"/>
                </a:tc>
                <a:tc>
                  <a:txBody>
                    <a:bodyPr/>
                    <a:lstStyle/>
                    <a:p>
                      <a:r>
                        <a:rPr kumimoji="1" lang="ja-JP" altLang="en-US" dirty="0"/>
                        <a:t>２０</a:t>
                      </a:r>
                    </a:p>
                  </a:txBody>
                  <a:tcPr anchor="ctr" anchorCtr="1"/>
                </a:tc>
                <a:tc>
                  <a:txBody>
                    <a:bodyPr/>
                    <a:lstStyle/>
                    <a:p>
                      <a:r>
                        <a:rPr kumimoji="1" lang="ja-JP" altLang="en-US" dirty="0"/>
                        <a:t>１０</a:t>
                      </a:r>
                    </a:p>
                  </a:txBody>
                  <a:tcPr anchor="ctr" anchorCtr="1"/>
                </a:tc>
                <a:tc>
                  <a:txBody>
                    <a:bodyPr/>
                    <a:lstStyle/>
                    <a:p>
                      <a:r>
                        <a:rPr kumimoji="1" lang="ja-JP" altLang="en-US" dirty="0"/>
                        <a:t>－</a:t>
                      </a:r>
                    </a:p>
                  </a:txBody>
                  <a:tcPr anchor="ctr" anchorCtr="1"/>
                </a:tc>
                <a:tc>
                  <a:txBody>
                    <a:bodyPr/>
                    <a:lstStyle/>
                    <a:p>
                      <a:r>
                        <a:rPr kumimoji="1" lang="ja-JP" altLang="en-US" dirty="0"/>
                        <a:t>－</a:t>
                      </a:r>
                    </a:p>
                  </a:txBody>
                  <a:tcPr anchor="ctr" anchorCtr="1"/>
                </a:tc>
                <a:tc>
                  <a:txBody>
                    <a:bodyPr/>
                    <a:lstStyle/>
                    <a:p>
                      <a:r>
                        <a:rPr kumimoji="1" lang="ja-JP" altLang="en-US" dirty="0"/>
                        <a:t>５１</a:t>
                      </a:r>
                    </a:p>
                  </a:txBody>
                  <a:tcPr anchor="ctr" anchorCtr="1"/>
                </a:tc>
                <a:tc>
                  <a:txBody>
                    <a:bodyPr/>
                    <a:lstStyle/>
                    <a:p>
                      <a:r>
                        <a:rPr kumimoji="1" lang="ja-JP" altLang="en-US" dirty="0"/>
                        <a:t>１３６</a:t>
                      </a:r>
                    </a:p>
                  </a:txBody>
                  <a:tcPr anchor="ctr" anchorCtr="1"/>
                </a:tc>
                <a:extLst>
                  <a:ext uri="{0D108BD9-81ED-4DB2-BD59-A6C34878D82A}">
                    <a16:rowId xmlns:a16="http://schemas.microsoft.com/office/drawing/2014/main" val="482119716"/>
                  </a:ext>
                </a:extLst>
              </a:tr>
              <a:tr h="956310">
                <a:tc>
                  <a:txBody>
                    <a:bodyPr/>
                    <a:lstStyle/>
                    <a:p>
                      <a:pPr algn="l"/>
                      <a:r>
                        <a:rPr kumimoji="1" lang="en-US" altLang="ja-JP" dirty="0"/>
                        <a:t>ISO/TS16949:2009</a:t>
                      </a:r>
                      <a:endParaRPr kumimoji="1" lang="ja-JP" altLang="en-US" dirty="0"/>
                    </a:p>
                  </a:txBody>
                  <a:tcPr anchor="ctr">
                    <a:solidFill>
                      <a:schemeClr val="tx2">
                        <a:lumMod val="20000"/>
                        <a:lumOff val="80000"/>
                      </a:schemeClr>
                    </a:solidFill>
                  </a:tcPr>
                </a:tc>
                <a:tc>
                  <a:txBody>
                    <a:bodyPr/>
                    <a:lstStyle/>
                    <a:p>
                      <a:r>
                        <a:rPr kumimoji="1" lang="ja-JP" altLang="en-US" dirty="0"/>
                        <a:t>３</a:t>
                      </a:r>
                    </a:p>
                  </a:txBody>
                  <a:tcPr anchor="ctr" anchorCtr="1"/>
                </a:tc>
                <a:tc>
                  <a:txBody>
                    <a:bodyPr/>
                    <a:lstStyle/>
                    <a:p>
                      <a:r>
                        <a:rPr kumimoji="1" lang="ja-JP" altLang="en-US" dirty="0"/>
                        <a:t>６</a:t>
                      </a:r>
                    </a:p>
                  </a:txBody>
                  <a:tcPr anchor="ctr" anchorCtr="1"/>
                </a:tc>
                <a:tc>
                  <a:txBody>
                    <a:bodyPr/>
                    <a:lstStyle/>
                    <a:p>
                      <a:r>
                        <a:rPr kumimoji="1" lang="ja-JP" altLang="en-US" dirty="0"/>
                        <a:t>８</a:t>
                      </a:r>
                    </a:p>
                  </a:txBody>
                  <a:tcPr anchor="ctr" anchorCtr="1"/>
                </a:tc>
                <a:tc>
                  <a:txBody>
                    <a:bodyPr/>
                    <a:lstStyle/>
                    <a:p>
                      <a:r>
                        <a:rPr kumimoji="1" lang="ja-JP" altLang="en-US" dirty="0"/>
                        <a:t>４０</a:t>
                      </a:r>
                    </a:p>
                  </a:txBody>
                  <a:tcPr anchor="ctr" anchorCtr="1"/>
                </a:tc>
                <a:tc>
                  <a:txBody>
                    <a:bodyPr/>
                    <a:lstStyle/>
                    <a:p>
                      <a:r>
                        <a:rPr kumimoji="1" lang="ja-JP" altLang="en-US" dirty="0"/>
                        <a:t>２１</a:t>
                      </a:r>
                    </a:p>
                  </a:txBody>
                  <a:tcPr anchor="ctr" anchorCtr="1"/>
                </a:tc>
                <a:tc>
                  <a:txBody>
                    <a:bodyPr/>
                    <a:lstStyle/>
                    <a:p>
                      <a:r>
                        <a:rPr kumimoji="1" lang="ja-JP" altLang="en-US" dirty="0"/>
                        <a:t>－</a:t>
                      </a:r>
                    </a:p>
                  </a:txBody>
                  <a:tcPr anchor="ctr" anchorCtr="1"/>
                </a:tc>
                <a:tc>
                  <a:txBody>
                    <a:bodyPr/>
                    <a:lstStyle/>
                    <a:p>
                      <a:r>
                        <a:rPr kumimoji="1" lang="ja-JP" altLang="en-US" dirty="0"/>
                        <a:t>－</a:t>
                      </a:r>
                    </a:p>
                  </a:txBody>
                  <a:tcPr anchor="ctr" anchorCtr="1"/>
                </a:tc>
                <a:tc>
                  <a:txBody>
                    <a:bodyPr/>
                    <a:lstStyle/>
                    <a:p>
                      <a:r>
                        <a:rPr kumimoji="1" lang="ja-JP" altLang="en-US" dirty="0"/>
                        <a:t>７８</a:t>
                      </a:r>
                    </a:p>
                  </a:txBody>
                  <a:tcPr anchor="ctr" anchorCtr="1"/>
                </a:tc>
                <a:tc>
                  <a:txBody>
                    <a:bodyPr/>
                    <a:lstStyle/>
                    <a:p>
                      <a:r>
                        <a:rPr kumimoji="1" lang="ja-JP" altLang="en-US" dirty="0"/>
                        <a:t>１５４</a:t>
                      </a:r>
                    </a:p>
                  </a:txBody>
                  <a:tcPr anchor="ctr" anchorCtr="1"/>
                </a:tc>
                <a:extLst>
                  <a:ext uri="{0D108BD9-81ED-4DB2-BD59-A6C34878D82A}">
                    <a16:rowId xmlns:a16="http://schemas.microsoft.com/office/drawing/2014/main" val="1714940706"/>
                  </a:ext>
                </a:extLst>
              </a:tr>
              <a:tr h="956310">
                <a:tc>
                  <a:txBody>
                    <a:bodyPr/>
                    <a:lstStyle/>
                    <a:p>
                      <a:pPr algn="l"/>
                      <a:r>
                        <a:rPr kumimoji="1" lang="en-US" altLang="ja-JP" sz="1800" b="1" dirty="0">
                          <a:effectLst>
                            <a:outerShdw blurRad="38100" dist="38100" dir="2700000" algn="tl">
                              <a:srgbClr val="000000">
                                <a:alpha val="43137"/>
                              </a:srgbClr>
                            </a:outerShdw>
                          </a:effectLst>
                        </a:rPr>
                        <a:t>ISO9001:2015</a:t>
                      </a:r>
                      <a:endParaRPr kumimoji="1" lang="ja-JP" altLang="en-US" sz="1800" b="1" dirty="0">
                        <a:effectLst>
                          <a:outerShdw blurRad="38100" dist="38100" dir="2700000" algn="tl">
                            <a:srgbClr val="000000">
                              <a:alpha val="43137"/>
                            </a:srgbClr>
                          </a:outerShdw>
                        </a:effectLst>
                      </a:endParaRPr>
                    </a:p>
                  </a:txBody>
                  <a:tcPr anchor="ctr">
                    <a:solidFill>
                      <a:schemeClr val="tx2">
                        <a:lumMod val="20000"/>
                        <a:lumOff val="80000"/>
                      </a:schemeClr>
                    </a:solidFill>
                  </a:tcPr>
                </a:tc>
                <a:tc>
                  <a:txBody>
                    <a:bodyPr/>
                    <a:lstStyle/>
                    <a:p>
                      <a:r>
                        <a:rPr kumimoji="1" lang="ja-JP" altLang="en-US" sz="1800" b="1" dirty="0">
                          <a:effectLst>
                            <a:outerShdw blurRad="38100" dist="38100" dir="2700000" algn="tl">
                              <a:srgbClr val="000000">
                                <a:alpha val="43137"/>
                              </a:srgbClr>
                            </a:outerShdw>
                          </a:effectLst>
                        </a:rPr>
                        <a:t>５</a:t>
                      </a:r>
                    </a:p>
                  </a:txBody>
                  <a:tcPr anchor="ctr" anchorCtr="1"/>
                </a:tc>
                <a:tc>
                  <a:txBody>
                    <a:bodyPr/>
                    <a:lstStyle/>
                    <a:p>
                      <a:r>
                        <a:rPr kumimoji="1" lang="ja-JP" altLang="en-US" sz="1800" b="1" dirty="0">
                          <a:effectLst>
                            <a:outerShdw blurRad="38100" dist="38100" dir="2700000" algn="tl">
                              <a:srgbClr val="000000">
                                <a:alpha val="43137"/>
                              </a:srgbClr>
                            </a:outerShdw>
                          </a:effectLst>
                        </a:rPr>
                        <a:t>５</a:t>
                      </a:r>
                    </a:p>
                  </a:txBody>
                  <a:tcPr anchor="ctr" anchorCtr="1"/>
                </a:tc>
                <a:tc>
                  <a:txBody>
                    <a:bodyPr/>
                    <a:lstStyle/>
                    <a:p>
                      <a:r>
                        <a:rPr kumimoji="1" lang="ja-JP" altLang="en-US" sz="1800" b="1" dirty="0">
                          <a:effectLst>
                            <a:outerShdw blurRad="38100" dist="38100" dir="2700000" algn="tl">
                              <a:srgbClr val="000000">
                                <a:alpha val="43137"/>
                              </a:srgbClr>
                            </a:outerShdw>
                          </a:effectLst>
                        </a:rPr>
                        <a:t>５</a:t>
                      </a:r>
                    </a:p>
                  </a:txBody>
                  <a:tcPr anchor="ctr" anchorCtr="1"/>
                </a:tc>
                <a:tc>
                  <a:txBody>
                    <a:bodyPr/>
                    <a:lstStyle/>
                    <a:p>
                      <a:r>
                        <a:rPr kumimoji="1" lang="ja-JP" altLang="en-US" sz="1800" b="1" dirty="0">
                          <a:effectLst>
                            <a:outerShdw blurRad="38100" dist="38100" dir="2700000" algn="tl">
                              <a:srgbClr val="000000">
                                <a:alpha val="43137"/>
                              </a:srgbClr>
                            </a:outerShdw>
                          </a:effectLst>
                        </a:rPr>
                        <a:t>１４</a:t>
                      </a:r>
                    </a:p>
                  </a:txBody>
                  <a:tcPr anchor="ctr" anchorCtr="1"/>
                </a:tc>
                <a:tc>
                  <a:txBody>
                    <a:bodyPr/>
                    <a:lstStyle/>
                    <a:p>
                      <a:r>
                        <a:rPr kumimoji="1" lang="ja-JP" altLang="en-US" sz="1800" b="1" dirty="0">
                          <a:effectLst>
                            <a:outerShdw blurRad="38100" dist="38100" dir="2700000" algn="tl">
                              <a:srgbClr val="000000">
                                <a:alpha val="43137"/>
                              </a:srgbClr>
                            </a:outerShdw>
                          </a:effectLst>
                        </a:rPr>
                        <a:t>２４</a:t>
                      </a:r>
                    </a:p>
                  </a:txBody>
                  <a:tcPr anchor="ctr" anchorCtr="1"/>
                </a:tc>
                <a:tc>
                  <a:txBody>
                    <a:bodyPr/>
                    <a:lstStyle/>
                    <a:p>
                      <a:r>
                        <a:rPr kumimoji="1" lang="ja-JP" altLang="en-US" sz="1800" b="1" dirty="0">
                          <a:effectLst>
                            <a:outerShdw blurRad="38100" dist="38100" dir="2700000" algn="tl">
                              <a:srgbClr val="000000">
                                <a:alpha val="43137"/>
                              </a:srgbClr>
                            </a:outerShdw>
                          </a:effectLst>
                        </a:rPr>
                        <a:t>８</a:t>
                      </a:r>
                    </a:p>
                  </a:txBody>
                  <a:tcPr anchor="ctr" anchorCtr="1"/>
                </a:tc>
                <a:tc>
                  <a:txBody>
                    <a:bodyPr/>
                    <a:lstStyle/>
                    <a:p>
                      <a:r>
                        <a:rPr kumimoji="1" lang="ja-JP" altLang="en-US" sz="1800" b="1" dirty="0">
                          <a:effectLst>
                            <a:outerShdw blurRad="38100" dist="38100" dir="2700000" algn="tl">
                              <a:srgbClr val="000000">
                                <a:alpha val="43137"/>
                              </a:srgbClr>
                            </a:outerShdw>
                          </a:effectLst>
                        </a:rPr>
                        <a:t>４</a:t>
                      </a:r>
                    </a:p>
                  </a:txBody>
                  <a:tcPr anchor="ctr" anchorCtr="1"/>
                </a:tc>
                <a:tc>
                  <a:txBody>
                    <a:bodyPr/>
                    <a:lstStyle/>
                    <a:p>
                      <a:r>
                        <a:rPr kumimoji="1" lang="ja-JP" altLang="en-US" sz="1800" b="1" dirty="0">
                          <a:effectLst>
                            <a:outerShdw blurRad="38100" dist="38100" dir="2700000" algn="tl">
                              <a:srgbClr val="000000">
                                <a:alpha val="43137"/>
                              </a:srgbClr>
                            </a:outerShdw>
                          </a:effectLst>
                        </a:rPr>
                        <a:t>６５</a:t>
                      </a:r>
                    </a:p>
                  </a:txBody>
                  <a:tcPr anchor="ctr" anchorCtr="1"/>
                </a:tc>
                <a:tc>
                  <a:txBody>
                    <a:bodyPr/>
                    <a:lstStyle/>
                    <a:p>
                      <a:r>
                        <a:rPr kumimoji="1" lang="ja-JP" altLang="en-US" sz="1800" b="1" dirty="0">
                          <a:effectLst>
                            <a:outerShdw blurRad="38100" dist="38100" dir="2700000" algn="tl">
                              <a:srgbClr val="000000">
                                <a:alpha val="43137"/>
                              </a:srgbClr>
                            </a:outerShdw>
                          </a:effectLst>
                        </a:rPr>
                        <a:t>１３２</a:t>
                      </a:r>
                    </a:p>
                  </a:txBody>
                  <a:tcPr anchor="ctr" anchorCtr="1"/>
                </a:tc>
                <a:extLst>
                  <a:ext uri="{0D108BD9-81ED-4DB2-BD59-A6C34878D82A}">
                    <a16:rowId xmlns:a16="http://schemas.microsoft.com/office/drawing/2014/main" val="721787146"/>
                  </a:ext>
                </a:extLst>
              </a:tr>
              <a:tr h="956310">
                <a:tc>
                  <a:txBody>
                    <a:bodyPr/>
                    <a:lstStyle/>
                    <a:p>
                      <a:pPr algn="l"/>
                      <a:r>
                        <a:rPr kumimoji="1" lang="en-US" altLang="ja-JP" sz="1800" b="1" dirty="0">
                          <a:effectLst>
                            <a:outerShdw blurRad="38100" dist="38100" dir="2700000" algn="tl">
                              <a:srgbClr val="000000">
                                <a:alpha val="43137"/>
                              </a:srgbClr>
                            </a:outerShdw>
                          </a:effectLst>
                        </a:rPr>
                        <a:t>IATF16949:2016</a:t>
                      </a:r>
                      <a:endParaRPr kumimoji="1" lang="ja-JP" altLang="en-US" sz="1800" b="1" dirty="0">
                        <a:effectLst>
                          <a:outerShdw blurRad="38100" dist="38100" dir="2700000" algn="tl">
                            <a:srgbClr val="000000">
                              <a:alpha val="43137"/>
                            </a:srgbClr>
                          </a:outerShdw>
                        </a:effectLst>
                      </a:endParaRPr>
                    </a:p>
                  </a:txBody>
                  <a:tcPr anchor="ctr">
                    <a:solidFill>
                      <a:schemeClr val="tx2">
                        <a:lumMod val="20000"/>
                        <a:lumOff val="80000"/>
                      </a:schemeClr>
                    </a:solidFill>
                  </a:tcPr>
                </a:tc>
                <a:tc>
                  <a:txBody>
                    <a:bodyPr/>
                    <a:lstStyle/>
                    <a:p>
                      <a:r>
                        <a:rPr kumimoji="1" lang="ja-JP" altLang="en-US" sz="1800" b="1" dirty="0">
                          <a:effectLst>
                            <a:outerShdw blurRad="38100" dist="38100" dir="2700000" algn="tl">
                              <a:srgbClr val="000000">
                                <a:alpha val="43137"/>
                              </a:srgbClr>
                            </a:outerShdw>
                          </a:effectLst>
                        </a:rPr>
                        <a:t>４</a:t>
                      </a:r>
                    </a:p>
                  </a:txBody>
                  <a:tcPr anchor="ctr" anchorCtr="1"/>
                </a:tc>
                <a:tc>
                  <a:txBody>
                    <a:bodyPr/>
                    <a:lstStyle/>
                    <a:p>
                      <a:r>
                        <a:rPr kumimoji="1" lang="ja-JP" altLang="en-US" sz="1800" b="1" dirty="0">
                          <a:effectLst>
                            <a:outerShdw blurRad="38100" dist="38100" dir="2700000" algn="tl">
                              <a:srgbClr val="000000">
                                <a:alpha val="43137"/>
                              </a:srgbClr>
                            </a:outerShdw>
                          </a:effectLst>
                        </a:rPr>
                        <a:t>５</a:t>
                      </a:r>
                    </a:p>
                  </a:txBody>
                  <a:tcPr anchor="ctr" anchorCtr="1"/>
                </a:tc>
                <a:tc>
                  <a:txBody>
                    <a:bodyPr/>
                    <a:lstStyle/>
                    <a:p>
                      <a:r>
                        <a:rPr kumimoji="1" lang="ja-JP" altLang="en-US" sz="1800" b="1" dirty="0">
                          <a:effectLst>
                            <a:outerShdw blurRad="38100" dist="38100" dir="2700000" algn="tl">
                              <a:srgbClr val="000000">
                                <a:alpha val="43137"/>
                              </a:srgbClr>
                            </a:outerShdw>
                          </a:effectLst>
                        </a:rPr>
                        <a:t>４</a:t>
                      </a:r>
                    </a:p>
                  </a:txBody>
                  <a:tcPr anchor="ctr" anchorCtr="1"/>
                </a:tc>
                <a:tc>
                  <a:txBody>
                    <a:bodyPr/>
                    <a:lstStyle/>
                    <a:p>
                      <a:r>
                        <a:rPr kumimoji="1" lang="ja-JP" altLang="en-US" sz="1800" b="1" dirty="0">
                          <a:effectLst>
                            <a:outerShdw blurRad="38100" dist="38100" dir="2700000" algn="tl">
                              <a:srgbClr val="000000">
                                <a:alpha val="43137"/>
                              </a:srgbClr>
                            </a:outerShdw>
                          </a:effectLst>
                        </a:rPr>
                        <a:t>１５</a:t>
                      </a:r>
                    </a:p>
                  </a:txBody>
                  <a:tcPr anchor="ctr" anchorCtr="1"/>
                </a:tc>
                <a:tc>
                  <a:txBody>
                    <a:bodyPr/>
                    <a:lstStyle/>
                    <a:p>
                      <a:r>
                        <a:rPr kumimoji="1" lang="ja-JP" altLang="en-US" sz="1800" b="1" dirty="0">
                          <a:effectLst>
                            <a:outerShdw blurRad="38100" dist="38100" dir="2700000" algn="tl">
                              <a:srgbClr val="000000">
                                <a:alpha val="43137"/>
                              </a:srgbClr>
                            </a:outerShdw>
                          </a:effectLst>
                        </a:rPr>
                        <a:t>５８</a:t>
                      </a:r>
                    </a:p>
                  </a:txBody>
                  <a:tcPr anchor="ctr" anchorCtr="1"/>
                </a:tc>
                <a:tc>
                  <a:txBody>
                    <a:bodyPr/>
                    <a:lstStyle/>
                    <a:p>
                      <a:r>
                        <a:rPr kumimoji="1" lang="ja-JP" altLang="en-US" sz="1800" b="1" dirty="0">
                          <a:effectLst>
                            <a:outerShdw blurRad="38100" dist="38100" dir="2700000" algn="tl">
                              <a:srgbClr val="000000">
                                <a:alpha val="43137"/>
                              </a:srgbClr>
                            </a:outerShdw>
                          </a:effectLst>
                        </a:rPr>
                        <a:t>１２</a:t>
                      </a:r>
                    </a:p>
                  </a:txBody>
                  <a:tcPr anchor="ctr" anchorCtr="1"/>
                </a:tc>
                <a:tc>
                  <a:txBody>
                    <a:bodyPr/>
                    <a:lstStyle/>
                    <a:p>
                      <a:r>
                        <a:rPr kumimoji="1" lang="ja-JP" altLang="en-US" sz="1800" b="1" dirty="0">
                          <a:effectLst>
                            <a:outerShdw blurRad="38100" dist="38100" dir="2700000" algn="tl">
                              <a:srgbClr val="000000">
                                <a:alpha val="43137"/>
                              </a:srgbClr>
                            </a:outerShdw>
                          </a:effectLst>
                        </a:rPr>
                        <a:t>５</a:t>
                      </a:r>
                    </a:p>
                  </a:txBody>
                  <a:tcPr anchor="ctr" anchorCtr="1"/>
                </a:tc>
                <a:tc>
                  <a:txBody>
                    <a:bodyPr/>
                    <a:lstStyle/>
                    <a:p>
                      <a:r>
                        <a:rPr kumimoji="1" lang="ja-JP" altLang="en-US" sz="1800" b="1" dirty="0">
                          <a:effectLst>
                            <a:outerShdw blurRad="38100" dist="38100" dir="2700000" algn="tl">
                              <a:srgbClr val="000000">
                                <a:alpha val="43137"/>
                              </a:srgbClr>
                            </a:outerShdw>
                          </a:effectLst>
                        </a:rPr>
                        <a:t>１０３</a:t>
                      </a:r>
                    </a:p>
                  </a:txBody>
                  <a:tcPr anchor="ctr" anchorCtr="1"/>
                </a:tc>
                <a:tc>
                  <a:txBody>
                    <a:bodyPr/>
                    <a:lstStyle/>
                    <a:p>
                      <a:r>
                        <a:rPr kumimoji="1" lang="ja-JP" altLang="en-US" sz="1800" b="1" dirty="0">
                          <a:effectLst>
                            <a:outerShdw blurRad="38100" dist="38100" dir="2700000" algn="tl">
                              <a:srgbClr val="000000">
                                <a:alpha val="43137"/>
                              </a:srgbClr>
                            </a:outerShdw>
                          </a:effectLst>
                        </a:rPr>
                        <a:t>２８１</a:t>
                      </a:r>
                    </a:p>
                  </a:txBody>
                  <a:tcPr anchor="ctr" anchorCtr="1"/>
                </a:tc>
                <a:extLst>
                  <a:ext uri="{0D108BD9-81ED-4DB2-BD59-A6C34878D82A}">
                    <a16:rowId xmlns:a16="http://schemas.microsoft.com/office/drawing/2014/main" val="3072939066"/>
                  </a:ext>
                </a:extLst>
              </a:tr>
            </a:tbl>
          </a:graphicData>
        </a:graphic>
      </p:graphicFrame>
    </p:spTree>
    <p:extLst>
      <p:ext uri="{BB962C8B-B14F-4D97-AF65-F5344CB8AC3E}">
        <p14:creationId xmlns:p14="http://schemas.microsoft.com/office/powerpoint/2010/main" val="431758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4400" b="1" u="sng" dirty="0">
                <a:solidFill>
                  <a:schemeClr val="tx2"/>
                </a:solidFill>
                <a:effectLst>
                  <a:outerShdw blurRad="38100" dist="38100" dir="2700000" algn="tl">
                    <a:srgbClr val="000000">
                      <a:alpha val="43137"/>
                    </a:srgbClr>
                  </a:outerShdw>
                </a:effectLst>
              </a:rPr>
              <a:t>０．序文</a:t>
            </a:r>
            <a:endParaRPr kumimoji="1" lang="en-US" altLang="ja-JP" sz="4400" b="1" u="sng" dirty="0">
              <a:solidFill>
                <a:schemeClr val="tx2"/>
              </a:solidFill>
              <a:effectLst>
                <a:outerShdw blurRad="38100" dist="38100" dir="2700000" algn="tl">
                  <a:srgbClr val="000000">
                    <a:alpha val="43137"/>
                  </a:srgbClr>
                </a:outerShdw>
              </a:effectLst>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2501893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０．序文</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3304067"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0.1</a:t>
            </a:r>
            <a:r>
              <a:rPr kumimoji="1" lang="ja-JP" altLang="en-US" sz="2000" b="1" dirty="0">
                <a:solidFill>
                  <a:schemeClr val="tx1"/>
                </a:solidFill>
              </a:rPr>
              <a:t>　一般</a:t>
            </a:r>
          </a:p>
        </p:txBody>
      </p:sp>
      <p:sp>
        <p:nvSpPr>
          <p:cNvPr id="11" name="フローチャート: 書類 10">
            <a:extLst>
              <a:ext uri="{FF2B5EF4-FFF2-40B4-BE49-F238E27FC236}">
                <a16:creationId xmlns:a16="http://schemas.microsoft.com/office/drawing/2014/main" id="{61DCC290-3FD9-4C17-8DBD-6686513C6E86}"/>
              </a:ext>
            </a:extLst>
          </p:cNvPr>
          <p:cNvSpPr/>
          <p:nvPr/>
        </p:nvSpPr>
        <p:spPr>
          <a:xfrm>
            <a:off x="4627821" y="1828800"/>
            <a:ext cx="3304067"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0.3</a:t>
            </a:r>
            <a:r>
              <a:rPr lang="ja-JP" altLang="en-US" sz="2000" b="1" dirty="0">
                <a:solidFill>
                  <a:schemeClr val="tx1"/>
                </a:solidFill>
              </a:rPr>
              <a:t>　プロセスアプローチ</a:t>
            </a:r>
            <a:endParaRPr lang="en-US" altLang="ja-JP" sz="2000" b="1" dirty="0">
              <a:solidFill>
                <a:schemeClr val="tx1"/>
              </a:solidFill>
            </a:endParaRPr>
          </a:p>
          <a:p>
            <a:r>
              <a:rPr kumimoji="1" lang="en-US" altLang="ja-JP" sz="2000" dirty="0">
                <a:solidFill>
                  <a:schemeClr val="tx1"/>
                </a:solidFill>
              </a:rPr>
              <a:t>0.3.1</a:t>
            </a:r>
            <a:r>
              <a:rPr kumimoji="1" lang="ja-JP" altLang="en-US" sz="2000" dirty="0">
                <a:solidFill>
                  <a:schemeClr val="tx1"/>
                </a:solidFill>
              </a:rPr>
              <a:t>　一般</a:t>
            </a:r>
            <a:endParaRPr kumimoji="1" lang="en-US" altLang="ja-JP" sz="2000" dirty="0">
              <a:solidFill>
                <a:schemeClr val="tx1"/>
              </a:solidFill>
            </a:endParaRPr>
          </a:p>
          <a:p>
            <a:r>
              <a:rPr lang="en-US" altLang="ja-JP" sz="2000" dirty="0">
                <a:solidFill>
                  <a:schemeClr val="tx1"/>
                </a:solidFill>
              </a:rPr>
              <a:t>0.3.2</a:t>
            </a:r>
            <a:r>
              <a:rPr lang="ja-JP" altLang="en-US" sz="2000" dirty="0">
                <a:solidFill>
                  <a:schemeClr val="tx1"/>
                </a:solidFill>
              </a:rPr>
              <a:t>　ＰＤＣＡサイクル</a:t>
            </a:r>
            <a:endParaRPr lang="en-US" altLang="ja-JP" sz="2000" dirty="0">
              <a:solidFill>
                <a:schemeClr val="tx1"/>
              </a:solidFill>
            </a:endParaRPr>
          </a:p>
          <a:p>
            <a:r>
              <a:rPr kumimoji="1" lang="en-US" altLang="ja-JP" sz="2000" dirty="0">
                <a:solidFill>
                  <a:schemeClr val="tx1"/>
                </a:solidFill>
              </a:rPr>
              <a:t>0.3.3</a:t>
            </a:r>
            <a:r>
              <a:rPr kumimoji="1" lang="ja-JP" altLang="en-US" sz="2000" dirty="0">
                <a:solidFill>
                  <a:schemeClr val="tx1"/>
                </a:solidFill>
              </a:rPr>
              <a:t>　リスクに基づく考え方</a:t>
            </a:r>
          </a:p>
        </p:txBody>
      </p:sp>
      <p:sp>
        <p:nvSpPr>
          <p:cNvPr id="14" name="フローチャート: 書類 13">
            <a:extLst>
              <a:ext uri="{FF2B5EF4-FFF2-40B4-BE49-F238E27FC236}">
                <a16:creationId xmlns:a16="http://schemas.microsoft.com/office/drawing/2014/main" id="{5461E9BC-AC3F-4562-A7D3-378C269AC805}"/>
              </a:ext>
            </a:extLst>
          </p:cNvPr>
          <p:cNvSpPr/>
          <p:nvPr/>
        </p:nvSpPr>
        <p:spPr>
          <a:xfrm>
            <a:off x="838200" y="3799368"/>
            <a:ext cx="3304067"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0.2</a:t>
            </a:r>
            <a:r>
              <a:rPr lang="ja-JP" altLang="en-US" sz="2000" b="1" dirty="0">
                <a:solidFill>
                  <a:schemeClr val="tx1"/>
                </a:solidFill>
              </a:rPr>
              <a:t>　品質マネジメントの原則</a:t>
            </a:r>
            <a:endParaRPr kumimoji="1" lang="ja-JP" altLang="en-US" sz="2000" b="1" dirty="0">
              <a:solidFill>
                <a:schemeClr val="tx1"/>
              </a:solidFill>
            </a:endParaRPr>
          </a:p>
        </p:txBody>
      </p:sp>
      <p:sp>
        <p:nvSpPr>
          <p:cNvPr id="15" name="フローチャート: 書類 14">
            <a:extLst>
              <a:ext uri="{FF2B5EF4-FFF2-40B4-BE49-F238E27FC236}">
                <a16:creationId xmlns:a16="http://schemas.microsoft.com/office/drawing/2014/main" id="{4C564E79-03C5-4A96-B261-DEB30A88A3F0}"/>
              </a:ext>
            </a:extLst>
          </p:cNvPr>
          <p:cNvSpPr/>
          <p:nvPr/>
        </p:nvSpPr>
        <p:spPr>
          <a:xfrm>
            <a:off x="4627821" y="3799368"/>
            <a:ext cx="3304067"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0.4</a:t>
            </a:r>
            <a:r>
              <a:rPr lang="ja-JP" altLang="en-US" sz="2000" b="1" dirty="0">
                <a:solidFill>
                  <a:schemeClr val="tx1"/>
                </a:solidFill>
              </a:rPr>
              <a:t>　他のマネジメントシステム規格との関係</a:t>
            </a:r>
            <a:endParaRPr kumimoji="1" lang="ja-JP" altLang="en-US" sz="2000" b="1" dirty="0">
              <a:solidFill>
                <a:schemeClr val="tx1"/>
              </a:solidFill>
            </a:endParaRPr>
          </a:p>
        </p:txBody>
      </p:sp>
    </p:spTree>
    <p:extLst>
      <p:ext uri="{BB962C8B-B14F-4D97-AF65-F5344CB8AC3E}">
        <p14:creationId xmlns:p14="http://schemas.microsoft.com/office/powerpoint/2010/main" val="38670639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3280"/>
          </a:xfrm>
          <a:ln w="12700">
            <a:solidFill>
              <a:schemeClr val="bg1"/>
            </a:solidFill>
          </a:ln>
        </p:spPr>
        <p:txBody>
          <a:bodyPr>
            <a:normAutofit/>
          </a:bodyPr>
          <a:lstStyle/>
          <a:p>
            <a:pPr marL="514350" indent="-514350">
              <a:buFont typeface="+mj-lt"/>
              <a:buAutoNum type="arabicPeriod"/>
            </a:pPr>
            <a:r>
              <a:rPr lang="en-US" altLang="ja-JP" sz="2400" dirty="0"/>
              <a:t>QMS</a:t>
            </a:r>
            <a:r>
              <a:rPr lang="ja-JP" altLang="en-US" sz="2400" dirty="0"/>
              <a:t>の採用は、組織のための組織による意思決定である。</a:t>
            </a:r>
            <a:endParaRPr lang="en-US" altLang="ja-JP" sz="2400" dirty="0"/>
          </a:p>
          <a:p>
            <a:pPr marL="514350" indent="-514350">
              <a:buFont typeface="+mj-lt"/>
              <a:buAutoNum type="arabicPeriod"/>
            </a:pPr>
            <a:r>
              <a:rPr lang="en-US" altLang="ja-JP" sz="2400" dirty="0"/>
              <a:t>QMS</a:t>
            </a:r>
            <a:r>
              <a:rPr lang="ja-JP" altLang="en-US" sz="2400" dirty="0"/>
              <a:t>へ取り組むメリット。</a:t>
            </a:r>
            <a:endParaRPr lang="en-US" altLang="ja-JP" sz="2400" dirty="0"/>
          </a:p>
          <a:p>
            <a:pPr marL="971550" lvl="1" indent="-514350">
              <a:buFont typeface="+mj-ea"/>
              <a:buAutoNum type="circleNumDbPlain"/>
            </a:pPr>
            <a:r>
              <a:rPr lang="ja-JP" altLang="en-US" dirty="0"/>
              <a:t>要求事項（顧客及び法規制等）を満たした製品提供。</a:t>
            </a:r>
            <a:endParaRPr lang="en-US" altLang="ja-JP" dirty="0"/>
          </a:p>
          <a:p>
            <a:pPr marL="971550" lvl="1" indent="-514350">
              <a:buFont typeface="+mj-ea"/>
              <a:buAutoNum type="circleNumDbPlain"/>
            </a:pPr>
            <a:r>
              <a:rPr lang="ja-JP" altLang="en-US" dirty="0"/>
              <a:t>顧客満足の機会。</a:t>
            </a:r>
            <a:endParaRPr lang="en-US" altLang="ja-JP" dirty="0"/>
          </a:p>
          <a:p>
            <a:pPr marL="971550" lvl="1" indent="-514350">
              <a:buFont typeface="+mj-ea"/>
              <a:buAutoNum type="circleNumDbPlain"/>
            </a:pPr>
            <a:r>
              <a:rPr lang="ja-JP" altLang="en-US" dirty="0"/>
              <a:t>組織のリスク及び機会への取組み。</a:t>
            </a:r>
            <a:endParaRPr lang="en-US" altLang="ja-JP" dirty="0"/>
          </a:p>
          <a:p>
            <a:pPr marL="971550" lvl="1" indent="-514350">
              <a:buFont typeface="+mj-ea"/>
              <a:buAutoNum type="circleNumDbPlain"/>
            </a:pPr>
            <a:r>
              <a:rPr lang="ja-JP" altLang="en-US" dirty="0"/>
              <a:t>規格要求事項への適合証明。</a:t>
            </a:r>
            <a:endParaRPr lang="en-US" altLang="ja-JP" dirty="0"/>
          </a:p>
          <a:p>
            <a:pPr marL="514350" indent="-514350">
              <a:buFont typeface="+mj-ea"/>
              <a:buAutoNum type="arabicPeriod"/>
            </a:pPr>
            <a:r>
              <a:rPr lang="ja-JP" altLang="en-US" sz="2400" dirty="0"/>
              <a:t>次のことを意図するわけではない。</a:t>
            </a:r>
            <a:endParaRPr lang="en-US" altLang="ja-JP" sz="2400" dirty="0"/>
          </a:p>
          <a:p>
            <a:pPr marL="971550" lvl="1" indent="-514350">
              <a:buFont typeface="+mj-ea"/>
              <a:buAutoNum type="circleNumDbPlain"/>
            </a:pPr>
            <a:r>
              <a:rPr lang="en-US" altLang="ja-JP" dirty="0"/>
              <a:t>QMS</a:t>
            </a:r>
            <a:r>
              <a:rPr lang="ja-JP" altLang="en-US" dirty="0"/>
              <a:t>の画一化。</a:t>
            </a:r>
            <a:endParaRPr lang="en-US" altLang="ja-JP" dirty="0"/>
          </a:p>
          <a:p>
            <a:pPr marL="971550" lvl="1" indent="-514350">
              <a:buFont typeface="+mj-ea"/>
              <a:buAutoNum type="circleNumDbPlain"/>
            </a:pPr>
            <a:r>
              <a:rPr lang="ja-JP" altLang="en-US" dirty="0"/>
              <a:t>この規格の箇条の構造との一致。</a:t>
            </a:r>
            <a:endParaRPr lang="en-US" altLang="ja-JP" dirty="0"/>
          </a:p>
          <a:p>
            <a:pPr marL="971550" lvl="1" indent="-514350">
              <a:buFont typeface="+mj-ea"/>
              <a:buAutoNum type="circleNumDbPlain"/>
            </a:pPr>
            <a:r>
              <a:rPr lang="ja-JP" altLang="en-US" dirty="0"/>
              <a:t>この規格の用語の使用。</a:t>
            </a:r>
            <a:endParaRPr lang="en-US" altLang="ja-JP" dirty="0"/>
          </a:p>
          <a:p>
            <a:pPr marL="514350" indent="-514350">
              <a:buFont typeface="+mj-lt"/>
              <a:buAutoNum type="arabicPeriod"/>
            </a:pP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p:spPr>
        <p:txBody>
          <a:bodyPr>
            <a:normAutofit/>
          </a:bodyPr>
          <a:lstStyle/>
          <a:p>
            <a:r>
              <a:rPr lang="en-US" altLang="ja-JP" sz="3600" dirty="0">
                <a:solidFill>
                  <a:schemeClr val="bg1"/>
                </a:solidFill>
              </a:rPr>
              <a:t>0.1</a:t>
            </a:r>
            <a:r>
              <a:rPr lang="ja-JP" altLang="en-US" sz="3600" dirty="0">
                <a:solidFill>
                  <a:schemeClr val="bg1"/>
                </a:solidFill>
              </a:rPr>
              <a:t>　一般</a:t>
            </a:r>
            <a:endParaRPr kumimoji="1" lang="ja-JP" altLang="en-US" sz="3600" dirty="0">
              <a:solidFill>
                <a:schemeClr val="bg1"/>
              </a:solidFill>
            </a:endParaRPr>
          </a:p>
        </p:txBody>
      </p:sp>
    </p:spTree>
    <p:extLst>
      <p:ext uri="{BB962C8B-B14F-4D97-AF65-F5344CB8AC3E}">
        <p14:creationId xmlns:p14="http://schemas.microsoft.com/office/powerpoint/2010/main" val="1259366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3280"/>
          </a:xfrm>
          <a:ln w="12700">
            <a:solidFill>
              <a:schemeClr val="bg1"/>
            </a:solidFill>
          </a:ln>
        </p:spPr>
        <p:txBody>
          <a:bodyPr>
            <a:normAutofit/>
          </a:bodyPr>
          <a:lstStyle/>
          <a:p>
            <a:pPr marL="514350" indent="-514350">
              <a:buFont typeface="+mj-lt"/>
              <a:buAutoNum type="arabicPeriod"/>
            </a:pPr>
            <a:r>
              <a:rPr lang="ja-JP" altLang="en-US" sz="2400" dirty="0"/>
              <a:t>この規格は、</a:t>
            </a:r>
            <a:r>
              <a:rPr lang="en-US" altLang="ja-JP" sz="2400" dirty="0"/>
              <a:t>JISQ9000</a:t>
            </a:r>
            <a:r>
              <a:rPr lang="ja-JP" altLang="en-US" sz="2400" dirty="0"/>
              <a:t>に規定された原則に基づく。</a:t>
            </a:r>
            <a:endParaRPr lang="en-US" altLang="ja-JP" sz="2400" dirty="0"/>
          </a:p>
          <a:p>
            <a:pPr marL="971550" lvl="1" indent="-514350">
              <a:buFont typeface="+mj-ea"/>
              <a:buAutoNum type="circleNumDbPlain"/>
            </a:pPr>
            <a:r>
              <a:rPr lang="ja-JP" altLang="en-US" dirty="0"/>
              <a:t>顧客重視</a:t>
            </a:r>
            <a:endParaRPr lang="en-US" altLang="ja-JP" dirty="0"/>
          </a:p>
          <a:p>
            <a:pPr marL="971550" lvl="1" indent="-514350">
              <a:buFont typeface="+mj-ea"/>
              <a:buAutoNum type="circleNumDbPlain"/>
            </a:pPr>
            <a:r>
              <a:rPr lang="ja-JP" altLang="en-US" dirty="0"/>
              <a:t>リーダーシップ</a:t>
            </a:r>
            <a:endParaRPr lang="en-US" altLang="ja-JP" dirty="0"/>
          </a:p>
          <a:p>
            <a:pPr marL="971550" lvl="1" indent="-514350">
              <a:buFont typeface="+mj-ea"/>
              <a:buAutoNum type="circleNumDbPlain"/>
            </a:pPr>
            <a:r>
              <a:rPr lang="ja-JP" altLang="en-US" dirty="0"/>
              <a:t>人々の積極的参加</a:t>
            </a:r>
            <a:endParaRPr lang="en-US" altLang="ja-JP" dirty="0"/>
          </a:p>
          <a:p>
            <a:pPr marL="971550" lvl="1" indent="-514350">
              <a:buFont typeface="+mj-ea"/>
              <a:buAutoNum type="circleNumDbPlain"/>
            </a:pPr>
            <a:r>
              <a:rPr lang="ja-JP" altLang="en-US" dirty="0"/>
              <a:t>プロセスアプローチ</a:t>
            </a:r>
            <a:endParaRPr lang="en-US" altLang="ja-JP" dirty="0"/>
          </a:p>
          <a:p>
            <a:pPr marL="971550" lvl="1" indent="-514350">
              <a:buFont typeface="+mj-ea"/>
              <a:buAutoNum type="circleNumDbPlain"/>
            </a:pPr>
            <a:r>
              <a:rPr lang="ja-JP" altLang="en-US" dirty="0"/>
              <a:t>改善</a:t>
            </a:r>
            <a:endParaRPr lang="en-US" altLang="ja-JP" dirty="0"/>
          </a:p>
          <a:p>
            <a:pPr marL="971550" lvl="1" indent="-514350">
              <a:buFont typeface="+mj-ea"/>
              <a:buAutoNum type="circleNumDbPlain"/>
            </a:pPr>
            <a:r>
              <a:rPr lang="ja-JP" altLang="en-US" dirty="0"/>
              <a:t>客観的事実に基づく意思決定</a:t>
            </a:r>
            <a:endParaRPr lang="en-US" altLang="ja-JP" dirty="0"/>
          </a:p>
          <a:p>
            <a:pPr marL="971550" lvl="1" indent="-514350">
              <a:buFont typeface="+mj-ea"/>
              <a:buAutoNum type="circleNumDbPlain"/>
            </a:pPr>
            <a:r>
              <a:rPr lang="ja-JP" altLang="en-US" dirty="0"/>
              <a:t>関係性管理</a:t>
            </a:r>
            <a:endParaRPr lang="en-US" altLang="ja-JP" dirty="0"/>
          </a:p>
          <a:p>
            <a:pPr marL="514350" indent="-514350">
              <a:buFont typeface="+mj-lt"/>
              <a:buAutoNum type="arabicPeriod"/>
            </a:pP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8" name="タイトル 1">
            <a:extLst>
              <a:ext uri="{FF2B5EF4-FFF2-40B4-BE49-F238E27FC236}">
                <a16:creationId xmlns:a16="http://schemas.microsoft.com/office/drawing/2014/main" id="{6F7C13E6-B745-4C1A-A030-97FA9C3B1689}"/>
              </a:ext>
            </a:extLst>
          </p:cNvPr>
          <p:cNvSpPr>
            <a:spLocks noGrp="1"/>
          </p:cNvSpPr>
          <p:nvPr>
            <p:ph type="title"/>
          </p:nvPr>
        </p:nvSpPr>
        <p:spPr>
          <a:xfrm>
            <a:off x="838200" y="365126"/>
            <a:ext cx="10515600" cy="854074"/>
          </a:xfrm>
          <a:solidFill>
            <a:schemeClr val="tx2"/>
          </a:solidFill>
        </p:spPr>
        <p:txBody>
          <a:bodyPr>
            <a:normAutofit/>
          </a:bodyPr>
          <a:lstStyle/>
          <a:p>
            <a:r>
              <a:rPr lang="en-US" altLang="ja-JP" sz="3600" dirty="0">
                <a:solidFill>
                  <a:schemeClr val="bg1"/>
                </a:solidFill>
              </a:rPr>
              <a:t>0.2</a:t>
            </a:r>
            <a:r>
              <a:rPr lang="ja-JP" altLang="en-US" sz="3600" dirty="0">
                <a:solidFill>
                  <a:schemeClr val="bg1"/>
                </a:solidFill>
              </a:rPr>
              <a:t>　品質マネジメントシステムの原則</a:t>
            </a:r>
            <a:endParaRPr kumimoji="1" lang="ja-JP" altLang="en-US" sz="3600" dirty="0">
              <a:solidFill>
                <a:schemeClr val="bg1"/>
              </a:solidFill>
            </a:endParaRPr>
          </a:p>
        </p:txBody>
      </p:sp>
    </p:spTree>
    <p:extLst>
      <p:ext uri="{BB962C8B-B14F-4D97-AF65-F5344CB8AC3E}">
        <p14:creationId xmlns:p14="http://schemas.microsoft.com/office/powerpoint/2010/main" val="29658439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854075"/>
          </a:xfrm>
          <a:ln w="12700">
            <a:solidFill>
              <a:schemeClr val="bg1"/>
            </a:solidFill>
          </a:ln>
        </p:spPr>
        <p:txBody>
          <a:bodyPr>
            <a:normAutofit/>
          </a:bodyPr>
          <a:lstStyle/>
          <a:p>
            <a:pPr marL="514350" indent="-514350">
              <a:buFont typeface="+mj-lt"/>
              <a:buAutoNum type="arabicPeriod"/>
            </a:pPr>
            <a:r>
              <a:rPr lang="ja-JP" altLang="en-US" sz="2400" dirty="0"/>
              <a:t>この規格は、有効な</a:t>
            </a:r>
            <a:r>
              <a:rPr lang="en-US" altLang="ja-JP" sz="2400" dirty="0"/>
              <a:t>QMS</a:t>
            </a:r>
            <a:r>
              <a:rPr lang="ja-JP" altLang="en-US" sz="2400" dirty="0"/>
              <a:t>の構築、運用及び継続的改善のために、プロセスアプローチの採用を促進する。（</a:t>
            </a:r>
            <a:r>
              <a:rPr lang="en-US" altLang="ja-JP" sz="2400" dirty="0"/>
              <a:t>4.4</a:t>
            </a:r>
            <a:r>
              <a:rPr lang="ja-JP" altLang="en-US" sz="2400" dirty="0"/>
              <a:t>項参照）</a:t>
            </a:r>
            <a:endParaRPr lang="en-US" altLang="ja-JP" dirty="0"/>
          </a:p>
          <a:p>
            <a:pPr marL="514350" indent="-514350">
              <a:buFont typeface="+mj-lt"/>
              <a:buAutoNum type="arabicPeriod"/>
            </a:pP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64549BB7-F617-4A26-B9CB-4A2CF66A2D1A}"/>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0.3</a:t>
            </a:r>
            <a:r>
              <a:rPr kumimoji="1" lang="ja-JP" altLang="en-US" sz="3600" dirty="0">
                <a:solidFill>
                  <a:schemeClr val="bg1"/>
                </a:solidFill>
              </a:rPr>
              <a:t>　プロセスアプローチ</a:t>
            </a:r>
          </a:p>
        </p:txBody>
      </p:sp>
      <p:pic>
        <p:nvPicPr>
          <p:cNvPr id="10" name="図 9">
            <a:extLst>
              <a:ext uri="{FF2B5EF4-FFF2-40B4-BE49-F238E27FC236}">
                <a16:creationId xmlns:a16="http://schemas.microsoft.com/office/drawing/2014/main" id="{A650A94D-1149-45B7-ABD1-CA742EACC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158" y="2679980"/>
            <a:ext cx="6737684" cy="3374464"/>
          </a:xfrm>
          <a:prstGeom prst="rect">
            <a:avLst/>
          </a:prstGeom>
          <a:noFill/>
          <a:extLst>
            <a:ext uri="{909E8E84-426E-40DD-AFC4-6F175D3DCCD1}">
              <a14:hiddenFill xmlns:a14="http://schemas.microsoft.com/office/drawing/2010/main">
                <a:solidFill>
                  <a:srgbClr val="FFFFFF"/>
                </a:solidFill>
              </a14:hiddenFill>
            </a:ext>
          </a:extLst>
        </p:spPr>
      </p:pic>
      <p:pic>
        <p:nvPicPr>
          <p:cNvPr id="11" name="図 10">
            <a:extLst>
              <a:ext uri="{FF2B5EF4-FFF2-40B4-BE49-F238E27FC236}">
                <a16:creationId xmlns:a16="http://schemas.microsoft.com/office/drawing/2014/main" id="{A650A94D-1149-45B7-ABD1-CA742EACC62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38200" y="4992484"/>
            <a:ext cx="2164882" cy="1363865"/>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a:extLst>
              <a:ext uri="{FF2B5EF4-FFF2-40B4-BE49-F238E27FC236}">
                <a16:creationId xmlns:a16="http://schemas.microsoft.com/office/drawing/2014/main" id="{1BEC2FE3-FF2C-4981-AACB-D14249D5F12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9188918" y="1917672"/>
            <a:ext cx="2164882" cy="1363865"/>
          </a:xfrm>
          <a:prstGeom prst="rect">
            <a:avLst/>
          </a:prstGeom>
          <a:noFill/>
          <a:extLst>
            <a:ext uri="{909E8E84-426E-40DD-AFC4-6F175D3DCCD1}">
              <a14:hiddenFill xmlns:a14="http://schemas.microsoft.com/office/drawing/2010/main">
                <a:solidFill>
                  <a:srgbClr val="FFFFFF"/>
                </a:solidFill>
              </a14:hiddenFill>
            </a:ext>
          </a:extLst>
        </p:spPr>
      </p:pic>
      <p:sp>
        <p:nvSpPr>
          <p:cNvPr id="7" name="矢印: 折線 6">
            <a:extLst>
              <a:ext uri="{FF2B5EF4-FFF2-40B4-BE49-F238E27FC236}">
                <a16:creationId xmlns:a16="http://schemas.microsoft.com/office/drawing/2014/main" id="{9F1FB659-4B4C-4F02-80C9-7616961411D3}"/>
              </a:ext>
            </a:extLst>
          </p:cNvPr>
          <p:cNvSpPr/>
          <p:nvPr/>
        </p:nvSpPr>
        <p:spPr>
          <a:xfrm>
            <a:off x="1713297" y="3782728"/>
            <a:ext cx="885524" cy="85407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矢印: 折線 13">
            <a:extLst>
              <a:ext uri="{FF2B5EF4-FFF2-40B4-BE49-F238E27FC236}">
                <a16:creationId xmlns:a16="http://schemas.microsoft.com/office/drawing/2014/main" id="{17430233-3BBD-44F6-839D-6C3CDA8BABE7}"/>
              </a:ext>
            </a:extLst>
          </p:cNvPr>
          <p:cNvSpPr/>
          <p:nvPr/>
        </p:nvSpPr>
        <p:spPr>
          <a:xfrm rot="5400000" flipH="1">
            <a:off x="9805358" y="3366057"/>
            <a:ext cx="824100" cy="85626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9665338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bg1"/>
            </a:solidFill>
          </a:ln>
        </p:spPr>
        <p:txBody>
          <a:bodyPr>
            <a:normAutofit/>
          </a:bodyPr>
          <a:lstStyle/>
          <a:p>
            <a:pPr marL="514350" indent="-514350">
              <a:buFont typeface="+mj-lt"/>
              <a:buAutoNum type="arabicPeriod" startAt="2"/>
            </a:pPr>
            <a:r>
              <a:rPr lang="en-US" altLang="ja-JP" sz="2400" dirty="0"/>
              <a:t>PDCA</a:t>
            </a:r>
            <a:r>
              <a:rPr lang="ja-JP" altLang="en-US" sz="2400" dirty="0"/>
              <a:t>サイクルの適用。</a:t>
            </a:r>
            <a:endParaRPr lang="en-US" altLang="ja-JP" sz="2400" dirty="0"/>
          </a:p>
          <a:p>
            <a:pPr lvl="1">
              <a:buFont typeface="Wingdings" panose="05000000000000000000" pitchFamily="2" charset="2"/>
              <a:buChar char="p"/>
            </a:pPr>
            <a:r>
              <a:rPr lang="en-US" altLang="ja-JP" dirty="0"/>
              <a:t>Plan</a:t>
            </a:r>
            <a:r>
              <a:rPr lang="ja-JP" altLang="en-US" dirty="0"/>
              <a:t>　：　目標を設定し、顧客要求及び方針に沿った結果を出すための取組み。</a:t>
            </a:r>
            <a:endParaRPr lang="en-US" altLang="ja-JP" dirty="0"/>
          </a:p>
          <a:p>
            <a:pPr lvl="1">
              <a:buFont typeface="Wingdings" panose="05000000000000000000" pitchFamily="2" charset="2"/>
              <a:buChar char="p"/>
            </a:pPr>
            <a:r>
              <a:rPr lang="en-US" altLang="ja-JP" dirty="0"/>
              <a:t>Do</a:t>
            </a:r>
            <a:r>
              <a:rPr lang="ja-JP" altLang="en-US" dirty="0"/>
              <a:t>　：　計画を実行する。</a:t>
            </a:r>
            <a:endParaRPr lang="en-US" altLang="ja-JP" dirty="0"/>
          </a:p>
          <a:p>
            <a:pPr lvl="1">
              <a:buFont typeface="Wingdings" panose="05000000000000000000" pitchFamily="2" charset="2"/>
              <a:buChar char="p"/>
            </a:pPr>
            <a:r>
              <a:rPr lang="en-US" altLang="ja-JP" dirty="0"/>
              <a:t>Check</a:t>
            </a:r>
            <a:r>
              <a:rPr lang="ja-JP" altLang="en-US" dirty="0"/>
              <a:t>　：　計画した活動に照らして、プロセス及びその結果としての製品及びサービスを監視測定し、結果を報告する。</a:t>
            </a:r>
            <a:endParaRPr lang="en-US" altLang="ja-JP" dirty="0"/>
          </a:p>
          <a:p>
            <a:pPr lvl="1">
              <a:buFont typeface="Wingdings" panose="05000000000000000000" pitchFamily="2" charset="2"/>
              <a:buChar char="p"/>
            </a:pPr>
            <a:r>
              <a:rPr lang="en-US" altLang="ja-JP" dirty="0"/>
              <a:t>Act</a:t>
            </a:r>
            <a:r>
              <a:rPr lang="ja-JP" altLang="en-US" dirty="0"/>
              <a:t>　：　パフォーマンスを改善するための処置をとる。</a:t>
            </a:r>
            <a:endParaRPr lang="en-US" altLang="ja-JP" dirty="0"/>
          </a:p>
          <a:p>
            <a:pPr marL="514350" indent="-514350">
              <a:buFont typeface="+mj-lt"/>
              <a:buAutoNum type="arabicPeriod" startAt="3"/>
            </a:pPr>
            <a:r>
              <a:rPr lang="ja-JP" altLang="en-US" sz="2400" dirty="0"/>
              <a:t>リスクに基づく</a:t>
            </a:r>
            <a:r>
              <a:rPr lang="en-US" altLang="ja-JP" sz="2400" dirty="0"/>
              <a:t>QMS</a:t>
            </a:r>
            <a:r>
              <a:rPr lang="ja-JP" altLang="en-US" sz="2400" dirty="0"/>
              <a:t>の計画及び取組み。</a:t>
            </a:r>
            <a:endParaRPr lang="en-US" altLang="ja-JP" sz="2400" dirty="0"/>
          </a:p>
          <a:p>
            <a:pPr marL="514350" indent="-514350">
              <a:buFont typeface="+mj-lt"/>
              <a:buAutoNum type="arabicPeriod" startAt="2"/>
            </a:pP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64549BB7-F617-4A26-B9CB-4A2CF66A2D1A}"/>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0.3</a:t>
            </a:r>
            <a:r>
              <a:rPr kumimoji="1" lang="ja-JP" altLang="en-US" sz="3600" dirty="0">
                <a:solidFill>
                  <a:schemeClr val="bg1"/>
                </a:solidFill>
              </a:rPr>
              <a:t>　プロセスアプローチ</a:t>
            </a:r>
          </a:p>
        </p:txBody>
      </p:sp>
    </p:spTree>
    <p:extLst>
      <p:ext uri="{BB962C8B-B14F-4D97-AF65-F5344CB8AC3E}">
        <p14:creationId xmlns:p14="http://schemas.microsoft.com/office/powerpoint/2010/main" val="25235329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bg1"/>
            </a:solidFill>
          </a:ln>
        </p:spPr>
        <p:txBody>
          <a:bodyPr>
            <a:normAutofit/>
          </a:bodyPr>
          <a:lstStyle/>
          <a:p>
            <a:pPr marL="514350" indent="-514350">
              <a:buFont typeface="+mj-lt"/>
              <a:buAutoNum type="arabicPeriod"/>
            </a:pPr>
            <a:r>
              <a:rPr lang="ja-JP" altLang="en-US" sz="2400" dirty="0"/>
              <a:t>この規格は、組織の</a:t>
            </a:r>
            <a:r>
              <a:rPr lang="en-US" altLang="ja-JP" sz="2400" dirty="0"/>
              <a:t>QMS</a:t>
            </a:r>
            <a:r>
              <a:rPr lang="ja-JP" altLang="en-US" sz="2400" dirty="0"/>
              <a:t>を他のマネジメントシステムとの統合などが可能なようになっている。</a:t>
            </a:r>
            <a:endParaRPr lang="en-US" altLang="ja-JP" sz="2400" dirty="0"/>
          </a:p>
          <a:p>
            <a:pPr marL="514350" indent="-514350">
              <a:buFont typeface="+mj-lt"/>
              <a:buAutoNum type="arabicPeriod"/>
            </a:pPr>
            <a:r>
              <a:rPr lang="ja-JP" altLang="en-US" sz="2400" dirty="0"/>
              <a:t>この規格の関係規格。</a:t>
            </a:r>
            <a:endParaRPr lang="en-US" altLang="ja-JP" sz="2400" dirty="0"/>
          </a:p>
          <a:p>
            <a:pPr marL="971550" lvl="1" indent="-514350">
              <a:buFont typeface="+mj-ea"/>
              <a:buAutoNum type="circleNumDbPlain"/>
            </a:pPr>
            <a:r>
              <a:rPr lang="en-US" altLang="ja-JP" dirty="0"/>
              <a:t>JISQ9000</a:t>
            </a:r>
            <a:r>
              <a:rPr lang="ja-JP" altLang="en-US" dirty="0"/>
              <a:t>（品質マネジメントシステムー基本及び用語）</a:t>
            </a:r>
            <a:endParaRPr lang="en-US" altLang="ja-JP" dirty="0"/>
          </a:p>
          <a:p>
            <a:pPr marL="971550" lvl="1" indent="-514350">
              <a:buFont typeface="+mj-ea"/>
              <a:buAutoNum type="circleNumDbPlain"/>
            </a:pPr>
            <a:r>
              <a:rPr lang="en-US" altLang="ja-JP" dirty="0"/>
              <a:t>JISQ9004</a:t>
            </a:r>
            <a:r>
              <a:rPr lang="ja-JP" altLang="en-US" dirty="0"/>
              <a:t>（品質マネジメントー組織の品質ー持続的成功を達成するための指針）</a:t>
            </a:r>
            <a:endParaRPr lang="en-US" altLang="ja-JP" dirty="0"/>
          </a:p>
          <a:p>
            <a:pPr marL="514350" indent="-514350">
              <a:buFont typeface="+mj-lt"/>
              <a:buAutoNum type="arabicPeriod"/>
            </a:pP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8" name="タイトル 1">
            <a:extLst>
              <a:ext uri="{FF2B5EF4-FFF2-40B4-BE49-F238E27FC236}">
                <a16:creationId xmlns:a16="http://schemas.microsoft.com/office/drawing/2014/main" id="{DC883E13-5294-401F-A96B-8AE5359D9AE8}"/>
              </a:ext>
            </a:extLst>
          </p:cNvPr>
          <p:cNvSpPr>
            <a:spLocks noGrp="1"/>
          </p:cNvSpPr>
          <p:nvPr>
            <p:ph type="title"/>
          </p:nvPr>
        </p:nvSpPr>
        <p:spPr>
          <a:xfrm>
            <a:off x="838200" y="365126"/>
            <a:ext cx="10515600" cy="854074"/>
          </a:xfrm>
          <a:solidFill>
            <a:schemeClr val="tx2"/>
          </a:solidFill>
        </p:spPr>
        <p:txBody>
          <a:bodyPr>
            <a:normAutofit/>
          </a:bodyPr>
          <a:lstStyle/>
          <a:p>
            <a:r>
              <a:rPr lang="en-US" altLang="ja-JP" sz="3600" dirty="0">
                <a:solidFill>
                  <a:schemeClr val="bg1"/>
                </a:solidFill>
              </a:rPr>
              <a:t>0.4</a:t>
            </a:r>
            <a:r>
              <a:rPr lang="ja-JP" altLang="en-US" sz="3600" dirty="0">
                <a:solidFill>
                  <a:schemeClr val="bg1"/>
                </a:solidFill>
              </a:rPr>
              <a:t>　他のマネジメントシステム規格との関係</a:t>
            </a:r>
          </a:p>
        </p:txBody>
      </p:sp>
    </p:spTree>
    <p:extLst>
      <p:ext uri="{BB962C8B-B14F-4D97-AF65-F5344CB8AC3E}">
        <p14:creationId xmlns:p14="http://schemas.microsoft.com/office/powerpoint/2010/main" val="636346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4400" b="1" u="sng" dirty="0">
                <a:solidFill>
                  <a:schemeClr val="tx2"/>
                </a:solidFill>
                <a:effectLst>
                  <a:outerShdw blurRad="38100" dist="38100" dir="2700000" algn="tl">
                    <a:srgbClr val="000000">
                      <a:alpha val="43137"/>
                    </a:srgbClr>
                  </a:outerShdw>
                </a:effectLst>
              </a:rPr>
              <a:t>１．適用範囲</a:t>
            </a:r>
            <a:endParaRPr lang="en-US" altLang="ja-JP" sz="4400" b="1" u="sng" dirty="0">
              <a:solidFill>
                <a:schemeClr val="tx2"/>
              </a:solidFill>
              <a:effectLst>
                <a:outerShdw blurRad="38100" dist="38100" dir="2700000" algn="tl">
                  <a:srgbClr val="000000">
                    <a:alpha val="43137"/>
                  </a:srgbClr>
                </a:outerShdw>
              </a:effectLst>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12989167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メモ 9">
            <a:extLst>
              <a:ext uri="{FF2B5EF4-FFF2-40B4-BE49-F238E27FC236}">
                <a16:creationId xmlns:a16="http://schemas.microsoft.com/office/drawing/2014/main" id="{4E02966B-9606-4B92-9C62-D52D7D7900B5}"/>
              </a:ext>
            </a:extLst>
          </p:cNvPr>
          <p:cNvSpPr/>
          <p:nvPr/>
        </p:nvSpPr>
        <p:spPr>
          <a:xfrm>
            <a:off x="838200" y="1945759"/>
            <a:ext cx="4983479"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en-US" altLang="ja-JP" sz="2000" dirty="0"/>
              <a:t>1.1</a:t>
            </a:r>
            <a:r>
              <a:rPr lang="ja-JP" altLang="en-US" sz="2000" dirty="0"/>
              <a:t>　適用範囲－</a:t>
            </a:r>
            <a:r>
              <a:rPr lang="en-US" altLang="ja-JP" sz="2000" dirty="0"/>
              <a:t>ISO9001:2015</a:t>
            </a:r>
            <a:r>
              <a:rPr lang="ja-JP" altLang="en-US" sz="2000" dirty="0"/>
              <a:t>に対する自動車産業補足</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１．適用範囲</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498348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b="1" dirty="0">
                <a:solidFill>
                  <a:schemeClr val="tx1"/>
                </a:solidFill>
              </a:rPr>
              <a:t>１．適用範囲</a:t>
            </a:r>
          </a:p>
        </p:txBody>
      </p:sp>
    </p:spTree>
    <p:extLst>
      <p:ext uri="{BB962C8B-B14F-4D97-AF65-F5344CB8AC3E}">
        <p14:creationId xmlns:p14="http://schemas.microsoft.com/office/powerpoint/2010/main" val="1214502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3675321"/>
          </a:xfrm>
          <a:ln w="12700">
            <a:solidFill>
              <a:schemeClr val="tx2"/>
            </a:solidFill>
          </a:ln>
        </p:spPr>
        <p:txBody>
          <a:bodyPr>
            <a:normAutofit/>
          </a:bodyPr>
          <a:lstStyle/>
          <a:p>
            <a:pPr>
              <a:buFont typeface="Wingdings" panose="05000000000000000000" pitchFamily="2" charset="2"/>
              <a:buChar char="Ø"/>
            </a:pPr>
            <a:r>
              <a:rPr lang="ja-JP" altLang="en-US" sz="2400" dirty="0"/>
              <a:t>この自動車産業</a:t>
            </a:r>
            <a:r>
              <a:rPr lang="en-US" altLang="ja-JP" sz="2400" dirty="0"/>
              <a:t>QMS</a:t>
            </a:r>
            <a:r>
              <a:rPr lang="ja-JP" altLang="en-US" sz="2400" dirty="0"/>
              <a:t>規格は、組込みソフトウェアをもつ製品を含む、自動車関係製品の、設計・開発、生産、該当する場合、組立、取付け及びサービスの</a:t>
            </a:r>
            <a:r>
              <a:rPr lang="ja-JP" altLang="en-US" sz="2400" u="sng" dirty="0"/>
              <a:t>品質マネジメントシステム要求事項を定める。</a:t>
            </a:r>
            <a:endParaRPr lang="en-US" altLang="ja-JP" sz="2400" u="sng" dirty="0"/>
          </a:p>
          <a:p>
            <a:pPr>
              <a:buFont typeface="Wingdings" panose="05000000000000000000" pitchFamily="2" charset="2"/>
              <a:buChar char="Ø"/>
            </a:pPr>
            <a:r>
              <a:rPr lang="ja-JP" altLang="en-US" sz="2400" dirty="0"/>
              <a:t>この自動車産業</a:t>
            </a:r>
            <a:r>
              <a:rPr lang="en-US" altLang="ja-JP" sz="2400" dirty="0"/>
              <a:t>QMS</a:t>
            </a:r>
            <a:r>
              <a:rPr lang="ja-JP" altLang="en-US" sz="2400" dirty="0"/>
              <a:t>規格は、顧客規定生産部品、サービス部品及び／又はアクセサリー部品の</a:t>
            </a:r>
            <a:r>
              <a:rPr lang="ja-JP" altLang="en-US" sz="2400" u="sng" dirty="0"/>
              <a:t>製造を行う組織のサイトに適用する。</a:t>
            </a:r>
            <a:endParaRPr lang="en-US" altLang="ja-JP" sz="2400" u="sng" dirty="0"/>
          </a:p>
          <a:p>
            <a:pPr>
              <a:buFont typeface="Wingdings" panose="05000000000000000000" pitchFamily="2" charset="2"/>
              <a:buChar char="Ø"/>
            </a:pPr>
            <a:r>
              <a:rPr lang="ja-JP" altLang="en-US" sz="2400" dirty="0"/>
              <a:t>この自動車産業</a:t>
            </a:r>
            <a:r>
              <a:rPr lang="en-US" altLang="ja-JP" sz="2400" dirty="0"/>
              <a:t>QMS</a:t>
            </a:r>
            <a:r>
              <a:rPr lang="ja-JP" altLang="en-US" sz="2400" dirty="0"/>
              <a:t>規格は、</a:t>
            </a:r>
            <a:r>
              <a:rPr lang="ja-JP" altLang="en-US" sz="2400" u="sng" dirty="0"/>
              <a:t>自動車産業サプライチェーン全体にわたって適用する</a:t>
            </a:r>
            <a:r>
              <a:rPr lang="ja-JP" altLang="en-US" sz="2400" dirty="0"/>
              <a:t>ことが望ましい。</a:t>
            </a: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fontScale="90000"/>
          </a:bodyPr>
          <a:lstStyle/>
          <a:p>
            <a:r>
              <a:rPr lang="en-US" altLang="ja-JP" sz="3600" b="1" dirty="0">
                <a:solidFill>
                  <a:schemeClr val="tx2"/>
                </a:solidFill>
              </a:rPr>
              <a:t>1.1</a:t>
            </a:r>
            <a:r>
              <a:rPr lang="ja-JP" altLang="en-US" sz="3600" b="1" dirty="0">
                <a:solidFill>
                  <a:schemeClr val="tx2"/>
                </a:solidFill>
              </a:rPr>
              <a:t>　適用範囲－</a:t>
            </a:r>
            <a:r>
              <a:rPr lang="en-US" altLang="ja-JP" sz="3600" b="1" dirty="0">
                <a:solidFill>
                  <a:schemeClr val="tx2"/>
                </a:solidFill>
              </a:rPr>
              <a:t>ISO9001:2015</a:t>
            </a:r>
            <a:r>
              <a:rPr lang="ja-JP" altLang="en-US" sz="3600" b="1" dirty="0">
                <a:solidFill>
                  <a:schemeClr val="tx2"/>
                </a:solidFill>
              </a:rPr>
              <a:t>に対する自動車産業補足</a:t>
            </a:r>
            <a:endParaRPr kumimoji="1" lang="ja-JP" altLang="en-US" sz="3600" b="1" dirty="0">
              <a:solidFill>
                <a:schemeClr val="tx2"/>
              </a:solidFill>
            </a:endParaRPr>
          </a:p>
        </p:txBody>
      </p:sp>
    </p:spTree>
    <p:extLst>
      <p:ext uri="{BB962C8B-B14F-4D97-AF65-F5344CB8AC3E}">
        <p14:creationId xmlns:p14="http://schemas.microsoft.com/office/powerpoint/2010/main" val="2525474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3280"/>
          </a:xfrm>
          <a:ln w="12700">
            <a:solidFill>
              <a:schemeClr val="bg1"/>
            </a:solidFill>
          </a:ln>
        </p:spPr>
        <p:txBody>
          <a:bodyPr>
            <a:normAutofit/>
          </a:bodyPr>
          <a:lstStyle/>
          <a:p>
            <a:pPr marL="514350" indent="-514350">
              <a:buFont typeface="+mj-lt"/>
              <a:buAutoNum type="arabicPeriod"/>
            </a:pPr>
            <a:r>
              <a:rPr lang="en-US" altLang="ja-JP" sz="2400" dirty="0"/>
              <a:t>IATF</a:t>
            </a:r>
            <a:r>
              <a:rPr lang="ja-JP" altLang="en-US" sz="2400" dirty="0"/>
              <a:t>の適用は、製造工場をコアとして、関連（支援）する全ての機能が対象となる。</a:t>
            </a:r>
            <a:endParaRPr lang="en-US" altLang="ja-JP" sz="2400" dirty="0"/>
          </a:p>
          <a:p>
            <a:pPr marL="514350" indent="-514350">
              <a:buFont typeface="+mj-lt"/>
              <a:buAutoNum type="arabicPeriod"/>
            </a:pPr>
            <a:endParaRPr lang="en-US" altLang="ja-JP" sz="2400" dirty="0"/>
          </a:p>
          <a:p>
            <a:pPr marL="514350" indent="-514350">
              <a:buFont typeface="+mj-lt"/>
              <a:buAutoNum type="arabicPeriod"/>
            </a:pPr>
            <a:endParaRPr lang="en-US" altLang="ja-JP" dirty="0"/>
          </a:p>
          <a:p>
            <a:pPr marL="514350" indent="-514350">
              <a:buFont typeface="+mj-lt"/>
              <a:buAutoNum type="arabicPeriod"/>
            </a:pPr>
            <a:endParaRPr lang="en-US" altLang="ja-JP" dirty="0"/>
          </a:p>
          <a:p>
            <a:pPr marL="457200" lvl="1" indent="0">
              <a:buNone/>
            </a:pPr>
            <a:r>
              <a:rPr lang="ja-JP" altLang="en-US" dirty="0"/>
              <a:t>　</a:t>
            </a:r>
            <a:r>
              <a:rPr lang="en-US" altLang="ja-JP" sz="1800" dirty="0"/>
              <a:t>※</a:t>
            </a:r>
            <a:r>
              <a:rPr lang="ja-JP" altLang="en-US" sz="1800" dirty="0"/>
              <a:t>ディーラーオプション部品は対象だが、市販部品は非対象</a:t>
            </a:r>
            <a:endParaRPr lang="en-US" altLang="ja-JP" sz="1800" dirty="0"/>
          </a:p>
          <a:p>
            <a:pPr marL="514350" indent="-514350">
              <a:buFont typeface="+mj-lt"/>
              <a:buAutoNum type="arabicPeriod"/>
            </a:pPr>
            <a:r>
              <a:rPr lang="ja-JP" altLang="en-US" sz="2400" dirty="0"/>
              <a:t>本社、開発センター及び配給センターのような支援機能は、同一サイト内外を問わず適用されるが、それらが単独で適用（認証）することはできない。➠　この資料の第</a:t>
            </a:r>
            <a:r>
              <a:rPr lang="en-US" altLang="ja-JP" sz="2400" dirty="0"/>
              <a:t>1</a:t>
            </a:r>
            <a:r>
              <a:rPr lang="ja-JP" altLang="en-US" sz="2400" dirty="0"/>
              <a:t>章</a:t>
            </a:r>
            <a:r>
              <a:rPr lang="en-US" altLang="ja-JP" sz="2400" dirty="0"/>
              <a:t>3.6</a:t>
            </a:r>
            <a:r>
              <a:rPr lang="ja-JP" altLang="en-US" sz="2400" dirty="0"/>
              <a:t>　適用する範囲</a:t>
            </a:r>
            <a:endParaRPr lang="en-US" altLang="ja-JP" sz="2400" dirty="0"/>
          </a:p>
          <a:p>
            <a:pPr marL="514350" indent="-514350">
              <a:buFont typeface="+mj-lt"/>
              <a:buAutoNum type="arabicPeriod"/>
            </a:pPr>
            <a:r>
              <a:rPr lang="ja-JP" altLang="en-US" sz="2400" dirty="0"/>
              <a:t>組織の供給者も</a:t>
            </a:r>
            <a:r>
              <a:rPr lang="en-US" altLang="ja-JP" sz="2400" dirty="0"/>
              <a:t>IATF</a:t>
            </a:r>
            <a:r>
              <a:rPr lang="ja-JP" altLang="en-US" sz="2400" dirty="0"/>
              <a:t>の適用（認証）をすることが望まれる。➠　</a:t>
            </a:r>
            <a:r>
              <a:rPr lang="en-US" altLang="ja-JP" sz="2400" dirty="0"/>
              <a:t>8.4.2.3</a:t>
            </a:r>
            <a:r>
              <a:rPr lang="ja-JP" altLang="en-US" sz="2400" dirty="0"/>
              <a:t>　供給者の品質マネジメントシステム開発</a:t>
            </a: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p:spPr>
        <p:txBody>
          <a:bodyPr>
            <a:normAutofit fontScale="90000"/>
          </a:bodyPr>
          <a:lstStyle/>
          <a:p>
            <a:r>
              <a:rPr lang="en-US" altLang="ja-JP" sz="3600" dirty="0">
                <a:solidFill>
                  <a:schemeClr val="bg1"/>
                </a:solidFill>
              </a:rPr>
              <a:t>1.1</a:t>
            </a:r>
            <a:r>
              <a:rPr lang="ja-JP" altLang="en-US" sz="3600" dirty="0">
                <a:solidFill>
                  <a:schemeClr val="bg1"/>
                </a:solidFill>
              </a:rPr>
              <a:t>　適用範囲－</a:t>
            </a:r>
            <a:r>
              <a:rPr lang="en-US" altLang="ja-JP" sz="3600" dirty="0">
                <a:solidFill>
                  <a:schemeClr val="bg1"/>
                </a:solidFill>
              </a:rPr>
              <a:t>ISO9001:2015</a:t>
            </a:r>
            <a:r>
              <a:rPr lang="ja-JP" altLang="en-US" sz="3600" dirty="0">
                <a:solidFill>
                  <a:schemeClr val="bg1"/>
                </a:solidFill>
              </a:rPr>
              <a:t>に対する自動車産業補足</a:t>
            </a:r>
            <a:endParaRPr kumimoji="1" lang="ja-JP" altLang="en-US" sz="3600" dirty="0">
              <a:solidFill>
                <a:schemeClr val="bg1"/>
              </a:solidFill>
            </a:endParaRPr>
          </a:p>
        </p:txBody>
      </p:sp>
      <p:graphicFrame>
        <p:nvGraphicFramePr>
          <p:cNvPr id="2" name="表 1">
            <a:extLst>
              <a:ext uri="{FF2B5EF4-FFF2-40B4-BE49-F238E27FC236}">
                <a16:creationId xmlns:a16="http://schemas.microsoft.com/office/drawing/2014/main" id="{974D3F43-CDD7-44C4-9A86-3612EF9EEFA4}"/>
              </a:ext>
            </a:extLst>
          </p:cNvPr>
          <p:cNvGraphicFramePr>
            <a:graphicFrameLocks noGrp="1"/>
          </p:cNvGraphicFramePr>
          <p:nvPr>
            <p:extLst>
              <p:ext uri="{D42A27DB-BD31-4B8C-83A1-F6EECF244321}">
                <p14:modId xmlns:p14="http://schemas.microsoft.com/office/powerpoint/2010/main" val="2028211394"/>
              </p:ext>
            </p:extLst>
          </p:nvPr>
        </p:nvGraphicFramePr>
        <p:xfrm>
          <a:off x="1229360" y="2315268"/>
          <a:ext cx="10124440" cy="1433772"/>
        </p:xfrm>
        <a:graphic>
          <a:graphicData uri="http://schemas.openxmlformats.org/drawingml/2006/table">
            <a:tbl>
              <a:tblPr firstRow="1" bandRow="1">
                <a:tableStyleId>{5940675A-B579-460E-94D1-54222C63F5DA}</a:tableStyleId>
              </a:tblPr>
              <a:tblGrid>
                <a:gridCol w="1460507">
                  <a:extLst>
                    <a:ext uri="{9D8B030D-6E8A-4147-A177-3AD203B41FA5}">
                      <a16:colId xmlns:a16="http://schemas.microsoft.com/office/drawing/2014/main" val="983790096"/>
                    </a:ext>
                  </a:extLst>
                </a:gridCol>
                <a:gridCol w="8663933">
                  <a:extLst>
                    <a:ext uri="{9D8B030D-6E8A-4147-A177-3AD203B41FA5}">
                      <a16:colId xmlns:a16="http://schemas.microsoft.com/office/drawing/2014/main" val="1058054854"/>
                    </a:ext>
                  </a:extLst>
                </a:gridCol>
              </a:tblGrid>
              <a:tr h="855702">
                <a:tc>
                  <a:txBody>
                    <a:bodyPr/>
                    <a:lstStyle/>
                    <a:p>
                      <a:r>
                        <a:rPr kumimoji="1" lang="ja-JP" altLang="en-US" sz="2000" dirty="0"/>
                        <a:t>対象</a:t>
                      </a:r>
                    </a:p>
                  </a:txBody>
                  <a:tcPr anchor="ctr">
                    <a:solidFill>
                      <a:schemeClr val="tx2">
                        <a:lumMod val="20000"/>
                        <a:lumOff val="80000"/>
                      </a:schemeClr>
                    </a:solidFill>
                  </a:tcPr>
                </a:tc>
                <a:tc>
                  <a:txBody>
                    <a:bodyPr/>
                    <a:lstStyle/>
                    <a:p>
                      <a:r>
                        <a:rPr kumimoji="1" lang="ja-JP" altLang="en-US" sz="2000" dirty="0"/>
                        <a:t>乗用車、小型商用車、大型トラック、バス、自動二輪車の顧客規定生産部品、サービス部品及びアクセサリー部品の製造を行うサイト。</a:t>
                      </a:r>
                    </a:p>
                  </a:txBody>
                  <a:tcPr anchor="ctr">
                    <a:solidFill>
                      <a:schemeClr val="tx2">
                        <a:lumMod val="20000"/>
                        <a:lumOff val="80000"/>
                      </a:schemeClr>
                    </a:solidFill>
                  </a:tcPr>
                </a:tc>
                <a:extLst>
                  <a:ext uri="{0D108BD9-81ED-4DB2-BD59-A6C34878D82A}">
                    <a16:rowId xmlns:a16="http://schemas.microsoft.com/office/drawing/2014/main" val="748233742"/>
                  </a:ext>
                </a:extLst>
              </a:tr>
              <a:tr h="578070">
                <a:tc>
                  <a:txBody>
                    <a:bodyPr/>
                    <a:lstStyle/>
                    <a:p>
                      <a:r>
                        <a:rPr kumimoji="1" lang="ja-JP" altLang="en-US" sz="2000" dirty="0"/>
                        <a:t>非対象</a:t>
                      </a:r>
                    </a:p>
                  </a:txBody>
                  <a:tcPr anchor="ctr">
                    <a:solidFill>
                      <a:schemeClr val="tx2">
                        <a:lumMod val="20000"/>
                        <a:lumOff val="80000"/>
                      </a:schemeClr>
                    </a:solidFill>
                  </a:tcPr>
                </a:tc>
                <a:tc>
                  <a:txBody>
                    <a:bodyPr/>
                    <a:lstStyle/>
                    <a:p>
                      <a:r>
                        <a:rPr kumimoji="1" lang="ja-JP" altLang="en-US" sz="2000" dirty="0"/>
                        <a:t>産業用車両、農業用車両、オフハイウェイ車両（鉱業用、林業用など）。</a:t>
                      </a:r>
                    </a:p>
                  </a:txBody>
                  <a:tcPr anchor="ctr">
                    <a:solidFill>
                      <a:schemeClr val="tx2">
                        <a:lumMod val="20000"/>
                        <a:lumOff val="80000"/>
                      </a:schemeClr>
                    </a:solidFill>
                  </a:tcPr>
                </a:tc>
                <a:extLst>
                  <a:ext uri="{0D108BD9-81ED-4DB2-BD59-A6C34878D82A}">
                    <a16:rowId xmlns:a16="http://schemas.microsoft.com/office/drawing/2014/main" val="1404948310"/>
                  </a:ext>
                </a:extLst>
              </a:tr>
            </a:tbl>
          </a:graphicData>
        </a:graphic>
      </p:graphicFrame>
    </p:spTree>
    <p:extLst>
      <p:ext uri="{BB962C8B-B14F-4D97-AF65-F5344CB8AC3E}">
        <p14:creationId xmlns:p14="http://schemas.microsoft.com/office/powerpoint/2010/main" val="5411074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4400" b="1" u="sng" dirty="0">
                <a:solidFill>
                  <a:schemeClr val="tx2"/>
                </a:solidFill>
                <a:effectLst>
                  <a:outerShdw blurRad="38100" dist="38100" dir="2700000" algn="tl">
                    <a:srgbClr val="000000">
                      <a:alpha val="43137"/>
                    </a:srgbClr>
                  </a:outerShdw>
                </a:effectLst>
              </a:rPr>
              <a:t>２．引用規格</a:t>
            </a:r>
            <a:endParaRPr kumimoji="1" lang="en-US" altLang="ja-JP" sz="4400" b="1" u="sng" dirty="0">
              <a:solidFill>
                <a:schemeClr val="tx2"/>
              </a:solidFill>
              <a:effectLst>
                <a:outerShdw blurRad="38100" dist="38100" dir="2700000" algn="tl">
                  <a:srgbClr val="000000">
                    <a:alpha val="43137"/>
                  </a:srgbClr>
                </a:outerShdw>
              </a:effectLst>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3889718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メモ 9">
            <a:extLst>
              <a:ext uri="{FF2B5EF4-FFF2-40B4-BE49-F238E27FC236}">
                <a16:creationId xmlns:a16="http://schemas.microsoft.com/office/drawing/2014/main" id="{4E02966B-9606-4B92-9C62-D52D7D7900B5}"/>
              </a:ext>
            </a:extLst>
          </p:cNvPr>
          <p:cNvSpPr/>
          <p:nvPr/>
        </p:nvSpPr>
        <p:spPr>
          <a:xfrm>
            <a:off x="838200" y="1945759"/>
            <a:ext cx="4983479"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en-US" altLang="ja-JP" sz="2000" dirty="0"/>
              <a:t>2.1</a:t>
            </a:r>
            <a:r>
              <a:rPr lang="ja-JP" altLang="en-US" sz="2000" dirty="0"/>
              <a:t>　規定及び参考の引用</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２．</a:t>
            </a:r>
            <a:r>
              <a:rPr lang="ja-JP" altLang="en-US" sz="3600" dirty="0">
                <a:solidFill>
                  <a:schemeClr val="bg1"/>
                </a:solidFill>
              </a:rPr>
              <a:t>引用規格</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498348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ja-JP" altLang="en-US" sz="2000" b="1" dirty="0">
                <a:solidFill>
                  <a:schemeClr val="tx1"/>
                </a:solidFill>
              </a:rPr>
              <a:t>２．引用規格</a:t>
            </a:r>
            <a:endParaRPr kumimoji="1" lang="ja-JP" altLang="en-US" sz="2000" b="1" dirty="0">
              <a:solidFill>
                <a:schemeClr val="tx1"/>
              </a:solidFill>
            </a:endParaRPr>
          </a:p>
        </p:txBody>
      </p:sp>
    </p:spTree>
    <p:extLst>
      <p:ext uri="{BB962C8B-B14F-4D97-AF65-F5344CB8AC3E}">
        <p14:creationId xmlns:p14="http://schemas.microsoft.com/office/powerpoint/2010/main" val="2856552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3675321"/>
          </a:xfrm>
          <a:ln w="12700">
            <a:solidFill>
              <a:schemeClr val="tx2"/>
            </a:solidFill>
          </a:ln>
        </p:spPr>
        <p:txBody>
          <a:bodyPr>
            <a:normAutofit/>
          </a:bodyPr>
          <a:lstStyle/>
          <a:p>
            <a:pPr>
              <a:buFont typeface="Wingdings" panose="05000000000000000000" pitchFamily="2" charset="2"/>
              <a:buChar char="Ø"/>
            </a:pPr>
            <a:r>
              <a:rPr lang="ja-JP" altLang="en-US" sz="2400" u="sng" dirty="0"/>
              <a:t>附属書Ａ（コントロールプラン）</a:t>
            </a:r>
            <a:r>
              <a:rPr lang="ja-JP" altLang="en-US" sz="2400" dirty="0"/>
              <a:t>は、この自動車産業</a:t>
            </a:r>
            <a:r>
              <a:rPr lang="en-US" altLang="ja-JP" sz="2400" dirty="0"/>
              <a:t>QMS</a:t>
            </a:r>
            <a:r>
              <a:rPr lang="ja-JP" altLang="en-US" sz="2400" dirty="0"/>
              <a:t>規格の規定部分である。</a:t>
            </a:r>
            <a:endParaRPr lang="en-US" altLang="ja-JP" sz="2400" dirty="0"/>
          </a:p>
          <a:p>
            <a:pPr>
              <a:buFont typeface="Wingdings" panose="05000000000000000000" pitchFamily="2" charset="2"/>
              <a:buChar char="Ø"/>
            </a:pPr>
            <a:r>
              <a:rPr lang="ja-JP" altLang="en-US" sz="2400" dirty="0"/>
              <a:t>附属書Ｂ（参考文献－自動車産業補足）は、参考であり、この自動車産業</a:t>
            </a:r>
            <a:r>
              <a:rPr lang="en-US" altLang="ja-JP" sz="2400" dirty="0"/>
              <a:t>QMS</a:t>
            </a:r>
            <a:r>
              <a:rPr lang="ja-JP" altLang="en-US" sz="2400" dirty="0"/>
              <a:t>規格の理解又は使用の支援になることを意図した追加情報を提供するものである。</a:t>
            </a: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600" b="1" dirty="0">
                <a:solidFill>
                  <a:schemeClr val="tx2"/>
                </a:solidFill>
              </a:rPr>
              <a:t>2.1</a:t>
            </a:r>
            <a:r>
              <a:rPr kumimoji="1" lang="ja-JP" altLang="en-US" sz="3600" b="1" dirty="0">
                <a:solidFill>
                  <a:schemeClr val="tx2"/>
                </a:solidFill>
              </a:rPr>
              <a:t>　規定及び参考の引用</a:t>
            </a:r>
          </a:p>
        </p:txBody>
      </p:sp>
    </p:spTree>
    <p:extLst>
      <p:ext uri="{BB962C8B-B14F-4D97-AF65-F5344CB8AC3E}">
        <p14:creationId xmlns:p14="http://schemas.microsoft.com/office/powerpoint/2010/main" val="364196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53280"/>
          </a:xfrm>
          <a:ln w="12700">
            <a:solidFill>
              <a:schemeClr val="bg1"/>
            </a:solidFill>
          </a:ln>
        </p:spPr>
        <p:txBody>
          <a:bodyPr>
            <a:normAutofit/>
          </a:bodyPr>
          <a:lstStyle/>
          <a:p>
            <a:pPr marL="514350" indent="-514350">
              <a:buFont typeface="+mj-lt"/>
              <a:buAutoNum type="arabicPeriod"/>
            </a:pPr>
            <a:r>
              <a:rPr lang="ja-JP" altLang="en-US" sz="2400" dirty="0"/>
              <a:t>附属書Ａ（コントロールプラン）　　　　　　　　　　　　　　　➠</a:t>
            </a:r>
            <a:r>
              <a:rPr lang="en-US" altLang="ja-JP" sz="2400" dirty="0"/>
              <a:t>8.5.1.1</a:t>
            </a:r>
            <a:r>
              <a:rPr lang="ja-JP" altLang="en-US" sz="2400" dirty="0"/>
              <a:t>　コントロールプランにて詳細要求。</a:t>
            </a: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2.1</a:t>
            </a:r>
            <a:r>
              <a:rPr kumimoji="1" lang="ja-JP" altLang="en-US" sz="3600" dirty="0">
                <a:solidFill>
                  <a:schemeClr val="bg1"/>
                </a:solidFill>
              </a:rPr>
              <a:t>　規定及び参考の引用</a:t>
            </a:r>
          </a:p>
        </p:txBody>
      </p:sp>
    </p:spTree>
    <p:extLst>
      <p:ext uri="{BB962C8B-B14F-4D97-AF65-F5344CB8AC3E}">
        <p14:creationId xmlns:p14="http://schemas.microsoft.com/office/powerpoint/2010/main" val="818960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4400" b="1" u="sng" dirty="0">
                <a:solidFill>
                  <a:schemeClr val="tx2"/>
                </a:solidFill>
                <a:effectLst>
                  <a:outerShdw blurRad="38100" dist="38100" dir="2700000" algn="tl">
                    <a:srgbClr val="000000">
                      <a:alpha val="43137"/>
                    </a:srgbClr>
                  </a:outerShdw>
                </a:effectLst>
              </a:rPr>
              <a:t>３．用語及び定義</a:t>
            </a:r>
            <a:endParaRPr lang="en-US" altLang="ja-JP" sz="4400" b="1" u="sng" dirty="0">
              <a:solidFill>
                <a:schemeClr val="tx2"/>
              </a:solidFill>
              <a:effectLst>
                <a:outerShdw blurRad="38100" dist="38100" dir="2700000" algn="tl">
                  <a:srgbClr val="000000">
                    <a:alpha val="43137"/>
                  </a:srgbClr>
                </a:outerShdw>
              </a:effectLst>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1095384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メモ 9">
            <a:extLst>
              <a:ext uri="{FF2B5EF4-FFF2-40B4-BE49-F238E27FC236}">
                <a16:creationId xmlns:a16="http://schemas.microsoft.com/office/drawing/2014/main" id="{4E02966B-9606-4B92-9C62-D52D7D7900B5}"/>
              </a:ext>
            </a:extLst>
          </p:cNvPr>
          <p:cNvSpPr/>
          <p:nvPr/>
        </p:nvSpPr>
        <p:spPr>
          <a:xfrm>
            <a:off x="838200" y="1945759"/>
            <a:ext cx="4983479"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endParaRPr lang="en-US" altLang="ja-JP" sz="2000" dirty="0"/>
          </a:p>
          <a:p>
            <a:r>
              <a:rPr lang="en-US" altLang="ja-JP" sz="2000" dirty="0"/>
              <a:t>3.1</a:t>
            </a:r>
            <a:r>
              <a:rPr lang="ja-JP" altLang="en-US" sz="2000" dirty="0"/>
              <a:t>　自動車産業の用語及び定義</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３．用語及び定義</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4983480" cy="186069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2000" b="1" dirty="0">
                <a:solidFill>
                  <a:schemeClr val="tx1"/>
                </a:solidFill>
              </a:rPr>
              <a:t>３．用語及び定義</a:t>
            </a:r>
          </a:p>
        </p:txBody>
      </p:sp>
    </p:spTree>
    <p:extLst>
      <p:ext uri="{BB962C8B-B14F-4D97-AF65-F5344CB8AC3E}">
        <p14:creationId xmlns:p14="http://schemas.microsoft.com/office/powerpoint/2010/main" val="1367785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57</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472526953"/>
              </p:ext>
            </p:extLst>
          </p:nvPr>
        </p:nvGraphicFramePr>
        <p:xfrm>
          <a:off x="838200" y="1544321"/>
          <a:ext cx="10515600" cy="4834445"/>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1532056">
                <a:tc rowSpan="2">
                  <a:txBody>
                    <a:bodyPr/>
                    <a:lstStyle/>
                    <a:p>
                      <a:r>
                        <a:rPr kumimoji="1" lang="ja-JP" altLang="en-US" sz="2000" u="sng" dirty="0"/>
                        <a:t>アクセサリー部品</a:t>
                      </a:r>
                    </a:p>
                  </a:txBody>
                  <a:tcPr/>
                </a:tc>
                <a:tc>
                  <a:txBody>
                    <a:bodyPr/>
                    <a:lstStyle/>
                    <a:p>
                      <a:r>
                        <a:rPr kumimoji="1" lang="ja-JP" altLang="en-US" sz="2000" dirty="0"/>
                        <a:t>最終顧客への引渡しの準備（又は事後）に、機械的又は電子的に車両又はパワートレーンに結合される、顧客規定の追加構成部品（例　特注フロアマット、トラックベッドライナー、ホイールカバー、音響システム機能強化装置、サンルーフ、スポイラー、スーパーチャージャーなど）</a:t>
                      </a:r>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典型的なのはディーラーオプション。これらは車両出荷後にディーラーにて装着されるが、自動車部品として適用範囲に含める。</a:t>
                      </a:r>
                    </a:p>
                  </a:txBody>
                  <a:tcPr>
                    <a:solidFill>
                      <a:schemeClr val="tx2"/>
                    </a:solidFill>
                  </a:tcPr>
                </a:tc>
                <a:extLst>
                  <a:ext uri="{0D108BD9-81ED-4DB2-BD59-A6C34878D82A}">
                    <a16:rowId xmlns:a16="http://schemas.microsoft.com/office/drawing/2014/main" val="431852989"/>
                  </a:ext>
                </a:extLst>
              </a:tr>
              <a:tr h="1821124">
                <a:tc rowSpan="2">
                  <a:txBody>
                    <a:bodyPr/>
                    <a:lstStyle/>
                    <a:p>
                      <a:r>
                        <a:rPr kumimoji="1" lang="ja-JP" altLang="en-US" sz="2000" u="sng" dirty="0"/>
                        <a:t>先行製品品質計画（</a:t>
                      </a:r>
                      <a:r>
                        <a:rPr kumimoji="1" lang="en-US" altLang="ja-JP" sz="2000" u="sng" dirty="0"/>
                        <a:t>APQP</a:t>
                      </a:r>
                      <a:r>
                        <a:rPr kumimoji="1" lang="ja-JP" altLang="en-US" sz="2000" u="sng" dirty="0"/>
                        <a:t>）</a:t>
                      </a:r>
                    </a:p>
                  </a:txBody>
                  <a:tcPr/>
                </a:tc>
                <a:tc>
                  <a:txBody>
                    <a:bodyPr/>
                    <a:lstStyle/>
                    <a:p>
                      <a:r>
                        <a:rPr kumimoji="1" lang="ja-JP" altLang="en-US" sz="2000" dirty="0"/>
                        <a:t>顧客要求事項を満たす製品又はサービスの開発を支援する、製品品質計画プロセス。</a:t>
                      </a:r>
                      <a:r>
                        <a:rPr kumimoji="1" lang="en-US" altLang="ja-JP" sz="2000" dirty="0"/>
                        <a:t>APQP</a:t>
                      </a:r>
                      <a:r>
                        <a:rPr kumimoji="1" lang="ja-JP" altLang="en-US" sz="2000" dirty="0"/>
                        <a:t>は、開発プロセスにおいて手引として活用し、組織と顧客との間で結果を共有化する標準的方法でもある。</a:t>
                      </a:r>
                      <a:r>
                        <a:rPr kumimoji="1" lang="en-US" altLang="ja-JP" sz="2000" dirty="0"/>
                        <a:t>APQP</a:t>
                      </a:r>
                      <a:r>
                        <a:rPr kumimoji="1" lang="ja-JP" altLang="en-US" sz="2000" dirty="0"/>
                        <a:t>は、数ある中でも特に、設計の頑健性、設計試験及び使用への適合、生産工程設計、品質検査規格、工程能力、生産能力、製品の包装、製品試験及び作業者教育訓練計画を網羅している。</a:t>
                      </a:r>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コアツールとして</a:t>
                      </a:r>
                      <a:r>
                        <a:rPr kumimoji="1" lang="en-US" altLang="ja-JP" sz="2000" dirty="0">
                          <a:solidFill>
                            <a:schemeClr val="bg1"/>
                          </a:solidFill>
                        </a:rPr>
                        <a:t>8.3.2.1</a:t>
                      </a:r>
                      <a:r>
                        <a:rPr kumimoji="1" lang="ja-JP" altLang="en-US" sz="2000" dirty="0">
                          <a:solidFill>
                            <a:schemeClr val="bg1"/>
                          </a:solidFill>
                        </a:rPr>
                        <a:t>、</a:t>
                      </a:r>
                      <a:r>
                        <a:rPr kumimoji="1" lang="en-US" altLang="ja-JP" sz="2000" dirty="0">
                          <a:solidFill>
                            <a:schemeClr val="bg1"/>
                          </a:solidFill>
                        </a:rPr>
                        <a:t>9.1.1.2</a:t>
                      </a:r>
                      <a:r>
                        <a:rPr kumimoji="1" lang="ja-JP" altLang="en-US" sz="2000" dirty="0">
                          <a:solidFill>
                            <a:schemeClr val="bg1"/>
                          </a:solidFill>
                        </a:rPr>
                        <a:t>に登場する。</a:t>
                      </a:r>
                    </a:p>
                  </a:txBody>
                  <a:tcPr>
                    <a:solidFill>
                      <a:schemeClr val="tx2"/>
                    </a:solidFill>
                  </a:tcPr>
                </a:tc>
                <a:extLst>
                  <a:ext uri="{0D108BD9-81ED-4DB2-BD59-A6C34878D82A}">
                    <a16:rowId xmlns:a16="http://schemas.microsoft.com/office/drawing/2014/main" val="2875462728"/>
                  </a:ext>
                </a:extLst>
              </a:tr>
            </a:tbl>
          </a:graphicData>
        </a:graphic>
      </p:graphicFrame>
    </p:spTree>
    <p:extLst>
      <p:ext uri="{BB962C8B-B14F-4D97-AF65-F5344CB8AC3E}">
        <p14:creationId xmlns:p14="http://schemas.microsoft.com/office/powerpoint/2010/main" val="21875583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1224983948"/>
              </p:ext>
            </p:extLst>
          </p:nvPr>
        </p:nvGraphicFramePr>
        <p:xfrm>
          <a:off x="838200" y="1544321"/>
          <a:ext cx="10515600" cy="4826520"/>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652687">
                <a:tc rowSpan="2">
                  <a:txBody>
                    <a:bodyPr/>
                    <a:lstStyle/>
                    <a:p>
                      <a:r>
                        <a:rPr kumimoji="1" lang="ja-JP" altLang="en-US" sz="2000" u="sng" dirty="0"/>
                        <a:t>アフターマーケット部品</a:t>
                      </a:r>
                    </a:p>
                  </a:txBody>
                  <a:tcPr/>
                </a:tc>
                <a:tc>
                  <a:txBody>
                    <a:bodyPr/>
                    <a:lstStyle/>
                    <a:p>
                      <a:r>
                        <a:rPr kumimoji="1" lang="ja-JP" altLang="en-US" sz="2000" dirty="0"/>
                        <a:t>サービス部品用途として</a:t>
                      </a:r>
                      <a:r>
                        <a:rPr kumimoji="1" lang="en-US" altLang="ja-JP" sz="2000" dirty="0"/>
                        <a:t>OEM</a:t>
                      </a:r>
                      <a:r>
                        <a:rPr kumimoji="1" lang="ja-JP" altLang="en-US" sz="2000" dirty="0"/>
                        <a:t>が調達又はリリースするものではない交換部品で、</a:t>
                      </a:r>
                      <a:r>
                        <a:rPr kumimoji="1" lang="en-US" altLang="ja-JP" sz="2000" dirty="0"/>
                        <a:t>OEM</a:t>
                      </a:r>
                      <a:r>
                        <a:rPr kumimoji="1" lang="ja-JP" altLang="en-US" sz="2000" dirty="0"/>
                        <a:t>の仕様通り製造されてもそうでなくてもよい。</a:t>
                      </a:r>
                    </a:p>
                  </a:txBody>
                  <a:tcPr/>
                </a:tc>
                <a:extLst>
                  <a:ext uri="{0D108BD9-81ED-4DB2-BD59-A6C34878D82A}">
                    <a16:rowId xmlns:a16="http://schemas.microsoft.com/office/drawing/2014/main" val="1990500966"/>
                  </a:ext>
                </a:extLst>
              </a:tr>
              <a:tr h="652687">
                <a:tc vMerge="1">
                  <a:txBody>
                    <a:bodyPr/>
                    <a:lstStyle/>
                    <a:p>
                      <a:endParaRPr kumimoji="1" lang="ja-JP" altLang="en-US" sz="2000" dirty="0"/>
                    </a:p>
                  </a:txBody>
                  <a:tcPr anchor="ctr"/>
                </a:tc>
                <a:tc>
                  <a:txBody>
                    <a:bodyPr/>
                    <a:lstStyle/>
                    <a:p>
                      <a:r>
                        <a:rPr kumimoji="1" lang="en-US" altLang="ja-JP" sz="2000" dirty="0">
                          <a:solidFill>
                            <a:schemeClr val="bg1"/>
                          </a:solidFill>
                        </a:rPr>
                        <a:t>OEM</a:t>
                      </a:r>
                      <a:r>
                        <a:rPr kumimoji="1" lang="ja-JP" altLang="en-US" sz="2000" dirty="0">
                          <a:solidFill>
                            <a:schemeClr val="bg1"/>
                          </a:solidFill>
                        </a:rPr>
                        <a:t>がリリースするものではなく、ユーザーの自己責任で交換されるもので、適用範囲に含めない。</a:t>
                      </a:r>
                    </a:p>
                  </a:txBody>
                  <a:tcPr>
                    <a:solidFill>
                      <a:schemeClr val="tx2"/>
                    </a:solidFill>
                  </a:tcPr>
                </a:tc>
                <a:extLst>
                  <a:ext uri="{0D108BD9-81ED-4DB2-BD59-A6C34878D82A}">
                    <a16:rowId xmlns:a16="http://schemas.microsoft.com/office/drawing/2014/main" val="127329570"/>
                  </a:ext>
                </a:extLst>
              </a:tr>
              <a:tr h="652687">
                <a:tc rowSpan="2">
                  <a:txBody>
                    <a:bodyPr/>
                    <a:lstStyle/>
                    <a:p>
                      <a:r>
                        <a:rPr kumimoji="1" lang="ja-JP" altLang="en-US" sz="2000" dirty="0"/>
                        <a:t>正式許可</a:t>
                      </a:r>
                    </a:p>
                  </a:txBody>
                  <a:tcPr/>
                </a:tc>
                <a:tc>
                  <a:txBody>
                    <a:bodyPr/>
                    <a:lstStyle/>
                    <a:p>
                      <a:r>
                        <a:rPr kumimoji="1" lang="ja-JP" altLang="en-US" sz="2000" dirty="0"/>
                        <a:t>組織内で、許可を与える若しくは拒否する、又は制裁することに関係する権限及び責任を規定する人に対する、文書化した許可。</a:t>
                      </a:r>
                    </a:p>
                  </a:txBody>
                  <a:tcPr/>
                </a:tc>
                <a:extLst>
                  <a:ext uri="{0D108BD9-81ED-4DB2-BD59-A6C34878D82A}">
                    <a16:rowId xmlns:a16="http://schemas.microsoft.com/office/drawing/2014/main" val="4037296476"/>
                  </a:ext>
                </a:extLst>
              </a:tr>
              <a:tr h="1504019">
                <a:tc vMerge="1">
                  <a:txBody>
                    <a:bodyPr/>
                    <a:lstStyle/>
                    <a:p>
                      <a:endParaRPr kumimoji="1" lang="ja-JP" altLang="en-US" sz="2000" dirty="0"/>
                    </a:p>
                  </a:txBody>
                  <a:tcPr/>
                </a:tc>
                <a:tc>
                  <a:txBody>
                    <a:bodyPr/>
                    <a:lstStyle/>
                    <a:p>
                      <a:r>
                        <a:rPr kumimoji="1" lang="ja-JP" altLang="en-US" sz="2000" dirty="0">
                          <a:solidFill>
                            <a:schemeClr val="bg1"/>
                          </a:solidFill>
                        </a:rPr>
                        <a:t>次の箇条に登場する。</a:t>
                      </a:r>
                      <a:endParaRPr kumimoji="1" lang="en-US" altLang="ja-JP" sz="2000" dirty="0">
                        <a:solidFill>
                          <a:schemeClr val="bg1"/>
                        </a:solidFill>
                      </a:endParaRPr>
                    </a:p>
                    <a:p>
                      <a:r>
                        <a:rPr kumimoji="1" lang="en-US" altLang="ja-JP" sz="2000" dirty="0">
                          <a:solidFill>
                            <a:schemeClr val="bg1"/>
                          </a:solidFill>
                        </a:rPr>
                        <a:t>6.1.2.3</a:t>
                      </a:r>
                      <a:r>
                        <a:rPr kumimoji="1" lang="ja-JP" altLang="en-US" sz="2000" dirty="0">
                          <a:solidFill>
                            <a:schemeClr val="bg1"/>
                          </a:solidFill>
                        </a:rPr>
                        <a:t>　緊急事態対応計画</a:t>
                      </a:r>
                      <a:endParaRPr kumimoji="1" lang="en-US" altLang="ja-JP" sz="2000" dirty="0">
                        <a:solidFill>
                          <a:schemeClr val="bg1"/>
                        </a:solidFill>
                      </a:endParaRPr>
                    </a:p>
                    <a:p>
                      <a:r>
                        <a:rPr kumimoji="1" lang="en-US" altLang="ja-JP" sz="2000" dirty="0">
                          <a:solidFill>
                            <a:schemeClr val="bg1"/>
                          </a:solidFill>
                        </a:rPr>
                        <a:t>8.2.3.1.1</a:t>
                      </a:r>
                      <a:r>
                        <a:rPr kumimoji="1" lang="ja-JP" altLang="en-US" sz="2000" dirty="0">
                          <a:solidFill>
                            <a:schemeClr val="bg1"/>
                          </a:solidFill>
                        </a:rPr>
                        <a:t>　製品及びサービスに関する要求事項のレビュー－補足</a:t>
                      </a:r>
                      <a:endParaRPr kumimoji="1" lang="en-US" altLang="ja-JP" sz="2000" dirty="0">
                        <a:solidFill>
                          <a:schemeClr val="bg1"/>
                        </a:solidFill>
                      </a:endParaRPr>
                    </a:p>
                    <a:p>
                      <a:r>
                        <a:rPr kumimoji="1" lang="en-US" altLang="ja-JP" sz="2000" dirty="0">
                          <a:solidFill>
                            <a:schemeClr val="bg1"/>
                          </a:solidFill>
                        </a:rPr>
                        <a:t>8.7.1.1</a:t>
                      </a:r>
                      <a:r>
                        <a:rPr kumimoji="1" lang="ja-JP" altLang="en-US" sz="2000" dirty="0">
                          <a:solidFill>
                            <a:schemeClr val="bg1"/>
                          </a:solidFill>
                        </a:rPr>
                        <a:t>　特別採用に対する顧客の正式許可</a:t>
                      </a:r>
                      <a:endParaRPr kumimoji="1" lang="en-US" altLang="ja-JP" sz="2000" dirty="0">
                        <a:solidFill>
                          <a:schemeClr val="bg1"/>
                        </a:solidFill>
                      </a:endParaRPr>
                    </a:p>
                    <a:p>
                      <a:r>
                        <a:rPr kumimoji="1" lang="en-US" altLang="ja-JP" sz="2000" dirty="0">
                          <a:solidFill>
                            <a:schemeClr val="bg1"/>
                          </a:solidFill>
                        </a:rPr>
                        <a:t>8.7.1.5</a:t>
                      </a:r>
                      <a:r>
                        <a:rPr kumimoji="1" lang="ja-JP" altLang="en-US" sz="2000" dirty="0">
                          <a:solidFill>
                            <a:schemeClr val="bg1"/>
                          </a:solidFill>
                        </a:rPr>
                        <a:t>　修理製品の管理</a:t>
                      </a:r>
                    </a:p>
                  </a:txBody>
                  <a:tcPr>
                    <a:solidFill>
                      <a:schemeClr val="tx2"/>
                    </a:solidFill>
                  </a:tcPr>
                </a:tc>
                <a:extLst>
                  <a:ext uri="{0D108BD9-81ED-4DB2-BD59-A6C34878D82A}">
                    <a16:rowId xmlns:a16="http://schemas.microsoft.com/office/drawing/2014/main" val="542092137"/>
                  </a:ext>
                </a:extLst>
              </a:tr>
              <a:tr h="1107960">
                <a:tc>
                  <a:txBody>
                    <a:bodyPr/>
                    <a:lstStyle/>
                    <a:p>
                      <a:r>
                        <a:rPr kumimoji="1" lang="ja-JP" altLang="en-US" sz="2000" dirty="0"/>
                        <a:t>チャレンジ（マスター）部品</a:t>
                      </a:r>
                    </a:p>
                  </a:txBody>
                  <a:tcPr/>
                </a:tc>
                <a:tc>
                  <a:txBody>
                    <a:bodyPr/>
                    <a:lstStyle/>
                    <a:p>
                      <a:r>
                        <a:rPr kumimoji="1" lang="ja-JP" altLang="en-US" sz="2000" dirty="0">
                          <a:solidFill>
                            <a:schemeClr val="tx1"/>
                          </a:solidFill>
                        </a:rPr>
                        <a:t>ポカヨケ装置の機能又は点検ジグ（例　通止ゲージ）の妥当性確認に使用する、既知の仕様、校正された及び標準にトレーサブルな、期待された結果（合格又は不合格）をもつ部品。</a:t>
                      </a:r>
                    </a:p>
                  </a:txBody>
                  <a:tcPr>
                    <a:solidFill>
                      <a:schemeClr val="bg1"/>
                    </a:solidFill>
                  </a:tcPr>
                </a:tc>
                <a:extLst>
                  <a:ext uri="{0D108BD9-81ED-4DB2-BD59-A6C34878D82A}">
                    <a16:rowId xmlns:a16="http://schemas.microsoft.com/office/drawing/2014/main" val="1201866188"/>
                  </a:ext>
                </a:extLst>
              </a:tr>
            </a:tbl>
          </a:graphicData>
        </a:graphic>
      </p:graphicFrame>
    </p:spTree>
    <p:extLst>
      <p:ext uri="{BB962C8B-B14F-4D97-AF65-F5344CB8AC3E}">
        <p14:creationId xmlns:p14="http://schemas.microsoft.com/office/powerpoint/2010/main" val="22419224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59</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755194705"/>
              </p:ext>
            </p:extLst>
          </p:nvPr>
        </p:nvGraphicFramePr>
        <p:xfrm>
          <a:off x="838200" y="1544320"/>
          <a:ext cx="10515600" cy="4812031"/>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63648">
                <a:tc rowSpan="2">
                  <a:txBody>
                    <a:bodyPr/>
                    <a:lstStyle/>
                    <a:p>
                      <a:r>
                        <a:rPr kumimoji="1" lang="ja-JP" altLang="en-US" sz="2000" u="sng" dirty="0"/>
                        <a:t>コントロールプラン</a:t>
                      </a:r>
                    </a:p>
                  </a:txBody>
                  <a:tcPr/>
                </a:tc>
                <a:tc>
                  <a:txBody>
                    <a:bodyPr/>
                    <a:lstStyle/>
                    <a:p>
                      <a:r>
                        <a:rPr kumimoji="1" lang="ja-JP" altLang="en-US" sz="2000" dirty="0"/>
                        <a:t>製品の製造を管理するために要求される、システム及びプロセスを記述した文書。（附属書Ａ参照）</a:t>
                      </a:r>
                    </a:p>
                  </a:txBody>
                  <a:tcPr/>
                </a:tc>
                <a:extLst>
                  <a:ext uri="{0D108BD9-81ED-4DB2-BD59-A6C34878D82A}">
                    <a16:rowId xmlns:a16="http://schemas.microsoft.com/office/drawing/2014/main" val="1990500966"/>
                  </a:ext>
                </a:extLst>
              </a:tr>
              <a:tr h="1663289">
                <a:tc vMerge="1">
                  <a:txBody>
                    <a:bodyPr/>
                    <a:lstStyle/>
                    <a:p>
                      <a:endParaRPr kumimoji="1" lang="ja-JP" altLang="en-US" sz="2000" dirty="0"/>
                    </a:p>
                  </a:txBody>
                  <a:tcPr anchor="ctr"/>
                </a:tc>
                <a:tc>
                  <a:txBody>
                    <a:bodyPr/>
                    <a:lstStyle/>
                    <a:p>
                      <a:r>
                        <a:rPr kumimoji="1" lang="en-US" altLang="ja-JP" sz="2000" dirty="0">
                          <a:solidFill>
                            <a:schemeClr val="bg1"/>
                          </a:solidFill>
                        </a:rPr>
                        <a:t>IATF</a:t>
                      </a:r>
                      <a:r>
                        <a:rPr kumimoji="1" lang="ja-JP" altLang="en-US" sz="2000" dirty="0">
                          <a:solidFill>
                            <a:schemeClr val="bg1"/>
                          </a:solidFill>
                        </a:rPr>
                        <a:t>における位置付けは極めて重要。コントロールプランは、</a:t>
                      </a:r>
                      <a:r>
                        <a:rPr kumimoji="1" lang="en-US" altLang="ja-JP" sz="2000" dirty="0">
                          <a:solidFill>
                            <a:schemeClr val="bg1"/>
                          </a:solidFill>
                        </a:rPr>
                        <a:t>APQP</a:t>
                      </a:r>
                      <a:r>
                        <a:rPr kumimoji="1" lang="ja-JP" altLang="en-US" sz="2000" dirty="0">
                          <a:solidFill>
                            <a:schemeClr val="bg1"/>
                          </a:solidFill>
                        </a:rPr>
                        <a:t>活動の結果。各所に登場し、様々な活動をコントロールする。</a:t>
                      </a:r>
                      <a:endParaRPr kumimoji="1" lang="en-US" altLang="ja-JP" sz="2000" dirty="0">
                        <a:solidFill>
                          <a:schemeClr val="bg1"/>
                        </a:solidFill>
                      </a:endParaRPr>
                    </a:p>
                    <a:p>
                      <a:r>
                        <a:rPr kumimoji="1" lang="en-US" altLang="ja-JP" sz="2000" dirty="0">
                          <a:solidFill>
                            <a:schemeClr val="bg1"/>
                          </a:solidFill>
                        </a:rPr>
                        <a:t>4.4.1.2</a:t>
                      </a:r>
                      <a:r>
                        <a:rPr kumimoji="1" lang="ja-JP" altLang="en-US" sz="2000" dirty="0">
                          <a:solidFill>
                            <a:schemeClr val="bg1"/>
                          </a:solidFill>
                        </a:rPr>
                        <a:t>／</a:t>
                      </a:r>
                      <a:r>
                        <a:rPr kumimoji="1" lang="en-US" altLang="ja-JP" sz="2000" dirty="0">
                          <a:solidFill>
                            <a:schemeClr val="bg1"/>
                          </a:solidFill>
                        </a:rPr>
                        <a:t>7.1.3.1</a:t>
                      </a:r>
                      <a:r>
                        <a:rPr kumimoji="1" lang="ja-JP" altLang="en-US" sz="2000" dirty="0">
                          <a:solidFill>
                            <a:schemeClr val="bg1"/>
                          </a:solidFill>
                        </a:rPr>
                        <a:t>／</a:t>
                      </a:r>
                      <a:r>
                        <a:rPr kumimoji="1" lang="en-US" altLang="ja-JP" sz="2000" dirty="0">
                          <a:solidFill>
                            <a:schemeClr val="bg1"/>
                          </a:solidFill>
                        </a:rPr>
                        <a:t>7.1.5.1.1</a:t>
                      </a:r>
                      <a:r>
                        <a:rPr kumimoji="1" lang="ja-JP" altLang="en-US" sz="2000" dirty="0">
                          <a:solidFill>
                            <a:schemeClr val="bg1"/>
                          </a:solidFill>
                        </a:rPr>
                        <a:t>／</a:t>
                      </a:r>
                      <a:r>
                        <a:rPr kumimoji="1" lang="en-US" altLang="ja-JP" sz="2000" dirty="0">
                          <a:solidFill>
                            <a:schemeClr val="bg1"/>
                          </a:solidFill>
                        </a:rPr>
                        <a:t>7.2.3</a:t>
                      </a:r>
                      <a:r>
                        <a:rPr kumimoji="1" lang="ja-JP" altLang="en-US" sz="2000" dirty="0">
                          <a:solidFill>
                            <a:schemeClr val="bg1"/>
                          </a:solidFill>
                        </a:rPr>
                        <a:t>／</a:t>
                      </a:r>
                      <a:r>
                        <a:rPr kumimoji="1" lang="en-US" altLang="ja-JP" sz="2000" dirty="0">
                          <a:solidFill>
                            <a:schemeClr val="bg1"/>
                          </a:solidFill>
                        </a:rPr>
                        <a:t>7.2.4</a:t>
                      </a:r>
                      <a:r>
                        <a:rPr kumimoji="1" lang="ja-JP" altLang="en-US" sz="2000" dirty="0">
                          <a:solidFill>
                            <a:schemeClr val="bg1"/>
                          </a:solidFill>
                        </a:rPr>
                        <a:t>／</a:t>
                      </a:r>
                      <a:r>
                        <a:rPr kumimoji="1" lang="en-US" altLang="ja-JP" sz="2000" dirty="0">
                          <a:solidFill>
                            <a:schemeClr val="bg1"/>
                          </a:solidFill>
                        </a:rPr>
                        <a:t>7.5.3.2.2</a:t>
                      </a:r>
                      <a:r>
                        <a:rPr kumimoji="1" lang="ja-JP" altLang="en-US" sz="2000" dirty="0">
                          <a:solidFill>
                            <a:schemeClr val="bg1"/>
                          </a:solidFill>
                        </a:rPr>
                        <a:t>／</a:t>
                      </a:r>
                      <a:r>
                        <a:rPr kumimoji="1" lang="en-US" altLang="ja-JP" sz="2000" dirty="0">
                          <a:solidFill>
                            <a:schemeClr val="bg1"/>
                          </a:solidFill>
                        </a:rPr>
                        <a:t>8.3.2.1</a:t>
                      </a:r>
                    </a:p>
                    <a:p>
                      <a:r>
                        <a:rPr kumimoji="1" lang="en-US" altLang="ja-JP" sz="2000" dirty="0">
                          <a:solidFill>
                            <a:schemeClr val="bg1"/>
                          </a:solidFill>
                        </a:rPr>
                        <a:t>8.3.3.3</a:t>
                      </a:r>
                      <a:r>
                        <a:rPr kumimoji="1" lang="ja-JP" altLang="en-US" sz="2000" dirty="0">
                          <a:solidFill>
                            <a:schemeClr val="bg1"/>
                          </a:solidFill>
                        </a:rPr>
                        <a:t>／</a:t>
                      </a:r>
                      <a:r>
                        <a:rPr kumimoji="1" lang="en-US" altLang="ja-JP" sz="2000" dirty="0">
                          <a:solidFill>
                            <a:schemeClr val="bg1"/>
                          </a:solidFill>
                        </a:rPr>
                        <a:t>8.3.4.3</a:t>
                      </a:r>
                      <a:r>
                        <a:rPr kumimoji="1" lang="ja-JP" altLang="en-US" sz="2000" dirty="0">
                          <a:solidFill>
                            <a:schemeClr val="bg1"/>
                          </a:solidFill>
                        </a:rPr>
                        <a:t>／</a:t>
                      </a:r>
                      <a:r>
                        <a:rPr kumimoji="1" lang="en-US" altLang="ja-JP" sz="2000" dirty="0">
                          <a:solidFill>
                            <a:schemeClr val="bg1"/>
                          </a:solidFill>
                        </a:rPr>
                        <a:t>8.3.5.2</a:t>
                      </a:r>
                      <a:r>
                        <a:rPr kumimoji="1" lang="ja-JP" altLang="en-US" sz="2000" dirty="0">
                          <a:solidFill>
                            <a:schemeClr val="bg1"/>
                          </a:solidFill>
                        </a:rPr>
                        <a:t>／</a:t>
                      </a:r>
                      <a:r>
                        <a:rPr kumimoji="1" lang="en-US" altLang="ja-JP" sz="2000" dirty="0">
                          <a:solidFill>
                            <a:schemeClr val="bg1"/>
                          </a:solidFill>
                        </a:rPr>
                        <a:t>8.5.1.1</a:t>
                      </a:r>
                      <a:r>
                        <a:rPr kumimoji="1" lang="ja-JP" altLang="en-US" sz="2000" dirty="0">
                          <a:solidFill>
                            <a:schemeClr val="bg1"/>
                          </a:solidFill>
                        </a:rPr>
                        <a:t>／</a:t>
                      </a:r>
                      <a:r>
                        <a:rPr kumimoji="1" lang="en-US" altLang="ja-JP" sz="2000" dirty="0">
                          <a:solidFill>
                            <a:schemeClr val="bg1"/>
                          </a:solidFill>
                        </a:rPr>
                        <a:t>8.5.6.1.1</a:t>
                      </a:r>
                      <a:r>
                        <a:rPr kumimoji="1" lang="ja-JP" altLang="en-US" sz="2000" dirty="0">
                          <a:solidFill>
                            <a:schemeClr val="bg1"/>
                          </a:solidFill>
                        </a:rPr>
                        <a:t>／</a:t>
                      </a:r>
                      <a:r>
                        <a:rPr kumimoji="1" lang="en-US" altLang="ja-JP" sz="2000" dirty="0">
                          <a:solidFill>
                            <a:schemeClr val="bg1"/>
                          </a:solidFill>
                        </a:rPr>
                        <a:t>8.6.2</a:t>
                      </a:r>
                      <a:r>
                        <a:rPr kumimoji="1" lang="ja-JP" altLang="en-US" sz="2000" dirty="0">
                          <a:solidFill>
                            <a:schemeClr val="bg1"/>
                          </a:solidFill>
                        </a:rPr>
                        <a:t>／</a:t>
                      </a:r>
                      <a:r>
                        <a:rPr kumimoji="1" lang="en-US" altLang="ja-JP" sz="2000" dirty="0">
                          <a:solidFill>
                            <a:schemeClr val="bg1"/>
                          </a:solidFill>
                        </a:rPr>
                        <a:t>8.7.1.4</a:t>
                      </a:r>
                    </a:p>
                    <a:p>
                      <a:r>
                        <a:rPr kumimoji="1" lang="en-US" altLang="ja-JP" sz="2000" dirty="0">
                          <a:solidFill>
                            <a:schemeClr val="bg1"/>
                          </a:solidFill>
                        </a:rPr>
                        <a:t>8.7.1.5</a:t>
                      </a:r>
                      <a:r>
                        <a:rPr kumimoji="1" lang="ja-JP" altLang="en-US" sz="2000" dirty="0">
                          <a:solidFill>
                            <a:schemeClr val="bg1"/>
                          </a:solidFill>
                        </a:rPr>
                        <a:t>／</a:t>
                      </a:r>
                      <a:r>
                        <a:rPr kumimoji="1" lang="en-US" altLang="ja-JP" sz="2000" dirty="0">
                          <a:solidFill>
                            <a:schemeClr val="bg1"/>
                          </a:solidFill>
                        </a:rPr>
                        <a:t>9.1.1.1</a:t>
                      </a:r>
                      <a:r>
                        <a:rPr kumimoji="1" lang="ja-JP" altLang="en-US" sz="2000" dirty="0">
                          <a:solidFill>
                            <a:schemeClr val="bg1"/>
                          </a:solidFill>
                        </a:rPr>
                        <a:t>／</a:t>
                      </a:r>
                      <a:r>
                        <a:rPr kumimoji="1" lang="en-US" altLang="ja-JP" sz="2000" dirty="0">
                          <a:solidFill>
                            <a:schemeClr val="bg1"/>
                          </a:solidFill>
                        </a:rPr>
                        <a:t>9.1.1.2</a:t>
                      </a:r>
                      <a:r>
                        <a:rPr kumimoji="1" lang="ja-JP" altLang="en-US" sz="2000" dirty="0">
                          <a:solidFill>
                            <a:schemeClr val="bg1"/>
                          </a:solidFill>
                        </a:rPr>
                        <a:t>／</a:t>
                      </a:r>
                      <a:r>
                        <a:rPr kumimoji="1" lang="en-US" altLang="ja-JP" sz="2000" dirty="0">
                          <a:solidFill>
                            <a:schemeClr val="bg1"/>
                          </a:solidFill>
                        </a:rPr>
                        <a:t>9.2.2.3</a:t>
                      </a:r>
                      <a:r>
                        <a:rPr kumimoji="1" lang="ja-JP" altLang="en-US" sz="2000" dirty="0">
                          <a:solidFill>
                            <a:schemeClr val="bg1"/>
                          </a:solidFill>
                        </a:rPr>
                        <a:t>／</a:t>
                      </a:r>
                      <a:r>
                        <a:rPr kumimoji="1" lang="en-US" altLang="ja-JP" sz="2000" dirty="0">
                          <a:solidFill>
                            <a:schemeClr val="bg1"/>
                          </a:solidFill>
                        </a:rPr>
                        <a:t>10.2.3</a:t>
                      </a:r>
                      <a:r>
                        <a:rPr kumimoji="1" lang="ja-JP" altLang="en-US" sz="2000" dirty="0">
                          <a:solidFill>
                            <a:schemeClr val="bg1"/>
                          </a:solidFill>
                        </a:rPr>
                        <a:t>／</a:t>
                      </a:r>
                      <a:r>
                        <a:rPr kumimoji="1" lang="en-US" altLang="ja-JP" sz="2000" dirty="0">
                          <a:solidFill>
                            <a:schemeClr val="bg1"/>
                          </a:solidFill>
                        </a:rPr>
                        <a:t>10.24</a:t>
                      </a:r>
                    </a:p>
                  </a:txBody>
                  <a:tcPr>
                    <a:solidFill>
                      <a:schemeClr val="tx2"/>
                    </a:solidFill>
                  </a:tcPr>
                </a:tc>
                <a:extLst>
                  <a:ext uri="{0D108BD9-81ED-4DB2-BD59-A6C34878D82A}">
                    <a16:rowId xmlns:a16="http://schemas.microsoft.com/office/drawing/2014/main" val="127329570"/>
                  </a:ext>
                </a:extLst>
              </a:tr>
              <a:tr h="1663289">
                <a:tc rowSpan="2">
                  <a:txBody>
                    <a:bodyPr/>
                    <a:lstStyle/>
                    <a:p>
                      <a:r>
                        <a:rPr kumimoji="1" lang="ja-JP" altLang="en-US" sz="2000" dirty="0"/>
                        <a:t>顧客要求事項</a:t>
                      </a:r>
                    </a:p>
                  </a:txBody>
                  <a:tcPr/>
                </a:tc>
                <a:tc>
                  <a:txBody>
                    <a:bodyPr/>
                    <a:lstStyle/>
                    <a:p>
                      <a:r>
                        <a:rPr kumimoji="1" lang="ja-JP" altLang="en-US" sz="2000" dirty="0"/>
                        <a:t>顧客に規定された全ての要求事項（例　技術、商流、製品及び製造工程に関係する要求事項、一般の契約条件、顧客固有要求事項など）監査対象組織が自動車メーカー、自動車メーカーの子会社、又は自動車メーカーとの合弁会社の場合、関連する顧客は、その自動車メーカー、子会社又は合弁会社によって規定される。</a:t>
                      </a:r>
                    </a:p>
                  </a:txBody>
                  <a:tcPr/>
                </a:tc>
                <a:extLst>
                  <a:ext uri="{0D108BD9-81ED-4DB2-BD59-A6C34878D82A}">
                    <a16:rowId xmlns:a16="http://schemas.microsoft.com/office/drawing/2014/main" val="4037296476"/>
                  </a:ext>
                </a:extLst>
              </a:tr>
              <a:tr h="721805">
                <a:tc vMerge="1">
                  <a:txBody>
                    <a:bodyPr/>
                    <a:lstStyle/>
                    <a:p>
                      <a:endParaRPr kumimoji="1" lang="ja-JP" altLang="en-US" sz="2000" dirty="0"/>
                    </a:p>
                  </a:txBody>
                  <a:tcPr/>
                </a:tc>
                <a:tc>
                  <a:txBody>
                    <a:bodyPr/>
                    <a:lstStyle/>
                    <a:p>
                      <a:r>
                        <a:rPr kumimoji="1" lang="ja-JP" altLang="en-US" sz="2000" dirty="0">
                          <a:solidFill>
                            <a:schemeClr val="bg1"/>
                          </a:solidFill>
                        </a:rPr>
                        <a:t>顧客固有要求事項は顧客要求事項の一部であるが、同一ではない。</a:t>
                      </a:r>
                      <a:endParaRPr kumimoji="1" lang="en-US" altLang="ja-JP" sz="2000" dirty="0">
                        <a:solidFill>
                          <a:schemeClr val="bg1"/>
                        </a:solidFill>
                      </a:endParaRPr>
                    </a:p>
                  </a:txBody>
                  <a:tcPr>
                    <a:solidFill>
                      <a:schemeClr val="tx2"/>
                    </a:solidFill>
                  </a:tcPr>
                </a:tc>
                <a:extLst>
                  <a:ext uri="{0D108BD9-81ED-4DB2-BD59-A6C34878D82A}">
                    <a16:rowId xmlns:a16="http://schemas.microsoft.com/office/drawing/2014/main" val="542092137"/>
                  </a:ext>
                </a:extLst>
              </a:tr>
            </a:tbl>
          </a:graphicData>
        </a:graphic>
      </p:graphicFrame>
      <p:sp>
        <p:nvSpPr>
          <p:cNvPr id="3" name="四角形: 角を丸くする 2">
            <a:extLst>
              <a:ext uri="{FF2B5EF4-FFF2-40B4-BE49-F238E27FC236}">
                <a16:creationId xmlns:a16="http://schemas.microsoft.com/office/drawing/2014/main" id="{CAD91B27-3B22-49D7-9071-183D458E1687}"/>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a:t>
            </a:r>
          </a:p>
        </p:txBody>
      </p:sp>
    </p:spTree>
    <p:extLst>
      <p:ext uri="{BB962C8B-B14F-4D97-AF65-F5344CB8AC3E}">
        <p14:creationId xmlns:p14="http://schemas.microsoft.com/office/powerpoint/2010/main" val="42762825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60</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2381130021"/>
              </p:ext>
            </p:extLst>
          </p:nvPr>
        </p:nvGraphicFramePr>
        <p:xfrm>
          <a:off x="838200" y="1544321"/>
          <a:ext cx="10515600" cy="4520708"/>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rowSpan="2">
                  <a:txBody>
                    <a:bodyPr/>
                    <a:lstStyle/>
                    <a:p>
                      <a:r>
                        <a:rPr kumimoji="1" lang="ja-JP" altLang="en-US" sz="2000" u="sng" dirty="0"/>
                        <a:t>顧客固有要求事項</a:t>
                      </a:r>
                    </a:p>
                  </a:txBody>
                  <a:tcPr/>
                </a:tc>
                <a:tc>
                  <a:txBody>
                    <a:bodyPr/>
                    <a:lstStyle/>
                    <a:p>
                      <a:r>
                        <a:rPr kumimoji="1" lang="ja-JP" altLang="en-US" sz="2000" dirty="0"/>
                        <a:t>この自動車産業ＱＭＳ規格の特定の箇条にリンクした解釈又は補足の要求事項。</a:t>
                      </a:r>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典型的なのは「取引先品質規定」などの顧客規定文書。但し、国内顧客の場合、</a:t>
                      </a:r>
                      <a:r>
                        <a:rPr kumimoji="1" lang="en-US" altLang="ja-JP" sz="2000" dirty="0">
                          <a:solidFill>
                            <a:schemeClr val="bg1"/>
                          </a:solidFill>
                        </a:rPr>
                        <a:t>IATF</a:t>
                      </a:r>
                      <a:r>
                        <a:rPr kumimoji="1" lang="ja-JP" altLang="en-US" sz="2000" dirty="0">
                          <a:solidFill>
                            <a:schemeClr val="bg1"/>
                          </a:solidFill>
                        </a:rPr>
                        <a:t>箇条とのリンクが不明瞭な場合が多い。</a:t>
                      </a:r>
                    </a:p>
                  </a:txBody>
                  <a:tcPr>
                    <a:solidFill>
                      <a:schemeClr val="tx2"/>
                    </a:solidFill>
                  </a:tcPr>
                </a:tc>
                <a:extLst>
                  <a:ext uri="{0D108BD9-81ED-4DB2-BD59-A6C34878D82A}">
                    <a16:rowId xmlns:a16="http://schemas.microsoft.com/office/drawing/2014/main" val="431852989"/>
                  </a:ext>
                </a:extLst>
              </a:tr>
              <a:tr h="1061659">
                <a:tc rowSpan="2">
                  <a:txBody>
                    <a:bodyPr/>
                    <a:lstStyle/>
                    <a:p>
                      <a:r>
                        <a:rPr kumimoji="1" lang="ja-JP" altLang="en-US" sz="2000" dirty="0"/>
                        <a:t>組立設計（</a:t>
                      </a:r>
                      <a:r>
                        <a:rPr kumimoji="1" lang="en-US" altLang="ja-JP" sz="2000" dirty="0"/>
                        <a:t>DFA</a:t>
                      </a:r>
                      <a:r>
                        <a:rPr kumimoji="1" lang="ja-JP" altLang="en-US" sz="2000" dirty="0"/>
                        <a:t>）</a:t>
                      </a:r>
                    </a:p>
                  </a:txBody>
                  <a:tcPr/>
                </a:tc>
                <a:tc>
                  <a:txBody>
                    <a:bodyPr/>
                    <a:lstStyle/>
                    <a:p>
                      <a:r>
                        <a:rPr kumimoji="1" lang="ja-JP" altLang="en-US" sz="2000" dirty="0"/>
                        <a:t>組立容易性を考慮した製品設計のプロセス（例　製品がより少ない部品点数から成れば、組立時間を少なくでき、したがって組立コストを削減できる）</a:t>
                      </a:r>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製造設計と協働で実施すべき。（コンカレントエンジニアリング）</a:t>
                      </a:r>
                    </a:p>
                  </a:txBody>
                  <a:tcPr>
                    <a:solidFill>
                      <a:schemeClr val="tx2"/>
                    </a:solidFill>
                  </a:tcPr>
                </a:tc>
                <a:extLst>
                  <a:ext uri="{0D108BD9-81ED-4DB2-BD59-A6C34878D82A}">
                    <a16:rowId xmlns:a16="http://schemas.microsoft.com/office/drawing/2014/main" val="2875462728"/>
                  </a:ext>
                </a:extLst>
              </a:tr>
              <a:tr h="597725">
                <a:tc rowSpan="2">
                  <a:txBody>
                    <a:bodyPr/>
                    <a:lstStyle/>
                    <a:p>
                      <a:r>
                        <a:rPr kumimoji="1" lang="ja-JP" altLang="en-US" sz="2000" dirty="0"/>
                        <a:t>製造設計（</a:t>
                      </a:r>
                      <a:r>
                        <a:rPr kumimoji="1" lang="en-US" altLang="ja-JP" sz="2000" dirty="0"/>
                        <a:t>DFM</a:t>
                      </a:r>
                      <a:r>
                        <a:rPr kumimoji="1" lang="ja-JP" altLang="en-US" sz="2000" dirty="0"/>
                        <a:t>）</a:t>
                      </a:r>
                    </a:p>
                  </a:txBody>
                  <a:tcPr/>
                </a:tc>
                <a:tc>
                  <a:txBody>
                    <a:bodyPr/>
                    <a:lstStyle/>
                    <a:p>
                      <a:r>
                        <a:rPr kumimoji="1" lang="ja-JP" altLang="en-US" sz="2000" dirty="0">
                          <a:solidFill>
                            <a:schemeClr val="tx1"/>
                          </a:solidFill>
                        </a:rPr>
                        <a:t>容易に、かつ、経済的に製造される製品を設計するための製品設計及び工程計画の統合化。</a:t>
                      </a:r>
                    </a:p>
                  </a:txBody>
                  <a:tcPr>
                    <a:noFill/>
                  </a:tcPr>
                </a:tc>
                <a:extLst>
                  <a:ext uri="{0D108BD9-81ED-4DB2-BD59-A6C34878D82A}">
                    <a16:rowId xmlns:a16="http://schemas.microsoft.com/office/drawing/2014/main" val="3609237026"/>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工程設計及び組立設計と協働で実施すべき。（コンカレントエンジニアリング）</a:t>
                      </a:r>
                    </a:p>
                  </a:txBody>
                  <a:tcPr>
                    <a:solidFill>
                      <a:schemeClr val="tx2"/>
                    </a:solidFill>
                  </a:tcPr>
                </a:tc>
                <a:extLst>
                  <a:ext uri="{0D108BD9-81ED-4DB2-BD59-A6C34878D82A}">
                    <a16:rowId xmlns:a16="http://schemas.microsoft.com/office/drawing/2014/main" val="1739580650"/>
                  </a:ext>
                </a:extLst>
              </a:tr>
            </a:tbl>
          </a:graphicData>
        </a:graphic>
      </p:graphicFrame>
    </p:spTree>
    <p:extLst>
      <p:ext uri="{BB962C8B-B14F-4D97-AF65-F5344CB8AC3E}">
        <p14:creationId xmlns:p14="http://schemas.microsoft.com/office/powerpoint/2010/main" val="33092107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61</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1660003901"/>
              </p:ext>
            </p:extLst>
          </p:nvPr>
        </p:nvGraphicFramePr>
        <p:xfrm>
          <a:off x="838200" y="1544321"/>
          <a:ext cx="10515600" cy="4585464"/>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a:txBody>
                    <a:bodyPr/>
                    <a:lstStyle/>
                    <a:p>
                      <a:r>
                        <a:rPr kumimoji="1" lang="ja-JP" altLang="en-US" sz="2000" dirty="0"/>
                        <a:t>製造及び組立設計（</a:t>
                      </a:r>
                      <a:r>
                        <a:rPr kumimoji="1" lang="en-US" altLang="ja-JP" sz="2000" dirty="0"/>
                        <a:t>DFMA</a:t>
                      </a:r>
                      <a:r>
                        <a:rPr kumimoji="1" lang="ja-JP" altLang="en-US" sz="2000" dirty="0"/>
                        <a:t>）</a:t>
                      </a:r>
                    </a:p>
                  </a:txBody>
                  <a:tcPr/>
                </a:tc>
                <a:tc>
                  <a:txBody>
                    <a:bodyPr/>
                    <a:lstStyle/>
                    <a:p>
                      <a:r>
                        <a:rPr kumimoji="1" lang="ja-JP" altLang="en-US" sz="2000" dirty="0"/>
                        <a:t>二つの方法論の組合せ。製造設計（</a:t>
                      </a:r>
                      <a:r>
                        <a:rPr kumimoji="1" lang="en-US" altLang="ja-JP" sz="2000" dirty="0"/>
                        <a:t>DFM</a:t>
                      </a:r>
                      <a:r>
                        <a:rPr kumimoji="1" lang="ja-JP" altLang="en-US" sz="2000" dirty="0"/>
                        <a:t>）は、より容易に生産するための設計を最適化するプロセスであり、より高いスループット、改善した品質をもつ。組立設計（</a:t>
                      </a:r>
                      <a:r>
                        <a:rPr kumimoji="1" lang="en-US" altLang="ja-JP" sz="2000" dirty="0"/>
                        <a:t>DFA</a:t>
                      </a:r>
                      <a:r>
                        <a:rPr kumimoji="1" lang="ja-JP" altLang="en-US" sz="2000" dirty="0"/>
                        <a:t>）は、不具合のリスクを低減する、コストを下げる及び組立しやすくするための設計の最適化である。</a:t>
                      </a:r>
                    </a:p>
                  </a:txBody>
                  <a:tcPr/>
                </a:tc>
                <a:extLst>
                  <a:ext uri="{0D108BD9-81ED-4DB2-BD59-A6C34878D82A}">
                    <a16:rowId xmlns:a16="http://schemas.microsoft.com/office/drawing/2014/main" val="1171592800"/>
                  </a:ext>
                </a:extLst>
              </a:tr>
              <a:tr h="1061659">
                <a:tc rowSpan="2">
                  <a:txBody>
                    <a:bodyPr/>
                    <a:lstStyle/>
                    <a:p>
                      <a:r>
                        <a:rPr kumimoji="1" lang="ja-JP" altLang="en-US" sz="2000" dirty="0"/>
                        <a:t>シックスシグマ設計（</a:t>
                      </a:r>
                      <a:r>
                        <a:rPr kumimoji="1" lang="en-US" altLang="ja-JP" sz="2000" dirty="0"/>
                        <a:t>DFSS</a:t>
                      </a:r>
                      <a:r>
                        <a:rPr kumimoji="1" lang="ja-JP" altLang="en-US" sz="2000" dirty="0"/>
                        <a:t>）</a:t>
                      </a:r>
                    </a:p>
                  </a:txBody>
                  <a:tcPr/>
                </a:tc>
                <a:tc>
                  <a:txBody>
                    <a:bodyPr/>
                    <a:lstStyle/>
                    <a:p>
                      <a:r>
                        <a:rPr kumimoji="1" lang="ja-JP" altLang="en-US" sz="2000" dirty="0"/>
                        <a:t>顧客の期待を満たしシックスシグマ品質レベルで生産可能な製品又は工程の頑健な設計を狙いとする、体系的方法論、ツール及び手法。</a:t>
                      </a:r>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高い工程能力（</a:t>
                      </a:r>
                      <a:r>
                        <a:rPr kumimoji="1" lang="en-US" altLang="ja-JP" sz="2000" dirty="0" err="1">
                          <a:solidFill>
                            <a:schemeClr val="bg1"/>
                          </a:solidFill>
                        </a:rPr>
                        <a:t>Cpk</a:t>
                      </a:r>
                      <a:r>
                        <a:rPr kumimoji="1" lang="ja-JP" altLang="en-US" sz="2000" dirty="0">
                          <a:solidFill>
                            <a:schemeClr val="bg1"/>
                          </a:solidFill>
                        </a:rPr>
                        <a:t>）を狙った設計。（</a:t>
                      </a:r>
                      <a:r>
                        <a:rPr kumimoji="1" lang="en-US" altLang="ja-JP" sz="2000" dirty="0">
                          <a:solidFill>
                            <a:schemeClr val="bg1"/>
                          </a:solidFill>
                        </a:rPr>
                        <a:t>Cpk2.00</a:t>
                      </a:r>
                      <a:r>
                        <a:rPr kumimoji="1" lang="ja-JP" altLang="en-US" sz="2000" dirty="0">
                          <a:solidFill>
                            <a:schemeClr val="bg1"/>
                          </a:solidFill>
                        </a:rPr>
                        <a:t>程度）</a:t>
                      </a:r>
                    </a:p>
                  </a:txBody>
                  <a:tcPr>
                    <a:solidFill>
                      <a:schemeClr val="tx2"/>
                    </a:solidFill>
                  </a:tcPr>
                </a:tc>
                <a:extLst>
                  <a:ext uri="{0D108BD9-81ED-4DB2-BD59-A6C34878D82A}">
                    <a16:rowId xmlns:a16="http://schemas.microsoft.com/office/drawing/2014/main" val="2875462728"/>
                  </a:ext>
                </a:extLst>
              </a:tr>
              <a:tr h="597725">
                <a:tc>
                  <a:txBody>
                    <a:bodyPr/>
                    <a:lstStyle/>
                    <a:p>
                      <a:r>
                        <a:rPr kumimoji="1" lang="ja-JP" altLang="en-US" sz="2000" dirty="0"/>
                        <a:t>設計責任のある組織</a:t>
                      </a:r>
                    </a:p>
                  </a:txBody>
                  <a:tcPr/>
                </a:tc>
                <a:tc>
                  <a:txBody>
                    <a:bodyPr/>
                    <a:lstStyle/>
                    <a:p>
                      <a:r>
                        <a:rPr kumimoji="1" lang="ja-JP" altLang="en-US" sz="2000" dirty="0">
                          <a:solidFill>
                            <a:schemeClr val="tx1"/>
                          </a:solidFill>
                        </a:rPr>
                        <a:t>新規の製品仕様を確立する、又は既存の製品仕様を変更する権限をもつ組織。</a:t>
                      </a:r>
                      <a:endParaRPr kumimoji="1" lang="en-US" altLang="ja-JP" sz="2000" dirty="0">
                        <a:solidFill>
                          <a:schemeClr val="tx1"/>
                        </a:solidFill>
                      </a:endParaRPr>
                    </a:p>
                    <a:p>
                      <a:r>
                        <a:rPr kumimoji="1" lang="ja-JP" altLang="en-US" sz="2000" dirty="0">
                          <a:solidFill>
                            <a:schemeClr val="tx1"/>
                          </a:solidFill>
                        </a:rPr>
                        <a:t>注記　この責任は、顧客の規定した適用条件の中で、設計性能に　　ついて試験及び検証することを含む。</a:t>
                      </a:r>
                    </a:p>
                  </a:txBody>
                  <a:tcPr>
                    <a:solidFill>
                      <a:schemeClr val="bg1"/>
                    </a:solidFill>
                  </a:tcPr>
                </a:tc>
                <a:extLst>
                  <a:ext uri="{0D108BD9-81ED-4DB2-BD59-A6C34878D82A}">
                    <a16:rowId xmlns:a16="http://schemas.microsoft.com/office/drawing/2014/main" val="2938870067"/>
                  </a:ext>
                </a:extLst>
              </a:tr>
            </a:tbl>
          </a:graphicData>
        </a:graphic>
      </p:graphicFrame>
    </p:spTree>
    <p:extLst>
      <p:ext uri="{BB962C8B-B14F-4D97-AF65-F5344CB8AC3E}">
        <p14:creationId xmlns:p14="http://schemas.microsoft.com/office/powerpoint/2010/main" val="17747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62</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4191304605"/>
              </p:ext>
            </p:extLst>
          </p:nvPr>
        </p:nvGraphicFramePr>
        <p:xfrm>
          <a:off x="838200" y="1544320"/>
          <a:ext cx="10515600" cy="4812030"/>
        </p:xfrm>
        <a:graphic>
          <a:graphicData uri="http://schemas.openxmlformats.org/drawingml/2006/table">
            <a:tbl>
              <a:tblPr firstRow="1" bandRow="1">
                <a:tableStyleId>{5940675A-B579-460E-94D1-54222C63F5DA}</a:tableStyleId>
              </a:tblPr>
              <a:tblGrid>
                <a:gridCol w="2362200">
                  <a:extLst>
                    <a:ext uri="{9D8B030D-6E8A-4147-A177-3AD203B41FA5}">
                      <a16:colId xmlns:a16="http://schemas.microsoft.com/office/drawing/2014/main" val="2774261247"/>
                    </a:ext>
                  </a:extLst>
                </a:gridCol>
                <a:gridCol w="8153400">
                  <a:extLst>
                    <a:ext uri="{9D8B030D-6E8A-4147-A177-3AD203B41FA5}">
                      <a16:colId xmlns:a16="http://schemas.microsoft.com/office/drawing/2014/main" val="1093076541"/>
                    </a:ext>
                  </a:extLst>
                </a:gridCol>
              </a:tblGrid>
              <a:tr h="489821">
                <a:tc rowSpan="2">
                  <a:txBody>
                    <a:bodyPr/>
                    <a:lstStyle/>
                    <a:p>
                      <a:r>
                        <a:rPr kumimoji="1" lang="ja-JP" altLang="en-US" sz="2000" u="sng" dirty="0"/>
                        <a:t>ポカヨケ</a:t>
                      </a:r>
                    </a:p>
                  </a:txBody>
                  <a:tcPr/>
                </a:tc>
                <a:tc>
                  <a:txBody>
                    <a:bodyPr/>
                    <a:lstStyle/>
                    <a:p>
                      <a:r>
                        <a:rPr kumimoji="1" lang="ja-JP" altLang="en-US" sz="2000" dirty="0"/>
                        <a:t>不適合製品の製造を予防するための、製品及び製造工程の設計・開発。</a:t>
                      </a:r>
                    </a:p>
                  </a:txBody>
                  <a:tcPr/>
                </a:tc>
                <a:extLst>
                  <a:ext uri="{0D108BD9-81ED-4DB2-BD59-A6C34878D82A}">
                    <a16:rowId xmlns:a16="http://schemas.microsoft.com/office/drawing/2014/main" val="1171592800"/>
                  </a:ext>
                </a:extLst>
              </a:tr>
              <a:tr h="1388725">
                <a:tc vMerge="1">
                  <a:txBody>
                    <a:bodyPr/>
                    <a:lstStyle/>
                    <a:p>
                      <a:endParaRPr kumimoji="1" lang="ja-JP" altLang="en-US" sz="2000" dirty="0"/>
                    </a:p>
                  </a:txBody>
                  <a:tcPr anchor="ctr"/>
                </a:tc>
                <a:tc>
                  <a:txBody>
                    <a:bodyPr/>
                    <a:lstStyle/>
                    <a:p>
                      <a:r>
                        <a:rPr kumimoji="1" lang="ja-JP" altLang="en-US" sz="2000" dirty="0">
                          <a:solidFill>
                            <a:schemeClr val="bg1"/>
                          </a:solidFill>
                        </a:rPr>
                        <a:t>“不適合製品の製造予防”であるため、製品設計及び製造工程設計のことである。各</a:t>
                      </a:r>
                      <a:r>
                        <a:rPr kumimoji="1" lang="en-US" altLang="ja-JP" sz="2000" dirty="0">
                          <a:solidFill>
                            <a:schemeClr val="bg1"/>
                          </a:solidFill>
                        </a:rPr>
                        <a:t>FMEA</a:t>
                      </a:r>
                      <a:r>
                        <a:rPr kumimoji="1" lang="ja-JP" altLang="en-US" sz="2000" dirty="0">
                          <a:solidFill>
                            <a:schemeClr val="bg1"/>
                          </a:solidFill>
                        </a:rPr>
                        <a:t>のアウトプットとして明確になる。</a:t>
                      </a:r>
                      <a:endParaRPr kumimoji="1" lang="en-US" altLang="ja-JP" sz="2000" dirty="0">
                        <a:solidFill>
                          <a:schemeClr val="bg1"/>
                        </a:solidFill>
                      </a:endParaRPr>
                    </a:p>
                    <a:p>
                      <a:r>
                        <a:rPr kumimoji="1" lang="ja-JP" altLang="en-US" sz="2000" dirty="0">
                          <a:solidFill>
                            <a:schemeClr val="bg1"/>
                          </a:solidFill>
                        </a:rPr>
                        <a:t>「発生予防」が原則。</a:t>
                      </a:r>
                      <a:r>
                        <a:rPr kumimoji="1" lang="en-US" altLang="ja-JP" sz="2000" dirty="0">
                          <a:solidFill>
                            <a:schemeClr val="bg1"/>
                          </a:solidFill>
                        </a:rPr>
                        <a:t>APQP</a:t>
                      </a:r>
                      <a:r>
                        <a:rPr kumimoji="1" lang="ja-JP" altLang="en-US" sz="2000" dirty="0">
                          <a:solidFill>
                            <a:schemeClr val="bg1"/>
                          </a:solidFill>
                        </a:rPr>
                        <a:t>マニュアルでは、エラー（発生）防止（</a:t>
                      </a:r>
                      <a:r>
                        <a:rPr kumimoji="1" lang="en-US" altLang="ja-JP" sz="2000" dirty="0">
                          <a:solidFill>
                            <a:schemeClr val="bg1"/>
                          </a:solidFill>
                        </a:rPr>
                        <a:t>error proofing</a:t>
                      </a:r>
                      <a:r>
                        <a:rPr kumimoji="1" lang="ja-JP" altLang="en-US" sz="2000" dirty="0">
                          <a:solidFill>
                            <a:schemeClr val="bg1"/>
                          </a:solidFill>
                        </a:rPr>
                        <a:t>）の他にミス（流出）防止法（</a:t>
                      </a:r>
                      <a:r>
                        <a:rPr kumimoji="1" lang="en-US" altLang="ja-JP" sz="2000" dirty="0">
                          <a:solidFill>
                            <a:schemeClr val="bg1"/>
                          </a:solidFill>
                        </a:rPr>
                        <a:t>mistake proofing</a:t>
                      </a:r>
                      <a:r>
                        <a:rPr kumimoji="1" lang="ja-JP" altLang="en-US" sz="2000" dirty="0">
                          <a:solidFill>
                            <a:schemeClr val="bg1"/>
                          </a:solidFill>
                        </a:rPr>
                        <a:t>）も。</a:t>
                      </a:r>
                    </a:p>
                  </a:txBody>
                  <a:tcPr>
                    <a:solidFill>
                      <a:schemeClr val="tx2"/>
                    </a:solidFill>
                  </a:tcPr>
                </a:tc>
                <a:extLst>
                  <a:ext uri="{0D108BD9-81ED-4DB2-BD59-A6C34878D82A}">
                    <a16:rowId xmlns:a16="http://schemas.microsoft.com/office/drawing/2014/main" val="431852989"/>
                  </a:ext>
                </a:extLst>
              </a:tr>
              <a:tr h="1124911">
                <a:tc rowSpan="2">
                  <a:txBody>
                    <a:bodyPr/>
                    <a:lstStyle/>
                    <a:p>
                      <a:r>
                        <a:rPr kumimoji="1" lang="ja-JP" altLang="en-US" sz="2000" dirty="0"/>
                        <a:t>上申プロセス</a:t>
                      </a:r>
                    </a:p>
                  </a:txBody>
                  <a:tcPr/>
                </a:tc>
                <a:tc>
                  <a:txBody>
                    <a:bodyPr/>
                    <a:lstStyle/>
                    <a:p>
                      <a:r>
                        <a:rPr kumimoji="1" lang="ja-JP" altLang="en-US" sz="2000" dirty="0"/>
                        <a:t>組織内のある問題に対して、適切な要員がその状況に対応し、解決策を監視できるよう、その問題を指摘する又は提起するために用いられるプロセス。</a:t>
                      </a:r>
                    </a:p>
                  </a:txBody>
                  <a:tcPr/>
                </a:tc>
                <a:extLst>
                  <a:ext uri="{0D108BD9-81ED-4DB2-BD59-A6C34878D82A}">
                    <a16:rowId xmlns:a16="http://schemas.microsoft.com/office/drawing/2014/main" val="268142330"/>
                  </a:ext>
                </a:extLst>
              </a:tr>
              <a:tr h="742807">
                <a:tc vMerge="1">
                  <a:txBody>
                    <a:bodyPr/>
                    <a:lstStyle/>
                    <a:p>
                      <a:endParaRPr kumimoji="1" lang="ja-JP" altLang="en-US" sz="2000" dirty="0"/>
                    </a:p>
                  </a:txBody>
                  <a:tcPr/>
                </a:tc>
                <a:tc>
                  <a:txBody>
                    <a:bodyPr/>
                    <a:lstStyle/>
                    <a:p>
                      <a:r>
                        <a:rPr kumimoji="1" lang="ja-JP" altLang="en-US" sz="2000" dirty="0">
                          <a:solidFill>
                            <a:schemeClr val="bg1"/>
                          </a:solidFill>
                        </a:rPr>
                        <a:t>一般に“打上げ”などと呼ばれ、次の箇条に登場する。</a:t>
                      </a:r>
                      <a:endParaRPr kumimoji="1" lang="en-US" altLang="ja-JP" sz="2000" dirty="0">
                        <a:solidFill>
                          <a:schemeClr val="bg1"/>
                        </a:solidFill>
                      </a:endParaRPr>
                    </a:p>
                    <a:p>
                      <a:r>
                        <a:rPr kumimoji="1" lang="en-US" altLang="ja-JP" sz="2000" dirty="0">
                          <a:solidFill>
                            <a:schemeClr val="bg1"/>
                          </a:solidFill>
                        </a:rPr>
                        <a:t>4.4.1.2</a:t>
                      </a:r>
                      <a:r>
                        <a:rPr kumimoji="1" lang="ja-JP" altLang="en-US" sz="2000" dirty="0">
                          <a:solidFill>
                            <a:schemeClr val="bg1"/>
                          </a:solidFill>
                        </a:rPr>
                        <a:t>　製品安全　　</a:t>
                      </a:r>
                      <a:r>
                        <a:rPr kumimoji="1" lang="en-US" altLang="ja-JP" sz="2000" dirty="0">
                          <a:solidFill>
                            <a:schemeClr val="bg1"/>
                          </a:solidFill>
                        </a:rPr>
                        <a:t>9.1.1.1</a:t>
                      </a:r>
                      <a:r>
                        <a:rPr kumimoji="1" lang="ja-JP" altLang="en-US" sz="2000" dirty="0">
                          <a:solidFill>
                            <a:schemeClr val="bg1"/>
                          </a:solidFill>
                        </a:rPr>
                        <a:t>　製造工程の監視及び測定</a:t>
                      </a:r>
                    </a:p>
                  </a:txBody>
                  <a:tcPr>
                    <a:solidFill>
                      <a:schemeClr val="tx2"/>
                    </a:solidFill>
                  </a:tcPr>
                </a:tc>
                <a:extLst>
                  <a:ext uri="{0D108BD9-81ED-4DB2-BD59-A6C34878D82A}">
                    <a16:rowId xmlns:a16="http://schemas.microsoft.com/office/drawing/2014/main" val="2875462728"/>
                  </a:ext>
                </a:extLst>
              </a:tr>
              <a:tr h="1065766">
                <a:tc>
                  <a:txBody>
                    <a:bodyPr/>
                    <a:lstStyle/>
                    <a:p>
                      <a:r>
                        <a:rPr kumimoji="1" lang="ja-JP" altLang="en-US" sz="2000" dirty="0"/>
                        <a:t>故障の木解析</a:t>
                      </a:r>
                      <a:endParaRPr kumimoji="1" lang="en-US" altLang="ja-JP" sz="2000" dirty="0"/>
                    </a:p>
                    <a:p>
                      <a:r>
                        <a:rPr kumimoji="1" lang="ja-JP" altLang="en-US" sz="2000" dirty="0"/>
                        <a:t>（</a:t>
                      </a:r>
                      <a:r>
                        <a:rPr kumimoji="1" lang="en-US" altLang="ja-JP" sz="2000" dirty="0"/>
                        <a:t>FTA</a:t>
                      </a:r>
                      <a:r>
                        <a:rPr kumimoji="1" lang="ja-JP" altLang="en-US" sz="2000" dirty="0"/>
                        <a:t>）</a:t>
                      </a:r>
                    </a:p>
                  </a:txBody>
                  <a:tcPr/>
                </a:tc>
                <a:tc>
                  <a:txBody>
                    <a:bodyPr/>
                    <a:lstStyle/>
                    <a:p>
                      <a:r>
                        <a:rPr kumimoji="1" lang="ja-JP" altLang="en-US" sz="2000" dirty="0">
                          <a:solidFill>
                            <a:schemeClr val="tx1"/>
                          </a:solidFill>
                        </a:rPr>
                        <a:t>システムの望ましくない状態を解析する演繹（えんえき）故障解析の方法論。故障の木解析は、システム全体の論理図を創出することによって、故障、サブシステム及び冗長設計要素との関係を描く。</a:t>
                      </a:r>
                    </a:p>
                  </a:txBody>
                  <a:tcPr>
                    <a:noFill/>
                  </a:tcPr>
                </a:tc>
                <a:extLst>
                  <a:ext uri="{0D108BD9-81ED-4DB2-BD59-A6C34878D82A}">
                    <a16:rowId xmlns:a16="http://schemas.microsoft.com/office/drawing/2014/main" val="3609237026"/>
                  </a:ext>
                </a:extLst>
              </a:tr>
            </a:tbl>
          </a:graphicData>
        </a:graphic>
      </p:graphicFrame>
    </p:spTree>
    <p:extLst>
      <p:ext uri="{BB962C8B-B14F-4D97-AF65-F5344CB8AC3E}">
        <p14:creationId xmlns:p14="http://schemas.microsoft.com/office/powerpoint/2010/main" val="8505507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63</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3024094577"/>
              </p:ext>
            </p:extLst>
          </p:nvPr>
        </p:nvGraphicFramePr>
        <p:xfrm>
          <a:off x="838200" y="1544321"/>
          <a:ext cx="10515600" cy="4690124"/>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rowSpan="2">
                  <a:txBody>
                    <a:bodyPr/>
                    <a:lstStyle/>
                    <a:p>
                      <a:r>
                        <a:rPr kumimoji="1" lang="ja-JP" altLang="en-US" sz="2000" u="sng" dirty="0"/>
                        <a:t>試験所</a:t>
                      </a:r>
                    </a:p>
                  </a:txBody>
                  <a:tcPr/>
                </a:tc>
                <a:tc>
                  <a:txBody>
                    <a:bodyPr/>
                    <a:lstStyle/>
                    <a:p>
                      <a:r>
                        <a:rPr kumimoji="1" lang="ja-JP" altLang="en-US" sz="2000" dirty="0"/>
                        <a:t>化学、金属、寸法、物理、電気又は信頼性の試験を含めてよいが、それに限定されない、検査、試験又は校正の施設。</a:t>
                      </a:r>
                      <a:endParaRPr kumimoji="1" lang="en-US" altLang="ja-JP" sz="2000" dirty="0"/>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通常は品証部門の検査室などが該当する。但し、工程内検査は対象外。内部及び外部があり得る。</a:t>
                      </a:r>
                    </a:p>
                  </a:txBody>
                  <a:tcPr>
                    <a:solidFill>
                      <a:schemeClr val="tx2"/>
                    </a:solidFill>
                  </a:tcPr>
                </a:tc>
                <a:extLst>
                  <a:ext uri="{0D108BD9-81ED-4DB2-BD59-A6C34878D82A}">
                    <a16:rowId xmlns:a16="http://schemas.microsoft.com/office/drawing/2014/main" val="431852989"/>
                  </a:ext>
                </a:extLst>
              </a:tr>
              <a:tr h="1061659">
                <a:tc>
                  <a:txBody>
                    <a:bodyPr/>
                    <a:lstStyle/>
                    <a:p>
                      <a:r>
                        <a:rPr kumimoji="1" lang="ja-JP" altLang="en-US" sz="2000" u="sng" dirty="0"/>
                        <a:t>試験所適用範囲</a:t>
                      </a:r>
                    </a:p>
                  </a:txBody>
                  <a:tcPr/>
                </a:tc>
                <a:tc>
                  <a:txBody>
                    <a:bodyPr/>
                    <a:lstStyle/>
                    <a:p>
                      <a:r>
                        <a:rPr kumimoji="1" lang="ja-JP" altLang="en-US" sz="2000" dirty="0"/>
                        <a:t>次の事項を含む管理文書。</a:t>
                      </a:r>
                      <a:endParaRPr kumimoji="1" lang="en-US" altLang="ja-JP" sz="2000" dirty="0"/>
                    </a:p>
                    <a:p>
                      <a:r>
                        <a:rPr kumimoji="1" lang="ja-JP" altLang="en-US" sz="2000" dirty="0"/>
                        <a:t>・試験所が実行するために適格性確認された、特定の試験、評価及び校正</a:t>
                      </a:r>
                      <a:endParaRPr kumimoji="1" lang="en-US" altLang="ja-JP" sz="2000" dirty="0"/>
                    </a:p>
                    <a:p>
                      <a:r>
                        <a:rPr kumimoji="1" lang="ja-JP" altLang="en-US" sz="2000" dirty="0"/>
                        <a:t>・上記を実行するために用いる設備のリスト</a:t>
                      </a:r>
                      <a:endParaRPr kumimoji="1" lang="en-US" altLang="ja-JP" sz="2000" dirty="0"/>
                    </a:p>
                    <a:p>
                      <a:r>
                        <a:rPr kumimoji="1" lang="ja-JP" altLang="en-US" sz="2000" dirty="0"/>
                        <a:t>・上記を実行する方法及び規格のリスト</a:t>
                      </a:r>
                    </a:p>
                  </a:txBody>
                  <a:tcPr/>
                </a:tc>
                <a:extLst>
                  <a:ext uri="{0D108BD9-81ED-4DB2-BD59-A6C34878D82A}">
                    <a16:rowId xmlns:a16="http://schemas.microsoft.com/office/drawing/2014/main" val="268142330"/>
                  </a:ext>
                </a:extLst>
              </a:tr>
              <a:tr h="597725">
                <a:tc>
                  <a:txBody>
                    <a:bodyPr/>
                    <a:lstStyle/>
                    <a:p>
                      <a:r>
                        <a:rPr kumimoji="1" lang="ja-JP" altLang="en-US" sz="2000" dirty="0"/>
                        <a:t>製造</a:t>
                      </a:r>
                    </a:p>
                  </a:txBody>
                  <a:tcPr/>
                </a:tc>
                <a:tc>
                  <a:txBody>
                    <a:bodyPr/>
                    <a:lstStyle/>
                    <a:p>
                      <a:r>
                        <a:rPr kumimoji="1" lang="ja-JP" altLang="en-US" sz="2000" dirty="0">
                          <a:solidFill>
                            <a:schemeClr val="tx1"/>
                          </a:solidFill>
                        </a:rPr>
                        <a:t>次に示すものを製作する、又は仕上げるプロセス。</a:t>
                      </a:r>
                      <a:endParaRPr kumimoji="1" lang="en-US" altLang="ja-JP" sz="2000" dirty="0">
                        <a:solidFill>
                          <a:schemeClr val="tx1"/>
                        </a:solidFill>
                      </a:endParaRPr>
                    </a:p>
                    <a:p>
                      <a:r>
                        <a:rPr kumimoji="1" lang="ja-JP" altLang="en-US" sz="2000" dirty="0">
                          <a:solidFill>
                            <a:schemeClr val="tx1"/>
                          </a:solidFill>
                        </a:rPr>
                        <a:t>・生産材料</a:t>
                      </a:r>
                      <a:endParaRPr kumimoji="1" lang="en-US" altLang="ja-JP" sz="2000" dirty="0">
                        <a:solidFill>
                          <a:schemeClr val="tx1"/>
                        </a:solidFill>
                      </a:endParaRPr>
                    </a:p>
                    <a:p>
                      <a:r>
                        <a:rPr kumimoji="1" lang="ja-JP" altLang="en-US" sz="2000" dirty="0">
                          <a:solidFill>
                            <a:schemeClr val="tx1"/>
                          </a:solidFill>
                        </a:rPr>
                        <a:t>・生産部品若しくはサービス部品</a:t>
                      </a:r>
                      <a:endParaRPr kumimoji="1" lang="en-US" altLang="ja-JP" sz="2000" dirty="0">
                        <a:solidFill>
                          <a:schemeClr val="tx1"/>
                        </a:solidFill>
                      </a:endParaRPr>
                    </a:p>
                    <a:p>
                      <a:r>
                        <a:rPr kumimoji="1" lang="ja-JP" altLang="en-US" sz="2000" dirty="0">
                          <a:solidFill>
                            <a:schemeClr val="tx1"/>
                          </a:solidFill>
                        </a:rPr>
                        <a:t>・組立製品</a:t>
                      </a:r>
                      <a:endParaRPr kumimoji="1" lang="en-US" altLang="ja-JP" sz="2000" dirty="0">
                        <a:solidFill>
                          <a:schemeClr val="tx1"/>
                        </a:solidFill>
                      </a:endParaRPr>
                    </a:p>
                    <a:p>
                      <a:r>
                        <a:rPr kumimoji="1" lang="ja-JP" altLang="en-US" sz="2000" dirty="0">
                          <a:solidFill>
                            <a:schemeClr val="tx1"/>
                          </a:solidFill>
                        </a:rPr>
                        <a:t>・熱処理、溶接、塗装、鍍金、若しくは他の仕上げ作業</a:t>
                      </a:r>
                    </a:p>
                  </a:txBody>
                  <a:tcPr>
                    <a:noFill/>
                  </a:tcPr>
                </a:tc>
                <a:extLst>
                  <a:ext uri="{0D108BD9-81ED-4DB2-BD59-A6C34878D82A}">
                    <a16:rowId xmlns:a16="http://schemas.microsoft.com/office/drawing/2014/main" val="3609237026"/>
                  </a:ext>
                </a:extLst>
              </a:tr>
            </a:tbl>
          </a:graphicData>
        </a:graphic>
      </p:graphicFrame>
    </p:spTree>
    <p:extLst>
      <p:ext uri="{BB962C8B-B14F-4D97-AF65-F5344CB8AC3E}">
        <p14:creationId xmlns:p14="http://schemas.microsoft.com/office/powerpoint/2010/main" val="40716233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64</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1578501819"/>
              </p:ext>
            </p:extLst>
          </p:nvPr>
        </p:nvGraphicFramePr>
        <p:xfrm>
          <a:off x="838200" y="1544321"/>
          <a:ext cx="10515600" cy="4389731"/>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rowSpan="2">
                  <a:txBody>
                    <a:bodyPr/>
                    <a:lstStyle/>
                    <a:p>
                      <a:r>
                        <a:rPr kumimoji="1" lang="ja-JP" altLang="en-US" sz="2000" u="sng" dirty="0"/>
                        <a:t>製造フィージビリティ</a:t>
                      </a:r>
                    </a:p>
                  </a:txBody>
                  <a:tcPr/>
                </a:tc>
                <a:tc>
                  <a:txBody>
                    <a:bodyPr/>
                    <a:lstStyle/>
                    <a:p>
                      <a:r>
                        <a:rPr kumimoji="1" lang="ja-JP" altLang="en-US" sz="2000" dirty="0"/>
                        <a:t>製品を、顧客要求事項を満たすように製造することが技術的に実現可能か否かを判定するための、提案されたプロジェクトの分析及び評価。これには、次の事項（該当する場合には、必ず）を含む。しかし、それに限定されない：見積りコスト内で、並びに必要な資源、施設、治工具、生産能力、ソフトウェア及び必要な技能をもつ要員が、支援部門を含めて、提供できるか又は提供できるように計画されているかどうか。</a:t>
                      </a:r>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顧客からの引合いに対して、それが実現可能か否かを判断すること。ヒト、モノ、カネを考慮しなければならない。</a:t>
                      </a:r>
                    </a:p>
                  </a:txBody>
                  <a:tcPr>
                    <a:solidFill>
                      <a:schemeClr val="tx2"/>
                    </a:solidFill>
                  </a:tcPr>
                </a:tc>
                <a:extLst>
                  <a:ext uri="{0D108BD9-81ED-4DB2-BD59-A6C34878D82A}">
                    <a16:rowId xmlns:a16="http://schemas.microsoft.com/office/drawing/2014/main" val="431852989"/>
                  </a:ext>
                </a:extLst>
              </a:tr>
              <a:tr h="762611">
                <a:tc rowSpan="2">
                  <a:txBody>
                    <a:bodyPr/>
                    <a:lstStyle/>
                    <a:p>
                      <a:r>
                        <a:rPr kumimoji="1" lang="ja-JP" altLang="en-US" sz="2000" dirty="0"/>
                        <a:t>製造サービス</a:t>
                      </a:r>
                    </a:p>
                  </a:txBody>
                  <a:tcPr/>
                </a:tc>
                <a:tc>
                  <a:txBody>
                    <a:bodyPr/>
                    <a:lstStyle/>
                    <a:p>
                      <a:r>
                        <a:rPr kumimoji="1" lang="ja-JP" altLang="en-US" sz="2000" dirty="0"/>
                        <a:t>構成部品及び組立製品に対して、試験、製造、配給及び修理サービス提供を行う会社。</a:t>
                      </a:r>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アウトソースサービスのこと。（試験所、外注加工先、運送会社など）</a:t>
                      </a:r>
                    </a:p>
                  </a:txBody>
                  <a:tcPr>
                    <a:solidFill>
                      <a:schemeClr val="tx2"/>
                    </a:solidFill>
                  </a:tcPr>
                </a:tc>
                <a:extLst>
                  <a:ext uri="{0D108BD9-81ED-4DB2-BD59-A6C34878D82A}">
                    <a16:rowId xmlns:a16="http://schemas.microsoft.com/office/drawing/2014/main" val="2875462728"/>
                  </a:ext>
                </a:extLst>
              </a:tr>
            </a:tbl>
          </a:graphicData>
        </a:graphic>
      </p:graphicFrame>
    </p:spTree>
    <p:extLst>
      <p:ext uri="{BB962C8B-B14F-4D97-AF65-F5344CB8AC3E}">
        <p14:creationId xmlns:p14="http://schemas.microsoft.com/office/powerpoint/2010/main" val="21954867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65</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906889393"/>
              </p:ext>
            </p:extLst>
          </p:nvPr>
        </p:nvGraphicFramePr>
        <p:xfrm>
          <a:off x="838200" y="1544321"/>
          <a:ext cx="10515600" cy="4328160"/>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rowSpan="2">
                  <a:txBody>
                    <a:bodyPr/>
                    <a:lstStyle/>
                    <a:p>
                      <a:r>
                        <a:rPr kumimoji="1" lang="ja-JP" altLang="en-US" sz="2000" u="sng" dirty="0"/>
                        <a:t>部門横断的アプローチ</a:t>
                      </a:r>
                    </a:p>
                  </a:txBody>
                  <a:tcPr/>
                </a:tc>
                <a:tc>
                  <a:txBody>
                    <a:bodyPr/>
                    <a:lstStyle/>
                    <a:p>
                      <a:r>
                        <a:rPr kumimoji="1" lang="ja-JP" altLang="en-US" sz="2000" dirty="0"/>
                        <a:t>メンバーが組織からの要員並びに顧客及び供給者の代表を含めてもよいチームによって、プロセスがどのように管理されるかに影響を及ぼす可能性がある全ての利害関係者からインプットを得る方法。チームメンバーは組織の内部又は外部の要員でもよい。既存のチーム又は事情によっては臨時のチームを使用してもよい。チームへのインプットは組織及び顧客の両方のインプットを含めてもよい。</a:t>
                      </a:r>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文殊の知恵というように衆知を結集すること。製造フィージビリティ、</a:t>
                      </a:r>
                      <a:r>
                        <a:rPr kumimoji="1" lang="en-US" altLang="ja-JP" sz="2000" dirty="0">
                          <a:solidFill>
                            <a:schemeClr val="bg1"/>
                          </a:solidFill>
                        </a:rPr>
                        <a:t>FMEA</a:t>
                      </a:r>
                      <a:r>
                        <a:rPr kumimoji="1" lang="ja-JP" altLang="en-US" sz="2000" dirty="0" err="1">
                          <a:solidFill>
                            <a:schemeClr val="bg1"/>
                          </a:solidFill>
                        </a:rPr>
                        <a:t>、</a:t>
                      </a:r>
                      <a:r>
                        <a:rPr kumimoji="1" lang="en-US" altLang="ja-JP" sz="2000" dirty="0">
                          <a:solidFill>
                            <a:schemeClr val="bg1"/>
                          </a:solidFill>
                        </a:rPr>
                        <a:t>DR</a:t>
                      </a:r>
                      <a:r>
                        <a:rPr kumimoji="1" lang="ja-JP" altLang="en-US" sz="2000" dirty="0">
                          <a:solidFill>
                            <a:schemeClr val="bg1"/>
                          </a:solidFill>
                        </a:rPr>
                        <a:t>などが代表的。</a:t>
                      </a:r>
                    </a:p>
                  </a:txBody>
                  <a:tcPr>
                    <a:solidFill>
                      <a:schemeClr val="tx2"/>
                    </a:solidFill>
                  </a:tcPr>
                </a:tc>
                <a:extLst>
                  <a:ext uri="{0D108BD9-81ED-4DB2-BD59-A6C34878D82A}">
                    <a16:rowId xmlns:a16="http://schemas.microsoft.com/office/drawing/2014/main" val="431852989"/>
                  </a:ext>
                </a:extLst>
              </a:tr>
              <a:tr h="762611">
                <a:tc rowSpan="2">
                  <a:txBody>
                    <a:bodyPr/>
                    <a:lstStyle/>
                    <a:p>
                      <a:r>
                        <a:rPr kumimoji="1" lang="ja-JP" altLang="en-US" sz="2000" dirty="0"/>
                        <a:t>不具合なし</a:t>
                      </a:r>
                    </a:p>
                  </a:txBody>
                  <a:tcPr/>
                </a:tc>
                <a:tc>
                  <a:txBody>
                    <a:bodyPr/>
                    <a:lstStyle/>
                    <a:p>
                      <a:r>
                        <a:rPr kumimoji="1" lang="ja-JP" altLang="en-US" sz="2000" dirty="0"/>
                        <a:t>サービス案件が発生したときに交換され、車両又は部品の製造業者によって分析された際に、全ての“良品”の要求事項を満たす部品に適用される呼称</a:t>
                      </a:r>
                      <a:r>
                        <a:rPr kumimoji="1" lang="en-US" altLang="ja-JP" sz="2000" dirty="0"/>
                        <a:t>【</a:t>
                      </a:r>
                      <a:r>
                        <a:rPr kumimoji="1" lang="ja-JP" altLang="en-US" sz="2000" dirty="0"/>
                        <a:t>“故障なし”“不具合発見なし”とも呼ばれる</a:t>
                      </a:r>
                      <a:r>
                        <a:rPr kumimoji="1" lang="en-US" altLang="ja-JP" sz="2000" dirty="0"/>
                        <a:t>】</a:t>
                      </a:r>
                      <a:r>
                        <a:rPr kumimoji="1" lang="ja-JP" altLang="en-US" sz="2000" dirty="0" err="1"/>
                        <a:t>。</a:t>
                      </a:r>
                      <a:endParaRPr kumimoji="1" lang="ja-JP" altLang="en-US" sz="2000" dirty="0"/>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市場で発生した不具合が再現しないこと。</a:t>
                      </a:r>
                      <a:endParaRPr kumimoji="1" lang="en-US" altLang="ja-JP" sz="2000" dirty="0">
                        <a:solidFill>
                          <a:schemeClr val="bg1"/>
                        </a:solidFill>
                      </a:endParaRPr>
                    </a:p>
                    <a:p>
                      <a:r>
                        <a:rPr kumimoji="1" lang="en-US" altLang="ja-JP" sz="2000" dirty="0">
                          <a:solidFill>
                            <a:schemeClr val="bg1"/>
                          </a:solidFill>
                        </a:rPr>
                        <a:t>10.2.5</a:t>
                      </a:r>
                      <a:r>
                        <a:rPr kumimoji="1" lang="ja-JP" altLang="en-US" sz="2000" dirty="0">
                          <a:solidFill>
                            <a:schemeClr val="bg1"/>
                          </a:solidFill>
                        </a:rPr>
                        <a:t>　補償管理システム</a:t>
                      </a:r>
                    </a:p>
                  </a:txBody>
                  <a:tcPr>
                    <a:solidFill>
                      <a:schemeClr val="tx2"/>
                    </a:solidFill>
                  </a:tcPr>
                </a:tc>
                <a:extLst>
                  <a:ext uri="{0D108BD9-81ED-4DB2-BD59-A6C34878D82A}">
                    <a16:rowId xmlns:a16="http://schemas.microsoft.com/office/drawing/2014/main" val="2875462728"/>
                  </a:ext>
                </a:extLst>
              </a:tr>
            </a:tbl>
          </a:graphicData>
        </a:graphic>
      </p:graphicFrame>
    </p:spTree>
    <p:extLst>
      <p:ext uri="{BB962C8B-B14F-4D97-AF65-F5344CB8AC3E}">
        <p14:creationId xmlns:p14="http://schemas.microsoft.com/office/powerpoint/2010/main" val="32880616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66</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627799583"/>
              </p:ext>
            </p:extLst>
          </p:nvPr>
        </p:nvGraphicFramePr>
        <p:xfrm>
          <a:off x="838200" y="1544321"/>
          <a:ext cx="10515600" cy="4212970"/>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493799">
                <a:tc>
                  <a:txBody>
                    <a:bodyPr/>
                    <a:lstStyle/>
                    <a:p>
                      <a:r>
                        <a:rPr kumimoji="1" lang="ja-JP" altLang="en-US" sz="2000" dirty="0"/>
                        <a:t>アウトソースしたプロセス</a:t>
                      </a:r>
                    </a:p>
                  </a:txBody>
                  <a:tcPr/>
                </a:tc>
                <a:tc>
                  <a:txBody>
                    <a:bodyPr/>
                    <a:lstStyle/>
                    <a:p>
                      <a:r>
                        <a:rPr kumimoji="1" lang="ja-JP" altLang="en-US" sz="2000" dirty="0"/>
                        <a:t>外部組織によって実行される、組織の機能（又はプロセス）の一部。</a:t>
                      </a:r>
                    </a:p>
                  </a:txBody>
                  <a:tcPr/>
                </a:tc>
                <a:extLst>
                  <a:ext uri="{0D108BD9-81ED-4DB2-BD59-A6C34878D82A}">
                    <a16:rowId xmlns:a16="http://schemas.microsoft.com/office/drawing/2014/main" val="1171592800"/>
                  </a:ext>
                </a:extLst>
              </a:tr>
              <a:tr h="762611">
                <a:tc rowSpan="2">
                  <a:txBody>
                    <a:bodyPr/>
                    <a:lstStyle/>
                    <a:p>
                      <a:r>
                        <a:rPr kumimoji="1" lang="ja-JP" altLang="en-US" sz="2000" dirty="0"/>
                        <a:t>定期的オーバーホール</a:t>
                      </a:r>
                    </a:p>
                  </a:txBody>
                  <a:tcPr/>
                </a:tc>
                <a:tc>
                  <a:txBody>
                    <a:bodyPr/>
                    <a:lstStyle/>
                    <a:p>
                      <a:r>
                        <a:rPr kumimoji="1" lang="ja-JP" altLang="en-US" sz="2000" dirty="0"/>
                        <a:t>重大な予期しない故障を予防するために、故障又は中断の経緯に基づいて、設備の一部、又は設備のサブシステムは事前に操業を中止し、分解し、修理し、部品交換し、再度組み立て、再び操業に戻す、保全の方法論。</a:t>
                      </a:r>
                    </a:p>
                  </a:txBody>
                  <a:tcPr/>
                </a:tc>
                <a:extLst>
                  <a:ext uri="{0D108BD9-81ED-4DB2-BD59-A6C34878D82A}">
                    <a16:rowId xmlns:a16="http://schemas.microsoft.com/office/drawing/2014/main" val="268142330"/>
                  </a:ext>
                </a:extLst>
              </a:tr>
              <a:tr h="597725">
                <a:tc vMerge="1">
                  <a:txBody>
                    <a:bodyPr/>
                    <a:lstStyle/>
                    <a:p>
                      <a:endParaRPr kumimoji="1" lang="ja-JP" altLang="en-US" sz="2000" dirty="0"/>
                    </a:p>
                  </a:txBody>
                  <a:tcPr/>
                </a:tc>
                <a:tc>
                  <a:txBody>
                    <a:bodyPr/>
                    <a:lstStyle/>
                    <a:p>
                      <a:r>
                        <a:rPr kumimoji="1" lang="en-US" altLang="ja-JP" sz="2000" dirty="0">
                          <a:solidFill>
                            <a:schemeClr val="bg1"/>
                          </a:solidFill>
                        </a:rPr>
                        <a:t>TPM</a:t>
                      </a:r>
                      <a:r>
                        <a:rPr kumimoji="1" lang="ja-JP" altLang="en-US" sz="2000" dirty="0">
                          <a:solidFill>
                            <a:schemeClr val="bg1"/>
                          </a:solidFill>
                        </a:rPr>
                        <a:t>の一環として</a:t>
                      </a:r>
                      <a:r>
                        <a:rPr kumimoji="1" lang="en-US" altLang="ja-JP" sz="2000" dirty="0">
                          <a:solidFill>
                            <a:schemeClr val="bg1"/>
                          </a:solidFill>
                        </a:rPr>
                        <a:t>8.5.1.5</a:t>
                      </a:r>
                      <a:r>
                        <a:rPr kumimoji="1" lang="ja-JP" altLang="en-US" sz="2000" dirty="0">
                          <a:solidFill>
                            <a:schemeClr val="bg1"/>
                          </a:solidFill>
                        </a:rPr>
                        <a:t>に登場する。</a:t>
                      </a:r>
                      <a:endParaRPr kumimoji="1" lang="en-US" altLang="ja-JP" sz="2000" dirty="0">
                        <a:solidFill>
                          <a:schemeClr val="bg1"/>
                        </a:solidFill>
                      </a:endParaRPr>
                    </a:p>
                  </a:txBody>
                  <a:tcPr>
                    <a:solidFill>
                      <a:schemeClr val="tx2"/>
                    </a:solidFill>
                  </a:tcPr>
                </a:tc>
                <a:extLst>
                  <a:ext uri="{0D108BD9-81ED-4DB2-BD59-A6C34878D82A}">
                    <a16:rowId xmlns:a16="http://schemas.microsoft.com/office/drawing/2014/main" val="2875462728"/>
                  </a:ext>
                </a:extLst>
              </a:tr>
              <a:tr h="597725">
                <a:tc rowSpan="2">
                  <a:txBody>
                    <a:bodyPr/>
                    <a:lstStyle/>
                    <a:p>
                      <a:r>
                        <a:rPr kumimoji="1" lang="ja-JP" altLang="en-US" sz="2000" u="sng" dirty="0"/>
                        <a:t>予知保全</a:t>
                      </a:r>
                    </a:p>
                  </a:txBody>
                  <a:tcPr/>
                </a:tc>
                <a:tc>
                  <a:txBody>
                    <a:bodyPr/>
                    <a:lstStyle/>
                    <a:p>
                      <a:r>
                        <a:rPr kumimoji="1" lang="ja-JP" altLang="en-US" sz="2000" dirty="0">
                          <a:solidFill>
                            <a:schemeClr val="tx1"/>
                          </a:solidFill>
                        </a:rPr>
                        <a:t>いつ保全を実行すべきかを予測するために、定期的又は継続的に設備条件を監視することによって、使用している設備の条件を評価する、方法及び一連の手法。</a:t>
                      </a:r>
                    </a:p>
                  </a:txBody>
                  <a:tcPr>
                    <a:noFill/>
                  </a:tcPr>
                </a:tc>
                <a:extLst>
                  <a:ext uri="{0D108BD9-81ED-4DB2-BD59-A6C34878D82A}">
                    <a16:rowId xmlns:a16="http://schemas.microsoft.com/office/drawing/2014/main" val="791664767"/>
                  </a:ext>
                </a:extLst>
              </a:tr>
              <a:tr h="597725">
                <a:tc vMerge="1">
                  <a:txBody>
                    <a:bodyPr/>
                    <a:lstStyle/>
                    <a:p>
                      <a:endParaRPr kumimoji="1" lang="ja-JP" altLang="en-US" sz="2000" dirty="0"/>
                    </a:p>
                  </a:txBody>
                  <a:tcPr/>
                </a:tc>
                <a:tc>
                  <a:txBody>
                    <a:bodyPr/>
                    <a:lstStyle/>
                    <a:p>
                      <a:r>
                        <a:rPr kumimoji="1" lang="ja-JP" altLang="en-US" sz="2000" dirty="0">
                          <a:solidFill>
                            <a:schemeClr val="bg1"/>
                          </a:solidFill>
                        </a:rPr>
                        <a:t>計画的な予防保全ではなく、効果的な“予知保全”への転換。</a:t>
                      </a:r>
                    </a:p>
                  </a:txBody>
                  <a:tcPr>
                    <a:solidFill>
                      <a:schemeClr val="tx2"/>
                    </a:solidFill>
                  </a:tcPr>
                </a:tc>
                <a:extLst>
                  <a:ext uri="{0D108BD9-81ED-4DB2-BD59-A6C34878D82A}">
                    <a16:rowId xmlns:a16="http://schemas.microsoft.com/office/drawing/2014/main" val="284616966"/>
                  </a:ext>
                </a:extLst>
              </a:tr>
            </a:tbl>
          </a:graphicData>
        </a:graphic>
      </p:graphicFrame>
    </p:spTree>
    <p:extLst>
      <p:ext uri="{BB962C8B-B14F-4D97-AF65-F5344CB8AC3E}">
        <p14:creationId xmlns:p14="http://schemas.microsoft.com/office/powerpoint/2010/main" val="2303244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67</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170984080"/>
              </p:ext>
            </p:extLst>
          </p:nvPr>
        </p:nvGraphicFramePr>
        <p:xfrm>
          <a:off x="838200" y="1544320"/>
          <a:ext cx="10515600" cy="4812030"/>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1070608">
                <a:tc rowSpan="2">
                  <a:txBody>
                    <a:bodyPr/>
                    <a:lstStyle/>
                    <a:p>
                      <a:r>
                        <a:rPr kumimoji="1" lang="ja-JP" altLang="en-US" sz="2000" dirty="0"/>
                        <a:t>特別輸送費</a:t>
                      </a:r>
                    </a:p>
                  </a:txBody>
                  <a:tcPr/>
                </a:tc>
                <a:tc>
                  <a:txBody>
                    <a:bodyPr/>
                    <a:lstStyle/>
                    <a:p>
                      <a:r>
                        <a:rPr kumimoji="1" lang="ja-JP" altLang="en-US" sz="2000" dirty="0"/>
                        <a:t>契約した輸送費に対する割増しの費用又は負担。</a:t>
                      </a:r>
                      <a:endParaRPr kumimoji="1" lang="en-US" altLang="ja-JP" sz="2000" dirty="0"/>
                    </a:p>
                    <a:p>
                      <a:r>
                        <a:rPr kumimoji="1" lang="ja-JP" altLang="en-US" sz="2000" dirty="0"/>
                        <a:t>注記　これは、輸送方法、量、予定外納入又は納期遅延、などによって発生し得る。</a:t>
                      </a:r>
                    </a:p>
                  </a:txBody>
                  <a:tcPr/>
                </a:tc>
                <a:extLst>
                  <a:ext uri="{0D108BD9-81ED-4DB2-BD59-A6C34878D82A}">
                    <a16:rowId xmlns:a16="http://schemas.microsoft.com/office/drawing/2014/main" val="1171592800"/>
                  </a:ext>
                </a:extLst>
              </a:tr>
              <a:tr h="489342">
                <a:tc vMerge="1">
                  <a:txBody>
                    <a:bodyPr/>
                    <a:lstStyle/>
                    <a:p>
                      <a:endParaRPr kumimoji="1" lang="ja-JP" altLang="en-US" sz="2000" dirty="0"/>
                    </a:p>
                  </a:txBody>
                  <a:tcPr anchor="ctr"/>
                </a:tc>
                <a:tc>
                  <a:txBody>
                    <a:bodyPr/>
                    <a:lstStyle/>
                    <a:p>
                      <a:r>
                        <a:rPr kumimoji="1" lang="ja-JP" altLang="en-US" sz="2000" dirty="0">
                          <a:solidFill>
                            <a:schemeClr val="bg1"/>
                          </a:solidFill>
                        </a:rPr>
                        <a:t>特別輸送費は監視指標の一つ。（</a:t>
                      </a:r>
                      <a:r>
                        <a:rPr kumimoji="1" lang="en-US" altLang="ja-JP" sz="2000" dirty="0">
                          <a:solidFill>
                            <a:schemeClr val="bg1"/>
                          </a:solidFill>
                        </a:rPr>
                        <a:t>9.1.2.1</a:t>
                      </a:r>
                      <a:r>
                        <a:rPr kumimoji="1" lang="ja-JP" altLang="en-US" sz="2000" dirty="0">
                          <a:solidFill>
                            <a:schemeClr val="bg1"/>
                          </a:solidFill>
                        </a:rPr>
                        <a:t>）顧客満足の指標となる。</a:t>
                      </a:r>
                    </a:p>
                  </a:txBody>
                  <a:tcPr>
                    <a:solidFill>
                      <a:schemeClr val="tx2"/>
                    </a:solidFill>
                  </a:tcPr>
                </a:tc>
                <a:extLst>
                  <a:ext uri="{0D108BD9-81ED-4DB2-BD59-A6C34878D82A}">
                    <a16:rowId xmlns:a16="http://schemas.microsoft.com/office/drawing/2014/main" val="431852989"/>
                  </a:ext>
                </a:extLst>
              </a:tr>
              <a:tr h="1070608">
                <a:tc>
                  <a:txBody>
                    <a:bodyPr/>
                    <a:lstStyle/>
                    <a:p>
                      <a:r>
                        <a:rPr kumimoji="1" lang="ja-JP" altLang="en-US" sz="2000" dirty="0"/>
                        <a:t>予防保全</a:t>
                      </a:r>
                    </a:p>
                  </a:txBody>
                  <a:tcPr/>
                </a:tc>
                <a:tc>
                  <a:txBody>
                    <a:bodyPr/>
                    <a:lstStyle/>
                    <a:p>
                      <a:r>
                        <a:rPr kumimoji="1" lang="ja-JP" altLang="en-US" sz="2000" dirty="0"/>
                        <a:t>製造工程設計のアウトプットとして、設備故障及び予定外の生産中断の原因を除去するために、一定の間隔（時間ベース、定期的検査及びオーバーホール）で計画した活動。</a:t>
                      </a:r>
                    </a:p>
                  </a:txBody>
                  <a:tcPr/>
                </a:tc>
                <a:extLst>
                  <a:ext uri="{0D108BD9-81ED-4DB2-BD59-A6C34878D82A}">
                    <a16:rowId xmlns:a16="http://schemas.microsoft.com/office/drawing/2014/main" val="268142330"/>
                  </a:ext>
                </a:extLst>
              </a:tr>
              <a:tr h="558038">
                <a:tc>
                  <a:txBody>
                    <a:bodyPr/>
                    <a:lstStyle/>
                    <a:p>
                      <a:r>
                        <a:rPr kumimoji="1" lang="ja-JP" altLang="en-US" sz="2000" dirty="0"/>
                        <a:t>製品</a:t>
                      </a:r>
                    </a:p>
                  </a:txBody>
                  <a:tcPr/>
                </a:tc>
                <a:tc>
                  <a:txBody>
                    <a:bodyPr/>
                    <a:lstStyle/>
                    <a:p>
                      <a:r>
                        <a:rPr kumimoji="1" lang="ja-JP" altLang="en-US" sz="2000" dirty="0"/>
                        <a:t>製品実現プロセスの結果として生じる、意図したアウトプット。</a:t>
                      </a:r>
                    </a:p>
                  </a:txBody>
                  <a:tcPr/>
                </a:tc>
                <a:extLst>
                  <a:ext uri="{0D108BD9-81ED-4DB2-BD59-A6C34878D82A}">
                    <a16:rowId xmlns:a16="http://schemas.microsoft.com/office/drawing/2014/main" val="3938441292"/>
                  </a:ext>
                </a:extLst>
              </a:tr>
              <a:tr h="811717">
                <a:tc rowSpan="2">
                  <a:txBody>
                    <a:bodyPr/>
                    <a:lstStyle/>
                    <a:p>
                      <a:r>
                        <a:rPr kumimoji="1" lang="ja-JP" altLang="en-US" sz="2000" dirty="0"/>
                        <a:t>製品安全</a:t>
                      </a:r>
                    </a:p>
                  </a:txBody>
                  <a:tcPr/>
                </a:tc>
                <a:tc>
                  <a:txBody>
                    <a:bodyPr/>
                    <a:lstStyle/>
                    <a:p>
                      <a:r>
                        <a:rPr kumimoji="1" lang="ja-JP" altLang="en-US" sz="2000" dirty="0"/>
                        <a:t>顧客に危害、危険を与えないことを確実にする、製品の設計及び製造に関係する規範。</a:t>
                      </a:r>
                    </a:p>
                  </a:txBody>
                  <a:tcPr/>
                </a:tc>
                <a:extLst>
                  <a:ext uri="{0D108BD9-81ED-4DB2-BD59-A6C34878D82A}">
                    <a16:rowId xmlns:a16="http://schemas.microsoft.com/office/drawing/2014/main" val="2519049089"/>
                  </a:ext>
                </a:extLst>
              </a:tr>
              <a:tr h="811717">
                <a:tc vMerge="1">
                  <a:txBody>
                    <a:bodyPr/>
                    <a:lstStyle/>
                    <a:p>
                      <a:endParaRPr kumimoji="1" lang="ja-JP" altLang="en-US" sz="2000" dirty="0"/>
                    </a:p>
                  </a:txBody>
                  <a:tcPr/>
                </a:tc>
                <a:tc>
                  <a:txBody>
                    <a:bodyPr/>
                    <a:lstStyle/>
                    <a:p>
                      <a:r>
                        <a:rPr kumimoji="1" lang="ja-JP" altLang="en-US" sz="2000" dirty="0">
                          <a:solidFill>
                            <a:schemeClr val="bg1"/>
                          </a:solidFill>
                        </a:rPr>
                        <a:t>リコール及び製造物責任による経営損害を予防するための組織の定め。</a:t>
                      </a:r>
                    </a:p>
                  </a:txBody>
                  <a:tcPr>
                    <a:solidFill>
                      <a:schemeClr val="tx2"/>
                    </a:solidFill>
                  </a:tcPr>
                </a:tc>
                <a:extLst>
                  <a:ext uri="{0D108BD9-81ED-4DB2-BD59-A6C34878D82A}">
                    <a16:rowId xmlns:a16="http://schemas.microsoft.com/office/drawing/2014/main" val="3559618526"/>
                  </a:ext>
                </a:extLst>
              </a:tr>
            </a:tbl>
          </a:graphicData>
        </a:graphic>
      </p:graphicFrame>
    </p:spTree>
    <p:extLst>
      <p:ext uri="{BB962C8B-B14F-4D97-AF65-F5344CB8AC3E}">
        <p14:creationId xmlns:p14="http://schemas.microsoft.com/office/powerpoint/2010/main" val="31665652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3027442471"/>
              </p:ext>
            </p:extLst>
          </p:nvPr>
        </p:nvGraphicFramePr>
        <p:xfrm>
          <a:off x="838200" y="1544321"/>
          <a:ext cx="10515600" cy="4847542"/>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758204">
                <a:tc rowSpan="2">
                  <a:txBody>
                    <a:bodyPr/>
                    <a:lstStyle/>
                    <a:p>
                      <a:r>
                        <a:rPr kumimoji="1" lang="ja-JP" altLang="en-US" sz="2000" u="sng" dirty="0"/>
                        <a:t>生産シャットダウン</a:t>
                      </a:r>
                    </a:p>
                  </a:txBody>
                  <a:tcPr/>
                </a:tc>
                <a:tc>
                  <a:txBody>
                    <a:bodyPr/>
                    <a:lstStyle/>
                    <a:p>
                      <a:r>
                        <a:rPr kumimoji="1" lang="ja-JP" altLang="en-US" sz="2000" dirty="0"/>
                        <a:t>製造工程が稼働していない状況。期間は、数時間から数カ月でもよい。</a:t>
                      </a:r>
                    </a:p>
                  </a:txBody>
                  <a:tcPr/>
                </a:tc>
                <a:extLst>
                  <a:ext uri="{0D108BD9-81ED-4DB2-BD59-A6C34878D82A}">
                    <a16:rowId xmlns:a16="http://schemas.microsoft.com/office/drawing/2014/main" val="1171592800"/>
                  </a:ext>
                </a:extLst>
              </a:tr>
              <a:tr h="664855">
                <a:tc vMerge="1">
                  <a:txBody>
                    <a:bodyPr/>
                    <a:lstStyle/>
                    <a:p>
                      <a:endParaRPr kumimoji="1" lang="ja-JP" altLang="en-US" sz="2000" dirty="0"/>
                    </a:p>
                  </a:txBody>
                  <a:tcPr anchor="ctr"/>
                </a:tc>
                <a:tc>
                  <a:txBody>
                    <a:bodyPr/>
                    <a:lstStyle/>
                    <a:p>
                      <a:r>
                        <a:rPr kumimoji="1" lang="ja-JP" altLang="en-US" sz="2000" dirty="0">
                          <a:solidFill>
                            <a:schemeClr val="bg1"/>
                          </a:solidFill>
                        </a:rPr>
                        <a:t>計画的なもの：</a:t>
                      </a:r>
                      <a:r>
                        <a:rPr kumimoji="1" lang="en-US" altLang="ja-JP" sz="2000" dirty="0">
                          <a:solidFill>
                            <a:schemeClr val="bg1"/>
                          </a:solidFill>
                        </a:rPr>
                        <a:t>GW</a:t>
                      </a:r>
                      <a:r>
                        <a:rPr kumimoji="1" lang="ja-JP" altLang="en-US" sz="2000" dirty="0" err="1">
                          <a:solidFill>
                            <a:schemeClr val="bg1"/>
                          </a:solidFill>
                        </a:rPr>
                        <a:t>、</a:t>
                      </a:r>
                      <a:r>
                        <a:rPr kumimoji="1" lang="ja-JP" altLang="en-US" sz="2000" dirty="0">
                          <a:solidFill>
                            <a:schemeClr val="bg1"/>
                          </a:solidFill>
                        </a:rPr>
                        <a:t>夏休み、正月休みなど。</a:t>
                      </a:r>
                      <a:endParaRPr kumimoji="1" lang="en-US" altLang="ja-JP" sz="2000" dirty="0">
                        <a:solidFill>
                          <a:schemeClr val="bg1"/>
                        </a:solidFill>
                      </a:endParaRPr>
                    </a:p>
                    <a:p>
                      <a:r>
                        <a:rPr kumimoji="1" lang="ja-JP" altLang="en-US" sz="2000" dirty="0">
                          <a:solidFill>
                            <a:schemeClr val="bg1"/>
                          </a:solidFill>
                        </a:rPr>
                        <a:t>非計画的なもの：停電、設備故障、ユーティリティ停止など。</a:t>
                      </a:r>
                    </a:p>
                  </a:txBody>
                  <a:tcPr>
                    <a:solidFill>
                      <a:schemeClr val="tx2"/>
                    </a:solidFill>
                  </a:tcPr>
                </a:tc>
                <a:extLst>
                  <a:ext uri="{0D108BD9-81ED-4DB2-BD59-A6C34878D82A}">
                    <a16:rowId xmlns:a16="http://schemas.microsoft.com/office/drawing/2014/main" val="431852989"/>
                  </a:ext>
                </a:extLst>
              </a:tr>
              <a:tr h="762611">
                <a:tc>
                  <a:txBody>
                    <a:bodyPr/>
                    <a:lstStyle/>
                    <a:p>
                      <a:r>
                        <a:rPr kumimoji="1" lang="ja-JP" altLang="en-US" sz="2000" dirty="0"/>
                        <a:t>対応計画</a:t>
                      </a:r>
                    </a:p>
                  </a:txBody>
                  <a:tcPr/>
                </a:tc>
                <a:tc>
                  <a:txBody>
                    <a:bodyPr/>
                    <a:lstStyle/>
                    <a:p>
                      <a:r>
                        <a:rPr kumimoji="1" lang="ja-JP" altLang="en-US" sz="2000" dirty="0"/>
                        <a:t>異常又は不適合事象が検出された場合に、コントロールプランに規定された処置又は一連のステップ。</a:t>
                      </a:r>
                    </a:p>
                  </a:txBody>
                  <a:tcPr/>
                </a:tc>
                <a:extLst>
                  <a:ext uri="{0D108BD9-81ED-4DB2-BD59-A6C34878D82A}">
                    <a16:rowId xmlns:a16="http://schemas.microsoft.com/office/drawing/2014/main" val="268142330"/>
                  </a:ext>
                </a:extLst>
              </a:tr>
              <a:tr h="552436">
                <a:tc>
                  <a:txBody>
                    <a:bodyPr/>
                    <a:lstStyle/>
                    <a:p>
                      <a:r>
                        <a:rPr kumimoji="1" lang="ja-JP" altLang="en-US" sz="2000" dirty="0"/>
                        <a:t>遠隔地支援事業所</a:t>
                      </a:r>
                    </a:p>
                  </a:txBody>
                  <a:tcPr/>
                </a:tc>
                <a:tc>
                  <a:txBody>
                    <a:bodyPr/>
                    <a:lstStyle/>
                    <a:p>
                      <a:r>
                        <a:rPr kumimoji="1" lang="ja-JP" altLang="en-US" sz="2000" dirty="0"/>
                        <a:t>製造サイトを支援する、生産プロセスのない事業所。</a:t>
                      </a:r>
                    </a:p>
                  </a:txBody>
                  <a:tcPr/>
                </a:tc>
                <a:extLst>
                  <a:ext uri="{0D108BD9-81ED-4DB2-BD59-A6C34878D82A}">
                    <a16:rowId xmlns:a16="http://schemas.microsoft.com/office/drawing/2014/main" val="3592884076"/>
                  </a:ext>
                </a:extLst>
              </a:tr>
              <a:tr h="762611">
                <a:tc rowSpan="2">
                  <a:txBody>
                    <a:bodyPr/>
                    <a:lstStyle/>
                    <a:p>
                      <a:r>
                        <a:rPr kumimoji="1" lang="ja-JP" altLang="en-US" sz="2000" dirty="0"/>
                        <a:t>サービス部品</a:t>
                      </a:r>
                    </a:p>
                  </a:txBody>
                  <a:tcPr/>
                </a:tc>
                <a:tc>
                  <a:txBody>
                    <a:bodyPr/>
                    <a:lstStyle/>
                    <a:p>
                      <a:r>
                        <a:rPr kumimoji="1" lang="ja-JP" altLang="en-US" sz="2000" dirty="0"/>
                        <a:t>サービス部品として</a:t>
                      </a:r>
                      <a:r>
                        <a:rPr kumimoji="1" lang="en-US" altLang="ja-JP" sz="2000" dirty="0"/>
                        <a:t>OEM</a:t>
                      </a:r>
                      <a:r>
                        <a:rPr kumimoji="1" lang="ja-JP" altLang="en-US" sz="2000" dirty="0"/>
                        <a:t>が調達又はリリースし、</a:t>
                      </a:r>
                      <a:r>
                        <a:rPr kumimoji="1" lang="en-US" altLang="ja-JP" sz="2000" dirty="0"/>
                        <a:t>OEM</a:t>
                      </a:r>
                      <a:r>
                        <a:rPr kumimoji="1" lang="ja-JP" altLang="en-US" sz="2000" dirty="0"/>
                        <a:t>の仕様通り製造される、再生部品を含む交換部品。</a:t>
                      </a:r>
                    </a:p>
                  </a:txBody>
                  <a:tcPr/>
                </a:tc>
                <a:extLst>
                  <a:ext uri="{0D108BD9-81ED-4DB2-BD59-A6C34878D82A}">
                    <a16:rowId xmlns:a16="http://schemas.microsoft.com/office/drawing/2014/main" val="338328090"/>
                  </a:ext>
                </a:extLst>
              </a:tr>
              <a:tr h="762611">
                <a:tc vMerge="1">
                  <a:txBody>
                    <a:bodyPr/>
                    <a:lstStyle/>
                    <a:p>
                      <a:endParaRPr kumimoji="1" lang="ja-JP" altLang="en-US" sz="2000" dirty="0"/>
                    </a:p>
                  </a:txBody>
                  <a:tcPr/>
                </a:tc>
                <a:tc>
                  <a:txBody>
                    <a:bodyPr/>
                    <a:lstStyle/>
                    <a:p>
                      <a:r>
                        <a:rPr kumimoji="1" lang="ja-JP" altLang="en-US" sz="2000" dirty="0">
                          <a:solidFill>
                            <a:schemeClr val="bg1"/>
                          </a:solidFill>
                        </a:rPr>
                        <a:t>“交換部品”ということで、車載部品を市場で交換するものである。通常生産部品と変わらないが、ディーラーへの納入により、納入先変更又は特殊包装などの場合がある。また、通常完成部品状態とは異なる仕様の場合もある。（半製品状態での交換など）</a:t>
                      </a:r>
                    </a:p>
                  </a:txBody>
                  <a:tcPr>
                    <a:solidFill>
                      <a:schemeClr val="tx2"/>
                    </a:solidFill>
                  </a:tcPr>
                </a:tc>
                <a:extLst>
                  <a:ext uri="{0D108BD9-81ED-4DB2-BD59-A6C34878D82A}">
                    <a16:rowId xmlns:a16="http://schemas.microsoft.com/office/drawing/2014/main" val="1559444265"/>
                  </a:ext>
                </a:extLst>
              </a:tr>
            </a:tbl>
          </a:graphicData>
        </a:graphic>
      </p:graphicFrame>
    </p:spTree>
    <p:extLst>
      <p:ext uri="{BB962C8B-B14F-4D97-AF65-F5344CB8AC3E}">
        <p14:creationId xmlns:p14="http://schemas.microsoft.com/office/powerpoint/2010/main" val="29480401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69</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341075988"/>
              </p:ext>
            </p:extLst>
          </p:nvPr>
        </p:nvGraphicFramePr>
        <p:xfrm>
          <a:off x="838200" y="1544321"/>
          <a:ext cx="10515600" cy="4618268"/>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471766">
                <a:tc>
                  <a:txBody>
                    <a:bodyPr/>
                    <a:lstStyle/>
                    <a:p>
                      <a:r>
                        <a:rPr kumimoji="1" lang="ja-JP" altLang="en-US" sz="2000" dirty="0"/>
                        <a:t>サイト</a:t>
                      </a:r>
                    </a:p>
                  </a:txBody>
                  <a:tcPr/>
                </a:tc>
                <a:tc>
                  <a:txBody>
                    <a:bodyPr/>
                    <a:lstStyle/>
                    <a:p>
                      <a:r>
                        <a:rPr kumimoji="1" lang="ja-JP" altLang="en-US" sz="2000" dirty="0"/>
                        <a:t>価値を付加する製造工程のある事業所。</a:t>
                      </a:r>
                    </a:p>
                  </a:txBody>
                  <a:tcPr/>
                </a:tc>
                <a:extLst>
                  <a:ext uri="{0D108BD9-81ED-4DB2-BD59-A6C34878D82A}">
                    <a16:rowId xmlns:a16="http://schemas.microsoft.com/office/drawing/2014/main" val="1171592800"/>
                  </a:ext>
                </a:extLst>
              </a:tr>
              <a:tr h="762611">
                <a:tc rowSpan="2">
                  <a:txBody>
                    <a:bodyPr/>
                    <a:lstStyle/>
                    <a:p>
                      <a:r>
                        <a:rPr kumimoji="1" lang="ja-JP" altLang="en-US" sz="2000" u="sng" dirty="0"/>
                        <a:t>特殊特性</a:t>
                      </a:r>
                    </a:p>
                  </a:txBody>
                  <a:tcPr/>
                </a:tc>
                <a:tc>
                  <a:txBody>
                    <a:bodyPr/>
                    <a:lstStyle/>
                    <a:p>
                      <a:r>
                        <a:rPr kumimoji="1" lang="ja-JP" altLang="en-US" sz="2000" dirty="0"/>
                        <a:t>安全若しくは規制への適合、取付け時の合い、機能、性能、要求事項、又は製品の後加工に影響し得る、製品特性又は製造工程パラメーターの区分。</a:t>
                      </a:r>
                    </a:p>
                  </a:txBody>
                  <a:tcPr/>
                </a:tc>
                <a:extLst>
                  <a:ext uri="{0D108BD9-81ED-4DB2-BD59-A6C34878D82A}">
                    <a16:rowId xmlns:a16="http://schemas.microsoft.com/office/drawing/2014/main" val="268142330"/>
                  </a:ext>
                </a:extLst>
              </a:tr>
              <a:tr h="762611">
                <a:tc vMerge="1">
                  <a:txBody>
                    <a:bodyPr/>
                    <a:lstStyle/>
                    <a:p>
                      <a:endParaRPr kumimoji="1" lang="ja-JP" altLang="en-US" sz="2000" dirty="0"/>
                    </a:p>
                  </a:txBody>
                  <a:tcPr/>
                </a:tc>
                <a:tc>
                  <a:txBody>
                    <a:bodyPr/>
                    <a:lstStyle/>
                    <a:p>
                      <a:r>
                        <a:rPr kumimoji="1" lang="ja-JP" altLang="en-US" sz="2000" dirty="0">
                          <a:solidFill>
                            <a:schemeClr val="bg1"/>
                          </a:solidFill>
                        </a:rPr>
                        <a:t>様々なものが列挙されているが、要は、安全関係、法令規制関係である。一般にＯＥＭが特定する“重要保安部品“の特殊特性は安全及び法令規制に関係する。要求事項の随所に登場する。</a:t>
                      </a:r>
                      <a:endParaRPr kumimoji="1" lang="en-US" altLang="ja-JP" sz="2000" dirty="0">
                        <a:solidFill>
                          <a:schemeClr val="bg1"/>
                        </a:solidFill>
                      </a:endParaRPr>
                    </a:p>
                    <a:p>
                      <a:r>
                        <a:rPr kumimoji="1" lang="en-US" altLang="ja-JP" sz="2000" dirty="0">
                          <a:solidFill>
                            <a:schemeClr val="bg1"/>
                          </a:solidFill>
                        </a:rPr>
                        <a:t>5.3.1</a:t>
                      </a:r>
                      <a:r>
                        <a:rPr kumimoji="1" lang="ja-JP" altLang="en-US" sz="2000" dirty="0">
                          <a:solidFill>
                            <a:schemeClr val="bg1"/>
                          </a:solidFill>
                        </a:rPr>
                        <a:t>／</a:t>
                      </a:r>
                      <a:r>
                        <a:rPr kumimoji="1" lang="en-US" altLang="ja-JP" sz="2000" dirty="0">
                          <a:solidFill>
                            <a:schemeClr val="bg1"/>
                          </a:solidFill>
                        </a:rPr>
                        <a:t>7.1.5.1.1</a:t>
                      </a:r>
                      <a:r>
                        <a:rPr kumimoji="1" lang="ja-JP" altLang="en-US" sz="2000" dirty="0">
                          <a:solidFill>
                            <a:schemeClr val="bg1"/>
                          </a:solidFill>
                        </a:rPr>
                        <a:t>／</a:t>
                      </a:r>
                      <a:r>
                        <a:rPr kumimoji="1" lang="en-US" altLang="ja-JP" sz="2000" dirty="0">
                          <a:solidFill>
                            <a:schemeClr val="bg1"/>
                          </a:solidFill>
                        </a:rPr>
                        <a:t>8.2.3.1.2</a:t>
                      </a:r>
                      <a:r>
                        <a:rPr kumimoji="1" lang="ja-JP" altLang="en-US" sz="2000" dirty="0">
                          <a:solidFill>
                            <a:schemeClr val="bg1"/>
                          </a:solidFill>
                        </a:rPr>
                        <a:t>／</a:t>
                      </a:r>
                      <a:r>
                        <a:rPr kumimoji="1" lang="en-US" altLang="ja-JP" sz="2000" dirty="0">
                          <a:solidFill>
                            <a:schemeClr val="bg1"/>
                          </a:solidFill>
                        </a:rPr>
                        <a:t>8.3.3.1</a:t>
                      </a:r>
                      <a:r>
                        <a:rPr kumimoji="1" lang="ja-JP" altLang="en-US" sz="2000" dirty="0">
                          <a:solidFill>
                            <a:schemeClr val="bg1"/>
                          </a:solidFill>
                        </a:rPr>
                        <a:t>／</a:t>
                      </a:r>
                      <a:r>
                        <a:rPr kumimoji="1" lang="en-US" altLang="ja-JP" sz="2000" dirty="0">
                          <a:solidFill>
                            <a:schemeClr val="bg1"/>
                          </a:solidFill>
                        </a:rPr>
                        <a:t>8.3.3.2</a:t>
                      </a:r>
                      <a:r>
                        <a:rPr kumimoji="1" lang="ja-JP" altLang="en-US" sz="2000" dirty="0">
                          <a:solidFill>
                            <a:schemeClr val="bg1"/>
                          </a:solidFill>
                        </a:rPr>
                        <a:t>／</a:t>
                      </a:r>
                      <a:r>
                        <a:rPr kumimoji="1" lang="en-US" altLang="ja-JP" sz="2000" dirty="0">
                          <a:solidFill>
                            <a:schemeClr val="bg1"/>
                          </a:solidFill>
                        </a:rPr>
                        <a:t>8.3.3.3</a:t>
                      </a:r>
                      <a:r>
                        <a:rPr kumimoji="1" lang="ja-JP" altLang="en-US" sz="2000" dirty="0">
                          <a:solidFill>
                            <a:schemeClr val="bg1"/>
                          </a:solidFill>
                        </a:rPr>
                        <a:t>／</a:t>
                      </a:r>
                      <a:r>
                        <a:rPr kumimoji="1" lang="en-US" altLang="ja-JP" sz="2000" dirty="0">
                          <a:solidFill>
                            <a:schemeClr val="bg1"/>
                          </a:solidFill>
                        </a:rPr>
                        <a:t>8.3.5.1</a:t>
                      </a:r>
                    </a:p>
                    <a:p>
                      <a:r>
                        <a:rPr kumimoji="1" lang="en-US" altLang="ja-JP" sz="2000" dirty="0">
                          <a:solidFill>
                            <a:schemeClr val="bg1"/>
                          </a:solidFill>
                        </a:rPr>
                        <a:t>8.3.5.2</a:t>
                      </a:r>
                      <a:r>
                        <a:rPr kumimoji="1" lang="ja-JP" altLang="en-US" sz="2000" dirty="0">
                          <a:solidFill>
                            <a:schemeClr val="bg1"/>
                          </a:solidFill>
                        </a:rPr>
                        <a:t>／</a:t>
                      </a:r>
                      <a:r>
                        <a:rPr kumimoji="1" lang="en-US" altLang="ja-JP" sz="2000" dirty="0">
                          <a:solidFill>
                            <a:schemeClr val="bg1"/>
                          </a:solidFill>
                        </a:rPr>
                        <a:t>8.4.3.1</a:t>
                      </a:r>
                      <a:r>
                        <a:rPr kumimoji="1" lang="ja-JP" altLang="en-US" sz="2000" dirty="0">
                          <a:solidFill>
                            <a:schemeClr val="bg1"/>
                          </a:solidFill>
                        </a:rPr>
                        <a:t>／</a:t>
                      </a:r>
                      <a:r>
                        <a:rPr kumimoji="1" lang="en-US" altLang="ja-JP" sz="2000" dirty="0">
                          <a:solidFill>
                            <a:schemeClr val="bg1"/>
                          </a:solidFill>
                        </a:rPr>
                        <a:t>8.5.1.1</a:t>
                      </a:r>
                      <a:r>
                        <a:rPr kumimoji="1" lang="ja-JP" altLang="en-US" sz="2000" dirty="0">
                          <a:solidFill>
                            <a:schemeClr val="bg1"/>
                          </a:solidFill>
                        </a:rPr>
                        <a:t>／</a:t>
                      </a:r>
                      <a:r>
                        <a:rPr kumimoji="1" lang="en-US" altLang="ja-JP" sz="2000" dirty="0">
                          <a:solidFill>
                            <a:schemeClr val="bg1"/>
                          </a:solidFill>
                        </a:rPr>
                        <a:t>9.1.1.1</a:t>
                      </a:r>
                      <a:endParaRPr kumimoji="1" lang="ja-JP" altLang="en-US" sz="2000" dirty="0">
                        <a:solidFill>
                          <a:schemeClr val="bg1"/>
                        </a:solidFill>
                      </a:endParaRPr>
                    </a:p>
                  </a:txBody>
                  <a:tcPr>
                    <a:solidFill>
                      <a:schemeClr val="tx2"/>
                    </a:solidFill>
                  </a:tcPr>
                </a:tc>
                <a:extLst>
                  <a:ext uri="{0D108BD9-81ED-4DB2-BD59-A6C34878D82A}">
                    <a16:rowId xmlns:a16="http://schemas.microsoft.com/office/drawing/2014/main" val="3621167281"/>
                  </a:ext>
                </a:extLst>
              </a:tr>
              <a:tr h="762611">
                <a:tc rowSpan="2">
                  <a:txBody>
                    <a:bodyPr/>
                    <a:lstStyle/>
                    <a:p>
                      <a:r>
                        <a:rPr kumimoji="1" lang="ja-JP" altLang="en-US" sz="2000" dirty="0"/>
                        <a:t>特別状態</a:t>
                      </a:r>
                    </a:p>
                  </a:txBody>
                  <a:tcPr/>
                </a:tc>
                <a:tc>
                  <a:txBody>
                    <a:bodyPr/>
                    <a:lstStyle/>
                    <a:p>
                      <a:r>
                        <a:rPr kumimoji="1" lang="ja-JP" altLang="en-US" sz="2000" dirty="0"/>
                        <a:t>著しい品質又は納入問題による一つ以上の顧客要求事項が満たされていない場合に組織に課せられる、顧客が特定した区分の通知。</a:t>
                      </a:r>
                    </a:p>
                  </a:txBody>
                  <a:tcPr/>
                </a:tc>
                <a:extLst>
                  <a:ext uri="{0D108BD9-81ED-4DB2-BD59-A6C34878D82A}">
                    <a16:rowId xmlns:a16="http://schemas.microsoft.com/office/drawing/2014/main" val="338328090"/>
                  </a:ext>
                </a:extLst>
              </a:tr>
              <a:tr h="762611">
                <a:tc vMerge="1">
                  <a:txBody>
                    <a:bodyPr/>
                    <a:lstStyle/>
                    <a:p>
                      <a:endParaRPr kumimoji="1" lang="ja-JP" altLang="en-US" sz="2000" dirty="0"/>
                    </a:p>
                  </a:txBody>
                  <a:tcPr/>
                </a:tc>
                <a:tc>
                  <a:txBody>
                    <a:bodyPr/>
                    <a:lstStyle/>
                    <a:p>
                      <a:r>
                        <a:rPr kumimoji="1" lang="ja-JP" altLang="en-US" sz="2000" dirty="0">
                          <a:solidFill>
                            <a:schemeClr val="bg1"/>
                          </a:solidFill>
                        </a:rPr>
                        <a:t>リコール、納入不良率悪化、納期遅延多発などによるペナルティ的なもの。当然、速やかな対応が必要となる。</a:t>
                      </a:r>
                    </a:p>
                  </a:txBody>
                  <a:tcPr>
                    <a:solidFill>
                      <a:schemeClr val="tx2"/>
                    </a:solidFill>
                  </a:tcPr>
                </a:tc>
                <a:extLst>
                  <a:ext uri="{0D108BD9-81ED-4DB2-BD59-A6C34878D82A}">
                    <a16:rowId xmlns:a16="http://schemas.microsoft.com/office/drawing/2014/main" val="1559444265"/>
                  </a:ext>
                </a:extLst>
              </a:tr>
            </a:tbl>
          </a:graphicData>
        </a:graphic>
      </p:graphicFrame>
    </p:spTree>
    <p:extLst>
      <p:ext uri="{BB962C8B-B14F-4D97-AF65-F5344CB8AC3E}">
        <p14:creationId xmlns:p14="http://schemas.microsoft.com/office/powerpoint/2010/main" val="301256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70</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536587202"/>
              </p:ext>
            </p:extLst>
          </p:nvPr>
        </p:nvGraphicFramePr>
        <p:xfrm>
          <a:off x="838200" y="1544321"/>
          <a:ext cx="10515600" cy="5014508"/>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471766">
                <a:tc rowSpan="2">
                  <a:txBody>
                    <a:bodyPr/>
                    <a:lstStyle/>
                    <a:p>
                      <a:r>
                        <a:rPr kumimoji="1" lang="ja-JP" altLang="en-US" sz="2000" dirty="0"/>
                        <a:t>支援機能</a:t>
                      </a:r>
                    </a:p>
                  </a:txBody>
                  <a:tcPr/>
                </a:tc>
                <a:tc>
                  <a:txBody>
                    <a:bodyPr/>
                    <a:lstStyle/>
                    <a:p>
                      <a:r>
                        <a:rPr kumimoji="1" lang="ja-JP" altLang="en-US" sz="2000" dirty="0"/>
                        <a:t>同じ組織の一つ（又はそれ以上）の製造サイトを支援する、非生産活動（サイト内で又は遠隔地支援事業所で行われる）。</a:t>
                      </a:r>
                    </a:p>
                  </a:txBody>
                  <a:tcPr/>
                </a:tc>
                <a:extLst>
                  <a:ext uri="{0D108BD9-81ED-4DB2-BD59-A6C34878D82A}">
                    <a16:rowId xmlns:a16="http://schemas.microsoft.com/office/drawing/2014/main" val="1171592800"/>
                  </a:ext>
                </a:extLst>
              </a:tr>
              <a:tr h="471766">
                <a:tc vMerge="1">
                  <a:txBody>
                    <a:bodyPr/>
                    <a:lstStyle/>
                    <a:p>
                      <a:endParaRPr kumimoji="1" lang="ja-JP" altLang="en-US" sz="2000" dirty="0"/>
                    </a:p>
                  </a:txBody>
                  <a:tcPr/>
                </a:tc>
                <a:tc>
                  <a:txBody>
                    <a:bodyPr/>
                    <a:lstStyle/>
                    <a:p>
                      <a:r>
                        <a:rPr kumimoji="1" lang="ja-JP" altLang="en-US" sz="2000" dirty="0">
                          <a:solidFill>
                            <a:schemeClr val="bg1"/>
                          </a:solidFill>
                        </a:rPr>
                        <a:t>代表例には、営業、製品設計、工程設計、購買などがある。</a:t>
                      </a:r>
                    </a:p>
                  </a:txBody>
                  <a:tcPr>
                    <a:solidFill>
                      <a:schemeClr val="tx2"/>
                    </a:solidFill>
                  </a:tcPr>
                </a:tc>
                <a:extLst>
                  <a:ext uri="{0D108BD9-81ED-4DB2-BD59-A6C34878D82A}">
                    <a16:rowId xmlns:a16="http://schemas.microsoft.com/office/drawing/2014/main" val="4001395604"/>
                  </a:ext>
                </a:extLst>
              </a:tr>
              <a:tr h="762611">
                <a:tc rowSpan="2">
                  <a:txBody>
                    <a:bodyPr/>
                    <a:lstStyle/>
                    <a:p>
                      <a:r>
                        <a:rPr kumimoji="1" lang="ja-JP" altLang="en-US" sz="2000" u="sng" dirty="0"/>
                        <a:t>ＴＰＭ（</a:t>
                      </a:r>
                      <a:r>
                        <a:rPr kumimoji="1" lang="en-US" altLang="ja-JP" sz="2000" u="sng" dirty="0"/>
                        <a:t>total productive maintenance</a:t>
                      </a:r>
                      <a:r>
                        <a:rPr kumimoji="1" lang="ja-JP" altLang="en-US" sz="2000" u="sng" dirty="0"/>
                        <a:t>）</a:t>
                      </a:r>
                    </a:p>
                  </a:txBody>
                  <a:tcPr/>
                </a:tc>
                <a:tc>
                  <a:txBody>
                    <a:bodyPr/>
                    <a:lstStyle/>
                    <a:p>
                      <a:r>
                        <a:rPr kumimoji="1" lang="ja-JP" altLang="en-US" sz="2000" dirty="0"/>
                        <a:t>生産及び品質システムの完全に整った状態を、組織に価値を付加する、機械、設備、工程及び従業員を通じて、維持し改善するシステム。</a:t>
                      </a:r>
                    </a:p>
                  </a:txBody>
                  <a:tcPr/>
                </a:tc>
                <a:extLst>
                  <a:ext uri="{0D108BD9-81ED-4DB2-BD59-A6C34878D82A}">
                    <a16:rowId xmlns:a16="http://schemas.microsoft.com/office/drawing/2014/main" val="268142330"/>
                  </a:ext>
                </a:extLst>
              </a:tr>
              <a:tr h="762611">
                <a:tc vMerge="1">
                  <a:txBody>
                    <a:bodyPr/>
                    <a:lstStyle/>
                    <a:p>
                      <a:endParaRPr kumimoji="1" lang="ja-JP" altLang="en-US" sz="2000" dirty="0"/>
                    </a:p>
                  </a:txBody>
                  <a:tcPr/>
                </a:tc>
                <a:tc>
                  <a:txBody>
                    <a:bodyPr/>
                    <a:lstStyle/>
                    <a:p>
                      <a:r>
                        <a:rPr kumimoji="1" lang="ja-JP" altLang="en-US" sz="2000" dirty="0">
                          <a:solidFill>
                            <a:schemeClr val="bg1"/>
                          </a:solidFill>
                        </a:rPr>
                        <a:t>“設備の全</a:t>
                      </a:r>
                      <a:r>
                        <a:rPr kumimoji="1" lang="ja-JP" altLang="en-US" sz="2000" dirty="0" err="1">
                          <a:solidFill>
                            <a:schemeClr val="bg1"/>
                          </a:solidFill>
                        </a:rPr>
                        <a:t>きを</a:t>
                      </a:r>
                      <a:r>
                        <a:rPr kumimoji="1" lang="ja-JP" altLang="en-US" sz="2000" dirty="0">
                          <a:solidFill>
                            <a:schemeClr val="bg1"/>
                          </a:solidFill>
                        </a:rPr>
                        <a:t>もって、品質の全きを期す”という発想で、設備保全を中心に見て生産及び品質システムを維持するシステム。</a:t>
                      </a:r>
                      <a:endParaRPr kumimoji="1" lang="en-US" altLang="ja-JP" sz="2000" dirty="0">
                        <a:solidFill>
                          <a:schemeClr val="bg1"/>
                        </a:solidFill>
                      </a:endParaRPr>
                    </a:p>
                  </a:txBody>
                  <a:tcPr>
                    <a:solidFill>
                      <a:schemeClr val="tx2"/>
                    </a:solidFill>
                  </a:tcPr>
                </a:tc>
                <a:extLst>
                  <a:ext uri="{0D108BD9-81ED-4DB2-BD59-A6C34878D82A}">
                    <a16:rowId xmlns:a16="http://schemas.microsoft.com/office/drawing/2014/main" val="3621167281"/>
                  </a:ext>
                </a:extLst>
              </a:tr>
              <a:tr h="762611">
                <a:tc rowSpan="2">
                  <a:txBody>
                    <a:bodyPr/>
                    <a:lstStyle/>
                    <a:p>
                      <a:r>
                        <a:rPr kumimoji="1" lang="ja-JP" altLang="en-US" sz="2000" dirty="0"/>
                        <a:t>トレードオフ曲線</a:t>
                      </a:r>
                    </a:p>
                  </a:txBody>
                  <a:tcPr/>
                </a:tc>
                <a:tc>
                  <a:txBody>
                    <a:bodyPr/>
                    <a:lstStyle/>
                    <a:p>
                      <a:r>
                        <a:rPr kumimoji="1" lang="ja-JP" altLang="en-US" sz="2000" dirty="0"/>
                        <a:t>製品の様々な設計特性の相互の関係を理解し伝達するためのツール。一つの特性に関する製品の性能を縦軸に描き、もう一つの特性を横軸に描く、それから二つの特性に対する製品性能を示すために曲線がプロットされる。</a:t>
                      </a:r>
                    </a:p>
                  </a:txBody>
                  <a:tcPr/>
                </a:tc>
                <a:extLst>
                  <a:ext uri="{0D108BD9-81ED-4DB2-BD59-A6C34878D82A}">
                    <a16:rowId xmlns:a16="http://schemas.microsoft.com/office/drawing/2014/main" val="338328090"/>
                  </a:ext>
                </a:extLst>
              </a:tr>
              <a:tr h="762611">
                <a:tc vMerge="1">
                  <a:txBody>
                    <a:bodyPr/>
                    <a:lstStyle/>
                    <a:p>
                      <a:endParaRPr kumimoji="1" lang="ja-JP" altLang="en-US" sz="2000" dirty="0"/>
                    </a:p>
                  </a:txBody>
                  <a:tcPr/>
                </a:tc>
                <a:tc>
                  <a:txBody>
                    <a:bodyPr/>
                    <a:lstStyle/>
                    <a:p>
                      <a:r>
                        <a:rPr kumimoji="1" lang="ja-JP" altLang="en-US" sz="2000" dirty="0">
                          <a:solidFill>
                            <a:schemeClr val="bg1"/>
                          </a:solidFill>
                        </a:rPr>
                        <a:t>設計の代替手法の例として、</a:t>
                      </a:r>
                      <a:r>
                        <a:rPr kumimoji="1" lang="en-US" altLang="ja-JP" sz="2000" dirty="0">
                          <a:solidFill>
                            <a:schemeClr val="bg1"/>
                          </a:solidFill>
                        </a:rPr>
                        <a:t>8.3.3.1</a:t>
                      </a:r>
                      <a:r>
                        <a:rPr kumimoji="1" lang="ja-JP" altLang="en-US" sz="2000" dirty="0">
                          <a:solidFill>
                            <a:schemeClr val="bg1"/>
                          </a:solidFill>
                        </a:rPr>
                        <a:t>に登場する。（要求事項としては登場しない。）</a:t>
                      </a:r>
                    </a:p>
                  </a:txBody>
                  <a:tcPr>
                    <a:solidFill>
                      <a:schemeClr val="tx2"/>
                    </a:solidFill>
                  </a:tcPr>
                </a:tc>
                <a:extLst>
                  <a:ext uri="{0D108BD9-81ED-4DB2-BD59-A6C34878D82A}">
                    <a16:rowId xmlns:a16="http://schemas.microsoft.com/office/drawing/2014/main" val="1559444265"/>
                  </a:ext>
                </a:extLst>
              </a:tr>
            </a:tbl>
          </a:graphicData>
        </a:graphic>
      </p:graphicFrame>
    </p:spTree>
    <p:extLst>
      <p:ext uri="{BB962C8B-B14F-4D97-AF65-F5344CB8AC3E}">
        <p14:creationId xmlns:p14="http://schemas.microsoft.com/office/powerpoint/2010/main" val="31337908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71</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noFill/>
          <a:ln w="38100">
            <a:solidFill>
              <a:schemeClr val="tx2"/>
            </a:solidFill>
          </a:ln>
        </p:spPr>
        <p:txBody>
          <a:bodyPr>
            <a:normAutofit/>
          </a:bodyPr>
          <a:lstStyle/>
          <a:p>
            <a:r>
              <a:rPr kumimoji="1" lang="en-US" altLang="ja-JP" sz="3600" dirty="0">
                <a:solidFill>
                  <a:schemeClr val="tx2"/>
                </a:solidFill>
              </a:rPr>
              <a:t>3.1</a:t>
            </a:r>
            <a:r>
              <a:rPr kumimoji="1" lang="ja-JP" altLang="en-US" sz="3600" dirty="0">
                <a:solidFill>
                  <a:schemeClr val="tx2"/>
                </a:solidFill>
              </a:rPr>
              <a:t>　自動車産業の用語及び定義</a:t>
            </a:r>
          </a:p>
        </p:txBody>
      </p:sp>
      <p:graphicFrame>
        <p:nvGraphicFramePr>
          <p:cNvPr id="2" name="表 1">
            <a:extLst>
              <a:ext uri="{FF2B5EF4-FFF2-40B4-BE49-F238E27FC236}">
                <a16:creationId xmlns:a16="http://schemas.microsoft.com/office/drawing/2014/main" id="{5C9F0185-5BD3-4825-90B0-068CD5C34598}"/>
              </a:ext>
            </a:extLst>
          </p:cNvPr>
          <p:cNvGraphicFramePr>
            <a:graphicFrameLocks noGrp="1"/>
          </p:cNvGraphicFramePr>
          <p:nvPr>
            <p:extLst>
              <p:ext uri="{D42A27DB-BD31-4B8C-83A1-F6EECF244321}">
                <p14:modId xmlns:p14="http://schemas.microsoft.com/office/powerpoint/2010/main" val="1358768481"/>
              </p:ext>
            </p:extLst>
          </p:nvPr>
        </p:nvGraphicFramePr>
        <p:xfrm>
          <a:off x="838200" y="1544321"/>
          <a:ext cx="10515600" cy="4846320"/>
        </p:xfrm>
        <a:graphic>
          <a:graphicData uri="http://schemas.openxmlformats.org/drawingml/2006/table">
            <a:tbl>
              <a:tblPr firstRow="1" bandRow="1">
                <a:tableStyleId>{5940675A-B579-460E-94D1-54222C63F5DA}</a:tableStyleId>
              </a:tblPr>
              <a:tblGrid>
                <a:gridCol w="2565400">
                  <a:extLst>
                    <a:ext uri="{9D8B030D-6E8A-4147-A177-3AD203B41FA5}">
                      <a16:colId xmlns:a16="http://schemas.microsoft.com/office/drawing/2014/main" val="2774261247"/>
                    </a:ext>
                  </a:extLst>
                </a:gridCol>
                <a:gridCol w="7950200">
                  <a:extLst>
                    <a:ext uri="{9D8B030D-6E8A-4147-A177-3AD203B41FA5}">
                      <a16:colId xmlns:a16="http://schemas.microsoft.com/office/drawing/2014/main" val="1093076541"/>
                    </a:ext>
                  </a:extLst>
                </a:gridCol>
              </a:tblGrid>
              <a:tr h="471766">
                <a:tc rowSpan="2">
                  <a:txBody>
                    <a:bodyPr/>
                    <a:lstStyle/>
                    <a:p>
                      <a:r>
                        <a:rPr kumimoji="1" lang="ja-JP" altLang="en-US" sz="2000" dirty="0"/>
                        <a:t>トレードオフプロセス</a:t>
                      </a:r>
                    </a:p>
                  </a:txBody>
                  <a:tcPr/>
                </a:tc>
                <a:tc>
                  <a:txBody>
                    <a:bodyPr/>
                    <a:lstStyle/>
                    <a:p>
                      <a:r>
                        <a:rPr kumimoji="1" lang="ja-JP" altLang="en-US" sz="2000" dirty="0"/>
                        <a:t>製品及びその性能特性に対して、設計の代替案の間で顧客、技術及び経済的な関係を確立する、トレードオフ曲線を作成し使用する方法論。</a:t>
                      </a:r>
                    </a:p>
                  </a:txBody>
                  <a:tcPr/>
                </a:tc>
                <a:extLst>
                  <a:ext uri="{0D108BD9-81ED-4DB2-BD59-A6C34878D82A}">
                    <a16:rowId xmlns:a16="http://schemas.microsoft.com/office/drawing/2014/main" val="1171592800"/>
                  </a:ext>
                </a:extLst>
              </a:tr>
              <a:tr h="471766">
                <a:tc vMerge="1">
                  <a:txBody>
                    <a:bodyPr/>
                    <a:lstStyle/>
                    <a:p>
                      <a:endParaRPr kumimoji="1" lang="ja-JP" altLang="en-US" sz="2000" dirty="0"/>
                    </a:p>
                  </a:txBody>
                  <a:tcPr/>
                </a:tc>
                <a:tc>
                  <a:txBody>
                    <a:bodyPr/>
                    <a:lstStyle/>
                    <a:p>
                      <a:r>
                        <a:rPr kumimoji="1" lang="ja-JP" altLang="en-US" sz="2000" dirty="0">
                          <a:solidFill>
                            <a:schemeClr val="bg1"/>
                          </a:solidFill>
                        </a:rPr>
                        <a:t>設計の代替手法の例として、</a:t>
                      </a:r>
                      <a:r>
                        <a:rPr kumimoji="1" lang="en-US" altLang="ja-JP" sz="2000" dirty="0">
                          <a:solidFill>
                            <a:schemeClr val="bg1"/>
                          </a:solidFill>
                        </a:rPr>
                        <a:t>8.3.5.1</a:t>
                      </a:r>
                      <a:r>
                        <a:rPr kumimoji="1" lang="ja-JP" altLang="en-US" sz="2000" dirty="0">
                          <a:solidFill>
                            <a:schemeClr val="bg1"/>
                          </a:solidFill>
                        </a:rPr>
                        <a:t>に登場する。（要求事項としては登場しない。）</a:t>
                      </a:r>
                    </a:p>
                  </a:txBody>
                  <a:tcPr>
                    <a:solidFill>
                      <a:schemeClr val="tx2"/>
                    </a:solidFill>
                  </a:tcPr>
                </a:tc>
                <a:extLst>
                  <a:ext uri="{0D108BD9-81ED-4DB2-BD59-A6C34878D82A}">
                    <a16:rowId xmlns:a16="http://schemas.microsoft.com/office/drawing/2014/main" val="4001395604"/>
                  </a:ext>
                </a:extLst>
              </a:tr>
              <a:tr h="471766">
                <a:tc>
                  <a:txBody>
                    <a:bodyPr/>
                    <a:lstStyle/>
                    <a:p>
                      <a:r>
                        <a:rPr kumimoji="1" lang="ja-JP" altLang="en-US" sz="2000" dirty="0"/>
                        <a:t>組込ソフトウェア</a:t>
                      </a:r>
                    </a:p>
                  </a:txBody>
                  <a:tcPr/>
                </a:tc>
                <a:tc>
                  <a:txBody>
                    <a:bodyPr/>
                    <a:lstStyle/>
                    <a:p>
                      <a:r>
                        <a:rPr kumimoji="1" lang="ja-JP" altLang="en-US" sz="2000" dirty="0">
                          <a:solidFill>
                            <a:schemeClr val="tx1"/>
                          </a:solidFill>
                        </a:rPr>
                        <a:t>組込ソフトウェアとは、自動車用コンポーネントに収納されるもので、顧客によって規定される、その機能を制御するための特殊なプログラム（一般には、コンピュータチップ又は不揮発性の記憶装置）、又はシステム設計の一部としての特殊なプログラムである。</a:t>
                      </a:r>
                      <a:r>
                        <a:rPr kumimoji="1" lang="en-US" altLang="ja-JP" sz="2000" dirty="0">
                          <a:solidFill>
                            <a:schemeClr val="tx1"/>
                          </a:solidFill>
                        </a:rPr>
                        <a:t>IATF16949</a:t>
                      </a:r>
                      <a:r>
                        <a:rPr kumimoji="1" lang="ja-JP" altLang="en-US" sz="2000" dirty="0">
                          <a:solidFill>
                            <a:schemeClr val="tx1"/>
                          </a:solidFill>
                        </a:rPr>
                        <a:t>認証の適用範囲との関係から、組込ソフトウェアによって制御される部品は、自動車への適用を目的として開発されたものでなければならない。</a:t>
                      </a:r>
                    </a:p>
                    <a:p>
                      <a:r>
                        <a:rPr kumimoji="1" lang="ja-JP" altLang="en-US" sz="2000" dirty="0">
                          <a:solidFill>
                            <a:schemeClr val="tx1"/>
                          </a:solidFill>
                        </a:rPr>
                        <a:t>注記：　製造プロセス（例：コンポーネントや部材を製造する機械）のどのような側面を制御するソフトウェアも、組込ソフトウェアの定義に含まれることはない。</a:t>
                      </a:r>
                      <a:endParaRPr kumimoji="1" lang="ja-JP" altLang="en-US" sz="2000" dirty="0">
                        <a:solidFill>
                          <a:schemeClr val="bg1"/>
                        </a:solidFill>
                      </a:endParaRPr>
                    </a:p>
                  </a:txBody>
                  <a:tcPr>
                    <a:noFill/>
                  </a:tcPr>
                </a:tc>
                <a:extLst>
                  <a:ext uri="{0D108BD9-81ED-4DB2-BD59-A6C34878D82A}">
                    <a16:rowId xmlns:a16="http://schemas.microsoft.com/office/drawing/2014/main" val="3679006278"/>
                  </a:ext>
                </a:extLst>
              </a:tr>
            </a:tbl>
          </a:graphicData>
        </a:graphic>
      </p:graphicFrame>
      <p:sp>
        <p:nvSpPr>
          <p:cNvPr id="3" name="四角形: 角を丸くする 2">
            <a:extLst>
              <a:ext uri="{FF2B5EF4-FFF2-40B4-BE49-F238E27FC236}">
                <a16:creationId xmlns:a16="http://schemas.microsoft.com/office/drawing/2014/main" id="{37A3C1E1-73D1-4783-96FD-18DC7FB0A41F}"/>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15</a:t>
            </a:r>
          </a:p>
        </p:txBody>
      </p:sp>
    </p:spTree>
    <p:extLst>
      <p:ext uri="{BB962C8B-B14F-4D97-AF65-F5344CB8AC3E}">
        <p14:creationId xmlns:p14="http://schemas.microsoft.com/office/powerpoint/2010/main" val="18488042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72</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4400" b="1" u="sng" dirty="0">
                <a:solidFill>
                  <a:schemeClr val="tx2"/>
                </a:solidFill>
                <a:effectLst>
                  <a:outerShdw blurRad="38100" dist="38100" dir="2700000" algn="tl">
                    <a:srgbClr val="000000">
                      <a:alpha val="43137"/>
                    </a:srgbClr>
                  </a:outerShdw>
                </a:effectLst>
              </a:rPr>
              <a:t>４．組織の状況</a:t>
            </a:r>
            <a:endParaRPr kumimoji="1" lang="en-US" altLang="ja-JP" sz="4400" b="1" u="sng" dirty="0">
              <a:solidFill>
                <a:schemeClr val="tx2"/>
              </a:solidFill>
              <a:effectLst>
                <a:outerShdw blurRad="38100" dist="38100" dir="2700000" algn="tl">
                  <a:srgbClr val="000000">
                    <a:alpha val="43137"/>
                  </a:srgbClr>
                </a:outerShdw>
              </a:effectLst>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10937383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73</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４．組織の状況</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838200" y="1828800"/>
            <a:ext cx="3281413" cy="169057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4.1</a:t>
            </a:r>
            <a:r>
              <a:rPr kumimoji="1" lang="ja-JP" altLang="en-US" sz="2000" b="1" dirty="0">
                <a:solidFill>
                  <a:schemeClr val="tx1"/>
                </a:solidFill>
              </a:rPr>
              <a:t>　組織及びその状況の理解</a:t>
            </a:r>
          </a:p>
        </p:txBody>
      </p:sp>
      <p:sp>
        <p:nvSpPr>
          <p:cNvPr id="8" name="四角形: メモ 7">
            <a:extLst>
              <a:ext uri="{FF2B5EF4-FFF2-40B4-BE49-F238E27FC236}">
                <a16:creationId xmlns:a16="http://schemas.microsoft.com/office/drawing/2014/main" id="{587A77C3-48F8-4CD9-A00C-389D21826757}"/>
              </a:ext>
            </a:extLst>
          </p:cNvPr>
          <p:cNvSpPr/>
          <p:nvPr/>
        </p:nvSpPr>
        <p:spPr>
          <a:xfrm>
            <a:off x="4455294"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lang="en-US" altLang="ja-JP" sz="2000" dirty="0"/>
          </a:p>
          <a:p>
            <a:r>
              <a:rPr lang="en-US" altLang="ja-JP" sz="2000" dirty="0"/>
              <a:t>4.3.1</a:t>
            </a:r>
            <a:r>
              <a:rPr lang="ja-JP" altLang="en-US" sz="2000" dirty="0"/>
              <a:t>　品質マネジメントシステムの適用範囲の決定－補足</a:t>
            </a:r>
            <a:endParaRPr lang="en-US" altLang="ja-JP" sz="2000" dirty="0"/>
          </a:p>
          <a:p>
            <a:r>
              <a:rPr lang="en-US" altLang="ja-JP" sz="2000" dirty="0"/>
              <a:t>4.3.2</a:t>
            </a:r>
            <a:r>
              <a:rPr lang="ja-JP" altLang="en-US" sz="2000" dirty="0"/>
              <a:t>　顧客固有要求事項</a:t>
            </a:r>
            <a:endParaRPr lang="en-US" altLang="ja-JP" sz="2000"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4455293" y="1822747"/>
            <a:ext cx="3281413" cy="1606251"/>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4.3</a:t>
            </a:r>
            <a:r>
              <a:rPr kumimoji="1" lang="ja-JP" altLang="en-US" sz="2000" b="1" dirty="0">
                <a:solidFill>
                  <a:schemeClr val="tx1"/>
                </a:solidFill>
              </a:rPr>
              <a:t>　品質マネジメントシステムの適用範囲の決定　</a:t>
            </a:r>
          </a:p>
        </p:txBody>
      </p:sp>
      <p:sp>
        <p:nvSpPr>
          <p:cNvPr id="12" name="四角形: メモ 11">
            <a:extLst>
              <a:ext uri="{FF2B5EF4-FFF2-40B4-BE49-F238E27FC236}">
                <a16:creationId xmlns:a16="http://schemas.microsoft.com/office/drawing/2014/main" id="{98213EBB-542A-4018-894A-BC7E7EE0A2C6}"/>
              </a:ext>
            </a:extLst>
          </p:cNvPr>
          <p:cNvSpPr/>
          <p:nvPr/>
        </p:nvSpPr>
        <p:spPr>
          <a:xfrm>
            <a:off x="8072387"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r>
              <a:rPr kumimoji="1" lang="en-US" altLang="ja-JP" sz="2000" dirty="0"/>
              <a:t>4.4.1.1</a:t>
            </a:r>
            <a:r>
              <a:rPr kumimoji="1" lang="ja-JP" altLang="en-US" sz="2000" dirty="0"/>
              <a:t>　製品及びプロセスの適合</a:t>
            </a:r>
            <a:endParaRPr lang="en-US" altLang="ja-JP" sz="2000" dirty="0"/>
          </a:p>
          <a:p>
            <a:r>
              <a:rPr kumimoji="1" lang="en-US" altLang="ja-JP" sz="2000" dirty="0"/>
              <a:t>4.4.1.2</a:t>
            </a:r>
            <a:r>
              <a:rPr kumimoji="1" lang="ja-JP" altLang="en-US" sz="2000" dirty="0"/>
              <a:t>　製品安全</a:t>
            </a:r>
            <a:endParaRPr kumimoji="1" lang="en-US" altLang="ja-JP" sz="2000" dirty="0"/>
          </a:p>
        </p:txBody>
      </p:sp>
      <p:sp>
        <p:nvSpPr>
          <p:cNvPr id="13" name="フローチャート: 書類 12">
            <a:extLst>
              <a:ext uri="{FF2B5EF4-FFF2-40B4-BE49-F238E27FC236}">
                <a16:creationId xmlns:a16="http://schemas.microsoft.com/office/drawing/2014/main" id="{01A1497B-8B1D-4252-ADD4-72F06A6DEA9F}"/>
              </a:ext>
            </a:extLst>
          </p:cNvPr>
          <p:cNvSpPr/>
          <p:nvPr/>
        </p:nvSpPr>
        <p:spPr>
          <a:xfrm>
            <a:off x="8072386" y="1822748"/>
            <a:ext cx="3281413" cy="160625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4.4</a:t>
            </a:r>
            <a:r>
              <a:rPr lang="ja-JP" altLang="en-US" sz="2000" b="1" dirty="0">
                <a:solidFill>
                  <a:schemeClr val="tx1"/>
                </a:solidFill>
              </a:rPr>
              <a:t>　品質マネジメントシステム及びそのプロセス</a:t>
            </a:r>
            <a:endParaRPr lang="en-US" altLang="ja-JP" sz="2000" b="1" dirty="0">
              <a:solidFill>
                <a:schemeClr val="tx1"/>
              </a:solidFill>
            </a:endParaRPr>
          </a:p>
          <a:p>
            <a:r>
              <a:rPr lang="en-US" altLang="ja-JP" sz="2000" b="1" dirty="0">
                <a:solidFill>
                  <a:schemeClr val="tx1"/>
                </a:solidFill>
              </a:rPr>
              <a:t>4.4.1</a:t>
            </a:r>
          </a:p>
          <a:p>
            <a:r>
              <a:rPr lang="en-US" altLang="ja-JP" sz="2000" b="1" dirty="0">
                <a:solidFill>
                  <a:schemeClr val="tx1"/>
                </a:solidFill>
              </a:rPr>
              <a:t>4.4.2</a:t>
            </a:r>
            <a:r>
              <a:rPr lang="ja-JP" altLang="en-US" sz="2000" b="1" dirty="0">
                <a:solidFill>
                  <a:schemeClr val="tx1"/>
                </a:solidFill>
              </a:rPr>
              <a:t>　　　　　　　　　　　　　　　　　　　　　　　　　　　　　　　　　　　　　　　　　　　　　　　　　　　　　　　　　　　　　　　　　　　　　　　　　　　　　　　　　　　　　　　　　　　　　　　　　　　　　　　　　　　　　　　</a:t>
            </a:r>
            <a:endParaRPr kumimoji="1" lang="ja-JP" altLang="en-US" sz="2000" b="1" dirty="0">
              <a:solidFill>
                <a:schemeClr val="tx1"/>
              </a:solidFill>
            </a:endParaRPr>
          </a:p>
        </p:txBody>
      </p:sp>
      <p:sp>
        <p:nvSpPr>
          <p:cNvPr id="14" name="フローチャート: 書類 13">
            <a:extLst>
              <a:ext uri="{FF2B5EF4-FFF2-40B4-BE49-F238E27FC236}">
                <a16:creationId xmlns:a16="http://schemas.microsoft.com/office/drawing/2014/main" id="{167DD24A-F346-4C19-AD85-FB13DBD8CD81}"/>
              </a:ext>
            </a:extLst>
          </p:cNvPr>
          <p:cNvSpPr/>
          <p:nvPr/>
        </p:nvSpPr>
        <p:spPr>
          <a:xfrm>
            <a:off x="757187" y="3683446"/>
            <a:ext cx="3281413" cy="169057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4.2</a:t>
            </a:r>
            <a:r>
              <a:rPr kumimoji="1" lang="ja-JP" altLang="en-US" sz="2000" b="1" dirty="0">
                <a:solidFill>
                  <a:schemeClr val="tx1"/>
                </a:solidFill>
              </a:rPr>
              <a:t>　利害関係者のニーズ及び期待の理解</a:t>
            </a:r>
          </a:p>
        </p:txBody>
      </p:sp>
    </p:spTree>
    <p:extLst>
      <p:ext uri="{BB962C8B-B14F-4D97-AF65-F5344CB8AC3E}">
        <p14:creationId xmlns:p14="http://schemas.microsoft.com/office/powerpoint/2010/main" val="20866625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支援部門（設計センター、本社及び配給センターのような）は</a:t>
            </a:r>
            <a:r>
              <a:rPr lang="ja-JP" altLang="en-US" sz="2000" dirty="0"/>
              <a:t>、サイト内にあろうと遠隔地にあろうと、品質マネジメントシステム（</a:t>
            </a:r>
            <a:r>
              <a:rPr lang="en-US" altLang="ja-JP" sz="2000" dirty="0"/>
              <a:t>QMS</a:t>
            </a:r>
            <a:r>
              <a:rPr lang="ja-JP" altLang="en-US" sz="2000" dirty="0"/>
              <a:t>）の</a:t>
            </a:r>
            <a:r>
              <a:rPr lang="ja-JP" altLang="en-US" sz="2000" u="sng" dirty="0"/>
              <a:t>適用範囲に含めなければならない。</a:t>
            </a:r>
            <a:endParaRPr lang="en-US" altLang="ja-JP" sz="2000" u="sng" dirty="0"/>
          </a:p>
          <a:p>
            <a:pPr marL="0" indent="0">
              <a:lnSpc>
                <a:spcPct val="100000"/>
              </a:lnSpc>
              <a:buNone/>
            </a:pPr>
            <a:r>
              <a:rPr lang="ja-JP" altLang="en-US" sz="2000" dirty="0"/>
              <a:t>　この自動車産業</a:t>
            </a:r>
            <a:r>
              <a:rPr lang="en-US" altLang="ja-JP" sz="2000" dirty="0"/>
              <a:t>QMS</a:t>
            </a:r>
            <a:r>
              <a:rPr lang="ja-JP" altLang="en-US" sz="2000" dirty="0"/>
              <a:t>規格における唯一の許可される</a:t>
            </a:r>
            <a:r>
              <a:rPr lang="ja-JP" altLang="en-US" sz="2000" u="sng" dirty="0"/>
              <a:t>除外は、</a:t>
            </a:r>
            <a:r>
              <a:rPr lang="en-US" altLang="ja-JP" sz="2000" u="sng" dirty="0"/>
              <a:t>ISO9001</a:t>
            </a:r>
            <a:r>
              <a:rPr lang="ja-JP" altLang="en-US" sz="2000" u="sng" dirty="0"/>
              <a:t>の</a:t>
            </a:r>
            <a:r>
              <a:rPr lang="en-US" altLang="ja-JP" sz="2000" u="sng" dirty="0"/>
              <a:t>8.3</a:t>
            </a:r>
            <a:r>
              <a:rPr lang="ja-JP" altLang="en-US" sz="2000" u="sng" dirty="0"/>
              <a:t>における製品の設計・開発の要求事項</a:t>
            </a:r>
            <a:r>
              <a:rPr lang="ja-JP" altLang="en-US" sz="2000" dirty="0"/>
              <a:t>に関連するものである。</a:t>
            </a:r>
            <a:endParaRPr lang="en-US" altLang="ja-JP" sz="2000" dirty="0"/>
          </a:p>
          <a:p>
            <a:pPr marL="0" indent="0">
              <a:lnSpc>
                <a:spcPct val="100000"/>
              </a:lnSpc>
              <a:buNone/>
            </a:pPr>
            <a:r>
              <a:rPr lang="ja-JP" altLang="en-US" sz="2000" dirty="0"/>
              <a:t>☑除外は、文書化した情報（</a:t>
            </a:r>
            <a:r>
              <a:rPr lang="en-US" altLang="ja-JP" sz="2000" dirty="0"/>
              <a:t>ISO9001</a:t>
            </a:r>
            <a:r>
              <a:rPr lang="ja-JP" altLang="en-US" sz="2000" dirty="0"/>
              <a:t>の</a:t>
            </a:r>
            <a:r>
              <a:rPr lang="en-US" altLang="ja-JP" sz="2000" dirty="0"/>
              <a:t>7.5</a:t>
            </a:r>
            <a:r>
              <a:rPr lang="ja-JP" altLang="en-US" sz="2000" dirty="0"/>
              <a:t>参照）として</a:t>
            </a:r>
            <a:r>
              <a:rPr lang="ja-JP" altLang="en-US" sz="2000" u="sng" dirty="0"/>
              <a:t>正当性を示し維持</a:t>
            </a:r>
            <a:r>
              <a:rPr lang="ja-JP" altLang="en-US" sz="2000" dirty="0"/>
              <a:t>しなければならない。</a:t>
            </a:r>
            <a:endParaRPr lang="en-US" altLang="ja-JP" sz="2000" dirty="0"/>
          </a:p>
          <a:p>
            <a:pPr marL="0" indent="0">
              <a:lnSpc>
                <a:spcPct val="100000"/>
              </a:lnSpc>
              <a:buNone/>
            </a:pPr>
            <a:r>
              <a:rPr lang="ja-JP" altLang="en-US" sz="2000" dirty="0"/>
              <a:t>　</a:t>
            </a:r>
            <a:r>
              <a:rPr lang="ja-JP" altLang="en-US" sz="2000" u="sng" dirty="0"/>
              <a:t>許可される除外に、製造工程は含めない。</a:t>
            </a:r>
            <a:endParaRPr lang="en-US" altLang="ja-JP" sz="2000" u="sng"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4.3.1</a:t>
            </a:r>
            <a:r>
              <a:rPr kumimoji="1" lang="ja-JP" altLang="en-US" sz="3000" b="1" dirty="0">
                <a:solidFill>
                  <a:schemeClr val="tx2"/>
                </a:solidFill>
              </a:rPr>
              <a:t>　品質マネジメントシステムの適用範囲の決定－補足</a:t>
            </a:r>
          </a:p>
        </p:txBody>
      </p:sp>
    </p:spTree>
    <p:extLst>
      <p:ext uri="{BB962C8B-B14F-4D97-AF65-F5344CB8AC3E}">
        <p14:creationId xmlns:p14="http://schemas.microsoft.com/office/powerpoint/2010/main" val="173726448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en-US" altLang="ja-JP" sz="2400" dirty="0"/>
              <a:t>IATF16949</a:t>
            </a:r>
            <a:r>
              <a:rPr lang="ja-JP" altLang="en-US" sz="2400" dirty="0"/>
              <a:t>は</a:t>
            </a:r>
            <a:r>
              <a:rPr lang="ja-JP" altLang="en-US" sz="2400" dirty="0">
                <a:solidFill>
                  <a:srgbClr val="FF0000"/>
                </a:solidFill>
                <a:effectLst>
                  <a:outerShdw blurRad="38100" dist="38100" dir="2700000" algn="tl">
                    <a:srgbClr val="000000">
                      <a:alpha val="43137"/>
                    </a:srgbClr>
                  </a:outerShdw>
                </a:effectLst>
              </a:rPr>
              <a:t>適用除外に対して</a:t>
            </a:r>
            <a:r>
              <a:rPr lang="en-US" altLang="ja-JP" sz="2400" dirty="0">
                <a:solidFill>
                  <a:srgbClr val="FF0000"/>
                </a:solidFill>
                <a:effectLst>
                  <a:outerShdw blurRad="38100" dist="38100" dir="2700000" algn="tl">
                    <a:srgbClr val="000000">
                      <a:alpha val="43137"/>
                    </a:srgbClr>
                  </a:outerShdw>
                </a:effectLst>
              </a:rPr>
              <a:t>ISO9001</a:t>
            </a:r>
            <a:r>
              <a:rPr lang="ja-JP" altLang="en-US" sz="2400" dirty="0">
                <a:solidFill>
                  <a:srgbClr val="FF0000"/>
                </a:solidFill>
                <a:effectLst>
                  <a:outerShdw blurRad="38100" dist="38100" dir="2700000" algn="tl">
                    <a:srgbClr val="000000">
                      <a:alpha val="43137"/>
                    </a:srgbClr>
                  </a:outerShdw>
                </a:effectLst>
              </a:rPr>
              <a:t>より厳しい条件を規定</a:t>
            </a:r>
            <a:r>
              <a:rPr lang="ja-JP" altLang="en-US" sz="2400" dirty="0"/>
              <a:t>している。唯一の除外可能な箇条は「</a:t>
            </a:r>
            <a:r>
              <a:rPr lang="en-US" altLang="ja-JP" sz="2400" dirty="0"/>
              <a:t>ISO9001</a:t>
            </a:r>
            <a:r>
              <a:rPr lang="ja-JP" altLang="en-US" sz="2400" dirty="0"/>
              <a:t>　</a:t>
            </a:r>
            <a:r>
              <a:rPr lang="en-US" altLang="ja-JP" sz="2400" dirty="0"/>
              <a:t>8.3</a:t>
            </a:r>
            <a:r>
              <a:rPr lang="ja-JP" altLang="en-US" sz="2400" dirty="0"/>
              <a:t>における製品の設計・開発」に関連するもののみ。</a:t>
            </a:r>
            <a:endParaRPr lang="en-US" altLang="ja-JP" sz="2400" dirty="0"/>
          </a:p>
          <a:p>
            <a:pPr marL="457200" indent="-457200">
              <a:buFont typeface="+mj-lt"/>
              <a:buAutoNum type="arabicPeriod"/>
            </a:pPr>
            <a:r>
              <a:rPr lang="ja-JP" altLang="en-US" sz="2400" dirty="0"/>
              <a:t>適用除外に関する正当性は、品質マニュアルにて文書化すべき。</a:t>
            </a:r>
            <a:endParaRPr lang="en-US" altLang="ja-JP" sz="2400" dirty="0"/>
          </a:p>
          <a:p>
            <a:pPr marL="457200" indent="-457200">
              <a:buFont typeface="+mj-lt"/>
              <a:buAutoNum type="arabicPeriod"/>
            </a:pPr>
            <a:r>
              <a:rPr lang="ja-JP" altLang="en-US" sz="2400" dirty="0"/>
              <a:t>“適用事例無し”はあり得る。</a:t>
            </a:r>
            <a:endParaRPr lang="en-US" altLang="ja-JP" sz="2400" dirty="0"/>
          </a:p>
          <a:p>
            <a:pPr lvl="1">
              <a:buFont typeface="Wingdings" panose="05000000000000000000" pitchFamily="2" charset="2"/>
              <a:buChar char="Ø"/>
            </a:pPr>
            <a:r>
              <a:rPr lang="ja-JP" altLang="en-US" dirty="0"/>
              <a:t>プロセスの構築はされているが、運用案件が無い場合。</a:t>
            </a:r>
            <a:endParaRPr lang="en-US" altLang="ja-JP" dirty="0"/>
          </a:p>
          <a:p>
            <a:pPr lvl="1">
              <a:buFont typeface="Wingdings" panose="05000000000000000000" pitchFamily="2" charset="2"/>
              <a:buChar char="Ø"/>
            </a:pPr>
            <a:r>
              <a:rPr lang="ja-JP" altLang="en-US" dirty="0"/>
              <a:t>例えば、</a:t>
            </a:r>
            <a:endParaRPr lang="en-US" altLang="ja-JP" dirty="0"/>
          </a:p>
          <a:p>
            <a:pPr lvl="2"/>
            <a:r>
              <a:rPr lang="ja-JP" altLang="en-US" sz="2400" dirty="0"/>
              <a:t>顧客所有の治工具（</a:t>
            </a:r>
            <a:r>
              <a:rPr lang="en-US" altLang="ja-JP" sz="2400" dirty="0"/>
              <a:t>8.5.1.6</a:t>
            </a:r>
            <a:r>
              <a:rPr lang="ja-JP" altLang="en-US" sz="2400" dirty="0"/>
              <a:t>）が無くとも</a:t>
            </a:r>
            <a:endParaRPr lang="en-US" altLang="ja-JP" sz="2400" dirty="0"/>
          </a:p>
          <a:p>
            <a:pPr lvl="2"/>
            <a:r>
              <a:rPr lang="ja-JP" altLang="en-US" sz="2400" dirty="0"/>
              <a:t>指定された外観品目（</a:t>
            </a:r>
            <a:r>
              <a:rPr lang="en-US" altLang="ja-JP" sz="2400" dirty="0"/>
              <a:t>8.6.3</a:t>
            </a:r>
            <a:r>
              <a:rPr lang="ja-JP" altLang="en-US" sz="2400" dirty="0"/>
              <a:t>）が無くとも</a:t>
            </a:r>
            <a:endParaRPr lang="en-US" altLang="ja-JP" sz="2400" dirty="0"/>
          </a:p>
          <a:p>
            <a:pPr lvl="2"/>
            <a:r>
              <a:rPr lang="ja-JP" altLang="en-US" sz="2400" dirty="0"/>
              <a:t>製品設計の技能（</a:t>
            </a:r>
            <a:r>
              <a:rPr lang="en-US" altLang="ja-JP" sz="2400" dirty="0"/>
              <a:t>8.3.2.2</a:t>
            </a:r>
            <a:r>
              <a:rPr lang="ja-JP" altLang="en-US" sz="2400" dirty="0"/>
              <a:t>）が不要でも</a:t>
            </a:r>
            <a:endParaRPr lang="en-US" altLang="ja-JP" sz="2400" dirty="0"/>
          </a:p>
          <a:p>
            <a:pPr marL="457200" lvl="1" indent="0">
              <a:buNone/>
            </a:pPr>
            <a:r>
              <a:rPr lang="ja-JP" altLang="en-US" dirty="0"/>
              <a:t>　“適用された場合は＊＊＊＊＊する”　とする。</a:t>
            </a:r>
            <a:endParaRPr lang="en-US" altLang="ja-JP"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4.3.1</a:t>
            </a:r>
            <a:r>
              <a:rPr kumimoji="1" lang="ja-JP" altLang="en-US" sz="3000" b="1" dirty="0">
                <a:solidFill>
                  <a:schemeClr val="bg1"/>
                </a:solidFill>
              </a:rPr>
              <a:t>　品質マネジメントシステムの適用範囲の決定－補足</a:t>
            </a:r>
          </a:p>
        </p:txBody>
      </p:sp>
    </p:spTree>
    <p:extLst>
      <p:ext uri="{BB962C8B-B14F-4D97-AF65-F5344CB8AC3E}">
        <p14:creationId xmlns:p14="http://schemas.microsoft.com/office/powerpoint/2010/main" val="70680833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4"/>
            </a:pPr>
            <a:r>
              <a:rPr lang="ja-JP" altLang="en-US" sz="2400" dirty="0"/>
              <a:t>設計・開発の対象</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4.3.1</a:t>
            </a:r>
            <a:r>
              <a:rPr kumimoji="1" lang="ja-JP" altLang="en-US" sz="3000" b="1" dirty="0">
                <a:solidFill>
                  <a:schemeClr val="bg1"/>
                </a:solidFill>
              </a:rPr>
              <a:t>　品質マネジメントシステムの適用範囲の決定－補足</a:t>
            </a:r>
          </a:p>
        </p:txBody>
      </p:sp>
      <p:graphicFrame>
        <p:nvGraphicFramePr>
          <p:cNvPr id="2" name="表 5">
            <a:extLst>
              <a:ext uri="{FF2B5EF4-FFF2-40B4-BE49-F238E27FC236}">
                <a16:creationId xmlns:a16="http://schemas.microsoft.com/office/drawing/2014/main" id="{CA183304-5E6B-484B-921D-002826E56E8D}"/>
              </a:ext>
            </a:extLst>
          </p:cNvPr>
          <p:cNvGraphicFramePr>
            <a:graphicFrameLocks noGrp="1"/>
          </p:cNvGraphicFramePr>
          <p:nvPr>
            <p:extLst>
              <p:ext uri="{D42A27DB-BD31-4B8C-83A1-F6EECF244321}">
                <p14:modId xmlns:p14="http://schemas.microsoft.com/office/powerpoint/2010/main" val="2798399410"/>
              </p:ext>
            </p:extLst>
          </p:nvPr>
        </p:nvGraphicFramePr>
        <p:xfrm>
          <a:off x="838199" y="1996015"/>
          <a:ext cx="10515600" cy="2341370"/>
        </p:xfrm>
        <a:graphic>
          <a:graphicData uri="http://schemas.openxmlformats.org/drawingml/2006/table">
            <a:tbl>
              <a:tblPr firstRow="1" bandRow="1">
                <a:tableStyleId>{5940675A-B579-460E-94D1-54222C63F5DA}</a:tableStyleId>
              </a:tblPr>
              <a:tblGrid>
                <a:gridCol w="2714626">
                  <a:extLst>
                    <a:ext uri="{9D8B030D-6E8A-4147-A177-3AD203B41FA5}">
                      <a16:colId xmlns:a16="http://schemas.microsoft.com/office/drawing/2014/main" val="4073236370"/>
                    </a:ext>
                  </a:extLst>
                </a:gridCol>
                <a:gridCol w="1631950">
                  <a:extLst>
                    <a:ext uri="{9D8B030D-6E8A-4147-A177-3AD203B41FA5}">
                      <a16:colId xmlns:a16="http://schemas.microsoft.com/office/drawing/2014/main" val="527846330"/>
                    </a:ext>
                  </a:extLst>
                </a:gridCol>
                <a:gridCol w="1631950">
                  <a:extLst>
                    <a:ext uri="{9D8B030D-6E8A-4147-A177-3AD203B41FA5}">
                      <a16:colId xmlns:a16="http://schemas.microsoft.com/office/drawing/2014/main" val="93552758"/>
                    </a:ext>
                  </a:extLst>
                </a:gridCol>
                <a:gridCol w="1631950">
                  <a:extLst>
                    <a:ext uri="{9D8B030D-6E8A-4147-A177-3AD203B41FA5}">
                      <a16:colId xmlns:a16="http://schemas.microsoft.com/office/drawing/2014/main" val="217952904"/>
                    </a:ext>
                  </a:extLst>
                </a:gridCol>
                <a:gridCol w="2905124">
                  <a:extLst>
                    <a:ext uri="{9D8B030D-6E8A-4147-A177-3AD203B41FA5}">
                      <a16:colId xmlns:a16="http://schemas.microsoft.com/office/drawing/2014/main" val="921764088"/>
                    </a:ext>
                  </a:extLst>
                </a:gridCol>
              </a:tblGrid>
              <a:tr h="737505">
                <a:tc gridSpan="4">
                  <a:txBody>
                    <a:bodyPr/>
                    <a:lstStyle/>
                    <a:p>
                      <a:pPr algn="ctr"/>
                      <a:r>
                        <a:rPr kumimoji="1" lang="ja-JP" altLang="en-US" sz="2200" dirty="0"/>
                        <a:t>製品の設計・開発</a:t>
                      </a:r>
                    </a:p>
                  </a:txBody>
                  <a:tcPr anchor="ctr">
                    <a:solidFill>
                      <a:schemeClr val="tx2">
                        <a:lumMod val="40000"/>
                        <a:lumOff val="60000"/>
                      </a:schemeClr>
                    </a:solidFill>
                  </a:tcPr>
                </a:tc>
                <a:tc hMerge="1">
                  <a:txBody>
                    <a:bodyPr/>
                    <a:lstStyle/>
                    <a:p>
                      <a:endParaRPr kumimoji="1" lang="ja-JP" altLang="en-US" dirty="0"/>
                    </a:p>
                  </a:txBody>
                  <a:tcPr/>
                </a:tc>
                <a:tc hMerge="1">
                  <a:txBody>
                    <a:bodyPr/>
                    <a:lstStyle/>
                    <a:p>
                      <a:endParaRPr kumimoji="1" lang="ja-JP" altLang="en-US" dirty="0"/>
                    </a:p>
                  </a:txBody>
                  <a:tcPr/>
                </a:tc>
                <a:tc hMerge="1">
                  <a:txBody>
                    <a:bodyPr/>
                    <a:lstStyle/>
                    <a:p>
                      <a:endParaRPr kumimoji="1" lang="ja-JP" altLang="en-US" dirty="0"/>
                    </a:p>
                  </a:txBody>
                  <a:tcPr/>
                </a:tc>
                <a:tc>
                  <a:txBody>
                    <a:bodyPr/>
                    <a:lstStyle/>
                    <a:p>
                      <a:pPr algn="ctr"/>
                      <a:r>
                        <a:rPr kumimoji="1" lang="ja-JP" altLang="en-US" sz="2200" dirty="0"/>
                        <a:t>製造工程の</a:t>
                      </a:r>
                      <a:endParaRPr kumimoji="1" lang="en-US" altLang="ja-JP" sz="2200" dirty="0"/>
                    </a:p>
                    <a:p>
                      <a:pPr algn="ctr"/>
                      <a:r>
                        <a:rPr kumimoji="1" lang="ja-JP" altLang="en-US" sz="2200" dirty="0"/>
                        <a:t>設計・開発</a:t>
                      </a:r>
                    </a:p>
                  </a:txBody>
                  <a:tcPr anchor="ctr">
                    <a:solidFill>
                      <a:schemeClr val="tx2">
                        <a:lumMod val="40000"/>
                        <a:lumOff val="60000"/>
                      </a:schemeClr>
                    </a:solidFill>
                  </a:tcPr>
                </a:tc>
                <a:extLst>
                  <a:ext uri="{0D108BD9-81ED-4DB2-BD59-A6C34878D82A}">
                    <a16:rowId xmlns:a16="http://schemas.microsoft.com/office/drawing/2014/main" val="2502721689"/>
                  </a:ext>
                </a:extLst>
              </a:tr>
              <a:tr h="652047">
                <a:tc rowSpan="2">
                  <a:txBody>
                    <a:bodyPr/>
                    <a:lstStyle/>
                    <a:p>
                      <a:pPr algn="ctr"/>
                      <a:r>
                        <a:rPr kumimoji="1" lang="ja-JP" altLang="en-US" sz="2000" dirty="0"/>
                        <a:t>顧客が実施</a:t>
                      </a:r>
                    </a:p>
                  </a:txBody>
                  <a:tcPr anchor="ctr">
                    <a:solidFill>
                      <a:schemeClr val="accent6">
                        <a:lumMod val="20000"/>
                        <a:lumOff val="80000"/>
                      </a:schemeClr>
                    </a:solidFill>
                  </a:tcPr>
                </a:tc>
                <a:tc gridSpan="3">
                  <a:txBody>
                    <a:bodyPr/>
                    <a:lstStyle/>
                    <a:p>
                      <a:pPr algn="ctr"/>
                      <a:r>
                        <a:rPr kumimoji="1" lang="ja-JP" altLang="en-US" sz="2200" dirty="0"/>
                        <a:t>顧客以外で実施</a:t>
                      </a:r>
                    </a:p>
                  </a:txBody>
                  <a:tcPr anchor="ctr">
                    <a:solidFill>
                      <a:schemeClr val="accent5">
                        <a:lumMod val="20000"/>
                        <a:lumOff val="80000"/>
                      </a:schemeClr>
                    </a:solidFill>
                  </a:tcPr>
                </a:tc>
                <a:tc hMerge="1">
                  <a:txBody>
                    <a:bodyPr/>
                    <a:lstStyle/>
                    <a:p>
                      <a:endParaRPr kumimoji="1" lang="ja-JP" altLang="en-US" dirty="0"/>
                    </a:p>
                  </a:txBody>
                  <a:tcPr/>
                </a:tc>
                <a:tc hMerge="1">
                  <a:txBody>
                    <a:bodyPr/>
                    <a:lstStyle/>
                    <a:p>
                      <a:endParaRPr kumimoji="1" lang="ja-JP" altLang="en-US" dirty="0"/>
                    </a:p>
                  </a:txBody>
                  <a:tcPr/>
                </a:tc>
                <a:tc rowSpan="2">
                  <a:txBody>
                    <a:bodyPr/>
                    <a:lstStyle/>
                    <a:p>
                      <a:pPr algn="ctr"/>
                      <a:r>
                        <a:rPr kumimoji="1" lang="ja-JP" altLang="en-US" sz="2200" dirty="0"/>
                        <a:t>部品製造事業所で実施するはず</a:t>
                      </a:r>
                      <a:endParaRPr kumimoji="1" lang="en-US" altLang="ja-JP" sz="2200" dirty="0"/>
                    </a:p>
                    <a:p>
                      <a:pPr algn="l"/>
                      <a:r>
                        <a:rPr kumimoji="1" lang="en-US" altLang="ja-JP" sz="1600" dirty="0"/>
                        <a:t>※</a:t>
                      </a:r>
                      <a:r>
                        <a:rPr kumimoji="1" lang="ja-JP" altLang="en-US" sz="1600" dirty="0"/>
                        <a:t>顧客が組織の工程設計を行う場合が散見されるが責任は組織が持つべき。</a:t>
                      </a:r>
                    </a:p>
                  </a:txBody>
                  <a:tcPr anchor="ctr">
                    <a:solidFill>
                      <a:schemeClr val="accent4">
                        <a:lumMod val="20000"/>
                        <a:lumOff val="80000"/>
                      </a:schemeClr>
                    </a:solidFill>
                  </a:tcPr>
                </a:tc>
                <a:extLst>
                  <a:ext uri="{0D108BD9-81ED-4DB2-BD59-A6C34878D82A}">
                    <a16:rowId xmlns:a16="http://schemas.microsoft.com/office/drawing/2014/main" val="2237503450"/>
                  </a:ext>
                </a:extLst>
              </a:tr>
              <a:tr h="927323">
                <a:tc vMerge="1">
                  <a:txBody>
                    <a:bodyPr/>
                    <a:lstStyle/>
                    <a:p>
                      <a:endParaRPr kumimoji="1" lang="ja-JP" altLang="en-US" dirty="0"/>
                    </a:p>
                  </a:txBody>
                  <a:tcPr/>
                </a:tc>
                <a:tc>
                  <a:txBody>
                    <a:bodyPr/>
                    <a:lstStyle/>
                    <a:p>
                      <a:pPr algn="ctr"/>
                      <a:r>
                        <a:rPr kumimoji="1" lang="ja-JP" altLang="en-US" sz="2200" dirty="0"/>
                        <a:t>組織が実施</a:t>
                      </a:r>
                    </a:p>
                  </a:txBody>
                  <a:tcPr anchor="ctr">
                    <a:solidFill>
                      <a:schemeClr val="accent5">
                        <a:lumMod val="20000"/>
                        <a:lumOff val="80000"/>
                      </a:schemeClr>
                    </a:solidFill>
                  </a:tcPr>
                </a:tc>
                <a:tc>
                  <a:txBody>
                    <a:bodyPr/>
                    <a:lstStyle/>
                    <a:p>
                      <a:pPr algn="ctr"/>
                      <a:r>
                        <a:rPr kumimoji="1" lang="ja-JP" altLang="en-US" sz="2200" dirty="0"/>
                        <a:t>関連会社が</a:t>
                      </a:r>
                      <a:endParaRPr kumimoji="1" lang="en-US" altLang="ja-JP" sz="2200" dirty="0"/>
                    </a:p>
                    <a:p>
                      <a:pPr algn="ctr"/>
                      <a:r>
                        <a:rPr kumimoji="1" lang="ja-JP" altLang="en-US" sz="2200" dirty="0"/>
                        <a:t>実施</a:t>
                      </a:r>
                    </a:p>
                  </a:txBody>
                  <a:tcPr anchor="ctr">
                    <a:solidFill>
                      <a:schemeClr val="accent5">
                        <a:lumMod val="20000"/>
                        <a:lumOff val="80000"/>
                      </a:schemeClr>
                    </a:solidFill>
                  </a:tcPr>
                </a:tc>
                <a:tc>
                  <a:txBody>
                    <a:bodyPr/>
                    <a:lstStyle/>
                    <a:p>
                      <a:pPr algn="ctr"/>
                      <a:r>
                        <a:rPr kumimoji="1" lang="ja-JP" altLang="en-US" sz="2200" dirty="0"/>
                        <a:t>アウトソース先が実施</a:t>
                      </a:r>
                    </a:p>
                  </a:txBody>
                  <a:tcPr anchor="ctr">
                    <a:solidFill>
                      <a:schemeClr val="accent5">
                        <a:lumMod val="20000"/>
                        <a:lumOff val="80000"/>
                      </a:schemeClr>
                    </a:solidFill>
                  </a:tcPr>
                </a:tc>
                <a:tc vMerge="1">
                  <a:txBody>
                    <a:bodyPr/>
                    <a:lstStyle/>
                    <a:p>
                      <a:endParaRPr kumimoji="1" lang="ja-JP" altLang="en-US" dirty="0"/>
                    </a:p>
                  </a:txBody>
                  <a:tcPr/>
                </a:tc>
                <a:extLst>
                  <a:ext uri="{0D108BD9-81ED-4DB2-BD59-A6C34878D82A}">
                    <a16:rowId xmlns:a16="http://schemas.microsoft.com/office/drawing/2014/main" val="4229463291"/>
                  </a:ext>
                </a:extLst>
              </a:tr>
            </a:tbl>
          </a:graphicData>
        </a:graphic>
      </p:graphicFrame>
      <p:graphicFrame>
        <p:nvGraphicFramePr>
          <p:cNvPr id="8" name="表 5">
            <a:extLst>
              <a:ext uri="{FF2B5EF4-FFF2-40B4-BE49-F238E27FC236}">
                <a16:creationId xmlns:a16="http://schemas.microsoft.com/office/drawing/2014/main" id="{B79789DF-1448-4457-B0F0-916B26D63D20}"/>
              </a:ext>
            </a:extLst>
          </p:cNvPr>
          <p:cNvGraphicFramePr>
            <a:graphicFrameLocks noGrp="1"/>
          </p:cNvGraphicFramePr>
          <p:nvPr>
            <p:extLst>
              <p:ext uri="{D42A27DB-BD31-4B8C-83A1-F6EECF244321}">
                <p14:modId xmlns:p14="http://schemas.microsoft.com/office/powerpoint/2010/main" val="892566980"/>
              </p:ext>
            </p:extLst>
          </p:nvPr>
        </p:nvGraphicFramePr>
        <p:xfrm>
          <a:off x="838199" y="4959927"/>
          <a:ext cx="10515600" cy="939993"/>
        </p:xfrm>
        <a:graphic>
          <a:graphicData uri="http://schemas.openxmlformats.org/drawingml/2006/table">
            <a:tbl>
              <a:tblPr firstRow="1" bandRow="1">
                <a:tableStyleId>{5940675A-B579-460E-94D1-54222C63F5DA}</a:tableStyleId>
              </a:tblPr>
              <a:tblGrid>
                <a:gridCol w="2714626">
                  <a:extLst>
                    <a:ext uri="{9D8B030D-6E8A-4147-A177-3AD203B41FA5}">
                      <a16:colId xmlns:a16="http://schemas.microsoft.com/office/drawing/2014/main" val="4073236370"/>
                    </a:ext>
                  </a:extLst>
                </a:gridCol>
                <a:gridCol w="4895850">
                  <a:extLst>
                    <a:ext uri="{9D8B030D-6E8A-4147-A177-3AD203B41FA5}">
                      <a16:colId xmlns:a16="http://schemas.microsoft.com/office/drawing/2014/main" val="527846330"/>
                    </a:ext>
                  </a:extLst>
                </a:gridCol>
                <a:gridCol w="2905124">
                  <a:extLst>
                    <a:ext uri="{9D8B030D-6E8A-4147-A177-3AD203B41FA5}">
                      <a16:colId xmlns:a16="http://schemas.microsoft.com/office/drawing/2014/main" val="921764088"/>
                    </a:ext>
                  </a:extLst>
                </a:gridCol>
              </a:tblGrid>
              <a:tr h="939993">
                <a:tc>
                  <a:txBody>
                    <a:bodyPr/>
                    <a:lstStyle/>
                    <a:p>
                      <a:pPr algn="ctr"/>
                      <a:r>
                        <a:rPr kumimoji="1" lang="ja-JP" altLang="en-US" sz="2200" dirty="0"/>
                        <a:t>製品の設計・開発は適用除外</a:t>
                      </a:r>
                    </a:p>
                  </a:txBody>
                  <a:tcPr anchor="ctr" anchorCtr="1">
                    <a:solidFill>
                      <a:schemeClr val="accent6">
                        <a:lumMod val="20000"/>
                        <a:lumOff val="80000"/>
                      </a:schemeClr>
                    </a:solidFill>
                  </a:tcPr>
                </a:tc>
                <a:tc>
                  <a:txBody>
                    <a:bodyPr/>
                    <a:lstStyle/>
                    <a:p>
                      <a:pPr algn="ctr"/>
                      <a:r>
                        <a:rPr kumimoji="1" lang="ja-JP" altLang="en-US" sz="2200" dirty="0"/>
                        <a:t>製品の設計・開発は適用</a:t>
                      </a:r>
                    </a:p>
                  </a:txBody>
                  <a:tcPr anchor="ctr" anchorCtr="1">
                    <a:solidFill>
                      <a:schemeClr val="accent5">
                        <a:lumMod val="20000"/>
                        <a:lumOff val="80000"/>
                      </a:schemeClr>
                    </a:solidFill>
                  </a:tcPr>
                </a:tc>
                <a:tc>
                  <a:txBody>
                    <a:bodyPr/>
                    <a:lstStyle/>
                    <a:p>
                      <a:pPr algn="ctr"/>
                      <a:r>
                        <a:rPr kumimoji="1" lang="ja-JP" altLang="en-US" sz="2200" dirty="0"/>
                        <a:t>製造工程の設計・開発は適用</a:t>
                      </a:r>
                    </a:p>
                  </a:txBody>
                  <a:tcPr anchor="ctr" anchorCtr="1">
                    <a:solidFill>
                      <a:schemeClr val="accent4">
                        <a:lumMod val="20000"/>
                        <a:lumOff val="80000"/>
                      </a:schemeClr>
                    </a:solidFill>
                  </a:tcPr>
                </a:tc>
                <a:extLst>
                  <a:ext uri="{0D108BD9-81ED-4DB2-BD59-A6C34878D82A}">
                    <a16:rowId xmlns:a16="http://schemas.microsoft.com/office/drawing/2014/main" val="2502721689"/>
                  </a:ext>
                </a:extLst>
              </a:tr>
            </a:tbl>
          </a:graphicData>
        </a:graphic>
      </p:graphicFrame>
      <p:sp>
        <p:nvSpPr>
          <p:cNvPr id="7" name="矢印: 下 6">
            <a:extLst>
              <a:ext uri="{FF2B5EF4-FFF2-40B4-BE49-F238E27FC236}">
                <a16:creationId xmlns:a16="http://schemas.microsoft.com/office/drawing/2014/main" id="{F1D9D7EA-B77E-4E77-B58F-D56009DCDDD5}"/>
              </a:ext>
            </a:extLst>
          </p:cNvPr>
          <p:cNvSpPr/>
          <p:nvPr/>
        </p:nvSpPr>
        <p:spPr>
          <a:xfrm>
            <a:off x="5376861" y="4465290"/>
            <a:ext cx="1438275" cy="342237"/>
          </a:xfrm>
          <a:prstGeom prst="downArrow">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11297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3999"/>
            <a:ext cx="10515600" cy="1075981"/>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顧客固有要求事項は</a:t>
            </a:r>
            <a:r>
              <a:rPr lang="ja-JP" altLang="en-US" sz="2000" dirty="0"/>
              <a:t>、評価し、組織の品質マネジメントシステムの</a:t>
            </a:r>
            <a:r>
              <a:rPr lang="ja-JP" altLang="en-US" sz="2000" u="sng" dirty="0"/>
              <a:t>適用範囲</a:t>
            </a:r>
            <a:r>
              <a:rPr lang="ja-JP" altLang="en-US" sz="2000" dirty="0"/>
              <a:t>に含めなければならない。</a:t>
            </a: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4.3.2</a:t>
            </a:r>
            <a:r>
              <a:rPr lang="ja-JP" altLang="en-US" sz="3000" b="1" dirty="0">
                <a:solidFill>
                  <a:schemeClr val="tx2"/>
                </a:solidFill>
              </a:rPr>
              <a:t>　顧客固有要求事項</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289743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4.3.2</a:t>
            </a:r>
            <a:r>
              <a:rPr lang="ja-JP" altLang="en-US" sz="3000" b="1" dirty="0">
                <a:solidFill>
                  <a:schemeClr val="bg1"/>
                </a:solidFill>
              </a:rPr>
              <a:t>　顧客固有要求事項</a:t>
            </a:r>
          </a:p>
        </p:txBody>
      </p:sp>
      <p:sp>
        <p:nvSpPr>
          <p:cNvPr id="7" name="コンテンツ プレースホルダー 2">
            <a:extLst>
              <a:ext uri="{FF2B5EF4-FFF2-40B4-BE49-F238E27FC236}">
                <a16:creationId xmlns:a16="http://schemas.microsoft.com/office/drawing/2014/main" id="{62C0B2CC-F228-4E44-8983-3B7BB62CD4F3}"/>
              </a:ext>
            </a:extLst>
          </p:cNvPr>
          <p:cNvSpPr txBox="1">
            <a:spLocks/>
          </p:cNvSpPr>
          <p:nvPr/>
        </p:nvSpPr>
        <p:spPr>
          <a:xfrm>
            <a:off x="838200" y="4048960"/>
            <a:ext cx="10515600" cy="2307390"/>
          </a:xfrm>
          <a:prstGeom prst="rect">
            <a:avLst/>
          </a:prstGeom>
          <a:ln w="12700">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en-US" altLang="ja-JP" sz="2400" dirty="0"/>
              <a:t>IATF</a:t>
            </a:r>
            <a:r>
              <a:rPr lang="ja-JP" altLang="en-US" sz="2400" dirty="0"/>
              <a:t>認証取得・維持ルール（ルール</a:t>
            </a:r>
            <a:r>
              <a:rPr lang="en-US" altLang="ja-JP" sz="2400" dirty="0"/>
              <a:t>5</a:t>
            </a:r>
            <a:r>
              <a:rPr lang="ja-JP" altLang="en-US" sz="2400" dirty="0"/>
              <a:t>）</a:t>
            </a:r>
            <a:r>
              <a:rPr lang="en-US" altLang="ja-JP" sz="2400" dirty="0"/>
              <a:t>6.5.1h)</a:t>
            </a:r>
          </a:p>
          <a:p>
            <a:pPr lvl="1">
              <a:buFont typeface="Wingdings" panose="05000000000000000000" pitchFamily="2" charset="2"/>
              <a:buChar char="Ø"/>
            </a:pPr>
            <a:r>
              <a:rPr lang="ja-JP" altLang="en-US" dirty="0"/>
              <a:t>顧客リスト及びその顧客固有要求事項を審査に提示する。</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重要な審査基準となる。（審査員は顧客の代理人）</a:t>
            </a:r>
            <a:endParaRPr lang="en-US" altLang="ja-JP" dirty="0">
              <a:solidFill>
                <a:srgbClr val="FF0000"/>
              </a:solidFill>
              <a:effectLst>
                <a:outerShdw blurRad="38100" dist="38100" dir="2700000" algn="tl">
                  <a:srgbClr val="000000">
                    <a:alpha val="43137"/>
                  </a:srgbClr>
                </a:outerShdw>
              </a:effectLst>
            </a:endParaRPr>
          </a:p>
          <a:p>
            <a:pPr marL="457200" indent="-457200">
              <a:buFont typeface="+mj-lt"/>
              <a:buAutoNum type="arabicPeriod"/>
            </a:pPr>
            <a:r>
              <a:rPr lang="ja-JP" altLang="en-US" sz="2400" dirty="0"/>
              <a:t>顧客固有要求事項が存在するか否か、存在する場合、組織の</a:t>
            </a:r>
            <a:r>
              <a:rPr lang="en-US" altLang="ja-JP" sz="2400" dirty="0"/>
              <a:t>QMS</a:t>
            </a:r>
            <a:r>
              <a:rPr lang="ja-JP" altLang="en-US" sz="2400" dirty="0"/>
              <a:t>にどう適用するかを明確にする。（マニュアル／マトリクスなど）</a:t>
            </a:r>
            <a:endParaRPr lang="en-US" altLang="ja-JP" sz="2400" dirty="0"/>
          </a:p>
          <a:p>
            <a:pPr marL="514350" indent="-514350">
              <a:buFont typeface="+mj-lt"/>
              <a:buAutoNum type="arabicPeriod"/>
            </a:pPr>
            <a:endParaRPr lang="ja-JP" altLang="en-US" dirty="0"/>
          </a:p>
          <a:p>
            <a:pPr marL="514350" indent="-514350">
              <a:buFont typeface="+mj-lt"/>
              <a:buAutoNum type="arabicPeriod"/>
            </a:pPr>
            <a:endParaRPr lang="en-US" altLang="ja-JP" dirty="0"/>
          </a:p>
        </p:txBody>
      </p:sp>
    </p:spTree>
    <p:extLst>
      <p:ext uri="{BB962C8B-B14F-4D97-AF65-F5344CB8AC3E}">
        <p14:creationId xmlns:p14="http://schemas.microsoft.com/office/powerpoint/2010/main" val="8877477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87475"/>
            <a:ext cx="10515600" cy="457200"/>
          </a:xfrm>
          <a:ln w="12700">
            <a:noFill/>
          </a:ln>
        </p:spPr>
        <p:txBody>
          <a:bodyPr>
            <a:normAutofit/>
          </a:bodyPr>
          <a:lstStyle/>
          <a:p>
            <a:pPr marL="457200" indent="-457200">
              <a:buFont typeface="+mj-lt"/>
              <a:buAutoNum type="arabicPeriod" startAt="3"/>
            </a:pPr>
            <a:r>
              <a:rPr lang="ja-JP" altLang="en-US" sz="2400" dirty="0"/>
              <a:t>まとめ方の事例</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4.3.2</a:t>
            </a:r>
            <a:r>
              <a:rPr lang="ja-JP" altLang="en-US" sz="3000" b="1" dirty="0">
                <a:solidFill>
                  <a:schemeClr val="bg1"/>
                </a:solidFill>
              </a:rPr>
              <a:t>　顧客固有要求事項</a:t>
            </a:r>
          </a:p>
        </p:txBody>
      </p:sp>
      <p:pic>
        <p:nvPicPr>
          <p:cNvPr id="10" name="図 9">
            <a:extLst>
              <a:ext uri="{FF2B5EF4-FFF2-40B4-BE49-F238E27FC236}">
                <a16:creationId xmlns:a16="http://schemas.microsoft.com/office/drawing/2014/main" id="{299D1B21-83BB-4867-9E15-94E4D7C4D9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44675"/>
            <a:ext cx="10515600" cy="4511675"/>
          </a:xfrm>
          <a:prstGeom prst="rect">
            <a:avLst/>
          </a:prstGeom>
          <a:noFill/>
          <a:extLst>
            <a:ext uri="{909E8E84-426E-40DD-AFC4-6F175D3DCCD1}">
              <a14:hiddenFill xmlns:a14="http://schemas.microsoft.com/office/drawing/2010/main">
                <a:solidFill>
                  <a:srgbClr val="FFFFFF"/>
                </a:solidFill>
              </a14:hiddenFill>
            </a:ext>
          </a:extLst>
        </p:spPr>
      </p:pic>
      <p:sp>
        <p:nvSpPr>
          <p:cNvPr id="6" name="吹き出し: 角を丸めた四角形 5">
            <a:extLst>
              <a:ext uri="{FF2B5EF4-FFF2-40B4-BE49-F238E27FC236}">
                <a16:creationId xmlns:a16="http://schemas.microsoft.com/office/drawing/2014/main" id="{F54B17FF-445B-4D47-A57E-FCC3D9441697}"/>
              </a:ext>
            </a:extLst>
          </p:cNvPr>
          <p:cNvSpPr/>
          <p:nvPr/>
        </p:nvSpPr>
        <p:spPr>
          <a:xfrm>
            <a:off x="3870325" y="4102101"/>
            <a:ext cx="2009775" cy="762000"/>
          </a:xfrm>
          <a:prstGeom prst="wedgeRoundRectCallout">
            <a:avLst>
              <a:gd name="adj1" fmla="val -46253"/>
              <a:gd name="adj2" fmla="val 5991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rgbClr val="FF0000"/>
                </a:solidFill>
              </a:rPr>
              <a:t>赤字が顧客固有要求事項あり</a:t>
            </a:r>
            <a:endParaRPr lang="en-US" altLang="ja-JP" dirty="0">
              <a:solidFill>
                <a:srgbClr val="FF0000"/>
              </a:solidFill>
            </a:endParaRPr>
          </a:p>
        </p:txBody>
      </p:sp>
    </p:spTree>
    <p:extLst>
      <p:ext uri="{BB962C8B-B14F-4D97-AF65-F5344CB8AC3E}">
        <p14:creationId xmlns:p14="http://schemas.microsoft.com/office/powerpoint/2010/main" val="16170013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79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714959"/>
          </a:xfrm>
          <a:ln w="12700">
            <a:noFill/>
          </a:ln>
        </p:spPr>
        <p:txBody>
          <a:bodyPr>
            <a:normAutofit/>
          </a:bodyPr>
          <a:lstStyle/>
          <a:p>
            <a:pPr marL="457200" indent="-457200">
              <a:buFont typeface="+mj-lt"/>
              <a:buAutoNum type="arabicPeriod"/>
            </a:pPr>
            <a:r>
              <a:rPr lang="en-US" altLang="ja-JP" sz="2400" dirty="0"/>
              <a:t>ISO9001</a:t>
            </a:r>
            <a:r>
              <a:rPr lang="ja-JP" altLang="en-US" sz="2400" dirty="0"/>
              <a:t>では軽視されがちであるが、</a:t>
            </a:r>
            <a:r>
              <a:rPr lang="en-US" altLang="ja-JP" sz="2400" dirty="0"/>
              <a:t>IATF16949</a:t>
            </a:r>
            <a:r>
              <a:rPr lang="ja-JP" altLang="en-US" sz="2400" dirty="0"/>
              <a:t>においては「正しく」「確実に」実施する必要がある。</a:t>
            </a:r>
            <a:endParaRPr lang="en-US" altLang="ja-JP" sz="2400" dirty="0"/>
          </a:p>
          <a:p>
            <a:pPr marL="457200" indent="-457200">
              <a:buFont typeface="+mj-lt"/>
              <a:buAutoNum type="arabicPeriod"/>
            </a:pPr>
            <a:r>
              <a:rPr lang="ja-JP" altLang="en-US" sz="2400" dirty="0"/>
              <a:t>審査は、品質マニュアルよりプロセス管理の文書に基づいて実施される。</a:t>
            </a:r>
            <a:endParaRPr lang="en-US" altLang="ja-JP" sz="2400" dirty="0"/>
          </a:p>
          <a:p>
            <a:pPr marL="457200" indent="-457200">
              <a:buFont typeface="+mj-lt"/>
              <a:buAutoNum type="arabicPeriod"/>
            </a:pPr>
            <a:r>
              <a:rPr lang="ja-JP" altLang="en-US" sz="2400" dirty="0">
                <a:solidFill>
                  <a:srgbClr val="FF0000"/>
                </a:solidFill>
                <a:effectLst>
                  <a:outerShdw blurRad="38100" dist="38100" dir="2700000" algn="tl">
                    <a:srgbClr val="000000">
                      <a:alpha val="43137"/>
                    </a:srgbClr>
                  </a:outerShdw>
                </a:effectLst>
              </a:rPr>
              <a:t>自動車産業プロセスアプローチの特徴</a:t>
            </a:r>
            <a:endParaRPr lang="en-US" altLang="ja-JP" dirty="0">
              <a:solidFill>
                <a:srgbClr val="FF0000"/>
              </a:solidFill>
              <a:effectLst>
                <a:outerShdw blurRad="38100" dist="38100" dir="2700000" algn="tl">
                  <a:srgbClr val="000000">
                    <a:alpha val="43137"/>
                  </a:srgbClr>
                </a:outerShdw>
              </a:effectLst>
            </a:endParaRPr>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a:t>
            </a:r>
            <a:endParaRPr kumimoji="1" lang="ja-JP" altLang="en-US" sz="3000" b="1" dirty="0">
              <a:solidFill>
                <a:schemeClr val="bg1"/>
              </a:solidFill>
            </a:endParaRPr>
          </a:p>
        </p:txBody>
      </p:sp>
      <p:graphicFrame>
        <p:nvGraphicFramePr>
          <p:cNvPr id="2" name="図表 1">
            <a:extLst>
              <a:ext uri="{FF2B5EF4-FFF2-40B4-BE49-F238E27FC236}">
                <a16:creationId xmlns:a16="http://schemas.microsoft.com/office/drawing/2014/main" id="{E68C8D5F-6119-4CD1-8BE4-9021AB09345A}"/>
              </a:ext>
            </a:extLst>
          </p:cNvPr>
          <p:cNvGraphicFramePr/>
          <p:nvPr>
            <p:extLst>
              <p:ext uri="{D42A27DB-BD31-4B8C-83A1-F6EECF244321}">
                <p14:modId xmlns:p14="http://schemas.microsoft.com/office/powerpoint/2010/main" val="342130463"/>
              </p:ext>
            </p:extLst>
          </p:nvPr>
        </p:nvGraphicFramePr>
        <p:xfrm>
          <a:off x="1520328" y="3238959"/>
          <a:ext cx="8639672" cy="31173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64923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プロセスとは</a:t>
            </a:r>
            <a:endParaRPr lang="en-US" altLang="ja-JP" sz="2400" dirty="0"/>
          </a:p>
          <a:p>
            <a:pPr lvl="1">
              <a:buFont typeface="Wingdings" panose="05000000000000000000" pitchFamily="2" charset="2"/>
              <a:buChar char="Ø"/>
            </a:pPr>
            <a:r>
              <a:rPr lang="ja-JP" altLang="en-US" dirty="0"/>
              <a:t>インプットを使用して、意図した結果を生み出す、相互に関連する、または相互に作用する一連の活動。</a:t>
            </a:r>
            <a:endParaRPr lang="en-US" altLang="ja-JP" dirty="0"/>
          </a:p>
          <a:p>
            <a:pPr lvl="1">
              <a:buFont typeface="Wingdings" panose="05000000000000000000" pitchFamily="2" charset="2"/>
              <a:buChar char="Ø"/>
            </a:pPr>
            <a:r>
              <a:rPr lang="ja-JP" altLang="en-US" dirty="0"/>
              <a:t>すなわち、</a:t>
            </a:r>
            <a:r>
              <a:rPr lang="ja-JP" altLang="en-US" dirty="0">
                <a:solidFill>
                  <a:srgbClr val="FF0000"/>
                </a:solidFill>
                <a:effectLst>
                  <a:outerShdw blurRad="38100" dist="38100" dir="2700000" algn="tl">
                    <a:srgbClr val="000000">
                      <a:alpha val="43137"/>
                    </a:srgbClr>
                  </a:outerShdw>
                </a:effectLst>
              </a:rPr>
              <a:t>組織内の各活動（業務）そのものがプロセス</a:t>
            </a:r>
            <a:r>
              <a:rPr lang="ja-JP" altLang="en-US" dirty="0"/>
              <a:t>である。</a:t>
            </a:r>
            <a:endParaRPr lang="en-US" altLang="ja-JP" dirty="0"/>
          </a:p>
          <a:p>
            <a:pPr marL="514350" indent="-514350">
              <a:buFont typeface="+mj-lt"/>
              <a:buAutoNum type="arabicPeriod"/>
            </a:pPr>
            <a:r>
              <a:rPr lang="ja-JP" altLang="en-US" sz="2400" dirty="0"/>
              <a:t>プロセスのインプットとアウトプットのイメージ</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プロセスアプローチ（ＱＭＳとプロセス）</a:t>
            </a:r>
            <a:endParaRPr kumimoji="1" lang="ja-JP" altLang="en-US" sz="3000" b="1" dirty="0">
              <a:solidFill>
                <a:schemeClr val="bg1"/>
              </a:solidFill>
            </a:endParaRPr>
          </a:p>
        </p:txBody>
      </p:sp>
      <p:sp>
        <p:nvSpPr>
          <p:cNvPr id="6" name="正方形/長方形 5">
            <a:extLst>
              <a:ext uri="{FF2B5EF4-FFF2-40B4-BE49-F238E27FC236}">
                <a16:creationId xmlns:a16="http://schemas.microsoft.com/office/drawing/2014/main" id="{B1BA9AFF-CFB7-48C9-8E57-C1A7CEED7F6B}"/>
              </a:ext>
            </a:extLst>
          </p:cNvPr>
          <p:cNvSpPr/>
          <p:nvPr/>
        </p:nvSpPr>
        <p:spPr>
          <a:xfrm>
            <a:off x="864367" y="3554391"/>
            <a:ext cx="1940345"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rPr>
              <a:t>前のＰ</a:t>
            </a:r>
            <a:endParaRPr kumimoji="1" lang="ja-JP" altLang="en-US" sz="1600" dirty="0">
              <a:solidFill>
                <a:schemeClr val="tx1"/>
              </a:solidFill>
            </a:endParaRPr>
          </a:p>
        </p:txBody>
      </p:sp>
      <p:sp>
        <p:nvSpPr>
          <p:cNvPr id="8" name="正方形/長方形 7">
            <a:extLst>
              <a:ext uri="{FF2B5EF4-FFF2-40B4-BE49-F238E27FC236}">
                <a16:creationId xmlns:a16="http://schemas.microsoft.com/office/drawing/2014/main" id="{3852AB76-5400-423B-8363-C1DAE21E70C8}"/>
              </a:ext>
            </a:extLst>
          </p:cNvPr>
          <p:cNvSpPr/>
          <p:nvPr/>
        </p:nvSpPr>
        <p:spPr>
          <a:xfrm>
            <a:off x="9413455" y="3554391"/>
            <a:ext cx="1940345"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rPr>
              <a:t>次のＰ</a:t>
            </a:r>
            <a:endParaRPr kumimoji="1" lang="ja-JP" altLang="en-US" sz="1600" dirty="0">
              <a:solidFill>
                <a:schemeClr val="tx1"/>
              </a:solidFill>
            </a:endParaRPr>
          </a:p>
        </p:txBody>
      </p:sp>
      <p:sp>
        <p:nvSpPr>
          <p:cNvPr id="10" name="正方形/長方形 9">
            <a:extLst>
              <a:ext uri="{FF2B5EF4-FFF2-40B4-BE49-F238E27FC236}">
                <a16:creationId xmlns:a16="http://schemas.microsoft.com/office/drawing/2014/main" id="{6157FC4B-8195-4AF3-9CAC-B6F9BE16D8F4}"/>
              </a:ext>
            </a:extLst>
          </p:cNvPr>
          <p:cNvSpPr/>
          <p:nvPr/>
        </p:nvSpPr>
        <p:spPr>
          <a:xfrm>
            <a:off x="3001639" y="3554391"/>
            <a:ext cx="1940345"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インプット</a:t>
            </a:r>
            <a:endParaRPr kumimoji="1" lang="en-US" altLang="ja-JP" sz="1600" dirty="0">
              <a:solidFill>
                <a:schemeClr val="tx1"/>
              </a:solidFill>
            </a:endParaRPr>
          </a:p>
          <a:p>
            <a:pPr algn="ctr"/>
            <a:r>
              <a:rPr lang="ja-JP" altLang="en-US" sz="1600" dirty="0">
                <a:solidFill>
                  <a:schemeClr val="tx1"/>
                </a:solidFill>
              </a:rPr>
              <a:t>（条件）</a:t>
            </a:r>
            <a:endParaRPr kumimoji="1" lang="ja-JP" altLang="en-US" sz="1600" dirty="0">
              <a:solidFill>
                <a:schemeClr val="tx1"/>
              </a:solidFill>
            </a:endParaRPr>
          </a:p>
        </p:txBody>
      </p:sp>
      <p:sp>
        <p:nvSpPr>
          <p:cNvPr id="11" name="正方形/長方形 10">
            <a:extLst>
              <a:ext uri="{FF2B5EF4-FFF2-40B4-BE49-F238E27FC236}">
                <a16:creationId xmlns:a16="http://schemas.microsoft.com/office/drawing/2014/main" id="{2E66FB0D-16B2-4EEC-A963-B283F9007ED8}"/>
              </a:ext>
            </a:extLst>
          </p:cNvPr>
          <p:cNvSpPr/>
          <p:nvPr/>
        </p:nvSpPr>
        <p:spPr>
          <a:xfrm>
            <a:off x="5138911" y="3554391"/>
            <a:ext cx="1940345"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プロセス</a:t>
            </a:r>
            <a:endParaRPr kumimoji="1" lang="en-US" altLang="ja-JP" sz="1600" dirty="0">
              <a:solidFill>
                <a:schemeClr val="tx1"/>
              </a:solidFill>
            </a:endParaRPr>
          </a:p>
          <a:p>
            <a:pPr algn="ctr"/>
            <a:r>
              <a:rPr lang="ja-JP" altLang="en-US" sz="1600" dirty="0">
                <a:solidFill>
                  <a:schemeClr val="tx1"/>
                </a:solidFill>
              </a:rPr>
              <a:t>（活動）</a:t>
            </a:r>
            <a:endParaRPr kumimoji="1" lang="ja-JP" altLang="en-US" sz="1600" dirty="0">
              <a:solidFill>
                <a:schemeClr val="tx1"/>
              </a:solidFill>
            </a:endParaRPr>
          </a:p>
        </p:txBody>
      </p:sp>
      <p:sp>
        <p:nvSpPr>
          <p:cNvPr id="12" name="正方形/長方形 11">
            <a:extLst>
              <a:ext uri="{FF2B5EF4-FFF2-40B4-BE49-F238E27FC236}">
                <a16:creationId xmlns:a16="http://schemas.microsoft.com/office/drawing/2014/main" id="{0923CAC4-20E3-4BDA-A78E-53A4A1FB3609}"/>
              </a:ext>
            </a:extLst>
          </p:cNvPr>
          <p:cNvSpPr/>
          <p:nvPr/>
        </p:nvSpPr>
        <p:spPr>
          <a:xfrm>
            <a:off x="7276183" y="3554391"/>
            <a:ext cx="1940345"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アウトプット</a:t>
            </a:r>
            <a:endParaRPr kumimoji="1" lang="en-US" altLang="ja-JP" sz="1600" dirty="0">
              <a:solidFill>
                <a:schemeClr val="tx1"/>
              </a:solidFill>
            </a:endParaRPr>
          </a:p>
          <a:p>
            <a:pPr algn="ctr"/>
            <a:r>
              <a:rPr lang="ja-JP" altLang="en-US" sz="1600" dirty="0">
                <a:solidFill>
                  <a:schemeClr val="tx1"/>
                </a:solidFill>
              </a:rPr>
              <a:t>（結果）</a:t>
            </a:r>
            <a:endParaRPr kumimoji="1" lang="ja-JP" altLang="en-US" sz="1600" dirty="0">
              <a:solidFill>
                <a:schemeClr val="tx1"/>
              </a:solidFill>
            </a:endParaRPr>
          </a:p>
        </p:txBody>
      </p:sp>
      <p:sp>
        <p:nvSpPr>
          <p:cNvPr id="13" name="正方形/長方形 12">
            <a:extLst>
              <a:ext uri="{FF2B5EF4-FFF2-40B4-BE49-F238E27FC236}">
                <a16:creationId xmlns:a16="http://schemas.microsoft.com/office/drawing/2014/main" id="{C1C420AE-AB99-41F0-84B0-5E70545029D8}"/>
              </a:ext>
            </a:extLst>
          </p:cNvPr>
          <p:cNvSpPr/>
          <p:nvPr/>
        </p:nvSpPr>
        <p:spPr>
          <a:xfrm>
            <a:off x="864367" y="4244399"/>
            <a:ext cx="1940345" cy="59788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受注Ｐ</a:t>
            </a:r>
            <a:endParaRPr kumimoji="1" lang="ja-JP" altLang="en-US" dirty="0">
              <a:solidFill>
                <a:schemeClr val="tx1"/>
              </a:solidFill>
            </a:endParaRPr>
          </a:p>
        </p:txBody>
      </p:sp>
      <p:sp>
        <p:nvSpPr>
          <p:cNvPr id="14" name="正方形/長方形 13">
            <a:extLst>
              <a:ext uri="{FF2B5EF4-FFF2-40B4-BE49-F238E27FC236}">
                <a16:creationId xmlns:a16="http://schemas.microsoft.com/office/drawing/2014/main" id="{FA980E9C-1163-4F3D-919C-B26EFCF76613}"/>
              </a:ext>
            </a:extLst>
          </p:cNvPr>
          <p:cNvSpPr/>
          <p:nvPr/>
        </p:nvSpPr>
        <p:spPr>
          <a:xfrm>
            <a:off x="9413455" y="4244399"/>
            <a:ext cx="1940345" cy="59788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工程設計Ｐ</a:t>
            </a:r>
          </a:p>
        </p:txBody>
      </p:sp>
      <p:sp>
        <p:nvSpPr>
          <p:cNvPr id="15" name="正方形/長方形 14">
            <a:extLst>
              <a:ext uri="{FF2B5EF4-FFF2-40B4-BE49-F238E27FC236}">
                <a16:creationId xmlns:a16="http://schemas.microsoft.com/office/drawing/2014/main" id="{85D9EA46-705D-48F6-97C0-A92D1A66602E}"/>
              </a:ext>
            </a:extLst>
          </p:cNvPr>
          <p:cNvSpPr/>
          <p:nvPr/>
        </p:nvSpPr>
        <p:spPr>
          <a:xfrm>
            <a:off x="3001639" y="4244399"/>
            <a:ext cx="1940345" cy="59788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顧客仕様書</a:t>
            </a:r>
            <a:endParaRPr kumimoji="1" lang="en-US" altLang="ja-JP" dirty="0">
              <a:solidFill>
                <a:schemeClr val="tx1"/>
              </a:solidFill>
            </a:endParaRPr>
          </a:p>
        </p:txBody>
      </p:sp>
      <p:sp>
        <p:nvSpPr>
          <p:cNvPr id="16" name="正方形/長方形 15">
            <a:extLst>
              <a:ext uri="{FF2B5EF4-FFF2-40B4-BE49-F238E27FC236}">
                <a16:creationId xmlns:a16="http://schemas.microsoft.com/office/drawing/2014/main" id="{12B16E5D-3282-403E-9435-AB517ECBEEEA}"/>
              </a:ext>
            </a:extLst>
          </p:cNvPr>
          <p:cNvSpPr/>
          <p:nvPr/>
        </p:nvSpPr>
        <p:spPr>
          <a:xfrm>
            <a:off x="5138911" y="4244399"/>
            <a:ext cx="1940345" cy="115493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製品設計Ｐ</a:t>
            </a:r>
            <a:endParaRPr kumimoji="1" lang="en-US" altLang="ja-JP" dirty="0">
              <a:solidFill>
                <a:schemeClr val="tx1"/>
              </a:solidFill>
            </a:endParaRPr>
          </a:p>
        </p:txBody>
      </p:sp>
      <p:sp>
        <p:nvSpPr>
          <p:cNvPr id="17" name="正方形/長方形 16">
            <a:extLst>
              <a:ext uri="{FF2B5EF4-FFF2-40B4-BE49-F238E27FC236}">
                <a16:creationId xmlns:a16="http://schemas.microsoft.com/office/drawing/2014/main" id="{8DB6945B-4933-40C5-9496-7C111CDA239F}"/>
              </a:ext>
            </a:extLst>
          </p:cNvPr>
          <p:cNvSpPr/>
          <p:nvPr/>
        </p:nvSpPr>
        <p:spPr>
          <a:xfrm>
            <a:off x="7276183" y="4244399"/>
            <a:ext cx="1940345" cy="59788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製品図面</a:t>
            </a:r>
            <a:endParaRPr lang="en-US" altLang="ja-JP" dirty="0">
              <a:solidFill>
                <a:schemeClr val="tx1"/>
              </a:solidFill>
            </a:endParaRPr>
          </a:p>
          <a:p>
            <a:pPr algn="ctr"/>
            <a:r>
              <a:rPr lang="ja-JP" altLang="en-US" dirty="0">
                <a:solidFill>
                  <a:schemeClr val="tx1"/>
                </a:solidFill>
              </a:rPr>
              <a:t>設計ＦＭＥＡ</a:t>
            </a:r>
            <a:endParaRPr kumimoji="1" lang="en-US" altLang="ja-JP" dirty="0">
              <a:solidFill>
                <a:schemeClr val="tx1"/>
              </a:solidFill>
            </a:endParaRPr>
          </a:p>
        </p:txBody>
      </p:sp>
      <p:sp>
        <p:nvSpPr>
          <p:cNvPr id="18" name="正方形/長方形 17">
            <a:extLst>
              <a:ext uri="{FF2B5EF4-FFF2-40B4-BE49-F238E27FC236}">
                <a16:creationId xmlns:a16="http://schemas.microsoft.com/office/drawing/2014/main" id="{81E5606B-37B5-4D8F-BF0D-B56BF19F1119}"/>
              </a:ext>
            </a:extLst>
          </p:cNvPr>
          <p:cNvSpPr/>
          <p:nvPr/>
        </p:nvSpPr>
        <p:spPr>
          <a:xfrm>
            <a:off x="864367" y="4934408"/>
            <a:ext cx="1940345" cy="6298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マーケティングＰ</a:t>
            </a:r>
            <a:endParaRPr kumimoji="1" lang="ja-JP" altLang="en-US" dirty="0">
              <a:solidFill>
                <a:schemeClr val="tx1"/>
              </a:solidFill>
            </a:endParaRPr>
          </a:p>
        </p:txBody>
      </p:sp>
      <p:sp>
        <p:nvSpPr>
          <p:cNvPr id="19" name="正方形/長方形 18">
            <a:extLst>
              <a:ext uri="{FF2B5EF4-FFF2-40B4-BE49-F238E27FC236}">
                <a16:creationId xmlns:a16="http://schemas.microsoft.com/office/drawing/2014/main" id="{3D2B78EC-6F82-48CD-940A-8824AF473F7C}"/>
              </a:ext>
            </a:extLst>
          </p:cNvPr>
          <p:cNvSpPr/>
          <p:nvPr/>
        </p:nvSpPr>
        <p:spPr>
          <a:xfrm>
            <a:off x="9413455" y="4934408"/>
            <a:ext cx="1940345" cy="6298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製造Ｐ</a:t>
            </a:r>
          </a:p>
        </p:txBody>
      </p:sp>
      <p:sp>
        <p:nvSpPr>
          <p:cNvPr id="20" name="正方形/長方形 19">
            <a:extLst>
              <a:ext uri="{FF2B5EF4-FFF2-40B4-BE49-F238E27FC236}">
                <a16:creationId xmlns:a16="http://schemas.microsoft.com/office/drawing/2014/main" id="{434F9645-2C85-4568-BF91-959A4466415F}"/>
              </a:ext>
            </a:extLst>
          </p:cNvPr>
          <p:cNvSpPr/>
          <p:nvPr/>
        </p:nvSpPr>
        <p:spPr>
          <a:xfrm>
            <a:off x="3001639" y="4934408"/>
            <a:ext cx="1940345" cy="6298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ベンチマーク</a:t>
            </a:r>
            <a:endParaRPr kumimoji="1" lang="en-US" altLang="ja-JP" dirty="0">
              <a:solidFill>
                <a:schemeClr val="tx1"/>
              </a:solidFill>
            </a:endParaRPr>
          </a:p>
        </p:txBody>
      </p:sp>
      <p:sp>
        <p:nvSpPr>
          <p:cNvPr id="22" name="正方形/長方形 21">
            <a:extLst>
              <a:ext uri="{FF2B5EF4-FFF2-40B4-BE49-F238E27FC236}">
                <a16:creationId xmlns:a16="http://schemas.microsoft.com/office/drawing/2014/main" id="{DECC3E6E-A459-4747-82C7-FB60B58D95F6}"/>
              </a:ext>
            </a:extLst>
          </p:cNvPr>
          <p:cNvSpPr/>
          <p:nvPr/>
        </p:nvSpPr>
        <p:spPr>
          <a:xfrm>
            <a:off x="7276183" y="4934408"/>
            <a:ext cx="1940345" cy="6298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製造実現</a:t>
            </a:r>
            <a:endParaRPr lang="en-US" altLang="ja-JP" dirty="0">
              <a:solidFill>
                <a:schemeClr val="tx1"/>
              </a:solidFill>
            </a:endParaRPr>
          </a:p>
          <a:p>
            <a:pPr algn="ctr"/>
            <a:r>
              <a:rPr lang="ja-JP" altLang="en-US" dirty="0">
                <a:solidFill>
                  <a:schemeClr val="tx1"/>
                </a:solidFill>
              </a:rPr>
              <a:t>検討結果</a:t>
            </a:r>
            <a:endParaRPr kumimoji="1" lang="en-US" altLang="ja-JP" dirty="0">
              <a:solidFill>
                <a:schemeClr val="tx1"/>
              </a:solidFill>
            </a:endParaRPr>
          </a:p>
        </p:txBody>
      </p:sp>
      <p:sp>
        <p:nvSpPr>
          <p:cNvPr id="24" name="正方形/長方形 23">
            <a:extLst>
              <a:ext uri="{FF2B5EF4-FFF2-40B4-BE49-F238E27FC236}">
                <a16:creationId xmlns:a16="http://schemas.microsoft.com/office/drawing/2014/main" id="{DCA837F8-76F8-4238-B537-A433B072E290}"/>
              </a:ext>
            </a:extLst>
          </p:cNvPr>
          <p:cNvSpPr/>
          <p:nvPr/>
        </p:nvSpPr>
        <p:spPr>
          <a:xfrm>
            <a:off x="9413455" y="5673303"/>
            <a:ext cx="1940345" cy="57437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購買Ｐ</a:t>
            </a:r>
          </a:p>
        </p:txBody>
      </p:sp>
      <p:sp>
        <p:nvSpPr>
          <p:cNvPr id="26" name="正方形/長方形 25">
            <a:extLst>
              <a:ext uri="{FF2B5EF4-FFF2-40B4-BE49-F238E27FC236}">
                <a16:creationId xmlns:a16="http://schemas.microsoft.com/office/drawing/2014/main" id="{9664BEE6-BE78-40E5-BF53-1194172C01E5}"/>
              </a:ext>
            </a:extLst>
          </p:cNvPr>
          <p:cNvSpPr/>
          <p:nvPr/>
        </p:nvSpPr>
        <p:spPr>
          <a:xfrm>
            <a:off x="5138911" y="5704135"/>
            <a:ext cx="1940345" cy="57437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技術者</a:t>
            </a:r>
            <a:endParaRPr kumimoji="1" lang="en-US" altLang="ja-JP" dirty="0">
              <a:solidFill>
                <a:schemeClr val="tx1"/>
              </a:solidFill>
            </a:endParaRPr>
          </a:p>
          <a:p>
            <a:pPr algn="ctr"/>
            <a:r>
              <a:rPr lang="en-US" altLang="ja-JP" dirty="0">
                <a:solidFill>
                  <a:schemeClr val="tx1"/>
                </a:solidFill>
              </a:rPr>
              <a:t>CAD</a:t>
            </a:r>
            <a:r>
              <a:rPr lang="ja-JP" altLang="en-US" dirty="0">
                <a:solidFill>
                  <a:schemeClr val="tx1"/>
                </a:solidFill>
              </a:rPr>
              <a:t>ツール</a:t>
            </a:r>
            <a:endParaRPr kumimoji="1" lang="en-US" altLang="ja-JP" dirty="0">
              <a:solidFill>
                <a:schemeClr val="tx1"/>
              </a:solidFill>
            </a:endParaRPr>
          </a:p>
        </p:txBody>
      </p:sp>
      <p:sp>
        <p:nvSpPr>
          <p:cNvPr id="27" name="正方形/長方形 26">
            <a:extLst>
              <a:ext uri="{FF2B5EF4-FFF2-40B4-BE49-F238E27FC236}">
                <a16:creationId xmlns:a16="http://schemas.microsoft.com/office/drawing/2014/main" id="{212E35A8-1FA6-40EA-BE67-A0C07E5CC3F6}"/>
              </a:ext>
            </a:extLst>
          </p:cNvPr>
          <p:cNvSpPr/>
          <p:nvPr/>
        </p:nvSpPr>
        <p:spPr>
          <a:xfrm>
            <a:off x="7276183" y="5704135"/>
            <a:ext cx="1940345" cy="57437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材料仕様書</a:t>
            </a:r>
            <a:endParaRPr lang="en-US" altLang="ja-JP" dirty="0">
              <a:solidFill>
                <a:schemeClr val="tx1"/>
              </a:solidFill>
            </a:endParaRPr>
          </a:p>
          <a:p>
            <a:pPr algn="ctr"/>
            <a:r>
              <a:rPr kumimoji="1" lang="en-US" altLang="ja-JP" dirty="0">
                <a:solidFill>
                  <a:schemeClr val="tx1"/>
                </a:solidFill>
              </a:rPr>
              <a:t>MSDS</a:t>
            </a:r>
          </a:p>
        </p:txBody>
      </p:sp>
      <p:sp>
        <p:nvSpPr>
          <p:cNvPr id="7" name="矢印: 右 6">
            <a:extLst>
              <a:ext uri="{FF2B5EF4-FFF2-40B4-BE49-F238E27FC236}">
                <a16:creationId xmlns:a16="http://schemas.microsoft.com/office/drawing/2014/main" id="{9C4591DC-6A85-4CAF-B13E-43478222CC56}"/>
              </a:ext>
            </a:extLst>
          </p:cNvPr>
          <p:cNvSpPr/>
          <p:nvPr/>
        </p:nvSpPr>
        <p:spPr>
          <a:xfrm>
            <a:off x="2834085" y="4279349"/>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66DF9A95-EC5A-4C9C-8692-F55B2C73F87B}"/>
              </a:ext>
            </a:extLst>
          </p:cNvPr>
          <p:cNvSpPr/>
          <p:nvPr/>
        </p:nvSpPr>
        <p:spPr>
          <a:xfrm>
            <a:off x="2834085" y="4939466"/>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右 28">
            <a:extLst>
              <a:ext uri="{FF2B5EF4-FFF2-40B4-BE49-F238E27FC236}">
                <a16:creationId xmlns:a16="http://schemas.microsoft.com/office/drawing/2014/main" id="{2BFA7926-400D-4F3B-AE66-4B851B905449}"/>
              </a:ext>
            </a:extLst>
          </p:cNvPr>
          <p:cNvSpPr/>
          <p:nvPr/>
        </p:nvSpPr>
        <p:spPr>
          <a:xfrm>
            <a:off x="4971357" y="427934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矢印: 右 29">
            <a:extLst>
              <a:ext uri="{FF2B5EF4-FFF2-40B4-BE49-F238E27FC236}">
                <a16:creationId xmlns:a16="http://schemas.microsoft.com/office/drawing/2014/main" id="{88D71A4C-DF68-44C9-AA24-FC6C67449C9C}"/>
              </a:ext>
            </a:extLst>
          </p:cNvPr>
          <p:cNvSpPr/>
          <p:nvPr/>
        </p:nvSpPr>
        <p:spPr>
          <a:xfrm>
            <a:off x="4973118" y="493618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右 30">
            <a:extLst>
              <a:ext uri="{FF2B5EF4-FFF2-40B4-BE49-F238E27FC236}">
                <a16:creationId xmlns:a16="http://schemas.microsoft.com/office/drawing/2014/main" id="{AE951B8E-443B-4EF5-AB22-D26D91E266F3}"/>
              </a:ext>
            </a:extLst>
          </p:cNvPr>
          <p:cNvSpPr/>
          <p:nvPr/>
        </p:nvSpPr>
        <p:spPr>
          <a:xfrm>
            <a:off x="7112151" y="427934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29F06417-0985-407D-A22D-CC94EC408C6C}"/>
              </a:ext>
            </a:extLst>
          </p:cNvPr>
          <p:cNvSpPr/>
          <p:nvPr/>
        </p:nvSpPr>
        <p:spPr>
          <a:xfrm>
            <a:off x="7113912" y="493618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矢印: 右 32">
            <a:extLst>
              <a:ext uri="{FF2B5EF4-FFF2-40B4-BE49-F238E27FC236}">
                <a16:creationId xmlns:a16="http://schemas.microsoft.com/office/drawing/2014/main" id="{8D9CDC1C-CF27-4332-A09C-2F36C4BFE598}"/>
              </a:ext>
            </a:extLst>
          </p:cNvPr>
          <p:cNvSpPr/>
          <p:nvPr/>
        </p:nvSpPr>
        <p:spPr>
          <a:xfrm>
            <a:off x="9252945" y="427934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右 33">
            <a:extLst>
              <a:ext uri="{FF2B5EF4-FFF2-40B4-BE49-F238E27FC236}">
                <a16:creationId xmlns:a16="http://schemas.microsoft.com/office/drawing/2014/main" id="{BEE84C3D-F27C-4DC7-9296-651B5105B9AC}"/>
              </a:ext>
            </a:extLst>
          </p:cNvPr>
          <p:cNvSpPr/>
          <p:nvPr/>
        </p:nvSpPr>
        <p:spPr>
          <a:xfrm>
            <a:off x="9254706" y="4936188"/>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矢印: 右 34">
            <a:extLst>
              <a:ext uri="{FF2B5EF4-FFF2-40B4-BE49-F238E27FC236}">
                <a16:creationId xmlns:a16="http://schemas.microsoft.com/office/drawing/2014/main" id="{4C901660-FD4F-4983-A7F7-D96AA6AB9A37}"/>
              </a:ext>
            </a:extLst>
          </p:cNvPr>
          <p:cNvSpPr/>
          <p:nvPr/>
        </p:nvSpPr>
        <p:spPr>
          <a:xfrm>
            <a:off x="9252945" y="5724266"/>
            <a:ext cx="167554"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055398CE-07C0-4164-916B-00952A607367}"/>
              </a:ext>
            </a:extLst>
          </p:cNvPr>
          <p:cNvSpPr/>
          <p:nvPr/>
        </p:nvSpPr>
        <p:spPr>
          <a:xfrm rot="2634028">
            <a:off x="7062466" y="5483144"/>
            <a:ext cx="219370" cy="294420"/>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左右 36">
            <a:extLst>
              <a:ext uri="{FF2B5EF4-FFF2-40B4-BE49-F238E27FC236}">
                <a16:creationId xmlns:a16="http://schemas.microsoft.com/office/drawing/2014/main" id="{BF77075D-B736-455A-8F5E-D6A2981610FB}"/>
              </a:ext>
            </a:extLst>
          </p:cNvPr>
          <p:cNvSpPr/>
          <p:nvPr/>
        </p:nvSpPr>
        <p:spPr>
          <a:xfrm rot="16200000">
            <a:off x="5962789" y="5423751"/>
            <a:ext cx="256741" cy="255966"/>
          </a:xfrm>
          <a:prstGeom prst="leftRightArrow">
            <a:avLst>
              <a:gd name="adj1" fmla="val 78115"/>
              <a:gd name="adj2" fmla="val 25192"/>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1654681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プロセスの大きさ</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プロセスアプローチ（プロセスの大きさ・部門）</a:t>
            </a:r>
            <a:endParaRPr kumimoji="1" lang="ja-JP" altLang="en-US" sz="3000" b="1" dirty="0">
              <a:solidFill>
                <a:schemeClr val="bg1"/>
              </a:solidFill>
            </a:endParaRPr>
          </a:p>
        </p:txBody>
      </p:sp>
      <p:sp>
        <p:nvSpPr>
          <p:cNvPr id="38" name="正方形/長方形 37">
            <a:extLst>
              <a:ext uri="{FF2B5EF4-FFF2-40B4-BE49-F238E27FC236}">
                <a16:creationId xmlns:a16="http://schemas.microsoft.com/office/drawing/2014/main" id="{54AF39F6-1A92-406C-8735-F1BEAD900E3E}"/>
              </a:ext>
            </a:extLst>
          </p:cNvPr>
          <p:cNvSpPr/>
          <p:nvPr/>
        </p:nvSpPr>
        <p:spPr>
          <a:xfrm>
            <a:off x="838200" y="1923894"/>
            <a:ext cx="2937831"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大きなプロセス</a:t>
            </a:r>
          </a:p>
        </p:txBody>
      </p:sp>
      <p:sp>
        <p:nvSpPr>
          <p:cNvPr id="39" name="正方形/長方形 38">
            <a:extLst>
              <a:ext uri="{FF2B5EF4-FFF2-40B4-BE49-F238E27FC236}">
                <a16:creationId xmlns:a16="http://schemas.microsoft.com/office/drawing/2014/main" id="{94642EAC-A890-4A09-B852-2658C6217EE2}"/>
              </a:ext>
            </a:extLst>
          </p:cNvPr>
          <p:cNvSpPr/>
          <p:nvPr/>
        </p:nvSpPr>
        <p:spPr>
          <a:xfrm>
            <a:off x="4627084" y="1923894"/>
            <a:ext cx="2937831"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中程度のプロセス</a:t>
            </a:r>
            <a:endParaRPr kumimoji="1" lang="en-US" altLang="ja-JP" dirty="0">
              <a:solidFill>
                <a:schemeClr val="tx1"/>
              </a:solidFill>
            </a:endParaRPr>
          </a:p>
        </p:txBody>
      </p:sp>
      <p:sp>
        <p:nvSpPr>
          <p:cNvPr id="40" name="正方形/長方形 39">
            <a:extLst>
              <a:ext uri="{FF2B5EF4-FFF2-40B4-BE49-F238E27FC236}">
                <a16:creationId xmlns:a16="http://schemas.microsoft.com/office/drawing/2014/main" id="{6080A405-025D-4BDB-A25B-6ED1151215C0}"/>
              </a:ext>
            </a:extLst>
          </p:cNvPr>
          <p:cNvSpPr/>
          <p:nvPr/>
        </p:nvSpPr>
        <p:spPr>
          <a:xfrm>
            <a:off x="8415969" y="1923894"/>
            <a:ext cx="2937831" cy="4957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小さなプロセス</a:t>
            </a:r>
            <a:endParaRPr kumimoji="1" lang="en-US" altLang="ja-JP" dirty="0">
              <a:solidFill>
                <a:schemeClr val="tx1"/>
              </a:solidFill>
            </a:endParaRPr>
          </a:p>
        </p:txBody>
      </p:sp>
      <p:sp>
        <p:nvSpPr>
          <p:cNvPr id="42" name="正方形/長方形 41">
            <a:extLst>
              <a:ext uri="{FF2B5EF4-FFF2-40B4-BE49-F238E27FC236}">
                <a16:creationId xmlns:a16="http://schemas.microsoft.com/office/drawing/2014/main" id="{027159B4-AF28-490E-9A10-550A5C414F47}"/>
              </a:ext>
            </a:extLst>
          </p:cNvPr>
          <p:cNvSpPr/>
          <p:nvPr/>
        </p:nvSpPr>
        <p:spPr>
          <a:xfrm>
            <a:off x="8415969" y="2613902"/>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設計計画プロセス</a:t>
            </a:r>
            <a:endParaRPr kumimoji="1" lang="en-US" altLang="ja-JP" dirty="0">
              <a:solidFill>
                <a:schemeClr val="tx1"/>
              </a:solidFill>
            </a:endParaRPr>
          </a:p>
        </p:txBody>
      </p:sp>
      <p:sp>
        <p:nvSpPr>
          <p:cNvPr id="47" name="矢印: 右 46">
            <a:extLst>
              <a:ext uri="{FF2B5EF4-FFF2-40B4-BE49-F238E27FC236}">
                <a16:creationId xmlns:a16="http://schemas.microsoft.com/office/drawing/2014/main" id="{D088C1ED-3FDF-4932-AB0C-3E6CBE2ABD2C}"/>
              </a:ext>
            </a:extLst>
          </p:cNvPr>
          <p:cNvSpPr/>
          <p:nvPr/>
        </p:nvSpPr>
        <p:spPr>
          <a:xfrm rot="5400000">
            <a:off x="5989443" y="3477525"/>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E070CBAE-239C-4461-B4C7-DB11609715D1}"/>
              </a:ext>
            </a:extLst>
          </p:cNvPr>
          <p:cNvSpPr/>
          <p:nvPr/>
        </p:nvSpPr>
        <p:spPr>
          <a:xfrm>
            <a:off x="4627080" y="3101056"/>
            <a:ext cx="2937831" cy="49575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受注プロセス</a:t>
            </a:r>
            <a:endParaRPr kumimoji="1" lang="en-US" altLang="ja-JP" dirty="0">
              <a:solidFill>
                <a:schemeClr val="tx1"/>
              </a:solidFill>
            </a:endParaRPr>
          </a:p>
        </p:txBody>
      </p:sp>
      <p:sp>
        <p:nvSpPr>
          <p:cNvPr id="49" name="正方形/長方形 48">
            <a:extLst>
              <a:ext uri="{FF2B5EF4-FFF2-40B4-BE49-F238E27FC236}">
                <a16:creationId xmlns:a16="http://schemas.microsoft.com/office/drawing/2014/main" id="{5E44AC92-06A6-44DD-95A2-3C30C8968850}"/>
              </a:ext>
            </a:extLst>
          </p:cNvPr>
          <p:cNvSpPr/>
          <p:nvPr/>
        </p:nvSpPr>
        <p:spPr>
          <a:xfrm>
            <a:off x="838200" y="2613901"/>
            <a:ext cx="2937831" cy="9004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マネジメントプロセス</a:t>
            </a:r>
            <a:endParaRPr kumimoji="1" lang="en-US" altLang="ja-JP" dirty="0">
              <a:solidFill>
                <a:schemeClr val="tx1"/>
              </a:solidFill>
            </a:endParaRPr>
          </a:p>
        </p:txBody>
      </p:sp>
      <p:sp>
        <p:nvSpPr>
          <p:cNvPr id="50" name="正方形/長方形 49">
            <a:extLst>
              <a:ext uri="{FF2B5EF4-FFF2-40B4-BE49-F238E27FC236}">
                <a16:creationId xmlns:a16="http://schemas.microsoft.com/office/drawing/2014/main" id="{B83E10E6-DC2B-4559-AFA4-18DA85652460}"/>
              </a:ext>
            </a:extLst>
          </p:cNvPr>
          <p:cNvSpPr/>
          <p:nvPr/>
        </p:nvSpPr>
        <p:spPr>
          <a:xfrm>
            <a:off x="838199" y="3973950"/>
            <a:ext cx="2937831" cy="90048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製品実現プロセス</a:t>
            </a:r>
            <a:endParaRPr kumimoji="1" lang="en-US" altLang="ja-JP" dirty="0">
              <a:solidFill>
                <a:schemeClr val="tx1"/>
              </a:solidFill>
            </a:endParaRPr>
          </a:p>
        </p:txBody>
      </p:sp>
      <p:sp>
        <p:nvSpPr>
          <p:cNvPr id="51" name="正方形/長方形 50">
            <a:extLst>
              <a:ext uri="{FF2B5EF4-FFF2-40B4-BE49-F238E27FC236}">
                <a16:creationId xmlns:a16="http://schemas.microsoft.com/office/drawing/2014/main" id="{B47B095E-8793-4700-9C45-9BF5C11732F3}"/>
              </a:ext>
            </a:extLst>
          </p:cNvPr>
          <p:cNvSpPr/>
          <p:nvPr/>
        </p:nvSpPr>
        <p:spPr>
          <a:xfrm>
            <a:off x="838199" y="5334000"/>
            <a:ext cx="2937831" cy="9004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支援プロセス</a:t>
            </a:r>
            <a:endParaRPr kumimoji="1" lang="en-US" altLang="ja-JP" dirty="0">
              <a:solidFill>
                <a:schemeClr val="tx1"/>
              </a:solidFill>
            </a:endParaRPr>
          </a:p>
        </p:txBody>
      </p:sp>
      <p:sp>
        <p:nvSpPr>
          <p:cNvPr id="52" name="正方形/長方形 51">
            <a:extLst>
              <a:ext uri="{FF2B5EF4-FFF2-40B4-BE49-F238E27FC236}">
                <a16:creationId xmlns:a16="http://schemas.microsoft.com/office/drawing/2014/main" id="{A507A5A1-7FB6-43A4-8D5F-E60AA8E9A8C5}"/>
              </a:ext>
            </a:extLst>
          </p:cNvPr>
          <p:cNvSpPr/>
          <p:nvPr/>
        </p:nvSpPr>
        <p:spPr>
          <a:xfrm>
            <a:off x="4627081" y="3855668"/>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設計プロセス</a:t>
            </a:r>
            <a:endParaRPr kumimoji="1" lang="en-US" altLang="ja-JP" dirty="0">
              <a:solidFill>
                <a:schemeClr val="tx1"/>
              </a:solidFill>
            </a:endParaRPr>
          </a:p>
        </p:txBody>
      </p:sp>
      <p:sp>
        <p:nvSpPr>
          <p:cNvPr id="53" name="正方形/長方形 52">
            <a:extLst>
              <a:ext uri="{FF2B5EF4-FFF2-40B4-BE49-F238E27FC236}">
                <a16:creationId xmlns:a16="http://schemas.microsoft.com/office/drawing/2014/main" id="{1D7EE192-BCB6-4E2C-BF0E-445F82C78C5B}"/>
              </a:ext>
            </a:extLst>
          </p:cNvPr>
          <p:cNvSpPr/>
          <p:nvPr/>
        </p:nvSpPr>
        <p:spPr>
          <a:xfrm>
            <a:off x="4627081" y="4608605"/>
            <a:ext cx="2937831" cy="49575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購買プロセス</a:t>
            </a:r>
            <a:endParaRPr kumimoji="1" lang="en-US" altLang="ja-JP" dirty="0">
              <a:solidFill>
                <a:schemeClr val="tx1"/>
              </a:solidFill>
            </a:endParaRPr>
          </a:p>
        </p:txBody>
      </p:sp>
      <p:sp>
        <p:nvSpPr>
          <p:cNvPr id="54" name="正方形/長方形 53">
            <a:extLst>
              <a:ext uri="{FF2B5EF4-FFF2-40B4-BE49-F238E27FC236}">
                <a16:creationId xmlns:a16="http://schemas.microsoft.com/office/drawing/2014/main" id="{0E96078F-5571-439F-B738-6EBB17316DDA}"/>
              </a:ext>
            </a:extLst>
          </p:cNvPr>
          <p:cNvSpPr/>
          <p:nvPr/>
        </p:nvSpPr>
        <p:spPr>
          <a:xfrm>
            <a:off x="4627083" y="5361542"/>
            <a:ext cx="2937831" cy="49575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製造プロセス</a:t>
            </a:r>
            <a:endParaRPr kumimoji="1" lang="en-US" altLang="ja-JP" dirty="0">
              <a:solidFill>
                <a:schemeClr val="tx1"/>
              </a:solidFill>
            </a:endParaRPr>
          </a:p>
        </p:txBody>
      </p:sp>
      <p:sp>
        <p:nvSpPr>
          <p:cNvPr id="55" name="正方形/長方形 54">
            <a:extLst>
              <a:ext uri="{FF2B5EF4-FFF2-40B4-BE49-F238E27FC236}">
                <a16:creationId xmlns:a16="http://schemas.microsoft.com/office/drawing/2014/main" id="{58D5B8E6-F115-4A55-A7AB-A786F14637AA}"/>
              </a:ext>
            </a:extLst>
          </p:cNvPr>
          <p:cNvSpPr/>
          <p:nvPr/>
        </p:nvSpPr>
        <p:spPr>
          <a:xfrm>
            <a:off x="8415960" y="3262872"/>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基本設計プロセス</a:t>
            </a:r>
            <a:endParaRPr kumimoji="1" lang="en-US" altLang="ja-JP" dirty="0">
              <a:solidFill>
                <a:schemeClr val="tx1"/>
              </a:solidFill>
            </a:endParaRPr>
          </a:p>
        </p:txBody>
      </p:sp>
      <p:sp>
        <p:nvSpPr>
          <p:cNvPr id="56" name="正方形/長方形 55">
            <a:extLst>
              <a:ext uri="{FF2B5EF4-FFF2-40B4-BE49-F238E27FC236}">
                <a16:creationId xmlns:a16="http://schemas.microsoft.com/office/drawing/2014/main" id="{AE42EBA1-0D44-4E64-BE13-6D047FE44E04}"/>
              </a:ext>
            </a:extLst>
          </p:cNvPr>
          <p:cNvSpPr/>
          <p:nvPr/>
        </p:nvSpPr>
        <p:spPr>
          <a:xfrm>
            <a:off x="8415959" y="3904584"/>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ＤＲプロセス</a:t>
            </a:r>
            <a:endParaRPr kumimoji="1" lang="en-US" altLang="ja-JP" dirty="0">
              <a:solidFill>
                <a:schemeClr val="tx1"/>
              </a:solidFill>
            </a:endParaRPr>
          </a:p>
        </p:txBody>
      </p:sp>
      <p:sp>
        <p:nvSpPr>
          <p:cNvPr id="57" name="正方形/長方形 56">
            <a:extLst>
              <a:ext uri="{FF2B5EF4-FFF2-40B4-BE49-F238E27FC236}">
                <a16:creationId xmlns:a16="http://schemas.microsoft.com/office/drawing/2014/main" id="{D2281301-866B-442C-97D1-1EEECABB465D}"/>
              </a:ext>
            </a:extLst>
          </p:cNvPr>
          <p:cNvSpPr/>
          <p:nvPr/>
        </p:nvSpPr>
        <p:spPr>
          <a:xfrm>
            <a:off x="8415959" y="4546092"/>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詳細設計プロセス</a:t>
            </a:r>
            <a:endParaRPr kumimoji="1" lang="en-US" altLang="ja-JP" dirty="0">
              <a:solidFill>
                <a:schemeClr val="tx1"/>
              </a:solidFill>
            </a:endParaRPr>
          </a:p>
        </p:txBody>
      </p:sp>
      <p:sp>
        <p:nvSpPr>
          <p:cNvPr id="58" name="正方形/長方形 57">
            <a:extLst>
              <a:ext uri="{FF2B5EF4-FFF2-40B4-BE49-F238E27FC236}">
                <a16:creationId xmlns:a16="http://schemas.microsoft.com/office/drawing/2014/main" id="{B1008B8C-4794-4806-B4A2-D078D2483784}"/>
              </a:ext>
            </a:extLst>
          </p:cNvPr>
          <p:cNvSpPr/>
          <p:nvPr/>
        </p:nvSpPr>
        <p:spPr>
          <a:xfrm>
            <a:off x="8415966" y="5182027"/>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設計検証プロセス</a:t>
            </a:r>
            <a:endParaRPr kumimoji="1" lang="en-US" altLang="ja-JP" dirty="0">
              <a:solidFill>
                <a:schemeClr val="tx1"/>
              </a:solidFill>
            </a:endParaRPr>
          </a:p>
        </p:txBody>
      </p:sp>
      <p:sp>
        <p:nvSpPr>
          <p:cNvPr id="59" name="正方形/長方形 58">
            <a:extLst>
              <a:ext uri="{FF2B5EF4-FFF2-40B4-BE49-F238E27FC236}">
                <a16:creationId xmlns:a16="http://schemas.microsoft.com/office/drawing/2014/main" id="{73767122-F8BF-4C64-86AE-8737948A0171}"/>
              </a:ext>
            </a:extLst>
          </p:cNvPr>
          <p:cNvSpPr/>
          <p:nvPr/>
        </p:nvSpPr>
        <p:spPr>
          <a:xfrm>
            <a:off x="8415959" y="5805878"/>
            <a:ext cx="2937831" cy="495759"/>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妥当性確認プロセス</a:t>
            </a:r>
            <a:endParaRPr kumimoji="1" lang="en-US" altLang="ja-JP" dirty="0">
              <a:solidFill>
                <a:schemeClr val="tx1"/>
              </a:solidFill>
            </a:endParaRPr>
          </a:p>
        </p:txBody>
      </p:sp>
      <p:sp>
        <p:nvSpPr>
          <p:cNvPr id="60" name="矢印: 右 59">
            <a:extLst>
              <a:ext uri="{FF2B5EF4-FFF2-40B4-BE49-F238E27FC236}">
                <a16:creationId xmlns:a16="http://schemas.microsoft.com/office/drawing/2014/main" id="{4CFBC04A-33B2-4D46-93FB-9B28C5CD4CB9}"/>
              </a:ext>
            </a:extLst>
          </p:cNvPr>
          <p:cNvSpPr/>
          <p:nvPr/>
        </p:nvSpPr>
        <p:spPr>
          <a:xfrm rot="5400000">
            <a:off x="9778322" y="3601992"/>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E189CEAD-F930-4F99-ACDF-1AC32CF82831}"/>
              </a:ext>
            </a:extLst>
          </p:cNvPr>
          <p:cNvSpPr/>
          <p:nvPr/>
        </p:nvSpPr>
        <p:spPr>
          <a:xfrm rot="5400000">
            <a:off x="9778322" y="2956191"/>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矢印: 右 62">
            <a:extLst>
              <a:ext uri="{FF2B5EF4-FFF2-40B4-BE49-F238E27FC236}">
                <a16:creationId xmlns:a16="http://schemas.microsoft.com/office/drawing/2014/main" id="{15C2AEDF-E199-4F42-8F3C-4418ADD7E94F}"/>
              </a:ext>
            </a:extLst>
          </p:cNvPr>
          <p:cNvSpPr/>
          <p:nvPr/>
        </p:nvSpPr>
        <p:spPr>
          <a:xfrm rot="5400000">
            <a:off x="9778321" y="5536361"/>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矢印: 右 63">
            <a:extLst>
              <a:ext uri="{FF2B5EF4-FFF2-40B4-BE49-F238E27FC236}">
                <a16:creationId xmlns:a16="http://schemas.microsoft.com/office/drawing/2014/main" id="{33B42249-4E32-4B96-B7AF-8759A46C0897}"/>
              </a:ext>
            </a:extLst>
          </p:cNvPr>
          <p:cNvSpPr/>
          <p:nvPr/>
        </p:nvSpPr>
        <p:spPr>
          <a:xfrm rot="5400000">
            <a:off x="9778321" y="4893110"/>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020C00C5-0051-4B40-A050-AD2A5D869EF7}"/>
              </a:ext>
            </a:extLst>
          </p:cNvPr>
          <p:cNvSpPr/>
          <p:nvPr/>
        </p:nvSpPr>
        <p:spPr>
          <a:xfrm rot="5400000">
            <a:off x="9778322" y="4254175"/>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92AAD8A-BC02-489C-B501-DD1E66999579}"/>
              </a:ext>
            </a:extLst>
          </p:cNvPr>
          <p:cNvSpPr/>
          <p:nvPr/>
        </p:nvSpPr>
        <p:spPr>
          <a:xfrm rot="5400000">
            <a:off x="5989442" y="4231299"/>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CE76218A-CC8A-466A-9697-E1C93C9C43E7}"/>
              </a:ext>
            </a:extLst>
          </p:cNvPr>
          <p:cNvSpPr/>
          <p:nvPr/>
        </p:nvSpPr>
        <p:spPr>
          <a:xfrm rot="5400000">
            <a:off x="5989438" y="4985074"/>
            <a:ext cx="213102" cy="495759"/>
          </a:xfrm>
          <a:prstGeom prst="rightArrow">
            <a:avLst>
              <a:gd name="adj1" fmla="val 79887"/>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左右 67">
            <a:extLst>
              <a:ext uri="{FF2B5EF4-FFF2-40B4-BE49-F238E27FC236}">
                <a16:creationId xmlns:a16="http://schemas.microsoft.com/office/drawing/2014/main" id="{B6B3ADE0-9035-42EA-9C2D-2F23AFF15E1B}"/>
              </a:ext>
            </a:extLst>
          </p:cNvPr>
          <p:cNvSpPr/>
          <p:nvPr/>
        </p:nvSpPr>
        <p:spPr>
          <a:xfrm rot="16200000">
            <a:off x="2108491" y="3486474"/>
            <a:ext cx="397249" cy="515383"/>
          </a:xfrm>
          <a:prstGeom prst="leftRightArrow">
            <a:avLst>
              <a:gd name="adj1" fmla="val 78115"/>
              <a:gd name="adj2" fmla="val 25192"/>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左右 68">
            <a:extLst>
              <a:ext uri="{FF2B5EF4-FFF2-40B4-BE49-F238E27FC236}">
                <a16:creationId xmlns:a16="http://schemas.microsoft.com/office/drawing/2014/main" id="{FBF91B7C-7A3D-4D9E-AA1A-798AC5E2B64D}"/>
              </a:ext>
            </a:extLst>
          </p:cNvPr>
          <p:cNvSpPr/>
          <p:nvPr/>
        </p:nvSpPr>
        <p:spPr>
          <a:xfrm rot="16200000">
            <a:off x="2108491" y="4846523"/>
            <a:ext cx="397249" cy="515383"/>
          </a:xfrm>
          <a:prstGeom prst="leftRightArrow">
            <a:avLst>
              <a:gd name="adj1" fmla="val 78115"/>
              <a:gd name="adj2" fmla="val 25192"/>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54BFAF8D-65B8-4636-9B44-EF85369C3295}"/>
              </a:ext>
            </a:extLst>
          </p:cNvPr>
          <p:cNvCxnSpPr>
            <a:cxnSpLocks/>
          </p:cNvCxnSpPr>
          <p:nvPr/>
        </p:nvCxnSpPr>
        <p:spPr>
          <a:xfrm flipV="1">
            <a:off x="3776030" y="3109662"/>
            <a:ext cx="851050" cy="86428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0" name="直線コネクタ 69">
            <a:extLst>
              <a:ext uri="{FF2B5EF4-FFF2-40B4-BE49-F238E27FC236}">
                <a16:creationId xmlns:a16="http://schemas.microsoft.com/office/drawing/2014/main" id="{1A2B85F0-2C92-4D53-B9A9-E9D0FF8E942F}"/>
              </a:ext>
            </a:extLst>
          </p:cNvPr>
          <p:cNvCxnSpPr>
            <a:cxnSpLocks/>
          </p:cNvCxnSpPr>
          <p:nvPr/>
        </p:nvCxnSpPr>
        <p:spPr>
          <a:xfrm>
            <a:off x="3776027" y="4856484"/>
            <a:ext cx="851040" cy="10008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943FFBCC-162E-431E-BC64-CBAC4CCD19CC}"/>
              </a:ext>
            </a:extLst>
          </p:cNvPr>
          <p:cNvCxnSpPr>
            <a:cxnSpLocks/>
          </p:cNvCxnSpPr>
          <p:nvPr/>
        </p:nvCxnSpPr>
        <p:spPr>
          <a:xfrm flipV="1">
            <a:off x="7580510" y="2613901"/>
            <a:ext cx="835436" cy="12378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9FABB6AB-C50A-4FE9-A4A9-E39682D4FCF3}"/>
              </a:ext>
            </a:extLst>
          </p:cNvPr>
          <p:cNvCxnSpPr>
            <a:cxnSpLocks/>
          </p:cNvCxnSpPr>
          <p:nvPr/>
        </p:nvCxnSpPr>
        <p:spPr>
          <a:xfrm>
            <a:off x="7564887" y="4349505"/>
            <a:ext cx="851057" cy="19655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0539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2"/>
            </a:pPr>
            <a:r>
              <a:rPr lang="ja-JP" altLang="en-US" sz="2400" dirty="0"/>
              <a:t>プロセスの適切な大きさ</a:t>
            </a:r>
            <a:endParaRPr lang="en-US" altLang="ja-JP" sz="2400" dirty="0"/>
          </a:p>
          <a:p>
            <a:pPr marL="457200" lvl="1" indent="0">
              <a:buNone/>
            </a:pPr>
            <a:r>
              <a:rPr lang="ja-JP" altLang="en-US" dirty="0">
                <a:solidFill>
                  <a:srgbClr val="FF0000"/>
                </a:solidFill>
                <a:effectLst>
                  <a:outerShdw blurRad="38100" dist="38100" dir="2700000" algn="tl">
                    <a:srgbClr val="000000">
                      <a:alpha val="43137"/>
                    </a:srgbClr>
                  </a:outerShdw>
                </a:effectLst>
              </a:rPr>
              <a:t>プロセスの大きさは、次のことを考慮し、組織が判断する。</a:t>
            </a:r>
            <a:endParaRPr lang="en-US" altLang="ja-JP" dirty="0">
              <a:solidFill>
                <a:srgbClr val="FF0000"/>
              </a:solidFill>
              <a:effectLst>
                <a:outerShdw blurRad="38100" dist="38100" dir="2700000" algn="tl">
                  <a:srgbClr val="000000">
                    <a:alpha val="43137"/>
                  </a:srgbClr>
                </a:outerShdw>
              </a:effectLst>
            </a:endParaRPr>
          </a:p>
          <a:p>
            <a:pPr marL="914400" lvl="1" indent="-457200">
              <a:buFont typeface="+mj-ea"/>
              <a:buAutoNum type="circleNumDbPlain"/>
            </a:pPr>
            <a:r>
              <a:rPr lang="ja-JP" altLang="en-US" dirty="0"/>
              <a:t>そのプロセスは管理する必要があるか？</a:t>
            </a:r>
            <a:endParaRPr lang="en-US" altLang="ja-JP" dirty="0"/>
          </a:p>
          <a:p>
            <a:pPr marL="914400" lvl="1" indent="-457200">
              <a:buFont typeface="+mj-ea"/>
              <a:buAutoNum type="circleNumDbPlain"/>
            </a:pPr>
            <a:r>
              <a:rPr lang="ja-JP" altLang="en-US" dirty="0"/>
              <a:t>そのプロセスは改善する必要があるか？</a:t>
            </a:r>
            <a:endParaRPr lang="en-US" altLang="ja-JP" dirty="0"/>
          </a:p>
          <a:p>
            <a:pPr marL="914400" lvl="1" indent="-457200">
              <a:buFont typeface="+mj-ea"/>
              <a:buAutoNum type="circleNumDbPlain"/>
            </a:pPr>
            <a:r>
              <a:rPr lang="ja-JP" altLang="en-US" dirty="0"/>
              <a:t>そのプロセスはＰＤＣＡサイクルによって管理しやすいか？</a:t>
            </a:r>
            <a:endParaRPr lang="en-US" altLang="ja-JP" dirty="0"/>
          </a:p>
          <a:p>
            <a:pPr marL="457200" indent="-457200">
              <a:buFont typeface="+mj-ea"/>
              <a:buAutoNum type="arabicPeriod" startAt="2"/>
            </a:pPr>
            <a:r>
              <a:rPr lang="ja-JP" altLang="en-US" sz="2400" dirty="0"/>
              <a:t>プロセスと部門</a:t>
            </a:r>
            <a:endParaRPr lang="en-US" altLang="ja-JP" sz="2400" dirty="0"/>
          </a:p>
          <a:p>
            <a:pPr lvl="1">
              <a:buFont typeface="Wingdings" panose="05000000000000000000" pitchFamily="2" charset="2"/>
              <a:buChar char="Ø"/>
            </a:pPr>
            <a:r>
              <a:rPr lang="ja-JP" altLang="en-US" dirty="0"/>
              <a:t>「プロセス＝部門／要求事項」ではない。（結果、同じ名称になる場合はあるが。）</a:t>
            </a:r>
            <a:endParaRPr lang="en-US" altLang="ja-JP" dirty="0"/>
          </a:p>
          <a:p>
            <a:pPr lvl="1">
              <a:buFont typeface="Wingdings" panose="05000000000000000000" pitchFamily="2" charset="2"/>
              <a:buChar char="Ø"/>
            </a:pPr>
            <a:r>
              <a:rPr lang="ja-JP" altLang="en-US" dirty="0"/>
              <a:t>プロセスは、複数の部門にまたがっており、また一つの部門に複数のプロセスが存在する場合もある。</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プロセスアプローチ（プロセスの大きさ・部門）</a:t>
            </a:r>
            <a:endParaRPr kumimoji="1" lang="ja-JP" altLang="en-US" sz="3000" b="1" dirty="0">
              <a:solidFill>
                <a:schemeClr val="bg1"/>
              </a:solidFill>
            </a:endParaRPr>
          </a:p>
        </p:txBody>
      </p:sp>
    </p:spTree>
    <p:extLst>
      <p:ext uri="{BB962C8B-B14F-4D97-AF65-F5344CB8AC3E}">
        <p14:creationId xmlns:p14="http://schemas.microsoft.com/office/powerpoint/2010/main" val="4235228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83</a:t>
            </a:fld>
            <a:endParaRPr kumimoji="1" lang="ja-JP" altLang="en-US"/>
          </a:p>
        </p:txBody>
      </p:sp>
      <p:sp>
        <p:nvSpPr>
          <p:cNvPr id="10" name="タイトル 1">
            <a:extLst>
              <a:ext uri="{FF2B5EF4-FFF2-40B4-BE49-F238E27FC236}">
                <a16:creationId xmlns:a16="http://schemas.microsoft.com/office/drawing/2014/main" id="{F30C3BCB-745C-4A3B-8FF5-FE8752A8A05A}"/>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プロセスアプローチ（プロセスの大きさ・部門）</a:t>
            </a:r>
            <a:endParaRPr kumimoji="1" lang="ja-JP" altLang="en-US" sz="3000" b="1" dirty="0">
              <a:solidFill>
                <a:schemeClr val="bg1"/>
              </a:solidFill>
            </a:endParaRPr>
          </a:p>
        </p:txBody>
      </p:sp>
      <p:pic>
        <p:nvPicPr>
          <p:cNvPr id="12" name="図 11">
            <a:extLst>
              <a:ext uri="{FF2B5EF4-FFF2-40B4-BE49-F238E27FC236}">
                <a16:creationId xmlns:a16="http://schemas.microsoft.com/office/drawing/2014/main" id="{2A3306D4-C1F4-46E3-9D62-78E3256A4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22399"/>
            <a:ext cx="10515600" cy="4933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75221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lnSpcReduction="10000"/>
          </a:bodyPr>
          <a:lstStyle/>
          <a:p>
            <a:pPr marL="0" indent="0">
              <a:buNone/>
            </a:pPr>
            <a:r>
              <a:rPr lang="en-US" altLang="ja-JP" sz="2400" dirty="0"/>
              <a:t>4.4</a:t>
            </a:r>
            <a:r>
              <a:rPr lang="ja-JP" altLang="en-US" sz="2400" dirty="0"/>
              <a:t>　品質マネジメントシステム及びそのプロセス</a:t>
            </a:r>
            <a:endParaRPr lang="en-US" altLang="ja-JP" sz="2400" dirty="0"/>
          </a:p>
          <a:p>
            <a:pPr marL="457200" lvl="1" indent="0">
              <a:buNone/>
            </a:pPr>
            <a:r>
              <a:rPr lang="ja-JP" altLang="en-US" sz="2100" dirty="0"/>
              <a:t>～　前文省略　～</a:t>
            </a:r>
            <a:endParaRPr lang="en-US" altLang="ja-JP" sz="2100" dirty="0"/>
          </a:p>
          <a:p>
            <a:pPr marL="914400" lvl="1" indent="-457200">
              <a:buFont typeface="+mj-lt"/>
              <a:buAutoNum type="alphaLcPeriod"/>
            </a:pPr>
            <a:r>
              <a:rPr lang="ja-JP" altLang="en-US" sz="2100" dirty="0"/>
              <a:t>これらのプロセスに必要な</a:t>
            </a:r>
            <a:r>
              <a:rPr lang="ja-JP" altLang="en-US" sz="2100" dirty="0">
                <a:solidFill>
                  <a:srgbClr val="FF0000"/>
                </a:solidFill>
                <a:effectLst>
                  <a:outerShdw blurRad="38100" dist="38100" dir="2700000" algn="tl">
                    <a:srgbClr val="000000">
                      <a:alpha val="43137"/>
                    </a:srgbClr>
                  </a:outerShdw>
                </a:effectLst>
              </a:rPr>
              <a:t>インプット</a:t>
            </a:r>
            <a:r>
              <a:rPr lang="ja-JP" altLang="en-US" sz="2100" dirty="0"/>
              <a:t>，及びこれらのプロセスから期待される</a:t>
            </a:r>
            <a:r>
              <a:rPr lang="ja-JP" altLang="en-US" sz="2100" dirty="0">
                <a:solidFill>
                  <a:srgbClr val="FF0000"/>
                </a:solidFill>
                <a:effectLst>
                  <a:outerShdw blurRad="38100" dist="38100" dir="2700000" algn="tl">
                    <a:srgbClr val="000000">
                      <a:alpha val="43137"/>
                    </a:srgbClr>
                  </a:outerShdw>
                </a:effectLst>
              </a:rPr>
              <a:t>アウトプット</a:t>
            </a:r>
            <a:r>
              <a:rPr lang="ja-JP" altLang="en-US" sz="2100" dirty="0"/>
              <a:t>を明確にする。</a:t>
            </a:r>
            <a:endParaRPr lang="en-US" altLang="ja-JP" sz="2100" dirty="0"/>
          </a:p>
          <a:p>
            <a:pPr marL="914400" lvl="1" indent="-457200">
              <a:buFont typeface="+mj-lt"/>
              <a:buAutoNum type="alphaLcPeriod"/>
            </a:pPr>
            <a:r>
              <a:rPr lang="ja-JP" altLang="en-US" sz="2100" dirty="0"/>
              <a:t>これらのプロセスの</a:t>
            </a:r>
            <a:r>
              <a:rPr lang="ja-JP" altLang="en-US" sz="2100" dirty="0">
                <a:solidFill>
                  <a:srgbClr val="FF0000"/>
                </a:solidFill>
                <a:effectLst>
                  <a:outerShdw blurRad="38100" dist="38100" dir="2700000" algn="tl">
                    <a:srgbClr val="000000">
                      <a:alpha val="43137"/>
                    </a:srgbClr>
                  </a:outerShdw>
                </a:effectLst>
              </a:rPr>
              <a:t>順序及び相互作用</a:t>
            </a:r>
            <a:r>
              <a:rPr lang="ja-JP" altLang="en-US" sz="2100" dirty="0"/>
              <a:t>を明確にする。</a:t>
            </a:r>
            <a:endParaRPr lang="en-US" altLang="ja-JP" sz="2100" dirty="0"/>
          </a:p>
          <a:p>
            <a:pPr marL="914400" lvl="1" indent="-457200">
              <a:buFont typeface="+mj-lt"/>
              <a:buAutoNum type="alphaLcPeriod"/>
            </a:pPr>
            <a:r>
              <a:rPr lang="ja-JP" altLang="en-US" sz="2100" dirty="0"/>
              <a:t>これらのプロセスの効果的な運用及び管理を確実にするために必要な</a:t>
            </a:r>
            <a:r>
              <a:rPr lang="ja-JP" altLang="en-US" sz="2100" dirty="0">
                <a:solidFill>
                  <a:srgbClr val="FF0000"/>
                </a:solidFill>
                <a:effectLst>
                  <a:outerShdw blurRad="38100" dist="38100" dir="2700000" algn="tl">
                    <a:srgbClr val="000000">
                      <a:alpha val="43137"/>
                    </a:srgbClr>
                  </a:outerShdw>
                </a:effectLst>
              </a:rPr>
              <a:t>判断基準及び方法</a:t>
            </a:r>
            <a:r>
              <a:rPr lang="ja-JP" altLang="en-US" sz="2100" dirty="0"/>
              <a:t>（監視，測定及び関連するパフォーマンス指標を含む。）を決定し，適用する。</a:t>
            </a:r>
            <a:endParaRPr lang="en-US" altLang="ja-JP" sz="2100" dirty="0"/>
          </a:p>
          <a:p>
            <a:pPr marL="914400" lvl="1" indent="-457200">
              <a:buFont typeface="+mj-lt"/>
              <a:buAutoNum type="alphaLcPeriod"/>
            </a:pPr>
            <a:r>
              <a:rPr lang="ja-JP" altLang="en-US" sz="2100" dirty="0"/>
              <a:t>これらのプロセスに必要な</a:t>
            </a:r>
            <a:r>
              <a:rPr lang="ja-JP" altLang="en-US" sz="2100" dirty="0">
                <a:solidFill>
                  <a:srgbClr val="FF0000"/>
                </a:solidFill>
                <a:effectLst>
                  <a:outerShdw blurRad="38100" dist="38100" dir="2700000" algn="tl">
                    <a:srgbClr val="000000">
                      <a:alpha val="43137"/>
                    </a:srgbClr>
                  </a:outerShdw>
                </a:effectLst>
              </a:rPr>
              <a:t>資源</a:t>
            </a:r>
            <a:r>
              <a:rPr lang="ja-JP" altLang="en-US" sz="2100" dirty="0"/>
              <a:t>を明確にし，及びそれが利用できることを確実にする。</a:t>
            </a:r>
            <a:endParaRPr lang="en-US" altLang="ja-JP" sz="2100" dirty="0"/>
          </a:p>
          <a:p>
            <a:pPr marL="914400" lvl="1" indent="-457200">
              <a:buFont typeface="+mj-lt"/>
              <a:buAutoNum type="alphaLcPeriod"/>
            </a:pPr>
            <a:r>
              <a:rPr lang="ja-JP" altLang="en-US" sz="2100" dirty="0"/>
              <a:t>これらのプロセスに関する</a:t>
            </a:r>
            <a:r>
              <a:rPr lang="ja-JP" altLang="en-US" sz="2100" dirty="0">
                <a:solidFill>
                  <a:srgbClr val="FF0000"/>
                </a:solidFill>
                <a:effectLst>
                  <a:outerShdw blurRad="38100" dist="38100" dir="2700000" algn="tl">
                    <a:srgbClr val="000000">
                      <a:alpha val="43137"/>
                    </a:srgbClr>
                  </a:outerShdw>
                </a:effectLst>
              </a:rPr>
              <a:t>責任及び権限</a:t>
            </a:r>
            <a:r>
              <a:rPr lang="ja-JP" altLang="en-US" sz="2100" dirty="0"/>
              <a:t>を割り当てる。</a:t>
            </a:r>
            <a:endParaRPr lang="en-US" altLang="ja-JP" sz="2100" dirty="0"/>
          </a:p>
          <a:p>
            <a:pPr marL="914400" lvl="1" indent="-457200">
              <a:buFont typeface="+mj-lt"/>
              <a:buAutoNum type="alphaLcPeriod"/>
            </a:pPr>
            <a:r>
              <a:rPr lang="en-US" altLang="ja-JP" sz="2100" dirty="0"/>
              <a:t>6.1 </a:t>
            </a:r>
            <a:r>
              <a:rPr lang="ja-JP" altLang="en-US" sz="2100" dirty="0"/>
              <a:t>の要求事項に従って決定したとおりに</a:t>
            </a:r>
            <a:r>
              <a:rPr lang="ja-JP" altLang="en-US" sz="2100" dirty="0">
                <a:solidFill>
                  <a:srgbClr val="FF0000"/>
                </a:solidFill>
                <a:effectLst>
                  <a:outerShdw blurRad="38100" dist="38100" dir="2700000" algn="tl">
                    <a:srgbClr val="000000">
                      <a:alpha val="43137"/>
                    </a:srgbClr>
                  </a:outerShdw>
                </a:effectLst>
              </a:rPr>
              <a:t>リスク及び機会</a:t>
            </a:r>
            <a:r>
              <a:rPr lang="ja-JP" altLang="en-US" sz="2100" dirty="0"/>
              <a:t>に取り組む。</a:t>
            </a:r>
            <a:endParaRPr lang="en-US" altLang="ja-JP" sz="2100" dirty="0"/>
          </a:p>
          <a:p>
            <a:pPr marL="914400" lvl="1" indent="-457200">
              <a:buFont typeface="+mj-lt"/>
              <a:buAutoNum type="alphaLcPeriod"/>
            </a:pPr>
            <a:r>
              <a:rPr lang="ja-JP" altLang="en-US" sz="2100" dirty="0"/>
              <a:t>これらのプロセスを</a:t>
            </a:r>
            <a:r>
              <a:rPr lang="ja-JP" altLang="en-US" sz="2100" dirty="0">
                <a:solidFill>
                  <a:srgbClr val="FF0000"/>
                </a:solidFill>
                <a:effectLst>
                  <a:outerShdw blurRad="38100" dist="38100" dir="2700000" algn="tl">
                    <a:srgbClr val="000000">
                      <a:alpha val="43137"/>
                    </a:srgbClr>
                  </a:outerShdw>
                </a:effectLst>
              </a:rPr>
              <a:t>評価</a:t>
            </a:r>
            <a:r>
              <a:rPr lang="ja-JP" altLang="en-US" sz="2100" dirty="0"/>
              <a:t>し，これらのプロセスの意図した結果の達成を確実にするために必要な変更を実施する。</a:t>
            </a:r>
            <a:endParaRPr lang="en-US" altLang="ja-JP" sz="2100" dirty="0"/>
          </a:p>
          <a:p>
            <a:pPr marL="914400" lvl="1" indent="-457200">
              <a:buFont typeface="+mj-lt"/>
              <a:buAutoNum type="alphaLcPeriod"/>
            </a:pPr>
            <a:r>
              <a:rPr lang="ja-JP" altLang="en-US" sz="2100" dirty="0"/>
              <a:t>これらのプロセス及び品質マネジメントシステムを</a:t>
            </a:r>
            <a:r>
              <a:rPr lang="ja-JP" altLang="en-US" sz="2100" dirty="0">
                <a:solidFill>
                  <a:srgbClr val="FF0000"/>
                </a:solidFill>
                <a:effectLst>
                  <a:outerShdw blurRad="38100" dist="38100" dir="2700000" algn="tl">
                    <a:srgbClr val="000000">
                      <a:alpha val="43137"/>
                    </a:srgbClr>
                  </a:outerShdw>
                </a:effectLst>
              </a:rPr>
              <a:t>改善</a:t>
            </a:r>
            <a:r>
              <a:rPr lang="ja-JP" altLang="en-US" sz="2100" dirty="0"/>
              <a:t>する。</a:t>
            </a:r>
            <a:endParaRPr lang="en-US" altLang="ja-JP" sz="21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プロセスアプローチ（規格要求事項）</a:t>
            </a:r>
            <a:endParaRPr kumimoji="1" lang="ja-JP" altLang="en-US" sz="3000" b="1" dirty="0">
              <a:solidFill>
                <a:schemeClr val="bg1"/>
              </a:solidFill>
            </a:endParaRPr>
          </a:p>
        </p:txBody>
      </p:sp>
    </p:spTree>
    <p:extLst>
      <p:ext uri="{BB962C8B-B14F-4D97-AF65-F5344CB8AC3E}">
        <p14:creationId xmlns:p14="http://schemas.microsoft.com/office/powerpoint/2010/main" val="6042703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タートル図の解説（全体）</a:t>
            </a:r>
          </a:p>
        </p:txBody>
      </p:sp>
      <p:sp>
        <p:nvSpPr>
          <p:cNvPr id="11" name="正方形/長方形 10">
            <a:extLst>
              <a:ext uri="{FF2B5EF4-FFF2-40B4-BE49-F238E27FC236}">
                <a16:creationId xmlns:a16="http://schemas.microsoft.com/office/drawing/2014/main" id="{1BBABC39-D06A-4EB2-BC1D-6359E5D8B98C}"/>
              </a:ext>
            </a:extLst>
          </p:cNvPr>
          <p:cNvSpPr/>
          <p:nvPr/>
        </p:nvSpPr>
        <p:spPr>
          <a:xfrm>
            <a:off x="4549966" y="3080860"/>
            <a:ext cx="3092067" cy="1663547"/>
          </a:xfrm>
          <a:prstGeom prst="rect">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effectLst>
                  <a:outerShdw blurRad="38100" dist="38100" dir="2700000" algn="tl">
                    <a:srgbClr val="000000">
                      <a:alpha val="43137"/>
                    </a:srgbClr>
                  </a:outerShdw>
                </a:effectLst>
              </a:rPr>
              <a:t>プロセス</a:t>
            </a:r>
            <a:endParaRPr kumimoji="1" lang="en-US" altLang="ja-JP" sz="2400" b="1" dirty="0">
              <a:solidFill>
                <a:schemeClr val="bg1"/>
              </a:solidFill>
              <a:effectLst>
                <a:outerShdw blurRad="38100" dist="38100" dir="2700000" algn="tl">
                  <a:srgbClr val="000000">
                    <a:alpha val="43137"/>
                  </a:srgbClr>
                </a:outerShdw>
              </a:effectLst>
            </a:endParaRPr>
          </a:p>
          <a:p>
            <a:pPr algn="ctr"/>
            <a:r>
              <a:rPr lang="ja-JP" altLang="en-US" dirty="0">
                <a:solidFill>
                  <a:schemeClr val="bg1"/>
                </a:solidFill>
              </a:rPr>
              <a:t>プロセスフロー</a:t>
            </a:r>
            <a:endParaRPr lang="en-US" altLang="ja-JP" dirty="0">
              <a:solidFill>
                <a:schemeClr val="bg1"/>
              </a:solidFill>
            </a:endParaRPr>
          </a:p>
          <a:p>
            <a:pPr algn="ctr"/>
            <a:r>
              <a:rPr kumimoji="1" lang="ja-JP" altLang="en-US" dirty="0">
                <a:solidFill>
                  <a:schemeClr val="bg1"/>
                </a:solidFill>
              </a:rPr>
              <a:t>主な活動内容</a:t>
            </a:r>
          </a:p>
        </p:txBody>
      </p:sp>
      <p:sp>
        <p:nvSpPr>
          <p:cNvPr id="12" name="四角形: 角を丸くする 11">
            <a:extLst>
              <a:ext uri="{FF2B5EF4-FFF2-40B4-BE49-F238E27FC236}">
                <a16:creationId xmlns:a16="http://schemas.microsoft.com/office/drawing/2014/main" id="{9190D7E4-B050-45D7-AFB8-857A935DA3E3}"/>
              </a:ext>
            </a:extLst>
          </p:cNvPr>
          <p:cNvSpPr/>
          <p:nvPr/>
        </p:nvSpPr>
        <p:spPr>
          <a:xfrm>
            <a:off x="838200" y="1577056"/>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物的資源</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dirty="0">
                <a:solidFill>
                  <a:schemeClr val="tx1"/>
                </a:solidFill>
              </a:rPr>
              <a:t>プロセスに必要なモノ</a:t>
            </a:r>
            <a:endParaRPr lang="en-US" altLang="ja-JP" dirty="0">
              <a:solidFill>
                <a:schemeClr val="tx1"/>
              </a:solidFill>
            </a:endParaRPr>
          </a:p>
          <a:p>
            <a:pPr algn="ctr"/>
            <a:r>
              <a:rPr lang="ja-JP" altLang="en-US" dirty="0">
                <a:solidFill>
                  <a:schemeClr val="tx1"/>
                </a:solidFill>
              </a:rPr>
              <a:t>（装置／ツール／情報）</a:t>
            </a:r>
            <a:endParaRPr kumimoji="1" lang="ja-JP" altLang="en-US" dirty="0">
              <a:solidFill>
                <a:schemeClr val="tx1"/>
              </a:solidFill>
            </a:endParaRPr>
          </a:p>
        </p:txBody>
      </p:sp>
      <p:sp>
        <p:nvSpPr>
          <p:cNvPr id="13" name="四角形: 角を丸くする 12">
            <a:extLst>
              <a:ext uri="{FF2B5EF4-FFF2-40B4-BE49-F238E27FC236}">
                <a16:creationId xmlns:a16="http://schemas.microsoft.com/office/drawing/2014/main" id="{AA3FAD36-CC3B-4155-B25E-2E8CC3BA78B2}"/>
              </a:ext>
            </a:extLst>
          </p:cNvPr>
          <p:cNvSpPr/>
          <p:nvPr/>
        </p:nvSpPr>
        <p:spPr>
          <a:xfrm>
            <a:off x="838199" y="3258869"/>
            <a:ext cx="3200401"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インプット</a:t>
            </a:r>
            <a:endParaRPr kumimoji="1" lang="en-US" altLang="ja-JP" sz="2400" b="1" dirty="0">
              <a:solidFill>
                <a:schemeClr val="tx1"/>
              </a:solidFill>
              <a:effectLst>
                <a:outerShdw blurRad="38100" dist="38100" dir="2700000" algn="tl">
                  <a:srgbClr val="000000">
                    <a:alpha val="43137"/>
                  </a:srgbClr>
                </a:outerShdw>
              </a:effectLst>
            </a:endParaRPr>
          </a:p>
          <a:p>
            <a:pPr algn="ctr"/>
            <a:r>
              <a:rPr kumimoji="1" lang="ja-JP" altLang="en-US" dirty="0">
                <a:solidFill>
                  <a:schemeClr val="tx1"/>
                </a:solidFill>
              </a:rPr>
              <a:t>プロセスを動かす</a:t>
            </a:r>
            <a:r>
              <a:rPr lang="ja-JP" altLang="en-US" dirty="0">
                <a:solidFill>
                  <a:schemeClr val="tx1"/>
                </a:solidFill>
              </a:rPr>
              <a:t>もの</a:t>
            </a:r>
            <a:endParaRPr lang="en-US" altLang="ja-JP" dirty="0">
              <a:solidFill>
                <a:schemeClr val="tx1"/>
              </a:solidFill>
            </a:endParaRPr>
          </a:p>
          <a:p>
            <a:pPr algn="ctr"/>
            <a:r>
              <a:rPr kumimoji="1" lang="ja-JP" altLang="en-US" dirty="0">
                <a:solidFill>
                  <a:schemeClr val="tx1"/>
                </a:solidFill>
              </a:rPr>
              <a:t>（情報／材料／文書／要求事項）</a:t>
            </a:r>
          </a:p>
        </p:txBody>
      </p:sp>
      <p:sp>
        <p:nvSpPr>
          <p:cNvPr id="14" name="四角形: 角を丸くする 13">
            <a:extLst>
              <a:ext uri="{FF2B5EF4-FFF2-40B4-BE49-F238E27FC236}">
                <a16:creationId xmlns:a16="http://schemas.microsoft.com/office/drawing/2014/main" id="{CCBA5A9E-494A-4F31-8A76-B0C6D38A8747}"/>
              </a:ext>
            </a:extLst>
          </p:cNvPr>
          <p:cNvSpPr/>
          <p:nvPr/>
        </p:nvSpPr>
        <p:spPr>
          <a:xfrm>
            <a:off x="838200" y="4944160"/>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effectLst>
                  <a:outerShdw blurRad="38100" dist="38100" dir="2700000" algn="tl">
                    <a:srgbClr val="000000">
                      <a:alpha val="43137"/>
                    </a:srgbClr>
                  </a:outerShdw>
                </a:effectLst>
              </a:rPr>
              <a:t>運用方法</a:t>
            </a:r>
            <a:endParaRPr lang="en-US" altLang="ja-JP" sz="2400" b="1" dirty="0">
              <a:solidFill>
                <a:schemeClr val="tx1"/>
              </a:solidFill>
              <a:effectLst>
                <a:outerShdw blurRad="38100" dist="38100" dir="2700000" algn="tl">
                  <a:srgbClr val="000000">
                    <a:alpha val="43137"/>
                  </a:srgbClr>
                </a:outerShdw>
              </a:effectLst>
            </a:endParaRPr>
          </a:p>
          <a:p>
            <a:pPr algn="ctr"/>
            <a:r>
              <a:rPr kumimoji="1" lang="ja-JP" altLang="en-US" dirty="0">
                <a:solidFill>
                  <a:schemeClr val="tx1"/>
                </a:solidFill>
              </a:rPr>
              <a:t>プロセスを動かす方法</a:t>
            </a:r>
            <a:endParaRPr kumimoji="1" lang="en-US" altLang="ja-JP" dirty="0">
              <a:solidFill>
                <a:schemeClr val="tx1"/>
              </a:solidFill>
            </a:endParaRPr>
          </a:p>
          <a:p>
            <a:pPr algn="ctr"/>
            <a:r>
              <a:rPr kumimoji="1" lang="ja-JP" altLang="en-US" dirty="0">
                <a:solidFill>
                  <a:schemeClr val="tx1"/>
                </a:solidFill>
              </a:rPr>
              <a:t>（規定／手順書／フォーマット）</a:t>
            </a:r>
          </a:p>
        </p:txBody>
      </p:sp>
      <p:sp>
        <p:nvSpPr>
          <p:cNvPr id="15" name="四角形: 角を丸くする 14">
            <a:extLst>
              <a:ext uri="{FF2B5EF4-FFF2-40B4-BE49-F238E27FC236}">
                <a16:creationId xmlns:a16="http://schemas.microsoft.com/office/drawing/2014/main" id="{FC0B7F7E-E129-48EC-BD75-4F859FADF24B}"/>
              </a:ext>
            </a:extLst>
          </p:cNvPr>
          <p:cNvSpPr/>
          <p:nvPr/>
        </p:nvSpPr>
        <p:spPr>
          <a:xfrm>
            <a:off x="7328054" y="4944160"/>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評価指標</a:t>
            </a:r>
            <a:endParaRPr kumimoji="1" lang="en-US" altLang="ja-JP" sz="2400" b="1" dirty="0">
              <a:solidFill>
                <a:schemeClr val="tx1"/>
              </a:solidFill>
              <a:effectLst>
                <a:outerShdw blurRad="38100" dist="38100" dir="2700000" algn="tl">
                  <a:srgbClr val="000000">
                    <a:alpha val="43137"/>
                  </a:srgbClr>
                </a:outerShdw>
              </a:effectLst>
            </a:endParaRPr>
          </a:p>
          <a:p>
            <a:pPr algn="ctr"/>
            <a:r>
              <a:rPr kumimoji="1" lang="ja-JP" altLang="en-US" dirty="0">
                <a:solidFill>
                  <a:schemeClr val="tx1"/>
                </a:solidFill>
              </a:rPr>
              <a:t>プロセスの良し悪しの判断</a:t>
            </a:r>
            <a:endParaRPr kumimoji="1" lang="en-US" altLang="ja-JP" dirty="0">
              <a:solidFill>
                <a:schemeClr val="tx1"/>
              </a:solidFill>
            </a:endParaRPr>
          </a:p>
          <a:p>
            <a:pPr algn="ctr"/>
            <a:r>
              <a:rPr lang="ja-JP" altLang="en-US" dirty="0">
                <a:solidFill>
                  <a:schemeClr val="tx1"/>
                </a:solidFill>
              </a:rPr>
              <a:t>（有効性の指標／効率の指標）</a:t>
            </a:r>
            <a:endParaRPr kumimoji="1" lang="ja-JP" altLang="en-US" dirty="0">
              <a:solidFill>
                <a:schemeClr val="tx1"/>
              </a:solidFill>
            </a:endParaRPr>
          </a:p>
        </p:txBody>
      </p:sp>
      <p:sp>
        <p:nvSpPr>
          <p:cNvPr id="16" name="四角形: 角を丸くする 15">
            <a:extLst>
              <a:ext uri="{FF2B5EF4-FFF2-40B4-BE49-F238E27FC236}">
                <a16:creationId xmlns:a16="http://schemas.microsoft.com/office/drawing/2014/main" id="{7E773453-92E6-437E-8DCC-0E86C77C29F5}"/>
              </a:ext>
            </a:extLst>
          </p:cNvPr>
          <p:cNvSpPr/>
          <p:nvPr/>
        </p:nvSpPr>
        <p:spPr>
          <a:xfrm>
            <a:off x="8153400" y="3258869"/>
            <a:ext cx="3200400"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アウトプット</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dirty="0">
                <a:solidFill>
                  <a:schemeClr val="tx1"/>
                </a:solidFill>
              </a:rPr>
              <a:t>プロセスから生まれるもの</a:t>
            </a:r>
            <a:endParaRPr lang="en-US" altLang="ja-JP" dirty="0">
              <a:solidFill>
                <a:schemeClr val="tx1"/>
              </a:solidFill>
            </a:endParaRPr>
          </a:p>
          <a:p>
            <a:pPr algn="ctr"/>
            <a:r>
              <a:rPr kumimoji="1" lang="ja-JP" altLang="en-US" dirty="0">
                <a:solidFill>
                  <a:schemeClr val="tx1"/>
                </a:solidFill>
              </a:rPr>
              <a:t>（製品／情報／文書／成果）</a:t>
            </a:r>
          </a:p>
        </p:txBody>
      </p:sp>
      <p:sp>
        <p:nvSpPr>
          <p:cNvPr id="17" name="四角形: 角を丸くする 16">
            <a:extLst>
              <a:ext uri="{FF2B5EF4-FFF2-40B4-BE49-F238E27FC236}">
                <a16:creationId xmlns:a16="http://schemas.microsoft.com/office/drawing/2014/main" id="{B8F8DD3B-726A-4513-9B34-EB7E8A33BF29}"/>
              </a:ext>
            </a:extLst>
          </p:cNvPr>
          <p:cNvSpPr/>
          <p:nvPr/>
        </p:nvSpPr>
        <p:spPr>
          <a:xfrm>
            <a:off x="7328054" y="1573578"/>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人的資源</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dirty="0">
                <a:solidFill>
                  <a:schemeClr val="tx1"/>
                </a:solidFill>
              </a:rPr>
              <a:t>プロセスに必要な人</a:t>
            </a:r>
            <a:endParaRPr lang="en-US" altLang="ja-JP" dirty="0">
              <a:solidFill>
                <a:schemeClr val="tx1"/>
              </a:solidFill>
            </a:endParaRPr>
          </a:p>
          <a:p>
            <a:pPr algn="ctr"/>
            <a:r>
              <a:rPr kumimoji="1" lang="ja-JP" altLang="en-US" dirty="0">
                <a:solidFill>
                  <a:schemeClr val="tx1"/>
                </a:solidFill>
              </a:rPr>
              <a:t>（要員／力量／外部支援）</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21" name="矢印: 右 20">
            <a:extLst>
              <a:ext uri="{FF2B5EF4-FFF2-40B4-BE49-F238E27FC236}">
                <a16:creationId xmlns:a16="http://schemas.microsoft.com/office/drawing/2014/main" id="{1F508C8D-A517-4DA7-AD84-AB7FD25168C3}"/>
              </a:ext>
            </a:extLst>
          </p:cNvPr>
          <p:cNvSpPr/>
          <p:nvPr/>
        </p:nvSpPr>
        <p:spPr>
          <a:xfrm>
            <a:off x="4115718" y="3447510"/>
            <a:ext cx="434248" cy="955713"/>
          </a:xfrm>
          <a:prstGeom prst="rightArrow">
            <a:avLst>
              <a:gd name="adj1" fmla="val 77666"/>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右 21">
            <a:extLst>
              <a:ext uri="{FF2B5EF4-FFF2-40B4-BE49-F238E27FC236}">
                <a16:creationId xmlns:a16="http://schemas.microsoft.com/office/drawing/2014/main" id="{9DAD1CF3-709A-4A58-B26C-D72C751BD674}"/>
              </a:ext>
            </a:extLst>
          </p:cNvPr>
          <p:cNvSpPr/>
          <p:nvPr/>
        </p:nvSpPr>
        <p:spPr>
          <a:xfrm>
            <a:off x="7719151" y="3434776"/>
            <a:ext cx="434248" cy="955713"/>
          </a:xfrm>
          <a:prstGeom prst="rightArrow">
            <a:avLst>
              <a:gd name="adj1" fmla="val 77666"/>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左右 5">
            <a:extLst>
              <a:ext uri="{FF2B5EF4-FFF2-40B4-BE49-F238E27FC236}">
                <a16:creationId xmlns:a16="http://schemas.microsoft.com/office/drawing/2014/main" id="{BA9847CC-8051-40D1-8FDA-D8F93E5DD899}"/>
              </a:ext>
            </a:extLst>
          </p:cNvPr>
          <p:cNvSpPr/>
          <p:nvPr/>
        </p:nvSpPr>
        <p:spPr>
          <a:xfrm rot="19610890">
            <a:off x="4066040" y="4617554"/>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左右 27">
            <a:extLst>
              <a:ext uri="{FF2B5EF4-FFF2-40B4-BE49-F238E27FC236}">
                <a16:creationId xmlns:a16="http://schemas.microsoft.com/office/drawing/2014/main" id="{51567F24-8291-4B07-AD39-CB2C3E192707}"/>
              </a:ext>
            </a:extLst>
          </p:cNvPr>
          <p:cNvSpPr/>
          <p:nvPr/>
        </p:nvSpPr>
        <p:spPr>
          <a:xfrm rot="19610890">
            <a:off x="7515709" y="2577788"/>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左右 28">
            <a:extLst>
              <a:ext uri="{FF2B5EF4-FFF2-40B4-BE49-F238E27FC236}">
                <a16:creationId xmlns:a16="http://schemas.microsoft.com/office/drawing/2014/main" id="{FDECCD93-AAEB-4B24-BD63-B43999BA4372}"/>
              </a:ext>
            </a:extLst>
          </p:cNvPr>
          <p:cNvSpPr/>
          <p:nvPr/>
        </p:nvSpPr>
        <p:spPr>
          <a:xfrm rot="13136165">
            <a:off x="4006011" y="2585823"/>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矢印: 左右 29">
            <a:extLst>
              <a:ext uri="{FF2B5EF4-FFF2-40B4-BE49-F238E27FC236}">
                <a16:creationId xmlns:a16="http://schemas.microsoft.com/office/drawing/2014/main" id="{E1316205-929B-46AA-BA19-935539E5BFCD}"/>
              </a:ext>
            </a:extLst>
          </p:cNvPr>
          <p:cNvSpPr/>
          <p:nvPr/>
        </p:nvSpPr>
        <p:spPr>
          <a:xfrm rot="13010334">
            <a:off x="7507392" y="4677552"/>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8D1452BF-BD61-4F90-AC00-621B85A152D7}"/>
              </a:ext>
            </a:extLst>
          </p:cNvPr>
          <p:cNvSpPr/>
          <p:nvPr/>
        </p:nvSpPr>
        <p:spPr>
          <a:xfrm>
            <a:off x="10322233" y="4955177"/>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t>ｃｇｈ</a:t>
            </a:r>
            <a:endParaRPr kumimoji="1" lang="ja-JP" altLang="en-US" sz="2000" b="1" dirty="0"/>
          </a:p>
        </p:txBody>
      </p:sp>
      <p:sp>
        <p:nvSpPr>
          <p:cNvPr id="26" name="四角形: 角を丸くする 25">
            <a:extLst>
              <a:ext uri="{FF2B5EF4-FFF2-40B4-BE49-F238E27FC236}">
                <a16:creationId xmlns:a16="http://schemas.microsoft.com/office/drawing/2014/main" id="{1E841FFC-832B-44A8-90D9-6D61DC14B409}"/>
              </a:ext>
            </a:extLst>
          </p:cNvPr>
          <p:cNvSpPr/>
          <p:nvPr/>
        </p:nvSpPr>
        <p:spPr>
          <a:xfrm>
            <a:off x="862240" y="1590006"/>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t>d</a:t>
            </a:r>
            <a:endParaRPr kumimoji="1" lang="ja-JP" altLang="en-US" sz="2000" b="1" dirty="0"/>
          </a:p>
        </p:txBody>
      </p:sp>
      <p:sp>
        <p:nvSpPr>
          <p:cNvPr id="27" name="四角形: 角を丸くする 26">
            <a:extLst>
              <a:ext uri="{FF2B5EF4-FFF2-40B4-BE49-F238E27FC236}">
                <a16:creationId xmlns:a16="http://schemas.microsoft.com/office/drawing/2014/main" id="{F8E19B40-1FE8-44A5-93AB-56F711012084}"/>
              </a:ext>
            </a:extLst>
          </p:cNvPr>
          <p:cNvSpPr/>
          <p:nvPr/>
        </p:nvSpPr>
        <p:spPr>
          <a:xfrm>
            <a:off x="858927" y="4952144"/>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t>ｃ</a:t>
            </a:r>
            <a:endParaRPr kumimoji="1" lang="ja-JP" altLang="en-US" sz="2000" b="1" dirty="0"/>
          </a:p>
        </p:txBody>
      </p:sp>
      <p:sp>
        <p:nvSpPr>
          <p:cNvPr id="31" name="四角形: 角を丸くする 30">
            <a:extLst>
              <a:ext uri="{FF2B5EF4-FFF2-40B4-BE49-F238E27FC236}">
                <a16:creationId xmlns:a16="http://schemas.microsoft.com/office/drawing/2014/main" id="{EBC9F5E0-3715-4FAC-BFB5-089F70107E6F}"/>
              </a:ext>
            </a:extLst>
          </p:cNvPr>
          <p:cNvSpPr/>
          <p:nvPr/>
        </p:nvSpPr>
        <p:spPr>
          <a:xfrm>
            <a:off x="858927" y="4208944"/>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t>ａ</a:t>
            </a:r>
            <a:r>
              <a:rPr kumimoji="1" lang="ja-JP" altLang="en-US" sz="2000" b="1" dirty="0"/>
              <a:t>ｃｆ</a:t>
            </a:r>
          </a:p>
        </p:txBody>
      </p:sp>
      <p:sp>
        <p:nvSpPr>
          <p:cNvPr id="32" name="四角形: 角を丸くする 31">
            <a:extLst>
              <a:ext uri="{FF2B5EF4-FFF2-40B4-BE49-F238E27FC236}">
                <a16:creationId xmlns:a16="http://schemas.microsoft.com/office/drawing/2014/main" id="{C723E81F-FA28-41EB-98F8-3266BC26F2CB}"/>
              </a:ext>
            </a:extLst>
          </p:cNvPr>
          <p:cNvSpPr/>
          <p:nvPr/>
        </p:nvSpPr>
        <p:spPr>
          <a:xfrm>
            <a:off x="10322231" y="4203894"/>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t>ａｃ</a:t>
            </a:r>
            <a:endParaRPr kumimoji="1" lang="ja-JP" altLang="en-US" sz="2000" b="1" dirty="0"/>
          </a:p>
        </p:txBody>
      </p:sp>
      <p:sp>
        <p:nvSpPr>
          <p:cNvPr id="33" name="四角形: 角を丸くする 32">
            <a:extLst>
              <a:ext uri="{FF2B5EF4-FFF2-40B4-BE49-F238E27FC236}">
                <a16:creationId xmlns:a16="http://schemas.microsoft.com/office/drawing/2014/main" id="{3B4C3803-4409-4560-9A23-5D6D5A7C5F3C}"/>
              </a:ext>
            </a:extLst>
          </p:cNvPr>
          <p:cNvSpPr/>
          <p:nvPr/>
        </p:nvSpPr>
        <p:spPr>
          <a:xfrm>
            <a:off x="10322232" y="1560918"/>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b="1" dirty="0"/>
              <a:t>d</a:t>
            </a:r>
            <a:endParaRPr kumimoji="1" lang="ja-JP" altLang="en-US" sz="2000" b="1" dirty="0"/>
          </a:p>
        </p:txBody>
      </p:sp>
      <p:sp>
        <p:nvSpPr>
          <p:cNvPr id="8" name="四角形: 角を丸くする 7">
            <a:extLst>
              <a:ext uri="{FF2B5EF4-FFF2-40B4-BE49-F238E27FC236}">
                <a16:creationId xmlns:a16="http://schemas.microsoft.com/office/drawing/2014/main" id="{2D225258-C3C4-4B1C-A89D-B607E78741A2}"/>
              </a:ext>
            </a:extLst>
          </p:cNvPr>
          <p:cNvSpPr/>
          <p:nvPr/>
        </p:nvSpPr>
        <p:spPr>
          <a:xfrm>
            <a:off x="5562405" y="4755118"/>
            <a:ext cx="1007527" cy="44691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t>b</a:t>
            </a:r>
            <a:r>
              <a:rPr lang="en-US" altLang="ja-JP" sz="2000" b="1" dirty="0"/>
              <a:t> e</a:t>
            </a:r>
          </a:p>
        </p:txBody>
      </p:sp>
    </p:spTree>
    <p:extLst>
      <p:ext uri="{BB962C8B-B14F-4D97-AF65-F5344CB8AC3E}">
        <p14:creationId xmlns:p14="http://schemas.microsoft.com/office/powerpoint/2010/main" val="29493287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タートル図の解説（プロセス）</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kumimoji="1" lang="ja-JP" altLang="en-US" sz="2400" b="1" dirty="0">
                <a:solidFill>
                  <a:schemeClr val="tx1"/>
                </a:solidFill>
              </a:rPr>
              <a:t>プロセス名称／流れ</a:t>
            </a:r>
            <a:r>
              <a:rPr kumimoji="1" lang="en-US" altLang="ja-JP" sz="2400" b="1" dirty="0">
                <a:solidFill>
                  <a:schemeClr val="tx1"/>
                </a:solidFill>
              </a:rPr>
              <a:t>】</a:t>
            </a:r>
          </a:p>
          <a:p>
            <a:r>
              <a:rPr lang="ja-JP" altLang="en-US" sz="2200" dirty="0">
                <a:solidFill>
                  <a:schemeClr val="tx1"/>
                </a:solidFill>
              </a:rPr>
              <a:t>①顧客、組織の要求事項を満たすための活動・ステップ</a:t>
            </a:r>
            <a:endParaRPr lang="en-US" altLang="ja-JP" sz="2200" dirty="0">
              <a:solidFill>
                <a:schemeClr val="tx1"/>
              </a:solidFill>
            </a:endParaRPr>
          </a:p>
          <a:p>
            <a:r>
              <a:rPr kumimoji="1" lang="ja-JP" altLang="en-US" sz="2200" dirty="0">
                <a:solidFill>
                  <a:schemeClr val="tx1"/>
                </a:solidFill>
              </a:rPr>
              <a:t>②例えば、製造プロセスの流れ</a:t>
            </a:r>
            <a:endParaRPr kumimoji="1" lang="en-US" altLang="ja-JP" sz="2200" dirty="0">
              <a:solidFill>
                <a:schemeClr val="tx1"/>
              </a:solidFill>
            </a:endParaRPr>
          </a:p>
          <a:p>
            <a:r>
              <a:rPr lang="ja-JP" altLang="en-US" sz="2200" dirty="0">
                <a:solidFill>
                  <a:schemeClr val="tx1"/>
                </a:solidFill>
              </a:rPr>
              <a:t>　　素材粗加工➠ＮＣ切削➠ＭＣ加工➠寸法検査➠防錆処理</a:t>
            </a:r>
            <a:endParaRPr lang="en-US" altLang="ja-JP" sz="2200" dirty="0">
              <a:solidFill>
                <a:schemeClr val="tx1"/>
              </a:solidFill>
            </a:endParaRPr>
          </a:p>
          <a:p>
            <a:r>
              <a:rPr lang="ja-JP" altLang="en-US" sz="2200" dirty="0">
                <a:solidFill>
                  <a:schemeClr val="tx1"/>
                </a:solidFill>
              </a:rPr>
              <a:t>　・プロセスの大きさにより、管理するプロセス内に小プロセスが存在する。</a:t>
            </a:r>
            <a:endParaRPr lang="en-US" altLang="ja-JP" sz="2200" dirty="0">
              <a:solidFill>
                <a:schemeClr val="tx1"/>
              </a:solidFill>
            </a:endParaRPr>
          </a:p>
          <a:p>
            <a:r>
              <a:rPr lang="ja-JP" altLang="en-US" sz="2200" dirty="0">
                <a:solidFill>
                  <a:schemeClr val="tx1"/>
                </a:solidFill>
              </a:rPr>
              <a:t>　・インプット及びアウトプットは、</a:t>
            </a:r>
            <a:r>
              <a:rPr lang="ja-JP" altLang="en-US" sz="2200" dirty="0">
                <a:solidFill>
                  <a:srgbClr val="FF0000"/>
                </a:solidFill>
                <a:effectLst>
                  <a:outerShdw blurRad="38100" dist="38100" dir="2700000" algn="tl">
                    <a:srgbClr val="000000">
                      <a:alpha val="43137"/>
                    </a:srgbClr>
                  </a:outerShdw>
                </a:effectLst>
              </a:rPr>
              <a:t>この小プロセスとのつながりも示す。</a:t>
            </a:r>
            <a:endParaRPr lang="en-US" altLang="ja-JP" sz="2200" dirty="0">
              <a:solidFill>
                <a:srgbClr val="FF0000"/>
              </a:solidFill>
              <a:effectLst>
                <a:outerShdw blurRad="38100" dist="38100" dir="2700000" algn="tl">
                  <a:srgbClr val="000000">
                    <a:alpha val="43137"/>
                  </a:srgbClr>
                </a:outerShdw>
              </a:effectLst>
            </a:endParaRPr>
          </a:p>
          <a:p>
            <a:endParaRPr lang="en-US" altLang="ja-JP" sz="2400" b="1" dirty="0">
              <a:solidFill>
                <a:schemeClr val="tx1"/>
              </a:solidFill>
            </a:endParaRPr>
          </a:p>
          <a:p>
            <a:r>
              <a:rPr lang="en-US" altLang="ja-JP" sz="2400" b="1" dirty="0">
                <a:solidFill>
                  <a:schemeClr val="tx1"/>
                </a:solidFill>
              </a:rPr>
              <a:t>【</a:t>
            </a:r>
            <a:r>
              <a:rPr lang="ja-JP" altLang="en-US" sz="2400" b="1" dirty="0">
                <a:solidFill>
                  <a:schemeClr val="tx1"/>
                </a:solidFill>
              </a:rPr>
              <a:t>プロセスオーナー</a:t>
            </a:r>
            <a:r>
              <a:rPr lang="en-US" altLang="ja-JP" sz="2400" b="1" dirty="0">
                <a:solidFill>
                  <a:schemeClr val="tx1"/>
                </a:solidFill>
              </a:rPr>
              <a:t>】</a:t>
            </a:r>
          </a:p>
          <a:p>
            <a:r>
              <a:rPr kumimoji="1" lang="ja-JP" altLang="en-US" sz="2200" dirty="0">
                <a:solidFill>
                  <a:schemeClr val="tx1"/>
                </a:solidFill>
              </a:rPr>
              <a:t>①プロセスに責任を持つ人</a:t>
            </a:r>
            <a:endParaRPr kumimoji="1" lang="en-US" altLang="ja-JP" sz="2200" dirty="0">
              <a:solidFill>
                <a:schemeClr val="tx1"/>
              </a:solidFill>
            </a:endParaRPr>
          </a:p>
          <a:p>
            <a:endParaRPr lang="en-US" altLang="ja-JP" sz="2400" b="1" dirty="0">
              <a:solidFill>
                <a:schemeClr val="tx1"/>
              </a:solidFill>
            </a:endParaRPr>
          </a:p>
          <a:p>
            <a:r>
              <a:rPr lang="en-US" altLang="ja-JP" sz="2400" b="1" dirty="0">
                <a:solidFill>
                  <a:schemeClr val="tx1"/>
                </a:solidFill>
              </a:rPr>
              <a:t>【</a:t>
            </a:r>
            <a:r>
              <a:rPr lang="ja-JP" altLang="en-US" sz="2400" b="1" dirty="0">
                <a:solidFill>
                  <a:schemeClr val="tx1"/>
                </a:solidFill>
              </a:rPr>
              <a:t>リスク機会への取組み</a:t>
            </a:r>
            <a:r>
              <a:rPr lang="en-US" altLang="ja-JP" sz="2400" b="1" dirty="0">
                <a:solidFill>
                  <a:schemeClr val="tx1"/>
                </a:solidFill>
              </a:rPr>
              <a:t>】</a:t>
            </a:r>
          </a:p>
          <a:p>
            <a:r>
              <a:rPr kumimoji="1" lang="ja-JP" altLang="en-US" sz="2200" dirty="0">
                <a:solidFill>
                  <a:schemeClr val="tx1"/>
                </a:solidFill>
              </a:rPr>
              <a:t>①インプットで特定されたりリスク機会に対する活動</a:t>
            </a:r>
          </a:p>
        </p:txBody>
      </p:sp>
    </p:spTree>
    <p:extLst>
      <p:ext uri="{BB962C8B-B14F-4D97-AF65-F5344CB8AC3E}">
        <p14:creationId xmlns:p14="http://schemas.microsoft.com/office/powerpoint/2010/main" val="25782519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タートル図の解説（インプット）</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lang="ja-JP" altLang="en-US" sz="2400" b="1" dirty="0">
                <a:solidFill>
                  <a:schemeClr val="tx1"/>
                </a:solidFill>
              </a:rPr>
              <a:t>インプット</a:t>
            </a:r>
            <a:r>
              <a:rPr kumimoji="1" lang="en-US" altLang="ja-JP" sz="2400" b="1" dirty="0">
                <a:solidFill>
                  <a:schemeClr val="tx1"/>
                </a:solidFill>
              </a:rPr>
              <a:t>】</a:t>
            </a:r>
          </a:p>
          <a:p>
            <a:r>
              <a:rPr lang="ja-JP" altLang="en-US" sz="2200" dirty="0">
                <a:solidFill>
                  <a:schemeClr val="tx1"/>
                </a:solidFill>
              </a:rPr>
              <a:t>①前のプロセスから入ってくるもの</a:t>
            </a:r>
            <a:endParaRPr lang="en-US" altLang="ja-JP" sz="2200" dirty="0">
              <a:solidFill>
                <a:schemeClr val="tx1"/>
              </a:solidFill>
            </a:endParaRPr>
          </a:p>
          <a:p>
            <a:r>
              <a:rPr lang="ja-JP" altLang="en-US" sz="2200" b="1" dirty="0">
                <a:solidFill>
                  <a:schemeClr val="tx1"/>
                </a:solidFill>
              </a:rPr>
              <a:t>　</a:t>
            </a:r>
            <a:r>
              <a:rPr lang="ja-JP" altLang="en-US" sz="2200" dirty="0">
                <a:solidFill>
                  <a:schemeClr val="tx1"/>
                </a:solidFill>
              </a:rPr>
              <a:t>・材料、文書、情報など</a:t>
            </a:r>
            <a:endParaRPr lang="en-US" altLang="ja-JP" sz="2200" dirty="0">
              <a:solidFill>
                <a:schemeClr val="tx1"/>
              </a:solidFill>
            </a:endParaRPr>
          </a:p>
          <a:p>
            <a:r>
              <a:rPr lang="ja-JP" altLang="en-US" sz="2200" dirty="0">
                <a:solidFill>
                  <a:schemeClr val="tx1"/>
                </a:solidFill>
              </a:rPr>
              <a:t>　・</a:t>
            </a:r>
            <a:r>
              <a:rPr lang="ja-JP" altLang="en-US" sz="2200" dirty="0">
                <a:solidFill>
                  <a:srgbClr val="FF0000"/>
                </a:solidFill>
                <a:effectLst>
                  <a:outerShdw blurRad="38100" dist="38100" dir="2700000" algn="tl">
                    <a:srgbClr val="000000">
                      <a:alpha val="43137"/>
                    </a:srgbClr>
                  </a:outerShdw>
                </a:effectLst>
              </a:rPr>
              <a:t>どこから（前のプロセス）どこへ（小プロセスがある場合）の表記</a:t>
            </a:r>
            <a:endParaRPr lang="en-US" altLang="ja-JP" sz="2200" dirty="0">
              <a:solidFill>
                <a:srgbClr val="FF0000"/>
              </a:solidFill>
              <a:effectLst>
                <a:outerShdw blurRad="38100" dist="38100" dir="2700000" algn="tl">
                  <a:srgbClr val="000000">
                    <a:alpha val="43137"/>
                  </a:srgbClr>
                </a:outerShdw>
              </a:effectLst>
            </a:endParaRPr>
          </a:p>
          <a:p>
            <a:endParaRPr lang="en-US" altLang="ja-JP" sz="2400" dirty="0">
              <a:solidFill>
                <a:schemeClr val="tx1"/>
              </a:solidFill>
            </a:endParaRPr>
          </a:p>
          <a:p>
            <a:r>
              <a:rPr lang="en-US" altLang="ja-JP" sz="2400" b="1" dirty="0">
                <a:solidFill>
                  <a:srgbClr val="FF0000"/>
                </a:solidFill>
                <a:effectLst>
                  <a:outerShdw blurRad="38100" dist="38100" dir="2700000" algn="tl">
                    <a:srgbClr val="000000">
                      <a:alpha val="43137"/>
                    </a:srgbClr>
                  </a:outerShdw>
                </a:effectLst>
              </a:rPr>
              <a:t>【</a:t>
            </a:r>
            <a:r>
              <a:rPr lang="ja-JP" altLang="en-US" sz="2400" b="1" dirty="0">
                <a:solidFill>
                  <a:srgbClr val="FF0000"/>
                </a:solidFill>
                <a:effectLst>
                  <a:outerShdw blurRad="38100" dist="38100" dir="2700000" algn="tl">
                    <a:srgbClr val="000000">
                      <a:alpha val="43137"/>
                    </a:srgbClr>
                  </a:outerShdw>
                </a:effectLst>
              </a:rPr>
              <a:t>要求事項</a:t>
            </a:r>
            <a:r>
              <a:rPr lang="en-US" altLang="ja-JP" sz="2400" b="1" dirty="0">
                <a:solidFill>
                  <a:srgbClr val="FF0000"/>
                </a:solidFill>
                <a:effectLst>
                  <a:outerShdw blurRad="38100" dist="38100" dir="2700000" algn="tl">
                    <a:srgbClr val="000000">
                      <a:alpha val="43137"/>
                    </a:srgbClr>
                  </a:outerShdw>
                </a:effectLst>
              </a:rPr>
              <a:t>】</a:t>
            </a:r>
          </a:p>
          <a:p>
            <a:r>
              <a:rPr kumimoji="1" lang="ja-JP" altLang="en-US" sz="2200" dirty="0">
                <a:solidFill>
                  <a:schemeClr val="tx1"/>
                </a:solidFill>
              </a:rPr>
              <a:t>①このプロセスに対する顧客の要求事項・期待</a:t>
            </a:r>
            <a:endParaRPr kumimoji="1" lang="en-US" altLang="ja-JP" sz="2200" dirty="0">
              <a:solidFill>
                <a:schemeClr val="tx1"/>
              </a:solidFill>
            </a:endParaRPr>
          </a:p>
          <a:p>
            <a:r>
              <a:rPr lang="ja-JP" altLang="en-US" sz="2200" dirty="0">
                <a:solidFill>
                  <a:schemeClr val="tx1"/>
                </a:solidFill>
              </a:rPr>
              <a:t>　・顧客固有要求事項及び</a:t>
            </a:r>
            <a:r>
              <a:rPr lang="en-US" altLang="ja-JP" sz="2200" dirty="0">
                <a:solidFill>
                  <a:schemeClr val="tx1"/>
                </a:solidFill>
              </a:rPr>
              <a:t>4.2</a:t>
            </a:r>
            <a:r>
              <a:rPr lang="ja-JP" altLang="en-US" sz="2200" dirty="0">
                <a:solidFill>
                  <a:schemeClr val="tx1"/>
                </a:solidFill>
              </a:rPr>
              <a:t>（ニーズと期待）から</a:t>
            </a:r>
            <a:endParaRPr kumimoji="1" lang="en-US" altLang="ja-JP" sz="2200" dirty="0">
              <a:solidFill>
                <a:schemeClr val="tx1"/>
              </a:solidFill>
            </a:endParaRPr>
          </a:p>
          <a:p>
            <a:r>
              <a:rPr lang="ja-JP" altLang="en-US" sz="2200" dirty="0">
                <a:solidFill>
                  <a:schemeClr val="tx1"/>
                </a:solidFill>
              </a:rPr>
              <a:t>②組織が課すプロセスの目標・計画</a:t>
            </a:r>
            <a:endParaRPr lang="en-US" altLang="ja-JP" sz="2200" dirty="0">
              <a:solidFill>
                <a:schemeClr val="tx1"/>
              </a:solidFill>
            </a:endParaRPr>
          </a:p>
          <a:p>
            <a:r>
              <a:rPr lang="ja-JP" altLang="en-US" sz="2200" dirty="0">
                <a:solidFill>
                  <a:schemeClr val="tx1"/>
                </a:solidFill>
              </a:rPr>
              <a:t>　・</a:t>
            </a:r>
            <a:r>
              <a:rPr lang="en-US" altLang="ja-JP" sz="2200" dirty="0">
                <a:solidFill>
                  <a:schemeClr val="tx1"/>
                </a:solidFill>
              </a:rPr>
              <a:t>4.1</a:t>
            </a:r>
            <a:r>
              <a:rPr lang="ja-JP" altLang="en-US" sz="2200" dirty="0">
                <a:solidFill>
                  <a:schemeClr val="tx1"/>
                </a:solidFill>
              </a:rPr>
              <a:t>（組織の状況）、</a:t>
            </a:r>
            <a:r>
              <a:rPr lang="en-US" altLang="ja-JP" sz="2200" dirty="0">
                <a:solidFill>
                  <a:schemeClr val="tx1"/>
                </a:solidFill>
              </a:rPr>
              <a:t>4.2(</a:t>
            </a:r>
            <a:r>
              <a:rPr lang="ja-JP" altLang="en-US" sz="2200" dirty="0">
                <a:solidFill>
                  <a:schemeClr val="tx1"/>
                </a:solidFill>
              </a:rPr>
              <a:t>ニーズと期待）、</a:t>
            </a:r>
            <a:r>
              <a:rPr lang="en-US" altLang="ja-JP" sz="2200" dirty="0">
                <a:solidFill>
                  <a:schemeClr val="tx1"/>
                </a:solidFill>
              </a:rPr>
              <a:t>6.2</a:t>
            </a:r>
            <a:r>
              <a:rPr lang="ja-JP" altLang="en-US" sz="2200" dirty="0">
                <a:solidFill>
                  <a:schemeClr val="tx1"/>
                </a:solidFill>
              </a:rPr>
              <a:t>（品質目標）から</a:t>
            </a:r>
            <a:endParaRPr lang="en-US" altLang="ja-JP" sz="2200" dirty="0">
              <a:solidFill>
                <a:schemeClr val="tx1"/>
              </a:solidFill>
            </a:endParaRPr>
          </a:p>
          <a:p>
            <a:r>
              <a:rPr lang="ja-JP" altLang="en-US" sz="2200" dirty="0">
                <a:solidFill>
                  <a:schemeClr val="tx1"/>
                </a:solidFill>
              </a:rPr>
              <a:t>③リスク機会に対する要求事項</a:t>
            </a:r>
            <a:endParaRPr lang="en-US" altLang="ja-JP" sz="2200" dirty="0">
              <a:solidFill>
                <a:schemeClr val="tx1"/>
              </a:solidFill>
            </a:endParaRPr>
          </a:p>
          <a:p>
            <a:r>
              <a:rPr lang="ja-JP" altLang="en-US" sz="2200" dirty="0">
                <a:solidFill>
                  <a:schemeClr val="tx1"/>
                </a:solidFill>
              </a:rPr>
              <a:t>　・</a:t>
            </a:r>
            <a:r>
              <a:rPr lang="en-US" altLang="ja-JP" sz="2200" dirty="0">
                <a:solidFill>
                  <a:schemeClr val="tx1"/>
                </a:solidFill>
              </a:rPr>
              <a:t>6.1</a:t>
            </a:r>
            <a:r>
              <a:rPr lang="ja-JP" altLang="en-US" sz="2200" dirty="0">
                <a:solidFill>
                  <a:schemeClr val="tx1"/>
                </a:solidFill>
              </a:rPr>
              <a:t>（リスク及び機会）から</a:t>
            </a:r>
            <a:endParaRPr lang="en-US" altLang="ja-JP" sz="2400" dirty="0">
              <a:solidFill>
                <a:schemeClr val="tx1"/>
              </a:solidFill>
            </a:endParaRPr>
          </a:p>
        </p:txBody>
      </p:sp>
    </p:spTree>
    <p:extLst>
      <p:ext uri="{BB962C8B-B14F-4D97-AF65-F5344CB8AC3E}">
        <p14:creationId xmlns:p14="http://schemas.microsoft.com/office/powerpoint/2010/main" val="21428322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タートル図の解説（アウトプット）</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lang="ja-JP" altLang="en-US" sz="2400" b="1" dirty="0">
                <a:solidFill>
                  <a:schemeClr val="tx1"/>
                </a:solidFill>
              </a:rPr>
              <a:t>アウトプット</a:t>
            </a:r>
            <a:r>
              <a:rPr kumimoji="1" lang="en-US" altLang="ja-JP" sz="2400" b="1" dirty="0">
                <a:solidFill>
                  <a:schemeClr val="tx1"/>
                </a:solidFill>
              </a:rPr>
              <a:t>】</a:t>
            </a:r>
          </a:p>
          <a:p>
            <a:r>
              <a:rPr lang="ja-JP" altLang="en-US" sz="2200" dirty="0">
                <a:solidFill>
                  <a:schemeClr val="tx1"/>
                </a:solidFill>
              </a:rPr>
              <a:t>①次のプロセスに引き渡すもの</a:t>
            </a:r>
            <a:endParaRPr lang="en-US" altLang="ja-JP" sz="2200" dirty="0">
              <a:solidFill>
                <a:schemeClr val="tx1"/>
              </a:solidFill>
            </a:endParaRPr>
          </a:p>
          <a:p>
            <a:r>
              <a:rPr lang="ja-JP" altLang="en-US" sz="2200" b="1" dirty="0">
                <a:solidFill>
                  <a:schemeClr val="tx1"/>
                </a:solidFill>
              </a:rPr>
              <a:t>　</a:t>
            </a:r>
            <a:r>
              <a:rPr lang="ja-JP" altLang="en-US" sz="2200" dirty="0">
                <a:solidFill>
                  <a:schemeClr val="tx1"/>
                </a:solidFill>
              </a:rPr>
              <a:t>・材料、文書、情報など</a:t>
            </a:r>
            <a:endParaRPr lang="en-US" altLang="ja-JP" sz="2200" dirty="0">
              <a:solidFill>
                <a:schemeClr val="tx1"/>
              </a:solidFill>
            </a:endParaRPr>
          </a:p>
          <a:p>
            <a:r>
              <a:rPr lang="ja-JP" altLang="en-US" sz="2200" dirty="0">
                <a:solidFill>
                  <a:schemeClr val="tx1"/>
                </a:solidFill>
              </a:rPr>
              <a:t>　・</a:t>
            </a:r>
            <a:r>
              <a:rPr lang="ja-JP" altLang="en-US" sz="2200" dirty="0">
                <a:solidFill>
                  <a:srgbClr val="FF0000"/>
                </a:solidFill>
                <a:effectLst>
                  <a:outerShdw blurRad="38100" dist="38100" dir="2700000" algn="tl">
                    <a:srgbClr val="000000">
                      <a:alpha val="43137"/>
                    </a:srgbClr>
                  </a:outerShdw>
                </a:effectLst>
              </a:rPr>
              <a:t>どこから（小プロセスがある場合）どこへ（顧客・次のプロセス）の表記</a:t>
            </a:r>
            <a:endParaRPr lang="en-US" altLang="ja-JP" sz="2200" dirty="0">
              <a:solidFill>
                <a:srgbClr val="FF0000"/>
              </a:solidFill>
              <a:effectLst>
                <a:outerShdw blurRad="38100" dist="38100" dir="2700000" algn="tl">
                  <a:srgbClr val="000000">
                    <a:alpha val="43137"/>
                  </a:srgbClr>
                </a:outerShdw>
              </a:effectLst>
            </a:endParaRPr>
          </a:p>
          <a:p>
            <a:endParaRPr lang="en-US" altLang="ja-JP" sz="2400" dirty="0">
              <a:solidFill>
                <a:schemeClr val="tx1"/>
              </a:solidFill>
            </a:endParaRPr>
          </a:p>
          <a:p>
            <a:r>
              <a:rPr lang="en-US" altLang="ja-JP" sz="2400" b="1" dirty="0">
                <a:solidFill>
                  <a:srgbClr val="FF0000"/>
                </a:solidFill>
                <a:effectLst>
                  <a:outerShdw blurRad="38100" dist="38100" dir="2700000" algn="tl">
                    <a:srgbClr val="000000">
                      <a:alpha val="43137"/>
                    </a:srgbClr>
                  </a:outerShdw>
                </a:effectLst>
              </a:rPr>
              <a:t>【</a:t>
            </a:r>
            <a:r>
              <a:rPr lang="ja-JP" altLang="en-US" sz="2400" b="1" dirty="0">
                <a:solidFill>
                  <a:srgbClr val="FF0000"/>
                </a:solidFill>
                <a:effectLst>
                  <a:outerShdw blurRad="38100" dist="38100" dir="2700000" algn="tl">
                    <a:srgbClr val="000000">
                      <a:alpha val="43137"/>
                    </a:srgbClr>
                  </a:outerShdw>
                </a:effectLst>
              </a:rPr>
              <a:t>プロセスの成果</a:t>
            </a:r>
            <a:r>
              <a:rPr lang="en-US" altLang="ja-JP" sz="2400" b="1" dirty="0">
                <a:solidFill>
                  <a:srgbClr val="FF0000"/>
                </a:solidFill>
                <a:effectLst>
                  <a:outerShdw blurRad="38100" dist="38100" dir="2700000" algn="tl">
                    <a:srgbClr val="000000">
                      <a:alpha val="43137"/>
                    </a:srgbClr>
                  </a:outerShdw>
                </a:effectLst>
              </a:rPr>
              <a:t>】</a:t>
            </a:r>
          </a:p>
          <a:p>
            <a:r>
              <a:rPr kumimoji="1" lang="ja-JP" altLang="en-US" sz="2200" dirty="0">
                <a:solidFill>
                  <a:schemeClr val="tx1"/>
                </a:solidFill>
              </a:rPr>
              <a:t>①このプロセスに対する顧客の要求事項・期待の結果</a:t>
            </a:r>
            <a:endParaRPr kumimoji="1" lang="en-US" altLang="ja-JP" sz="2200" dirty="0">
              <a:solidFill>
                <a:schemeClr val="tx1"/>
              </a:solidFill>
            </a:endParaRPr>
          </a:p>
          <a:p>
            <a:r>
              <a:rPr lang="ja-JP" altLang="en-US" sz="2200" dirty="0">
                <a:solidFill>
                  <a:schemeClr val="tx1"/>
                </a:solidFill>
              </a:rPr>
              <a:t>②組織が課すプロセスの目標・計画の結果</a:t>
            </a:r>
            <a:endParaRPr lang="en-US" altLang="ja-JP" sz="2200" dirty="0">
              <a:solidFill>
                <a:schemeClr val="tx1"/>
              </a:solidFill>
            </a:endParaRPr>
          </a:p>
          <a:p>
            <a:r>
              <a:rPr lang="ja-JP" altLang="en-US" sz="2200" dirty="0">
                <a:solidFill>
                  <a:schemeClr val="tx1"/>
                </a:solidFill>
              </a:rPr>
              <a:t>　・①②とも</a:t>
            </a:r>
            <a:r>
              <a:rPr lang="ja-JP" altLang="en-US" sz="2200" dirty="0">
                <a:solidFill>
                  <a:srgbClr val="FF0000"/>
                </a:solidFill>
                <a:effectLst>
                  <a:outerShdw blurRad="38100" dist="38100" dir="2700000" algn="tl">
                    <a:srgbClr val="000000">
                      <a:alpha val="43137"/>
                    </a:srgbClr>
                  </a:outerShdw>
                </a:effectLst>
              </a:rPr>
              <a:t>インプットにおける要求事項と対比している</a:t>
            </a:r>
            <a:endParaRPr lang="en-US" altLang="ja-JP" sz="2200" dirty="0">
              <a:solidFill>
                <a:srgbClr val="FF0000"/>
              </a:solidFill>
              <a:effectLst>
                <a:outerShdw blurRad="38100" dist="38100" dir="2700000" algn="tl">
                  <a:srgbClr val="000000">
                    <a:alpha val="43137"/>
                  </a:srgbClr>
                </a:outerShdw>
              </a:effectLst>
            </a:endParaRPr>
          </a:p>
          <a:p>
            <a:endParaRPr lang="en-US" altLang="ja-JP" sz="2200" dirty="0">
              <a:solidFill>
                <a:schemeClr val="tx1"/>
              </a:solidFill>
            </a:endParaRPr>
          </a:p>
          <a:p>
            <a:r>
              <a:rPr lang="en-US" altLang="ja-JP" sz="2200" b="1" dirty="0">
                <a:solidFill>
                  <a:schemeClr val="tx1"/>
                </a:solidFill>
              </a:rPr>
              <a:t>【</a:t>
            </a:r>
            <a:r>
              <a:rPr lang="ja-JP" altLang="en-US" sz="2200" b="1" dirty="0">
                <a:solidFill>
                  <a:schemeClr val="tx1"/>
                </a:solidFill>
              </a:rPr>
              <a:t>このプロセスの記録</a:t>
            </a:r>
            <a:r>
              <a:rPr lang="en-US" altLang="ja-JP" sz="2200" b="1" dirty="0">
                <a:solidFill>
                  <a:schemeClr val="tx1"/>
                </a:solidFill>
              </a:rPr>
              <a:t>】</a:t>
            </a:r>
          </a:p>
          <a:p>
            <a:r>
              <a:rPr lang="ja-JP" altLang="en-US" sz="2200" dirty="0">
                <a:solidFill>
                  <a:schemeClr val="tx1"/>
                </a:solidFill>
              </a:rPr>
              <a:t>①インプット及びアウトプットの文書化</a:t>
            </a:r>
            <a:endParaRPr lang="en-US" altLang="ja-JP" sz="2400" dirty="0">
              <a:solidFill>
                <a:schemeClr val="tx1"/>
              </a:solidFill>
            </a:endParaRPr>
          </a:p>
        </p:txBody>
      </p:sp>
    </p:spTree>
    <p:extLst>
      <p:ext uri="{BB962C8B-B14F-4D97-AF65-F5344CB8AC3E}">
        <p14:creationId xmlns:p14="http://schemas.microsoft.com/office/powerpoint/2010/main" val="22929588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89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タートル図の解説（物的資源）</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kumimoji="1" lang="ja-JP" altLang="en-US" sz="2400" b="1" dirty="0">
                <a:solidFill>
                  <a:schemeClr val="tx1"/>
                </a:solidFill>
              </a:rPr>
              <a:t>設備</a:t>
            </a:r>
            <a:r>
              <a:rPr kumimoji="1" lang="en-US" altLang="ja-JP" sz="2400" b="1" dirty="0">
                <a:solidFill>
                  <a:schemeClr val="tx1"/>
                </a:solidFill>
              </a:rPr>
              <a:t>】</a:t>
            </a:r>
          </a:p>
          <a:p>
            <a:r>
              <a:rPr lang="ja-JP" altLang="en-US" sz="2200" dirty="0">
                <a:solidFill>
                  <a:schemeClr val="tx1"/>
                </a:solidFill>
              </a:rPr>
              <a:t>①ハード的な資源全体を含む</a:t>
            </a:r>
            <a:endParaRPr lang="en-US" altLang="ja-JP" sz="2200" dirty="0">
              <a:solidFill>
                <a:schemeClr val="tx1"/>
              </a:solidFill>
            </a:endParaRPr>
          </a:p>
          <a:p>
            <a:r>
              <a:rPr lang="ja-JP" altLang="en-US" sz="2200" b="1" dirty="0">
                <a:solidFill>
                  <a:schemeClr val="tx1"/>
                </a:solidFill>
              </a:rPr>
              <a:t>　</a:t>
            </a:r>
            <a:r>
              <a:rPr lang="ja-JP" altLang="en-US" sz="2200" dirty="0">
                <a:solidFill>
                  <a:schemeClr val="tx1"/>
                </a:solidFill>
              </a:rPr>
              <a:t>・生産設備、インフラ関係、ユーティリティなど</a:t>
            </a:r>
            <a:endParaRPr lang="en-US" altLang="ja-JP" sz="2400" dirty="0">
              <a:solidFill>
                <a:schemeClr val="tx1"/>
              </a:solidFill>
            </a:endParaRPr>
          </a:p>
          <a:p>
            <a:r>
              <a:rPr lang="en-US" altLang="ja-JP" sz="2400" b="1" dirty="0">
                <a:solidFill>
                  <a:schemeClr val="tx1"/>
                </a:solidFill>
              </a:rPr>
              <a:t>【</a:t>
            </a:r>
            <a:r>
              <a:rPr lang="ja-JP" altLang="en-US" sz="2400" b="1" dirty="0">
                <a:solidFill>
                  <a:schemeClr val="tx1"/>
                </a:solidFill>
              </a:rPr>
              <a:t>システム</a:t>
            </a:r>
            <a:r>
              <a:rPr lang="en-US" altLang="ja-JP" sz="2400" b="1" dirty="0">
                <a:solidFill>
                  <a:schemeClr val="tx1"/>
                </a:solidFill>
              </a:rPr>
              <a:t>】</a:t>
            </a:r>
          </a:p>
          <a:p>
            <a:r>
              <a:rPr kumimoji="1" lang="ja-JP" altLang="en-US" sz="2200" dirty="0">
                <a:solidFill>
                  <a:schemeClr val="tx1"/>
                </a:solidFill>
              </a:rPr>
              <a:t>①プロセスを動かすシステム（現実的にはＩＴシステムが中心）</a:t>
            </a:r>
            <a:endParaRPr lang="en-US" altLang="ja-JP" sz="2200" dirty="0">
              <a:solidFill>
                <a:schemeClr val="tx1"/>
              </a:solidFill>
            </a:endParaRPr>
          </a:p>
          <a:p>
            <a:r>
              <a:rPr lang="ja-JP" altLang="en-US" sz="2200" dirty="0">
                <a:solidFill>
                  <a:schemeClr val="tx1"/>
                </a:solidFill>
              </a:rPr>
              <a:t>　・社内共有サーバー、顧客受注システム、棚卸システムなど</a:t>
            </a:r>
            <a:endParaRPr lang="en-US" altLang="ja-JP" sz="2200" dirty="0">
              <a:solidFill>
                <a:schemeClr val="tx1"/>
              </a:solidFill>
            </a:endParaRPr>
          </a:p>
          <a:p>
            <a:r>
              <a:rPr lang="en-US" altLang="ja-JP" sz="2200" b="1" dirty="0">
                <a:solidFill>
                  <a:schemeClr val="tx1"/>
                </a:solidFill>
              </a:rPr>
              <a:t>【</a:t>
            </a:r>
            <a:r>
              <a:rPr lang="ja-JP" altLang="en-US" sz="2200" b="1" dirty="0">
                <a:solidFill>
                  <a:schemeClr val="tx1"/>
                </a:solidFill>
              </a:rPr>
              <a:t>情報</a:t>
            </a:r>
            <a:r>
              <a:rPr lang="en-US" altLang="ja-JP" sz="2200" b="1" dirty="0">
                <a:solidFill>
                  <a:schemeClr val="tx1"/>
                </a:solidFill>
              </a:rPr>
              <a:t>】</a:t>
            </a:r>
          </a:p>
          <a:p>
            <a:r>
              <a:rPr lang="ja-JP" altLang="en-US" sz="2200" dirty="0">
                <a:solidFill>
                  <a:schemeClr val="tx1"/>
                </a:solidFill>
              </a:rPr>
              <a:t>①プロセスを実施する上で必要な情報</a:t>
            </a:r>
            <a:endParaRPr lang="en-US" altLang="ja-JP" sz="2200" dirty="0">
              <a:solidFill>
                <a:schemeClr val="tx1"/>
              </a:solidFill>
            </a:endParaRPr>
          </a:p>
          <a:p>
            <a:r>
              <a:rPr lang="ja-JP" altLang="en-US" sz="2200" dirty="0">
                <a:solidFill>
                  <a:schemeClr val="tx1"/>
                </a:solidFill>
              </a:rPr>
              <a:t>　・関連する法規制、含有化学物質リスト及び市場動向など</a:t>
            </a:r>
            <a:endParaRPr lang="en-US" altLang="ja-JP" sz="2200" dirty="0">
              <a:solidFill>
                <a:schemeClr val="tx1"/>
              </a:solidFill>
            </a:endParaRPr>
          </a:p>
          <a:p>
            <a:r>
              <a:rPr lang="ja-JP" altLang="en-US" sz="2200" dirty="0">
                <a:solidFill>
                  <a:schemeClr val="tx1"/>
                </a:solidFill>
              </a:rPr>
              <a:t>②インプット情報との違いは</a:t>
            </a:r>
            <a:endParaRPr lang="en-US" altLang="ja-JP" sz="2200" dirty="0">
              <a:solidFill>
                <a:schemeClr val="tx1"/>
              </a:solidFill>
            </a:endParaRPr>
          </a:p>
          <a:p>
            <a:r>
              <a:rPr lang="ja-JP" altLang="en-US" sz="2200" dirty="0">
                <a:solidFill>
                  <a:schemeClr val="tx1"/>
                </a:solidFill>
              </a:rPr>
              <a:t>　　“前のプロセスからの情報か否か”　“プロセスに直接的に関わるか否か”</a:t>
            </a:r>
            <a:endParaRPr lang="en-US" altLang="ja-JP" sz="2200" dirty="0">
              <a:solidFill>
                <a:schemeClr val="tx1"/>
              </a:solidFill>
            </a:endParaRPr>
          </a:p>
          <a:p>
            <a:endParaRPr lang="en-US" altLang="ja-JP" sz="2400" dirty="0">
              <a:solidFill>
                <a:schemeClr val="tx1"/>
              </a:solidFill>
            </a:endParaRPr>
          </a:p>
        </p:txBody>
      </p:sp>
    </p:spTree>
    <p:extLst>
      <p:ext uri="{BB962C8B-B14F-4D97-AF65-F5344CB8AC3E}">
        <p14:creationId xmlns:p14="http://schemas.microsoft.com/office/powerpoint/2010/main" val="4263104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タートル図の解説（人的資源）</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kumimoji="1" lang="ja-JP" altLang="en-US" sz="2400" b="1" dirty="0">
                <a:solidFill>
                  <a:schemeClr val="tx1"/>
                </a:solidFill>
              </a:rPr>
              <a:t>要員・資格</a:t>
            </a:r>
            <a:r>
              <a:rPr kumimoji="1" lang="en-US" altLang="ja-JP" sz="2400" b="1" dirty="0">
                <a:solidFill>
                  <a:schemeClr val="tx1"/>
                </a:solidFill>
              </a:rPr>
              <a:t>】</a:t>
            </a:r>
          </a:p>
          <a:p>
            <a:r>
              <a:rPr lang="ja-JP" altLang="en-US" sz="2200" dirty="0">
                <a:solidFill>
                  <a:schemeClr val="tx1"/>
                </a:solidFill>
              </a:rPr>
              <a:t>①このプロセスを担当する要員</a:t>
            </a:r>
            <a:endParaRPr lang="en-US" altLang="ja-JP" sz="2200" dirty="0">
              <a:solidFill>
                <a:schemeClr val="tx1"/>
              </a:solidFill>
            </a:endParaRPr>
          </a:p>
          <a:p>
            <a:r>
              <a:rPr lang="ja-JP" altLang="en-US" sz="2200" b="1" dirty="0">
                <a:solidFill>
                  <a:schemeClr val="tx1"/>
                </a:solidFill>
              </a:rPr>
              <a:t>　</a:t>
            </a:r>
            <a:r>
              <a:rPr lang="ja-JP" altLang="en-US" sz="2200" dirty="0">
                <a:solidFill>
                  <a:schemeClr val="tx1"/>
                </a:solidFill>
              </a:rPr>
              <a:t>・営業担当者、工程検査員及びプレス作業主任者など</a:t>
            </a:r>
            <a:endParaRPr lang="en-US" altLang="ja-JP" sz="2400" dirty="0">
              <a:solidFill>
                <a:schemeClr val="tx1"/>
              </a:solidFill>
            </a:endParaRPr>
          </a:p>
          <a:p>
            <a:r>
              <a:rPr lang="en-US" altLang="ja-JP" sz="2400" b="1" dirty="0">
                <a:solidFill>
                  <a:schemeClr val="tx1"/>
                </a:solidFill>
              </a:rPr>
              <a:t>【</a:t>
            </a:r>
            <a:r>
              <a:rPr lang="ja-JP" altLang="en-US" sz="2400" b="1" dirty="0">
                <a:solidFill>
                  <a:schemeClr val="tx1"/>
                </a:solidFill>
              </a:rPr>
              <a:t>力量レベル</a:t>
            </a:r>
            <a:r>
              <a:rPr lang="en-US" altLang="ja-JP" sz="2400" b="1" dirty="0">
                <a:solidFill>
                  <a:schemeClr val="tx1"/>
                </a:solidFill>
              </a:rPr>
              <a:t>】</a:t>
            </a:r>
          </a:p>
          <a:p>
            <a:r>
              <a:rPr kumimoji="1" lang="ja-JP" altLang="en-US" sz="2200" dirty="0">
                <a:solidFill>
                  <a:schemeClr val="tx1"/>
                </a:solidFill>
              </a:rPr>
              <a:t>①このプロセスを実施する際の力量レベル</a:t>
            </a:r>
            <a:endParaRPr kumimoji="1" lang="en-US" altLang="ja-JP" sz="2200" dirty="0">
              <a:solidFill>
                <a:schemeClr val="tx1"/>
              </a:solidFill>
            </a:endParaRPr>
          </a:p>
          <a:p>
            <a:r>
              <a:rPr lang="ja-JP" altLang="en-US" sz="2200" dirty="0">
                <a:solidFill>
                  <a:schemeClr val="tx1"/>
                </a:solidFill>
              </a:rPr>
              <a:t>　・</a:t>
            </a:r>
            <a:r>
              <a:rPr kumimoji="1" lang="en-US" altLang="ja-JP" sz="2200" dirty="0">
                <a:solidFill>
                  <a:srgbClr val="FF0000"/>
                </a:solidFill>
                <a:effectLst>
                  <a:outerShdw blurRad="38100" dist="38100" dir="2700000" algn="tl">
                    <a:srgbClr val="000000">
                      <a:alpha val="43137"/>
                    </a:srgbClr>
                  </a:outerShdw>
                </a:effectLst>
              </a:rPr>
              <a:t>6.2</a:t>
            </a:r>
            <a:r>
              <a:rPr kumimoji="1" lang="ja-JP" altLang="en-US" sz="2200" dirty="0">
                <a:solidFill>
                  <a:srgbClr val="FF0000"/>
                </a:solidFill>
                <a:effectLst>
                  <a:outerShdw blurRad="38100" dist="38100" dir="2700000" algn="tl">
                    <a:srgbClr val="000000">
                      <a:alpha val="43137"/>
                    </a:srgbClr>
                  </a:outerShdw>
                </a:effectLst>
              </a:rPr>
              <a:t>（力量）に基づく力量レベル</a:t>
            </a:r>
            <a:endParaRPr lang="en-US" altLang="ja-JP" sz="2200" dirty="0">
              <a:solidFill>
                <a:srgbClr val="FF0000"/>
              </a:solidFill>
              <a:effectLst>
                <a:outerShdw blurRad="38100" dist="38100" dir="2700000" algn="tl">
                  <a:srgbClr val="000000">
                    <a:alpha val="43137"/>
                  </a:srgbClr>
                </a:outerShdw>
              </a:effectLst>
            </a:endParaRPr>
          </a:p>
          <a:p>
            <a:r>
              <a:rPr lang="en-US" altLang="ja-JP" sz="2200" b="1" dirty="0">
                <a:solidFill>
                  <a:schemeClr val="tx1"/>
                </a:solidFill>
              </a:rPr>
              <a:t>【</a:t>
            </a:r>
            <a:r>
              <a:rPr lang="ja-JP" altLang="en-US" sz="2200" b="1" dirty="0">
                <a:solidFill>
                  <a:schemeClr val="tx1"/>
                </a:solidFill>
              </a:rPr>
              <a:t>アウトソース</a:t>
            </a:r>
            <a:r>
              <a:rPr lang="en-US" altLang="ja-JP" sz="2200" b="1" dirty="0">
                <a:solidFill>
                  <a:schemeClr val="tx1"/>
                </a:solidFill>
              </a:rPr>
              <a:t>】</a:t>
            </a:r>
          </a:p>
          <a:p>
            <a:r>
              <a:rPr lang="ja-JP" altLang="en-US" sz="2200" dirty="0">
                <a:solidFill>
                  <a:schemeClr val="tx1"/>
                </a:solidFill>
              </a:rPr>
              <a:t>①小プロセスの一部をアウトソースする場合の小プロセス名とアウトソース先</a:t>
            </a:r>
            <a:endParaRPr lang="en-US" altLang="ja-JP" sz="2200" dirty="0">
              <a:solidFill>
                <a:schemeClr val="tx1"/>
              </a:solidFill>
            </a:endParaRPr>
          </a:p>
          <a:p>
            <a:r>
              <a:rPr lang="en-US" altLang="ja-JP" sz="2200" b="1" dirty="0">
                <a:solidFill>
                  <a:schemeClr val="tx1"/>
                </a:solidFill>
              </a:rPr>
              <a:t>【</a:t>
            </a:r>
            <a:r>
              <a:rPr lang="ja-JP" altLang="en-US" sz="2200" b="1" dirty="0">
                <a:solidFill>
                  <a:schemeClr val="tx1"/>
                </a:solidFill>
              </a:rPr>
              <a:t>支援プロセス</a:t>
            </a:r>
            <a:r>
              <a:rPr lang="en-US" altLang="ja-JP" sz="2200" b="1" dirty="0">
                <a:solidFill>
                  <a:schemeClr val="tx1"/>
                </a:solidFill>
              </a:rPr>
              <a:t>】</a:t>
            </a:r>
          </a:p>
          <a:p>
            <a:r>
              <a:rPr lang="ja-JP" altLang="en-US" sz="2200" dirty="0">
                <a:solidFill>
                  <a:schemeClr val="tx1"/>
                </a:solidFill>
              </a:rPr>
              <a:t>①関連する支援プロセス</a:t>
            </a:r>
            <a:endParaRPr lang="en-US" altLang="ja-JP" sz="2200" dirty="0">
              <a:solidFill>
                <a:schemeClr val="tx1"/>
              </a:solidFill>
            </a:endParaRPr>
          </a:p>
          <a:p>
            <a:r>
              <a:rPr lang="ja-JP" altLang="en-US" sz="2200" dirty="0">
                <a:solidFill>
                  <a:schemeClr val="tx1"/>
                </a:solidFill>
              </a:rPr>
              <a:t>　・教育訓練、購買、測定機器管理、設備管理など</a:t>
            </a:r>
            <a:endParaRPr lang="en-US" altLang="ja-JP" sz="2200" dirty="0">
              <a:solidFill>
                <a:schemeClr val="tx1"/>
              </a:solidFill>
            </a:endParaRPr>
          </a:p>
          <a:p>
            <a:endParaRPr lang="en-US" altLang="ja-JP" sz="2400" dirty="0">
              <a:solidFill>
                <a:schemeClr val="tx1"/>
              </a:solidFill>
            </a:endParaRPr>
          </a:p>
        </p:txBody>
      </p:sp>
    </p:spTree>
    <p:extLst>
      <p:ext uri="{BB962C8B-B14F-4D97-AF65-F5344CB8AC3E}">
        <p14:creationId xmlns:p14="http://schemas.microsoft.com/office/powerpoint/2010/main" val="9557612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タートル図の解説（運用方法）</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chemeClr val="tx1"/>
                </a:solidFill>
              </a:rPr>
              <a:t>【</a:t>
            </a:r>
            <a:r>
              <a:rPr kumimoji="1" lang="ja-JP" altLang="en-US" sz="2400" b="1" dirty="0">
                <a:solidFill>
                  <a:schemeClr val="tx1"/>
                </a:solidFill>
              </a:rPr>
              <a:t>規定事項・手順・標準</a:t>
            </a:r>
            <a:r>
              <a:rPr kumimoji="1" lang="en-US" altLang="ja-JP" sz="2400" b="1" dirty="0">
                <a:solidFill>
                  <a:schemeClr val="tx1"/>
                </a:solidFill>
              </a:rPr>
              <a:t>】</a:t>
            </a:r>
          </a:p>
          <a:p>
            <a:r>
              <a:rPr lang="ja-JP" altLang="en-US" sz="2200" dirty="0">
                <a:solidFill>
                  <a:schemeClr val="tx1"/>
                </a:solidFill>
              </a:rPr>
              <a:t>①プロセスフロー図</a:t>
            </a:r>
            <a:endParaRPr lang="en-US" altLang="ja-JP" sz="2200" dirty="0">
              <a:solidFill>
                <a:schemeClr val="tx1"/>
              </a:solidFill>
            </a:endParaRPr>
          </a:p>
          <a:p>
            <a:r>
              <a:rPr lang="ja-JP" altLang="en-US" sz="2200" dirty="0">
                <a:solidFill>
                  <a:schemeClr val="tx1"/>
                </a:solidFill>
              </a:rPr>
              <a:t>②プロセスの実施手順</a:t>
            </a:r>
            <a:endParaRPr lang="en-US" altLang="ja-JP" sz="2200" dirty="0">
              <a:solidFill>
                <a:schemeClr val="tx1"/>
              </a:solidFill>
            </a:endParaRPr>
          </a:p>
          <a:p>
            <a:r>
              <a:rPr lang="ja-JP" altLang="en-US" sz="2200" dirty="0">
                <a:solidFill>
                  <a:schemeClr val="tx1"/>
                </a:solidFill>
              </a:rPr>
              <a:t>　・規定、要領、手順書及び基準書など</a:t>
            </a:r>
            <a:endParaRPr lang="en-US" altLang="ja-JP" sz="2200" dirty="0">
              <a:solidFill>
                <a:schemeClr val="tx1"/>
              </a:solidFill>
            </a:endParaRPr>
          </a:p>
          <a:p>
            <a:r>
              <a:rPr lang="ja-JP" altLang="en-US" sz="2200" dirty="0">
                <a:solidFill>
                  <a:schemeClr val="tx1"/>
                </a:solidFill>
              </a:rPr>
              <a:t>③その他関連する文書化情報</a:t>
            </a:r>
            <a:endParaRPr lang="en-US" altLang="ja-JP" sz="2200" dirty="0">
              <a:solidFill>
                <a:schemeClr val="tx1"/>
              </a:solidFill>
            </a:endParaRPr>
          </a:p>
          <a:p>
            <a:r>
              <a:rPr lang="ja-JP" altLang="en-US" sz="2200" dirty="0">
                <a:solidFill>
                  <a:schemeClr val="tx1"/>
                </a:solidFill>
              </a:rPr>
              <a:t>　・顧客固有要求文書、カタログなど</a:t>
            </a:r>
            <a:endParaRPr lang="en-US" altLang="ja-JP" sz="2400" dirty="0">
              <a:solidFill>
                <a:schemeClr val="tx1"/>
              </a:solidFill>
            </a:endParaRPr>
          </a:p>
        </p:txBody>
      </p:sp>
    </p:spTree>
    <p:extLst>
      <p:ext uri="{BB962C8B-B14F-4D97-AF65-F5344CB8AC3E}">
        <p14:creationId xmlns:p14="http://schemas.microsoft.com/office/powerpoint/2010/main" val="18636269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タートル図の解説（評価指標）</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34" name="四角形: 角を丸くする 33">
            <a:extLst>
              <a:ext uri="{FF2B5EF4-FFF2-40B4-BE49-F238E27FC236}">
                <a16:creationId xmlns:a16="http://schemas.microsoft.com/office/drawing/2014/main" id="{AD6E6B8B-D295-44A3-8522-BDA122BF8072}"/>
              </a:ext>
            </a:extLst>
          </p:cNvPr>
          <p:cNvSpPr/>
          <p:nvPr/>
        </p:nvSpPr>
        <p:spPr>
          <a:xfrm>
            <a:off x="838199" y="1610106"/>
            <a:ext cx="10515599" cy="4570357"/>
          </a:xfrm>
          <a:prstGeom prst="roundRect">
            <a:avLst/>
          </a:prstGeom>
          <a:solidFill>
            <a:schemeClr val="tx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400" b="1" dirty="0">
                <a:solidFill>
                  <a:srgbClr val="FF0000"/>
                </a:solidFill>
                <a:effectLst>
                  <a:outerShdw blurRad="38100" dist="38100" dir="2700000" algn="tl">
                    <a:srgbClr val="000000">
                      <a:alpha val="43137"/>
                    </a:srgbClr>
                  </a:outerShdw>
                </a:effectLst>
              </a:rPr>
              <a:t>【</a:t>
            </a:r>
            <a:r>
              <a:rPr kumimoji="1" lang="ja-JP" altLang="en-US" sz="2400" b="1" dirty="0">
                <a:solidFill>
                  <a:srgbClr val="FF0000"/>
                </a:solidFill>
                <a:effectLst>
                  <a:outerShdw blurRad="38100" dist="38100" dir="2700000" algn="tl">
                    <a:srgbClr val="000000">
                      <a:alpha val="43137"/>
                    </a:srgbClr>
                  </a:outerShdw>
                </a:effectLst>
              </a:rPr>
              <a:t>有効性としての</a:t>
            </a:r>
            <a:r>
              <a:rPr lang="ja-JP" altLang="en-US" sz="2400" b="1" dirty="0">
                <a:solidFill>
                  <a:srgbClr val="FF0000"/>
                </a:solidFill>
                <a:effectLst>
                  <a:outerShdw blurRad="38100" dist="38100" dir="2700000" algn="tl">
                    <a:srgbClr val="000000">
                      <a:alpha val="43137"/>
                    </a:srgbClr>
                  </a:outerShdw>
                </a:effectLst>
              </a:rPr>
              <a:t>監視測定項目と指標</a:t>
            </a:r>
            <a:r>
              <a:rPr kumimoji="1" lang="en-US" altLang="ja-JP" sz="2400" b="1" dirty="0">
                <a:solidFill>
                  <a:srgbClr val="FF0000"/>
                </a:solidFill>
                <a:effectLst>
                  <a:outerShdw blurRad="38100" dist="38100" dir="2700000" algn="tl">
                    <a:srgbClr val="000000">
                      <a:alpha val="43137"/>
                    </a:srgbClr>
                  </a:outerShdw>
                </a:effectLst>
              </a:rPr>
              <a:t>】</a:t>
            </a:r>
          </a:p>
          <a:p>
            <a:r>
              <a:rPr lang="ja-JP" altLang="en-US" sz="2200" dirty="0">
                <a:solidFill>
                  <a:schemeClr val="tx1"/>
                </a:solidFill>
              </a:rPr>
              <a:t>①プロセスの成果に対する指標と達成度</a:t>
            </a:r>
            <a:endParaRPr lang="en-US" altLang="ja-JP" sz="2200" dirty="0">
              <a:solidFill>
                <a:schemeClr val="tx1"/>
              </a:solidFill>
            </a:endParaRPr>
          </a:p>
          <a:p>
            <a:r>
              <a:rPr lang="ja-JP" altLang="en-US" sz="2200" dirty="0">
                <a:solidFill>
                  <a:schemeClr val="tx1"/>
                </a:solidFill>
              </a:rPr>
              <a:t>　・アウトプットのプロセスの成果がすべて評価できること</a:t>
            </a:r>
            <a:endParaRPr lang="en-US" altLang="ja-JP" sz="2200" dirty="0">
              <a:solidFill>
                <a:schemeClr val="tx1"/>
              </a:solidFill>
            </a:endParaRPr>
          </a:p>
          <a:p>
            <a:r>
              <a:rPr lang="ja-JP" altLang="en-US" sz="2200" dirty="0">
                <a:solidFill>
                  <a:schemeClr val="tx1"/>
                </a:solidFill>
              </a:rPr>
              <a:t>②プロセスのパフォーマンスに対する指標と達成度</a:t>
            </a:r>
            <a:endParaRPr lang="en-US" altLang="ja-JP" sz="2200" dirty="0">
              <a:solidFill>
                <a:schemeClr val="tx1"/>
              </a:solidFill>
            </a:endParaRPr>
          </a:p>
          <a:p>
            <a:r>
              <a:rPr lang="en-US" altLang="ja-JP" sz="2200" dirty="0">
                <a:solidFill>
                  <a:srgbClr val="FF0000"/>
                </a:solidFill>
                <a:effectLst>
                  <a:outerShdw blurRad="38100" dist="38100" dir="2700000" algn="tl">
                    <a:srgbClr val="000000">
                      <a:alpha val="43137"/>
                    </a:srgbClr>
                  </a:outerShdw>
                </a:effectLst>
              </a:rPr>
              <a:t>※</a:t>
            </a:r>
            <a:r>
              <a:rPr lang="ja-JP" altLang="en-US" sz="2200" dirty="0">
                <a:solidFill>
                  <a:srgbClr val="FF0000"/>
                </a:solidFill>
                <a:effectLst>
                  <a:outerShdw blurRad="38100" dist="38100" dir="2700000" algn="tl">
                    <a:srgbClr val="000000">
                      <a:alpha val="43137"/>
                    </a:srgbClr>
                  </a:outerShdw>
                </a:effectLst>
              </a:rPr>
              <a:t>インプット要求事項に対する成果とパフォーマンスの違い</a:t>
            </a:r>
            <a:endParaRPr lang="en-US" altLang="ja-JP" sz="2200" dirty="0">
              <a:solidFill>
                <a:srgbClr val="FF0000"/>
              </a:solidFill>
              <a:effectLst>
                <a:outerShdw blurRad="38100" dist="38100" dir="2700000" algn="tl">
                  <a:srgbClr val="000000">
                    <a:alpha val="43137"/>
                  </a:srgbClr>
                </a:outerShdw>
              </a:effectLst>
            </a:endParaRPr>
          </a:p>
          <a:p>
            <a:r>
              <a:rPr lang="ja-JP" altLang="en-US" sz="2200" dirty="0">
                <a:solidFill>
                  <a:srgbClr val="FF0000"/>
                </a:solidFill>
                <a:effectLst>
                  <a:outerShdw blurRad="38100" dist="38100" dir="2700000" algn="tl">
                    <a:srgbClr val="000000">
                      <a:alpha val="43137"/>
                    </a:srgbClr>
                  </a:outerShdw>
                </a:effectLst>
              </a:rPr>
              <a:t>　・インプット要求事項に対する成果：計画されたアウトプットの達成</a:t>
            </a:r>
            <a:endParaRPr lang="en-US" altLang="ja-JP" sz="2200" dirty="0">
              <a:solidFill>
                <a:srgbClr val="FF0000"/>
              </a:solidFill>
              <a:effectLst>
                <a:outerShdw blurRad="38100" dist="38100" dir="2700000" algn="tl">
                  <a:srgbClr val="000000">
                    <a:alpha val="43137"/>
                  </a:srgbClr>
                </a:outerShdw>
              </a:effectLst>
            </a:endParaRPr>
          </a:p>
          <a:p>
            <a:r>
              <a:rPr lang="ja-JP" altLang="en-US" sz="2200" dirty="0">
                <a:solidFill>
                  <a:srgbClr val="FF0000"/>
                </a:solidFill>
                <a:effectLst>
                  <a:outerShdw blurRad="38100" dist="38100" dir="2700000" algn="tl">
                    <a:srgbClr val="000000">
                      <a:alpha val="43137"/>
                    </a:srgbClr>
                  </a:outerShdw>
                </a:effectLst>
              </a:rPr>
              <a:t>　・パフォーマンス：コスト、生産性及び納期などの視点</a:t>
            </a:r>
            <a:endParaRPr lang="en-US" altLang="ja-JP" sz="2200" dirty="0">
              <a:solidFill>
                <a:srgbClr val="FF0000"/>
              </a:solidFill>
              <a:effectLst>
                <a:outerShdw blurRad="38100" dist="38100" dir="2700000" algn="tl">
                  <a:srgbClr val="000000">
                    <a:alpha val="43137"/>
                  </a:srgbClr>
                </a:outerShdw>
              </a:effectLst>
            </a:endParaRPr>
          </a:p>
          <a:p>
            <a:endParaRPr lang="en-US" altLang="ja-JP" sz="2200" dirty="0">
              <a:solidFill>
                <a:schemeClr val="tx1"/>
              </a:solidFill>
            </a:endParaRPr>
          </a:p>
          <a:p>
            <a:r>
              <a:rPr lang="en-US" altLang="ja-JP" sz="2400" b="1" dirty="0">
                <a:solidFill>
                  <a:srgbClr val="FF0000"/>
                </a:solidFill>
                <a:effectLst>
                  <a:outerShdw blurRad="38100" dist="38100" dir="2700000" algn="tl">
                    <a:srgbClr val="000000">
                      <a:alpha val="43137"/>
                    </a:srgbClr>
                  </a:outerShdw>
                </a:effectLst>
              </a:rPr>
              <a:t>【</a:t>
            </a:r>
            <a:r>
              <a:rPr lang="ja-JP" altLang="en-US" sz="2400" b="1" dirty="0">
                <a:solidFill>
                  <a:srgbClr val="FF0000"/>
                </a:solidFill>
                <a:effectLst>
                  <a:outerShdw blurRad="38100" dist="38100" dir="2700000" algn="tl">
                    <a:srgbClr val="000000">
                      <a:alpha val="43137"/>
                    </a:srgbClr>
                  </a:outerShdw>
                </a:effectLst>
              </a:rPr>
              <a:t>効率としての監視測定項目と指標</a:t>
            </a:r>
            <a:r>
              <a:rPr lang="en-US" altLang="ja-JP" sz="2400" b="1" dirty="0">
                <a:solidFill>
                  <a:srgbClr val="FF0000"/>
                </a:solidFill>
                <a:effectLst>
                  <a:outerShdw blurRad="38100" dist="38100" dir="2700000" algn="tl">
                    <a:srgbClr val="000000">
                      <a:alpha val="43137"/>
                    </a:srgbClr>
                  </a:outerShdw>
                </a:effectLst>
              </a:rPr>
              <a:t>】</a:t>
            </a:r>
          </a:p>
          <a:p>
            <a:r>
              <a:rPr lang="ja-JP" altLang="en-US" sz="2200" dirty="0">
                <a:solidFill>
                  <a:schemeClr val="tx1"/>
                </a:solidFill>
              </a:rPr>
              <a:t>①有効性と同様に効率面での評価を行う。</a:t>
            </a:r>
            <a:endParaRPr lang="en-US" altLang="ja-JP" sz="2200" dirty="0">
              <a:solidFill>
                <a:schemeClr val="tx1"/>
              </a:solidFill>
            </a:endParaRPr>
          </a:p>
          <a:p>
            <a:r>
              <a:rPr lang="ja-JP" altLang="en-US" sz="2200" dirty="0">
                <a:solidFill>
                  <a:schemeClr val="tx1"/>
                </a:solidFill>
              </a:rPr>
              <a:t>　・効率指数は、</a:t>
            </a:r>
            <a:r>
              <a:rPr lang="ja-JP" altLang="en-US" sz="2200" dirty="0">
                <a:solidFill>
                  <a:srgbClr val="FF0000"/>
                </a:solidFill>
                <a:effectLst>
                  <a:outerShdw blurRad="38100" dist="38100" dir="2700000" algn="tl">
                    <a:srgbClr val="000000">
                      <a:alpha val="43137"/>
                    </a:srgbClr>
                  </a:outerShdw>
                </a:effectLst>
              </a:rPr>
              <a:t>顧客志向プロセスのみ必須指標</a:t>
            </a:r>
            <a:r>
              <a:rPr lang="ja-JP" altLang="en-US" sz="2200" dirty="0">
                <a:solidFill>
                  <a:schemeClr val="tx1"/>
                </a:solidFill>
              </a:rPr>
              <a:t>と考える。（</a:t>
            </a:r>
            <a:r>
              <a:rPr lang="en-US" altLang="ja-JP" sz="2200" dirty="0">
                <a:solidFill>
                  <a:schemeClr val="tx1"/>
                </a:solidFill>
              </a:rPr>
              <a:t>SI12</a:t>
            </a:r>
            <a:r>
              <a:rPr lang="ja-JP" altLang="en-US" sz="2200" dirty="0">
                <a:solidFill>
                  <a:schemeClr val="tx1"/>
                </a:solidFill>
              </a:rPr>
              <a:t>）</a:t>
            </a:r>
            <a:endParaRPr lang="en-US" altLang="ja-JP" sz="2200" dirty="0">
              <a:solidFill>
                <a:schemeClr val="tx1"/>
              </a:solidFill>
            </a:endParaRPr>
          </a:p>
        </p:txBody>
      </p:sp>
      <p:sp>
        <p:nvSpPr>
          <p:cNvPr id="2" name="四角形: 角を丸くする 1">
            <a:extLst>
              <a:ext uri="{FF2B5EF4-FFF2-40B4-BE49-F238E27FC236}">
                <a16:creationId xmlns:a16="http://schemas.microsoft.com/office/drawing/2014/main" id="{2C5DE3A4-CB21-4DD3-AEB0-3E50AA76DE34}"/>
              </a:ext>
            </a:extLst>
          </p:cNvPr>
          <p:cNvSpPr/>
          <p:nvPr/>
        </p:nvSpPr>
        <p:spPr>
          <a:xfrm>
            <a:off x="7151571" y="1694047"/>
            <a:ext cx="4061861" cy="808522"/>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注意：</a:t>
            </a:r>
            <a:r>
              <a:rPr lang="ja-JP" altLang="en-US" sz="2000" dirty="0">
                <a:solidFill>
                  <a:schemeClr val="tx1"/>
                </a:solidFill>
              </a:rPr>
              <a:t>その指標の原因系が当該</a:t>
            </a:r>
            <a:endParaRPr lang="en-US" altLang="ja-JP" sz="2000" dirty="0">
              <a:solidFill>
                <a:schemeClr val="tx1"/>
              </a:solidFill>
            </a:endParaRPr>
          </a:p>
          <a:p>
            <a:r>
              <a:rPr lang="ja-JP" altLang="en-US" sz="2000" dirty="0">
                <a:solidFill>
                  <a:schemeClr val="tx1"/>
                </a:solidFill>
              </a:rPr>
              <a:t>　　　プロセスにあること。</a:t>
            </a:r>
            <a:endParaRPr kumimoji="1" lang="ja-JP" altLang="en-US" sz="2000" dirty="0">
              <a:solidFill>
                <a:schemeClr val="tx1"/>
              </a:solidFill>
            </a:endParaRPr>
          </a:p>
        </p:txBody>
      </p:sp>
    </p:spTree>
    <p:extLst>
      <p:ext uri="{BB962C8B-B14F-4D97-AF65-F5344CB8AC3E}">
        <p14:creationId xmlns:p14="http://schemas.microsoft.com/office/powerpoint/2010/main" val="3553023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タートル図の解説（指標管理のトライアングル）</a:t>
            </a:r>
          </a:p>
        </p:txBody>
      </p:sp>
      <p:sp>
        <p:nvSpPr>
          <p:cNvPr id="11" name="正方形/長方形 10">
            <a:extLst>
              <a:ext uri="{FF2B5EF4-FFF2-40B4-BE49-F238E27FC236}">
                <a16:creationId xmlns:a16="http://schemas.microsoft.com/office/drawing/2014/main" id="{1BBABC39-D06A-4EB2-BC1D-6359E5D8B98C}"/>
              </a:ext>
            </a:extLst>
          </p:cNvPr>
          <p:cNvSpPr/>
          <p:nvPr/>
        </p:nvSpPr>
        <p:spPr>
          <a:xfrm>
            <a:off x="4549966" y="3080860"/>
            <a:ext cx="3092067" cy="1663547"/>
          </a:xfrm>
          <a:prstGeom prst="rect">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effectLst>
                  <a:outerShdw blurRad="38100" dist="38100" dir="2700000" algn="tl">
                    <a:srgbClr val="000000">
                      <a:alpha val="43137"/>
                    </a:srgbClr>
                  </a:outerShdw>
                </a:effectLst>
              </a:rPr>
              <a:t>プロセス</a:t>
            </a:r>
            <a:endParaRPr kumimoji="1" lang="en-US" altLang="ja-JP" sz="2400" b="1" dirty="0">
              <a:solidFill>
                <a:schemeClr val="bg1"/>
              </a:solidFill>
              <a:effectLst>
                <a:outerShdw blurRad="38100" dist="38100" dir="2700000" algn="tl">
                  <a:srgbClr val="000000">
                    <a:alpha val="43137"/>
                  </a:srgbClr>
                </a:outerShdw>
              </a:effectLst>
            </a:endParaRPr>
          </a:p>
          <a:p>
            <a:pPr algn="ctr"/>
            <a:r>
              <a:rPr lang="ja-JP" altLang="en-US" dirty="0">
                <a:solidFill>
                  <a:schemeClr val="bg1"/>
                </a:solidFill>
              </a:rPr>
              <a:t>プロセスフロー</a:t>
            </a:r>
            <a:endParaRPr lang="en-US" altLang="ja-JP" dirty="0">
              <a:solidFill>
                <a:schemeClr val="bg1"/>
              </a:solidFill>
            </a:endParaRPr>
          </a:p>
          <a:p>
            <a:pPr algn="ctr"/>
            <a:r>
              <a:rPr kumimoji="1" lang="ja-JP" altLang="en-US" dirty="0">
                <a:solidFill>
                  <a:schemeClr val="bg1"/>
                </a:solidFill>
              </a:rPr>
              <a:t>主な活動内容</a:t>
            </a:r>
          </a:p>
        </p:txBody>
      </p:sp>
      <p:sp>
        <p:nvSpPr>
          <p:cNvPr id="12" name="四角形: 角を丸くする 11">
            <a:extLst>
              <a:ext uri="{FF2B5EF4-FFF2-40B4-BE49-F238E27FC236}">
                <a16:creationId xmlns:a16="http://schemas.microsoft.com/office/drawing/2014/main" id="{9190D7E4-B050-45D7-AFB8-857A935DA3E3}"/>
              </a:ext>
            </a:extLst>
          </p:cNvPr>
          <p:cNvSpPr/>
          <p:nvPr/>
        </p:nvSpPr>
        <p:spPr>
          <a:xfrm>
            <a:off x="838200" y="1577056"/>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物的資源</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sz="1400" dirty="0">
                <a:solidFill>
                  <a:schemeClr val="tx1"/>
                </a:solidFill>
              </a:rPr>
              <a:t>プロセスに必要なモノ</a:t>
            </a:r>
            <a:endParaRPr lang="en-US" altLang="ja-JP" sz="1400" dirty="0">
              <a:solidFill>
                <a:schemeClr val="tx1"/>
              </a:solidFill>
            </a:endParaRPr>
          </a:p>
          <a:p>
            <a:pPr algn="ctr"/>
            <a:r>
              <a:rPr lang="ja-JP" altLang="en-US" sz="1400" dirty="0">
                <a:solidFill>
                  <a:schemeClr val="tx1"/>
                </a:solidFill>
              </a:rPr>
              <a:t>（装置／ツール／情報）</a:t>
            </a:r>
            <a:endParaRPr kumimoji="1" lang="ja-JP" altLang="en-US" sz="1400" dirty="0">
              <a:solidFill>
                <a:schemeClr val="tx1"/>
              </a:solidFill>
            </a:endParaRPr>
          </a:p>
        </p:txBody>
      </p:sp>
      <p:sp>
        <p:nvSpPr>
          <p:cNvPr id="13" name="四角形: 角を丸くする 12">
            <a:extLst>
              <a:ext uri="{FF2B5EF4-FFF2-40B4-BE49-F238E27FC236}">
                <a16:creationId xmlns:a16="http://schemas.microsoft.com/office/drawing/2014/main" id="{AA3FAD36-CC3B-4155-B25E-2E8CC3BA78B2}"/>
              </a:ext>
            </a:extLst>
          </p:cNvPr>
          <p:cNvSpPr/>
          <p:nvPr/>
        </p:nvSpPr>
        <p:spPr>
          <a:xfrm>
            <a:off x="838199" y="3258869"/>
            <a:ext cx="3200401"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インプット</a:t>
            </a:r>
            <a:endParaRPr kumimoji="1" lang="en-US" altLang="ja-JP" sz="2400" b="1" dirty="0">
              <a:solidFill>
                <a:schemeClr val="tx1"/>
              </a:solidFill>
              <a:effectLst>
                <a:outerShdw blurRad="38100" dist="38100" dir="2700000" algn="tl">
                  <a:srgbClr val="000000">
                    <a:alpha val="43137"/>
                  </a:srgbClr>
                </a:outerShdw>
              </a:effectLst>
            </a:endParaRPr>
          </a:p>
          <a:p>
            <a:pPr algn="ctr"/>
            <a:r>
              <a:rPr kumimoji="1" lang="ja-JP" altLang="en-US" sz="1400" dirty="0">
                <a:solidFill>
                  <a:schemeClr val="tx1"/>
                </a:solidFill>
              </a:rPr>
              <a:t>プロセスを動かす</a:t>
            </a:r>
            <a:r>
              <a:rPr lang="ja-JP" altLang="en-US" sz="1400" dirty="0">
                <a:solidFill>
                  <a:schemeClr val="tx1"/>
                </a:solidFill>
              </a:rPr>
              <a:t>もの</a:t>
            </a:r>
            <a:r>
              <a:rPr kumimoji="1" lang="ja-JP" altLang="en-US" sz="1400" dirty="0">
                <a:solidFill>
                  <a:schemeClr val="tx1"/>
                </a:solidFill>
              </a:rPr>
              <a:t>（情報／材料／文書／</a:t>
            </a:r>
            <a:r>
              <a:rPr kumimoji="1" lang="ja-JP" altLang="en-US" sz="2400" b="1" dirty="0">
                <a:solidFill>
                  <a:srgbClr val="FF0000"/>
                </a:solidFill>
                <a:effectLst>
                  <a:outerShdw blurRad="38100" dist="38100" dir="2700000" algn="tl">
                    <a:srgbClr val="000000">
                      <a:alpha val="43137"/>
                    </a:srgbClr>
                  </a:outerShdw>
                </a:effectLst>
              </a:rPr>
              <a:t>要求事項</a:t>
            </a:r>
            <a:r>
              <a:rPr kumimoji="1" lang="ja-JP" altLang="en-US" sz="1400" dirty="0">
                <a:solidFill>
                  <a:schemeClr val="tx1"/>
                </a:solidFill>
              </a:rPr>
              <a:t>）</a:t>
            </a:r>
          </a:p>
        </p:txBody>
      </p:sp>
      <p:sp>
        <p:nvSpPr>
          <p:cNvPr id="14" name="四角形: 角を丸くする 13">
            <a:extLst>
              <a:ext uri="{FF2B5EF4-FFF2-40B4-BE49-F238E27FC236}">
                <a16:creationId xmlns:a16="http://schemas.microsoft.com/office/drawing/2014/main" id="{CCBA5A9E-494A-4F31-8A76-B0C6D38A8747}"/>
              </a:ext>
            </a:extLst>
          </p:cNvPr>
          <p:cNvSpPr/>
          <p:nvPr/>
        </p:nvSpPr>
        <p:spPr>
          <a:xfrm>
            <a:off x="838200" y="4944160"/>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effectLst>
                  <a:outerShdw blurRad="38100" dist="38100" dir="2700000" algn="tl">
                    <a:srgbClr val="000000">
                      <a:alpha val="43137"/>
                    </a:srgbClr>
                  </a:outerShdw>
                </a:effectLst>
              </a:rPr>
              <a:t>運用方法</a:t>
            </a:r>
            <a:endParaRPr lang="en-US" altLang="ja-JP" sz="2400" b="1" dirty="0">
              <a:solidFill>
                <a:schemeClr val="tx1"/>
              </a:solidFill>
              <a:effectLst>
                <a:outerShdw blurRad="38100" dist="38100" dir="2700000" algn="tl">
                  <a:srgbClr val="000000">
                    <a:alpha val="43137"/>
                  </a:srgbClr>
                </a:outerShdw>
              </a:effectLst>
            </a:endParaRPr>
          </a:p>
          <a:p>
            <a:pPr algn="ctr"/>
            <a:r>
              <a:rPr kumimoji="1" lang="ja-JP" altLang="en-US" dirty="0">
                <a:solidFill>
                  <a:schemeClr val="tx1"/>
                </a:solidFill>
              </a:rPr>
              <a:t>プロセスを動かす方法</a:t>
            </a:r>
            <a:endParaRPr kumimoji="1" lang="en-US" altLang="ja-JP" dirty="0">
              <a:solidFill>
                <a:schemeClr val="tx1"/>
              </a:solidFill>
            </a:endParaRPr>
          </a:p>
          <a:p>
            <a:pPr algn="ctr"/>
            <a:r>
              <a:rPr kumimoji="1" lang="ja-JP" altLang="en-US" dirty="0">
                <a:solidFill>
                  <a:schemeClr val="tx1"/>
                </a:solidFill>
              </a:rPr>
              <a:t>（規定／手順書／フォーマット）</a:t>
            </a:r>
          </a:p>
        </p:txBody>
      </p:sp>
      <p:sp>
        <p:nvSpPr>
          <p:cNvPr id="15" name="四角形: 角を丸くする 14">
            <a:extLst>
              <a:ext uri="{FF2B5EF4-FFF2-40B4-BE49-F238E27FC236}">
                <a16:creationId xmlns:a16="http://schemas.microsoft.com/office/drawing/2014/main" id="{FC0B7F7E-E129-48EC-BD75-4F859FADF24B}"/>
              </a:ext>
            </a:extLst>
          </p:cNvPr>
          <p:cNvSpPr/>
          <p:nvPr/>
        </p:nvSpPr>
        <p:spPr>
          <a:xfrm>
            <a:off x="7328054" y="4944160"/>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rgbClr val="FF0000"/>
                </a:solidFill>
                <a:effectLst>
                  <a:outerShdw blurRad="38100" dist="38100" dir="2700000" algn="tl">
                    <a:srgbClr val="000000">
                      <a:alpha val="43137"/>
                    </a:srgbClr>
                  </a:outerShdw>
                </a:effectLst>
              </a:rPr>
              <a:t>評価指標</a:t>
            </a:r>
            <a:endParaRPr kumimoji="1" lang="en-US" altLang="ja-JP" sz="2400" b="1" dirty="0">
              <a:solidFill>
                <a:srgbClr val="FF0000"/>
              </a:solidFill>
              <a:effectLst>
                <a:outerShdw blurRad="38100" dist="38100" dir="2700000" algn="tl">
                  <a:srgbClr val="000000">
                    <a:alpha val="43137"/>
                  </a:srgbClr>
                </a:outerShdw>
              </a:effectLst>
            </a:endParaRPr>
          </a:p>
          <a:p>
            <a:pPr algn="ctr"/>
            <a:r>
              <a:rPr kumimoji="1" lang="ja-JP" altLang="en-US" dirty="0">
                <a:solidFill>
                  <a:schemeClr val="tx1"/>
                </a:solidFill>
              </a:rPr>
              <a:t>プロセスの良し悪しの判断</a:t>
            </a:r>
            <a:endParaRPr kumimoji="1" lang="en-US" altLang="ja-JP" dirty="0">
              <a:solidFill>
                <a:schemeClr val="tx1"/>
              </a:solidFill>
            </a:endParaRPr>
          </a:p>
          <a:p>
            <a:pPr algn="ctr"/>
            <a:r>
              <a:rPr lang="ja-JP" altLang="en-US" dirty="0">
                <a:solidFill>
                  <a:schemeClr val="tx1"/>
                </a:solidFill>
              </a:rPr>
              <a:t>（有効性の指標／効率の指標）</a:t>
            </a:r>
            <a:endParaRPr kumimoji="1" lang="ja-JP" altLang="en-US" dirty="0">
              <a:solidFill>
                <a:schemeClr val="tx1"/>
              </a:solidFill>
            </a:endParaRPr>
          </a:p>
        </p:txBody>
      </p:sp>
      <p:sp>
        <p:nvSpPr>
          <p:cNvPr id="16" name="四角形: 角を丸くする 15">
            <a:extLst>
              <a:ext uri="{FF2B5EF4-FFF2-40B4-BE49-F238E27FC236}">
                <a16:creationId xmlns:a16="http://schemas.microsoft.com/office/drawing/2014/main" id="{7E773453-92E6-437E-8DCC-0E86C77C29F5}"/>
              </a:ext>
            </a:extLst>
          </p:cNvPr>
          <p:cNvSpPr/>
          <p:nvPr/>
        </p:nvSpPr>
        <p:spPr>
          <a:xfrm>
            <a:off x="8153400" y="3258869"/>
            <a:ext cx="3200400"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アウトプット</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sz="1400" dirty="0">
                <a:solidFill>
                  <a:schemeClr val="tx1"/>
                </a:solidFill>
              </a:rPr>
              <a:t>プロセスから生まれるもの</a:t>
            </a:r>
            <a:endParaRPr lang="en-US" altLang="ja-JP" sz="1400" dirty="0">
              <a:solidFill>
                <a:schemeClr val="tx1"/>
              </a:solidFill>
            </a:endParaRPr>
          </a:p>
          <a:p>
            <a:pPr algn="ctr"/>
            <a:r>
              <a:rPr kumimoji="1" lang="ja-JP" altLang="en-US" sz="1400" dirty="0">
                <a:solidFill>
                  <a:schemeClr val="tx1"/>
                </a:solidFill>
              </a:rPr>
              <a:t>（製品／情報／文書／</a:t>
            </a:r>
            <a:r>
              <a:rPr kumimoji="1" lang="ja-JP" altLang="en-US" sz="2400" b="1" dirty="0">
                <a:solidFill>
                  <a:srgbClr val="FF0000"/>
                </a:solidFill>
                <a:effectLst>
                  <a:outerShdw blurRad="38100" dist="38100" dir="2700000" algn="tl">
                    <a:srgbClr val="000000">
                      <a:alpha val="43137"/>
                    </a:srgbClr>
                  </a:outerShdw>
                </a:effectLst>
              </a:rPr>
              <a:t>成果</a:t>
            </a:r>
            <a:r>
              <a:rPr kumimoji="1" lang="ja-JP" altLang="en-US" sz="1400" dirty="0">
                <a:solidFill>
                  <a:schemeClr val="tx1"/>
                </a:solidFill>
              </a:rPr>
              <a:t>）</a:t>
            </a:r>
          </a:p>
        </p:txBody>
      </p:sp>
      <p:sp>
        <p:nvSpPr>
          <p:cNvPr id="17" name="四角形: 角を丸くする 16">
            <a:extLst>
              <a:ext uri="{FF2B5EF4-FFF2-40B4-BE49-F238E27FC236}">
                <a16:creationId xmlns:a16="http://schemas.microsoft.com/office/drawing/2014/main" id="{B8F8DD3B-726A-4513-9B34-EB7E8A33BF29}"/>
              </a:ext>
            </a:extLst>
          </p:cNvPr>
          <p:cNvSpPr/>
          <p:nvPr/>
        </p:nvSpPr>
        <p:spPr>
          <a:xfrm>
            <a:off x="7328054" y="1573578"/>
            <a:ext cx="4025746" cy="1311007"/>
          </a:xfrm>
          <a:prstGeom prst="round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effectLst>
                  <a:outerShdw blurRad="38100" dist="38100" dir="2700000" algn="tl">
                    <a:srgbClr val="000000">
                      <a:alpha val="43137"/>
                    </a:srgbClr>
                  </a:outerShdw>
                </a:effectLst>
              </a:rPr>
              <a:t>人的資源</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sz="1400" dirty="0">
                <a:solidFill>
                  <a:schemeClr val="tx1"/>
                </a:solidFill>
              </a:rPr>
              <a:t>プロセスに必要な人</a:t>
            </a:r>
            <a:endParaRPr lang="en-US" altLang="ja-JP" sz="1400" dirty="0">
              <a:solidFill>
                <a:schemeClr val="tx1"/>
              </a:solidFill>
            </a:endParaRPr>
          </a:p>
          <a:p>
            <a:pPr algn="ctr"/>
            <a:r>
              <a:rPr kumimoji="1" lang="ja-JP" altLang="en-US" sz="1400" dirty="0">
                <a:solidFill>
                  <a:schemeClr val="tx1"/>
                </a:solidFill>
              </a:rPr>
              <a:t>（要員／力量／外部支援）</a:t>
            </a:r>
          </a:p>
        </p:txBody>
      </p:sp>
      <p:pic>
        <p:nvPicPr>
          <p:cNvPr id="19" name="図 18">
            <a:extLst>
              <a:ext uri="{FF2B5EF4-FFF2-40B4-BE49-F238E27FC236}">
                <a16:creationId xmlns:a16="http://schemas.microsoft.com/office/drawing/2014/main" id="{AD3EA05C-C6E5-469F-88B7-7A734711C6BE}"/>
              </a:ext>
            </a:extLst>
          </p:cNvPr>
          <p:cNvPicPr>
            <a:picLocks noChangeAspect="1"/>
          </p:cNvPicPr>
          <p:nvPr/>
        </p:nvPicPr>
        <p:blipFill>
          <a:blip r:embed="rId3" cstate="hq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9632991" y="365126"/>
            <a:ext cx="1720809" cy="860405"/>
          </a:xfrm>
          <a:prstGeom prst="rect">
            <a:avLst/>
          </a:prstGeom>
        </p:spPr>
      </p:pic>
      <p:sp>
        <p:nvSpPr>
          <p:cNvPr id="21" name="矢印: 右 20">
            <a:extLst>
              <a:ext uri="{FF2B5EF4-FFF2-40B4-BE49-F238E27FC236}">
                <a16:creationId xmlns:a16="http://schemas.microsoft.com/office/drawing/2014/main" id="{1F508C8D-A517-4DA7-AD84-AB7FD25168C3}"/>
              </a:ext>
            </a:extLst>
          </p:cNvPr>
          <p:cNvSpPr/>
          <p:nvPr/>
        </p:nvSpPr>
        <p:spPr>
          <a:xfrm>
            <a:off x="4115718" y="3447510"/>
            <a:ext cx="434248" cy="955713"/>
          </a:xfrm>
          <a:prstGeom prst="rightArrow">
            <a:avLst>
              <a:gd name="adj1" fmla="val 77666"/>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右 21">
            <a:extLst>
              <a:ext uri="{FF2B5EF4-FFF2-40B4-BE49-F238E27FC236}">
                <a16:creationId xmlns:a16="http://schemas.microsoft.com/office/drawing/2014/main" id="{9DAD1CF3-709A-4A58-B26C-D72C751BD674}"/>
              </a:ext>
            </a:extLst>
          </p:cNvPr>
          <p:cNvSpPr/>
          <p:nvPr/>
        </p:nvSpPr>
        <p:spPr>
          <a:xfrm>
            <a:off x="7719151" y="3434776"/>
            <a:ext cx="434248" cy="955713"/>
          </a:xfrm>
          <a:prstGeom prst="rightArrow">
            <a:avLst>
              <a:gd name="adj1" fmla="val 77666"/>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左右 5">
            <a:extLst>
              <a:ext uri="{FF2B5EF4-FFF2-40B4-BE49-F238E27FC236}">
                <a16:creationId xmlns:a16="http://schemas.microsoft.com/office/drawing/2014/main" id="{BA9847CC-8051-40D1-8FDA-D8F93E5DD899}"/>
              </a:ext>
            </a:extLst>
          </p:cNvPr>
          <p:cNvSpPr/>
          <p:nvPr/>
        </p:nvSpPr>
        <p:spPr>
          <a:xfrm rot="19610890">
            <a:off x="4066040" y="4617554"/>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左右 27">
            <a:extLst>
              <a:ext uri="{FF2B5EF4-FFF2-40B4-BE49-F238E27FC236}">
                <a16:creationId xmlns:a16="http://schemas.microsoft.com/office/drawing/2014/main" id="{51567F24-8291-4B07-AD39-CB2C3E192707}"/>
              </a:ext>
            </a:extLst>
          </p:cNvPr>
          <p:cNvSpPr/>
          <p:nvPr/>
        </p:nvSpPr>
        <p:spPr>
          <a:xfrm rot="19610890">
            <a:off x="7515709" y="2577788"/>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左右 28">
            <a:extLst>
              <a:ext uri="{FF2B5EF4-FFF2-40B4-BE49-F238E27FC236}">
                <a16:creationId xmlns:a16="http://schemas.microsoft.com/office/drawing/2014/main" id="{FDECCD93-AAEB-4B24-BD63-B43999BA4372}"/>
              </a:ext>
            </a:extLst>
          </p:cNvPr>
          <p:cNvSpPr/>
          <p:nvPr/>
        </p:nvSpPr>
        <p:spPr>
          <a:xfrm rot="13136165">
            <a:off x="4006011" y="2585823"/>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矢印: 左右 29">
            <a:extLst>
              <a:ext uri="{FF2B5EF4-FFF2-40B4-BE49-F238E27FC236}">
                <a16:creationId xmlns:a16="http://schemas.microsoft.com/office/drawing/2014/main" id="{E1316205-929B-46AA-BA19-935539E5BFCD}"/>
              </a:ext>
            </a:extLst>
          </p:cNvPr>
          <p:cNvSpPr/>
          <p:nvPr/>
        </p:nvSpPr>
        <p:spPr>
          <a:xfrm rot="13010334">
            <a:off x="7507392" y="4677552"/>
            <a:ext cx="609102" cy="602051"/>
          </a:xfrm>
          <a:prstGeom prst="leftRightArrow">
            <a:avLst>
              <a:gd name="adj1" fmla="val 70865"/>
              <a:gd name="adj2" fmla="val 372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D1EF9DC3-6374-41F2-8955-E24626EC0B1C}"/>
              </a:ext>
            </a:extLst>
          </p:cNvPr>
          <p:cNvSpPr/>
          <p:nvPr/>
        </p:nvSpPr>
        <p:spPr>
          <a:xfrm rot="10800000">
            <a:off x="1553378" y="3999122"/>
            <a:ext cx="9573656" cy="1795749"/>
          </a:xfrm>
          <a:prstGeom prst="triangle">
            <a:avLst>
              <a:gd name="adj" fmla="val 16226"/>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840913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3999"/>
            <a:ext cx="10515600" cy="1075981"/>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全ての製品及びプロセスが</a:t>
            </a:r>
            <a:r>
              <a:rPr lang="ja-JP" altLang="en-US" sz="2000" dirty="0"/>
              <a:t>、サービス部品及びアウトソースしたものを含めて、該当する、</a:t>
            </a:r>
            <a:r>
              <a:rPr lang="ja-JP" altLang="en-US" sz="2000" u="sng" dirty="0"/>
              <a:t>全ての顧客、法令、規制の要求事項（</a:t>
            </a:r>
            <a:r>
              <a:rPr lang="en-US" altLang="ja-JP" sz="2000" u="sng" dirty="0"/>
              <a:t>8.4.2.2</a:t>
            </a:r>
            <a:r>
              <a:rPr lang="ja-JP" altLang="en-US" sz="2000" u="sng" dirty="0"/>
              <a:t>参照）に適合することを確実にしなければならない。</a:t>
            </a:r>
            <a:endParaRPr lang="en-US" altLang="ja-JP" sz="2000" u="sng"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4.4.1.1</a:t>
            </a:r>
            <a:r>
              <a:rPr kumimoji="1" lang="ja-JP" altLang="en-US" sz="3000" b="1" dirty="0">
                <a:solidFill>
                  <a:schemeClr val="tx2"/>
                </a:solidFill>
              </a:rPr>
              <a:t>　製品及びプロセスの適合</a:t>
            </a: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289743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4.4.1.1</a:t>
            </a:r>
            <a:r>
              <a:rPr lang="ja-JP" altLang="en-US" sz="3000" b="1" dirty="0">
                <a:solidFill>
                  <a:schemeClr val="bg1"/>
                </a:solidFill>
              </a:rPr>
              <a:t>　製品及びプロセスの適合</a:t>
            </a:r>
          </a:p>
        </p:txBody>
      </p:sp>
      <p:sp>
        <p:nvSpPr>
          <p:cNvPr id="7" name="コンテンツ プレースホルダー 2">
            <a:extLst>
              <a:ext uri="{FF2B5EF4-FFF2-40B4-BE49-F238E27FC236}">
                <a16:creationId xmlns:a16="http://schemas.microsoft.com/office/drawing/2014/main" id="{62C0B2CC-F228-4E44-8983-3B7BB62CD4F3}"/>
              </a:ext>
            </a:extLst>
          </p:cNvPr>
          <p:cNvSpPr txBox="1">
            <a:spLocks/>
          </p:cNvSpPr>
          <p:nvPr/>
        </p:nvSpPr>
        <p:spPr>
          <a:xfrm>
            <a:off x="838200" y="4048960"/>
            <a:ext cx="10515600" cy="2307390"/>
          </a:xfrm>
          <a:prstGeom prst="rect">
            <a:avLst/>
          </a:prstGeom>
          <a:ln w="12700">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400" dirty="0"/>
              <a:t>最も考慮すべきは「顧客」と「規制当局」である。</a:t>
            </a:r>
            <a:endParaRPr lang="en-US" altLang="ja-JP" dirty="0">
              <a:solidFill>
                <a:srgbClr val="FF0000"/>
              </a:solidFill>
              <a:effectLst>
                <a:outerShdw blurRad="38100" dist="38100" dir="2700000" algn="tl">
                  <a:srgbClr val="000000">
                    <a:alpha val="43137"/>
                  </a:srgbClr>
                </a:outerShdw>
              </a:effectLst>
            </a:endParaRPr>
          </a:p>
          <a:p>
            <a:pPr marL="457200" indent="-457200">
              <a:buFont typeface="+mj-lt"/>
              <a:buAutoNum type="arabicPeriod"/>
            </a:pPr>
            <a:r>
              <a:rPr lang="ja-JP" altLang="en-US" sz="2400" dirty="0"/>
              <a:t>これらの要求事項を確実に把握し、アウトプット（製品）が適合することに責任を持つ。</a:t>
            </a:r>
            <a:endParaRPr lang="en-US" altLang="ja-JP" sz="2400" dirty="0"/>
          </a:p>
          <a:p>
            <a:pPr marL="914400" lvl="1" indent="-457200">
              <a:buFont typeface="+mj-ea"/>
              <a:buAutoNum type="circleNumDbPlain"/>
            </a:pPr>
            <a:r>
              <a:rPr lang="ja-JP" altLang="en-US" dirty="0"/>
              <a:t>リスク評価（</a:t>
            </a:r>
            <a:r>
              <a:rPr lang="en-US" altLang="ja-JP" dirty="0"/>
              <a:t>FMEA</a:t>
            </a:r>
            <a:r>
              <a:rPr lang="ja-JP" altLang="en-US" dirty="0"/>
              <a:t>など）</a:t>
            </a:r>
            <a:endParaRPr lang="en-US" altLang="ja-JP" dirty="0"/>
          </a:p>
          <a:p>
            <a:pPr marL="914400" lvl="1" indent="-457200">
              <a:buFont typeface="+mj-ea"/>
              <a:buAutoNum type="circleNumDbPlain"/>
            </a:pPr>
            <a:r>
              <a:rPr lang="ja-JP" altLang="en-US" dirty="0"/>
              <a:t>工程管理（コントロールプランなど）</a:t>
            </a:r>
            <a:endParaRPr lang="en-US" altLang="ja-JP" dirty="0"/>
          </a:p>
          <a:p>
            <a:pPr marL="514350" indent="-514350">
              <a:buFont typeface="+mj-lt"/>
              <a:buAutoNum type="arabicPeriod"/>
            </a:pPr>
            <a:endParaRPr lang="ja-JP" altLang="en-US" dirty="0"/>
          </a:p>
          <a:p>
            <a:pPr marL="514350" indent="-514350">
              <a:buFont typeface="+mj-lt"/>
              <a:buAutoNum type="arabicPeriod"/>
            </a:pPr>
            <a:endParaRPr lang="en-US" altLang="ja-JP" dirty="0"/>
          </a:p>
        </p:txBody>
      </p:sp>
    </p:spTree>
    <p:extLst>
      <p:ext uri="{BB962C8B-B14F-4D97-AF65-F5344CB8AC3E}">
        <p14:creationId xmlns:p14="http://schemas.microsoft.com/office/powerpoint/2010/main" val="40117899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☑組織は、製品安全に関係する製品及び製造工程の運用管理に対する</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☑それには、</a:t>
            </a:r>
            <a:r>
              <a:rPr lang="ja-JP" altLang="en-US" sz="2000" u="sng" dirty="0"/>
              <a:t>該当する場合には、必ず、次の事項を含めなければならない。</a:t>
            </a:r>
            <a:r>
              <a:rPr lang="ja-JP" altLang="en-US" sz="2000" dirty="0"/>
              <a:t>しかし、それに限定されない。</a:t>
            </a:r>
            <a:endParaRPr lang="en-US" altLang="ja-JP" sz="2000" dirty="0"/>
          </a:p>
          <a:p>
            <a:pPr marL="800100" lvl="1" indent="-342900">
              <a:lnSpc>
                <a:spcPct val="100000"/>
              </a:lnSpc>
              <a:buFont typeface="+mj-lt"/>
              <a:buAutoNum type="alphaLcPeriod"/>
            </a:pPr>
            <a:r>
              <a:rPr lang="ja-JP" altLang="en-US" sz="2000" dirty="0"/>
              <a:t>法令・規制の製品安全要求事項の組織による特定</a:t>
            </a:r>
            <a:endParaRPr lang="en-US" altLang="ja-JP" sz="2000" dirty="0"/>
          </a:p>
          <a:p>
            <a:pPr marL="800100" lvl="1" indent="-342900">
              <a:lnSpc>
                <a:spcPct val="100000"/>
              </a:lnSpc>
              <a:buFont typeface="+mj-lt"/>
              <a:buAutoNum type="alphaLcPeriod"/>
            </a:pPr>
            <a:r>
              <a:rPr lang="ja-JP" altLang="en-US" sz="2000" dirty="0"/>
              <a:t>ａにおける要求事項の顧客からの通知</a:t>
            </a:r>
            <a:endParaRPr lang="en-US" altLang="ja-JP" sz="2000" dirty="0"/>
          </a:p>
          <a:p>
            <a:pPr marL="800100" lvl="1" indent="-342900">
              <a:lnSpc>
                <a:spcPct val="100000"/>
              </a:lnSpc>
              <a:buFont typeface="+mj-lt"/>
              <a:buAutoNum type="alphaLcPeriod"/>
            </a:pPr>
            <a:r>
              <a:rPr lang="ja-JP" altLang="en-US" sz="2000" u="sng" dirty="0"/>
              <a:t>設計</a:t>
            </a:r>
            <a:r>
              <a:rPr lang="en-US" altLang="ja-JP" sz="2000" u="sng" dirty="0"/>
              <a:t>FMEA</a:t>
            </a:r>
            <a:r>
              <a:rPr lang="ja-JP" altLang="en-US" sz="2000" u="sng" dirty="0"/>
              <a:t>に対する特別承認</a:t>
            </a:r>
            <a:endParaRPr lang="en-US" altLang="ja-JP" sz="2000" u="sng" dirty="0"/>
          </a:p>
          <a:p>
            <a:pPr marL="800100" lvl="1" indent="-342900">
              <a:lnSpc>
                <a:spcPct val="100000"/>
              </a:lnSpc>
              <a:buFont typeface="+mj-lt"/>
              <a:buAutoNum type="alphaLcPeriod"/>
            </a:pPr>
            <a:r>
              <a:rPr lang="ja-JP" altLang="en-US" sz="2000" dirty="0"/>
              <a:t>製品安全に関係する特性の特定</a:t>
            </a:r>
            <a:endParaRPr lang="en-US" altLang="ja-JP" sz="2000" dirty="0"/>
          </a:p>
          <a:p>
            <a:pPr marL="800100" lvl="1" indent="-342900">
              <a:lnSpc>
                <a:spcPct val="100000"/>
              </a:lnSpc>
              <a:buFont typeface="+mj-lt"/>
              <a:buAutoNum type="alphaLcPeriod"/>
            </a:pPr>
            <a:r>
              <a:rPr lang="ja-JP" altLang="en-US" sz="2000" dirty="0"/>
              <a:t>安全に関係する製品特性及び製造時点での特性の特定及び管理</a:t>
            </a:r>
            <a:endParaRPr lang="en-US" altLang="ja-JP" sz="2000" dirty="0"/>
          </a:p>
          <a:p>
            <a:pPr marL="800100" lvl="1" indent="-342900">
              <a:lnSpc>
                <a:spcPct val="100000"/>
              </a:lnSpc>
              <a:buFont typeface="+mj-lt"/>
              <a:buAutoNum type="alphaLcPeriod"/>
            </a:pPr>
            <a:r>
              <a:rPr lang="ja-JP" altLang="en-US" sz="2000" u="sng" dirty="0"/>
              <a:t>コントロールプラン及び工程</a:t>
            </a:r>
            <a:r>
              <a:rPr lang="en-US" altLang="ja-JP" sz="2000" u="sng" dirty="0"/>
              <a:t>FMEA</a:t>
            </a:r>
            <a:r>
              <a:rPr lang="ja-JP" altLang="en-US" sz="2000" u="sng" dirty="0"/>
              <a:t>の特別承認</a:t>
            </a:r>
            <a:endParaRPr lang="en-US" altLang="ja-JP" sz="2000" u="sng" dirty="0"/>
          </a:p>
          <a:p>
            <a:pPr marL="800100" lvl="1" indent="-342900">
              <a:lnSpc>
                <a:spcPct val="100000"/>
              </a:lnSpc>
              <a:buFont typeface="+mj-lt"/>
              <a:buAutoNum type="alphaLcPeriod"/>
            </a:pPr>
            <a:r>
              <a:rPr lang="ja-JP" altLang="en-US" sz="2000" u="sng" dirty="0"/>
              <a:t>対応計画（</a:t>
            </a:r>
            <a:r>
              <a:rPr lang="en-US" altLang="ja-JP" sz="2000" u="sng" dirty="0"/>
              <a:t>9.1.1.1</a:t>
            </a:r>
            <a:r>
              <a:rPr lang="ja-JP" altLang="en-US" sz="2000" u="sng" dirty="0"/>
              <a:t>参照）</a:t>
            </a:r>
            <a:endParaRPr lang="en-US" altLang="ja-JP" sz="2000" u="sng" dirty="0"/>
          </a:p>
          <a:p>
            <a:pPr marL="800100" lvl="1" indent="-342900">
              <a:lnSpc>
                <a:spcPct val="100000"/>
              </a:lnSpc>
              <a:buFont typeface="+mj-lt"/>
              <a:buAutoNum type="alphaLcPeriod"/>
            </a:pPr>
            <a:r>
              <a:rPr lang="ja-JP" altLang="en-US" sz="2000" dirty="0"/>
              <a:t>定められた責任、トップマネジメントを含めた上申プロセス及び情報フローの明確化、並びに顧客への通知</a:t>
            </a:r>
            <a:endParaRPr lang="en-US" altLang="ja-JP" sz="2000" dirty="0"/>
          </a:p>
          <a:p>
            <a:pPr marL="800100" lvl="1" indent="-342900">
              <a:buFont typeface="+mj-lt"/>
              <a:buAutoNum type="alphaLcPeriod"/>
            </a:pP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4.4.1.2</a:t>
            </a:r>
            <a:r>
              <a:rPr lang="ja-JP" altLang="en-US" sz="3000" b="1" dirty="0">
                <a:solidFill>
                  <a:schemeClr val="tx2"/>
                </a:solidFill>
              </a:rPr>
              <a:t>　製品安全</a:t>
            </a:r>
            <a:endParaRPr kumimoji="1" lang="ja-JP" altLang="en-US" sz="3000" b="1" dirty="0">
              <a:solidFill>
                <a:schemeClr val="tx2"/>
              </a:solidFill>
            </a:endParaRPr>
          </a:p>
        </p:txBody>
      </p:sp>
    </p:spTree>
    <p:extLst>
      <p:ext uri="{BB962C8B-B14F-4D97-AF65-F5344CB8AC3E}">
        <p14:creationId xmlns:p14="http://schemas.microsoft.com/office/powerpoint/2010/main" val="41898414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800100" lvl="1" indent="-342900">
              <a:lnSpc>
                <a:spcPct val="100000"/>
              </a:lnSpc>
              <a:buFont typeface="+mj-lt"/>
              <a:buAutoNum type="alphaLcPeriod" startAt="9"/>
            </a:pPr>
            <a:r>
              <a:rPr lang="ja-JP" altLang="en-US" sz="2000" dirty="0"/>
              <a:t>製品安全に関係する製品及び関連する製造工程に携わる</a:t>
            </a:r>
            <a:r>
              <a:rPr lang="ja-JP" altLang="en-US" sz="2000" u="sng" dirty="0"/>
              <a:t>要員に対する</a:t>
            </a:r>
            <a:r>
              <a:rPr lang="ja-JP" altLang="en-US" sz="2000" dirty="0"/>
              <a:t>、組織又は顧客によって</a:t>
            </a:r>
            <a:r>
              <a:rPr lang="ja-JP" altLang="en-US" sz="2000" u="sng" dirty="0"/>
              <a:t>特定された教育訓練</a:t>
            </a:r>
            <a:endParaRPr lang="en-US" altLang="ja-JP" sz="2000" u="sng" dirty="0"/>
          </a:p>
          <a:p>
            <a:pPr marL="800100" lvl="1" indent="-342900">
              <a:lnSpc>
                <a:spcPct val="100000"/>
              </a:lnSpc>
              <a:buFont typeface="+mj-lt"/>
              <a:buAutoNum type="alphaLcPeriod" startAt="9"/>
            </a:pPr>
            <a:r>
              <a:rPr lang="ja-JP" altLang="en-US" sz="2000" dirty="0"/>
              <a:t>製品又は工程の変更は、工程及び製品の変更（</a:t>
            </a:r>
            <a:r>
              <a:rPr lang="en-US" altLang="ja-JP" sz="2000" dirty="0"/>
              <a:t>ISO9001</a:t>
            </a:r>
            <a:r>
              <a:rPr lang="ja-JP" altLang="en-US" sz="2000" dirty="0"/>
              <a:t>の</a:t>
            </a:r>
            <a:r>
              <a:rPr lang="en-US" altLang="ja-JP" sz="2000" dirty="0"/>
              <a:t>8.3.6</a:t>
            </a:r>
            <a:r>
              <a:rPr lang="ja-JP" altLang="en-US" sz="2000" dirty="0"/>
              <a:t>参照）による製品安全に関する潜在的影響の評価を含めて、実施前に承認しなければならない。</a:t>
            </a:r>
            <a:endParaRPr lang="en-US" altLang="ja-JP" sz="2000" dirty="0"/>
          </a:p>
          <a:p>
            <a:pPr marL="800100" lvl="1" indent="-342900">
              <a:lnSpc>
                <a:spcPct val="100000"/>
              </a:lnSpc>
              <a:buFont typeface="+mj-lt"/>
              <a:buAutoNum type="alphaLcPeriod" startAt="9"/>
            </a:pPr>
            <a:r>
              <a:rPr lang="ja-JP" altLang="en-US" sz="2000" dirty="0"/>
              <a:t>顧客指定の供給者（</a:t>
            </a:r>
            <a:r>
              <a:rPr lang="en-US" altLang="ja-JP" sz="2000" dirty="0"/>
              <a:t>8.4.3.1</a:t>
            </a:r>
            <a:r>
              <a:rPr lang="ja-JP" altLang="en-US" sz="2000" dirty="0"/>
              <a:t>参照）を含む、</a:t>
            </a:r>
            <a:r>
              <a:rPr lang="ja-JP" altLang="en-US" sz="2000" u="sng" dirty="0"/>
              <a:t>サプライチェーン全体にわたって製品安全に関する要求事項の連絡</a:t>
            </a:r>
            <a:endParaRPr lang="en-US" altLang="ja-JP" sz="2000" u="sng" dirty="0"/>
          </a:p>
          <a:p>
            <a:pPr marL="800100" lvl="1" indent="-342900">
              <a:lnSpc>
                <a:spcPct val="100000"/>
              </a:lnSpc>
              <a:buFont typeface="+mj-lt"/>
              <a:buAutoNum type="alphaLcPeriod" startAt="9"/>
            </a:pPr>
            <a:r>
              <a:rPr lang="ja-JP" altLang="en-US" sz="2000" dirty="0"/>
              <a:t>サプライチェーン全体にわたって、（最低限）製造ロット単位での製品トレーサビリティ（</a:t>
            </a:r>
            <a:r>
              <a:rPr lang="en-US" altLang="ja-JP" sz="2000" dirty="0"/>
              <a:t>8.5.2.1</a:t>
            </a:r>
            <a:r>
              <a:rPr lang="ja-JP" altLang="en-US" sz="2000" dirty="0"/>
              <a:t>参照）</a:t>
            </a:r>
            <a:endParaRPr lang="en-US" altLang="ja-JP" sz="2000" dirty="0"/>
          </a:p>
          <a:p>
            <a:pPr marL="800100" lvl="1" indent="-342900">
              <a:lnSpc>
                <a:spcPct val="100000"/>
              </a:lnSpc>
              <a:buFont typeface="+mj-lt"/>
              <a:buAutoNum type="alphaLcPeriod" startAt="9"/>
            </a:pPr>
            <a:r>
              <a:rPr lang="ja-JP" altLang="en-US" sz="2000" dirty="0"/>
              <a:t>新製品導入に活かす学んだ教訓</a:t>
            </a:r>
            <a:endParaRPr lang="en-US" altLang="ja-JP" sz="2000" dirty="0"/>
          </a:p>
          <a:p>
            <a:pPr marL="800100" lvl="1" indent="-342900">
              <a:lnSpc>
                <a:spcPct val="100000"/>
              </a:lnSpc>
              <a:buFont typeface="+mj-lt"/>
              <a:buAutoNum type="alphaLcPeriod" startAt="9"/>
            </a:pPr>
            <a:endParaRPr lang="en-US" altLang="ja-JP" sz="2000" dirty="0"/>
          </a:p>
          <a:p>
            <a:pPr marL="457200" lvl="1" indent="0">
              <a:lnSpc>
                <a:spcPct val="100000"/>
              </a:lnSpc>
              <a:buNone/>
            </a:pPr>
            <a:r>
              <a:rPr lang="ja-JP" altLang="en-US" sz="2000" dirty="0"/>
              <a:t>注記　安全に関係する要求事項又は文書の特別承認は、顧客によって又は組織の内部プロセスによって要求される場合がある。</a:t>
            </a:r>
          </a:p>
          <a:p>
            <a:pPr marL="800100" lvl="1" indent="-342900">
              <a:buFont typeface="+mj-lt"/>
              <a:buAutoNum type="alphaLcPeriod" startAt="9"/>
            </a:pP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4.4.1.2</a:t>
            </a:r>
            <a:r>
              <a:rPr lang="ja-JP" altLang="en-US" sz="3000" b="1" dirty="0">
                <a:solidFill>
                  <a:schemeClr val="tx2"/>
                </a:solidFill>
              </a:rPr>
              <a:t>　製品安全</a:t>
            </a:r>
            <a:endParaRPr kumimoji="1" lang="ja-JP" altLang="en-US" sz="3000" b="1" dirty="0">
              <a:solidFill>
                <a:schemeClr val="tx2"/>
              </a:solidFill>
            </a:endParaRPr>
          </a:p>
        </p:txBody>
      </p:sp>
      <p:sp>
        <p:nvSpPr>
          <p:cNvPr id="2" name="四角形: 角を丸くする 1">
            <a:extLst>
              <a:ext uri="{FF2B5EF4-FFF2-40B4-BE49-F238E27FC236}">
                <a16:creationId xmlns:a16="http://schemas.microsoft.com/office/drawing/2014/main" id="{7AB65890-931C-405F-907A-09B1D185CD4A}"/>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2</a:t>
            </a:r>
          </a:p>
        </p:txBody>
      </p:sp>
    </p:spTree>
    <p:extLst>
      <p:ext uri="{BB962C8B-B14F-4D97-AF65-F5344CB8AC3E}">
        <p14:creationId xmlns:p14="http://schemas.microsoft.com/office/powerpoint/2010/main" val="25128057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lnSpcReduction="10000"/>
          </a:bodyPr>
          <a:lstStyle/>
          <a:p>
            <a:pPr marL="457200" indent="-457200">
              <a:buFont typeface="+mj-lt"/>
              <a:buAutoNum type="arabicPeriod"/>
            </a:pPr>
            <a:r>
              <a:rPr lang="ja-JP" altLang="en-US" sz="2400" dirty="0"/>
              <a:t>“法令・規制の製品安全要求事項”の箇条　➠　８つ</a:t>
            </a:r>
            <a:endParaRPr lang="en-US" altLang="ja-JP" sz="2400" dirty="0"/>
          </a:p>
          <a:p>
            <a:pPr marL="457200" lvl="1" indent="0">
              <a:buNone/>
            </a:pPr>
            <a:r>
              <a:rPr lang="ja-JP" altLang="en-US" dirty="0"/>
              <a:t>（</a:t>
            </a:r>
            <a:r>
              <a:rPr lang="en-US" altLang="ja-JP" dirty="0"/>
              <a:t>4.4.1.1</a:t>
            </a:r>
            <a:r>
              <a:rPr lang="ja-JP" altLang="en-US" dirty="0"/>
              <a:t>／</a:t>
            </a:r>
            <a:r>
              <a:rPr lang="en-US" altLang="ja-JP" dirty="0"/>
              <a:t>4.4.1.2</a:t>
            </a:r>
            <a:r>
              <a:rPr lang="ja-JP" altLang="en-US" dirty="0"/>
              <a:t>／</a:t>
            </a:r>
            <a:r>
              <a:rPr lang="en-US" altLang="ja-JP" dirty="0"/>
              <a:t>8.2.2.1</a:t>
            </a:r>
            <a:r>
              <a:rPr lang="ja-JP" altLang="en-US" dirty="0"/>
              <a:t>／</a:t>
            </a:r>
            <a:r>
              <a:rPr lang="en-US" altLang="ja-JP" dirty="0"/>
              <a:t>8.3.3.1</a:t>
            </a:r>
            <a:r>
              <a:rPr lang="ja-JP" altLang="en-US" dirty="0"/>
              <a:t>／</a:t>
            </a:r>
            <a:r>
              <a:rPr lang="en-US" altLang="ja-JP" dirty="0"/>
              <a:t>8.3.4.2</a:t>
            </a:r>
            <a:r>
              <a:rPr lang="ja-JP" altLang="en-US" dirty="0"/>
              <a:t>／</a:t>
            </a:r>
            <a:r>
              <a:rPr lang="en-US" altLang="ja-JP" dirty="0"/>
              <a:t>8.4.2.2</a:t>
            </a:r>
            <a:r>
              <a:rPr lang="ja-JP" altLang="en-US" dirty="0"/>
              <a:t>／</a:t>
            </a:r>
            <a:r>
              <a:rPr lang="en-US" altLang="ja-JP" dirty="0"/>
              <a:t>8.4.3.1</a:t>
            </a:r>
            <a:r>
              <a:rPr lang="ja-JP" altLang="en-US" dirty="0"/>
              <a:t>／</a:t>
            </a:r>
            <a:r>
              <a:rPr lang="en-US" altLang="ja-JP" dirty="0"/>
              <a:t>8.6.5</a:t>
            </a:r>
            <a:r>
              <a:rPr lang="ja-JP" altLang="en-US" dirty="0"/>
              <a:t>）</a:t>
            </a:r>
            <a:endParaRPr lang="en-US" altLang="ja-JP" dirty="0"/>
          </a:p>
          <a:p>
            <a:pPr marL="514350" indent="-514350">
              <a:buFont typeface="+mj-lt"/>
              <a:buAutoNum type="arabicPeriod"/>
            </a:pPr>
            <a:r>
              <a:rPr lang="ja-JP" altLang="en-US" sz="2400" dirty="0"/>
              <a:t>安全とはどこまでなのか。</a:t>
            </a:r>
            <a:endParaRPr lang="en-US" altLang="ja-JP" sz="2400" dirty="0"/>
          </a:p>
          <a:p>
            <a:pPr lvl="1">
              <a:buFont typeface="Wingdings" panose="05000000000000000000" pitchFamily="2" charset="2"/>
              <a:buChar char="Ø"/>
            </a:pPr>
            <a:r>
              <a:rPr lang="ja-JP" altLang="en-US" dirty="0"/>
              <a:t>「許容できないリスクが無いこと」（</a:t>
            </a:r>
            <a:r>
              <a:rPr lang="en-US" altLang="ja-JP" dirty="0"/>
              <a:t>ISO/IEC Guide51</a:t>
            </a:r>
            <a:r>
              <a:rPr lang="ja-JP" altLang="en-US" dirty="0"/>
              <a:t>）</a:t>
            </a:r>
            <a:endParaRPr lang="en-US" altLang="ja-JP" dirty="0"/>
          </a:p>
          <a:p>
            <a:pPr lvl="1">
              <a:buFont typeface="Wingdings" panose="05000000000000000000" pitchFamily="2" charset="2"/>
              <a:buChar char="Ø"/>
            </a:pPr>
            <a:r>
              <a:rPr lang="ja-JP" altLang="en-US" dirty="0"/>
              <a:t>許容可能　➠　“現時点で社会（顧客）に受け入れられるリスク”</a:t>
            </a:r>
            <a:endParaRPr lang="en-US" altLang="ja-JP" dirty="0"/>
          </a:p>
          <a:p>
            <a:pPr lvl="1">
              <a:buFont typeface="Wingdings" panose="05000000000000000000" pitchFamily="2" charset="2"/>
              <a:buChar char="Ø"/>
            </a:pPr>
            <a:r>
              <a:rPr lang="ja-JP" altLang="en-US" dirty="0"/>
              <a:t>リコールに直結するため</a:t>
            </a:r>
            <a:r>
              <a:rPr lang="en-US" altLang="ja-JP" dirty="0"/>
              <a:t>OEM</a:t>
            </a:r>
            <a:r>
              <a:rPr lang="ja-JP" altLang="en-US" dirty="0"/>
              <a:t>が最も警戒しているもの。</a:t>
            </a:r>
            <a:endParaRPr lang="en-US" altLang="ja-JP" dirty="0"/>
          </a:p>
          <a:p>
            <a:pPr marL="514350" indent="-514350">
              <a:buFont typeface="+mj-lt"/>
              <a:buAutoNum type="arabicPeriod"/>
            </a:pPr>
            <a:r>
              <a:rPr lang="ja-JP" altLang="en-US" sz="2400" dirty="0"/>
              <a:t>規格要求事項　</a:t>
            </a:r>
            <a:r>
              <a:rPr lang="en-US" altLang="ja-JP" sz="2400" dirty="0"/>
              <a:t>a)</a:t>
            </a:r>
            <a:r>
              <a:rPr lang="ja-JP" altLang="en-US" sz="2400" dirty="0"/>
              <a:t>～</a:t>
            </a:r>
            <a:r>
              <a:rPr lang="en-US" altLang="ja-JP" sz="2400" dirty="0"/>
              <a:t>m)</a:t>
            </a:r>
            <a:r>
              <a:rPr lang="ja-JP" altLang="en-US" sz="2400" dirty="0"/>
              <a:t>の要点。</a:t>
            </a:r>
            <a:endParaRPr lang="en-US" altLang="ja-JP" sz="2400" dirty="0"/>
          </a:p>
          <a:p>
            <a:pPr lvl="1">
              <a:buFont typeface="Wingdings" panose="05000000000000000000" pitchFamily="2" charset="2"/>
              <a:buChar char="Ø"/>
            </a:pPr>
            <a:r>
              <a:rPr lang="en-US" altLang="ja-JP" sz="2000" dirty="0"/>
              <a:t>b</a:t>
            </a:r>
            <a:r>
              <a:rPr lang="ja-JP" altLang="en-US" sz="2000" dirty="0"/>
              <a:t>）：特殊特性の顧客通知など。</a:t>
            </a:r>
            <a:endParaRPr lang="en-US" altLang="ja-JP" sz="2000" dirty="0"/>
          </a:p>
          <a:p>
            <a:pPr lvl="1">
              <a:buFont typeface="Wingdings" panose="05000000000000000000" pitchFamily="2" charset="2"/>
              <a:buChar char="Ø"/>
            </a:pPr>
            <a:r>
              <a:rPr lang="en-US" altLang="ja-JP" sz="2000" dirty="0"/>
              <a:t>d</a:t>
            </a:r>
            <a:r>
              <a:rPr lang="ja-JP" altLang="en-US" sz="2000" dirty="0"/>
              <a:t>）：</a:t>
            </a:r>
            <a:r>
              <a:rPr lang="en-US" altLang="ja-JP" sz="2000" dirty="0"/>
              <a:t>a</a:t>
            </a:r>
            <a:r>
              <a:rPr lang="ja-JP" altLang="en-US" sz="2000" dirty="0"/>
              <a:t>）、</a:t>
            </a:r>
            <a:r>
              <a:rPr lang="en-US" altLang="ja-JP" sz="2000" dirty="0"/>
              <a:t>b</a:t>
            </a:r>
            <a:r>
              <a:rPr lang="ja-JP" altLang="en-US" sz="2000" dirty="0"/>
              <a:t>）から得られた製品安全に関する製品特性。</a:t>
            </a:r>
            <a:endParaRPr lang="en-US" altLang="ja-JP" sz="2000" dirty="0"/>
          </a:p>
          <a:p>
            <a:pPr lvl="1">
              <a:buFont typeface="Wingdings" panose="05000000000000000000" pitchFamily="2" charset="2"/>
              <a:buChar char="Ø"/>
            </a:pPr>
            <a:r>
              <a:rPr lang="en-US" altLang="ja-JP" sz="2000" dirty="0"/>
              <a:t>e</a:t>
            </a:r>
            <a:r>
              <a:rPr lang="ja-JP" altLang="en-US" sz="2000" dirty="0"/>
              <a:t>）：特殊特性のこと。➠一般に統計的管理が要求される。</a:t>
            </a:r>
            <a:endParaRPr lang="en-US" altLang="ja-JP" sz="2000" dirty="0"/>
          </a:p>
          <a:p>
            <a:pPr lvl="1">
              <a:buFont typeface="Wingdings" panose="05000000000000000000" pitchFamily="2" charset="2"/>
              <a:buChar char="Ø"/>
            </a:pPr>
            <a:r>
              <a:rPr lang="en-US" altLang="ja-JP" sz="2000" dirty="0"/>
              <a:t>g</a:t>
            </a:r>
            <a:r>
              <a:rPr lang="ja-JP" altLang="en-US" sz="2000" dirty="0"/>
              <a:t>）：</a:t>
            </a:r>
            <a:r>
              <a:rPr lang="en-US" altLang="ja-JP" sz="2000" dirty="0"/>
              <a:t>e</a:t>
            </a:r>
            <a:r>
              <a:rPr lang="ja-JP" altLang="en-US" sz="2000" dirty="0"/>
              <a:t>）の管理の結果に対する対応（不安定／能力不足）。</a:t>
            </a:r>
            <a:endParaRPr lang="en-US" altLang="ja-JP" sz="2000" dirty="0">
              <a:solidFill>
                <a:srgbClr val="FF0000"/>
              </a:solidFill>
              <a:effectLst>
                <a:outerShdw blurRad="38100" dist="38100" dir="2700000" algn="tl">
                  <a:srgbClr val="000000">
                    <a:alpha val="43137"/>
                  </a:srgbClr>
                </a:outerShdw>
              </a:effectLst>
            </a:endParaRPr>
          </a:p>
          <a:p>
            <a:pPr lvl="1">
              <a:buFont typeface="Wingdings" panose="05000000000000000000" pitchFamily="2" charset="2"/>
              <a:buChar char="Ø"/>
            </a:pPr>
            <a:r>
              <a:rPr lang="en-US" altLang="ja-JP" sz="2000" dirty="0"/>
              <a:t>h</a:t>
            </a:r>
            <a:r>
              <a:rPr lang="ja-JP" altLang="en-US" sz="2000" dirty="0"/>
              <a:t>）：社内打上げ及び顧客報告の判断基準（コンプライアンス規定など）。</a:t>
            </a:r>
            <a:endParaRPr lang="en-US" altLang="ja-JP" sz="2000" dirty="0"/>
          </a:p>
          <a:p>
            <a:pPr lvl="1">
              <a:buFont typeface="Wingdings" panose="05000000000000000000" pitchFamily="2" charset="2"/>
              <a:buChar char="Ø"/>
            </a:pPr>
            <a:r>
              <a:rPr lang="en-US" altLang="ja-JP" sz="2000" dirty="0"/>
              <a:t>k</a:t>
            </a:r>
            <a:r>
              <a:rPr lang="ja-JP" altLang="en-US" sz="2000" dirty="0"/>
              <a:t>）：供給者への書面又はコミュニケーション（評価及び第二者監査など）による周知。</a:t>
            </a:r>
            <a:endParaRPr lang="en-US" altLang="ja-JP" sz="2000" dirty="0"/>
          </a:p>
          <a:p>
            <a:pPr marL="457200" lvl="1" indent="0">
              <a:buNone/>
            </a:pPr>
            <a:endParaRPr lang="en-US" altLang="ja-JP"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4.4.1.2</a:t>
            </a:r>
            <a:r>
              <a:rPr lang="ja-JP" altLang="en-US" sz="3000" b="1" dirty="0">
                <a:solidFill>
                  <a:schemeClr val="bg1"/>
                </a:solidFill>
              </a:rPr>
              <a:t>　製品安全</a:t>
            </a:r>
            <a:endParaRPr kumimoji="1" lang="ja-JP" altLang="en-US" sz="3000" b="1" dirty="0">
              <a:solidFill>
                <a:schemeClr val="bg1"/>
              </a:solidFill>
            </a:endParaRPr>
          </a:p>
        </p:txBody>
      </p:sp>
      <p:sp>
        <p:nvSpPr>
          <p:cNvPr id="2" name="吹き出し: 角を丸めた四角形 1">
            <a:extLst>
              <a:ext uri="{FF2B5EF4-FFF2-40B4-BE49-F238E27FC236}">
                <a16:creationId xmlns:a16="http://schemas.microsoft.com/office/drawing/2014/main" id="{22DB3DD0-A4B8-4268-A0C4-3D5EAE07E060}"/>
              </a:ext>
            </a:extLst>
          </p:cNvPr>
          <p:cNvSpPr/>
          <p:nvPr/>
        </p:nvSpPr>
        <p:spPr>
          <a:xfrm>
            <a:off x="8153400" y="3670300"/>
            <a:ext cx="3200400" cy="1371600"/>
          </a:xfrm>
          <a:prstGeom prst="wedgeRoundRectCallout">
            <a:avLst>
              <a:gd name="adj1" fmla="val -55754"/>
              <a:gd name="adj2" fmla="val -28799"/>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要するに、“</a:t>
            </a:r>
            <a:r>
              <a:rPr kumimoji="1" lang="en-US" altLang="ja-JP" sz="2000" dirty="0">
                <a:solidFill>
                  <a:schemeClr val="tx1"/>
                </a:solidFill>
              </a:rPr>
              <a:t>QMS</a:t>
            </a:r>
            <a:r>
              <a:rPr kumimoji="1" lang="ja-JP" altLang="en-US" sz="2000" dirty="0">
                <a:solidFill>
                  <a:schemeClr val="tx1"/>
                </a:solidFill>
              </a:rPr>
              <a:t>により製品の安全管理が十分に管理されている状態の事。</a:t>
            </a:r>
          </a:p>
        </p:txBody>
      </p:sp>
    </p:spTree>
    <p:extLst>
      <p:ext uri="{BB962C8B-B14F-4D97-AF65-F5344CB8AC3E}">
        <p14:creationId xmlns:p14="http://schemas.microsoft.com/office/powerpoint/2010/main" val="7159128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円/楕円 5">
            <a:extLst>
              <a:ext uri="{FF2B5EF4-FFF2-40B4-BE49-F238E27FC236}">
                <a16:creationId xmlns:a16="http://schemas.microsoft.com/office/drawing/2014/main" id="{C6AC05FD-288A-4926-89F1-D806D53EC184}"/>
              </a:ext>
            </a:extLst>
          </p:cNvPr>
          <p:cNvSpPr/>
          <p:nvPr/>
        </p:nvSpPr>
        <p:spPr>
          <a:xfrm>
            <a:off x="7080274" y="1567588"/>
            <a:ext cx="3432750" cy="2636112"/>
          </a:xfrm>
          <a:prstGeom prst="ellipse">
            <a:avLst/>
          </a:prstGeom>
          <a:solidFill>
            <a:schemeClr val="accent1">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3">
            <a:extLst>
              <a:ext uri="{FF2B5EF4-FFF2-40B4-BE49-F238E27FC236}">
                <a16:creationId xmlns:a16="http://schemas.microsoft.com/office/drawing/2014/main" id="{86D115B5-B9B5-4A00-83E2-ECD8BF17A16B}"/>
              </a:ext>
            </a:extLst>
          </p:cNvPr>
          <p:cNvSpPr/>
          <p:nvPr/>
        </p:nvSpPr>
        <p:spPr>
          <a:xfrm>
            <a:off x="1678978" y="1567588"/>
            <a:ext cx="3432750" cy="2636112"/>
          </a:xfrm>
          <a:prstGeom prst="ellipse">
            <a:avLst/>
          </a:prstGeom>
          <a:solidFill>
            <a:schemeClr val="accent1">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9755CD6F-B7DB-4226-B751-B9A5B70D36B0}"/>
              </a:ext>
            </a:extLst>
          </p:cNvPr>
          <p:cNvSpPr/>
          <p:nvPr/>
        </p:nvSpPr>
        <p:spPr>
          <a:xfrm>
            <a:off x="8796649" y="2890700"/>
            <a:ext cx="1359768" cy="1054212"/>
          </a:xfrm>
          <a:prstGeom prst="ellipse">
            <a:avLst/>
          </a:prstGeom>
          <a:solidFill>
            <a:schemeClr val="accent4">
              <a:lumMod val="20000"/>
              <a:lumOff val="80000"/>
            </a:schemeClr>
          </a:solidFill>
          <a:ln w="25400">
            <a:noFill/>
            <a:prstDash val="dash"/>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16">
            <a:extLst>
              <a:ext uri="{FF2B5EF4-FFF2-40B4-BE49-F238E27FC236}">
                <a16:creationId xmlns:a16="http://schemas.microsoft.com/office/drawing/2014/main" id="{A48859EE-35F3-4B61-8143-733AC3C5E156}"/>
              </a:ext>
            </a:extLst>
          </p:cNvPr>
          <p:cNvSpPr/>
          <p:nvPr/>
        </p:nvSpPr>
        <p:spPr>
          <a:xfrm>
            <a:off x="1374385" y="3256447"/>
            <a:ext cx="1359768" cy="1083396"/>
          </a:xfrm>
          <a:prstGeom prst="ellipse">
            <a:avLst/>
          </a:prstGeom>
          <a:solidFill>
            <a:schemeClr val="accent4">
              <a:lumMod val="20000"/>
              <a:lumOff val="80000"/>
            </a:schemeClr>
          </a:solidFill>
          <a:ln w="25400">
            <a:noFill/>
            <a:prstDash val="dash"/>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4.4.1.2</a:t>
            </a:r>
            <a:r>
              <a:rPr lang="ja-JP" altLang="en-US" sz="3000" b="1" dirty="0">
                <a:solidFill>
                  <a:schemeClr val="bg1"/>
                </a:solidFill>
              </a:rPr>
              <a:t>　製品安全</a:t>
            </a:r>
            <a:endParaRPr kumimoji="1" lang="ja-JP" altLang="en-US" sz="3000" b="1" dirty="0">
              <a:solidFill>
                <a:schemeClr val="bg1"/>
              </a:solidFill>
            </a:endParaRPr>
          </a:p>
        </p:txBody>
      </p:sp>
      <p:sp>
        <p:nvSpPr>
          <p:cNvPr id="15" name="テキスト ボックス 14">
            <a:extLst>
              <a:ext uri="{FF2B5EF4-FFF2-40B4-BE49-F238E27FC236}">
                <a16:creationId xmlns:a16="http://schemas.microsoft.com/office/drawing/2014/main" id="{8B229BF1-45C9-4153-8586-BD617FD714BF}"/>
              </a:ext>
            </a:extLst>
          </p:cNvPr>
          <p:cNvSpPr txBox="1"/>
          <p:nvPr/>
        </p:nvSpPr>
        <p:spPr>
          <a:xfrm>
            <a:off x="1338079" y="2228859"/>
            <a:ext cx="4164376" cy="830997"/>
          </a:xfrm>
          <a:prstGeom prst="rect">
            <a:avLst/>
          </a:prstGeom>
          <a:noFill/>
        </p:spPr>
        <p:txBody>
          <a:bodyPr wrap="square" rtlCol="0">
            <a:spAutoFit/>
          </a:bodyPr>
          <a:lstStyle/>
          <a:p>
            <a:pPr algn="ctr"/>
            <a:r>
              <a:rPr kumimoji="1" lang="ja-JP" altLang="en-US" sz="2400" dirty="0"/>
              <a:t>品質</a:t>
            </a:r>
            <a:endParaRPr kumimoji="1" lang="en-US" altLang="ja-JP" sz="2400" dirty="0"/>
          </a:p>
          <a:p>
            <a:pPr algn="ctr"/>
            <a:r>
              <a:rPr kumimoji="1" lang="ja-JP" altLang="en-US" sz="2400" dirty="0"/>
              <a:t>マネジメントシステム</a:t>
            </a:r>
          </a:p>
        </p:txBody>
      </p:sp>
      <p:sp>
        <p:nvSpPr>
          <p:cNvPr id="16" name="テキスト ボックス 15">
            <a:extLst>
              <a:ext uri="{FF2B5EF4-FFF2-40B4-BE49-F238E27FC236}">
                <a16:creationId xmlns:a16="http://schemas.microsoft.com/office/drawing/2014/main" id="{6C236159-4AC8-4E6E-A232-BC3DA28E4D1C}"/>
              </a:ext>
            </a:extLst>
          </p:cNvPr>
          <p:cNvSpPr txBox="1"/>
          <p:nvPr/>
        </p:nvSpPr>
        <p:spPr>
          <a:xfrm>
            <a:off x="6730273" y="2228426"/>
            <a:ext cx="4087344" cy="830997"/>
          </a:xfrm>
          <a:prstGeom prst="rect">
            <a:avLst/>
          </a:prstGeom>
          <a:noFill/>
        </p:spPr>
        <p:txBody>
          <a:bodyPr wrap="square" rtlCol="0">
            <a:spAutoFit/>
          </a:bodyPr>
          <a:lstStyle/>
          <a:p>
            <a:pPr algn="ctr"/>
            <a:r>
              <a:rPr kumimoji="1" lang="ja-JP" altLang="en-US" sz="2400" dirty="0"/>
              <a:t>品質</a:t>
            </a:r>
            <a:endParaRPr kumimoji="1" lang="en-US" altLang="ja-JP" sz="2400" dirty="0"/>
          </a:p>
          <a:p>
            <a:pPr algn="ctr"/>
            <a:r>
              <a:rPr kumimoji="1" lang="ja-JP" altLang="en-US" sz="2400" dirty="0"/>
              <a:t>マネジメントシステム</a:t>
            </a:r>
          </a:p>
        </p:txBody>
      </p:sp>
      <p:sp>
        <p:nvSpPr>
          <p:cNvPr id="18" name="テキスト ボックス 17">
            <a:extLst>
              <a:ext uri="{FF2B5EF4-FFF2-40B4-BE49-F238E27FC236}">
                <a16:creationId xmlns:a16="http://schemas.microsoft.com/office/drawing/2014/main" id="{BDEF91EB-A940-4D6F-9A9D-A60CB71757AC}"/>
              </a:ext>
            </a:extLst>
          </p:cNvPr>
          <p:cNvSpPr txBox="1"/>
          <p:nvPr/>
        </p:nvSpPr>
        <p:spPr>
          <a:xfrm>
            <a:off x="8899165" y="3241464"/>
            <a:ext cx="1435555" cy="400110"/>
          </a:xfrm>
          <a:prstGeom prst="rect">
            <a:avLst/>
          </a:prstGeom>
          <a:noFill/>
        </p:spPr>
        <p:txBody>
          <a:bodyPr wrap="square" rtlCol="0">
            <a:spAutoFit/>
          </a:bodyPr>
          <a:lstStyle/>
          <a:p>
            <a:r>
              <a:rPr kumimoji="1" lang="ja-JP" altLang="en-US" sz="2000" dirty="0"/>
              <a:t>製品安全</a:t>
            </a:r>
          </a:p>
        </p:txBody>
      </p:sp>
      <p:sp>
        <p:nvSpPr>
          <p:cNvPr id="21" name="右矢印 9">
            <a:extLst>
              <a:ext uri="{FF2B5EF4-FFF2-40B4-BE49-F238E27FC236}">
                <a16:creationId xmlns:a16="http://schemas.microsoft.com/office/drawing/2014/main" id="{C1CD4A2F-C631-4352-95F2-F05AAD380D3B}"/>
              </a:ext>
            </a:extLst>
          </p:cNvPr>
          <p:cNvSpPr/>
          <p:nvPr/>
        </p:nvSpPr>
        <p:spPr>
          <a:xfrm>
            <a:off x="5648312" y="2993502"/>
            <a:ext cx="93610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1112A56E-4AC2-493A-A7B3-5BE01D22098B}"/>
              </a:ext>
            </a:extLst>
          </p:cNvPr>
          <p:cNvSpPr txBox="1"/>
          <p:nvPr/>
        </p:nvSpPr>
        <p:spPr>
          <a:xfrm>
            <a:off x="1213024" y="4981000"/>
            <a:ext cx="9994496" cy="830997"/>
          </a:xfrm>
          <a:prstGeom prst="rect">
            <a:avLst/>
          </a:prstGeom>
          <a:noFill/>
        </p:spPr>
        <p:txBody>
          <a:bodyPr wrap="square" rtlCol="0">
            <a:spAutoFit/>
          </a:bodyPr>
          <a:lstStyle/>
          <a:p>
            <a:r>
              <a:rPr kumimoji="1" lang="ja-JP" altLang="en-US" sz="2400" dirty="0"/>
              <a:t>品質の概念と製品安全の概念は一部異なるものとしていたが、製品安全の概念は品質マネジメントシステムの一部として取り込まれた。</a:t>
            </a:r>
          </a:p>
        </p:txBody>
      </p:sp>
      <p:sp>
        <p:nvSpPr>
          <p:cNvPr id="17" name="テキスト ボックス 16">
            <a:extLst>
              <a:ext uri="{FF2B5EF4-FFF2-40B4-BE49-F238E27FC236}">
                <a16:creationId xmlns:a16="http://schemas.microsoft.com/office/drawing/2014/main" id="{DCFB2BD4-3550-4697-B373-F3B2DFD404A2}"/>
              </a:ext>
            </a:extLst>
          </p:cNvPr>
          <p:cNvSpPr txBox="1"/>
          <p:nvPr/>
        </p:nvSpPr>
        <p:spPr>
          <a:xfrm>
            <a:off x="1447314" y="3598090"/>
            <a:ext cx="1359768" cy="400110"/>
          </a:xfrm>
          <a:prstGeom prst="rect">
            <a:avLst/>
          </a:prstGeom>
          <a:noFill/>
        </p:spPr>
        <p:txBody>
          <a:bodyPr wrap="square" rtlCol="0">
            <a:spAutoFit/>
          </a:bodyPr>
          <a:lstStyle/>
          <a:p>
            <a:r>
              <a:rPr kumimoji="1" lang="ja-JP" altLang="en-US" sz="2000" dirty="0"/>
              <a:t>製品安全</a:t>
            </a:r>
          </a:p>
        </p:txBody>
      </p:sp>
    </p:spTree>
    <p:extLst>
      <p:ext uri="{BB962C8B-B14F-4D97-AF65-F5344CB8AC3E}">
        <p14:creationId xmlns:p14="http://schemas.microsoft.com/office/powerpoint/2010/main" val="7991947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99</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4400" b="1" u="sng" dirty="0">
                <a:solidFill>
                  <a:schemeClr val="tx2"/>
                </a:solidFill>
                <a:effectLst>
                  <a:outerShdw blurRad="38100" dist="38100" dir="2700000" algn="tl">
                    <a:srgbClr val="000000">
                      <a:alpha val="43137"/>
                    </a:srgbClr>
                  </a:outerShdw>
                </a:effectLst>
              </a:rPr>
              <a:t>５．リーダーシップ</a:t>
            </a:r>
            <a:endParaRPr lang="en-US" altLang="ja-JP" sz="4400" b="1" u="sng" dirty="0">
              <a:solidFill>
                <a:schemeClr val="tx2"/>
              </a:solidFill>
              <a:effectLst>
                <a:outerShdw blurRad="38100" dist="38100" dir="2700000" algn="tl">
                  <a:srgbClr val="000000">
                    <a:alpha val="43137"/>
                  </a:srgbClr>
                </a:outerShdw>
              </a:effectLst>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10620665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100</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５．リーダーシップ</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822747"/>
            <a:ext cx="3281413" cy="169057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5.2</a:t>
            </a:r>
            <a:r>
              <a:rPr lang="ja-JP" altLang="en-US" sz="2000" b="1" dirty="0">
                <a:solidFill>
                  <a:schemeClr val="tx1"/>
                </a:solidFill>
              </a:rPr>
              <a:t>　方針</a:t>
            </a:r>
            <a:endParaRPr lang="en-US" altLang="ja-JP" sz="2000" b="1" dirty="0">
              <a:solidFill>
                <a:schemeClr val="tx1"/>
              </a:solidFill>
            </a:endParaRPr>
          </a:p>
          <a:p>
            <a:r>
              <a:rPr kumimoji="1" lang="en-US" altLang="ja-JP" sz="2000" dirty="0">
                <a:solidFill>
                  <a:schemeClr val="tx1"/>
                </a:solidFill>
              </a:rPr>
              <a:t>5.2.1</a:t>
            </a:r>
            <a:r>
              <a:rPr kumimoji="1" lang="ja-JP" altLang="en-US" sz="2000" dirty="0">
                <a:solidFill>
                  <a:schemeClr val="tx1"/>
                </a:solidFill>
              </a:rPr>
              <a:t>　品質方針の確立</a:t>
            </a:r>
            <a:endParaRPr kumimoji="1" lang="en-US" altLang="ja-JP" sz="2000" dirty="0">
              <a:solidFill>
                <a:schemeClr val="tx1"/>
              </a:solidFill>
            </a:endParaRPr>
          </a:p>
          <a:p>
            <a:r>
              <a:rPr lang="en-US" altLang="ja-JP" sz="2000" dirty="0">
                <a:solidFill>
                  <a:schemeClr val="tx1"/>
                </a:solidFill>
              </a:rPr>
              <a:t>5.2.2</a:t>
            </a:r>
            <a:r>
              <a:rPr lang="ja-JP" altLang="en-US" sz="2000" dirty="0">
                <a:solidFill>
                  <a:schemeClr val="tx1"/>
                </a:solidFill>
              </a:rPr>
              <a:t>　品質方針の伝達</a:t>
            </a:r>
            <a:endParaRPr kumimoji="1" lang="ja-JP" altLang="en-US" sz="2000" dirty="0">
              <a:solidFill>
                <a:schemeClr val="tx1"/>
              </a:solidFill>
            </a:endParaRP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lang="en-US" altLang="ja-JP" sz="2000" dirty="0"/>
          </a:p>
          <a:p>
            <a:r>
              <a:rPr lang="en-US" altLang="ja-JP" sz="2000" dirty="0"/>
              <a:t>5.1.1.1</a:t>
            </a:r>
            <a:r>
              <a:rPr lang="ja-JP" altLang="en-US" sz="2000" dirty="0"/>
              <a:t>　企業責任</a:t>
            </a:r>
            <a:endParaRPr lang="en-US" altLang="ja-JP" sz="2000" dirty="0"/>
          </a:p>
          <a:p>
            <a:r>
              <a:rPr lang="en-US" altLang="ja-JP" sz="2000" dirty="0"/>
              <a:t>5.1.1.2</a:t>
            </a:r>
            <a:r>
              <a:rPr lang="ja-JP" altLang="en-US" sz="2000" dirty="0"/>
              <a:t>　プロセスの有効性及び効率</a:t>
            </a:r>
            <a:endParaRPr lang="en-US" altLang="ja-JP" sz="2000" dirty="0"/>
          </a:p>
          <a:p>
            <a:r>
              <a:rPr lang="en-US" altLang="ja-JP" sz="2000" dirty="0"/>
              <a:t>5.1.1.3</a:t>
            </a:r>
            <a:r>
              <a:rPr lang="ja-JP" altLang="en-US" sz="2000" dirty="0"/>
              <a:t>　プロセスオーナー</a:t>
            </a:r>
            <a:endParaRPr lang="en-US" altLang="ja-JP" sz="2000"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22747"/>
            <a:ext cx="3281413" cy="1606251"/>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5.1</a:t>
            </a:r>
            <a:r>
              <a:rPr lang="ja-JP" altLang="en-US" sz="2000" b="1" dirty="0">
                <a:solidFill>
                  <a:schemeClr val="tx1"/>
                </a:solidFill>
              </a:rPr>
              <a:t>　リーダーシップ及びコミットメント</a:t>
            </a:r>
            <a:endParaRPr lang="en-US" altLang="ja-JP" sz="2000" b="1" dirty="0">
              <a:solidFill>
                <a:schemeClr val="tx1"/>
              </a:solidFill>
            </a:endParaRPr>
          </a:p>
          <a:p>
            <a:r>
              <a:rPr kumimoji="1" lang="en-US" altLang="ja-JP" sz="2000" dirty="0">
                <a:solidFill>
                  <a:schemeClr val="tx1"/>
                </a:solidFill>
              </a:rPr>
              <a:t>5.1.1</a:t>
            </a:r>
            <a:r>
              <a:rPr kumimoji="1" lang="ja-JP" altLang="en-US" sz="2000" dirty="0">
                <a:solidFill>
                  <a:schemeClr val="tx1"/>
                </a:solidFill>
              </a:rPr>
              <a:t>　一般</a:t>
            </a:r>
            <a:endParaRPr kumimoji="1" lang="en-US" altLang="ja-JP" sz="2000" dirty="0">
              <a:solidFill>
                <a:schemeClr val="tx1"/>
              </a:solidFill>
            </a:endParaRPr>
          </a:p>
          <a:p>
            <a:r>
              <a:rPr lang="en-US" altLang="ja-JP" sz="2000" dirty="0">
                <a:solidFill>
                  <a:schemeClr val="tx1"/>
                </a:solidFill>
              </a:rPr>
              <a:t>5.1.2</a:t>
            </a:r>
            <a:r>
              <a:rPr lang="ja-JP" altLang="en-US" sz="2000" dirty="0">
                <a:solidFill>
                  <a:schemeClr val="tx1"/>
                </a:solidFill>
              </a:rPr>
              <a:t>　顧客重視</a:t>
            </a:r>
            <a:r>
              <a:rPr kumimoji="1" lang="ja-JP" altLang="en-US" sz="2000" b="1" dirty="0">
                <a:solidFill>
                  <a:schemeClr val="tx1"/>
                </a:solidFill>
              </a:rPr>
              <a:t>　</a:t>
            </a:r>
          </a:p>
        </p:txBody>
      </p:sp>
      <p:sp>
        <p:nvSpPr>
          <p:cNvPr id="12" name="四角形: メモ 11">
            <a:extLst>
              <a:ext uri="{FF2B5EF4-FFF2-40B4-BE49-F238E27FC236}">
                <a16:creationId xmlns:a16="http://schemas.microsoft.com/office/drawing/2014/main" id="{98213EBB-542A-4018-894A-BC7E7EE0A2C6}"/>
              </a:ext>
            </a:extLst>
          </p:cNvPr>
          <p:cNvSpPr/>
          <p:nvPr/>
        </p:nvSpPr>
        <p:spPr>
          <a:xfrm>
            <a:off x="8072387"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r>
              <a:rPr lang="en-US" altLang="ja-JP" sz="2000" dirty="0"/>
              <a:t>5.3.1</a:t>
            </a:r>
            <a:r>
              <a:rPr lang="ja-JP" altLang="en-US" sz="2000" dirty="0"/>
              <a:t>　組織の役割、責任及び権限－補足</a:t>
            </a:r>
            <a:endParaRPr lang="en-US" altLang="ja-JP" sz="2000" dirty="0"/>
          </a:p>
          <a:p>
            <a:r>
              <a:rPr kumimoji="1" lang="en-US" altLang="ja-JP" sz="2000" dirty="0"/>
              <a:t>5.3.2</a:t>
            </a:r>
            <a:r>
              <a:rPr kumimoji="1" lang="ja-JP" altLang="en-US" sz="2000" dirty="0"/>
              <a:t>　製品要求事項及び是正処置に対する責任及び権限</a:t>
            </a:r>
            <a:endParaRPr kumimoji="1" lang="en-US" altLang="ja-JP" sz="2000" dirty="0"/>
          </a:p>
        </p:txBody>
      </p:sp>
      <p:sp>
        <p:nvSpPr>
          <p:cNvPr id="13" name="フローチャート: 書類 12">
            <a:extLst>
              <a:ext uri="{FF2B5EF4-FFF2-40B4-BE49-F238E27FC236}">
                <a16:creationId xmlns:a16="http://schemas.microsoft.com/office/drawing/2014/main" id="{01A1497B-8B1D-4252-ADD4-72F06A6DEA9F}"/>
              </a:ext>
            </a:extLst>
          </p:cNvPr>
          <p:cNvSpPr/>
          <p:nvPr/>
        </p:nvSpPr>
        <p:spPr>
          <a:xfrm>
            <a:off x="8072386" y="1822748"/>
            <a:ext cx="3281413" cy="160625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5.3</a:t>
            </a:r>
            <a:r>
              <a:rPr lang="ja-JP" altLang="en-US" sz="2000" b="1" dirty="0">
                <a:solidFill>
                  <a:schemeClr val="tx1"/>
                </a:solidFill>
              </a:rPr>
              <a:t>　組織の役割、責任及び権限　　　　　　　　　　　　　　　　　　　　　　　　　　　　　　　　　　　　　　　　　　　　　　　　　　　　　　　　　　　　　　　　　　　　　　　　　　　　　　　　　　　　　　　　　　　　　　　　　　　　　　　　　　　　　　</a:t>
            </a:r>
            <a:endParaRPr kumimoji="1" lang="ja-JP" altLang="en-US" sz="2000" b="1" dirty="0">
              <a:solidFill>
                <a:schemeClr val="tx1"/>
              </a:solidFill>
            </a:endParaRPr>
          </a:p>
        </p:txBody>
      </p:sp>
    </p:spTree>
    <p:extLst>
      <p:ext uri="{BB962C8B-B14F-4D97-AF65-F5344CB8AC3E}">
        <p14:creationId xmlns:p14="http://schemas.microsoft.com/office/powerpoint/2010/main" val="32804042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3999"/>
            <a:ext cx="10515600" cy="1075981"/>
          </a:xfrm>
          <a:ln w="12700">
            <a:solidFill>
              <a:schemeClr val="tx2"/>
            </a:solidFill>
          </a:ln>
        </p:spPr>
        <p:txBody>
          <a:bodyPr>
            <a:normAutofit/>
          </a:bodyPr>
          <a:lstStyle/>
          <a:p>
            <a:pPr marL="0" indent="0">
              <a:lnSpc>
                <a:spcPct val="100000"/>
              </a:lnSpc>
              <a:buNone/>
            </a:pPr>
            <a:r>
              <a:rPr lang="ja-JP" altLang="en-US" sz="2000" dirty="0"/>
              <a:t>☑組織は、企業責任方針を定め、実施しなければならない。それには、最低限、</a:t>
            </a:r>
            <a:r>
              <a:rPr lang="ja-JP" altLang="en-US" sz="2000" u="sng" dirty="0"/>
              <a:t>贈賄防止方針、従業員行動規範及び倫理的上申方針（内部告発方針）を含める。</a:t>
            </a:r>
            <a:endParaRPr lang="en-US" altLang="ja-JP" u="sng"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5.1.1.1</a:t>
            </a:r>
            <a:r>
              <a:rPr kumimoji="1" lang="ja-JP" altLang="en-US" sz="3000" b="1" dirty="0">
                <a:solidFill>
                  <a:schemeClr val="tx2"/>
                </a:solidFill>
              </a:rPr>
              <a:t>　企業責任</a:t>
            </a: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289743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5.1.1.1</a:t>
            </a:r>
            <a:r>
              <a:rPr lang="ja-JP" altLang="en-US" sz="3000" b="1" dirty="0">
                <a:solidFill>
                  <a:schemeClr val="bg1"/>
                </a:solidFill>
              </a:rPr>
              <a:t>　企業責任</a:t>
            </a:r>
          </a:p>
        </p:txBody>
      </p:sp>
      <p:sp>
        <p:nvSpPr>
          <p:cNvPr id="7" name="コンテンツ プレースホルダー 2">
            <a:extLst>
              <a:ext uri="{FF2B5EF4-FFF2-40B4-BE49-F238E27FC236}">
                <a16:creationId xmlns:a16="http://schemas.microsoft.com/office/drawing/2014/main" id="{62C0B2CC-F228-4E44-8983-3B7BB62CD4F3}"/>
              </a:ext>
            </a:extLst>
          </p:cNvPr>
          <p:cNvSpPr txBox="1">
            <a:spLocks/>
          </p:cNvSpPr>
          <p:nvPr/>
        </p:nvSpPr>
        <p:spPr>
          <a:xfrm>
            <a:off x="838200" y="4048960"/>
            <a:ext cx="10515600" cy="2307390"/>
          </a:xfrm>
          <a:prstGeom prst="rect">
            <a:avLst/>
          </a:prstGeom>
          <a:ln w="12700">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400" dirty="0"/>
              <a:t>企業責任方針の設定。（社内規程及びコンプライアンス文書など）</a:t>
            </a:r>
            <a:endParaRPr lang="en-US" altLang="ja-JP" sz="2400" dirty="0"/>
          </a:p>
          <a:p>
            <a:pPr lvl="1">
              <a:buFont typeface="Wingdings" panose="05000000000000000000" pitchFamily="2" charset="2"/>
              <a:buChar char="Ø"/>
            </a:pPr>
            <a:r>
              <a:rPr lang="ja-JP" altLang="en-US" dirty="0"/>
              <a:t>贈賄防止：法的及び社会的に当然のこと。</a:t>
            </a:r>
            <a:endParaRPr lang="en-US" altLang="ja-JP" dirty="0"/>
          </a:p>
          <a:p>
            <a:pPr lvl="1">
              <a:buFont typeface="Wingdings" panose="05000000000000000000" pitchFamily="2" charset="2"/>
              <a:buChar char="Ø"/>
            </a:pPr>
            <a:r>
              <a:rPr lang="ja-JP" altLang="en-US" dirty="0"/>
              <a:t>行動規範：</a:t>
            </a:r>
            <a:r>
              <a:rPr lang="ja-JP" altLang="en-US" dirty="0">
                <a:solidFill>
                  <a:srgbClr val="FF0000"/>
                </a:solidFill>
                <a:effectLst>
                  <a:outerShdw blurRad="38100" dist="38100" dir="2700000" algn="tl">
                    <a:srgbClr val="000000">
                      <a:alpha val="43137"/>
                    </a:srgbClr>
                  </a:outerShdw>
                </a:effectLst>
              </a:rPr>
              <a:t>企業責任を果たす</a:t>
            </a:r>
            <a:r>
              <a:rPr lang="ja-JP" altLang="en-US" dirty="0"/>
              <a:t>ための従業員に対する最低限の決め事。</a:t>
            </a:r>
            <a:endParaRPr lang="en-US" altLang="ja-JP" dirty="0"/>
          </a:p>
          <a:p>
            <a:pPr lvl="1">
              <a:buFont typeface="Wingdings" panose="05000000000000000000" pitchFamily="2" charset="2"/>
              <a:buChar char="Ø"/>
            </a:pPr>
            <a:r>
              <a:rPr lang="ja-JP" altLang="en-US" dirty="0"/>
              <a:t>上申方針：非倫理的事象に対する</a:t>
            </a:r>
            <a:r>
              <a:rPr lang="ja-JP" altLang="en-US" dirty="0">
                <a:solidFill>
                  <a:srgbClr val="FF0000"/>
                </a:solidFill>
                <a:effectLst>
                  <a:outerShdw blurRad="38100" dist="38100" dir="2700000" algn="tl">
                    <a:srgbClr val="000000">
                      <a:alpha val="43137"/>
                    </a:srgbClr>
                  </a:outerShdw>
                </a:effectLst>
              </a:rPr>
              <a:t>躊躇の無い内部告発</a:t>
            </a:r>
            <a:r>
              <a:rPr lang="ja-JP" altLang="en-US" dirty="0"/>
              <a:t>のしくみ。</a:t>
            </a:r>
            <a:endParaRPr lang="en-US" altLang="ja-JP" dirty="0"/>
          </a:p>
          <a:p>
            <a:pPr marL="514350" indent="-514350">
              <a:buFont typeface="+mj-lt"/>
              <a:buAutoNum type="arabicPeriod"/>
            </a:pPr>
            <a:endParaRPr lang="ja-JP" altLang="en-US" dirty="0"/>
          </a:p>
          <a:p>
            <a:pPr marL="514350" indent="-514350">
              <a:buFont typeface="+mj-lt"/>
              <a:buAutoNum type="arabicPeriod"/>
            </a:pPr>
            <a:endParaRPr lang="en-US" altLang="ja-JP" dirty="0"/>
          </a:p>
        </p:txBody>
      </p:sp>
      <p:sp>
        <p:nvSpPr>
          <p:cNvPr id="2" name="矢印: 右 1">
            <a:extLst>
              <a:ext uri="{FF2B5EF4-FFF2-40B4-BE49-F238E27FC236}">
                <a16:creationId xmlns:a16="http://schemas.microsoft.com/office/drawing/2014/main" id="{75A66F2A-D96C-46B6-8497-B91DDEA082AA}"/>
              </a:ext>
            </a:extLst>
          </p:cNvPr>
          <p:cNvSpPr/>
          <p:nvPr/>
        </p:nvSpPr>
        <p:spPr>
          <a:xfrm>
            <a:off x="1323968" y="5618657"/>
            <a:ext cx="326673" cy="737693"/>
          </a:xfrm>
          <a:prstGeom prst="rightArrow">
            <a:avLst>
              <a:gd name="adj1" fmla="val 7371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6EAA707A-1066-4CAF-A581-8AE5ED26F5D1}"/>
              </a:ext>
            </a:extLst>
          </p:cNvPr>
          <p:cNvSpPr/>
          <p:nvPr/>
        </p:nvSpPr>
        <p:spPr>
          <a:xfrm>
            <a:off x="1910081" y="5618657"/>
            <a:ext cx="7254240" cy="737693"/>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企業の社会的責任（ＣＳＲ）を果たすこと。</a:t>
            </a:r>
          </a:p>
        </p:txBody>
      </p:sp>
    </p:spTree>
    <p:extLst>
      <p:ext uri="{BB962C8B-B14F-4D97-AF65-F5344CB8AC3E}">
        <p14:creationId xmlns:p14="http://schemas.microsoft.com/office/powerpoint/2010/main" val="21349510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☑トップマネジメントは、組織の品質マネジメントシステムを評価し改善するために、</a:t>
            </a:r>
            <a:r>
              <a:rPr lang="ja-JP" altLang="en-US" sz="2000" u="sng" dirty="0"/>
              <a:t>品質マネジメントシステムの有効性及び効率性をレビュー</a:t>
            </a:r>
            <a:r>
              <a:rPr lang="ja-JP" altLang="en-US" sz="2000" dirty="0"/>
              <a:t>しなければならない。</a:t>
            </a:r>
            <a:endParaRPr lang="en-US" altLang="ja-JP" sz="2000" dirty="0"/>
          </a:p>
          <a:p>
            <a:pPr marL="0" indent="0">
              <a:lnSpc>
                <a:spcPct val="100000"/>
              </a:lnSpc>
              <a:buNone/>
            </a:pPr>
            <a:r>
              <a:rPr lang="ja-JP" altLang="en-US" sz="2000" dirty="0"/>
              <a:t>☑プロセスレビュー活動の結果は、マネジメントレビュー（</a:t>
            </a:r>
            <a:r>
              <a:rPr lang="en-US" altLang="ja-JP" sz="2000" dirty="0"/>
              <a:t>9.3.2.1</a:t>
            </a:r>
            <a:r>
              <a:rPr lang="ja-JP" altLang="en-US" sz="2000" dirty="0"/>
              <a:t>参照）へのインプットとして含めなければならない。</a:t>
            </a:r>
          </a:p>
          <a:p>
            <a:pPr marL="800100" lvl="1" indent="-342900">
              <a:buFont typeface="+mj-lt"/>
              <a:buAutoNum type="alphaLcPeriod" startAt="9"/>
            </a:pP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5.1.1.2</a:t>
            </a:r>
            <a:r>
              <a:rPr kumimoji="1" lang="ja-JP" altLang="en-US" sz="3000" b="1" dirty="0">
                <a:solidFill>
                  <a:schemeClr val="tx2"/>
                </a:solidFill>
              </a:rPr>
              <a:t>　プロセスの有効性及び効率</a:t>
            </a:r>
          </a:p>
        </p:txBody>
      </p:sp>
      <p:sp>
        <p:nvSpPr>
          <p:cNvPr id="2" name="四角形: 角を丸くする 1">
            <a:extLst>
              <a:ext uri="{FF2B5EF4-FFF2-40B4-BE49-F238E27FC236}">
                <a16:creationId xmlns:a16="http://schemas.microsoft.com/office/drawing/2014/main" id="{36C513BE-675E-4438-91BE-5CAAA90E6A4E}"/>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12</a:t>
            </a:r>
          </a:p>
        </p:txBody>
      </p:sp>
    </p:spTree>
    <p:extLst>
      <p:ext uri="{BB962C8B-B14F-4D97-AF65-F5344CB8AC3E}">
        <p14:creationId xmlns:p14="http://schemas.microsoft.com/office/powerpoint/2010/main" val="282558379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en-US" altLang="ja-JP" sz="2400" dirty="0"/>
              <a:t>SI12</a:t>
            </a:r>
            <a:r>
              <a:rPr lang="ja-JP" altLang="en-US" sz="2400" dirty="0"/>
              <a:t>発行。（</a:t>
            </a:r>
            <a:r>
              <a:rPr lang="en-US" altLang="ja-JP" sz="2400" dirty="0"/>
              <a:t>2018.06</a:t>
            </a:r>
            <a:r>
              <a:rPr lang="ja-JP" altLang="en-US" sz="2400" dirty="0"/>
              <a:t>）</a:t>
            </a:r>
            <a:endParaRPr lang="en-US" altLang="ja-JP" sz="2400" dirty="0"/>
          </a:p>
          <a:p>
            <a:pPr lvl="1">
              <a:buFont typeface="Wingdings" panose="05000000000000000000" pitchFamily="2" charset="2"/>
              <a:buChar char="Ø"/>
            </a:pPr>
            <a:r>
              <a:rPr lang="ja-JP" altLang="en-US" dirty="0"/>
              <a:t>全てのプロセスが対象とは限らない。　➠　組織の判断。</a:t>
            </a:r>
            <a:endParaRPr lang="en-US" altLang="ja-JP" dirty="0"/>
          </a:p>
          <a:p>
            <a:pPr lvl="1">
              <a:buFont typeface="Wingdings" panose="05000000000000000000" pitchFamily="2" charset="2"/>
              <a:buChar char="Ø"/>
            </a:pPr>
            <a:r>
              <a:rPr lang="ja-JP" altLang="en-US" dirty="0"/>
              <a:t>一般に、</a:t>
            </a:r>
            <a:endParaRPr lang="en-US" altLang="ja-JP" dirty="0"/>
          </a:p>
          <a:p>
            <a:pPr lvl="1">
              <a:buFont typeface="Wingdings" panose="05000000000000000000" pitchFamily="2" charset="2"/>
              <a:buChar char="Ø"/>
            </a:pPr>
            <a:endParaRPr lang="en-US" altLang="ja-JP" dirty="0"/>
          </a:p>
          <a:p>
            <a:pPr lvl="1">
              <a:buFont typeface="Wingdings" panose="05000000000000000000" pitchFamily="2" charset="2"/>
              <a:buChar char="Ø"/>
            </a:pPr>
            <a:endParaRPr lang="en-US" altLang="ja-JP" dirty="0"/>
          </a:p>
          <a:p>
            <a:pPr lvl="1">
              <a:buFont typeface="Wingdings" panose="05000000000000000000" pitchFamily="2" charset="2"/>
              <a:buChar char="Ø"/>
            </a:pPr>
            <a:endParaRPr lang="en-US" altLang="ja-JP" dirty="0"/>
          </a:p>
          <a:p>
            <a:pPr lvl="1">
              <a:buFont typeface="Wingdings" panose="05000000000000000000" pitchFamily="2" charset="2"/>
              <a:buChar char="Ø"/>
            </a:pPr>
            <a:endParaRPr lang="en-US" altLang="ja-JP" dirty="0"/>
          </a:p>
          <a:p>
            <a:pPr lvl="1">
              <a:buFont typeface="Wingdings" panose="05000000000000000000" pitchFamily="2" charset="2"/>
              <a:buChar char="Ø"/>
            </a:pPr>
            <a:endParaRPr lang="en-US" altLang="ja-JP" dirty="0"/>
          </a:p>
          <a:p>
            <a:pPr marL="457200" indent="-457200">
              <a:buFont typeface="+mj-lt"/>
              <a:buAutoNum type="arabicPeriod"/>
            </a:pPr>
            <a:r>
              <a:rPr lang="ja-JP" altLang="en-US" sz="2400" dirty="0">
                <a:solidFill>
                  <a:srgbClr val="FF0000"/>
                </a:solidFill>
                <a:effectLst>
                  <a:outerShdw blurRad="38100" dist="38100" dir="2700000" algn="tl">
                    <a:srgbClr val="000000">
                      <a:alpha val="43137"/>
                    </a:srgbClr>
                  </a:outerShdw>
                </a:effectLst>
              </a:rPr>
              <a:t>プロセス管理（プロセスアプローチ及びタートル図参照）における評価指標（ＫＰＩ）</a:t>
            </a:r>
            <a:r>
              <a:rPr lang="ja-JP" altLang="en-US" sz="2400" dirty="0"/>
              <a:t>として登場する。</a:t>
            </a:r>
            <a:endParaRPr lang="en-US" altLang="ja-JP" sz="2400" dirty="0"/>
          </a:p>
          <a:p>
            <a:pPr lvl="1">
              <a:buFont typeface="Wingdings" panose="05000000000000000000" pitchFamily="2" charset="2"/>
              <a:buChar char="Ø"/>
            </a:pPr>
            <a:r>
              <a:rPr lang="ja-JP" altLang="en-US" dirty="0"/>
              <a:t>有効性事例：設備稼働率達成度／工程能力改善度／特別輸送費達成度</a:t>
            </a:r>
            <a:endParaRPr lang="en-US" altLang="ja-JP" dirty="0"/>
          </a:p>
          <a:p>
            <a:pPr lvl="1">
              <a:buFont typeface="Wingdings" panose="05000000000000000000" pitchFamily="2" charset="2"/>
              <a:buChar char="Ø"/>
            </a:pPr>
            <a:r>
              <a:rPr lang="ja-JP" altLang="en-US" dirty="0"/>
              <a:t>効率事例：生産性／平均トライ回数／営業人員当たりの受注金額</a:t>
            </a:r>
            <a:endParaRPr lang="en-US" altLang="ja-JP"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5.1.1.2</a:t>
            </a:r>
            <a:r>
              <a:rPr kumimoji="1" lang="ja-JP" altLang="en-US" sz="3000" b="1" dirty="0">
                <a:solidFill>
                  <a:schemeClr val="bg1"/>
                </a:solidFill>
              </a:rPr>
              <a:t>　プロセスの有効性及び効率</a:t>
            </a:r>
          </a:p>
        </p:txBody>
      </p:sp>
      <p:graphicFrame>
        <p:nvGraphicFramePr>
          <p:cNvPr id="2" name="表 1">
            <a:extLst>
              <a:ext uri="{FF2B5EF4-FFF2-40B4-BE49-F238E27FC236}">
                <a16:creationId xmlns:a16="http://schemas.microsoft.com/office/drawing/2014/main" id="{95858D46-A050-4957-86C1-EACBA98C1D40}"/>
              </a:ext>
            </a:extLst>
          </p:cNvPr>
          <p:cNvGraphicFramePr>
            <a:graphicFrameLocks noGrp="1"/>
          </p:cNvGraphicFramePr>
          <p:nvPr>
            <p:extLst>
              <p:ext uri="{D42A27DB-BD31-4B8C-83A1-F6EECF244321}">
                <p14:modId xmlns:p14="http://schemas.microsoft.com/office/powerpoint/2010/main" val="4165783786"/>
              </p:ext>
            </p:extLst>
          </p:nvPr>
        </p:nvGraphicFramePr>
        <p:xfrm>
          <a:off x="1493520" y="2687320"/>
          <a:ext cx="8388609" cy="1584960"/>
        </p:xfrm>
        <a:graphic>
          <a:graphicData uri="http://schemas.openxmlformats.org/drawingml/2006/table">
            <a:tbl>
              <a:tblPr firstRow="1" bandRow="1">
                <a:tableStyleId>{5940675A-B579-460E-94D1-54222C63F5DA}</a:tableStyleId>
              </a:tblPr>
              <a:tblGrid>
                <a:gridCol w="3685489">
                  <a:extLst>
                    <a:ext uri="{9D8B030D-6E8A-4147-A177-3AD203B41FA5}">
                      <a16:colId xmlns:a16="http://schemas.microsoft.com/office/drawing/2014/main" val="3257990350"/>
                    </a:ext>
                  </a:extLst>
                </a:gridCol>
                <a:gridCol w="2385314">
                  <a:extLst>
                    <a:ext uri="{9D8B030D-6E8A-4147-A177-3AD203B41FA5}">
                      <a16:colId xmlns:a16="http://schemas.microsoft.com/office/drawing/2014/main" val="2088747561"/>
                    </a:ext>
                  </a:extLst>
                </a:gridCol>
                <a:gridCol w="2317806">
                  <a:extLst>
                    <a:ext uri="{9D8B030D-6E8A-4147-A177-3AD203B41FA5}">
                      <a16:colId xmlns:a16="http://schemas.microsoft.com/office/drawing/2014/main" val="1088071859"/>
                    </a:ext>
                  </a:extLst>
                </a:gridCol>
              </a:tblGrid>
              <a:tr h="370840">
                <a:tc>
                  <a:txBody>
                    <a:bodyPr/>
                    <a:lstStyle/>
                    <a:p>
                      <a:pPr algn="ctr"/>
                      <a:r>
                        <a:rPr kumimoji="1" lang="ja-JP" altLang="en-US" sz="2000" dirty="0"/>
                        <a:t>プロセス</a:t>
                      </a:r>
                    </a:p>
                  </a:txBody>
                  <a:tcPr>
                    <a:solidFill>
                      <a:schemeClr val="tx2">
                        <a:lumMod val="40000"/>
                        <a:lumOff val="60000"/>
                      </a:schemeClr>
                    </a:solidFill>
                  </a:tcPr>
                </a:tc>
                <a:tc>
                  <a:txBody>
                    <a:bodyPr/>
                    <a:lstStyle/>
                    <a:p>
                      <a:pPr algn="ctr"/>
                      <a:r>
                        <a:rPr kumimoji="1" lang="ja-JP" altLang="en-US" sz="2000" dirty="0"/>
                        <a:t>有効性</a:t>
                      </a:r>
                    </a:p>
                  </a:txBody>
                  <a:tcPr>
                    <a:solidFill>
                      <a:schemeClr val="tx2">
                        <a:lumMod val="40000"/>
                        <a:lumOff val="60000"/>
                      </a:schemeClr>
                    </a:solidFill>
                  </a:tcPr>
                </a:tc>
                <a:tc>
                  <a:txBody>
                    <a:bodyPr/>
                    <a:lstStyle/>
                    <a:p>
                      <a:pPr algn="ctr"/>
                      <a:r>
                        <a:rPr kumimoji="1" lang="ja-JP" altLang="en-US" sz="2000" dirty="0"/>
                        <a:t>効率</a:t>
                      </a:r>
                    </a:p>
                  </a:txBody>
                  <a:tcPr>
                    <a:solidFill>
                      <a:schemeClr val="tx2">
                        <a:lumMod val="40000"/>
                        <a:lumOff val="60000"/>
                      </a:schemeClr>
                    </a:solidFill>
                  </a:tcPr>
                </a:tc>
                <a:extLst>
                  <a:ext uri="{0D108BD9-81ED-4DB2-BD59-A6C34878D82A}">
                    <a16:rowId xmlns:a16="http://schemas.microsoft.com/office/drawing/2014/main" val="2639508247"/>
                  </a:ext>
                </a:extLst>
              </a:tr>
              <a:tr h="370840">
                <a:tc>
                  <a:txBody>
                    <a:bodyPr/>
                    <a:lstStyle/>
                    <a:p>
                      <a:r>
                        <a:rPr kumimoji="1" lang="ja-JP" altLang="en-US" sz="2000" dirty="0"/>
                        <a:t>顧客志向プロセス</a:t>
                      </a:r>
                    </a:p>
                  </a:txBody>
                  <a:tcPr/>
                </a:tc>
                <a:tc>
                  <a:txBody>
                    <a:bodyPr/>
                    <a:lstStyle/>
                    <a:p>
                      <a:pPr algn="ctr"/>
                      <a:r>
                        <a:rPr kumimoji="1" lang="ja-JP" altLang="en-US" sz="2000" dirty="0"/>
                        <a:t>◎</a:t>
                      </a:r>
                    </a:p>
                  </a:txBody>
                  <a:tcPr/>
                </a:tc>
                <a:tc>
                  <a:txBody>
                    <a:bodyPr/>
                    <a:lstStyle/>
                    <a:p>
                      <a:pPr algn="ctr"/>
                      <a:r>
                        <a:rPr kumimoji="1" lang="ja-JP" altLang="en-US" sz="2000" dirty="0"/>
                        <a:t>◎</a:t>
                      </a:r>
                    </a:p>
                  </a:txBody>
                  <a:tcPr/>
                </a:tc>
                <a:extLst>
                  <a:ext uri="{0D108BD9-81ED-4DB2-BD59-A6C34878D82A}">
                    <a16:rowId xmlns:a16="http://schemas.microsoft.com/office/drawing/2014/main" val="149452807"/>
                  </a:ext>
                </a:extLst>
              </a:tr>
              <a:tr h="370840">
                <a:tc>
                  <a:txBody>
                    <a:bodyPr/>
                    <a:lstStyle/>
                    <a:p>
                      <a:r>
                        <a:rPr kumimoji="1" lang="ja-JP" altLang="en-US" sz="2000" dirty="0"/>
                        <a:t>支援プロセス</a:t>
                      </a:r>
                    </a:p>
                  </a:txBody>
                  <a:tcPr/>
                </a:tc>
                <a:tc>
                  <a:txBody>
                    <a:bodyPr/>
                    <a:lstStyle/>
                    <a:p>
                      <a:pPr algn="ctr"/>
                      <a:r>
                        <a:rPr kumimoji="1" lang="ja-JP" altLang="en-US" sz="2000" dirty="0"/>
                        <a:t>◎</a:t>
                      </a:r>
                    </a:p>
                  </a:txBody>
                  <a:tcPr/>
                </a:tc>
                <a:tc>
                  <a:txBody>
                    <a:bodyPr/>
                    <a:lstStyle/>
                    <a:p>
                      <a:pPr algn="ctr"/>
                      <a:r>
                        <a:rPr kumimoji="1" lang="ja-JP" altLang="en-US" sz="2000" dirty="0"/>
                        <a:t>○</a:t>
                      </a:r>
                    </a:p>
                  </a:txBody>
                  <a:tcPr/>
                </a:tc>
                <a:extLst>
                  <a:ext uri="{0D108BD9-81ED-4DB2-BD59-A6C34878D82A}">
                    <a16:rowId xmlns:a16="http://schemas.microsoft.com/office/drawing/2014/main" val="948003777"/>
                  </a:ext>
                </a:extLst>
              </a:tr>
              <a:tr h="370840">
                <a:tc>
                  <a:txBody>
                    <a:bodyPr/>
                    <a:lstStyle/>
                    <a:p>
                      <a:r>
                        <a:rPr kumimoji="1" lang="ja-JP" altLang="en-US" sz="2000" dirty="0"/>
                        <a:t>マネジメントプロセス</a:t>
                      </a:r>
                    </a:p>
                  </a:txBody>
                  <a:tcPr/>
                </a:tc>
                <a:tc>
                  <a:txBody>
                    <a:bodyPr/>
                    <a:lstStyle/>
                    <a:p>
                      <a:pPr algn="ctr"/>
                      <a:r>
                        <a:rPr kumimoji="1" lang="ja-JP" altLang="en-US" sz="2000" dirty="0"/>
                        <a:t>◎</a:t>
                      </a:r>
                    </a:p>
                  </a:txBody>
                  <a:tcPr/>
                </a:tc>
                <a:tc>
                  <a:txBody>
                    <a:bodyPr/>
                    <a:lstStyle/>
                    <a:p>
                      <a:pPr algn="ctr"/>
                      <a:r>
                        <a:rPr kumimoji="1" lang="ja-JP" altLang="en-US" sz="2000" dirty="0"/>
                        <a:t>△</a:t>
                      </a:r>
                    </a:p>
                  </a:txBody>
                  <a:tcPr/>
                </a:tc>
                <a:extLst>
                  <a:ext uri="{0D108BD9-81ED-4DB2-BD59-A6C34878D82A}">
                    <a16:rowId xmlns:a16="http://schemas.microsoft.com/office/drawing/2014/main" val="2867529285"/>
                  </a:ext>
                </a:extLst>
              </a:tr>
            </a:tbl>
          </a:graphicData>
        </a:graphic>
      </p:graphicFrame>
    </p:spTree>
    <p:extLst>
      <p:ext uri="{BB962C8B-B14F-4D97-AF65-F5344CB8AC3E}">
        <p14:creationId xmlns:p14="http://schemas.microsoft.com/office/powerpoint/2010/main" val="17901665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692925"/>
          </a:xfrm>
          <a:ln w="12700">
            <a:noFill/>
          </a:ln>
        </p:spPr>
        <p:txBody>
          <a:bodyPr>
            <a:normAutofit/>
          </a:bodyPr>
          <a:lstStyle/>
          <a:p>
            <a:pPr marL="457200" indent="-457200">
              <a:buFont typeface="+mj-lt"/>
              <a:buAutoNum type="arabicPeriod" startAt="3"/>
            </a:pPr>
            <a:r>
              <a:rPr lang="ja-JP" altLang="en-US" sz="2400" dirty="0"/>
              <a:t>有効性と効率の定義。</a:t>
            </a:r>
            <a:endParaRPr lang="en-US" altLang="ja-JP" sz="24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5.1.1.2</a:t>
            </a:r>
            <a:r>
              <a:rPr kumimoji="1" lang="ja-JP" altLang="en-US" sz="3000" b="1" dirty="0">
                <a:solidFill>
                  <a:schemeClr val="bg1"/>
                </a:solidFill>
              </a:rPr>
              <a:t>　プロセスの有効性及び効率</a:t>
            </a:r>
          </a:p>
        </p:txBody>
      </p:sp>
      <p:graphicFrame>
        <p:nvGraphicFramePr>
          <p:cNvPr id="6" name="表 5">
            <a:extLst>
              <a:ext uri="{FF2B5EF4-FFF2-40B4-BE49-F238E27FC236}">
                <a16:creationId xmlns:a16="http://schemas.microsoft.com/office/drawing/2014/main" id="{4C56A2C3-C6BB-4C75-870C-1398D7EEA281}"/>
              </a:ext>
            </a:extLst>
          </p:cNvPr>
          <p:cNvGraphicFramePr>
            <a:graphicFrameLocks noGrp="1"/>
          </p:cNvGraphicFramePr>
          <p:nvPr>
            <p:extLst>
              <p:ext uri="{D42A27DB-BD31-4B8C-83A1-F6EECF244321}">
                <p14:modId xmlns:p14="http://schemas.microsoft.com/office/powerpoint/2010/main" val="651597405"/>
              </p:ext>
            </p:extLst>
          </p:nvPr>
        </p:nvGraphicFramePr>
        <p:xfrm>
          <a:off x="1426071" y="1977329"/>
          <a:ext cx="9513678" cy="1524000"/>
        </p:xfrm>
        <a:graphic>
          <a:graphicData uri="http://schemas.openxmlformats.org/drawingml/2006/table">
            <a:tbl>
              <a:tblPr firstRow="1" bandRow="1">
                <a:tableStyleId>{5940675A-B579-460E-94D1-54222C63F5DA}</a:tableStyleId>
              </a:tblPr>
              <a:tblGrid>
                <a:gridCol w="1357769">
                  <a:extLst>
                    <a:ext uri="{9D8B030D-6E8A-4147-A177-3AD203B41FA5}">
                      <a16:colId xmlns:a16="http://schemas.microsoft.com/office/drawing/2014/main" val="2116625837"/>
                    </a:ext>
                  </a:extLst>
                </a:gridCol>
                <a:gridCol w="8155909">
                  <a:extLst>
                    <a:ext uri="{9D8B030D-6E8A-4147-A177-3AD203B41FA5}">
                      <a16:colId xmlns:a16="http://schemas.microsoft.com/office/drawing/2014/main" val="1737519424"/>
                    </a:ext>
                  </a:extLst>
                </a:gridCol>
              </a:tblGrid>
              <a:tr h="370840">
                <a:tc>
                  <a:txBody>
                    <a:bodyPr/>
                    <a:lstStyle/>
                    <a:p>
                      <a:r>
                        <a:rPr kumimoji="1" lang="ja-JP" altLang="en-US" sz="2400" dirty="0"/>
                        <a:t>有効性</a:t>
                      </a:r>
                    </a:p>
                  </a:txBody>
                  <a:tcPr>
                    <a:solidFill>
                      <a:schemeClr val="tx2">
                        <a:lumMod val="40000"/>
                        <a:lumOff val="60000"/>
                      </a:schemeClr>
                    </a:solidFill>
                  </a:tcPr>
                </a:tc>
                <a:tc>
                  <a:txBody>
                    <a:bodyPr/>
                    <a:lstStyle/>
                    <a:p>
                      <a:r>
                        <a:rPr kumimoji="1" lang="ja-JP" altLang="en-US" sz="2400" dirty="0"/>
                        <a:t>計画した活動を実行し、計画した結果を達成した程度。</a:t>
                      </a:r>
                      <a:endParaRPr kumimoji="1" lang="en-US" altLang="ja-JP" sz="2400" dirty="0"/>
                    </a:p>
                    <a:p>
                      <a:r>
                        <a:rPr kumimoji="1" lang="en-US" altLang="ja-JP" sz="2000" u="sng" dirty="0"/>
                        <a:t>※</a:t>
                      </a:r>
                      <a:r>
                        <a:rPr kumimoji="1" lang="ja-JP" altLang="en-US" sz="2000" u="sng" dirty="0"/>
                        <a:t>顧客に影響する指標という考え方も参考。</a:t>
                      </a:r>
                    </a:p>
                  </a:txBody>
                  <a:tcPr/>
                </a:tc>
                <a:extLst>
                  <a:ext uri="{0D108BD9-81ED-4DB2-BD59-A6C34878D82A}">
                    <a16:rowId xmlns:a16="http://schemas.microsoft.com/office/drawing/2014/main" val="4089427983"/>
                  </a:ext>
                </a:extLst>
              </a:tr>
              <a:tr h="370840">
                <a:tc>
                  <a:txBody>
                    <a:bodyPr/>
                    <a:lstStyle/>
                    <a:p>
                      <a:r>
                        <a:rPr kumimoji="1" lang="ja-JP" altLang="en-US" sz="2400" dirty="0"/>
                        <a:t>効率</a:t>
                      </a:r>
                    </a:p>
                  </a:txBody>
                  <a:tcPr>
                    <a:solidFill>
                      <a:schemeClr val="tx2">
                        <a:lumMod val="40000"/>
                        <a:lumOff val="60000"/>
                      </a:schemeClr>
                    </a:solidFill>
                  </a:tcPr>
                </a:tc>
                <a:tc>
                  <a:txBody>
                    <a:bodyPr/>
                    <a:lstStyle/>
                    <a:p>
                      <a:r>
                        <a:rPr kumimoji="1" lang="ja-JP" altLang="en-US" sz="2400" dirty="0"/>
                        <a:t>達成された結果と使用された資源の関係。</a:t>
                      </a:r>
                      <a:endParaRPr kumimoji="1" lang="en-US" altLang="ja-JP" sz="2400" dirty="0"/>
                    </a:p>
                    <a:p>
                      <a:r>
                        <a:rPr kumimoji="1" lang="en-US" altLang="ja-JP" sz="2000" u="sng" dirty="0"/>
                        <a:t>※</a:t>
                      </a:r>
                      <a:r>
                        <a:rPr kumimoji="1" lang="ja-JP" altLang="en-US" sz="2000" u="sng" dirty="0"/>
                        <a:t>顧客に影響しない（社内）指標という考え方も参考。</a:t>
                      </a:r>
                    </a:p>
                  </a:txBody>
                  <a:tcPr/>
                </a:tc>
                <a:extLst>
                  <a:ext uri="{0D108BD9-81ED-4DB2-BD59-A6C34878D82A}">
                    <a16:rowId xmlns:a16="http://schemas.microsoft.com/office/drawing/2014/main" val="1932350050"/>
                  </a:ext>
                </a:extLst>
              </a:tr>
            </a:tbl>
          </a:graphicData>
        </a:graphic>
      </p:graphicFrame>
      <p:sp>
        <p:nvSpPr>
          <p:cNvPr id="2" name="四角形: 角を丸くする 1">
            <a:extLst>
              <a:ext uri="{FF2B5EF4-FFF2-40B4-BE49-F238E27FC236}">
                <a16:creationId xmlns:a16="http://schemas.microsoft.com/office/drawing/2014/main" id="{D4136B6F-C653-4F59-8CD2-DA76E325485B}"/>
              </a:ext>
            </a:extLst>
          </p:cNvPr>
          <p:cNvSpPr/>
          <p:nvPr/>
        </p:nvSpPr>
        <p:spPr>
          <a:xfrm>
            <a:off x="4368800" y="4358625"/>
            <a:ext cx="3454400" cy="589296"/>
          </a:xfrm>
          <a:prstGeom prst="round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プロセス</a:t>
            </a:r>
          </a:p>
        </p:txBody>
      </p:sp>
      <p:sp>
        <p:nvSpPr>
          <p:cNvPr id="7" name="四角形: 角を丸くする 6">
            <a:extLst>
              <a:ext uri="{FF2B5EF4-FFF2-40B4-BE49-F238E27FC236}">
                <a16:creationId xmlns:a16="http://schemas.microsoft.com/office/drawing/2014/main" id="{CAC3737C-ABDE-49D5-BBF2-0A59A1F2997D}"/>
              </a:ext>
            </a:extLst>
          </p:cNvPr>
          <p:cNvSpPr/>
          <p:nvPr/>
        </p:nvSpPr>
        <p:spPr>
          <a:xfrm>
            <a:off x="4734560" y="5155687"/>
            <a:ext cx="2722880" cy="496448"/>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資源（人・物・資金）</a:t>
            </a:r>
            <a:endParaRPr kumimoji="1" lang="ja-JP" altLang="en-US" dirty="0">
              <a:solidFill>
                <a:schemeClr val="tx1"/>
              </a:solidFill>
            </a:endParaRPr>
          </a:p>
        </p:txBody>
      </p:sp>
      <p:sp>
        <p:nvSpPr>
          <p:cNvPr id="8" name="正方形/長方形 7">
            <a:extLst>
              <a:ext uri="{FF2B5EF4-FFF2-40B4-BE49-F238E27FC236}">
                <a16:creationId xmlns:a16="http://schemas.microsoft.com/office/drawing/2014/main" id="{D2215358-2A85-40D8-AD54-2B002DF8BEC9}"/>
              </a:ext>
            </a:extLst>
          </p:cNvPr>
          <p:cNvSpPr/>
          <p:nvPr/>
        </p:nvSpPr>
        <p:spPr>
          <a:xfrm>
            <a:off x="838200" y="4194327"/>
            <a:ext cx="2641600" cy="496448"/>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要求事項</a:t>
            </a:r>
          </a:p>
        </p:txBody>
      </p:sp>
      <p:sp>
        <p:nvSpPr>
          <p:cNvPr id="20" name="正方形/長方形 19">
            <a:extLst>
              <a:ext uri="{FF2B5EF4-FFF2-40B4-BE49-F238E27FC236}">
                <a16:creationId xmlns:a16="http://schemas.microsoft.com/office/drawing/2014/main" id="{0509ECBF-732F-4A70-A5F1-F91A2DF743B0}"/>
              </a:ext>
            </a:extLst>
          </p:cNvPr>
          <p:cNvSpPr/>
          <p:nvPr/>
        </p:nvSpPr>
        <p:spPr>
          <a:xfrm>
            <a:off x="838200" y="4690775"/>
            <a:ext cx="2641600" cy="496448"/>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目標・計画</a:t>
            </a:r>
          </a:p>
        </p:txBody>
      </p:sp>
      <p:sp>
        <p:nvSpPr>
          <p:cNvPr id="22" name="正方形/長方形 21">
            <a:extLst>
              <a:ext uri="{FF2B5EF4-FFF2-40B4-BE49-F238E27FC236}">
                <a16:creationId xmlns:a16="http://schemas.microsoft.com/office/drawing/2014/main" id="{5567C780-1C6B-4101-A2B4-6ED143970BBE}"/>
              </a:ext>
            </a:extLst>
          </p:cNvPr>
          <p:cNvSpPr/>
          <p:nvPr/>
        </p:nvSpPr>
        <p:spPr>
          <a:xfrm>
            <a:off x="8712200" y="4194328"/>
            <a:ext cx="2641600" cy="992896"/>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パフォーマンス</a:t>
            </a:r>
            <a:endParaRPr kumimoji="1" lang="en-US" altLang="ja-JP" sz="2000" dirty="0">
              <a:solidFill>
                <a:schemeClr val="tx1"/>
              </a:solidFill>
            </a:endParaRPr>
          </a:p>
          <a:p>
            <a:pPr algn="ctr"/>
            <a:r>
              <a:rPr lang="ja-JP" altLang="en-US" sz="2000" dirty="0">
                <a:solidFill>
                  <a:schemeClr val="tx1"/>
                </a:solidFill>
              </a:rPr>
              <a:t>（成果・結果）</a:t>
            </a:r>
            <a:endParaRPr kumimoji="1" lang="ja-JP" altLang="en-US" sz="2000" dirty="0">
              <a:solidFill>
                <a:schemeClr val="tx1"/>
              </a:solidFill>
            </a:endParaRPr>
          </a:p>
        </p:txBody>
      </p:sp>
      <p:sp>
        <p:nvSpPr>
          <p:cNvPr id="23" name="四角形: 角を丸くする 22">
            <a:extLst>
              <a:ext uri="{FF2B5EF4-FFF2-40B4-BE49-F238E27FC236}">
                <a16:creationId xmlns:a16="http://schemas.microsoft.com/office/drawing/2014/main" id="{1F72884B-53DF-4F5D-91DF-66AEC5FCB466}"/>
              </a:ext>
            </a:extLst>
          </p:cNvPr>
          <p:cNvSpPr/>
          <p:nvPr/>
        </p:nvSpPr>
        <p:spPr>
          <a:xfrm>
            <a:off x="4734560" y="3647615"/>
            <a:ext cx="2763520" cy="517985"/>
          </a:xfrm>
          <a:prstGeom prst="roundRect">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適合性</a:t>
            </a:r>
          </a:p>
        </p:txBody>
      </p:sp>
      <p:sp>
        <p:nvSpPr>
          <p:cNvPr id="25" name="四角形: 角を丸くする 24">
            <a:extLst>
              <a:ext uri="{FF2B5EF4-FFF2-40B4-BE49-F238E27FC236}">
                <a16:creationId xmlns:a16="http://schemas.microsoft.com/office/drawing/2014/main" id="{DCD7232E-E499-4A4D-918F-E7387D2FCDAD}"/>
              </a:ext>
            </a:extLst>
          </p:cNvPr>
          <p:cNvSpPr/>
          <p:nvPr/>
        </p:nvSpPr>
        <p:spPr>
          <a:xfrm>
            <a:off x="4734560" y="5859901"/>
            <a:ext cx="2763520" cy="517985"/>
          </a:xfrm>
          <a:prstGeom prst="roundRect">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有効性</a:t>
            </a:r>
          </a:p>
        </p:txBody>
      </p:sp>
      <p:sp>
        <p:nvSpPr>
          <p:cNvPr id="27" name="四角形: 角を丸くする 26">
            <a:extLst>
              <a:ext uri="{FF2B5EF4-FFF2-40B4-BE49-F238E27FC236}">
                <a16:creationId xmlns:a16="http://schemas.microsoft.com/office/drawing/2014/main" id="{7E04D5B9-F48A-4B78-A7FB-0559DCDF824E}"/>
              </a:ext>
            </a:extLst>
          </p:cNvPr>
          <p:cNvSpPr/>
          <p:nvPr/>
        </p:nvSpPr>
        <p:spPr>
          <a:xfrm>
            <a:off x="8590280" y="5838365"/>
            <a:ext cx="2763520" cy="517985"/>
          </a:xfrm>
          <a:prstGeom prst="roundRect">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効率</a:t>
            </a:r>
          </a:p>
        </p:txBody>
      </p:sp>
      <p:sp>
        <p:nvSpPr>
          <p:cNvPr id="28" name="矢印: 上 27">
            <a:extLst>
              <a:ext uri="{FF2B5EF4-FFF2-40B4-BE49-F238E27FC236}">
                <a16:creationId xmlns:a16="http://schemas.microsoft.com/office/drawing/2014/main" id="{AD53EED1-0035-42D9-BA38-F25FE8B8D1B9}"/>
              </a:ext>
            </a:extLst>
          </p:cNvPr>
          <p:cNvSpPr/>
          <p:nvPr/>
        </p:nvSpPr>
        <p:spPr>
          <a:xfrm>
            <a:off x="5704840" y="4947921"/>
            <a:ext cx="782320" cy="1930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右 28">
            <a:extLst>
              <a:ext uri="{FF2B5EF4-FFF2-40B4-BE49-F238E27FC236}">
                <a16:creationId xmlns:a16="http://schemas.microsoft.com/office/drawing/2014/main" id="{76F5E2B7-A358-4695-9E82-A9A2EF2FA3D7}"/>
              </a:ext>
            </a:extLst>
          </p:cNvPr>
          <p:cNvSpPr/>
          <p:nvPr/>
        </p:nvSpPr>
        <p:spPr>
          <a:xfrm>
            <a:off x="3810000" y="4365310"/>
            <a:ext cx="322580" cy="6306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右 30">
            <a:extLst>
              <a:ext uri="{FF2B5EF4-FFF2-40B4-BE49-F238E27FC236}">
                <a16:creationId xmlns:a16="http://schemas.microsoft.com/office/drawing/2014/main" id="{FAB92D0C-C123-40A9-AC49-41052BBFA12C}"/>
              </a:ext>
            </a:extLst>
          </p:cNvPr>
          <p:cNvSpPr/>
          <p:nvPr/>
        </p:nvSpPr>
        <p:spPr>
          <a:xfrm>
            <a:off x="8059420" y="4358625"/>
            <a:ext cx="322580" cy="6306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1FC5CB6F-07F0-4A04-BE47-C398A2B0290F}"/>
              </a:ext>
            </a:extLst>
          </p:cNvPr>
          <p:cNvCxnSpPr>
            <a:stCxn id="20" idx="2"/>
            <a:endCxn id="25" idx="1"/>
          </p:cNvCxnSpPr>
          <p:nvPr/>
        </p:nvCxnSpPr>
        <p:spPr>
          <a:xfrm>
            <a:off x="2159000" y="5187223"/>
            <a:ext cx="2575560" cy="931671"/>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483085AB-0F52-43AC-A201-FF31B4BF1524}"/>
              </a:ext>
            </a:extLst>
          </p:cNvPr>
          <p:cNvCxnSpPr>
            <a:cxnSpLocks/>
            <a:stCxn id="25" idx="3"/>
            <a:endCxn id="22" idx="2"/>
          </p:cNvCxnSpPr>
          <p:nvPr/>
        </p:nvCxnSpPr>
        <p:spPr>
          <a:xfrm flipV="1">
            <a:off x="7498080" y="5187224"/>
            <a:ext cx="2534920" cy="93167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E923C17-C650-439D-B3BA-0EEBE375AAC9}"/>
              </a:ext>
            </a:extLst>
          </p:cNvPr>
          <p:cNvCxnSpPr>
            <a:cxnSpLocks/>
            <a:stCxn id="8" idx="0"/>
            <a:endCxn id="23" idx="1"/>
          </p:cNvCxnSpPr>
          <p:nvPr/>
        </p:nvCxnSpPr>
        <p:spPr>
          <a:xfrm flipV="1">
            <a:off x="2159000" y="3906608"/>
            <a:ext cx="2575560" cy="287719"/>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2A2C9810-8F61-4BA0-BEC8-7D45AF2E63B2}"/>
              </a:ext>
            </a:extLst>
          </p:cNvPr>
          <p:cNvCxnSpPr>
            <a:cxnSpLocks/>
            <a:stCxn id="22" idx="0"/>
            <a:endCxn id="23" idx="3"/>
          </p:cNvCxnSpPr>
          <p:nvPr/>
        </p:nvCxnSpPr>
        <p:spPr>
          <a:xfrm flipH="1" flipV="1">
            <a:off x="7498080" y="3906608"/>
            <a:ext cx="2534920" cy="28772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E31863DC-387B-4504-B9D4-9728523A6C8A}"/>
              </a:ext>
            </a:extLst>
          </p:cNvPr>
          <p:cNvCxnSpPr>
            <a:cxnSpLocks/>
            <a:stCxn id="27" idx="0"/>
            <a:endCxn id="22" idx="2"/>
          </p:cNvCxnSpPr>
          <p:nvPr/>
        </p:nvCxnSpPr>
        <p:spPr>
          <a:xfrm flipV="1">
            <a:off x="9972040" y="5187224"/>
            <a:ext cx="60960" cy="651141"/>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5E5C769D-C087-4F29-8515-DDD941DA630D}"/>
              </a:ext>
            </a:extLst>
          </p:cNvPr>
          <p:cNvCxnSpPr>
            <a:cxnSpLocks/>
            <a:stCxn id="27" idx="1"/>
            <a:endCxn id="7" idx="3"/>
          </p:cNvCxnSpPr>
          <p:nvPr/>
        </p:nvCxnSpPr>
        <p:spPr>
          <a:xfrm flipH="1" flipV="1">
            <a:off x="7457440" y="5403911"/>
            <a:ext cx="1132840" cy="693447"/>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76590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3998"/>
            <a:ext cx="10515600" cy="1789861"/>
          </a:xfrm>
          <a:ln w="12700">
            <a:solidFill>
              <a:schemeClr val="tx2"/>
            </a:solidFill>
          </a:ln>
        </p:spPr>
        <p:txBody>
          <a:bodyPr>
            <a:normAutofit/>
          </a:bodyPr>
          <a:lstStyle/>
          <a:p>
            <a:pPr marL="0" indent="0">
              <a:lnSpc>
                <a:spcPct val="110000"/>
              </a:lnSpc>
              <a:buNone/>
            </a:pPr>
            <a:r>
              <a:rPr lang="ja-JP" altLang="en-US" sz="2000" dirty="0"/>
              <a:t>☑トップマネジメントは、組織のプロセス及び関係するアウトプットをマネジメントする責任をもつ</a:t>
            </a:r>
            <a:r>
              <a:rPr lang="ja-JP" altLang="en-US" sz="2000" u="sng" dirty="0"/>
              <a:t>プロセスオーナーを特定しなければならない。</a:t>
            </a:r>
            <a:endParaRPr lang="en-US" altLang="ja-JP" sz="2000" u="sng" dirty="0"/>
          </a:p>
          <a:p>
            <a:pPr marL="0" indent="0">
              <a:lnSpc>
                <a:spcPct val="110000"/>
              </a:lnSpc>
              <a:buNone/>
            </a:pPr>
            <a:r>
              <a:rPr lang="ja-JP" altLang="en-US" sz="2000" dirty="0"/>
              <a:t>☑</a:t>
            </a:r>
            <a:r>
              <a:rPr lang="ja-JP" altLang="en-US" sz="2000" u="sng" dirty="0"/>
              <a:t>プロセスオーナーは</a:t>
            </a:r>
            <a:r>
              <a:rPr lang="ja-JP" altLang="en-US" sz="2000" dirty="0"/>
              <a:t>、自らの役割を理解し、その役割を実行する</a:t>
            </a:r>
            <a:r>
              <a:rPr lang="ja-JP" altLang="en-US" sz="2000" u="sng" dirty="0"/>
              <a:t>力量がなければならない。</a:t>
            </a:r>
            <a:endParaRPr lang="en-US" altLang="ja-JP" u="sng"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5.1.1.3</a:t>
            </a:r>
            <a:r>
              <a:rPr lang="ja-JP" altLang="en-US" sz="3000" b="1" dirty="0">
                <a:solidFill>
                  <a:schemeClr val="tx2"/>
                </a:solidFill>
              </a:rPr>
              <a:t>　プロセスオーナー</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367898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5.1.1.3</a:t>
            </a:r>
            <a:r>
              <a:rPr lang="ja-JP" altLang="en-US" sz="3000" b="1" dirty="0">
                <a:solidFill>
                  <a:schemeClr val="bg1"/>
                </a:solidFill>
              </a:rPr>
              <a:t>　プロセスオーナー</a:t>
            </a:r>
          </a:p>
        </p:txBody>
      </p:sp>
      <p:sp>
        <p:nvSpPr>
          <p:cNvPr id="7" name="コンテンツ プレースホルダー 2">
            <a:extLst>
              <a:ext uri="{FF2B5EF4-FFF2-40B4-BE49-F238E27FC236}">
                <a16:creationId xmlns:a16="http://schemas.microsoft.com/office/drawing/2014/main" id="{62C0B2CC-F228-4E44-8983-3B7BB62CD4F3}"/>
              </a:ext>
            </a:extLst>
          </p:cNvPr>
          <p:cNvSpPr txBox="1">
            <a:spLocks/>
          </p:cNvSpPr>
          <p:nvPr/>
        </p:nvSpPr>
        <p:spPr>
          <a:xfrm>
            <a:off x="838200" y="4682169"/>
            <a:ext cx="10515600" cy="1674181"/>
          </a:xfrm>
          <a:prstGeom prst="rect">
            <a:avLst/>
          </a:prstGeom>
          <a:ln w="12700">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400" dirty="0"/>
              <a:t>自然なのは「プロセスを主管する部門の長」である。</a:t>
            </a:r>
            <a:endParaRPr lang="en-US" altLang="ja-JP" dirty="0"/>
          </a:p>
          <a:p>
            <a:pPr marL="514350" indent="-514350">
              <a:buFont typeface="+mj-lt"/>
              <a:buAutoNum type="arabicPeriod"/>
            </a:pPr>
            <a:r>
              <a:rPr lang="ja-JP" altLang="en-US" sz="2400" dirty="0"/>
              <a:t>これらの任命結果について文書化（組織図及びマトリクスなど）する。</a:t>
            </a:r>
            <a:endParaRPr lang="en-US" altLang="ja-JP" sz="2400" dirty="0"/>
          </a:p>
          <a:p>
            <a:pPr>
              <a:buFont typeface="Wingdings" panose="05000000000000000000" pitchFamily="2" charset="2"/>
              <a:buChar char="Ø"/>
            </a:pPr>
            <a:r>
              <a:rPr lang="ja-JP" altLang="en-US" sz="2000" u="sng" dirty="0"/>
              <a:t>日本では、担当者の力量は客観的に管理するが、管理者の力量はそうでもない。ＩＡＴＦでは、可能な範囲で、管理者の客観的力量を判断すべきである。（任命権限、或いは人事規程など）</a:t>
            </a:r>
          </a:p>
          <a:p>
            <a:pPr marL="514350" indent="-514350">
              <a:buFont typeface="+mj-lt"/>
              <a:buAutoNum type="arabicPeriod"/>
            </a:pPr>
            <a:endParaRPr lang="en-US" altLang="ja-JP" dirty="0"/>
          </a:p>
        </p:txBody>
      </p:sp>
    </p:spTree>
    <p:extLst>
      <p:ext uri="{BB962C8B-B14F-4D97-AF65-F5344CB8AC3E}">
        <p14:creationId xmlns:p14="http://schemas.microsoft.com/office/powerpoint/2010/main" val="395062860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tint val="75000"/>
                  </a:prstClr>
                </a:solidFill>
                <a:effectLst/>
                <a:uLnTx/>
                <a:uFillTx/>
                <a:latin typeface="游ゴシック" panose="020F0502020204030204"/>
                <a:ea typeface="游ゴシック" panose="020B0400000000000000" pitchFamily="50" charset="-128"/>
                <a:cs typeface="+mn-cs"/>
              </a:rPr>
              <a:t>TKG</a:t>
            </a:r>
            <a:r>
              <a:rPr kumimoji="1" lang="ja-JP" altLang="en-US" sz="1200" b="0" i="0" u="none" strike="noStrike" kern="1200" cap="none" spc="0" normalizeH="0" baseline="0" noProof="0">
                <a:ln>
                  <a:noFill/>
                </a:ln>
                <a:solidFill>
                  <a:prstClr val="black">
                    <a:tint val="75000"/>
                  </a:prstClr>
                </a:solidFill>
                <a:effectLst/>
                <a:uLnTx/>
                <a:uFillTx/>
                <a:latin typeface="游ゴシック" panose="020F0502020204030204"/>
                <a:ea typeface="游ゴシック" panose="020B0400000000000000" pitchFamily="50" charset="-128"/>
                <a:cs typeface="+mn-cs"/>
              </a:rPr>
              <a:t>　</a:t>
            </a:r>
            <a:r>
              <a:rPr kumimoji="1" lang="en-US" altLang="ja-JP" sz="1200" b="0" i="0" u="none" strike="noStrike" kern="1200" cap="none" spc="0" normalizeH="0" baseline="0" noProof="0">
                <a:ln>
                  <a:noFill/>
                </a:ln>
                <a:solidFill>
                  <a:prstClr val="black">
                    <a:tint val="75000"/>
                  </a:prstClr>
                </a:solidFill>
                <a:effectLst/>
                <a:uLnTx/>
                <a:uFillTx/>
                <a:latin typeface="游ゴシック" panose="020F0502020204030204"/>
                <a:ea typeface="游ゴシック" panose="020B0400000000000000" pitchFamily="50" charset="-128"/>
                <a:cs typeface="+mn-cs"/>
              </a:rPr>
              <a:t>IATF16949</a:t>
            </a:r>
            <a:endParaRPr kumimoji="1" lang="ja-JP" altLang="en-US" sz="1200" b="0" i="0" u="none" strike="noStrike" kern="1200" cap="none" spc="0" normalizeH="0" baseline="0" noProof="0">
              <a:ln>
                <a:noFill/>
              </a:ln>
              <a:solidFill>
                <a:prstClr val="black">
                  <a:tint val="75000"/>
                </a:prstClr>
              </a:solidFill>
              <a:effectLst/>
              <a:uLnTx/>
              <a:uFillTx/>
              <a:latin typeface="游ゴシック" panose="020F0502020204030204"/>
              <a:ea typeface="游ゴシック" panose="020B0400000000000000" pitchFamily="50" charset="-128"/>
              <a:cs typeface="+mn-cs"/>
            </a:endParaRPr>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99B491-871B-4465-93C9-200AD56BCEBF}" type="slidenum">
              <a:rPr kumimoji="1" lang="ja-JP" altLang="en-US" sz="1200" b="0" i="0" u="none" strike="noStrike" kern="1200" cap="none" spc="0" normalizeH="0" baseline="0" noProof="0" smtClean="0">
                <a:ln>
                  <a:noFill/>
                </a:ln>
                <a:solidFill>
                  <a:prstClr val="black">
                    <a:tint val="75000"/>
                  </a:prstClr>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1" lang="ja-JP" altLang="en-US" sz="1200" b="0" i="0" u="none" strike="noStrike" kern="1200" cap="none" spc="0" normalizeH="0" baseline="0" noProof="0">
              <a:ln>
                <a:noFill/>
              </a:ln>
              <a:solidFill>
                <a:prstClr val="black">
                  <a:tint val="75000"/>
                </a:prstClr>
              </a:solidFill>
              <a:effectLst/>
              <a:uLnTx/>
              <a:uFillTx/>
              <a:latin typeface="游ゴシック" panose="020F0502020204030204"/>
              <a:ea typeface="游ゴシック" panose="020B0400000000000000" pitchFamily="50" charset="-128"/>
              <a:cs typeface="+mn-cs"/>
            </a:endParaRP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顧客重視の解説（顧客とは）</a:t>
            </a:r>
          </a:p>
        </p:txBody>
      </p:sp>
      <p:grpSp>
        <p:nvGrpSpPr>
          <p:cNvPr id="2" name="グループ化 1">
            <a:extLst>
              <a:ext uri="{FF2B5EF4-FFF2-40B4-BE49-F238E27FC236}">
                <a16:creationId xmlns:a16="http://schemas.microsoft.com/office/drawing/2014/main" id="{697F6623-3DC2-4D80-BC7F-5274AE7B92CD}"/>
              </a:ext>
            </a:extLst>
          </p:cNvPr>
          <p:cNvGrpSpPr/>
          <p:nvPr/>
        </p:nvGrpSpPr>
        <p:grpSpPr>
          <a:xfrm>
            <a:off x="1186629" y="1566332"/>
            <a:ext cx="9613718" cy="3777827"/>
            <a:chOff x="1186629" y="1566332"/>
            <a:chExt cx="9613718" cy="4088597"/>
          </a:xfrm>
        </p:grpSpPr>
        <p:sp>
          <p:nvSpPr>
            <p:cNvPr id="25" name="円/楕円 27">
              <a:extLst>
                <a:ext uri="{FF2B5EF4-FFF2-40B4-BE49-F238E27FC236}">
                  <a16:creationId xmlns:a16="http://schemas.microsoft.com/office/drawing/2014/main" id="{0CAC4FEB-7A43-4C18-AEA8-7B7BD613628F}"/>
                </a:ext>
              </a:extLst>
            </p:cNvPr>
            <p:cNvSpPr/>
            <p:nvPr/>
          </p:nvSpPr>
          <p:spPr>
            <a:xfrm>
              <a:off x="1186630" y="1566332"/>
              <a:ext cx="9613717" cy="4076366"/>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5">
              <a:extLst>
                <a:ext uri="{FF2B5EF4-FFF2-40B4-BE49-F238E27FC236}">
                  <a16:creationId xmlns:a16="http://schemas.microsoft.com/office/drawing/2014/main" id="{9C8510AA-7E8A-4AE7-8965-ACA369622792}"/>
                </a:ext>
              </a:extLst>
            </p:cNvPr>
            <p:cNvSpPr/>
            <p:nvPr/>
          </p:nvSpPr>
          <p:spPr>
            <a:xfrm>
              <a:off x="1186629" y="2025803"/>
              <a:ext cx="7676633" cy="330457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3">
              <a:extLst>
                <a:ext uri="{FF2B5EF4-FFF2-40B4-BE49-F238E27FC236}">
                  <a16:creationId xmlns:a16="http://schemas.microsoft.com/office/drawing/2014/main" id="{0F4FF672-237D-4ADB-8CFE-18CEA0F32273}"/>
                </a:ext>
              </a:extLst>
            </p:cNvPr>
            <p:cNvSpPr/>
            <p:nvPr/>
          </p:nvSpPr>
          <p:spPr>
            <a:xfrm>
              <a:off x="1186630" y="2363141"/>
              <a:ext cx="5669222" cy="2518868"/>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21">
              <a:extLst>
                <a:ext uri="{FF2B5EF4-FFF2-40B4-BE49-F238E27FC236}">
                  <a16:creationId xmlns:a16="http://schemas.microsoft.com/office/drawing/2014/main" id="{18035392-249F-4282-BDF6-64B4B4C48294}"/>
                </a:ext>
              </a:extLst>
            </p:cNvPr>
            <p:cNvSpPr/>
            <p:nvPr/>
          </p:nvSpPr>
          <p:spPr>
            <a:xfrm>
              <a:off x="1186630" y="2536545"/>
              <a:ext cx="4632644" cy="2141963"/>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20">
              <a:extLst>
                <a:ext uri="{FF2B5EF4-FFF2-40B4-BE49-F238E27FC236}">
                  <a16:creationId xmlns:a16="http://schemas.microsoft.com/office/drawing/2014/main" id="{76490798-1DFF-4BFB-B467-503A7DC3A126}"/>
                </a:ext>
              </a:extLst>
            </p:cNvPr>
            <p:cNvSpPr/>
            <p:nvPr/>
          </p:nvSpPr>
          <p:spPr>
            <a:xfrm>
              <a:off x="1186630" y="2816979"/>
              <a:ext cx="3872791" cy="1581095"/>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3">
              <a:extLst>
                <a:ext uri="{FF2B5EF4-FFF2-40B4-BE49-F238E27FC236}">
                  <a16:creationId xmlns:a16="http://schemas.microsoft.com/office/drawing/2014/main" id="{24D06068-8959-4F36-AD26-CC80317F0C10}"/>
                </a:ext>
              </a:extLst>
            </p:cNvPr>
            <p:cNvSpPr/>
            <p:nvPr/>
          </p:nvSpPr>
          <p:spPr>
            <a:xfrm>
              <a:off x="1418319" y="3134652"/>
              <a:ext cx="1660358" cy="998238"/>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2" name="テキスト ボックス 11">
              <a:extLst>
                <a:ext uri="{FF2B5EF4-FFF2-40B4-BE49-F238E27FC236}">
                  <a16:creationId xmlns:a16="http://schemas.microsoft.com/office/drawing/2014/main" id="{90F1BA05-FAD6-4A23-B3FB-7E6E4689A9E0}"/>
                </a:ext>
              </a:extLst>
            </p:cNvPr>
            <p:cNvSpPr txBox="1"/>
            <p:nvPr/>
          </p:nvSpPr>
          <p:spPr>
            <a:xfrm>
              <a:off x="5749085" y="3134652"/>
              <a:ext cx="2306053" cy="850901"/>
            </a:xfrm>
            <a:prstGeom prst="rect">
              <a:avLst/>
            </a:prstGeom>
            <a:noFill/>
          </p:spPr>
          <p:txBody>
            <a:bodyPr wrap="square" rtlCol="0">
              <a:spAutoFit/>
            </a:bodyPr>
            <a:lstStyle/>
            <a:p>
              <a:r>
                <a:rPr lang="en-US" altLang="ja-JP" b="1" dirty="0"/>
                <a:t>OEM</a:t>
              </a:r>
              <a:r>
                <a:rPr lang="ja-JP" altLang="en-US" b="1" dirty="0"/>
                <a:t>組立</a:t>
              </a:r>
              <a:endParaRPr lang="en-US" altLang="ja-JP" b="1" dirty="0"/>
            </a:p>
            <a:p>
              <a:r>
                <a:rPr kumimoji="1" lang="ja-JP" altLang="en-US" b="1" dirty="0"/>
                <a:t>製造センター</a:t>
              </a:r>
            </a:p>
          </p:txBody>
        </p:sp>
        <p:sp>
          <p:nvSpPr>
            <p:cNvPr id="13" name="テキスト ボックス 12">
              <a:extLst>
                <a:ext uri="{FF2B5EF4-FFF2-40B4-BE49-F238E27FC236}">
                  <a16:creationId xmlns:a16="http://schemas.microsoft.com/office/drawing/2014/main" id="{CFDE6037-3FFB-4201-A15F-B5EA5F50F34D}"/>
                </a:ext>
              </a:extLst>
            </p:cNvPr>
            <p:cNvSpPr txBox="1"/>
            <p:nvPr/>
          </p:nvSpPr>
          <p:spPr>
            <a:xfrm>
              <a:off x="1493258" y="3390656"/>
              <a:ext cx="1445577" cy="369332"/>
            </a:xfrm>
            <a:prstGeom prst="rect">
              <a:avLst/>
            </a:prstGeom>
            <a:noFill/>
          </p:spPr>
          <p:txBody>
            <a:bodyPr wrap="square" rtlCol="0">
              <a:spAutoFit/>
            </a:bodyPr>
            <a:lstStyle/>
            <a:p>
              <a:pPr algn="ctr"/>
              <a:r>
                <a:rPr lang="ja-JP" altLang="en-US" b="1" dirty="0"/>
                <a:t>自部門</a:t>
              </a:r>
              <a:endParaRPr kumimoji="1" lang="ja-JP" altLang="en-US" b="1" dirty="0"/>
            </a:p>
          </p:txBody>
        </p:sp>
        <p:sp>
          <p:nvSpPr>
            <p:cNvPr id="14" name="テキスト ボックス 13">
              <a:extLst>
                <a:ext uri="{FF2B5EF4-FFF2-40B4-BE49-F238E27FC236}">
                  <a16:creationId xmlns:a16="http://schemas.microsoft.com/office/drawing/2014/main" id="{79C0FEEE-757D-44AA-9827-A3ED4AD73B27}"/>
                </a:ext>
              </a:extLst>
            </p:cNvPr>
            <p:cNvSpPr txBox="1"/>
            <p:nvPr/>
          </p:nvSpPr>
          <p:spPr>
            <a:xfrm>
              <a:off x="9190890" y="3177918"/>
              <a:ext cx="1445577" cy="486229"/>
            </a:xfrm>
            <a:prstGeom prst="rect">
              <a:avLst/>
            </a:prstGeom>
            <a:noFill/>
          </p:spPr>
          <p:txBody>
            <a:bodyPr wrap="square" rtlCol="0">
              <a:spAutoFit/>
            </a:bodyPr>
            <a:lstStyle/>
            <a:p>
              <a:r>
                <a:rPr lang="ja-JP" altLang="en-US" b="1" dirty="0"/>
                <a:t>社会</a:t>
              </a:r>
              <a:endParaRPr kumimoji="1" lang="ja-JP" altLang="en-US" b="1" dirty="0"/>
            </a:p>
          </p:txBody>
        </p:sp>
        <p:sp>
          <p:nvSpPr>
            <p:cNvPr id="15" name="円/楕円 17">
              <a:extLst>
                <a:ext uri="{FF2B5EF4-FFF2-40B4-BE49-F238E27FC236}">
                  <a16:creationId xmlns:a16="http://schemas.microsoft.com/office/drawing/2014/main" id="{29D1802D-A7DB-4577-A8D2-2A0D8FD23856}"/>
                </a:ext>
              </a:extLst>
            </p:cNvPr>
            <p:cNvSpPr/>
            <p:nvPr/>
          </p:nvSpPr>
          <p:spPr>
            <a:xfrm>
              <a:off x="3086977" y="3141982"/>
              <a:ext cx="1660358" cy="998238"/>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2487CCB2-CFBF-4FBA-9991-9294E8DF63D4}"/>
                </a:ext>
              </a:extLst>
            </p:cNvPr>
            <p:cNvSpPr txBox="1"/>
            <p:nvPr/>
          </p:nvSpPr>
          <p:spPr>
            <a:xfrm>
              <a:off x="3174550" y="3390444"/>
              <a:ext cx="1445577" cy="369332"/>
            </a:xfrm>
            <a:prstGeom prst="rect">
              <a:avLst/>
            </a:prstGeom>
            <a:noFill/>
          </p:spPr>
          <p:txBody>
            <a:bodyPr wrap="square" rtlCol="0">
              <a:spAutoFit/>
            </a:bodyPr>
            <a:lstStyle/>
            <a:p>
              <a:pPr algn="ctr"/>
              <a:r>
                <a:rPr lang="ja-JP" altLang="en-US" b="1" dirty="0"/>
                <a:t>後工程</a:t>
              </a:r>
              <a:endParaRPr kumimoji="1" lang="ja-JP" altLang="en-US" b="1" dirty="0"/>
            </a:p>
          </p:txBody>
        </p:sp>
        <p:sp>
          <p:nvSpPr>
            <p:cNvPr id="17" name="テキスト ボックス 16">
              <a:extLst>
                <a:ext uri="{FF2B5EF4-FFF2-40B4-BE49-F238E27FC236}">
                  <a16:creationId xmlns:a16="http://schemas.microsoft.com/office/drawing/2014/main" id="{9D46710F-B9E9-49D4-8F6F-135283704814}"/>
                </a:ext>
              </a:extLst>
            </p:cNvPr>
            <p:cNvSpPr txBox="1"/>
            <p:nvPr/>
          </p:nvSpPr>
          <p:spPr>
            <a:xfrm>
              <a:off x="2344371" y="2786488"/>
              <a:ext cx="1445577" cy="369332"/>
            </a:xfrm>
            <a:prstGeom prst="rect">
              <a:avLst/>
            </a:prstGeom>
            <a:noFill/>
          </p:spPr>
          <p:txBody>
            <a:bodyPr wrap="square" rtlCol="0">
              <a:spAutoFit/>
            </a:bodyPr>
            <a:lstStyle/>
            <a:p>
              <a:pPr algn="ctr"/>
              <a:r>
                <a:rPr lang="ja-JP" altLang="en-US" b="1" dirty="0">
                  <a:solidFill>
                    <a:schemeClr val="bg1"/>
                  </a:solidFill>
                </a:rPr>
                <a:t>組織</a:t>
              </a:r>
              <a:endParaRPr kumimoji="1" lang="ja-JP" altLang="en-US" b="1" dirty="0">
                <a:solidFill>
                  <a:schemeClr val="bg1"/>
                </a:solidFill>
              </a:endParaRPr>
            </a:p>
          </p:txBody>
        </p:sp>
        <p:sp>
          <p:nvSpPr>
            <p:cNvPr id="20" name="テキスト ボックス 19">
              <a:extLst>
                <a:ext uri="{FF2B5EF4-FFF2-40B4-BE49-F238E27FC236}">
                  <a16:creationId xmlns:a16="http://schemas.microsoft.com/office/drawing/2014/main" id="{E7581B44-2107-448D-B9BD-862A8CD1421E}"/>
                </a:ext>
              </a:extLst>
            </p:cNvPr>
            <p:cNvSpPr txBox="1"/>
            <p:nvPr/>
          </p:nvSpPr>
          <p:spPr>
            <a:xfrm>
              <a:off x="4171772" y="4128785"/>
              <a:ext cx="2127355" cy="646331"/>
            </a:xfrm>
            <a:prstGeom prst="rect">
              <a:avLst/>
            </a:prstGeom>
            <a:noFill/>
          </p:spPr>
          <p:txBody>
            <a:bodyPr wrap="square" rtlCol="0">
              <a:spAutoFit/>
            </a:bodyPr>
            <a:lstStyle/>
            <a:p>
              <a:r>
                <a:rPr kumimoji="1" lang="ja-JP" altLang="en-US" b="1" dirty="0"/>
                <a:t>サプライチェーン</a:t>
              </a:r>
              <a:endParaRPr kumimoji="1" lang="en-US" altLang="ja-JP" b="1" dirty="0"/>
            </a:p>
            <a:p>
              <a:r>
                <a:rPr lang="ja-JP" altLang="en-US" b="1" dirty="0"/>
                <a:t>製造部門</a:t>
              </a:r>
              <a:endParaRPr kumimoji="1" lang="ja-JP" altLang="en-US" b="1" dirty="0"/>
            </a:p>
          </p:txBody>
        </p:sp>
        <p:sp>
          <p:nvSpPr>
            <p:cNvPr id="22" name="テキスト ボックス 21">
              <a:extLst>
                <a:ext uri="{FF2B5EF4-FFF2-40B4-BE49-F238E27FC236}">
                  <a16:creationId xmlns:a16="http://schemas.microsoft.com/office/drawing/2014/main" id="{7C482306-19F3-48F2-9657-F9D3B8F02781}"/>
                </a:ext>
              </a:extLst>
            </p:cNvPr>
            <p:cNvSpPr txBox="1"/>
            <p:nvPr/>
          </p:nvSpPr>
          <p:spPr>
            <a:xfrm>
              <a:off x="5068483" y="2575834"/>
              <a:ext cx="2306053" cy="486229"/>
            </a:xfrm>
            <a:prstGeom prst="rect">
              <a:avLst/>
            </a:prstGeom>
            <a:noFill/>
          </p:spPr>
          <p:txBody>
            <a:bodyPr wrap="square" rtlCol="0">
              <a:spAutoFit/>
            </a:bodyPr>
            <a:lstStyle/>
            <a:p>
              <a:r>
                <a:rPr kumimoji="1" lang="ja-JP" altLang="en-US" b="1" dirty="0"/>
                <a:t>購入決定者</a:t>
              </a:r>
            </a:p>
          </p:txBody>
        </p:sp>
        <p:sp>
          <p:nvSpPr>
            <p:cNvPr id="24" name="テキスト ボックス 23">
              <a:extLst>
                <a:ext uri="{FF2B5EF4-FFF2-40B4-BE49-F238E27FC236}">
                  <a16:creationId xmlns:a16="http://schemas.microsoft.com/office/drawing/2014/main" id="{E233E3B4-D93B-4BF8-8224-31350FE8409E}"/>
                </a:ext>
              </a:extLst>
            </p:cNvPr>
            <p:cNvSpPr txBox="1"/>
            <p:nvPr/>
          </p:nvSpPr>
          <p:spPr>
            <a:xfrm>
              <a:off x="6626755" y="4048429"/>
              <a:ext cx="2353256" cy="850901"/>
            </a:xfrm>
            <a:prstGeom prst="rect">
              <a:avLst/>
            </a:prstGeom>
            <a:noFill/>
          </p:spPr>
          <p:txBody>
            <a:bodyPr wrap="square" rtlCol="0">
              <a:spAutoFit/>
            </a:bodyPr>
            <a:lstStyle/>
            <a:p>
              <a:r>
                <a:rPr kumimoji="1" lang="ja-JP" altLang="en-US" b="1" dirty="0"/>
                <a:t>最終使用者</a:t>
              </a:r>
              <a:endParaRPr kumimoji="1" lang="en-US" altLang="ja-JP" b="1" dirty="0"/>
            </a:p>
            <a:p>
              <a:r>
                <a:rPr kumimoji="1" lang="ja-JP" altLang="en-US" b="1" dirty="0"/>
                <a:t>エンドユーザー</a:t>
              </a:r>
            </a:p>
          </p:txBody>
        </p:sp>
        <p:sp>
          <p:nvSpPr>
            <p:cNvPr id="26" name="テキスト ボックス 25">
              <a:extLst>
                <a:ext uri="{FF2B5EF4-FFF2-40B4-BE49-F238E27FC236}">
                  <a16:creationId xmlns:a16="http://schemas.microsoft.com/office/drawing/2014/main" id="{E8D13907-6C36-40FB-A36A-A17F66131B5D}"/>
                </a:ext>
              </a:extLst>
            </p:cNvPr>
            <p:cNvSpPr txBox="1"/>
            <p:nvPr/>
          </p:nvSpPr>
          <p:spPr>
            <a:xfrm>
              <a:off x="5059422" y="5168700"/>
              <a:ext cx="2306053" cy="486229"/>
            </a:xfrm>
            <a:prstGeom prst="rect">
              <a:avLst/>
            </a:prstGeom>
            <a:noFill/>
          </p:spPr>
          <p:txBody>
            <a:bodyPr wrap="square" rtlCol="0">
              <a:spAutoFit/>
            </a:bodyPr>
            <a:lstStyle/>
            <a:p>
              <a:r>
                <a:rPr lang="ja-JP" altLang="en-US" b="1" dirty="0"/>
                <a:t>規制当局</a:t>
              </a:r>
              <a:endParaRPr kumimoji="1" lang="ja-JP" altLang="en-US" b="1" dirty="0"/>
            </a:p>
          </p:txBody>
        </p:sp>
      </p:grpSp>
      <p:sp>
        <p:nvSpPr>
          <p:cNvPr id="3" name="正方形/長方形 2">
            <a:extLst>
              <a:ext uri="{FF2B5EF4-FFF2-40B4-BE49-F238E27FC236}">
                <a16:creationId xmlns:a16="http://schemas.microsoft.com/office/drawing/2014/main" id="{50988177-5A98-4B0E-AFD9-6CD9752E6700}"/>
              </a:ext>
            </a:extLst>
          </p:cNvPr>
          <p:cNvSpPr/>
          <p:nvPr/>
        </p:nvSpPr>
        <p:spPr>
          <a:xfrm>
            <a:off x="838200" y="5505189"/>
            <a:ext cx="10515600" cy="815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例えば、“顧客要求事項とは”　“顧客満足とは”　“</a:t>
            </a:r>
            <a:r>
              <a:rPr kumimoji="1" lang="en-US" altLang="ja-JP" sz="2000" dirty="0">
                <a:solidFill>
                  <a:schemeClr val="tx1"/>
                </a:solidFill>
              </a:rPr>
              <a:t>FMEA</a:t>
            </a:r>
            <a:r>
              <a:rPr kumimoji="1" lang="ja-JP" altLang="en-US" sz="2000" dirty="0">
                <a:solidFill>
                  <a:schemeClr val="tx1"/>
                </a:solidFill>
              </a:rPr>
              <a:t>時の顧客影響とは”　・・・</a:t>
            </a:r>
          </a:p>
        </p:txBody>
      </p:sp>
    </p:spTree>
    <p:extLst>
      <p:ext uri="{BB962C8B-B14F-4D97-AF65-F5344CB8AC3E}">
        <p14:creationId xmlns:p14="http://schemas.microsoft.com/office/powerpoint/2010/main" val="305695091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00508"/>
            <a:ext cx="10515600" cy="2028421"/>
          </a:xfrm>
          <a:ln w="12700">
            <a:solidFill>
              <a:schemeClr val="tx2"/>
            </a:solidFill>
          </a:ln>
        </p:spPr>
        <p:txBody>
          <a:bodyPr>
            <a:noAutofit/>
          </a:bodyPr>
          <a:lstStyle/>
          <a:p>
            <a:pPr marL="0" indent="0">
              <a:lnSpc>
                <a:spcPct val="100000"/>
              </a:lnSpc>
              <a:buNone/>
            </a:pPr>
            <a:r>
              <a:rPr lang="ja-JP" altLang="en-US" sz="1900" dirty="0"/>
              <a:t>☑トップマネジメントは、顧客要求事項が満たされていることを確実にするために、</a:t>
            </a:r>
            <a:r>
              <a:rPr lang="ja-JP" altLang="en-US" sz="1900" u="sng" dirty="0"/>
              <a:t>責任及び権限をもつ要員を任命しなければならない。</a:t>
            </a:r>
            <a:endParaRPr lang="en-US" altLang="ja-JP" sz="1900" u="sng" dirty="0"/>
          </a:p>
          <a:p>
            <a:pPr marL="0" indent="0">
              <a:lnSpc>
                <a:spcPct val="100000"/>
              </a:lnSpc>
              <a:buNone/>
            </a:pPr>
            <a:r>
              <a:rPr lang="ja-JP" altLang="en-US" sz="1900" dirty="0"/>
              <a:t>☑これらの任命は、</a:t>
            </a:r>
            <a:r>
              <a:rPr lang="ja-JP" altLang="en-US" sz="1900" b="1" dirty="0"/>
              <a:t>文書化</a:t>
            </a:r>
            <a:r>
              <a:rPr lang="ja-JP" altLang="en-US" sz="1900" dirty="0"/>
              <a:t>しなければならない。</a:t>
            </a:r>
            <a:endParaRPr lang="en-US" altLang="ja-JP" sz="1900" dirty="0"/>
          </a:p>
          <a:p>
            <a:pPr marL="0" indent="0">
              <a:lnSpc>
                <a:spcPct val="100000"/>
              </a:lnSpc>
              <a:buNone/>
            </a:pPr>
            <a:r>
              <a:rPr lang="ja-JP" altLang="en-US" sz="1900" dirty="0"/>
              <a:t>　これには、</a:t>
            </a:r>
            <a:r>
              <a:rPr lang="ja-JP" altLang="en-US" sz="1900" u="sng" dirty="0"/>
              <a:t>特殊特性の選定、品質目標の設定及び関連する教育訓練、是正処置及び予防処置、製品の設計・開発、生産能力分析、物流情報、顧客スコアカード及び顧客ポータルを含める</a:t>
            </a:r>
            <a:r>
              <a:rPr lang="ja-JP" altLang="en-US" sz="1900" dirty="0"/>
              <a:t>が、それに限定されない。</a:t>
            </a:r>
            <a:endParaRPr lang="en-US" altLang="ja-JP" sz="19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5.3.1</a:t>
            </a:r>
            <a:r>
              <a:rPr lang="ja-JP" altLang="en-US" sz="3000" b="1" dirty="0">
                <a:solidFill>
                  <a:schemeClr val="tx2"/>
                </a:solidFill>
              </a:rPr>
              <a:t>　組織の役割、責任及び権限－補足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3529071"/>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5.3.1</a:t>
            </a:r>
            <a:r>
              <a:rPr lang="ja-JP" altLang="en-US" sz="3000" b="1" dirty="0">
                <a:solidFill>
                  <a:schemeClr val="bg1"/>
                </a:solidFill>
              </a:rPr>
              <a:t>　組織の役割、責任及び権限－補足</a:t>
            </a:r>
          </a:p>
        </p:txBody>
      </p:sp>
      <p:sp>
        <p:nvSpPr>
          <p:cNvPr id="8" name="コンテンツ プレースホルダー 2">
            <a:extLst>
              <a:ext uri="{FF2B5EF4-FFF2-40B4-BE49-F238E27FC236}">
                <a16:creationId xmlns:a16="http://schemas.microsoft.com/office/drawing/2014/main" id="{EEB3763D-86DC-492E-832D-788DCD7FF545}"/>
              </a:ext>
            </a:extLst>
          </p:cNvPr>
          <p:cNvSpPr txBox="1">
            <a:spLocks/>
          </p:cNvSpPr>
          <p:nvPr/>
        </p:nvSpPr>
        <p:spPr>
          <a:xfrm>
            <a:off x="838200" y="4383145"/>
            <a:ext cx="10515600" cy="2109729"/>
          </a:xfrm>
          <a:prstGeom prst="rect">
            <a:avLst/>
          </a:prstGeom>
          <a:ln w="12700">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400" dirty="0"/>
              <a:t>確実な顧客満足のためにより踏み込んだ責任権限を要求。ただし、本来、当然明確にすべきこと。</a:t>
            </a:r>
            <a:endParaRPr lang="en-US" altLang="ja-JP" sz="2400" dirty="0"/>
          </a:p>
          <a:p>
            <a:pPr marL="514350" indent="-514350">
              <a:buFont typeface="+mj-lt"/>
              <a:buAutoNum type="arabicPeriod"/>
            </a:pPr>
            <a:r>
              <a:rPr lang="ja-JP" altLang="en-US" sz="2400" dirty="0"/>
              <a:t>責任と権限。</a:t>
            </a:r>
            <a:endParaRPr lang="en-US" altLang="ja-JP" sz="2400" dirty="0"/>
          </a:p>
          <a:p>
            <a:pPr lvl="1">
              <a:buFont typeface="Wingdings" panose="05000000000000000000" pitchFamily="2" charset="2"/>
              <a:buChar char="Ø"/>
            </a:pPr>
            <a:r>
              <a:rPr lang="ja-JP" altLang="en-US" sz="2000" dirty="0"/>
              <a:t>責任：履行しなければならない、</a:t>
            </a:r>
            <a:r>
              <a:rPr lang="ja-JP" altLang="en-US" sz="2000" dirty="0">
                <a:solidFill>
                  <a:srgbClr val="FF0000"/>
                </a:solidFill>
                <a:effectLst>
                  <a:outerShdw blurRad="38100" dist="38100" dir="2700000" algn="tl">
                    <a:srgbClr val="000000">
                      <a:alpha val="43137"/>
                    </a:srgbClr>
                  </a:outerShdw>
                </a:effectLst>
              </a:rPr>
              <a:t>課せられた任務又は義務。</a:t>
            </a:r>
            <a:endParaRPr lang="en-US" altLang="ja-JP" sz="2000" dirty="0">
              <a:solidFill>
                <a:srgbClr val="FF0000"/>
              </a:solidFill>
              <a:effectLst>
                <a:outerShdw blurRad="38100" dist="38100" dir="2700000" algn="tl">
                  <a:srgbClr val="000000">
                    <a:alpha val="43137"/>
                  </a:srgbClr>
                </a:outerShdw>
              </a:effectLst>
            </a:endParaRPr>
          </a:p>
          <a:p>
            <a:pPr lvl="1">
              <a:buFont typeface="Wingdings" panose="05000000000000000000" pitchFamily="2" charset="2"/>
              <a:buChar char="Ø"/>
            </a:pPr>
            <a:r>
              <a:rPr lang="ja-JP" altLang="en-US" sz="2000" dirty="0"/>
              <a:t>権限：責任を遂行するために会社から</a:t>
            </a:r>
            <a:r>
              <a:rPr lang="ja-JP" altLang="en-US" sz="2000" dirty="0">
                <a:solidFill>
                  <a:srgbClr val="FF0000"/>
                </a:solidFill>
                <a:effectLst>
                  <a:outerShdw blurRad="38100" dist="38100" dir="2700000" algn="tl">
                    <a:srgbClr val="000000">
                      <a:alpha val="43137"/>
                    </a:srgbClr>
                  </a:outerShdw>
                </a:effectLst>
              </a:rPr>
              <a:t>与えられた指揮権及び決定権。</a:t>
            </a:r>
            <a:endParaRPr lang="en-US" altLang="ja-JP" sz="2000" dirty="0">
              <a:solidFill>
                <a:srgbClr val="FF0000"/>
              </a:solidFill>
              <a:effectLst>
                <a:outerShdw blurRad="38100" dist="38100" dir="2700000" algn="tl">
                  <a:srgbClr val="000000">
                    <a:alpha val="43137"/>
                  </a:srgbClr>
                </a:outerShdw>
              </a:effectLst>
            </a:endParaRPr>
          </a:p>
          <a:p>
            <a:pPr lvl="1">
              <a:buFont typeface="Wingdings" panose="05000000000000000000" pitchFamily="2" charset="2"/>
              <a:buChar char="Ø"/>
            </a:pPr>
            <a:r>
              <a:rPr lang="ja-JP" altLang="en-US" sz="2000" dirty="0">
                <a:solidFill>
                  <a:srgbClr val="FF0000"/>
                </a:solidFill>
                <a:effectLst>
                  <a:outerShdw blurRad="38100" dist="38100" dir="2700000" algn="tl">
                    <a:srgbClr val="000000">
                      <a:alpha val="43137"/>
                    </a:srgbClr>
                  </a:outerShdw>
                </a:effectLst>
              </a:rPr>
              <a:t>権限は委譲できるが、責任は免れられない。</a:t>
            </a:r>
            <a:endParaRPr lang="en-US" altLang="ja-JP" sz="20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297243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☑トップマネジメントは、次の事項を確実にしなければならない。</a:t>
            </a:r>
            <a:endParaRPr lang="en-US" altLang="ja-JP" sz="2000" dirty="0"/>
          </a:p>
          <a:p>
            <a:pPr marL="800100" lvl="1" indent="-342900">
              <a:lnSpc>
                <a:spcPct val="100000"/>
              </a:lnSpc>
              <a:buFont typeface="+mj-lt"/>
              <a:buAutoNum type="alphaLcPeriod"/>
            </a:pPr>
            <a:r>
              <a:rPr lang="ja-JP" altLang="en-US" sz="2000" dirty="0"/>
              <a:t>製品要求事項への適合に責任を負う要員は、品質問題を是正するために、</a:t>
            </a:r>
            <a:r>
              <a:rPr lang="ja-JP" altLang="en-US" sz="2000" u="sng" dirty="0"/>
              <a:t>出荷を停止し、生産を停止する権限を持つ。</a:t>
            </a:r>
            <a:endParaRPr lang="en-US" altLang="ja-JP" sz="2000" u="sng" dirty="0"/>
          </a:p>
          <a:p>
            <a:pPr marL="914400" lvl="2" indent="0">
              <a:lnSpc>
                <a:spcPct val="100000"/>
              </a:lnSpc>
              <a:buNone/>
            </a:pPr>
            <a:r>
              <a:rPr lang="ja-JP" altLang="en-US" dirty="0"/>
              <a:t>注記　産業によっては工程設計のゆえに、必ずしも直ちに生産を停止できない場合がある。この場合、影響のあるバッチは封じ込めて、顧客への出荷を防止しなければならない。</a:t>
            </a:r>
            <a:endParaRPr lang="en-US" altLang="ja-JP" dirty="0"/>
          </a:p>
          <a:p>
            <a:pPr marL="914400" lvl="1" indent="-457200">
              <a:lnSpc>
                <a:spcPct val="100000"/>
              </a:lnSpc>
              <a:buFont typeface="+mj-lt"/>
              <a:buAutoNum type="alphaLcPeriod"/>
            </a:pPr>
            <a:r>
              <a:rPr lang="ja-JP" altLang="en-US" sz="2000" dirty="0"/>
              <a:t>不適合製品が顧客に出荷されないように、また、全ての潜在的不適合製品を識別し封じ込めるために、</a:t>
            </a:r>
            <a:r>
              <a:rPr lang="ja-JP" altLang="en-US" sz="2000" u="sng" dirty="0"/>
              <a:t>是正処置に対する権限及び責任をもつ要員に、要求事項に適合しない製品又はプロセスの情報が速やかに報告される。</a:t>
            </a:r>
            <a:endParaRPr lang="en-US" altLang="ja-JP" sz="2000" u="sng" dirty="0"/>
          </a:p>
          <a:p>
            <a:pPr marL="914400" lvl="1" indent="-457200">
              <a:lnSpc>
                <a:spcPct val="100000"/>
              </a:lnSpc>
              <a:buFont typeface="+mj-lt"/>
              <a:buAutoNum type="alphaLcPeriod"/>
            </a:pPr>
            <a:r>
              <a:rPr lang="ja-JP" altLang="en-US" sz="2000" u="sng" dirty="0"/>
              <a:t>全てのシフトにわたる生産活動に</a:t>
            </a:r>
            <a:r>
              <a:rPr lang="ja-JP" altLang="en-US" sz="2000" dirty="0"/>
              <a:t>、製品要求事項への適合を確実にする責任を負う、又はその責任を委任された</a:t>
            </a:r>
            <a:r>
              <a:rPr lang="ja-JP" altLang="en-US" sz="2000" u="sng" dirty="0"/>
              <a:t>要員を配置する。</a:t>
            </a:r>
          </a:p>
          <a:p>
            <a:pPr marL="800100" lvl="1" indent="-342900">
              <a:buFont typeface="+mj-lt"/>
              <a:buAutoNum type="alphaLcPeriod" startAt="9"/>
            </a:pP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5.3.2</a:t>
            </a:r>
            <a:r>
              <a:rPr lang="ja-JP" altLang="en-US" sz="3000" b="1" dirty="0">
                <a:solidFill>
                  <a:schemeClr val="tx2"/>
                </a:solidFill>
              </a:rPr>
              <a:t>　製品要求事項及び是正処置に対する責任及び権限</a:t>
            </a:r>
            <a:endParaRPr kumimoji="1" lang="ja-JP" altLang="en-US" sz="3000" b="1" dirty="0">
              <a:solidFill>
                <a:schemeClr val="tx2"/>
              </a:solidFill>
            </a:endParaRPr>
          </a:p>
        </p:txBody>
      </p:sp>
    </p:spTree>
    <p:extLst>
      <p:ext uri="{BB962C8B-B14F-4D97-AF65-F5344CB8AC3E}">
        <p14:creationId xmlns:p14="http://schemas.microsoft.com/office/powerpoint/2010/main" val="17393262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109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771525"/>
          </a:xfrm>
          <a:ln w="12700">
            <a:noFill/>
          </a:ln>
        </p:spPr>
        <p:txBody>
          <a:bodyPr>
            <a:normAutofit/>
          </a:bodyPr>
          <a:lstStyle/>
          <a:p>
            <a:pPr marL="457200" indent="-457200">
              <a:buFont typeface="+mj-lt"/>
              <a:buAutoNum type="arabicPeriod"/>
            </a:pPr>
            <a:r>
              <a:rPr lang="en-US" altLang="ja-JP" sz="2400" dirty="0"/>
              <a:t>5.3.1</a:t>
            </a:r>
            <a:r>
              <a:rPr lang="ja-JP" altLang="en-US" sz="2400" dirty="0"/>
              <a:t>（</a:t>
            </a:r>
            <a:r>
              <a:rPr lang="en-US" altLang="ja-JP" sz="2400" dirty="0"/>
              <a:t>QMS</a:t>
            </a:r>
            <a:r>
              <a:rPr lang="ja-JP" altLang="en-US" sz="2400" dirty="0"/>
              <a:t>に関する責任権限）から更に踏込み、製品要求事項に関する詳細な責任権限を要求。（出荷・生産停止／不適合情報／シフト）</a:t>
            </a:r>
            <a:endParaRPr lang="en-US" altLang="ja-JP"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5.3.2</a:t>
            </a:r>
            <a:r>
              <a:rPr lang="ja-JP" altLang="en-US" sz="3000" b="1" dirty="0">
                <a:solidFill>
                  <a:schemeClr val="bg1"/>
                </a:solidFill>
              </a:rPr>
              <a:t>　製品要求事項及び是正処置に対する責任及び権限</a:t>
            </a:r>
            <a:endParaRPr kumimoji="1" lang="ja-JP" altLang="en-US" sz="3000" b="1" dirty="0">
              <a:solidFill>
                <a:schemeClr val="bg1"/>
              </a:solidFill>
            </a:endParaRPr>
          </a:p>
        </p:txBody>
      </p:sp>
      <p:sp>
        <p:nvSpPr>
          <p:cNvPr id="6" name="コンテンツ プレースホルダー 2">
            <a:extLst>
              <a:ext uri="{FF2B5EF4-FFF2-40B4-BE49-F238E27FC236}">
                <a16:creationId xmlns:a16="http://schemas.microsoft.com/office/drawing/2014/main" id="{1EB16CCE-2A79-490A-BB03-B949C7680A2D}"/>
              </a:ext>
            </a:extLst>
          </p:cNvPr>
          <p:cNvSpPr txBox="1">
            <a:spLocks/>
          </p:cNvSpPr>
          <p:nvPr/>
        </p:nvSpPr>
        <p:spPr>
          <a:xfrm>
            <a:off x="838200" y="2295526"/>
            <a:ext cx="7915275" cy="4060824"/>
          </a:xfrm>
          <a:prstGeom prst="rect">
            <a:avLst/>
          </a:prstGeom>
          <a:ln w="12700">
            <a:no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buFont typeface="+mj-lt"/>
              <a:buAutoNum type="arabicPeriod" startAt="2"/>
            </a:pPr>
            <a:r>
              <a:rPr lang="en-US" altLang="ja-JP" sz="2200" dirty="0"/>
              <a:t>a)</a:t>
            </a:r>
            <a:r>
              <a:rPr lang="ja-JP" altLang="en-US" sz="2200" dirty="0"/>
              <a:t>について。</a:t>
            </a:r>
            <a:endParaRPr lang="en-US" altLang="ja-JP" sz="2200" dirty="0"/>
          </a:p>
          <a:p>
            <a:pPr lvl="1">
              <a:buFont typeface="Wingdings" panose="05000000000000000000" pitchFamily="2" charset="2"/>
              <a:buChar char="Ø"/>
            </a:pPr>
            <a:r>
              <a:rPr lang="ja-JP" altLang="en-US" sz="2200" dirty="0"/>
              <a:t>出荷停止だけでなく</a:t>
            </a:r>
            <a:r>
              <a:rPr lang="ja-JP" altLang="en-US" sz="2200" dirty="0">
                <a:solidFill>
                  <a:srgbClr val="FF0000"/>
                </a:solidFill>
                <a:effectLst>
                  <a:outerShdw blurRad="38100" dist="38100" dir="2700000" algn="tl">
                    <a:srgbClr val="000000">
                      <a:alpha val="43137"/>
                    </a:srgbClr>
                  </a:outerShdw>
                </a:effectLst>
              </a:rPr>
              <a:t>「生産停止」</a:t>
            </a:r>
            <a:r>
              <a:rPr lang="ja-JP" altLang="en-US" sz="2200" dirty="0"/>
              <a:t>も。</a:t>
            </a:r>
            <a:endParaRPr lang="en-US" altLang="ja-JP" sz="2200" dirty="0"/>
          </a:p>
          <a:p>
            <a:pPr lvl="1">
              <a:buFont typeface="Wingdings" panose="05000000000000000000" pitchFamily="2" charset="2"/>
              <a:buChar char="Ø"/>
            </a:pPr>
            <a:r>
              <a:rPr lang="ja-JP" altLang="en-US" sz="2200" dirty="0"/>
              <a:t>出荷停止に対し、</a:t>
            </a:r>
            <a:r>
              <a:rPr lang="ja-JP" altLang="en-US" sz="2200" dirty="0">
                <a:solidFill>
                  <a:srgbClr val="FF0000"/>
                </a:solidFill>
                <a:effectLst>
                  <a:outerShdw blurRad="38100" dist="38100" dir="2700000" algn="tl">
                    <a:srgbClr val="000000">
                      <a:alpha val="43137"/>
                    </a:srgbClr>
                  </a:outerShdw>
                </a:effectLst>
              </a:rPr>
              <a:t>生産停止は、顧客生産計画への影響などデリケートな側面を持つため</a:t>
            </a:r>
            <a:r>
              <a:rPr lang="ja-JP" altLang="en-US" sz="2200" dirty="0"/>
              <a:t>重要。</a:t>
            </a:r>
            <a:endParaRPr lang="en-US" altLang="ja-JP" sz="2200" dirty="0"/>
          </a:p>
          <a:p>
            <a:pPr lvl="1">
              <a:buFont typeface="Wingdings" panose="05000000000000000000" pitchFamily="2" charset="2"/>
              <a:buChar char="Ø"/>
            </a:pPr>
            <a:r>
              <a:rPr lang="ja-JP" altLang="en-US" sz="2200" dirty="0"/>
              <a:t>「溶解炉」などのバッチ生産の際の封じ込めに対する責任権限。</a:t>
            </a:r>
            <a:endParaRPr lang="en-US" altLang="ja-JP" sz="2200" dirty="0"/>
          </a:p>
          <a:p>
            <a:pPr marL="514350" indent="-514350">
              <a:buFont typeface="+mj-lt"/>
              <a:buAutoNum type="arabicPeriod" startAt="2"/>
            </a:pPr>
            <a:r>
              <a:rPr lang="en-US" altLang="ja-JP" sz="2200" dirty="0"/>
              <a:t>b)</a:t>
            </a:r>
            <a:r>
              <a:rPr lang="ja-JP" altLang="en-US" sz="2200" dirty="0"/>
              <a:t>について。</a:t>
            </a:r>
            <a:endParaRPr lang="en-US" altLang="ja-JP" sz="2200" dirty="0"/>
          </a:p>
          <a:p>
            <a:pPr lvl="1">
              <a:buFont typeface="Wingdings" panose="05000000000000000000" pitchFamily="2" charset="2"/>
              <a:buChar char="Ø"/>
            </a:pPr>
            <a:r>
              <a:rPr lang="en-US" altLang="ja-JP" sz="2200" dirty="0"/>
              <a:t>a)</a:t>
            </a:r>
            <a:r>
              <a:rPr lang="ja-JP" altLang="en-US" sz="2200" dirty="0"/>
              <a:t>の判断に欠かせない“不適合情報”の速やかな報告と共有。</a:t>
            </a:r>
            <a:endParaRPr lang="en-US" altLang="ja-JP" sz="2200" dirty="0"/>
          </a:p>
          <a:p>
            <a:pPr marL="514350" indent="-514350">
              <a:buFont typeface="+mj-lt"/>
              <a:buAutoNum type="arabicPeriod" startAt="2"/>
            </a:pPr>
            <a:r>
              <a:rPr lang="en-US" altLang="ja-JP" sz="2200" dirty="0"/>
              <a:t>c)</a:t>
            </a:r>
            <a:r>
              <a:rPr lang="ja-JP" altLang="en-US" sz="2200" dirty="0"/>
              <a:t>について。</a:t>
            </a:r>
            <a:endParaRPr lang="en-US" altLang="ja-JP" sz="2200" dirty="0"/>
          </a:p>
          <a:p>
            <a:pPr lvl="1">
              <a:buFont typeface="Wingdings" panose="05000000000000000000" pitchFamily="2" charset="2"/>
              <a:buChar char="Ø"/>
            </a:pPr>
            <a:r>
              <a:rPr lang="en-US" altLang="ja-JP" sz="2200" dirty="0"/>
              <a:t>a)</a:t>
            </a:r>
            <a:r>
              <a:rPr lang="ja-JP" altLang="en-US" sz="2200" dirty="0"/>
              <a:t>及び</a:t>
            </a:r>
            <a:r>
              <a:rPr lang="en-US" altLang="ja-JP" sz="2200" dirty="0"/>
              <a:t>b)</a:t>
            </a:r>
            <a:r>
              <a:rPr lang="ja-JP" altLang="en-US" sz="2200" dirty="0"/>
              <a:t>はシフトを問わない。</a:t>
            </a:r>
            <a:r>
              <a:rPr lang="ja-JP" altLang="en-US" sz="2200" dirty="0">
                <a:solidFill>
                  <a:srgbClr val="FF0000"/>
                </a:solidFill>
                <a:effectLst>
                  <a:outerShdw blurRad="38100" dist="38100" dir="2700000" algn="tl">
                    <a:srgbClr val="000000">
                      <a:alpha val="43137"/>
                    </a:srgbClr>
                  </a:outerShdw>
                </a:effectLst>
              </a:rPr>
              <a:t>日勤と夜勤とで情報及び判断の速度に差があるようでは</a:t>
            </a:r>
            <a:r>
              <a:rPr lang="en-US" altLang="ja-JP" sz="2200" dirty="0">
                <a:solidFill>
                  <a:srgbClr val="FF0000"/>
                </a:solidFill>
                <a:effectLst>
                  <a:outerShdw blurRad="38100" dist="38100" dir="2700000" algn="tl">
                    <a:srgbClr val="000000">
                      <a:alpha val="43137"/>
                    </a:srgbClr>
                  </a:outerShdw>
                </a:effectLst>
              </a:rPr>
              <a:t>NG</a:t>
            </a:r>
            <a:r>
              <a:rPr lang="ja-JP" altLang="en-US" sz="2200" dirty="0">
                <a:solidFill>
                  <a:srgbClr val="FF0000"/>
                </a:solidFill>
                <a:effectLst>
                  <a:outerShdw blurRad="38100" dist="38100" dir="2700000" algn="tl">
                    <a:srgbClr val="000000">
                      <a:alpha val="43137"/>
                    </a:srgbClr>
                  </a:outerShdw>
                </a:effectLst>
              </a:rPr>
              <a:t>。</a:t>
            </a:r>
            <a:r>
              <a:rPr lang="ja-JP" altLang="en-US" sz="2200" dirty="0"/>
              <a:t>➠　班長、リーダーなどがその力量を持つべき。</a:t>
            </a:r>
            <a:endParaRPr lang="en-US" altLang="ja-JP" sz="22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2" name="矢印: 右 1">
            <a:extLst>
              <a:ext uri="{FF2B5EF4-FFF2-40B4-BE49-F238E27FC236}">
                <a16:creationId xmlns:a16="http://schemas.microsoft.com/office/drawing/2014/main" id="{43889D65-CCEA-421E-B691-ED36B79A91F2}"/>
              </a:ext>
            </a:extLst>
          </p:cNvPr>
          <p:cNvSpPr/>
          <p:nvPr/>
        </p:nvSpPr>
        <p:spPr>
          <a:xfrm>
            <a:off x="8886825" y="3043237"/>
            <a:ext cx="247650" cy="771525"/>
          </a:xfrm>
          <a:prstGeom prst="rightArrow">
            <a:avLst>
              <a:gd name="adj1" fmla="val 69753"/>
              <a:gd name="adj2" fmla="val 50000"/>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D5945B7F-1B53-43FF-9B4C-510A3012253E}"/>
              </a:ext>
            </a:extLst>
          </p:cNvPr>
          <p:cNvSpPr/>
          <p:nvPr/>
        </p:nvSpPr>
        <p:spPr>
          <a:xfrm>
            <a:off x="8886825" y="4306889"/>
            <a:ext cx="247650" cy="771525"/>
          </a:xfrm>
          <a:prstGeom prst="rightArrow">
            <a:avLst>
              <a:gd name="adj1" fmla="val 69753"/>
              <a:gd name="adj2" fmla="val 50000"/>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 9">
            <a:extLst>
              <a:ext uri="{FF2B5EF4-FFF2-40B4-BE49-F238E27FC236}">
                <a16:creationId xmlns:a16="http://schemas.microsoft.com/office/drawing/2014/main" id="{6520B09E-1603-47FA-8E98-5BBD5FFF0D2B}"/>
              </a:ext>
            </a:extLst>
          </p:cNvPr>
          <p:cNvSpPr/>
          <p:nvPr/>
        </p:nvSpPr>
        <p:spPr>
          <a:xfrm>
            <a:off x="8886825" y="5184778"/>
            <a:ext cx="247650" cy="771525"/>
          </a:xfrm>
          <a:prstGeom prst="rightArrow">
            <a:avLst>
              <a:gd name="adj1" fmla="val 69753"/>
              <a:gd name="adj2" fmla="val 50000"/>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35C56300-6D72-4E86-8051-DF58DBDC7019}"/>
              </a:ext>
            </a:extLst>
          </p:cNvPr>
          <p:cNvSpPr/>
          <p:nvPr/>
        </p:nvSpPr>
        <p:spPr>
          <a:xfrm>
            <a:off x="9267825" y="3086099"/>
            <a:ext cx="2085975" cy="68580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サイト品質責任者</a:t>
            </a:r>
            <a:endParaRPr kumimoji="1" lang="en-US" altLang="ja-JP" dirty="0">
              <a:solidFill>
                <a:schemeClr val="tx1"/>
              </a:solidFill>
            </a:endParaRPr>
          </a:p>
          <a:p>
            <a:pPr algn="ctr"/>
            <a:r>
              <a:rPr lang="ja-JP" altLang="en-US" dirty="0">
                <a:solidFill>
                  <a:schemeClr val="tx1"/>
                </a:solidFill>
              </a:rPr>
              <a:t>サイト製造責任者</a:t>
            </a:r>
            <a:endParaRPr kumimoji="1" lang="ja-JP" altLang="en-US" dirty="0">
              <a:solidFill>
                <a:schemeClr val="tx1"/>
              </a:solidFill>
            </a:endParaRPr>
          </a:p>
        </p:txBody>
      </p:sp>
      <p:sp>
        <p:nvSpPr>
          <p:cNvPr id="11" name="正方形/長方形 10">
            <a:extLst>
              <a:ext uri="{FF2B5EF4-FFF2-40B4-BE49-F238E27FC236}">
                <a16:creationId xmlns:a16="http://schemas.microsoft.com/office/drawing/2014/main" id="{1D4E2CB7-8715-41BE-A08A-E3F102DA9678}"/>
              </a:ext>
            </a:extLst>
          </p:cNvPr>
          <p:cNvSpPr/>
          <p:nvPr/>
        </p:nvSpPr>
        <p:spPr>
          <a:xfrm>
            <a:off x="9267825" y="4349751"/>
            <a:ext cx="2085975" cy="68580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製造工程責任者</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6E95D0E0-547C-487C-B797-0221BC4D41ED}"/>
              </a:ext>
            </a:extLst>
          </p:cNvPr>
          <p:cNvSpPr/>
          <p:nvPr/>
        </p:nvSpPr>
        <p:spPr>
          <a:xfrm>
            <a:off x="9267825" y="5227640"/>
            <a:ext cx="2085975" cy="68580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各勤務シフト</a:t>
            </a:r>
            <a:endParaRPr lang="en-US" altLang="ja-JP" dirty="0">
              <a:solidFill>
                <a:schemeClr val="tx1"/>
              </a:solidFill>
            </a:endParaRPr>
          </a:p>
          <a:p>
            <a:pPr algn="ctr"/>
            <a:r>
              <a:rPr lang="ja-JP" altLang="en-US" dirty="0">
                <a:solidFill>
                  <a:schemeClr val="tx1"/>
                </a:solidFill>
              </a:rPr>
              <a:t>責任者</a:t>
            </a:r>
            <a:endParaRPr kumimoji="1" lang="ja-JP" altLang="en-US" dirty="0">
              <a:solidFill>
                <a:schemeClr val="tx1"/>
              </a:solidFill>
            </a:endParaRPr>
          </a:p>
        </p:txBody>
      </p:sp>
      <p:sp>
        <p:nvSpPr>
          <p:cNvPr id="14" name="吹き出し: 角を丸めた四角形 13">
            <a:extLst>
              <a:ext uri="{FF2B5EF4-FFF2-40B4-BE49-F238E27FC236}">
                <a16:creationId xmlns:a16="http://schemas.microsoft.com/office/drawing/2014/main" id="{A52366AF-AC4C-4E6D-A883-1FB726E2C250}"/>
              </a:ext>
            </a:extLst>
          </p:cNvPr>
          <p:cNvSpPr/>
          <p:nvPr/>
        </p:nvSpPr>
        <p:spPr>
          <a:xfrm>
            <a:off x="6207760" y="2165348"/>
            <a:ext cx="5146040" cy="771525"/>
          </a:xfrm>
          <a:prstGeom prst="wedgeRoundRectCallout">
            <a:avLst>
              <a:gd name="adj1" fmla="val -55384"/>
              <a:gd name="adj2" fmla="val -4443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問題発生時に</a:t>
            </a:r>
            <a:endParaRPr kumimoji="1" lang="en-US" altLang="ja-JP" sz="2000" dirty="0">
              <a:solidFill>
                <a:schemeClr val="tx1"/>
              </a:solidFill>
            </a:endParaRPr>
          </a:p>
          <a:p>
            <a:pPr algn="ctr"/>
            <a:r>
              <a:rPr kumimoji="1" lang="en-US" altLang="ja-JP" sz="2000" dirty="0">
                <a:solidFill>
                  <a:schemeClr val="tx1"/>
                </a:solidFill>
              </a:rPr>
              <a:t>『</a:t>
            </a:r>
            <a:r>
              <a:rPr kumimoji="1" lang="ja-JP" altLang="en-US" sz="2000" dirty="0">
                <a:solidFill>
                  <a:schemeClr val="tx1"/>
                </a:solidFill>
              </a:rPr>
              <a:t>顧客に不適合品を流出させない体制</a:t>
            </a:r>
            <a:r>
              <a:rPr kumimoji="1" lang="en-US" altLang="ja-JP" sz="2000" dirty="0">
                <a:solidFill>
                  <a:schemeClr val="tx1"/>
                </a:solidFill>
              </a:rPr>
              <a:t>』</a:t>
            </a:r>
            <a:endParaRPr kumimoji="1" lang="ja-JP" altLang="en-US" sz="2000" dirty="0">
              <a:solidFill>
                <a:schemeClr val="tx1"/>
              </a:solidFill>
            </a:endParaRPr>
          </a:p>
        </p:txBody>
      </p:sp>
    </p:spTree>
    <p:extLst>
      <p:ext uri="{BB962C8B-B14F-4D97-AF65-F5344CB8AC3E}">
        <p14:creationId xmlns:p14="http://schemas.microsoft.com/office/powerpoint/2010/main" val="144008257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110</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4400" b="1" u="sng" dirty="0">
                <a:solidFill>
                  <a:schemeClr val="tx2"/>
                </a:solidFill>
                <a:effectLst>
                  <a:outerShdw blurRad="38100" dist="38100" dir="2700000" algn="tl">
                    <a:srgbClr val="000000">
                      <a:alpha val="43137"/>
                    </a:srgbClr>
                  </a:outerShdw>
                </a:effectLst>
              </a:rPr>
              <a:t>６．計画</a:t>
            </a:r>
            <a:endParaRPr kumimoji="1" lang="en-US" altLang="ja-JP" sz="4400" b="1" u="sng" dirty="0">
              <a:solidFill>
                <a:schemeClr val="tx2"/>
              </a:solidFill>
              <a:effectLst>
                <a:outerShdw blurRad="38100" dist="38100" dir="2700000" algn="tl">
                  <a:srgbClr val="000000">
                    <a:alpha val="43137"/>
                  </a:srgbClr>
                </a:outerShdw>
              </a:effectLst>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9135022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メモ 11">
            <a:extLst>
              <a:ext uri="{FF2B5EF4-FFF2-40B4-BE49-F238E27FC236}">
                <a16:creationId xmlns:a16="http://schemas.microsoft.com/office/drawing/2014/main" id="{98213EBB-542A-4018-894A-BC7E7EE0A2C6}"/>
              </a:ext>
            </a:extLst>
          </p:cNvPr>
          <p:cNvSpPr/>
          <p:nvPr/>
        </p:nvSpPr>
        <p:spPr>
          <a:xfrm>
            <a:off x="4455294"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kumimoji="1" lang="en-US" altLang="ja-JP" sz="2000" dirty="0"/>
          </a:p>
          <a:p>
            <a:r>
              <a:rPr lang="en-US" altLang="ja-JP" sz="2000" dirty="0"/>
              <a:t>6.2.2.1</a:t>
            </a:r>
            <a:r>
              <a:rPr lang="ja-JP" altLang="en-US" sz="2000" dirty="0"/>
              <a:t>　品質目標及びそれを達成するための計画策定－補足</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111</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６．計画</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822747"/>
            <a:ext cx="3281413" cy="169057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6.2</a:t>
            </a:r>
            <a:r>
              <a:rPr lang="ja-JP" altLang="en-US" sz="2000" b="1" dirty="0">
                <a:solidFill>
                  <a:schemeClr val="tx1"/>
                </a:solidFill>
              </a:rPr>
              <a:t>　品質目標及びそれを達成するための計画策定</a:t>
            </a:r>
            <a:endParaRPr lang="en-US" altLang="ja-JP" sz="2000" b="1" dirty="0">
              <a:solidFill>
                <a:schemeClr val="tx1"/>
              </a:solidFill>
            </a:endParaRPr>
          </a:p>
          <a:p>
            <a:r>
              <a:rPr lang="en-US" altLang="ja-JP" sz="2000" dirty="0">
                <a:solidFill>
                  <a:schemeClr val="tx1"/>
                </a:solidFill>
              </a:rPr>
              <a:t>6.2.1</a:t>
            </a:r>
          </a:p>
          <a:p>
            <a:r>
              <a:rPr kumimoji="1" lang="en-US" altLang="ja-JP" sz="2000" dirty="0">
                <a:solidFill>
                  <a:schemeClr val="tx1"/>
                </a:solidFill>
              </a:rPr>
              <a:t>6.2.2</a:t>
            </a: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1939707"/>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endParaRPr lang="en-US" altLang="ja-JP" sz="2000" dirty="0"/>
          </a:p>
          <a:p>
            <a:r>
              <a:rPr lang="en-US" altLang="ja-JP" sz="2000" dirty="0"/>
              <a:t>6.1.2.1</a:t>
            </a:r>
            <a:r>
              <a:rPr lang="ja-JP" altLang="en-US" sz="2000" dirty="0"/>
              <a:t>　リスク分析</a:t>
            </a:r>
            <a:endParaRPr lang="en-US" altLang="ja-JP" sz="2000" dirty="0"/>
          </a:p>
          <a:p>
            <a:r>
              <a:rPr lang="en-US" altLang="ja-JP" sz="2000" dirty="0"/>
              <a:t>6.1.2.2</a:t>
            </a:r>
            <a:r>
              <a:rPr lang="ja-JP" altLang="en-US" sz="2000" dirty="0"/>
              <a:t>　予防処置</a:t>
            </a:r>
            <a:endParaRPr lang="en-US" altLang="ja-JP" sz="2000" dirty="0"/>
          </a:p>
          <a:p>
            <a:r>
              <a:rPr lang="en-US" altLang="ja-JP" sz="2000" dirty="0"/>
              <a:t>6.1.2.3</a:t>
            </a:r>
            <a:r>
              <a:rPr lang="ja-JP" altLang="en-US" sz="2000" dirty="0"/>
              <a:t>　緊急事態対応計画</a:t>
            </a:r>
            <a:endParaRPr lang="en-US" altLang="ja-JP" sz="2000"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22747"/>
            <a:ext cx="3281413" cy="1606251"/>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6.1</a:t>
            </a:r>
            <a:r>
              <a:rPr lang="ja-JP" altLang="en-US" sz="2000" b="1" dirty="0">
                <a:solidFill>
                  <a:schemeClr val="tx1"/>
                </a:solidFill>
              </a:rPr>
              <a:t>　リスク及び機会への取組み</a:t>
            </a:r>
            <a:endParaRPr lang="en-US" altLang="ja-JP" sz="2000" b="1" dirty="0">
              <a:solidFill>
                <a:schemeClr val="tx1"/>
              </a:solidFill>
            </a:endParaRPr>
          </a:p>
          <a:p>
            <a:r>
              <a:rPr lang="en-US" altLang="ja-JP" sz="2000" dirty="0">
                <a:solidFill>
                  <a:schemeClr val="tx1"/>
                </a:solidFill>
              </a:rPr>
              <a:t>6.1.1</a:t>
            </a:r>
            <a:endParaRPr kumimoji="1" lang="en-US" altLang="ja-JP" sz="2000" dirty="0">
              <a:solidFill>
                <a:schemeClr val="tx1"/>
              </a:solidFill>
            </a:endParaRPr>
          </a:p>
          <a:p>
            <a:r>
              <a:rPr kumimoji="1" lang="en-US" altLang="ja-JP" sz="2000" dirty="0">
                <a:solidFill>
                  <a:schemeClr val="tx1"/>
                </a:solidFill>
              </a:rPr>
              <a:t>6.1.2</a:t>
            </a:r>
            <a:r>
              <a:rPr kumimoji="1" lang="ja-JP" altLang="en-US" sz="2000" b="1" dirty="0">
                <a:solidFill>
                  <a:schemeClr val="tx1"/>
                </a:solidFill>
              </a:rPr>
              <a:t>　</a:t>
            </a:r>
          </a:p>
        </p:txBody>
      </p:sp>
      <p:sp>
        <p:nvSpPr>
          <p:cNvPr id="13" name="フローチャート: 書類 12">
            <a:extLst>
              <a:ext uri="{FF2B5EF4-FFF2-40B4-BE49-F238E27FC236}">
                <a16:creationId xmlns:a16="http://schemas.microsoft.com/office/drawing/2014/main" id="{01A1497B-8B1D-4252-ADD4-72F06A6DEA9F}"/>
              </a:ext>
            </a:extLst>
          </p:cNvPr>
          <p:cNvSpPr/>
          <p:nvPr/>
        </p:nvSpPr>
        <p:spPr>
          <a:xfrm>
            <a:off x="8072386" y="1822748"/>
            <a:ext cx="3281413" cy="160625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6.3</a:t>
            </a:r>
            <a:r>
              <a:rPr lang="ja-JP" altLang="en-US" sz="2000" b="1" dirty="0">
                <a:solidFill>
                  <a:schemeClr val="tx1"/>
                </a:solidFill>
              </a:rPr>
              <a:t>　変更の計画　　　　　　　　　　　　　　　　　　　　　　　　　　　　　　　　　　　　　　　　　　　　　　　　　　　　　　　　　　　　　　　　　　　　　　　　　　　　　　　　　　　　　　　　　　　　　　　　　　　　　　　　　　　　　　</a:t>
            </a:r>
            <a:endParaRPr kumimoji="1" lang="ja-JP" altLang="en-US" sz="2000" b="1" dirty="0">
              <a:solidFill>
                <a:schemeClr val="tx1"/>
              </a:solidFill>
            </a:endParaRPr>
          </a:p>
        </p:txBody>
      </p:sp>
    </p:spTree>
    <p:extLst>
      <p:ext uri="{BB962C8B-B14F-4D97-AF65-F5344CB8AC3E}">
        <p14:creationId xmlns:p14="http://schemas.microsoft.com/office/powerpoint/2010/main" val="18734097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望ましい影響／望ましくない影響の例。</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注記１の例。（新製品設計の場合）</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6.1</a:t>
            </a:r>
            <a:r>
              <a:rPr lang="ja-JP" altLang="en-US" sz="3000" b="1" dirty="0">
                <a:solidFill>
                  <a:schemeClr val="bg1"/>
                </a:solidFill>
              </a:rPr>
              <a:t>　リスク及び機会への取組み</a:t>
            </a:r>
            <a:endParaRPr kumimoji="1" lang="ja-JP" altLang="en-US" sz="3000" b="1" dirty="0">
              <a:solidFill>
                <a:schemeClr val="bg1"/>
              </a:solidFill>
            </a:endParaRPr>
          </a:p>
        </p:txBody>
      </p:sp>
      <p:graphicFrame>
        <p:nvGraphicFramePr>
          <p:cNvPr id="6" name="表 6">
            <a:extLst>
              <a:ext uri="{FF2B5EF4-FFF2-40B4-BE49-F238E27FC236}">
                <a16:creationId xmlns:a16="http://schemas.microsoft.com/office/drawing/2014/main" id="{F06D9C16-3BAB-4B3D-8406-D14CEAC5ABB3}"/>
              </a:ext>
            </a:extLst>
          </p:cNvPr>
          <p:cNvGraphicFramePr>
            <a:graphicFrameLocks noGrp="1"/>
          </p:cNvGraphicFramePr>
          <p:nvPr>
            <p:extLst>
              <p:ext uri="{D42A27DB-BD31-4B8C-83A1-F6EECF244321}">
                <p14:modId xmlns:p14="http://schemas.microsoft.com/office/powerpoint/2010/main" val="2936072749"/>
              </p:ext>
            </p:extLst>
          </p:nvPr>
        </p:nvGraphicFramePr>
        <p:xfrm>
          <a:off x="1332752" y="1929902"/>
          <a:ext cx="10021048" cy="2011680"/>
        </p:xfrm>
        <a:graphic>
          <a:graphicData uri="http://schemas.openxmlformats.org/drawingml/2006/table">
            <a:tbl>
              <a:tblPr firstRow="1" bandRow="1">
                <a:tableStyleId>{5940675A-B579-460E-94D1-54222C63F5DA}</a:tableStyleId>
              </a:tblPr>
              <a:tblGrid>
                <a:gridCol w="5010524">
                  <a:extLst>
                    <a:ext uri="{9D8B030D-6E8A-4147-A177-3AD203B41FA5}">
                      <a16:colId xmlns:a16="http://schemas.microsoft.com/office/drawing/2014/main" val="3720920650"/>
                    </a:ext>
                  </a:extLst>
                </a:gridCol>
                <a:gridCol w="5010524">
                  <a:extLst>
                    <a:ext uri="{9D8B030D-6E8A-4147-A177-3AD203B41FA5}">
                      <a16:colId xmlns:a16="http://schemas.microsoft.com/office/drawing/2014/main" val="1111643322"/>
                    </a:ext>
                  </a:extLst>
                </a:gridCol>
              </a:tblGrid>
              <a:tr h="370840">
                <a:tc>
                  <a:txBody>
                    <a:bodyPr/>
                    <a:lstStyle/>
                    <a:p>
                      <a:pPr algn="ctr"/>
                      <a:r>
                        <a:rPr kumimoji="1" lang="ja-JP" altLang="en-US" sz="2000" dirty="0"/>
                        <a:t>望ましい影響（機会）</a:t>
                      </a:r>
                    </a:p>
                  </a:txBody>
                  <a:tcPr>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望ましくない影響（リスク）</a:t>
                      </a:r>
                    </a:p>
                  </a:txBody>
                  <a:tcPr>
                    <a:solidFill>
                      <a:schemeClr val="tx2">
                        <a:lumMod val="40000"/>
                        <a:lumOff val="60000"/>
                      </a:schemeClr>
                    </a:solidFill>
                  </a:tcPr>
                </a:tc>
                <a:extLst>
                  <a:ext uri="{0D108BD9-81ED-4DB2-BD59-A6C34878D82A}">
                    <a16:rowId xmlns:a16="http://schemas.microsoft.com/office/drawing/2014/main" val="1972294127"/>
                  </a:ext>
                </a:extLst>
              </a:tr>
              <a:tr h="370840">
                <a:tc>
                  <a:txBody>
                    <a:bodyPr/>
                    <a:lstStyle/>
                    <a:p>
                      <a:pPr marL="342900" indent="-342900">
                        <a:buFont typeface="Arial" panose="020B0604020202020204" pitchFamily="34" charset="0"/>
                        <a:buChar char="•"/>
                      </a:pPr>
                      <a:r>
                        <a:rPr kumimoji="1" lang="ja-JP" altLang="en-US" sz="2000" dirty="0"/>
                        <a:t>市場シェア拡大</a:t>
                      </a:r>
                      <a:endParaRPr kumimoji="1" lang="en-US" altLang="ja-JP" sz="2000" dirty="0"/>
                    </a:p>
                    <a:p>
                      <a:pPr marL="342900" indent="-342900">
                        <a:buFont typeface="Arial" panose="020B0604020202020204" pitchFamily="34" charset="0"/>
                        <a:buChar char="•"/>
                      </a:pPr>
                      <a:r>
                        <a:rPr kumimoji="1" lang="ja-JP" altLang="en-US" sz="2000" dirty="0"/>
                        <a:t>新規分野への参入</a:t>
                      </a:r>
                      <a:endParaRPr kumimoji="1" lang="en-US" altLang="ja-JP" sz="2000" dirty="0"/>
                    </a:p>
                    <a:p>
                      <a:pPr marL="342900" indent="-342900">
                        <a:buFont typeface="Arial" panose="020B0604020202020204" pitchFamily="34" charset="0"/>
                        <a:buChar char="•"/>
                      </a:pPr>
                      <a:r>
                        <a:rPr kumimoji="1" lang="ja-JP" altLang="en-US" sz="2000" dirty="0"/>
                        <a:t>新規顧客の獲得</a:t>
                      </a:r>
                      <a:endParaRPr kumimoji="1" lang="en-US" altLang="ja-JP" sz="2000" dirty="0"/>
                    </a:p>
                    <a:p>
                      <a:pPr marL="342900" indent="-342900">
                        <a:buFont typeface="Arial" panose="020B0604020202020204" pitchFamily="34" charset="0"/>
                        <a:buChar char="•"/>
                      </a:pPr>
                      <a:r>
                        <a:rPr kumimoji="1" lang="ja-JP" altLang="en-US" sz="2000" dirty="0"/>
                        <a:t>新製品立ち上げによる受注拡大</a:t>
                      </a:r>
                      <a:endParaRPr kumimoji="1" lang="en-US" altLang="ja-JP" sz="2000" dirty="0"/>
                    </a:p>
                    <a:p>
                      <a:pPr marL="342900" indent="-342900">
                        <a:buFont typeface="Arial" panose="020B0604020202020204" pitchFamily="34" charset="0"/>
                        <a:buChar char="•"/>
                      </a:pPr>
                      <a:r>
                        <a:rPr kumimoji="1" lang="ja-JP" altLang="en-US" sz="2000" dirty="0"/>
                        <a:t>業務改善による原価低減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変更による工程品質の悪化</a:t>
                      </a:r>
                      <a:endParaRPr kumimoji="1" lang="en-US" altLang="ja-JP" sz="2000" dirty="0"/>
                    </a:p>
                    <a:p>
                      <a:pPr marL="342900" indent="-342900">
                        <a:buFont typeface="Arial" panose="020B0604020202020204" pitchFamily="34" charset="0"/>
                        <a:buChar char="•"/>
                      </a:pPr>
                      <a:r>
                        <a:rPr kumimoji="1" lang="ja-JP" altLang="en-US" sz="2000" dirty="0"/>
                        <a:t>失注</a:t>
                      </a:r>
                      <a:endParaRPr kumimoji="1" lang="en-US" altLang="ja-JP" sz="2000" dirty="0"/>
                    </a:p>
                    <a:p>
                      <a:pPr marL="342900" indent="-342900">
                        <a:buFont typeface="Arial" panose="020B0604020202020204" pitchFamily="34" charset="0"/>
                        <a:buChar char="•"/>
                      </a:pPr>
                      <a:r>
                        <a:rPr kumimoji="1" lang="ja-JP" altLang="en-US" sz="2000" dirty="0"/>
                        <a:t>競合他社の出現</a:t>
                      </a:r>
                      <a:endParaRPr kumimoji="1" lang="en-US" altLang="ja-JP" sz="2000" dirty="0"/>
                    </a:p>
                    <a:p>
                      <a:pPr marL="342900" indent="-342900">
                        <a:buFont typeface="Arial" panose="020B0604020202020204" pitchFamily="34" charset="0"/>
                        <a:buChar char="•"/>
                      </a:pPr>
                      <a:r>
                        <a:rPr kumimoji="1" lang="ja-JP" altLang="en-US" sz="2000" dirty="0"/>
                        <a:t>高度な技能流出（退職）</a:t>
                      </a:r>
                      <a:endParaRPr kumimoji="1" lang="en-US" altLang="ja-JP" sz="2000" dirty="0"/>
                    </a:p>
                    <a:p>
                      <a:pPr marL="342900" indent="-342900">
                        <a:buFont typeface="Arial" panose="020B0604020202020204" pitchFamily="34" charset="0"/>
                        <a:buChar char="•"/>
                      </a:pPr>
                      <a:r>
                        <a:rPr kumimoji="1" lang="ja-JP" altLang="en-US" sz="2000" dirty="0"/>
                        <a:t>顧客満足低下による注文減少</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13865401"/>
                  </a:ext>
                </a:extLst>
              </a:tr>
            </a:tbl>
          </a:graphicData>
        </a:graphic>
      </p:graphicFrame>
      <p:graphicFrame>
        <p:nvGraphicFramePr>
          <p:cNvPr id="8" name="表 9">
            <a:extLst>
              <a:ext uri="{FF2B5EF4-FFF2-40B4-BE49-F238E27FC236}">
                <a16:creationId xmlns:a16="http://schemas.microsoft.com/office/drawing/2014/main" id="{CF6D850F-FD8F-4B0C-A3F5-06C58914650E}"/>
              </a:ext>
            </a:extLst>
          </p:cNvPr>
          <p:cNvGraphicFramePr>
            <a:graphicFrameLocks noGrp="1"/>
          </p:cNvGraphicFramePr>
          <p:nvPr>
            <p:extLst>
              <p:ext uri="{D42A27DB-BD31-4B8C-83A1-F6EECF244321}">
                <p14:modId xmlns:p14="http://schemas.microsoft.com/office/powerpoint/2010/main" val="4071016490"/>
              </p:ext>
            </p:extLst>
          </p:nvPr>
        </p:nvGraphicFramePr>
        <p:xfrm>
          <a:off x="1332751" y="4678997"/>
          <a:ext cx="10021048" cy="1578366"/>
        </p:xfrm>
        <a:graphic>
          <a:graphicData uri="http://schemas.openxmlformats.org/drawingml/2006/table">
            <a:tbl>
              <a:tblPr firstRow="1" bandRow="1">
                <a:tableStyleId>{5940675A-B579-460E-94D1-54222C63F5DA}</a:tableStyleId>
              </a:tblPr>
              <a:tblGrid>
                <a:gridCol w="2064873">
                  <a:extLst>
                    <a:ext uri="{9D8B030D-6E8A-4147-A177-3AD203B41FA5}">
                      <a16:colId xmlns:a16="http://schemas.microsoft.com/office/drawing/2014/main" val="1555576657"/>
                    </a:ext>
                  </a:extLst>
                </a:gridCol>
                <a:gridCol w="7956175">
                  <a:extLst>
                    <a:ext uri="{9D8B030D-6E8A-4147-A177-3AD203B41FA5}">
                      <a16:colId xmlns:a16="http://schemas.microsoft.com/office/drawing/2014/main" val="615760016"/>
                    </a:ext>
                  </a:extLst>
                </a:gridCol>
              </a:tblGrid>
              <a:tr h="418750">
                <a:tc>
                  <a:txBody>
                    <a:bodyPr/>
                    <a:lstStyle/>
                    <a:p>
                      <a:pPr algn="ctr"/>
                      <a:r>
                        <a:rPr kumimoji="1" lang="ja-JP" altLang="en-US" sz="2000" dirty="0"/>
                        <a:t>区分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923672380"/>
                  </a:ext>
                </a:extLst>
              </a:tr>
              <a:tr h="418750">
                <a:tc>
                  <a:txBody>
                    <a:bodyPr/>
                    <a:lstStyle/>
                    <a:p>
                      <a:r>
                        <a:rPr kumimoji="1" lang="ja-JP" altLang="en-US" sz="2000" dirty="0"/>
                        <a:t>リスクの回避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新製品の設計によるリスクが大きいため、新製品の設計を中止する。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622198"/>
                  </a:ext>
                </a:extLst>
              </a:tr>
              <a:tr h="740866">
                <a:tc>
                  <a:txBody>
                    <a:bodyPr/>
                    <a:lstStyle/>
                    <a:p>
                      <a:r>
                        <a:rPr kumimoji="1" lang="ja-JP" altLang="en-US" sz="2000" dirty="0"/>
                        <a:t>リスクの採取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新製品の設計結果のメリットが大きいため、関連するリスクを受け入れる。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906062"/>
                  </a:ext>
                </a:extLst>
              </a:tr>
            </a:tbl>
          </a:graphicData>
        </a:graphic>
      </p:graphicFrame>
    </p:spTree>
    <p:extLst>
      <p:ext uri="{BB962C8B-B14F-4D97-AF65-F5344CB8AC3E}">
        <p14:creationId xmlns:p14="http://schemas.microsoft.com/office/powerpoint/2010/main" val="17636481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6.1</a:t>
            </a:r>
            <a:r>
              <a:rPr lang="ja-JP" altLang="en-US" sz="3000" b="1" dirty="0">
                <a:solidFill>
                  <a:schemeClr val="bg1"/>
                </a:solidFill>
              </a:rPr>
              <a:t>　リスク及び機会への取組み</a:t>
            </a:r>
            <a:endParaRPr kumimoji="1" lang="ja-JP" altLang="en-US" sz="3000" b="1" dirty="0">
              <a:solidFill>
                <a:schemeClr val="bg1"/>
              </a:solidFill>
            </a:endParaRPr>
          </a:p>
        </p:txBody>
      </p:sp>
      <p:graphicFrame>
        <p:nvGraphicFramePr>
          <p:cNvPr id="8" name="表 9">
            <a:extLst>
              <a:ext uri="{FF2B5EF4-FFF2-40B4-BE49-F238E27FC236}">
                <a16:creationId xmlns:a16="http://schemas.microsoft.com/office/drawing/2014/main" id="{CF6D850F-FD8F-4B0C-A3F5-06C58914650E}"/>
              </a:ext>
            </a:extLst>
          </p:cNvPr>
          <p:cNvGraphicFramePr>
            <a:graphicFrameLocks noGrp="1"/>
          </p:cNvGraphicFramePr>
          <p:nvPr>
            <p:extLst>
              <p:ext uri="{D42A27DB-BD31-4B8C-83A1-F6EECF244321}">
                <p14:modId xmlns:p14="http://schemas.microsoft.com/office/powerpoint/2010/main" val="1193363323"/>
              </p:ext>
            </p:extLst>
          </p:nvPr>
        </p:nvGraphicFramePr>
        <p:xfrm>
          <a:off x="1332752" y="1524000"/>
          <a:ext cx="10021048" cy="3352801"/>
        </p:xfrm>
        <a:graphic>
          <a:graphicData uri="http://schemas.openxmlformats.org/drawingml/2006/table">
            <a:tbl>
              <a:tblPr firstRow="1" bandRow="1">
                <a:tableStyleId>{5940675A-B579-460E-94D1-54222C63F5DA}</a:tableStyleId>
              </a:tblPr>
              <a:tblGrid>
                <a:gridCol w="2064873">
                  <a:extLst>
                    <a:ext uri="{9D8B030D-6E8A-4147-A177-3AD203B41FA5}">
                      <a16:colId xmlns:a16="http://schemas.microsoft.com/office/drawing/2014/main" val="1555576657"/>
                    </a:ext>
                  </a:extLst>
                </a:gridCol>
                <a:gridCol w="7956175">
                  <a:extLst>
                    <a:ext uri="{9D8B030D-6E8A-4147-A177-3AD203B41FA5}">
                      <a16:colId xmlns:a16="http://schemas.microsoft.com/office/drawing/2014/main" val="615760016"/>
                    </a:ext>
                  </a:extLst>
                </a:gridCol>
              </a:tblGrid>
              <a:tr h="415109">
                <a:tc>
                  <a:txBody>
                    <a:bodyPr/>
                    <a:lstStyle/>
                    <a:p>
                      <a:pPr algn="ctr"/>
                      <a:r>
                        <a:rPr kumimoji="1" lang="ja-JP" altLang="en-US" sz="2000" dirty="0"/>
                        <a:t>区分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923672380"/>
                  </a:ext>
                </a:extLst>
              </a:tr>
              <a:tr h="734423">
                <a:tc>
                  <a:txBody>
                    <a:bodyPr/>
                    <a:lstStyle/>
                    <a:p>
                      <a:r>
                        <a:rPr kumimoji="1" lang="ja-JP" altLang="en-US" sz="2000" dirty="0"/>
                        <a:t>リスク源の除去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新製品の設計によるリスク発生の原因を対策、除去し、リスクが発生しないようにする。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622198"/>
                  </a:ext>
                </a:extLst>
              </a:tr>
              <a:tr h="734423">
                <a:tc>
                  <a:txBody>
                    <a:bodyPr/>
                    <a:lstStyle/>
                    <a:p>
                      <a:r>
                        <a:rPr kumimoji="1" lang="ja-JP" altLang="en-US" sz="2000" dirty="0"/>
                        <a:t>リスク結果の低減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新製品の設計によるリスク発生の確率又は影響を低減する。例えば、ＦＭＥＡの故障発生頻度（Ｏ）又は故障影響（Ｓ）の低減を行う。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906062"/>
                  </a:ext>
                </a:extLst>
              </a:tr>
              <a:tr h="734423">
                <a:tc>
                  <a:txBody>
                    <a:bodyPr/>
                    <a:lstStyle/>
                    <a:p>
                      <a:r>
                        <a:rPr kumimoji="1" lang="ja-JP" altLang="en-US" sz="2000" dirty="0"/>
                        <a:t>リスクの共有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新製品の設計によるリスクを共有する。例えば、保険に加入して、新製品に伴う損害を低減する。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5461938"/>
                  </a:ext>
                </a:extLst>
              </a:tr>
              <a:tr h="734423">
                <a:tc>
                  <a:txBody>
                    <a:bodyPr/>
                    <a:lstStyle/>
                    <a:p>
                      <a:r>
                        <a:rPr kumimoji="1" lang="ja-JP" altLang="en-US" sz="2000" dirty="0"/>
                        <a:t>リスクの保有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新製品の設計によるリスクは小さいため、リスクをそのまま受け入れて、設計を継続する。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2357579"/>
                  </a:ext>
                </a:extLst>
              </a:tr>
            </a:tbl>
          </a:graphicData>
        </a:graphic>
      </p:graphicFrame>
    </p:spTree>
    <p:extLst>
      <p:ext uri="{BB962C8B-B14F-4D97-AF65-F5344CB8AC3E}">
        <p14:creationId xmlns:p14="http://schemas.microsoft.com/office/powerpoint/2010/main" val="317951529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3"/>
            </a:pPr>
            <a:r>
              <a:rPr lang="ja-JP" altLang="en-US" sz="2400" dirty="0"/>
              <a:t>リスク及び機会への取組みフロー。</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6.1</a:t>
            </a:r>
            <a:r>
              <a:rPr lang="ja-JP" altLang="en-US" sz="3000" b="1" dirty="0">
                <a:solidFill>
                  <a:schemeClr val="bg1"/>
                </a:solidFill>
              </a:rPr>
              <a:t>　リスク及び機会への取組み</a:t>
            </a:r>
            <a:endParaRPr kumimoji="1" lang="ja-JP" altLang="en-US" sz="3000" b="1" dirty="0">
              <a:solidFill>
                <a:schemeClr val="bg1"/>
              </a:solidFill>
            </a:endParaRPr>
          </a:p>
        </p:txBody>
      </p:sp>
      <p:sp>
        <p:nvSpPr>
          <p:cNvPr id="2" name="正方形/長方形 1">
            <a:extLst>
              <a:ext uri="{FF2B5EF4-FFF2-40B4-BE49-F238E27FC236}">
                <a16:creationId xmlns:a16="http://schemas.microsoft.com/office/drawing/2014/main" id="{979707AF-697B-4705-AEE2-D5345B982CB8}"/>
              </a:ext>
            </a:extLst>
          </p:cNvPr>
          <p:cNvSpPr/>
          <p:nvPr/>
        </p:nvSpPr>
        <p:spPr>
          <a:xfrm>
            <a:off x="838200" y="2139315"/>
            <a:ext cx="47396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①：組織の状況（内外の課題）　</a:t>
            </a:r>
            <a:r>
              <a:rPr kumimoji="1" lang="en-US" altLang="ja-JP" dirty="0">
                <a:solidFill>
                  <a:schemeClr val="tx1"/>
                </a:solidFill>
              </a:rPr>
              <a:t>4.1</a:t>
            </a:r>
            <a:endParaRPr kumimoji="1" lang="ja-JP" altLang="en-US" dirty="0">
              <a:solidFill>
                <a:schemeClr val="tx1"/>
              </a:solidFill>
            </a:endParaRPr>
          </a:p>
        </p:txBody>
      </p:sp>
      <p:sp>
        <p:nvSpPr>
          <p:cNvPr id="7" name="正方形/長方形 6">
            <a:extLst>
              <a:ext uri="{FF2B5EF4-FFF2-40B4-BE49-F238E27FC236}">
                <a16:creationId xmlns:a16="http://schemas.microsoft.com/office/drawing/2014/main" id="{45E21FE2-8EF3-49B1-9CE1-C3C98D7C1490}"/>
              </a:ext>
            </a:extLst>
          </p:cNvPr>
          <p:cNvSpPr/>
          <p:nvPr/>
        </p:nvSpPr>
        <p:spPr>
          <a:xfrm>
            <a:off x="6614162" y="2139315"/>
            <a:ext cx="47396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②：利害関係者のニーズ期待　</a:t>
            </a:r>
            <a:r>
              <a:rPr kumimoji="1" lang="en-US" altLang="ja-JP" dirty="0">
                <a:solidFill>
                  <a:schemeClr val="tx1"/>
                </a:solidFill>
              </a:rPr>
              <a:t>4.2</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71A0B014-46ED-4867-8402-8D38B39BB51D}"/>
              </a:ext>
            </a:extLst>
          </p:cNvPr>
          <p:cNvSpPr/>
          <p:nvPr/>
        </p:nvSpPr>
        <p:spPr>
          <a:xfrm>
            <a:off x="1814830" y="2865755"/>
            <a:ext cx="85623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➂：①</a:t>
            </a:r>
            <a:r>
              <a:rPr kumimoji="1" lang="ja-JP" altLang="en-US" dirty="0">
                <a:solidFill>
                  <a:schemeClr val="tx1"/>
                </a:solidFill>
              </a:rPr>
              <a:t>及び②を達成するためのリスク及び機会の決定　</a:t>
            </a:r>
            <a:r>
              <a:rPr kumimoji="1" lang="en-US" altLang="ja-JP" dirty="0">
                <a:solidFill>
                  <a:schemeClr val="tx1"/>
                </a:solidFill>
              </a:rPr>
              <a:t>6.1.1</a:t>
            </a:r>
            <a:endParaRPr kumimoji="1" lang="ja-JP" altLang="en-US" dirty="0">
              <a:solidFill>
                <a:schemeClr val="tx1"/>
              </a:solidFill>
            </a:endParaRPr>
          </a:p>
        </p:txBody>
      </p:sp>
      <p:sp>
        <p:nvSpPr>
          <p:cNvPr id="14" name="正方形/長方形 13">
            <a:extLst>
              <a:ext uri="{FF2B5EF4-FFF2-40B4-BE49-F238E27FC236}">
                <a16:creationId xmlns:a16="http://schemas.microsoft.com/office/drawing/2014/main" id="{DDD2C82F-BCA9-487E-B000-BA4C99AD9863}"/>
              </a:ext>
            </a:extLst>
          </p:cNvPr>
          <p:cNvSpPr/>
          <p:nvPr/>
        </p:nvSpPr>
        <p:spPr>
          <a:xfrm>
            <a:off x="1814830" y="3587115"/>
            <a:ext cx="85623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➃：リスク及び機会への取組み計画作成　</a:t>
            </a:r>
            <a:r>
              <a:rPr kumimoji="1" lang="en-US" altLang="ja-JP" dirty="0">
                <a:solidFill>
                  <a:schemeClr val="tx1"/>
                </a:solidFill>
              </a:rPr>
              <a:t>6.1.2</a:t>
            </a:r>
            <a:endParaRPr kumimoji="1" lang="ja-JP" altLang="en-US" dirty="0">
              <a:solidFill>
                <a:schemeClr val="tx1"/>
              </a:solidFill>
            </a:endParaRPr>
          </a:p>
        </p:txBody>
      </p:sp>
      <p:sp>
        <p:nvSpPr>
          <p:cNvPr id="16" name="正方形/長方形 15">
            <a:extLst>
              <a:ext uri="{FF2B5EF4-FFF2-40B4-BE49-F238E27FC236}">
                <a16:creationId xmlns:a16="http://schemas.microsoft.com/office/drawing/2014/main" id="{B0C0A4AF-EB9F-4F5B-B05A-C32206ABB30D}"/>
              </a:ext>
            </a:extLst>
          </p:cNvPr>
          <p:cNvSpPr/>
          <p:nvPr/>
        </p:nvSpPr>
        <p:spPr>
          <a:xfrm>
            <a:off x="1814830" y="4313555"/>
            <a:ext cx="85623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➄：➃のＱＭＳプロセスへの統合　</a:t>
            </a:r>
            <a:r>
              <a:rPr kumimoji="1" lang="en-US" altLang="ja-JP" dirty="0">
                <a:solidFill>
                  <a:schemeClr val="tx1"/>
                </a:solidFill>
              </a:rPr>
              <a:t>6.1.2</a:t>
            </a:r>
            <a:endParaRPr kumimoji="1" lang="ja-JP" altLang="en-US" dirty="0">
              <a:solidFill>
                <a:schemeClr val="tx1"/>
              </a:solidFill>
            </a:endParaRPr>
          </a:p>
        </p:txBody>
      </p:sp>
      <p:sp>
        <p:nvSpPr>
          <p:cNvPr id="18" name="正方形/長方形 17">
            <a:extLst>
              <a:ext uri="{FF2B5EF4-FFF2-40B4-BE49-F238E27FC236}">
                <a16:creationId xmlns:a16="http://schemas.microsoft.com/office/drawing/2014/main" id="{D66394CA-B912-4452-BE7B-E9AD5A59AF16}"/>
              </a:ext>
            </a:extLst>
          </p:cNvPr>
          <p:cNvSpPr/>
          <p:nvPr/>
        </p:nvSpPr>
        <p:spPr>
          <a:xfrm>
            <a:off x="1814830" y="5035550"/>
            <a:ext cx="85623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⑥：➄の実施　</a:t>
            </a:r>
            <a:r>
              <a:rPr kumimoji="1" lang="en-US" altLang="ja-JP" dirty="0">
                <a:solidFill>
                  <a:schemeClr val="tx1"/>
                </a:solidFill>
              </a:rPr>
              <a:t>4.4.1</a:t>
            </a:r>
            <a:endParaRPr kumimoji="1" lang="ja-JP" altLang="en-US" dirty="0">
              <a:solidFill>
                <a:schemeClr val="tx1"/>
              </a:solidFill>
            </a:endParaRPr>
          </a:p>
        </p:txBody>
      </p:sp>
      <p:sp>
        <p:nvSpPr>
          <p:cNvPr id="20" name="正方形/長方形 19">
            <a:extLst>
              <a:ext uri="{FF2B5EF4-FFF2-40B4-BE49-F238E27FC236}">
                <a16:creationId xmlns:a16="http://schemas.microsoft.com/office/drawing/2014/main" id="{B33F0C29-ADC0-478B-BA1A-62DF9F98E93E}"/>
              </a:ext>
            </a:extLst>
          </p:cNvPr>
          <p:cNvSpPr/>
          <p:nvPr/>
        </p:nvSpPr>
        <p:spPr>
          <a:xfrm>
            <a:off x="1814830" y="5757545"/>
            <a:ext cx="8562340" cy="467360"/>
          </a:xfrm>
          <a:prstGeom prst="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⑦：⑥の有効性の評価　</a:t>
            </a:r>
            <a:r>
              <a:rPr kumimoji="1" lang="en-US" altLang="ja-JP" dirty="0">
                <a:solidFill>
                  <a:schemeClr val="tx1"/>
                </a:solidFill>
              </a:rPr>
              <a:t>6.1.2</a:t>
            </a:r>
            <a:endParaRPr kumimoji="1" lang="ja-JP" altLang="en-US" dirty="0">
              <a:solidFill>
                <a:schemeClr val="tx1"/>
              </a:solidFill>
            </a:endParaRPr>
          </a:p>
        </p:txBody>
      </p:sp>
      <p:sp>
        <p:nvSpPr>
          <p:cNvPr id="21" name="矢印: 下 20">
            <a:extLst>
              <a:ext uri="{FF2B5EF4-FFF2-40B4-BE49-F238E27FC236}">
                <a16:creationId xmlns:a16="http://schemas.microsoft.com/office/drawing/2014/main" id="{2B3AF30F-417A-4D56-8394-0CC484653242}"/>
              </a:ext>
            </a:extLst>
          </p:cNvPr>
          <p:cNvSpPr/>
          <p:nvPr/>
        </p:nvSpPr>
        <p:spPr>
          <a:xfrm>
            <a:off x="3352800" y="2606675"/>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下 22">
            <a:extLst>
              <a:ext uri="{FF2B5EF4-FFF2-40B4-BE49-F238E27FC236}">
                <a16:creationId xmlns:a16="http://schemas.microsoft.com/office/drawing/2014/main" id="{4F031B0D-CD87-46CB-B5EB-B6502AD924FA}"/>
              </a:ext>
            </a:extLst>
          </p:cNvPr>
          <p:cNvSpPr/>
          <p:nvPr/>
        </p:nvSpPr>
        <p:spPr>
          <a:xfrm>
            <a:off x="5753100" y="5507355"/>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下 24">
            <a:extLst>
              <a:ext uri="{FF2B5EF4-FFF2-40B4-BE49-F238E27FC236}">
                <a16:creationId xmlns:a16="http://schemas.microsoft.com/office/drawing/2014/main" id="{5A9555CA-3207-4F00-9FDE-F4DC01F203DE}"/>
              </a:ext>
            </a:extLst>
          </p:cNvPr>
          <p:cNvSpPr/>
          <p:nvPr/>
        </p:nvSpPr>
        <p:spPr>
          <a:xfrm>
            <a:off x="5753100" y="4785360"/>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下 26">
            <a:extLst>
              <a:ext uri="{FF2B5EF4-FFF2-40B4-BE49-F238E27FC236}">
                <a16:creationId xmlns:a16="http://schemas.microsoft.com/office/drawing/2014/main" id="{491A9B3C-C0A7-4139-B073-797346ECE18A}"/>
              </a:ext>
            </a:extLst>
          </p:cNvPr>
          <p:cNvSpPr/>
          <p:nvPr/>
        </p:nvSpPr>
        <p:spPr>
          <a:xfrm>
            <a:off x="5753100" y="4034155"/>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下 28">
            <a:extLst>
              <a:ext uri="{FF2B5EF4-FFF2-40B4-BE49-F238E27FC236}">
                <a16:creationId xmlns:a16="http://schemas.microsoft.com/office/drawing/2014/main" id="{58378514-4549-4A1B-B140-B3116F52319E}"/>
              </a:ext>
            </a:extLst>
          </p:cNvPr>
          <p:cNvSpPr/>
          <p:nvPr/>
        </p:nvSpPr>
        <p:spPr>
          <a:xfrm>
            <a:off x="5753100" y="3337560"/>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下 30">
            <a:extLst>
              <a:ext uri="{FF2B5EF4-FFF2-40B4-BE49-F238E27FC236}">
                <a16:creationId xmlns:a16="http://schemas.microsoft.com/office/drawing/2014/main" id="{7C9A12B3-7E19-4D5E-9C14-3113DEF13DA9}"/>
              </a:ext>
            </a:extLst>
          </p:cNvPr>
          <p:cNvSpPr/>
          <p:nvPr/>
        </p:nvSpPr>
        <p:spPr>
          <a:xfrm>
            <a:off x="8001002" y="2606675"/>
            <a:ext cx="685800" cy="25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875963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99142"/>
            <a:ext cx="10434320" cy="1608218"/>
          </a:xfrm>
          <a:ln w="12700">
            <a:solidFill>
              <a:schemeClr val="tx2"/>
            </a:solidFill>
          </a:ln>
        </p:spPr>
        <p:txBody>
          <a:bodyPr>
            <a:noAutofit/>
          </a:bodyPr>
          <a:lstStyle/>
          <a:p>
            <a:pPr marL="0" indent="0">
              <a:lnSpc>
                <a:spcPct val="100000"/>
              </a:lnSpc>
              <a:buNone/>
            </a:pPr>
            <a:r>
              <a:rPr lang="ja-JP" altLang="en-US" sz="2000" dirty="0"/>
              <a:t>☑組織は、最低限、</a:t>
            </a:r>
            <a:r>
              <a:rPr lang="ja-JP" altLang="en-US" sz="2000" dirty="0">
                <a:solidFill>
                  <a:srgbClr val="FF0000"/>
                </a:solidFill>
              </a:rPr>
              <a:t>次の事項を含む</a:t>
            </a:r>
            <a:r>
              <a:rPr lang="ja-JP" altLang="en-US" sz="2000" dirty="0"/>
              <a:t>リスク分析に含めなければならない。　</a:t>
            </a:r>
            <a:r>
              <a:rPr lang="ja-JP" altLang="en-US" sz="2000" u="sng" dirty="0"/>
              <a:t>　　　　　　　　　　　　　　　</a:t>
            </a:r>
            <a:r>
              <a:rPr lang="en-US" altLang="ja-JP" sz="2000" dirty="0"/>
              <a:t>a) </a:t>
            </a:r>
            <a:r>
              <a:rPr lang="ja-JP" altLang="en-US" sz="2000" dirty="0"/>
              <a:t>製品のリコールから学んだ教訓、製品監査、市場で起きた回収・修理、苦情、スクラップ 及び手直し　　　　　　　　　　　　　　　　　　　　　　　　　　　　　　　　　　　　　　　　　　　　　 </a:t>
            </a:r>
            <a:r>
              <a:rPr lang="en-US" altLang="ja-JP" sz="2000" dirty="0">
                <a:solidFill>
                  <a:srgbClr val="FF0000"/>
                </a:solidFill>
              </a:rPr>
              <a:t>b) IT </a:t>
            </a:r>
            <a:r>
              <a:rPr lang="ja-JP" altLang="en-US" sz="2000" dirty="0">
                <a:solidFill>
                  <a:srgbClr val="FF0000"/>
                </a:solidFill>
              </a:rPr>
              <a:t>システムへのサイバー攻撃の脅威</a:t>
            </a:r>
            <a:endParaRPr lang="en-US" altLang="ja-JP" sz="2000" u="sng" dirty="0">
              <a:solidFill>
                <a:srgbClr val="FF0000"/>
              </a:solidFill>
            </a:endParaRPr>
          </a:p>
          <a:p>
            <a:pPr marL="0" indent="0">
              <a:lnSpc>
                <a:spcPct val="100000"/>
              </a:lnSpc>
              <a:spcBef>
                <a:spcPts val="0"/>
              </a:spcBef>
              <a:buNone/>
            </a:pPr>
            <a:r>
              <a:rPr lang="ja-JP" altLang="en-US" sz="2000" dirty="0"/>
              <a:t>☑組織は、リスク分析の結果の証拠として、</a:t>
            </a:r>
            <a:r>
              <a:rPr lang="ja-JP" altLang="en-US" sz="2000" b="1" dirty="0"/>
              <a:t>文書化した情報を保持</a:t>
            </a:r>
            <a:r>
              <a:rPr lang="ja-JP" altLang="en-US" sz="2000" dirty="0"/>
              <a:t>しなければならない。</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6.1.2.1</a:t>
            </a:r>
            <a:r>
              <a:rPr kumimoji="1" lang="ja-JP" altLang="en-US" sz="3000" b="1" dirty="0">
                <a:solidFill>
                  <a:schemeClr val="tx2"/>
                </a:solidFill>
              </a:rPr>
              <a:t>　リスク分析</a:t>
            </a: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3027681"/>
            <a:ext cx="10515600" cy="660996"/>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6.1.2.1</a:t>
            </a:r>
            <a:r>
              <a:rPr lang="ja-JP" altLang="en-US" sz="3000" b="1" dirty="0">
                <a:solidFill>
                  <a:schemeClr val="bg1"/>
                </a:solidFill>
              </a:rPr>
              <a:t>　リスク分析</a:t>
            </a:r>
          </a:p>
        </p:txBody>
      </p:sp>
      <p:sp>
        <p:nvSpPr>
          <p:cNvPr id="8" name="コンテンツ プレースホルダー 2">
            <a:extLst>
              <a:ext uri="{FF2B5EF4-FFF2-40B4-BE49-F238E27FC236}">
                <a16:creationId xmlns:a16="http://schemas.microsoft.com/office/drawing/2014/main" id="{EEB3763D-86DC-492E-832D-788DCD7FF545}"/>
              </a:ext>
            </a:extLst>
          </p:cNvPr>
          <p:cNvSpPr txBox="1">
            <a:spLocks/>
          </p:cNvSpPr>
          <p:nvPr/>
        </p:nvSpPr>
        <p:spPr>
          <a:xfrm>
            <a:off x="838200" y="3714787"/>
            <a:ext cx="10515600" cy="2641563"/>
          </a:xfrm>
          <a:prstGeom prst="rect">
            <a:avLst/>
          </a:prstGeom>
          <a:ln w="12700">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en-US" altLang="ja-JP" sz="2400" dirty="0"/>
              <a:t>IATF16949</a:t>
            </a:r>
            <a:r>
              <a:rPr lang="ja-JP" altLang="en-US" sz="2400" dirty="0"/>
              <a:t>では「</a:t>
            </a:r>
            <a:r>
              <a:rPr lang="en-US" altLang="ja-JP" sz="2400" dirty="0"/>
              <a:t>FMEA</a:t>
            </a:r>
            <a:r>
              <a:rPr lang="ja-JP" altLang="en-US" sz="2400" dirty="0"/>
              <a:t>」が代表的なリスク分析手法。</a:t>
            </a:r>
            <a:endParaRPr lang="en-US" altLang="ja-JP" sz="2400" dirty="0"/>
          </a:p>
          <a:p>
            <a:pPr lvl="1">
              <a:buFont typeface="Wingdings" panose="05000000000000000000" pitchFamily="2" charset="2"/>
              <a:buChar char="Ø"/>
            </a:pPr>
            <a:r>
              <a:rPr lang="en-US" altLang="ja-JP" dirty="0"/>
              <a:t>FMEA</a:t>
            </a:r>
            <a:r>
              <a:rPr lang="ja-JP" altLang="en-US" dirty="0"/>
              <a:t>の“潜在的故障モード”にリコール情報などを含める。</a:t>
            </a:r>
            <a:endParaRPr lang="en-US" altLang="ja-JP" dirty="0"/>
          </a:p>
          <a:p>
            <a:pPr lvl="1">
              <a:buFont typeface="Wingdings" panose="05000000000000000000" pitchFamily="2" charset="2"/>
              <a:buChar char="Ø"/>
            </a:pPr>
            <a:r>
              <a:rPr lang="ja-JP" altLang="en-US" dirty="0"/>
              <a:t>他に「</a:t>
            </a:r>
            <a:r>
              <a:rPr lang="en-US" altLang="ja-JP" dirty="0"/>
              <a:t>FTA</a:t>
            </a:r>
            <a:r>
              <a:rPr lang="ja-JP" altLang="en-US" dirty="0"/>
              <a:t>」など。</a:t>
            </a:r>
            <a:endParaRPr lang="en-US" altLang="ja-JP" dirty="0"/>
          </a:p>
          <a:p>
            <a:pPr marL="514350" indent="-514350">
              <a:buFont typeface="+mj-lt"/>
              <a:buAutoNum type="arabicPeriod"/>
            </a:pPr>
            <a:r>
              <a:rPr lang="en-US" altLang="ja-JP" sz="2400" dirty="0"/>
              <a:t>FMEA</a:t>
            </a:r>
            <a:r>
              <a:rPr lang="ja-JP" altLang="en-US" sz="2400" dirty="0"/>
              <a:t>（</a:t>
            </a:r>
            <a:r>
              <a:rPr lang="en-US" altLang="ja-JP" sz="2400" dirty="0"/>
              <a:t>DFMEA</a:t>
            </a:r>
            <a:r>
              <a:rPr lang="ja-JP" altLang="en-US" sz="2400" dirty="0"/>
              <a:t>及び</a:t>
            </a:r>
            <a:r>
              <a:rPr lang="en-US" altLang="ja-JP" sz="2400" dirty="0"/>
              <a:t>PFMEA</a:t>
            </a:r>
            <a:r>
              <a:rPr lang="ja-JP" altLang="en-US" sz="2400" dirty="0"/>
              <a:t>）は、</a:t>
            </a:r>
            <a:r>
              <a:rPr lang="en-US" altLang="ja-JP" sz="2400" dirty="0"/>
              <a:t>8.3</a:t>
            </a:r>
            <a:r>
              <a:rPr lang="ja-JP" altLang="en-US" sz="2400" dirty="0"/>
              <a:t>項により実施要求がある。最低限、</a:t>
            </a:r>
            <a:r>
              <a:rPr lang="en-US" altLang="ja-JP" sz="2400" dirty="0"/>
              <a:t>8.3</a:t>
            </a:r>
            <a:r>
              <a:rPr lang="ja-JP" altLang="en-US" sz="2400" dirty="0"/>
              <a:t>項の実施により</a:t>
            </a:r>
            <a:r>
              <a:rPr lang="en-US" altLang="ja-JP" sz="2400" dirty="0"/>
              <a:t>6.1.2.1</a:t>
            </a:r>
            <a:r>
              <a:rPr lang="ja-JP" altLang="en-US" sz="2400" dirty="0"/>
              <a:t>項は適合する。</a:t>
            </a:r>
            <a:endParaRPr lang="en-US" altLang="ja-JP" sz="2400" dirty="0"/>
          </a:p>
        </p:txBody>
      </p:sp>
    </p:spTree>
    <p:extLst>
      <p:ext uri="{BB962C8B-B14F-4D97-AF65-F5344CB8AC3E}">
        <p14:creationId xmlns:p14="http://schemas.microsoft.com/office/powerpoint/2010/main" val="36867832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6.1.2.1</a:t>
            </a:r>
            <a:r>
              <a:rPr lang="ja-JP" altLang="en-US" sz="3000" b="1" dirty="0">
                <a:solidFill>
                  <a:schemeClr val="bg1"/>
                </a:solidFill>
              </a:rPr>
              <a:t>　リスク分析</a:t>
            </a:r>
          </a:p>
        </p:txBody>
      </p:sp>
      <p:sp>
        <p:nvSpPr>
          <p:cNvPr id="3" name="コンテンツ プレースホルダー 2">
            <a:extLst>
              <a:ext uri="{FF2B5EF4-FFF2-40B4-BE49-F238E27FC236}">
                <a16:creationId xmlns:a16="http://schemas.microsoft.com/office/drawing/2014/main" id="{E76154AE-CD82-4A3C-B914-037C7B0B7D52}"/>
              </a:ext>
            </a:extLst>
          </p:cNvPr>
          <p:cNvSpPr>
            <a:spLocks noGrp="1"/>
          </p:cNvSpPr>
          <p:nvPr>
            <p:ph idx="1"/>
          </p:nvPr>
        </p:nvSpPr>
        <p:spPr>
          <a:xfrm>
            <a:off x="838200" y="1584960"/>
            <a:ext cx="10515600" cy="4592003"/>
          </a:xfrm>
        </p:spPr>
        <p:txBody>
          <a:bodyPr/>
          <a:lstStyle/>
          <a:p>
            <a:pPr marL="514350" indent="-514350">
              <a:buFont typeface="+mj-lt"/>
              <a:buAutoNum type="arabicPeriod" startAt="3"/>
            </a:pPr>
            <a:r>
              <a:rPr lang="en-US" altLang="ja-JP" dirty="0"/>
              <a:t>IATF</a:t>
            </a:r>
            <a:r>
              <a:rPr lang="ja-JP" altLang="en-US" dirty="0"/>
              <a:t>要求事項とリスク分析について。</a:t>
            </a:r>
            <a:endParaRPr lang="en-US" altLang="ja-JP" dirty="0"/>
          </a:p>
          <a:p>
            <a:pPr lvl="1">
              <a:buFont typeface="Wingdings" panose="05000000000000000000" pitchFamily="2" charset="2"/>
              <a:buChar char="Ø"/>
            </a:pPr>
            <a:r>
              <a:rPr lang="ja-JP" altLang="en-US" dirty="0"/>
              <a:t>リスク分析を要求　➠　</a:t>
            </a:r>
            <a:r>
              <a:rPr lang="en-US" altLang="ja-JP" dirty="0"/>
              <a:t>16</a:t>
            </a:r>
            <a:r>
              <a:rPr lang="ja-JP" altLang="en-US" dirty="0"/>
              <a:t>カ所</a:t>
            </a:r>
            <a:endParaRPr lang="en-US" altLang="ja-JP" dirty="0"/>
          </a:p>
          <a:p>
            <a:pPr lvl="2"/>
            <a:r>
              <a:rPr lang="ja-JP" altLang="en-US" sz="2400" dirty="0"/>
              <a:t>製品設計リスク分析、工程設計リスク分析、第二者監査計画・・・</a:t>
            </a:r>
            <a:endParaRPr lang="en-US" altLang="ja-JP" sz="2400" dirty="0"/>
          </a:p>
          <a:p>
            <a:pPr lvl="1">
              <a:buFont typeface="Wingdings" panose="05000000000000000000" pitchFamily="2" charset="2"/>
              <a:buChar char="Ø"/>
            </a:pPr>
            <a:r>
              <a:rPr lang="ja-JP" altLang="en-US" dirty="0"/>
              <a:t>リスクへの取組みに関する要求　➠　</a:t>
            </a:r>
            <a:r>
              <a:rPr lang="en-US" altLang="ja-JP" dirty="0"/>
              <a:t>45</a:t>
            </a:r>
            <a:r>
              <a:rPr lang="ja-JP" altLang="en-US" dirty="0"/>
              <a:t>カ所</a:t>
            </a:r>
            <a:endParaRPr lang="en-US" altLang="ja-JP" dirty="0"/>
          </a:p>
          <a:p>
            <a:pPr lvl="2"/>
            <a:r>
              <a:rPr lang="ja-JP" altLang="en-US" sz="2400" dirty="0"/>
              <a:t>工場計画時、校正外れ時、トレーサビリティ計画時・・・</a:t>
            </a:r>
            <a:endParaRPr lang="en-US" altLang="ja-JP" sz="2400" dirty="0"/>
          </a:p>
        </p:txBody>
      </p:sp>
      <p:sp>
        <p:nvSpPr>
          <p:cNvPr id="8" name="矢印: 下 7">
            <a:extLst>
              <a:ext uri="{FF2B5EF4-FFF2-40B4-BE49-F238E27FC236}">
                <a16:creationId xmlns:a16="http://schemas.microsoft.com/office/drawing/2014/main" id="{A32892A3-B0D4-420F-B0C5-1A23307B3D48}"/>
              </a:ext>
            </a:extLst>
          </p:cNvPr>
          <p:cNvSpPr/>
          <p:nvPr/>
        </p:nvSpPr>
        <p:spPr>
          <a:xfrm>
            <a:off x="5303520" y="3779520"/>
            <a:ext cx="1584960" cy="396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3AD35DC0-D5AF-4FD1-9BE7-41B1C362DA8B}"/>
              </a:ext>
            </a:extLst>
          </p:cNvPr>
          <p:cNvSpPr/>
          <p:nvPr/>
        </p:nvSpPr>
        <p:spPr>
          <a:xfrm>
            <a:off x="1782896" y="4276870"/>
            <a:ext cx="8626208" cy="1398759"/>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ja-JP" sz="2200" dirty="0">
                <a:solidFill>
                  <a:schemeClr val="tx1"/>
                </a:solidFill>
              </a:rPr>
              <a:t>ISO9001</a:t>
            </a:r>
            <a:r>
              <a:rPr lang="ja-JP" altLang="en-US" sz="2200" dirty="0">
                <a:solidFill>
                  <a:schemeClr val="tx1"/>
                </a:solidFill>
              </a:rPr>
              <a:t>は「リスク及び機会」であるが、</a:t>
            </a:r>
            <a:r>
              <a:rPr lang="en-US" altLang="ja-JP" sz="2200" dirty="0">
                <a:solidFill>
                  <a:srgbClr val="FF0000"/>
                </a:solidFill>
                <a:effectLst>
                  <a:outerShdw blurRad="38100" dist="38100" dir="2700000" algn="tl">
                    <a:srgbClr val="000000">
                      <a:alpha val="43137"/>
                    </a:srgbClr>
                  </a:outerShdw>
                </a:effectLst>
              </a:rPr>
              <a:t>IATF</a:t>
            </a:r>
            <a:r>
              <a:rPr lang="ja-JP" altLang="en-US" sz="2200" dirty="0">
                <a:solidFill>
                  <a:srgbClr val="FF0000"/>
                </a:solidFill>
                <a:effectLst>
                  <a:outerShdw blurRad="38100" dist="38100" dir="2700000" algn="tl">
                    <a:srgbClr val="000000">
                      <a:alpha val="43137"/>
                    </a:srgbClr>
                  </a:outerShdw>
                </a:effectLst>
              </a:rPr>
              <a:t>は「リスク回避」に重心を置いている。</a:t>
            </a:r>
            <a:r>
              <a:rPr lang="ja-JP" altLang="en-US" sz="2200" dirty="0">
                <a:solidFill>
                  <a:schemeClr val="tx1"/>
                </a:solidFill>
              </a:rPr>
              <a:t>（企業責任、製品安全、顧客への影響）</a:t>
            </a:r>
            <a:endParaRPr kumimoji="1" lang="ja-JP" altLang="en-US" sz="2200" dirty="0">
              <a:solidFill>
                <a:schemeClr val="tx1"/>
              </a:solidFill>
            </a:endParaRPr>
          </a:p>
        </p:txBody>
      </p:sp>
    </p:spTree>
    <p:extLst>
      <p:ext uri="{BB962C8B-B14F-4D97-AF65-F5344CB8AC3E}">
        <p14:creationId xmlns:p14="http://schemas.microsoft.com/office/powerpoint/2010/main" val="33051025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☑組織は、起こり得る不適合が発生することを防止するために、その原因を除去する処置を決め、実施しなければならない。</a:t>
            </a:r>
            <a:endParaRPr lang="en-US" altLang="ja-JP" sz="2000" dirty="0"/>
          </a:p>
          <a:p>
            <a:pPr marL="0" indent="0">
              <a:lnSpc>
                <a:spcPct val="100000"/>
              </a:lnSpc>
              <a:buNone/>
            </a:pPr>
            <a:r>
              <a:rPr lang="ja-JP" altLang="en-US" sz="2000" dirty="0"/>
              <a:t>☑予防処置は、起こり得る問題の重大性に応じたものでなければならない。</a:t>
            </a:r>
            <a:endParaRPr lang="en-US" altLang="ja-JP" sz="2000" dirty="0"/>
          </a:p>
          <a:p>
            <a:pPr marL="0" indent="0">
              <a:lnSpc>
                <a:spcPct val="100000"/>
              </a:lnSpc>
              <a:buNone/>
            </a:pPr>
            <a:r>
              <a:rPr lang="ja-JP" altLang="en-US" sz="2000" dirty="0"/>
              <a:t>☑組織は、次の事項を含む、</a:t>
            </a:r>
            <a:r>
              <a:rPr lang="ja-JP" altLang="en-US" sz="2000" u="sng" dirty="0"/>
              <a:t>リスクの悪影響を及ぼす度合いを減少させるプロセスを確立しなければならない。</a:t>
            </a:r>
            <a:endParaRPr lang="en-US" altLang="ja-JP" sz="2000" u="sng" dirty="0"/>
          </a:p>
          <a:p>
            <a:pPr marL="800100" lvl="1" indent="-342900">
              <a:lnSpc>
                <a:spcPct val="100000"/>
              </a:lnSpc>
              <a:buFont typeface="+mj-lt"/>
              <a:buAutoNum type="alphaLcPeriod"/>
            </a:pPr>
            <a:r>
              <a:rPr lang="ja-JP" altLang="en-US" sz="2000" dirty="0"/>
              <a:t>起こり得る不適合及びその原因の特定</a:t>
            </a:r>
            <a:endParaRPr lang="en-US" altLang="ja-JP" sz="2000" dirty="0"/>
          </a:p>
          <a:p>
            <a:pPr marL="800100" lvl="1" indent="-342900">
              <a:lnSpc>
                <a:spcPct val="100000"/>
              </a:lnSpc>
              <a:buFont typeface="+mj-lt"/>
              <a:buAutoNum type="alphaLcPeriod"/>
            </a:pPr>
            <a:r>
              <a:rPr lang="ja-JP" altLang="en-US" sz="2000" dirty="0"/>
              <a:t>不適合の発生を予防するための処置の必要性の評価</a:t>
            </a:r>
            <a:endParaRPr lang="en-US" altLang="ja-JP" sz="2000" dirty="0"/>
          </a:p>
          <a:p>
            <a:pPr marL="800100" lvl="1" indent="-342900">
              <a:lnSpc>
                <a:spcPct val="100000"/>
              </a:lnSpc>
              <a:buFont typeface="+mj-lt"/>
              <a:buAutoNum type="alphaLcPeriod"/>
            </a:pPr>
            <a:r>
              <a:rPr lang="ja-JP" altLang="en-US" sz="2000" dirty="0"/>
              <a:t>必要な処置の決定及び実施</a:t>
            </a:r>
            <a:endParaRPr lang="en-US" altLang="ja-JP" sz="2000" dirty="0"/>
          </a:p>
          <a:p>
            <a:pPr marL="800100" lvl="1" indent="-342900">
              <a:lnSpc>
                <a:spcPct val="100000"/>
              </a:lnSpc>
              <a:buFont typeface="+mj-lt"/>
              <a:buAutoNum type="alphaLcPeriod"/>
            </a:pPr>
            <a:r>
              <a:rPr lang="ja-JP" altLang="en-US" sz="2000" dirty="0"/>
              <a:t>とった処置の文書化した情報</a:t>
            </a:r>
            <a:endParaRPr lang="en-US" altLang="ja-JP" sz="2000" dirty="0"/>
          </a:p>
          <a:p>
            <a:pPr marL="800100" lvl="1" indent="-342900">
              <a:lnSpc>
                <a:spcPct val="100000"/>
              </a:lnSpc>
              <a:buFont typeface="+mj-lt"/>
              <a:buAutoNum type="alphaLcPeriod"/>
            </a:pPr>
            <a:r>
              <a:rPr lang="ja-JP" altLang="en-US" sz="2000" dirty="0"/>
              <a:t>とった予防処置の有効性のレビュー</a:t>
            </a:r>
            <a:endParaRPr lang="en-US" altLang="ja-JP" sz="2000" dirty="0"/>
          </a:p>
          <a:p>
            <a:pPr marL="800100" lvl="1" indent="-342900">
              <a:lnSpc>
                <a:spcPct val="100000"/>
              </a:lnSpc>
              <a:buFont typeface="+mj-lt"/>
              <a:buAutoNum type="alphaLcPeriod"/>
            </a:pPr>
            <a:r>
              <a:rPr lang="ja-JP" altLang="en-US" sz="2000" dirty="0"/>
              <a:t>類似プロセスでの再発を防止するために学んだ教訓の利用（</a:t>
            </a:r>
            <a:r>
              <a:rPr lang="en-US" altLang="ja-JP" sz="2000" dirty="0"/>
              <a:t>ISO9001</a:t>
            </a:r>
            <a:r>
              <a:rPr lang="ja-JP" altLang="en-US" sz="2000" dirty="0"/>
              <a:t>の</a:t>
            </a:r>
            <a:r>
              <a:rPr lang="en-US" altLang="ja-JP" sz="2000" dirty="0"/>
              <a:t>7.1.6</a:t>
            </a:r>
            <a:r>
              <a:rPr lang="ja-JP" altLang="en-US" sz="2000" dirty="0"/>
              <a:t>参照）</a:t>
            </a:r>
          </a:p>
          <a:p>
            <a:pPr marL="800100" lvl="1" indent="-342900">
              <a:buFont typeface="+mj-lt"/>
              <a:buAutoNum type="alphaLcPeriod" startAt="9"/>
            </a:pP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6.1.2.2</a:t>
            </a:r>
            <a:r>
              <a:rPr kumimoji="1" lang="ja-JP" altLang="en-US" sz="3000" b="1" dirty="0">
                <a:solidFill>
                  <a:schemeClr val="tx2"/>
                </a:solidFill>
              </a:rPr>
              <a:t>　予防処置</a:t>
            </a:r>
          </a:p>
        </p:txBody>
      </p:sp>
    </p:spTree>
    <p:extLst>
      <p:ext uri="{BB962C8B-B14F-4D97-AF65-F5344CB8AC3E}">
        <p14:creationId xmlns:p14="http://schemas.microsoft.com/office/powerpoint/2010/main" val="173984991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lnSpcReduction="10000"/>
          </a:bodyPr>
          <a:lstStyle/>
          <a:p>
            <a:pPr marL="457200" indent="-457200">
              <a:buFont typeface="+mj-lt"/>
              <a:buAutoNum type="arabicPeriod"/>
            </a:pPr>
            <a:r>
              <a:rPr lang="en-US" altLang="ja-JP" sz="2400" dirty="0"/>
              <a:t>ISO9001:2008</a:t>
            </a:r>
            <a:r>
              <a:rPr lang="ja-JP" altLang="en-US" sz="2400" dirty="0"/>
              <a:t>の踏襲。</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予防処置の対象事象を発見する主となる方法。</a:t>
            </a:r>
            <a:endParaRPr lang="en-US" altLang="ja-JP" sz="2400" dirty="0"/>
          </a:p>
          <a:p>
            <a:pPr lvl="1">
              <a:buFont typeface="Wingdings" panose="05000000000000000000" pitchFamily="2" charset="2"/>
              <a:buChar char="Ø"/>
            </a:pPr>
            <a:r>
              <a:rPr lang="en-US" altLang="ja-JP" dirty="0"/>
              <a:t>FMEA</a:t>
            </a:r>
            <a:r>
              <a:rPr lang="ja-JP" altLang="en-US" dirty="0"/>
              <a:t>の結果（</a:t>
            </a:r>
            <a:r>
              <a:rPr lang="en-US" altLang="ja-JP" dirty="0"/>
              <a:t>DFMEA</a:t>
            </a:r>
            <a:r>
              <a:rPr lang="ja-JP" altLang="en-US" dirty="0"/>
              <a:t>／</a:t>
            </a:r>
            <a:r>
              <a:rPr lang="en-US" altLang="ja-JP" dirty="0"/>
              <a:t>PFMEA</a:t>
            </a:r>
            <a:r>
              <a:rPr lang="ja-JP" altLang="en-US" dirty="0"/>
              <a:t>）</a:t>
            </a:r>
            <a:endParaRPr lang="en-US" altLang="ja-JP" dirty="0"/>
          </a:p>
          <a:p>
            <a:pPr lvl="1">
              <a:buFont typeface="Wingdings" panose="05000000000000000000" pitchFamily="2" charset="2"/>
              <a:buChar char="Ø"/>
            </a:pPr>
            <a:r>
              <a:rPr lang="ja-JP" altLang="en-US" dirty="0"/>
              <a:t>製品及び工程の傾向分析（</a:t>
            </a:r>
            <a:r>
              <a:rPr lang="en-US" altLang="ja-JP" dirty="0"/>
              <a:t>SPC</a:t>
            </a:r>
            <a:r>
              <a:rPr lang="ja-JP" altLang="en-US" dirty="0"/>
              <a:t>（管理図／工程能力など））</a:t>
            </a:r>
            <a:endParaRPr lang="en-US" altLang="ja-JP" dirty="0"/>
          </a:p>
          <a:p>
            <a:pPr lvl="1">
              <a:buFont typeface="Wingdings" panose="05000000000000000000" pitchFamily="2" charset="2"/>
              <a:buChar char="Ø"/>
            </a:pPr>
            <a:r>
              <a:rPr lang="ja-JP" altLang="en-US" dirty="0"/>
              <a:t>プロセスの傾向分析（プロセス指標の傾向など）</a:t>
            </a:r>
            <a:endParaRPr lang="en-US" altLang="ja-JP" dirty="0"/>
          </a:p>
          <a:p>
            <a:pPr lvl="1">
              <a:buFont typeface="Wingdings" panose="05000000000000000000" pitchFamily="2" charset="2"/>
              <a:buChar char="Ø"/>
            </a:pPr>
            <a:r>
              <a:rPr lang="ja-JP" altLang="en-US" dirty="0"/>
              <a:t>顧客からの情報（組織のプロセス及び製品と同種同類のリコール情報など）</a:t>
            </a:r>
            <a:endParaRPr lang="en-US" altLang="ja-JP" dirty="0"/>
          </a:p>
          <a:p>
            <a:pPr marL="457200" indent="-457200">
              <a:buFont typeface="+mj-lt"/>
              <a:buAutoNum type="arabicPeriod"/>
            </a:pPr>
            <a:r>
              <a:rPr lang="ja-JP" altLang="en-US" sz="2400" dirty="0"/>
              <a:t>基本的流れ。</a:t>
            </a:r>
            <a:endParaRPr lang="en-US" altLang="ja-JP" sz="2400" dirty="0"/>
          </a:p>
          <a:p>
            <a:pPr marL="457200" lvl="1" indent="0">
              <a:buNone/>
            </a:pPr>
            <a:r>
              <a:rPr lang="ja-JP" altLang="en-US" dirty="0"/>
              <a:t>対象事象の発見　➠　処置の必要性評価　➠　処置の決定と実施　➠　結果の評価　➠　活動の記録</a:t>
            </a:r>
            <a:endParaRPr lang="en-US" altLang="ja-JP"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6.1.2.2</a:t>
            </a:r>
            <a:r>
              <a:rPr lang="ja-JP" altLang="en-US" sz="3000" b="1" dirty="0">
                <a:solidFill>
                  <a:schemeClr val="bg1"/>
                </a:solidFill>
              </a:rPr>
              <a:t>　予防処置</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3D57FF02-2ED1-4D8C-9B3B-597117782FD3}"/>
              </a:ext>
            </a:extLst>
          </p:cNvPr>
          <p:cNvGraphicFramePr>
            <a:graphicFrameLocks noGrp="1"/>
          </p:cNvGraphicFramePr>
          <p:nvPr>
            <p:extLst>
              <p:ext uri="{D42A27DB-BD31-4B8C-83A1-F6EECF244321}">
                <p14:modId xmlns:p14="http://schemas.microsoft.com/office/powerpoint/2010/main" val="2974245167"/>
              </p:ext>
            </p:extLst>
          </p:nvPr>
        </p:nvGraphicFramePr>
        <p:xfrm>
          <a:off x="1359971" y="1843387"/>
          <a:ext cx="8995884" cy="792480"/>
        </p:xfrm>
        <a:graphic>
          <a:graphicData uri="http://schemas.openxmlformats.org/drawingml/2006/table">
            <a:tbl>
              <a:tblPr firstRow="1" bandRow="1">
                <a:tableStyleId>{5940675A-B579-460E-94D1-54222C63F5DA}</a:tableStyleId>
              </a:tblPr>
              <a:tblGrid>
                <a:gridCol w="5066958">
                  <a:extLst>
                    <a:ext uri="{9D8B030D-6E8A-4147-A177-3AD203B41FA5}">
                      <a16:colId xmlns:a16="http://schemas.microsoft.com/office/drawing/2014/main" val="2410671675"/>
                    </a:ext>
                  </a:extLst>
                </a:gridCol>
                <a:gridCol w="3928926">
                  <a:extLst>
                    <a:ext uri="{9D8B030D-6E8A-4147-A177-3AD203B41FA5}">
                      <a16:colId xmlns:a16="http://schemas.microsoft.com/office/drawing/2014/main" val="2671161645"/>
                    </a:ext>
                  </a:extLst>
                </a:gridCol>
              </a:tblGrid>
              <a:tr h="370840">
                <a:tc>
                  <a:txBody>
                    <a:bodyPr/>
                    <a:lstStyle/>
                    <a:p>
                      <a:r>
                        <a:rPr kumimoji="1" lang="en-US" altLang="ja-JP" sz="2000" dirty="0"/>
                        <a:t>ISO9001:2008</a:t>
                      </a:r>
                      <a:r>
                        <a:rPr kumimoji="1" lang="ja-JP" altLang="en-US" sz="2000" dirty="0"/>
                        <a:t>要求事項</a:t>
                      </a:r>
                    </a:p>
                  </a:txBody>
                  <a:tcPr>
                    <a:solidFill>
                      <a:schemeClr val="tx2">
                        <a:lumMod val="20000"/>
                        <a:lumOff val="80000"/>
                      </a:schemeClr>
                    </a:solidFill>
                  </a:tcPr>
                </a:tc>
                <a:tc>
                  <a:txBody>
                    <a:bodyPr/>
                    <a:lstStyle/>
                    <a:p>
                      <a:r>
                        <a:rPr kumimoji="1" lang="en-US" altLang="ja-JP" sz="2000" dirty="0"/>
                        <a:t>a)</a:t>
                      </a:r>
                      <a:r>
                        <a:rPr kumimoji="1" lang="ja-JP" altLang="en-US" sz="2000" dirty="0"/>
                        <a:t>～</a:t>
                      </a:r>
                      <a:r>
                        <a:rPr kumimoji="1" lang="en-US" altLang="ja-JP" sz="2000" dirty="0"/>
                        <a:t>e)</a:t>
                      </a:r>
                      <a:endParaRPr kumimoji="1" lang="ja-JP" altLang="en-US" sz="2000" dirty="0"/>
                    </a:p>
                  </a:txBody>
                  <a:tcPr>
                    <a:solidFill>
                      <a:schemeClr val="tx2">
                        <a:lumMod val="20000"/>
                        <a:lumOff val="80000"/>
                      </a:schemeClr>
                    </a:solidFill>
                  </a:tcPr>
                </a:tc>
                <a:extLst>
                  <a:ext uri="{0D108BD9-81ED-4DB2-BD59-A6C34878D82A}">
                    <a16:rowId xmlns:a16="http://schemas.microsoft.com/office/drawing/2014/main" val="202028219"/>
                  </a:ext>
                </a:extLst>
              </a:tr>
              <a:tr h="370840">
                <a:tc>
                  <a:txBody>
                    <a:bodyPr/>
                    <a:lstStyle/>
                    <a:p>
                      <a:r>
                        <a:rPr kumimoji="1" lang="en-US" altLang="ja-JP" sz="2000" dirty="0"/>
                        <a:t>IATF16949:2016</a:t>
                      </a:r>
                      <a:r>
                        <a:rPr kumimoji="1" lang="ja-JP" altLang="en-US" sz="2000" dirty="0"/>
                        <a:t>追加要求事項</a:t>
                      </a:r>
                    </a:p>
                  </a:txBody>
                  <a:tcPr>
                    <a:solidFill>
                      <a:schemeClr val="tx2">
                        <a:lumMod val="20000"/>
                        <a:lumOff val="80000"/>
                      </a:schemeClr>
                    </a:solidFill>
                  </a:tcPr>
                </a:tc>
                <a:tc>
                  <a:txBody>
                    <a:bodyPr/>
                    <a:lstStyle/>
                    <a:p>
                      <a:r>
                        <a:rPr kumimoji="1" lang="en-US" altLang="ja-JP" sz="2000" dirty="0"/>
                        <a:t>f)</a:t>
                      </a:r>
                      <a:r>
                        <a:rPr kumimoji="1" lang="ja-JP" altLang="en-US" sz="2000" dirty="0"/>
                        <a:t>　</a:t>
                      </a:r>
                      <a:r>
                        <a:rPr kumimoji="1" lang="en-US" altLang="ja-JP" sz="2000" dirty="0"/>
                        <a:t>※ISO9001:2015</a:t>
                      </a:r>
                      <a:r>
                        <a:rPr kumimoji="1" lang="ja-JP" altLang="en-US" sz="2000" dirty="0"/>
                        <a:t>　</a:t>
                      </a:r>
                      <a:r>
                        <a:rPr kumimoji="1" lang="en-US" altLang="ja-JP" sz="2000" dirty="0"/>
                        <a:t>7.1.6</a:t>
                      </a:r>
                      <a:endParaRPr kumimoji="1" lang="ja-JP" altLang="en-US" sz="2000" dirty="0"/>
                    </a:p>
                  </a:txBody>
                  <a:tcPr>
                    <a:solidFill>
                      <a:schemeClr val="tx2">
                        <a:lumMod val="20000"/>
                        <a:lumOff val="80000"/>
                      </a:schemeClr>
                    </a:solidFill>
                  </a:tcPr>
                </a:tc>
                <a:extLst>
                  <a:ext uri="{0D108BD9-81ED-4DB2-BD59-A6C34878D82A}">
                    <a16:rowId xmlns:a16="http://schemas.microsoft.com/office/drawing/2014/main" val="1191807165"/>
                  </a:ext>
                </a:extLst>
              </a:tr>
            </a:tbl>
          </a:graphicData>
        </a:graphic>
      </p:graphicFrame>
    </p:spTree>
    <p:extLst>
      <p:ext uri="{BB962C8B-B14F-4D97-AF65-F5344CB8AC3E}">
        <p14:creationId xmlns:p14="http://schemas.microsoft.com/office/powerpoint/2010/main" val="2439884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119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☑組織は、次の事項を実施しなければならない。</a:t>
            </a:r>
            <a:endParaRPr lang="en-US" altLang="ja-JP" sz="2000" dirty="0"/>
          </a:p>
          <a:p>
            <a:pPr marL="800100" lvl="1" indent="-342900">
              <a:lnSpc>
                <a:spcPct val="100000"/>
              </a:lnSpc>
              <a:buFont typeface="+mj-lt"/>
              <a:buAutoNum type="alphaLcPeriod"/>
            </a:pPr>
            <a:r>
              <a:rPr lang="ja-JP" altLang="en-US" sz="2000" dirty="0"/>
              <a:t>顧客要求事項が満たされることを確実にし、生産からのアウトプットを維持するのに不可欠な全ての製造工程及びインフラストラクチャの設備に対する</a:t>
            </a:r>
            <a:r>
              <a:rPr lang="ja-JP" altLang="en-US" sz="2000" u="sng" dirty="0"/>
              <a:t>内部及び外部のリスクを特定し評価する。</a:t>
            </a:r>
            <a:endParaRPr lang="en-US" altLang="ja-JP" sz="2000" u="sng" dirty="0"/>
          </a:p>
          <a:p>
            <a:pPr marL="800100" lvl="1" indent="-342900">
              <a:lnSpc>
                <a:spcPct val="100000"/>
              </a:lnSpc>
              <a:buFont typeface="+mj-lt"/>
              <a:buAutoNum type="alphaLcPeriod"/>
            </a:pPr>
            <a:r>
              <a:rPr lang="ja-JP" altLang="en-US" sz="2000" u="sng" dirty="0"/>
              <a:t>顧客へのリスク及び影響に従って、緊急事態対応計画を定める。</a:t>
            </a:r>
            <a:endParaRPr lang="en-US" altLang="ja-JP" sz="2000" u="sng" dirty="0"/>
          </a:p>
          <a:p>
            <a:pPr marL="800100" lvl="1" indent="-342900">
              <a:lnSpc>
                <a:spcPct val="100000"/>
              </a:lnSpc>
              <a:buFont typeface="+mj-lt"/>
              <a:buAutoNum type="alphaLcPeriod"/>
            </a:pPr>
            <a:r>
              <a:rPr lang="ja-JP" altLang="en-US" sz="2000" dirty="0"/>
              <a:t>次の事態において、供給の継続のために緊急事態対応計画を準備する。</a:t>
            </a:r>
            <a:r>
              <a:rPr lang="ja-JP" altLang="en-US" sz="2000" dirty="0">
                <a:solidFill>
                  <a:srgbClr val="FF0000"/>
                </a:solidFill>
              </a:rPr>
              <a:t>しかし、そ れに限定されない。</a:t>
            </a:r>
            <a:r>
              <a:rPr lang="ja-JP" altLang="en-US" sz="2000" u="sng" dirty="0"/>
              <a:t>主要設備の故障（</a:t>
            </a:r>
            <a:r>
              <a:rPr lang="en-US" altLang="ja-JP" sz="2000" u="sng" dirty="0"/>
              <a:t>8.5.6.1.1</a:t>
            </a:r>
            <a:r>
              <a:rPr lang="ja-JP" altLang="en-US" sz="2000" u="sng" dirty="0"/>
              <a:t>も参照）、外部から提供される製品、プロセス、及びサービスの中断、繰り返し発生する自然災害、火事、ユーティリティの停止、情報技術システムに対するサイバー攻撃、労働力不足、又はインフラストラクチャ障害</a:t>
            </a:r>
            <a:endParaRPr lang="en-US" altLang="ja-JP" sz="2000" u="sng" dirty="0"/>
          </a:p>
          <a:p>
            <a:pPr marL="800100" lvl="1" indent="-342900">
              <a:lnSpc>
                <a:spcPct val="100000"/>
              </a:lnSpc>
              <a:buFont typeface="+mj-lt"/>
              <a:buAutoNum type="alphaLcPeriod"/>
            </a:pPr>
            <a:r>
              <a:rPr lang="ja-JP" altLang="en-US" sz="2000" dirty="0"/>
              <a:t>顧客の操業に影響するいかなる状況も、その程度及び期間に対して、</a:t>
            </a:r>
            <a:r>
              <a:rPr lang="ja-JP" altLang="en-US" sz="2000" u="sng" dirty="0"/>
              <a:t>顧客及び他の利害関係者への通知プロセス</a:t>
            </a:r>
            <a:r>
              <a:rPr lang="ja-JP" altLang="en-US" sz="2000" dirty="0"/>
              <a:t>を、緊急事態対応計画の補完として含める。</a:t>
            </a:r>
            <a:endParaRPr lang="en-US" altLang="ja-JP" sz="2000" dirty="0"/>
          </a:p>
          <a:p>
            <a:pPr marL="800100" lvl="1" indent="-342900">
              <a:lnSpc>
                <a:spcPct val="100000"/>
              </a:lnSpc>
              <a:buFont typeface="+mj-lt"/>
              <a:buAutoNum type="alphaLcPeriod"/>
            </a:pPr>
            <a:r>
              <a:rPr lang="ja-JP" altLang="en-US" sz="2000" dirty="0"/>
              <a:t>有効性（例　必要に応じて、シミュレーション）について、</a:t>
            </a:r>
            <a:r>
              <a:rPr lang="ja-JP" altLang="en-US" sz="2000" u="sng" dirty="0"/>
              <a:t>定期的に緊急事態対応計画をテストする。</a:t>
            </a:r>
            <a:endParaRPr lang="en-US" altLang="ja-JP" sz="2000" u="sng"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6.1.2.3</a:t>
            </a:r>
            <a:r>
              <a:rPr lang="ja-JP" altLang="en-US" sz="3000" b="1" dirty="0">
                <a:solidFill>
                  <a:schemeClr val="tx2"/>
                </a:solidFill>
              </a:rPr>
              <a:t>　緊急事態対応計画</a:t>
            </a:r>
            <a:endParaRPr kumimoji="1" lang="ja-JP" altLang="en-US" sz="3000" b="1" dirty="0">
              <a:solidFill>
                <a:schemeClr val="tx2"/>
              </a:solidFill>
            </a:endParaRPr>
          </a:p>
        </p:txBody>
      </p:sp>
    </p:spTree>
    <p:extLst>
      <p:ext uri="{BB962C8B-B14F-4D97-AF65-F5344CB8AC3E}">
        <p14:creationId xmlns:p14="http://schemas.microsoft.com/office/powerpoint/2010/main" val="173767756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2" indent="0">
              <a:lnSpc>
                <a:spcPct val="100000"/>
              </a:lnSpc>
              <a:buNone/>
            </a:pPr>
            <a:r>
              <a:rPr lang="ja-JP" altLang="en-US" dirty="0"/>
              <a:t>サイバーセキュリティテストの実施には、サイバーアタックのシミュレーション、　　特定の脅威に対する定期的監視、依存性の特定、及び脆弱性の優先順位付けを含むであろう。テストの実施は関連する顧客操業中断リスクに見合うものとする。</a:t>
            </a:r>
          </a:p>
          <a:p>
            <a:pPr marL="914400" lvl="2" indent="0">
              <a:lnSpc>
                <a:spcPct val="100000"/>
              </a:lnSpc>
              <a:buNone/>
            </a:pPr>
            <a:r>
              <a:rPr lang="ja-JP" altLang="en-US" dirty="0"/>
              <a:t>注記： </a:t>
            </a:r>
            <a:r>
              <a:rPr lang="ja-JP" altLang="en-US" u="sng" dirty="0"/>
              <a:t>サイバーセキュリティテストの実施は</a:t>
            </a:r>
            <a:r>
              <a:rPr lang="ja-JP" altLang="en-US" dirty="0"/>
              <a:t>、適宜、組織によって内部的に運用されるか、</a:t>
            </a:r>
            <a:r>
              <a:rPr lang="ja-JP" altLang="en-US" u="sng" dirty="0"/>
              <a:t>外注されるであろう。</a:t>
            </a:r>
            <a:endParaRPr lang="en-US" altLang="ja-JP" u="sng" dirty="0"/>
          </a:p>
          <a:p>
            <a:pPr marL="914400" lvl="1" indent="-457200">
              <a:lnSpc>
                <a:spcPct val="100000"/>
              </a:lnSpc>
              <a:buFont typeface="+mj-lt"/>
              <a:buAutoNum type="alphaLcPeriod" startAt="6"/>
            </a:pPr>
            <a:r>
              <a:rPr lang="ja-JP" altLang="en-US" sz="2000" dirty="0"/>
              <a:t>トップマネジメントを含む</a:t>
            </a:r>
            <a:r>
              <a:rPr lang="ja-JP" altLang="en-US" sz="2000" b="1" u="sng" dirty="0"/>
              <a:t>部門横断チーム</a:t>
            </a:r>
            <a:r>
              <a:rPr lang="ja-JP" altLang="en-US" sz="2000" u="sng" dirty="0"/>
              <a:t>によって</a:t>
            </a:r>
            <a:r>
              <a:rPr lang="ja-JP" altLang="en-US" sz="2000" dirty="0"/>
              <a:t>、緊急事態対応計画のレビューを行い（最低限、年次で）、</a:t>
            </a:r>
            <a:r>
              <a:rPr lang="ja-JP" altLang="en-US" sz="2000" u="sng" dirty="0"/>
              <a:t>必要に応じて更新する。</a:t>
            </a:r>
          </a:p>
          <a:p>
            <a:pPr marL="914400" lvl="1" indent="-457200">
              <a:lnSpc>
                <a:spcPct val="100000"/>
              </a:lnSpc>
              <a:buFont typeface="+mj-lt"/>
              <a:buAutoNum type="alphaLcPeriod" startAt="6"/>
            </a:pPr>
            <a:r>
              <a:rPr lang="ja-JP" altLang="en-US" sz="2000" b="1" dirty="0"/>
              <a:t>緊急事態対応計画を文書化</a:t>
            </a:r>
            <a:r>
              <a:rPr lang="ja-JP" altLang="en-US" sz="2000" dirty="0"/>
              <a:t>し、また、変更を正式許可した人を含む、いかなる改訂をも記述した</a:t>
            </a:r>
            <a:r>
              <a:rPr lang="ja-JP" altLang="en-US" sz="2000" b="1" dirty="0"/>
              <a:t>文書化した情報を保持</a:t>
            </a:r>
            <a:r>
              <a:rPr lang="ja-JP" altLang="en-US" sz="2000" dirty="0"/>
              <a:t>する。</a:t>
            </a:r>
            <a:endParaRPr lang="en-US" altLang="ja-JP" sz="2000" dirty="0"/>
          </a:p>
          <a:p>
            <a:pPr marL="914400" lvl="1" indent="-457200">
              <a:lnSpc>
                <a:spcPct val="100000"/>
              </a:lnSpc>
              <a:buFont typeface="+mj-lt"/>
              <a:buAutoNum type="alphaLcPeriod" startAt="6"/>
            </a:pPr>
            <a:r>
              <a:rPr lang="ja-JP" altLang="en-US" sz="2000" dirty="0">
                <a:solidFill>
                  <a:srgbClr val="FF0000"/>
                </a:solidFill>
              </a:rPr>
              <a:t>緊急事態対応計画に、適切な従業員の教育訓練及び認識の開発及び実施を含める。</a:t>
            </a:r>
            <a:endParaRPr lang="en-US" altLang="ja-JP" sz="2000" dirty="0">
              <a:solidFill>
                <a:srgbClr val="FF0000"/>
              </a:solidFill>
            </a:endParaRPr>
          </a:p>
          <a:p>
            <a:pPr marL="0" indent="0">
              <a:lnSpc>
                <a:spcPct val="100000"/>
              </a:lnSpc>
              <a:buNone/>
            </a:pPr>
            <a:r>
              <a:rPr lang="ja-JP" altLang="en-US" sz="2000" dirty="0"/>
              <a:t>☑緊急事態対応計画には、生産が停止した緊急事態の後で生産を再稼働したとき及び正規のシャットダウンプロセスがとられなかった場合、</a:t>
            </a:r>
            <a:r>
              <a:rPr lang="ja-JP" altLang="en-US" sz="2000" u="sng" dirty="0"/>
              <a:t>製造された製品が引き続き顧客仕様を満たすことの妥当性確認条項を含めなければならない。</a:t>
            </a:r>
            <a:endParaRPr lang="en-US" altLang="ja-JP" sz="2000" u="sng"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6.1.2.3</a:t>
            </a:r>
            <a:r>
              <a:rPr lang="ja-JP" altLang="en-US" sz="3000" b="1" dirty="0">
                <a:solidFill>
                  <a:schemeClr val="tx2"/>
                </a:solidFill>
              </a:rPr>
              <a:t>　緊急事態対応計画</a:t>
            </a:r>
            <a:endParaRPr kumimoji="1" lang="ja-JP" altLang="en-US" sz="3000" b="1" dirty="0">
              <a:solidFill>
                <a:schemeClr val="tx2"/>
              </a:solidFill>
            </a:endParaRPr>
          </a:p>
        </p:txBody>
      </p:sp>
      <p:sp>
        <p:nvSpPr>
          <p:cNvPr id="2" name="四角形: 角を丸くする 1">
            <a:extLst>
              <a:ext uri="{FF2B5EF4-FFF2-40B4-BE49-F238E27FC236}">
                <a16:creationId xmlns:a16="http://schemas.microsoft.com/office/drawing/2014/main" id="{0F166CFF-5A31-46DE-9718-410555D8C8EE}"/>
              </a:ext>
            </a:extLst>
          </p:cNvPr>
          <p:cNvSpPr/>
          <p:nvPr/>
        </p:nvSpPr>
        <p:spPr>
          <a:xfrm>
            <a:off x="10200640" y="741680"/>
            <a:ext cx="1153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3</a:t>
            </a:r>
            <a:r>
              <a:rPr kumimoji="1" lang="ja-JP" altLang="en-US" sz="1600" dirty="0">
                <a:solidFill>
                  <a:schemeClr val="tx1"/>
                </a:solidFill>
              </a:rPr>
              <a:t>・</a:t>
            </a:r>
            <a:r>
              <a:rPr kumimoji="1" lang="en-US" altLang="ja-JP" sz="1600" dirty="0">
                <a:solidFill>
                  <a:schemeClr val="tx1"/>
                </a:solidFill>
              </a:rPr>
              <a:t>17</a:t>
            </a:r>
          </a:p>
        </p:txBody>
      </p:sp>
    </p:spTree>
    <p:extLst>
      <p:ext uri="{BB962C8B-B14F-4D97-AF65-F5344CB8AC3E}">
        <p14:creationId xmlns:p14="http://schemas.microsoft.com/office/powerpoint/2010/main" val="230535793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lnSpcReduction="10000"/>
          </a:bodyPr>
          <a:lstStyle/>
          <a:p>
            <a:pPr marL="457200" indent="-457200">
              <a:buFont typeface="+mj-lt"/>
              <a:buAutoNum type="arabicPeriod"/>
            </a:pPr>
            <a:r>
              <a:rPr lang="ja-JP" altLang="en-US" sz="2400" dirty="0"/>
              <a:t>ここでの緊急事態　➠　</a:t>
            </a:r>
            <a:r>
              <a:rPr lang="ja-JP" altLang="en-US" sz="2400" dirty="0">
                <a:solidFill>
                  <a:srgbClr val="FF0000"/>
                </a:solidFill>
                <a:effectLst>
                  <a:outerShdw blurRad="38100" dist="38100" dir="2700000" algn="tl">
                    <a:srgbClr val="000000">
                      <a:alpha val="43137"/>
                    </a:srgbClr>
                  </a:outerShdw>
                </a:effectLst>
              </a:rPr>
              <a:t>顧客に部品を予定通りに出荷できなくなる</a:t>
            </a:r>
            <a:r>
              <a:rPr lang="ja-JP" altLang="en-US" sz="2400" dirty="0"/>
              <a:t>こと。</a:t>
            </a:r>
            <a:endParaRPr lang="en-US" altLang="ja-JP" sz="2400" dirty="0"/>
          </a:p>
          <a:p>
            <a:pPr marL="457200" indent="-457200">
              <a:buFont typeface="+mj-lt"/>
              <a:buAutoNum type="arabicPeriod"/>
            </a:pPr>
            <a:r>
              <a:rPr lang="ja-JP" altLang="en-US" sz="2400" dirty="0"/>
              <a:t>要求事項の基本的流れ。</a:t>
            </a:r>
            <a:endParaRPr lang="en-US" altLang="ja-JP" sz="2400" dirty="0"/>
          </a:p>
          <a:p>
            <a:pPr marL="914400" lvl="1" indent="-457200">
              <a:buFont typeface="+mj-ea"/>
              <a:buAutoNum type="circleNumDbPlain"/>
            </a:pPr>
            <a:r>
              <a:rPr lang="ja-JP" altLang="en-US" dirty="0"/>
              <a:t>製造及びインフラ設備がもつリスクの</a:t>
            </a:r>
            <a:r>
              <a:rPr lang="ja-JP" altLang="en-US" dirty="0">
                <a:solidFill>
                  <a:srgbClr val="FF0000"/>
                </a:solidFill>
                <a:effectLst>
                  <a:outerShdw blurRad="38100" dist="38100" dir="2700000" algn="tl">
                    <a:srgbClr val="000000">
                      <a:alpha val="43137"/>
                    </a:srgbClr>
                  </a:outerShdw>
                </a:effectLst>
              </a:rPr>
              <a:t>洗い出しと重大性ランク付け。</a:t>
            </a:r>
            <a:r>
              <a:rPr lang="ja-JP" altLang="en-US" dirty="0"/>
              <a:t>（自然災害、ユーティリティ停止、火災、外部提供の停止、情報システム障害などを含め）</a:t>
            </a:r>
            <a:endParaRPr lang="en-US" altLang="ja-JP" dirty="0"/>
          </a:p>
          <a:p>
            <a:pPr marL="914400" lvl="1" indent="-457200">
              <a:buFont typeface="+mj-ea"/>
              <a:buAutoNum type="circleNumDbPlain"/>
            </a:pPr>
            <a:r>
              <a:rPr lang="ja-JP" altLang="en-US" dirty="0"/>
              <a:t>①の結果に従い</a:t>
            </a:r>
            <a:r>
              <a:rPr lang="ja-JP" altLang="en-US" dirty="0">
                <a:solidFill>
                  <a:srgbClr val="FF0000"/>
                </a:solidFill>
                <a:effectLst>
                  <a:outerShdw blurRad="38100" dist="38100" dir="2700000" algn="tl">
                    <a:srgbClr val="000000">
                      <a:alpha val="43137"/>
                    </a:srgbClr>
                  </a:outerShdw>
                </a:effectLst>
              </a:rPr>
              <a:t>緊急事態対応計画（手順含め）を決定</a:t>
            </a:r>
            <a:r>
              <a:rPr lang="ja-JP" altLang="en-US" dirty="0"/>
              <a:t>する。（</a:t>
            </a:r>
            <a:r>
              <a:rPr lang="en-US" altLang="ja-JP" dirty="0"/>
              <a:t>TPM</a:t>
            </a:r>
            <a:r>
              <a:rPr lang="ja-JP" altLang="en-US" dirty="0"/>
              <a:t>要求事項（</a:t>
            </a:r>
            <a:r>
              <a:rPr lang="en-US" altLang="ja-JP" dirty="0"/>
              <a:t>8.5.1.5</a:t>
            </a:r>
            <a:r>
              <a:rPr lang="ja-JP" altLang="en-US" dirty="0"/>
              <a:t>）による予防管理も考慮）</a:t>
            </a:r>
            <a:endParaRPr lang="en-US" altLang="ja-JP" dirty="0"/>
          </a:p>
          <a:p>
            <a:pPr marL="914400" lvl="1" indent="-457200">
              <a:buFont typeface="+mj-ea"/>
              <a:buAutoNum type="circleNumDbPlain"/>
            </a:pPr>
            <a:r>
              <a:rPr lang="ja-JP" altLang="en-US" dirty="0"/>
              <a:t>緊急事態発生時の</a:t>
            </a:r>
            <a:r>
              <a:rPr lang="ja-JP" altLang="en-US" dirty="0">
                <a:solidFill>
                  <a:srgbClr val="FF0000"/>
                </a:solidFill>
                <a:effectLst>
                  <a:outerShdw blurRad="38100" dist="38100" dir="2700000" algn="tl">
                    <a:srgbClr val="000000">
                      <a:alpha val="43137"/>
                    </a:srgbClr>
                  </a:outerShdw>
                </a:effectLst>
              </a:rPr>
              <a:t>顧客への連絡プロセス</a:t>
            </a:r>
            <a:r>
              <a:rPr lang="ja-JP" altLang="en-US" dirty="0"/>
              <a:t>を計画に含める。</a:t>
            </a:r>
            <a:endParaRPr lang="en-US" altLang="ja-JP" dirty="0"/>
          </a:p>
          <a:p>
            <a:pPr marL="914400" lvl="1" indent="-457200">
              <a:buFont typeface="+mj-ea"/>
              <a:buAutoNum type="circleNumDbPlain"/>
            </a:pPr>
            <a:r>
              <a:rPr lang="ja-JP" altLang="en-US" dirty="0"/>
              <a:t>決定した計画を</a:t>
            </a:r>
            <a:r>
              <a:rPr lang="ja-JP" altLang="en-US" dirty="0">
                <a:solidFill>
                  <a:srgbClr val="FF0000"/>
                </a:solidFill>
                <a:effectLst>
                  <a:outerShdw blurRad="38100" dist="38100" dir="2700000" algn="tl">
                    <a:srgbClr val="000000">
                      <a:alpha val="43137"/>
                    </a:srgbClr>
                  </a:outerShdw>
                </a:effectLst>
              </a:rPr>
              <a:t>テスト</a:t>
            </a:r>
            <a:r>
              <a:rPr lang="ja-JP" altLang="en-US" dirty="0"/>
              <a:t>し、計画の有効性を含め</a:t>
            </a:r>
            <a:r>
              <a:rPr lang="ja-JP" altLang="en-US" dirty="0">
                <a:solidFill>
                  <a:srgbClr val="FF0000"/>
                </a:solidFill>
                <a:effectLst>
                  <a:outerShdw blurRad="38100" dist="38100" dir="2700000" algn="tl">
                    <a:srgbClr val="000000">
                      <a:alpha val="43137"/>
                    </a:srgbClr>
                  </a:outerShdw>
                </a:effectLst>
              </a:rPr>
              <a:t>組織全体で見直す。</a:t>
            </a:r>
            <a:endParaRPr lang="en-US" altLang="ja-JP" dirty="0">
              <a:solidFill>
                <a:srgbClr val="FF0000"/>
              </a:solidFill>
              <a:effectLst>
                <a:outerShdw blurRad="38100" dist="38100" dir="2700000" algn="tl">
                  <a:srgbClr val="000000">
                    <a:alpha val="43137"/>
                  </a:srgbClr>
                </a:outerShdw>
              </a:effectLst>
            </a:endParaRPr>
          </a:p>
          <a:p>
            <a:pPr marL="914400" lvl="1" indent="-457200">
              <a:buFont typeface="+mj-ea"/>
              <a:buAutoNum type="circleNumDbPlain"/>
            </a:pPr>
            <a:r>
              <a:rPr lang="ja-JP" altLang="en-US" dirty="0"/>
              <a:t>計画及びテストなどの結果を文書化する。</a:t>
            </a:r>
            <a:endParaRPr lang="en-US" altLang="ja-JP" dirty="0"/>
          </a:p>
          <a:p>
            <a:pPr marL="457200" indent="-457200">
              <a:buFont typeface="+mj-ea"/>
              <a:buAutoNum type="arabicPeriod"/>
            </a:pPr>
            <a:r>
              <a:rPr lang="ja-JP" altLang="en-US" sz="2400" dirty="0"/>
              <a:t>緊急停止でも、予め手順が決めてあれば、それは正規のシャットダウンプロセスとなる。➠　緊急停止時のシャットダウン手順（</a:t>
            </a:r>
            <a:r>
              <a:rPr lang="en-US" altLang="ja-JP" sz="2400" dirty="0"/>
              <a:t>8.5.1.4</a:t>
            </a:r>
            <a:r>
              <a:rPr lang="ja-JP" altLang="en-US" sz="2400" dirty="0"/>
              <a:t>）を定めるべき。</a:t>
            </a:r>
            <a:endParaRPr lang="en-US" altLang="ja-JP" sz="24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6.1.2.3</a:t>
            </a:r>
            <a:r>
              <a:rPr kumimoji="1" lang="ja-JP" altLang="en-US" sz="3000" b="1" dirty="0">
                <a:solidFill>
                  <a:schemeClr val="bg1"/>
                </a:solidFill>
              </a:rPr>
              <a:t>　緊急事態対応計画</a:t>
            </a:r>
          </a:p>
        </p:txBody>
      </p:sp>
    </p:spTree>
    <p:extLst>
      <p:ext uri="{BB962C8B-B14F-4D97-AF65-F5344CB8AC3E}">
        <p14:creationId xmlns:p14="http://schemas.microsoft.com/office/powerpoint/2010/main" val="81035130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6.1.2.3</a:t>
            </a:r>
            <a:r>
              <a:rPr kumimoji="1" lang="ja-JP" altLang="en-US" sz="3000" b="1" dirty="0">
                <a:solidFill>
                  <a:schemeClr val="bg1"/>
                </a:solidFill>
              </a:rPr>
              <a:t>　緊急事態対応計画</a:t>
            </a:r>
          </a:p>
        </p:txBody>
      </p:sp>
      <p:graphicFrame>
        <p:nvGraphicFramePr>
          <p:cNvPr id="6" name="表 5">
            <a:extLst>
              <a:ext uri="{FF2B5EF4-FFF2-40B4-BE49-F238E27FC236}">
                <a16:creationId xmlns:a16="http://schemas.microsoft.com/office/drawing/2014/main" id="{30A060B8-4DAA-4ED8-ABCC-E12EA4818BC6}"/>
              </a:ext>
            </a:extLst>
          </p:cNvPr>
          <p:cNvGraphicFramePr>
            <a:graphicFrameLocks noGrp="1"/>
          </p:cNvGraphicFramePr>
          <p:nvPr>
            <p:extLst>
              <p:ext uri="{D42A27DB-BD31-4B8C-83A1-F6EECF244321}">
                <p14:modId xmlns:p14="http://schemas.microsoft.com/office/powerpoint/2010/main" val="2131529595"/>
              </p:ext>
            </p:extLst>
          </p:nvPr>
        </p:nvGraphicFramePr>
        <p:xfrm>
          <a:off x="838200" y="2090490"/>
          <a:ext cx="10515600" cy="4168430"/>
        </p:xfrm>
        <a:graphic>
          <a:graphicData uri="http://schemas.openxmlformats.org/drawingml/2006/table">
            <a:tbl>
              <a:tblPr firstRow="1" bandRow="1">
                <a:tableStyleId>{5940675A-B579-460E-94D1-54222C63F5DA}</a:tableStyleId>
              </a:tblPr>
              <a:tblGrid>
                <a:gridCol w="715179">
                  <a:extLst>
                    <a:ext uri="{9D8B030D-6E8A-4147-A177-3AD203B41FA5}">
                      <a16:colId xmlns:a16="http://schemas.microsoft.com/office/drawing/2014/main" val="3164818878"/>
                    </a:ext>
                  </a:extLst>
                </a:gridCol>
                <a:gridCol w="1288974">
                  <a:extLst>
                    <a:ext uri="{9D8B030D-6E8A-4147-A177-3AD203B41FA5}">
                      <a16:colId xmlns:a16="http://schemas.microsoft.com/office/drawing/2014/main" val="2522297722"/>
                    </a:ext>
                  </a:extLst>
                </a:gridCol>
                <a:gridCol w="1355075">
                  <a:extLst>
                    <a:ext uri="{9D8B030D-6E8A-4147-A177-3AD203B41FA5}">
                      <a16:colId xmlns:a16="http://schemas.microsoft.com/office/drawing/2014/main" val="1684268303"/>
                    </a:ext>
                  </a:extLst>
                </a:gridCol>
                <a:gridCol w="1355073">
                  <a:extLst>
                    <a:ext uri="{9D8B030D-6E8A-4147-A177-3AD203B41FA5}">
                      <a16:colId xmlns:a16="http://schemas.microsoft.com/office/drawing/2014/main" val="2358446649"/>
                    </a:ext>
                  </a:extLst>
                </a:gridCol>
                <a:gridCol w="782199">
                  <a:extLst>
                    <a:ext uri="{9D8B030D-6E8A-4147-A177-3AD203B41FA5}">
                      <a16:colId xmlns:a16="http://schemas.microsoft.com/office/drawing/2014/main" val="3787247906"/>
                    </a:ext>
                  </a:extLst>
                </a:gridCol>
                <a:gridCol w="804231">
                  <a:extLst>
                    <a:ext uri="{9D8B030D-6E8A-4147-A177-3AD203B41FA5}">
                      <a16:colId xmlns:a16="http://schemas.microsoft.com/office/drawing/2014/main" val="1814699541"/>
                    </a:ext>
                  </a:extLst>
                </a:gridCol>
                <a:gridCol w="3205909">
                  <a:extLst>
                    <a:ext uri="{9D8B030D-6E8A-4147-A177-3AD203B41FA5}">
                      <a16:colId xmlns:a16="http://schemas.microsoft.com/office/drawing/2014/main" val="3210892926"/>
                    </a:ext>
                  </a:extLst>
                </a:gridCol>
                <a:gridCol w="1008960">
                  <a:extLst>
                    <a:ext uri="{9D8B030D-6E8A-4147-A177-3AD203B41FA5}">
                      <a16:colId xmlns:a16="http://schemas.microsoft.com/office/drawing/2014/main" val="3620772700"/>
                    </a:ext>
                  </a:extLst>
                </a:gridCol>
              </a:tblGrid>
              <a:tr h="657442">
                <a:tc gridSpan="2">
                  <a:txBody>
                    <a:bodyPr/>
                    <a:lstStyle/>
                    <a:p>
                      <a:r>
                        <a:rPr kumimoji="1" lang="ja-JP" altLang="en-US" sz="1400" dirty="0"/>
                        <a:t>緊急事態</a:t>
                      </a:r>
                    </a:p>
                  </a:txBody>
                  <a:tcPr anchor="ctr" anchorCtr="1">
                    <a:solidFill>
                      <a:schemeClr val="tx2">
                        <a:lumMod val="40000"/>
                        <a:lumOff val="60000"/>
                      </a:schemeClr>
                    </a:solidFill>
                  </a:tcPr>
                </a:tc>
                <a:tc hMerge="1">
                  <a:txBody>
                    <a:bodyPr/>
                    <a:lstStyle/>
                    <a:p>
                      <a:endParaRPr kumimoji="1" lang="ja-JP" altLang="en-US" dirty="0"/>
                    </a:p>
                  </a:txBody>
                  <a:tcPr anchor="ctr"/>
                </a:tc>
                <a:tc rowSpan="2">
                  <a:txBody>
                    <a:bodyPr/>
                    <a:lstStyle/>
                    <a:p>
                      <a:r>
                        <a:rPr kumimoji="1" lang="ja-JP" altLang="en-US" sz="1400" dirty="0"/>
                        <a:t>製品への影響</a:t>
                      </a:r>
                    </a:p>
                  </a:txBody>
                  <a:tcPr anchor="ctr" anchorCtr="1">
                    <a:solidFill>
                      <a:schemeClr val="tx2">
                        <a:lumMod val="40000"/>
                        <a:lumOff val="60000"/>
                      </a:schemeClr>
                    </a:solidFill>
                  </a:tcPr>
                </a:tc>
                <a:tc rowSpan="2">
                  <a:txBody>
                    <a:bodyPr/>
                    <a:lstStyle/>
                    <a:p>
                      <a:r>
                        <a:rPr kumimoji="1" lang="ja-JP" altLang="en-US" sz="1400" dirty="0"/>
                        <a:t>建屋・設備への影響</a:t>
                      </a:r>
                    </a:p>
                  </a:txBody>
                  <a:tcPr anchor="ctr" anchorCtr="1">
                    <a:solidFill>
                      <a:schemeClr val="tx2">
                        <a:lumMod val="40000"/>
                        <a:lumOff val="60000"/>
                      </a:schemeClr>
                    </a:solidFill>
                  </a:tcPr>
                </a:tc>
                <a:tc rowSpan="2">
                  <a:txBody>
                    <a:bodyPr/>
                    <a:lstStyle/>
                    <a:p>
                      <a:r>
                        <a:rPr kumimoji="1" lang="ja-JP" altLang="en-US" sz="1400" dirty="0"/>
                        <a:t>影響</a:t>
                      </a:r>
                      <a:endParaRPr kumimoji="1" lang="en-US" altLang="ja-JP" sz="1400" dirty="0"/>
                    </a:p>
                    <a:p>
                      <a:r>
                        <a:rPr kumimoji="1" lang="ja-JP" altLang="en-US" sz="1400" dirty="0"/>
                        <a:t>期間</a:t>
                      </a:r>
                    </a:p>
                  </a:txBody>
                  <a:tcPr anchor="ctr" anchorCtr="1">
                    <a:solidFill>
                      <a:schemeClr val="tx2">
                        <a:lumMod val="40000"/>
                        <a:lumOff val="60000"/>
                      </a:schemeClr>
                    </a:solidFill>
                  </a:tcPr>
                </a:tc>
                <a:tc gridSpan="2">
                  <a:txBody>
                    <a:bodyPr/>
                    <a:lstStyle/>
                    <a:p>
                      <a:r>
                        <a:rPr kumimoji="1" lang="ja-JP" altLang="en-US" sz="1400" dirty="0"/>
                        <a:t>対応計画</a:t>
                      </a:r>
                    </a:p>
                  </a:txBody>
                  <a:tcPr anchor="ctr" anchorCtr="1">
                    <a:solidFill>
                      <a:schemeClr val="tx2">
                        <a:lumMod val="40000"/>
                        <a:lumOff val="60000"/>
                      </a:schemeClr>
                    </a:solidFill>
                  </a:tcPr>
                </a:tc>
                <a:tc hMerge="1">
                  <a:txBody>
                    <a:bodyPr/>
                    <a:lstStyle/>
                    <a:p>
                      <a:endParaRPr kumimoji="1" lang="ja-JP" altLang="en-US" dirty="0"/>
                    </a:p>
                  </a:txBody>
                  <a:tcPr anchor="ctr"/>
                </a:tc>
                <a:tc rowSpan="2">
                  <a:txBody>
                    <a:bodyPr/>
                    <a:lstStyle/>
                    <a:p>
                      <a:r>
                        <a:rPr kumimoji="1" lang="ja-JP" altLang="en-US" sz="1400" dirty="0"/>
                        <a:t>手順</a:t>
                      </a:r>
                    </a:p>
                  </a:txBody>
                  <a:tcPr anchor="ctr" anchorCtr="1">
                    <a:solidFill>
                      <a:schemeClr val="tx2">
                        <a:lumMod val="40000"/>
                        <a:lumOff val="60000"/>
                      </a:schemeClr>
                    </a:solidFill>
                  </a:tcPr>
                </a:tc>
                <a:extLst>
                  <a:ext uri="{0D108BD9-81ED-4DB2-BD59-A6C34878D82A}">
                    <a16:rowId xmlns:a16="http://schemas.microsoft.com/office/drawing/2014/main" val="4154122287"/>
                  </a:ext>
                </a:extLst>
              </a:tr>
              <a:tr h="616945">
                <a:tc>
                  <a:txBody>
                    <a:bodyPr/>
                    <a:lstStyle/>
                    <a:p>
                      <a:r>
                        <a:rPr kumimoji="1" lang="ja-JP" altLang="en-US" sz="1400"/>
                        <a:t>区分</a:t>
                      </a:r>
                      <a:endParaRPr kumimoji="1" lang="ja-JP" altLang="en-US" sz="1400" dirty="0"/>
                    </a:p>
                  </a:txBody>
                  <a:tcPr anchor="ctr" anchorCtr="1">
                    <a:solidFill>
                      <a:schemeClr val="tx2">
                        <a:lumMod val="40000"/>
                        <a:lumOff val="60000"/>
                      </a:schemeClr>
                    </a:solidFill>
                  </a:tcPr>
                </a:tc>
                <a:tc>
                  <a:txBody>
                    <a:bodyPr/>
                    <a:lstStyle/>
                    <a:p>
                      <a:r>
                        <a:rPr kumimoji="1" lang="ja-JP" altLang="en-US" sz="1400" dirty="0"/>
                        <a:t>事象</a:t>
                      </a:r>
                    </a:p>
                  </a:txBody>
                  <a:tcPr anchor="ctr" anchorCtr="1">
                    <a:solidFill>
                      <a:schemeClr val="tx2">
                        <a:lumMod val="40000"/>
                        <a:lumOff val="60000"/>
                      </a:schemeClr>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1400" dirty="0"/>
                        <a:t>責任者</a:t>
                      </a:r>
                    </a:p>
                  </a:txBody>
                  <a:tcPr anchor="ctr" anchorCtr="1">
                    <a:solidFill>
                      <a:schemeClr val="tx2">
                        <a:lumMod val="40000"/>
                        <a:lumOff val="60000"/>
                      </a:schemeClr>
                    </a:solidFill>
                  </a:tcPr>
                </a:tc>
                <a:tc>
                  <a:txBody>
                    <a:bodyPr/>
                    <a:lstStyle/>
                    <a:p>
                      <a:r>
                        <a:rPr kumimoji="1" lang="ja-JP" altLang="en-US" sz="1400" dirty="0"/>
                        <a:t>対応</a:t>
                      </a:r>
                    </a:p>
                  </a:txBody>
                  <a:tcPr anchor="ctr" anchorCtr="1">
                    <a:solidFill>
                      <a:schemeClr val="tx2">
                        <a:lumMod val="40000"/>
                        <a:lumOff val="60000"/>
                      </a:schemeClr>
                    </a:solidFill>
                  </a:tcPr>
                </a:tc>
                <a:tc vMerge="1">
                  <a:txBody>
                    <a:bodyPr/>
                    <a:lstStyle/>
                    <a:p>
                      <a:endParaRPr kumimoji="1" lang="ja-JP" altLang="en-US"/>
                    </a:p>
                  </a:txBody>
                  <a:tcPr/>
                </a:tc>
                <a:extLst>
                  <a:ext uri="{0D108BD9-81ED-4DB2-BD59-A6C34878D82A}">
                    <a16:rowId xmlns:a16="http://schemas.microsoft.com/office/drawing/2014/main" val="4137729528"/>
                  </a:ext>
                </a:extLst>
              </a:tr>
              <a:tr h="738130">
                <a:tc rowSpan="2">
                  <a:txBody>
                    <a:bodyPr/>
                    <a:lstStyle/>
                    <a:p>
                      <a:r>
                        <a:rPr kumimoji="1" lang="ja-JP" altLang="en-US" sz="1400" dirty="0"/>
                        <a:t>地震</a:t>
                      </a:r>
                    </a:p>
                  </a:txBody>
                  <a:tcPr anchor="ctr"/>
                </a:tc>
                <a:tc rowSpan="2">
                  <a:txBody>
                    <a:bodyPr/>
                    <a:lstStyle/>
                    <a:p>
                      <a:r>
                        <a:rPr kumimoji="1" lang="ja-JP" altLang="en-US" sz="1400" dirty="0"/>
                        <a:t>震度６クラス</a:t>
                      </a:r>
                    </a:p>
                  </a:txBody>
                  <a:tcPr anchor="ctr"/>
                </a:tc>
                <a:tc>
                  <a:txBody>
                    <a:bodyPr/>
                    <a:lstStyle/>
                    <a:p>
                      <a:r>
                        <a:rPr kumimoji="1" lang="ja-JP" altLang="en-US" sz="1400" dirty="0"/>
                        <a:t>製品の落下、加工中の停電</a:t>
                      </a:r>
                    </a:p>
                  </a:txBody>
                  <a:tcPr anchor="ctr"/>
                </a:tc>
                <a:tc>
                  <a:txBody>
                    <a:bodyPr/>
                    <a:lstStyle/>
                    <a:p>
                      <a:pPr algn="ctr"/>
                      <a:r>
                        <a:rPr kumimoji="1" lang="ja-JP" altLang="en-US" sz="1400" dirty="0"/>
                        <a:t>－</a:t>
                      </a:r>
                    </a:p>
                  </a:txBody>
                  <a:tcPr anchor="ctr"/>
                </a:tc>
                <a:tc>
                  <a:txBody>
                    <a:bodyPr/>
                    <a:lstStyle/>
                    <a:p>
                      <a:r>
                        <a:rPr kumimoji="1" lang="en-US" altLang="ja-JP" sz="1400" dirty="0"/>
                        <a:t>1</a:t>
                      </a:r>
                      <a:r>
                        <a:rPr kumimoji="1" lang="ja-JP" altLang="en-US" sz="1400" dirty="0"/>
                        <a:t>週間</a:t>
                      </a:r>
                    </a:p>
                  </a:txBody>
                  <a:tcPr anchor="ctr"/>
                </a:tc>
                <a:tc>
                  <a:txBody>
                    <a:bodyPr/>
                    <a:lstStyle/>
                    <a:p>
                      <a:r>
                        <a:rPr kumimoji="1" lang="ja-JP" altLang="en-US" sz="1400" dirty="0"/>
                        <a:t>工場長</a:t>
                      </a:r>
                    </a:p>
                  </a:txBody>
                  <a:tcPr anchor="ctr"/>
                </a:tc>
                <a:tc>
                  <a:txBody>
                    <a:bodyPr/>
                    <a:lstStyle/>
                    <a:p>
                      <a:r>
                        <a:rPr kumimoji="1" lang="ja-JP" altLang="en-US" sz="1400" dirty="0"/>
                        <a:t>・製品の整理、損傷全数選別</a:t>
                      </a:r>
                      <a:endParaRPr kumimoji="1" lang="en-US" altLang="ja-JP" sz="1400" dirty="0"/>
                    </a:p>
                    <a:p>
                      <a:r>
                        <a:rPr kumimoji="1" lang="ja-JP" altLang="en-US" sz="1400" dirty="0"/>
                        <a:t>・転倒防止等の対策実施</a:t>
                      </a:r>
                    </a:p>
                  </a:txBody>
                  <a:tcPr anchor="ctr"/>
                </a:tc>
                <a:tc>
                  <a:txBody>
                    <a:bodyPr/>
                    <a:lstStyle/>
                    <a:p>
                      <a:r>
                        <a:rPr kumimoji="1" lang="ja-JP" altLang="en-US" sz="1400" dirty="0"/>
                        <a:t>製造部手順書</a:t>
                      </a:r>
                    </a:p>
                  </a:txBody>
                  <a:tcPr anchor="ctr"/>
                </a:tc>
                <a:extLst>
                  <a:ext uri="{0D108BD9-81ED-4DB2-BD59-A6C34878D82A}">
                    <a16:rowId xmlns:a16="http://schemas.microsoft.com/office/drawing/2014/main" val="3225685412"/>
                  </a:ext>
                </a:extLst>
              </a:tr>
              <a:tr h="738130">
                <a:tc vMerge="1">
                  <a:txBody>
                    <a:bodyPr/>
                    <a:lstStyle/>
                    <a:p>
                      <a:endParaRPr kumimoji="1" lang="ja-JP" altLang="en-US" sz="1400" dirty="0"/>
                    </a:p>
                  </a:txBody>
                  <a:tcPr anchor="ctr"/>
                </a:tc>
                <a:tc vMerge="1">
                  <a:txBody>
                    <a:bodyPr/>
                    <a:lstStyle/>
                    <a:p>
                      <a:endParaRPr kumimoji="1" lang="ja-JP" altLang="en-US" sz="1400" dirty="0"/>
                    </a:p>
                  </a:txBody>
                  <a:tcPr anchor="ctr"/>
                </a:tc>
                <a:tc>
                  <a:txBody>
                    <a:bodyPr/>
                    <a:lstStyle/>
                    <a:p>
                      <a:pPr algn="ctr"/>
                      <a:r>
                        <a:rPr kumimoji="1" lang="ja-JP" altLang="en-US" sz="1400" dirty="0"/>
                        <a:t>－</a:t>
                      </a:r>
                    </a:p>
                  </a:txBody>
                  <a:tcPr anchor="ctr"/>
                </a:tc>
                <a:tc>
                  <a:txBody>
                    <a:bodyPr/>
                    <a:lstStyle/>
                    <a:p>
                      <a:r>
                        <a:rPr kumimoji="1" lang="ja-JP" altLang="en-US" sz="1400" dirty="0"/>
                        <a:t>設備の位置ずれ</a:t>
                      </a:r>
                      <a:endParaRPr kumimoji="1" lang="en-US" altLang="ja-JP" sz="1400" dirty="0"/>
                    </a:p>
                    <a:p>
                      <a:r>
                        <a:rPr kumimoji="1" lang="ja-JP" altLang="en-US" sz="1400" dirty="0"/>
                        <a:t>電力、水の停止</a:t>
                      </a:r>
                    </a:p>
                  </a:txBody>
                  <a:tcPr anchor="ctr"/>
                </a:tc>
                <a:tc>
                  <a:txBody>
                    <a:bodyPr/>
                    <a:lstStyle/>
                    <a:p>
                      <a:r>
                        <a:rPr kumimoji="1" lang="en-US" altLang="ja-JP" sz="1400" dirty="0"/>
                        <a:t>3</a:t>
                      </a:r>
                      <a:r>
                        <a:rPr kumimoji="1" lang="ja-JP" altLang="en-US" sz="1400" dirty="0"/>
                        <a:t>日間</a:t>
                      </a:r>
                    </a:p>
                  </a:txBody>
                  <a:tcPr anchor="ctr"/>
                </a:tc>
                <a:tc>
                  <a:txBody>
                    <a:bodyPr/>
                    <a:lstStyle/>
                    <a:p>
                      <a:r>
                        <a:rPr kumimoji="1" lang="ja-JP" altLang="en-US" sz="1400" dirty="0"/>
                        <a:t>社長</a:t>
                      </a:r>
                    </a:p>
                  </a:txBody>
                  <a:tcPr anchor="ctr"/>
                </a:tc>
                <a:tc>
                  <a:txBody>
                    <a:bodyPr/>
                    <a:lstStyle/>
                    <a:p>
                      <a:r>
                        <a:rPr kumimoji="1" lang="ja-JP" altLang="en-US" sz="1400" dirty="0"/>
                        <a:t>・対処チームを立ち上げ、被害の調査と復旧計画</a:t>
                      </a:r>
                      <a:endParaRPr kumimoji="1" lang="en-US" altLang="ja-JP" sz="1400" dirty="0"/>
                    </a:p>
                    <a:p>
                      <a:r>
                        <a:rPr kumimoji="1" lang="ja-JP" altLang="en-US" sz="1400" dirty="0"/>
                        <a:t>・他の工場又は外注先にて代替生産計画</a:t>
                      </a:r>
                      <a:endParaRPr kumimoji="1" lang="en-US" altLang="ja-JP" sz="1400" dirty="0"/>
                    </a:p>
                    <a:p>
                      <a:r>
                        <a:rPr kumimoji="1" lang="ja-JP" altLang="en-US" sz="1400" dirty="0"/>
                        <a:t>・地震を想定した訓練の実施</a:t>
                      </a:r>
                    </a:p>
                  </a:txBody>
                  <a:tcPr anchor="ctr"/>
                </a:tc>
                <a:tc>
                  <a:txBody>
                    <a:bodyPr/>
                    <a:lstStyle/>
                    <a:p>
                      <a:r>
                        <a:rPr kumimoji="1" lang="ja-JP" altLang="en-US" sz="1400" dirty="0"/>
                        <a:t>緊急事態対応手順書</a:t>
                      </a:r>
                    </a:p>
                  </a:txBody>
                  <a:tcPr anchor="ctr"/>
                </a:tc>
                <a:extLst>
                  <a:ext uri="{0D108BD9-81ED-4DB2-BD59-A6C34878D82A}">
                    <a16:rowId xmlns:a16="http://schemas.microsoft.com/office/drawing/2014/main" val="2922002416"/>
                  </a:ext>
                </a:extLst>
              </a:tr>
              <a:tr h="997673">
                <a:tc>
                  <a:txBody>
                    <a:bodyPr/>
                    <a:lstStyle/>
                    <a:p>
                      <a:r>
                        <a:rPr kumimoji="1" lang="ja-JP" altLang="en-US" sz="1400" dirty="0"/>
                        <a:t>供給者</a:t>
                      </a:r>
                    </a:p>
                  </a:txBody>
                  <a:tcPr anchor="ctr"/>
                </a:tc>
                <a:tc>
                  <a:txBody>
                    <a:bodyPr/>
                    <a:lstStyle/>
                    <a:p>
                      <a:r>
                        <a:rPr kumimoji="1" lang="ja-JP" altLang="en-US" sz="1400" dirty="0"/>
                        <a:t>金型製作先の倒産、縮小</a:t>
                      </a:r>
                    </a:p>
                  </a:txBody>
                  <a:tcPr anchor="ctr"/>
                </a:tc>
                <a:tc>
                  <a:txBody>
                    <a:bodyPr/>
                    <a:lstStyle/>
                    <a:p>
                      <a:r>
                        <a:rPr kumimoji="1" lang="ja-JP" altLang="en-US" sz="1400" dirty="0"/>
                        <a:t>新規及び更新金型供給不足</a:t>
                      </a:r>
                    </a:p>
                  </a:txBody>
                  <a:tcPr anchor="ctr"/>
                </a:tc>
                <a:tc>
                  <a:txBody>
                    <a:bodyPr/>
                    <a:lstStyle/>
                    <a:p>
                      <a:pPr algn="ctr"/>
                      <a:r>
                        <a:rPr kumimoji="1" lang="ja-JP" altLang="en-US" sz="1400" dirty="0"/>
                        <a:t>－</a:t>
                      </a:r>
                    </a:p>
                  </a:txBody>
                  <a:tcPr anchor="ctr"/>
                </a:tc>
                <a:tc>
                  <a:txBody>
                    <a:bodyPr/>
                    <a:lstStyle/>
                    <a:p>
                      <a:r>
                        <a:rPr kumimoji="1" lang="en-US" altLang="ja-JP" sz="1400" dirty="0"/>
                        <a:t>1</a:t>
                      </a:r>
                      <a:r>
                        <a:rPr kumimoji="1" lang="ja-JP" altLang="en-US" sz="1400" dirty="0"/>
                        <a:t>ヶ月</a:t>
                      </a:r>
                    </a:p>
                  </a:txBody>
                  <a:tcPr anchor="ctr"/>
                </a:tc>
                <a:tc>
                  <a:txBody>
                    <a:bodyPr/>
                    <a:lstStyle/>
                    <a:p>
                      <a:r>
                        <a:rPr kumimoji="1" lang="ja-JP" altLang="en-US" sz="1400" dirty="0"/>
                        <a:t>社長</a:t>
                      </a:r>
                    </a:p>
                  </a:txBody>
                  <a:tcPr anchor="ctr"/>
                </a:tc>
                <a:tc>
                  <a:txBody>
                    <a:bodyPr/>
                    <a:lstStyle/>
                    <a:p>
                      <a:r>
                        <a:rPr kumimoji="1" lang="ja-JP" altLang="en-US" sz="1400" dirty="0"/>
                        <a:t>・発生前の２社供給模索</a:t>
                      </a:r>
                      <a:endParaRPr kumimoji="1" lang="en-US" altLang="ja-JP" sz="1400" dirty="0"/>
                    </a:p>
                    <a:p>
                      <a:r>
                        <a:rPr kumimoji="1" lang="ja-JP" altLang="en-US" sz="1400" dirty="0"/>
                        <a:t>・２社監査による経営状況の把握</a:t>
                      </a:r>
                    </a:p>
                  </a:txBody>
                  <a:tcPr anchor="ctr"/>
                </a:tc>
                <a:tc>
                  <a:txBody>
                    <a:bodyPr/>
                    <a:lstStyle/>
                    <a:p>
                      <a:r>
                        <a:rPr kumimoji="1" lang="ja-JP" altLang="en-US" sz="1400" dirty="0"/>
                        <a:t>予防活動のみ</a:t>
                      </a:r>
                    </a:p>
                  </a:txBody>
                  <a:tcPr anchor="ctr"/>
                </a:tc>
                <a:extLst>
                  <a:ext uri="{0D108BD9-81ED-4DB2-BD59-A6C34878D82A}">
                    <a16:rowId xmlns:a16="http://schemas.microsoft.com/office/drawing/2014/main" val="2843132530"/>
                  </a:ext>
                </a:extLst>
              </a:tr>
            </a:tbl>
          </a:graphicData>
        </a:graphic>
      </p:graphicFrame>
      <p:sp>
        <p:nvSpPr>
          <p:cNvPr id="8" name="コンテンツ プレースホルダー 2">
            <a:extLst>
              <a:ext uri="{FF2B5EF4-FFF2-40B4-BE49-F238E27FC236}">
                <a16:creationId xmlns:a16="http://schemas.microsoft.com/office/drawing/2014/main" id="{58A0F1DA-402D-492C-B269-206E0E6EE399}"/>
              </a:ext>
            </a:extLst>
          </p:cNvPr>
          <p:cNvSpPr>
            <a:spLocks noGrp="1"/>
          </p:cNvSpPr>
          <p:nvPr>
            <p:ph idx="1"/>
          </p:nvPr>
        </p:nvSpPr>
        <p:spPr>
          <a:xfrm>
            <a:off x="838200" y="1555100"/>
            <a:ext cx="10515600" cy="535390"/>
          </a:xfrm>
          <a:ln w="12700">
            <a:noFill/>
          </a:ln>
        </p:spPr>
        <p:txBody>
          <a:bodyPr>
            <a:normAutofit/>
          </a:bodyPr>
          <a:lstStyle/>
          <a:p>
            <a:pPr marL="0" indent="0">
              <a:buNone/>
            </a:pPr>
            <a:r>
              <a:rPr lang="ja-JP" altLang="en-US" sz="2400" dirty="0"/>
              <a:t>計画の一事例</a:t>
            </a:r>
          </a:p>
          <a:p>
            <a:pPr>
              <a:buFont typeface="Wingdings" panose="05000000000000000000" pitchFamily="2" charset="2"/>
              <a:buChar char="u"/>
            </a:pPr>
            <a:endParaRPr lang="en-US" altLang="ja-JP" dirty="0"/>
          </a:p>
        </p:txBody>
      </p:sp>
    </p:spTree>
    <p:extLst>
      <p:ext uri="{BB962C8B-B14F-4D97-AF65-F5344CB8AC3E}">
        <p14:creationId xmlns:p14="http://schemas.microsoft.com/office/powerpoint/2010/main" val="2547818146"/>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365125"/>
          </a:xfrm>
          <a:ln w="12700">
            <a:noFill/>
          </a:ln>
        </p:spPr>
        <p:txBody>
          <a:bodyPr>
            <a:normAutofit fontScale="92500" lnSpcReduction="10000"/>
          </a:bodyPr>
          <a:lstStyle/>
          <a:p>
            <a:pPr marL="0" indent="0">
              <a:buNone/>
            </a:pPr>
            <a:r>
              <a:rPr lang="en-US" altLang="ja-JP" sz="2400" dirty="0"/>
              <a:t>BCP</a:t>
            </a:r>
            <a:r>
              <a:rPr lang="ja-JP" altLang="en-US" sz="2400" dirty="0"/>
              <a:t>自己チェックリスト（一部抜粋）</a:t>
            </a:r>
            <a:r>
              <a:rPr lang="en-US" altLang="ja-JP" sz="1400" dirty="0"/>
              <a:t>※</a:t>
            </a:r>
            <a:r>
              <a:rPr lang="ja-JP" altLang="en-US" sz="1400" dirty="0"/>
              <a:t>参考資料：中小企業</a:t>
            </a:r>
            <a:r>
              <a:rPr lang="en-US" altLang="ja-JP" sz="1400" dirty="0"/>
              <a:t>BCP</a:t>
            </a:r>
            <a:r>
              <a:rPr lang="ja-JP" altLang="en-US" sz="1400" dirty="0"/>
              <a:t>策定運用指針～経済産業省中小企業庁～</a:t>
            </a:r>
            <a:endParaRPr lang="en-US" altLang="ja-JP" sz="14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6.1.2.3</a:t>
            </a:r>
            <a:r>
              <a:rPr kumimoji="1" lang="ja-JP" altLang="en-US" sz="3000" b="1" dirty="0">
                <a:solidFill>
                  <a:schemeClr val="bg1"/>
                </a:solidFill>
              </a:rPr>
              <a:t>　緊急事態対応計画</a:t>
            </a:r>
          </a:p>
        </p:txBody>
      </p:sp>
      <p:graphicFrame>
        <p:nvGraphicFramePr>
          <p:cNvPr id="2" name="表 1">
            <a:extLst>
              <a:ext uri="{FF2B5EF4-FFF2-40B4-BE49-F238E27FC236}">
                <a16:creationId xmlns:a16="http://schemas.microsoft.com/office/drawing/2014/main" id="{ACBFBE1B-565A-4DC5-9F94-ACB1970BBE71}"/>
              </a:ext>
            </a:extLst>
          </p:cNvPr>
          <p:cNvGraphicFramePr>
            <a:graphicFrameLocks noGrp="1"/>
          </p:cNvGraphicFramePr>
          <p:nvPr>
            <p:extLst>
              <p:ext uri="{D42A27DB-BD31-4B8C-83A1-F6EECF244321}">
                <p14:modId xmlns:p14="http://schemas.microsoft.com/office/powerpoint/2010/main" val="2259251945"/>
              </p:ext>
            </p:extLst>
          </p:nvPr>
        </p:nvGraphicFramePr>
        <p:xfrm>
          <a:off x="838199" y="1969452"/>
          <a:ext cx="10515600" cy="4386896"/>
        </p:xfrm>
        <a:graphic>
          <a:graphicData uri="http://schemas.openxmlformats.org/drawingml/2006/table">
            <a:tbl>
              <a:tblPr firstRow="1" bandRow="1">
                <a:tableStyleId>{5940675A-B579-460E-94D1-54222C63F5DA}</a:tableStyleId>
              </a:tblPr>
              <a:tblGrid>
                <a:gridCol w="1288056">
                  <a:extLst>
                    <a:ext uri="{9D8B030D-6E8A-4147-A177-3AD203B41FA5}">
                      <a16:colId xmlns:a16="http://schemas.microsoft.com/office/drawing/2014/main" val="3288587114"/>
                    </a:ext>
                  </a:extLst>
                </a:gridCol>
                <a:gridCol w="9227544">
                  <a:extLst>
                    <a:ext uri="{9D8B030D-6E8A-4147-A177-3AD203B41FA5}">
                      <a16:colId xmlns:a16="http://schemas.microsoft.com/office/drawing/2014/main" val="1083994942"/>
                    </a:ext>
                  </a:extLst>
                </a:gridCol>
              </a:tblGrid>
              <a:tr h="402316">
                <a:tc>
                  <a:txBody>
                    <a:bodyPr/>
                    <a:lstStyle/>
                    <a:p>
                      <a:pPr algn="ctr"/>
                      <a:r>
                        <a:rPr kumimoji="1" lang="ja-JP" altLang="en-US" sz="1800" dirty="0"/>
                        <a:t>資源</a:t>
                      </a:r>
                    </a:p>
                  </a:txBody>
                  <a:tcPr>
                    <a:solidFill>
                      <a:schemeClr val="tx2">
                        <a:lumMod val="40000"/>
                        <a:lumOff val="60000"/>
                      </a:schemeClr>
                    </a:solidFill>
                  </a:tcPr>
                </a:tc>
                <a:tc>
                  <a:txBody>
                    <a:bodyPr/>
                    <a:lstStyle/>
                    <a:p>
                      <a:pPr algn="ctr"/>
                      <a:r>
                        <a:rPr kumimoji="1" lang="ja-JP" altLang="en-US" sz="1800" dirty="0"/>
                        <a:t>チェック項目</a:t>
                      </a:r>
                    </a:p>
                  </a:txBody>
                  <a:tcPr>
                    <a:solidFill>
                      <a:schemeClr val="tx2">
                        <a:lumMod val="40000"/>
                        <a:lumOff val="60000"/>
                      </a:schemeClr>
                    </a:solidFill>
                  </a:tcPr>
                </a:tc>
                <a:extLst>
                  <a:ext uri="{0D108BD9-81ED-4DB2-BD59-A6C34878D82A}">
                    <a16:rowId xmlns:a16="http://schemas.microsoft.com/office/drawing/2014/main" val="3882255959"/>
                  </a:ext>
                </a:extLst>
              </a:tr>
              <a:tr h="694408">
                <a:tc rowSpan="3">
                  <a:txBody>
                    <a:bodyPr/>
                    <a:lstStyle/>
                    <a:p>
                      <a:r>
                        <a:rPr kumimoji="1" lang="ja-JP" altLang="en-US" sz="1800" dirty="0"/>
                        <a:t>人的資源</a:t>
                      </a:r>
                    </a:p>
                  </a:txBody>
                  <a:tcPr/>
                </a:tc>
                <a:tc>
                  <a:txBody>
                    <a:bodyPr/>
                    <a:lstStyle/>
                    <a:p>
                      <a:r>
                        <a:rPr kumimoji="1" lang="ja-JP" altLang="en-US" sz="1800" dirty="0"/>
                        <a:t>緊急事態発生時に、支援が到着するまでの従業員の安全や健康を確保するための災害対応計画を作成していますか</a:t>
                      </a:r>
                      <a:r>
                        <a:rPr kumimoji="1" lang="en-US" altLang="ja-JP" sz="1800" dirty="0"/>
                        <a:t>? </a:t>
                      </a:r>
                      <a:endParaRPr kumimoji="1" lang="ja-JP" altLang="en-US" sz="1800" dirty="0"/>
                    </a:p>
                  </a:txBody>
                  <a:tcPr/>
                </a:tc>
                <a:extLst>
                  <a:ext uri="{0D108BD9-81ED-4DB2-BD59-A6C34878D82A}">
                    <a16:rowId xmlns:a16="http://schemas.microsoft.com/office/drawing/2014/main" val="316698010"/>
                  </a:ext>
                </a:extLst>
              </a:tr>
              <a:tr h="694408">
                <a:tc vMerge="1">
                  <a:txBody>
                    <a:bodyPr/>
                    <a:lstStyle/>
                    <a:p>
                      <a:endParaRPr kumimoji="1" lang="ja-JP" altLang="en-US" dirty="0"/>
                    </a:p>
                  </a:txBody>
                  <a:tcPr/>
                </a:tc>
                <a:tc>
                  <a:txBody>
                    <a:bodyPr/>
                    <a:lstStyle/>
                    <a:p>
                      <a:r>
                        <a:rPr kumimoji="1" lang="ja-JP" altLang="en-US" sz="1800" dirty="0"/>
                        <a:t>災害が勤務時間中に起こった場合、勤務時間外に起こった場合、あなたの会社は従業員と連絡を取り合うことができますか</a:t>
                      </a:r>
                      <a:r>
                        <a:rPr kumimoji="1" lang="en-US" altLang="ja-JP" sz="1800" dirty="0"/>
                        <a:t>? </a:t>
                      </a:r>
                      <a:endParaRPr kumimoji="1" lang="ja-JP" altLang="en-US" sz="1800" dirty="0"/>
                    </a:p>
                  </a:txBody>
                  <a:tcPr/>
                </a:tc>
                <a:extLst>
                  <a:ext uri="{0D108BD9-81ED-4DB2-BD59-A6C34878D82A}">
                    <a16:rowId xmlns:a16="http://schemas.microsoft.com/office/drawing/2014/main" val="715486230"/>
                  </a:ext>
                </a:extLst>
              </a:tr>
              <a:tr h="402316">
                <a:tc vMerge="1">
                  <a:txBody>
                    <a:bodyPr/>
                    <a:lstStyle/>
                    <a:p>
                      <a:endParaRPr kumimoji="1" lang="ja-JP" altLang="en-US" dirty="0"/>
                    </a:p>
                  </a:txBody>
                  <a:tcPr/>
                </a:tc>
                <a:tc>
                  <a:txBody>
                    <a:bodyPr/>
                    <a:lstStyle/>
                    <a:p>
                      <a:r>
                        <a:rPr kumimoji="1" lang="ja-JP" altLang="en-US" sz="1800" dirty="0"/>
                        <a:t>緊急時に必要な従業員が出社できない場合に、代行できる従業員を育成していますか？</a:t>
                      </a:r>
                    </a:p>
                  </a:txBody>
                  <a:tcPr/>
                </a:tc>
                <a:extLst>
                  <a:ext uri="{0D108BD9-81ED-4DB2-BD59-A6C34878D82A}">
                    <a16:rowId xmlns:a16="http://schemas.microsoft.com/office/drawing/2014/main" val="1159986570"/>
                  </a:ext>
                </a:extLst>
              </a:tr>
              <a:tr h="694408">
                <a:tc rowSpan="2">
                  <a:txBody>
                    <a:bodyPr/>
                    <a:lstStyle/>
                    <a:p>
                      <a:r>
                        <a:rPr kumimoji="1" lang="ja-JP" altLang="en-US" sz="1800" dirty="0"/>
                        <a:t>物的資源 </a:t>
                      </a:r>
                    </a:p>
                  </a:txBody>
                  <a:tcPr/>
                </a:tc>
                <a:tc>
                  <a:txBody>
                    <a:bodyPr/>
                    <a:lstStyle/>
                    <a:p>
                      <a:r>
                        <a:rPr kumimoji="1" lang="ja-JP" altLang="en-US" sz="1800" dirty="0"/>
                        <a:t>あなたの会社のビルや工場は地震や風水害に耐えることができますか</a:t>
                      </a:r>
                      <a:r>
                        <a:rPr kumimoji="1" lang="en-US" altLang="ja-JP" sz="1800" dirty="0"/>
                        <a:t>? </a:t>
                      </a:r>
                      <a:r>
                        <a:rPr kumimoji="1" lang="ja-JP" altLang="en-US" sz="1800" dirty="0"/>
                        <a:t>そして、ビル内や工場内にある設備は地震や風水害から保護されますか</a:t>
                      </a:r>
                      <a:r>
                        <a:rPr kumimoji="1" lang="en-US" altLang="ja-JP" sz="1800" dirty="0"/>
                        <a:t>? </a:t>
                      </a:r>
                      <a:endParaRPr kumimoji="1" lang="ja-JP" altLang="en-US" sz="1800" dirty="0"/>
                    </a:p>
                  </a:txBody>
                  <a:tcPr/>
                </a:tc>
                <a:extLst>
                  <a:ext uri="{0D108BD9-81ED-4DB2-BD59-A6C34878D82A}">
                    <a16:rowId xmlns:a16="http://schemas.microsoft.com/office/drawing/2014/main" val="1371228160"/>
                  </a:ext>
                </a:extLst>
              </a:tr>
              <a:tr h="402316">
                <a:tc vMerge="1">
                  <a:txBody>
                    <a:bodyPr/>
                    <a:lstStyle/>
                    <a:p>
                      <a:endParaRPr kumimoji="1" lang="ja-JP" altLang="en-US" sz="1600" dirty="0"/>
                    </a:p>
                  </a:txBody>
                  <a:tcPr/>
                </a:tc>
                <a:tc>
                  <a:txBody>
                    <a:bodyPr/>
                    <a:lstStyle/>
                    <a:p>
                      <a:r>
                        <a:rPr kumimoji="1" lang="ja-JP" altLang="en-US" sz="1800" dirty="0"/>
                        <a:t>あなたの会社周辺の地震や風水害の被害に関する危険性を把握していますか？</a:t>
                      </a:r>
                    </a:p>
                  </a:txBody>
                  <a:tcPr/>
                </a:tc>
                <a:extLst>
                  <a:ext uri="{0D108BD9-81ED-4DB2-BD59-A6C34878D82A}">
                    <a16:rowId xmlns:a16="http://schemas.microsoft.com/office/drawing/2014/main" val="483580412"/>
                  </a:ext>
                </a:extLst>
              </a:tr>
              <a:tr h="402316">
                <a:tc rowSpan="2">
                  <a:txBody>
                    <a:bodyPr/>
                    <a:lstStyle/>
                    <a:p>
                      <a:r>
                        <a:rPr kumimoji="1" lang="ja-JP" altLang="en-US" sz="1800" dirty="0"/>
                        <a:t>情報資源</a:t>
                      </a:r>
                    </a:p>
                  </a:txBody>
                  <a:tcPr/>
                </a:tc>
                <a:tc>
                  <a:txBody>
                    <a:bodyPr/>
                    <a:lstStyle/>
                    <a:p>
                      <a:r>
                        <a:rPr kumimoji="1" lang="ja-JP" altLang="en-US" sz="1800" dirty="0"/>
                        <a:t>情報のコピー又はバックアップをとっていますか</a:t>
                      </a:r>
                      <a:r>
                        <a:rPr kumimoji="1" lang="en-US" altLang="ja-JP" sz="1800" dirty="0"/>
                        <a:t>? </a:t>
                      </a:r>
                      <a:endParaRPr kumimoji="1" lang="ja-JP" altLang="en-US" sz="1800" dirty="0"/>
                    </a:p>
                  </a:txBody>
                  <a:tcPr/>
                </a:tc>
                <a:extLst>
                  <a:ext uri="{0D108BD9-81ED-4DB2-BD59-A6C34878D82A}">
                    <a16:rowId xmlns:a16="http://schemas.microsoft.com/office/drawing/2014/main" val="3784468533"/>
                  </a:ext>
                </a:extLst>
              </a:tr>
              <a:tr h="694408">
                <a:tc vMerge="1">
                  <a:txBody>
                    <a:bodyPr/>
                    <a:lstStyle/>
                    <a:p>
                      <a:endParaRPr kumimoji="1" lang="ja-JP" altLang="en-US" sz="1600" dirty="0"/>
                    </a:p>
                  </a:txBody>
                  <a:tcPr/>
                </a:tc>
                <a:tc>
                  <a:txBody>
                    <a:bodyPr/>
                    <a:lstStyle/>
                    <a:p>
                      <a:r>
                        <a:rPr kumimoji="1" lang="ja-JP" altLang="en-US" sz="1800" dirty="0"/>
                        <a:t>操業に不可欠な </a:t>
                      </a:r>
                      <a:r>
                        <a:rPr kumimoji="1" lang="en-US" altLang="ja-JP" sz="1800" dirty="0"/>
                        <a:t>IT </a:t>
                      </a:r>
                      <a:r>
                        <a:rPr kumimoji="1" lang="ja-JP" altLang="en-US" sz="1800" dirty="0"/>
                        <a:t>機器システムが故障等で使用できない場合の代替方法があります か？</a:t>
                      </a:r>
                    </a:p>
                  </a:txBody>
                  <a:tcPr/>
                </a:tc>
                <a:extLst>
                  <a:ext uri="{0D108BD9-81ED-4DB2-BD59-A6C34878D82A}">
                    <a16:rowId xmlns:a16="http://schemas.microsoft.com/office/drawing/2014/main" val="181448448"/>
                  </a:ext>
                </a:extLst>
              </a:tr>
            </a:tbl>
          </a:graphicData>
        </a:graphic>
      </p:graphicFrame>
    </p:spTree>
    <p:extLst>
      <p:ext uri="{BB962C8B-B14F-4D97-AF65-F5344CB8AC3E}">
        <p14:creationId xmlns:p14="http://schemas.microsoft.com/office/powerpoint/2010/main" val="226568493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55000" lnSpcReduction="20000"/>
          </a:bodyPr>
          <a:lstStyle/>
          <a:p>
            <a:pPr marL="0" indent="0">
              <a:buNone/>
            </a:pPr>
            <a:r>
              <a:rPr lang="ja-JP" altLang="en-US" dirty="0" smtClean="0"/>
              <a:t>①品質目標を、下記において策定する</a:t>
            </a:r>
            <a:endParaRPr lang="en-US" altLang="ja-JP" dirty="0" smtClean="0"/>
          </a:p>
          <a:p>
            <a:pPr marL="0" indent="0">
              <a:buNone/>
            </a:pPr>
            <a:r>
              <a:rPr lang="ja-JP" altLang="en-US" dirty="0" smtClean="0"/>
              <a:t>・品質マネジメントシステムの機能、階層、プロセス</a:t>
            </a:r>
            <a:endParaRPr lang="en-US" altLang="ja-JP" dirty="0" smtClean="0"/>
          </a:p>
          <a:p>
            <a:pPr marL="0" indent="0">
              <a:buNone/>
            </a:pPr>
            <a:r>
              <a:rPr lang="ja-JP" altLang="en-US" dirty="0" smtClean="0"/>
              <a:t>②品質目標は、次の事項を満たすものとする。</a:t>
            </a:r>
            <a:endParaRPr lang="en-US" altLang="ja-JP" dirty="0" smtClean="0"/>
          </a:p>
          <a:p>
            <a:pPr marL="0" indent="0">
              <a:buNone/>
            </a:pPr>
            <a:r>
              <a:rPr lang="en-US" altLang="ja-JP" dirty="0" smtClean="0"/>
              <a:t>a)</a:t>
            </a:r>
            <a:r>
              <a:rPr lang="ja-JP" altLang="en-US" dirty="0" smtClean="0"/>
              <a:t>品質方針と整合している</a:t>
            </a:r>
            <a:endParaRPr lang="en-US" altLang="ja-JP" dirty="0" smtClean="0"/>
          </a:p>
          <a:p>
            <a:pPr marL="0" indent="0">
              <a:buNone/>
            </a:pPr>
            <a:r>
              <a:rPr lang="en-US" altLang="ja-JP" dirty="0" smtClean="0"/>
              <a:t>b)</a:t>
            </a:r>
            <a:r>
              <a:rPr lang="ja-JP" altLang="en-US" dirty="0" smtClean="0"/>
              <a:t>測定可能である</a:t>
            </a:r>
            <a:endParaRPr lang="en-US" altLang="ja-JP" dirty="0" smtClean="0"/>
          </a:p>
          <a:p>
            <a:pPr marL="0" indent="0">
              <a:buNone/>
            </a:pPr>
            <a:r>
              <a:rPr lang="en-US" altLang="ja-JP" dirty="0" smtClean="0"/>
              <a:t>c)</a:t>
            </a:r>
            <a:r>
              <a:rPr lang="ja-JP" altLang="en-US" dirty="0" smtClean="0"/>
              <a:t>適用される要求事項を考慮に入れる</a:t>
            </a:r>
            <a:endParaRPr lang="en-US" altLang="ja-JP" dirty="0" smtClean="0"/>
          </a:p>
          <a:p>
            <a:pPr marL="0" indent="0">
              <a:buNone/>
            </a:pPr>
            <a:r>
              <a:rPr lang="en-US" altLang="ja-JP" dirty="0" smtClean="0"/>
              <a:t>d)</a:t>
            </a:r>
            <a:r>
              <a:rPr lang="ja-JP" altLang="en-US" dirty="0" smtClean="0"/>
              <a:t>製品・サービス適合、および顧客満足の向上に関連する。</a:t>
            </a:r>
            <a:endParaRPr lang="en-US" altLang="ja-JP" dirty="0" smtClean="0"/>
          </a:p>
          <a:p>
            <a:pPr marL="0" indent="0">
              <a:buNone/>
            </a:pPr>
            <a:r>
              <a:rPr lang="en-US" altLang="ja-JP" dirty="0" smtClean="0"/>
              <a:t>e)</a:t>
            </a:r>
            <a:r>
              <a:rPr lang="ja-JP" altLang="en-US" dirty="0" smtClean="0"/>
              <a:t>監視する</a:t>
            </a:r>
            <a:endParaRPr lang="en-US" altLang="ja-JP" dirty="0" smtClean="0"/>
          </a:p>
          <a:p>
            <a:pPr marL="0" indent="0">
              <a:buNone/>
            </a:pPr>
            <a:r>
              <a:rPr lang="en-US" altLang="ja-JP" dirty="0" smtClean="0"/>
              <a:t>f)</a:t>
            </a:r>
            <a:r>
              <a:rPr lang="ja-JP" altLang="en-US" dirty="0" smtClean="0"/>
              <a:t>伝達する</a:t>
            </a:r>
            <a:endParaRPr lang="en-US" altLang="ja-JP" dirty="0" smtClean="0"/>
          </a:p>
          <a:p>
            <a:pPr marL="0" indent="0">
              <a:buNone/>
            </a:pPr>
            <a:r>
              <a:rPr lang="en-US" altLang="ja-JP" dirty="0" smtClean="0"/>
              <a:t>g)</a:t>
            </a:r>
            <a:r>
              <a:rPr lang="ja-JP" altLang="en-US" dirty="0" smtClean="0"/>
              <a:t>更新する（必要に応じて）</a:t>
            </a:r>
            <a:endParaRPr lang="en-US" altLang="ja-JP" dirty="0" smtClean="0"/>
          </a:p>
          <a:p>
            <a:pPr marL="0" indent="0">
              <a:buNone/>
            </a:pPr>
            <a:r>
              <a:rPr lang="ja-JP" altLang="en-US" dirty="0" smtClean="0"/>
              <a:t>③品質目標に関する文書化した情報を維持する。</a:t>
            </a:r>
            <a:endParaRPr lang="en-US" altLang="ja-JP" dirty="0" smtClean="0"/>
          </a:p>
          <a:p>
            <a:pPr marL="0" indent="0">
              <a:buNone/>
            </a:pPr>
            <a:r>
              <a:rPr lang="en-US" altLang="ja-JP" dirty="0"/>
              <a:t>[</a:t>
            </a:r>
            <a:r>
              <a:rPr lang="ja-JP" altLang="en-US" dirty="0"/>
              <a:t>要求事項の解説</a:t>
            </a:r>
            <a:r>
              <a:rPr lang="en-US" altLang="ja-JP" dirty="0"/>
              <a:t>]</a:t>
            </a:r>
          </a:p>
          <a:p>
            <a:pPr marL="0" indent="0">
              <a:buNone/>
            </a:pPr>
            <a:r>
              <a:rPr lang="ja-JP" altLang="en-US" dirty="0"/>
              <a:t>関連する機能、階層、プロセスにおいて、品質目標を策定し、達成することを意図しています。</a:t>
            </a:r>
            <a:endParaRPr lang="en-US" altLang="ja-JP" dirty="0"/>
          </a:p>
          <a:p>
            <a:pPr marL="0" indent="0">
              <a:buNone/>
            </a:pPr>
            <a:r>
              <a:rPr lang="ja-JP" altLang="en-US" dirty="0"/>
              <a:t>①は、品質目標を作成する対象について述べています。品質マネジメントシステムの機能（部門）・階層以外に、プロセスが追加されています。</a:t>
            </a:r>
            <a:endParaRPr lang="en-US" altLang="ja-JP" dirty="0"/>
          </a:p>
          <a:p>
            <a:pPr marL="0" indent="0">
              <a:buNone/>
            </a:pPr>
            <a:r>
              <a:rPr lang="ja-JP" altLang="en-US" dirty="0"/>
              <a:t>②</a:t>
            </a:r>
            <a:r>
              <a:rPr lang="en-US" altLang="ja-JP" dirty="0"/>
              <a:t>b)</a:t>
            </a:r>
            <a:r>
              <a:rPr lang="ja-JP" altLang="en-US" dirty="0"/>
              <a:t>では、品質目標は、測定可能にすることを述べています。従って、品質目標は、項目の設定以外に、目標値を数値化するなど、達成度が判定できるようにすることが必要です。</a:t>
            </a:r>
            <a:endParaRPr lang="en-US" altLang="ja-JP" dirty="0"/>
          </a:p>
          <a:p>
            <a:pPr marL="0" indent="0">
              <a:buNone/>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smtClean="0">
                <a:solidFill>
                  <a:schemeClr val="tx2"/>
                </a:solidFill>
              </a:rPr>
              <a:t>6.2.1</a:t>
            </a:r>
            <a:r>
              <a:rPr lang="ja-JP" altLang="en-US" sz="3000" b="1" dirty="0">
                <a:solidFill>
                  <a:schemeClr val="tx2"/>
                </a:solidFill>
              </a:rPr>
              <a:t>　</a:t>
            </a:r>
            <a:r>
              <a:rPr lang="ja-JP" altLang="en-US" sz="3000" b="1" dirty="0" smtClean="0">
                <a:solidFill>
                  <a:schemeClr val="tx2"/>
                </a:solidFill>
              </a:rPr>
              <a:t>品質目標の策定　（岩波氏）</a:t>
            </a:r>
            <a:endParaRPr kumimoji="1" lang="ja-JP" altLang="en-US" sz="3000" b="1" dirty="0">
              <a:solidFill>
                <a:schemeClr val="tx2"/>
              </a:solidFill>
            </a:endParaRPr>
          </a:p>
        </p:txBody>
      </p:sp>
    </p:spTree>
    <p:extLst>
      <p:ext uri="{BB962C8B-B14F-4D97-AF65-F5344CB8AC3E}">
        <p14:creationId xmlns:p14="http://schemas.microsoft.com/office/powerpoint/2010/main" val="378633271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62500" lnSpcReduction="20000"/>
          </a:bodyPr>
          <a:lstStyle/>
          <a:p>
            <a:pPr marL="0" indent="0">
              <a:buNone/>
            </a:pPr>
            <a:r>
              <a:rPr lang="ja-JP" altLang="en-US" dirty="0" smtClean="0"/>
              <a:t>④次の事項を含めた、品質目標を達成するための計画を策定する。</a:t>
            </a:r>
            <a:endParaRPr lang="en-US" altLang="ja-JP" dirty="0" smtClean="0"/>
          </a:p>
          <a:p>
            <a:pPr marL="0" indent="0">
              <a:buNone/>
            </a:pPr>
            <a:r>
              <a:rPr lang="en-US" altLang="ja-JP" dirty="0" smtClean="0"/>
              <a:t>a)</a:t>
            </a:r>
            <a:r>
              <a:rPr lang="ja-JP" altLang="en-US" dirty="0" smtClean="0"/>
              <a:t>実施事項</a:t>
            </a:r>
            <a:endParaRPr lang="en-US" altLang="ja-JP" dirty="0" smtClean="0"/>
          </a:p>
          <a:p>
            <a:pPr marL="0" indent="0">
              <a:buNone/>
            </a:pPr>
            <a:r>
              <a:rPr lang="en-US" altLang="ja-JP" dirty="0" smtClean="0"/>
              <a:t>b)</a:t>
            </a:r>
            <a:r>
              <a:rPr lang="ja-JP" altLang="en-US" dirty="0" smtClean="0"/>
              <a:t>必要な資源</a:t>
            </a:r>
            <a:endParaRPr lang="en-US" altLang="ja-JP" dirty="0" smtClean="0"/>
          </a:p>
          <a:p>
            <a:pPr marL="0" indent="0">
              <a:buNone/>
            </a:pPr>
            <a:r>
              <a:rPr lang="en-US" altLang="ja-JP" dirty="0" smtClean="0"/>
              <a:t>c)</a:t>
            </a:r>
            <a:r>
              <a:rPr lang="ja-JP" altLang="en-US" dirty="0"/>
              <a:t>責任者</a:t>
            </a:r>
            <a:endParaRPr lang="en-US" altLang="ja-JP" dirty="0" smtClean="0"/>
          </a:p>
          <a:p>
            <a:pPr marL="0" indent="0">
              <a:buNone/>
            </a:pPr>
            <a:r>
              <a:rPr lang="en-US" altLang="ja-JP" dirty="0" smtClean="0"/>
              <a:t>d)</a:t>
            </a:r>
            <a:r>
              <a:rPr lang="ja-JP" altLang="en-US" dirty="0" smtClean="0"/>
              <a:t>実施事項の完了時期</a:t>
            </a:r>
            <a:endParaRPr lang="en-US" altLang="ja-JP" dirty="0" smtClean="0"/>
          </a:p>
          <a:p>
            <a:pPr marL="0" indent="0">
              <a:buNone/>
            </a:pPr>
            <a:r>
              <a:rPr lang="en-US" altLang="ja-JP" dirty="0" smtClean="0"/>
              <a:t>e)</a:t>
            </a:r>
            <a:r>
              <a:rPr lang="ja-JP" altLang="en-US" dirty="0" smtClean="0"/>
              <a:t>結果の評価方法</a:t>
            </a:r>
            <a:endParaRPr lang="en-US" altLang="ja-JP" dirty="0" smtClean="0"/>
          </a:p>
          <a:p>
            <a:pPr marL="0" indent="0">
              <a:buNone/>
            </a:pPr>
            <a:r>
              <a:rPr lang="en-US" altLang="ja-JP" dirty="0" smtClean="0"/>
              <a:t>[</a:t>
            </a:r>
            <a:r>
              <a:rPr lang="ja-JP" altLang="en-US" dirty="0" smtClean="0"/>
              <a:t>要求事項の解説</a:t>
            </a:r>
            <a:r>
              <a:rPr lang="en-US" altLang="ja-JP" dirty="0" smtClean="0"/>
              <a:t>]</a:t>
            </a:r>
          </a:p>
          <a:p>
            <a:pPr marL="0" indent="0">
              <a:buNone/>
            </a:pPr>
            <a:r>
              <a:rPr lang="en-US" altLang="ja-JP" dirty="0" smtClean="0"/>
              <a:t>ATF16949</a:t>
            </a:r>
            <a:r>
              <a:rPr lang="ja-JP" altLang="en-US" dirty="0" smtClean="0"/>
              <a:t>では、顧客固有要求事項に関する品質目標に含めることが必要です。品質目標の例を</a:t>
            </a:r>
            <a:r>
              <a:rPr lang="ja-JP" altLang="en-US" dirty="0"/>
              <a:t>下記</a:t>
            </a:r>
            <a:r>
              <a:rPr lang="ja-JP" altLang="en-US" dirty="0" smtClean="0"/>
              <a:t>に示します。</a:t>
            </a:r>
            <a:endParaRPr lang="en-US" altLang="ja-JP" dirty="0" smtClean="0"/>
          </a:p>
          <a:p>
            <a:pPr marL="0" indent="0">
              <a:buNone/>
            </a:pPr>
            <a:r>
              <a:rPr lang="ja-JP" altLang="en-US" dirty="0" smtClean="0"/>
              <a:t>品質目標：顧客満足度向上、目標達成基準：顧客クレーム月</a:t>
            </a:r>
            <a:r>
              <a:rPr lang="en-US" altLang="ja-JP" dirty="0" smtClean="0"/>
              <a:t>10</a:t>
            </a:r>
            <a:r>
              <a:rPr lang="ja-JP" altLang="en-US" dirty="0" smtClean="0"/>
              <a:t>件以下　  、実績：クレーム実績月平均</a:t>
            </a:r>
            <a:r>
              <a:rPr lang="en-US" altLang="ja-JP" dirty="0" smtClean="0"/>
              <a:t>5</a:t>
            </a:r>
            <a:r>
              <a:rPr lang="ja-JP" altLang="en-US" dirty="0" smtClean="0"/>
              <a:t>件</a:t>
            </a:r>
            <a:endParaRPr lang="en-US" altLang="ja-JP" dirty="0" smtClean="0"/>
          </a:p>
          <a:p>
            <a:pPr marL="0" indent="0">
              <a:buNone/>
            </a:pPr>
            <a:r>
              <a:rPr lang="ja-JP" altLang="en-US" dirty="0" smtClean="0"/>
              <a:t>品質目標：検査不良低減、　目標達成基準：検査不良率</a:t>
            </a:r>
            <a:r>
              <a:rPr lang="en-US" altLang="ja-JP" dirty="0" smtClean="0"/>
              <a:t>10</a:t>
            </a:r>
            <a:r>
              <a:rPr lang="ja-JP" altLang="en-US" dirty="0" smtClean="0"/>
              <a:t>％以下　　  　、実績：製造不良率実績</a:t>
            </a:r>
            <a:r>
              <a:rPr lang="en-US" altLang="ja-JP" dirty="0" smtClean="0"/>
              <a:t>5%</a:t>
            </a:r>
          </a:p>
          <a:p>
            <a:pPr marL="0" indent="0">
              <a:buNone/>
            </a:pPr>
            <a:r>
              <a:rPr lang="ja-JP" altLang="en-US" dirty="0" smtClean="0"/>
              <a:t>品質目標：納期遵守、　　　目標達成基準：納期達成率</a:t>
            </a:r>
            <a:r>
              <a:rPr lang="en-US" altLang="ja-JP" dirty="0" smtClean="0"/>
              <a:t>95%</a:t>
            </a:r>
            <a:r>
              <a:rPr lang="ja-JP" altLang="en-US" dirty="0" smtClean="0"/>
              <a:t>以上　　  　、実績：納期達成率実績</a:t>
            </a:r>
            <a:r>
              <a:rPr lang="en-US" altLang="ja-JP" dirty="0" smtClean="0"/>
              <a:t>93%</a:t>
            </a:r>
          </a:p>
          <a:p>
            <a:pPr marL="0" indent="0">
              <a:buNone/>
            </a:pPr>
            <a:r>
              <a:rPr lang="ja-JP" altLang="en-US" dirty="0" smtClean="0"/>
              <a:t>品質目標：在庫管理、　　　目標達成基準：棚卸資産前年度比</a:t>
            </a:r>
            <a:r>
              <a:rPr lang="en-US" altLang="ja-JP" dirty="0" smtClean="0"/>
              <a:t>5%</a:t>
            </a:r>
            <a:r>
              <a:rPr lang="ja-JP" altLang="en-US" dirty="0" smtClean="0"/>
              <a:t>低減　、実績：棚卸資産前年度比</a:t>
            </a:r>
            <a:r>
              <a:rPr lang="en-US" altLang="ja-JP" dirty="0" smtClean="0"/>
              <a:t>10%</a:t>
            </a:r>
            <a:r>
              <a:rPr lang="ja-JP" altLang="en-US" dirty="0" smtClean="0"/>
              <a:t>低減</a:t>
            </a:r>
            <a:endParaRPr lang="en-US" altLang="ja-JP" dirty="0" smtClean="0"/>
          </a:p>
          <a:p>
            <a:pPr marL="0" indent="0">
              <a:buNone/>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smtClean="0">
                <a:solidFill>
                  <a:schemeClr val="tx2"/>
                </a:solidFill>
              </a:rPr>
              <a:t>6.2.2</a:t>
            </a:r>
            <a:r>
              <a:rPr lang="ja-JP" altLang="en-US" sz="3000" b="1" dirty="0">
                <a:solidFill>
                  <a:schemeClr val="tx2"/>
                </a:solidFill>
              </a:rPr>
              <a:t>　</a:t>
            </a:r>
            <a:r>
              <a:rPr lang="ja-JP" altLang="en-US" sz="3000" b="1" dirty="0" smtClean="0">
                <a:solidFill>
                  <a:schemeClr val="tx2"/>
                </a:solidFill>
              </a:rPr>
              <a:t>品質目標達成計画の策定　（岩波氏）</a:t>
            </a:r>
            <a:endParaRPr kumimoji="1" lang="ja-JP" altLang="en-US" sz="3000" b="1" dirty="0">
              <a:solidFill>
                <a:schemeClr val="tx2"/>
              </a:solidFill>
            </a:endParaRPr>
          </a:p>
        </p:txBody>
      </p:sp>
    </p:spTree>
    <p:extLst>
      <p:ext uri="{BB962C8B-B14F-4D97-AF65-F5344CB8AC3E}">
        <p14:creationId xmlns:p14="http://schemas.microsoft.com/office/powerpoint/2010/main" val="326645994"/>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99141"/>
            <a:ext cx="10515600" cy="2302525"/>
          </a:xfrm>
          <a:ln w="12700">
            <a:solidFill>
              <a:schemeClr val="tx2"/>
            </a:solidFill>
          </a:ln>
        </p:spPr>
        <p:txBody>
          <a:bodyPr>
            <a:noAutofit/>
          </a:bodyPr>
          <a:lstStyle/>
          <a:p>
            <a:pPr marL="0" indent="0">
              <a:lnSpc>
                <a:spcPct val="100000"/>
              </a:lnSpc>
              <a:buNone/>
            </a:pPr>
            <a:r>
              <a:rPr lang="ja-JP" altLang="en-US" sz="2000" dirty="0"/>
              <a:t>☑トップマネジメントは、組織全体にわたって、関連する機能、プロセス及び階層において、</a:t>
            </a:r>
            <a:r>
              <a:rPr lang="ja-JP" altLang="en-US" sz="2000" u="sng" dirty="0"/>
              <a:t>顧客要求事項を満たす品質目標を定め、確立し及び維持することを確実にしなければならない。</a:t>
            </a:r>
            <a:endParaRPr lang="en-US" altLang="ja-JP" sz="2000" u="sng" dirty="0"/>
          </a:p>
          <a:p>
            <a:pPr marL="0" indent="0">
              <a:lnSpc>
                <a:spcPct val="100000"/>
              </a:lnSpc>
              <a:buNone/>
            </a:pPr>
            <a:r>
              <a:rPr lang="ja-JP" altLang="en-US" sz="2000" dirty="0"/>
              <a:t>☑利害関係者及びその関連する要求事項に関する組織のレビューの結果は、組織が最低限、年次の品質目標及び関係するパフォーマンス目標（内部及び外部）を確立する際に、考慮しなければならない。</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6.2.2.1</a:t>
            </a:r>
            <a:r>
              <a:rPr lang="ja-JP" altLang="en-US" sz="3000" b="1" dirty="0">
                <a:solidFill>
                  <a:schemeClr val="tx2"/>
                </a:solidFill>
              </a:rPr>
              <a:t>　品質目標及びそれを達成するための計画策定－補足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3816312"/>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6.2.2.1</a:t>
            </a:r>
            <a:r>
              <a:rPr lang="ja-JP" altLang="en-US" sz="3000" b="1" dirty="0">
                <a:solidFill>
                  <a:schemeClr val="bg1"/>
                </a:solidFill>
              </a:rPr>
              <a:t>　品質目標及びそれを達成するための計画策定－補足</a:t>
            </a:r>
          </a:p>
        </p:txBody>
      </p:sp>
      <p:sp>
        <p:nvSpPr>
          <p:cNvPr id="8" name="コンテンツ プレースホルダー 2">
            <a:extLst>
              <a:ext uri="{FF2B5EF4-FFF2-40B4-BE49-F238E27FC236}">
                <a16:creationId xmlns:a16="http://schemas.microsoft.com/office/drawing/2014/main" id="{EEB3763D-86DC-492E-832D-788DCD7FF545}"/>
              </a:ext>
            </a:extLst>
          </p:cNvPr>
          <p:cNvSpPr txBox="1">
            <a:spLocks/>
          </p:cNvSpPr>
          <p:nvPr/>
        </p:nvSpPr>
        <p:spPr>
          <a:xfrm>
            <a:off x="838200" y="4968607"/>
            <a:ext cx="10515600" cy="1387743"/>
          </a:xfrm>
          <a:prstGeom prst="rect">
            <a:avLst/>
          </a:prstGeom>
          <a:ln w="12700">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200" dirty="0"/>
              <a:t>基本的には</a:t>
            </a:r>
            <a:r>
              <a:rPr lang="en-US" altLang="ja-JP" sz="2200" dirty="0"/>
              <a:t>ISO9001:2015</a:t>
            </a:r>
            <a:r>
              <a:rPr lang="ja-JP" altLang="en-US" sz="2200" dirty="0"/>
              <a:t>に対する対応で充足する。</a:t>
            </a:r>
            <a:endParaRPr lang="en-US" altLang="ja-JP" sz="2200" dirty="0"/>
          </a:p>
          <a:p>
            <a:pPr lvl="1">
              <a:buFont typeface="Wingdings" panose="05000000000000000000" pitchFamily="2" charset="2"/>
              <a:buChar char="Ø"/>
            </a:pPr>
            <a:r>
              <a:rPr lang="ja-JP" altLang="en-US" sz="2200" dirty="0">
                <a:solidFill>
                  <a:srgbClr val="FF0000"/>
                </a:solidFill>
                <a:effectLst>
                  <a:outerShdw blurRad="38100" dist="38100" dir="2700000" algn="tl">
                    <a:srgbClr val="000000">
                      <a:alpha val="43137"/>
                    </a:srgbClr>
                  </a:outerShdw>
                </a:effectLst>
              </a:rPr>
              <a:t>顧客要求事項を満たす目標</a:t>
            </a:r>
            <a:r>
              <a:rPr lang="ja-JP" altLang="en-US" sz="2200" dirty="0"/>
              <a:t>は必須。</a:t>
            </a:r>
            <a:endParaRPr lang="en-US" altLang="ja-JP" sz="2200" dirty="0"/>
          </a:p>
          <a:p>
            <a:pPr lvl="1">
              <a:buFont typeface="Wingdings" panose="05000000000000000000" pitchFamily="2" charset="2"/>
              <a:buChar char="Ø"/>
            </a:pPr>
            <a:r>
              <a:rPr lang="ja-JP" altLang="en-US" sz="2200" dirty="0"/>
              <a:t>トップマネジメントへの要求であることの念押し。➠　経営戦略</a:t>
            </a:r>
            <a:endParaRPr lang="en-US" altLang="ja-JP" sz="2200" dirty="0"/>
          </a:p>
          <a:p>
            <a:pPr lvl="1">
              <a:buFont typeface="Wingdings" panose="05000000000000000000" pitchFamily="2" charset="2"/>
              <a:buChar char="Ø"/>
            </a:pPr>
            <a:r>
              <a:rPr lang="ja-JP" altLang="en-US" sz="2200" dirty="0"/>
              <a:t>利害関係者要求事項を考慮することの重要性。</a:t>
            </a:r>
            <a:endParaRPr lang="en-US" altLang="ja-JP" sz="2200" dirty="0"/>
          </a:p>
        </p:txBody>
      </p:sp>
    </p:spTree>
    <p:extLst>
      <p:ext uri="{BB962C8B-B14F-4D97-AF65-F5344CB8AC3E}">
        <p14:creationId xmlns:p14="http://schemas.microsoft.com/office/powerpoint/2010/main" val="247841075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514120"/>
          </a:xfrm>
          <a:ln w="12700">
            <a:noFill/>
          </a:ln>
        </p:spPr>
        <p:txBody>
          <a:bodyPr>
            <a:normAutofit/>
          </a:bodyPr>
          <a:lstStyle/>
          <a:p>
            <a:pPr marL="0" indent="0">
              <a:buNone/>
            </a:pPr>
            <a:r>
              <a:rPr lang="ja-JP" altLang="en-US" sz="2400" dirty="0"/>
              <a:t>方針展開</a:t>
            </a:r>
            <a:endParaRPr lang="en-US" altLang="ja-JP" sz="24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6.2.2.1</a:t>
            </a:r>
            <a:r>
              <a:rPr lang="ja-JP" altLang="en-US" sz="3000" b="1" dirty="0">
                <a:solidFill>
                  <a:schemeClr val="bg1"/>
                </a:solidFill>
              </a:rPr>
              <a:t>　品質目標及びそれを達成するための計画策定－補足</a:t>
            </a:r>
          </a:p>
        </p:txBody>
      </p:sp>
      <p:sp>
        <p:nvSpPr>
          <p:cNvPr id="2" name="フレーム 1">
            <a:extLst>
              <a:ext uri="{FF2B5EF4-FFF2-40B4-BE49-F238E27FC236}">
                <a16:creationId xmlns:a16="http://schemas.microsoft.com/office/drawing/2014/main" id="{5CF12452-DCBE-41D2-8303-D9AE144950FC}"/>
              </a:ext>
            </a:extLst>
          </p:cNvPr>
          <p:cNvSpPr/>
          <p:nvPr/>
        </p:nvSpPr>
        <p:spPr>
          <a:xfrm>
            <a:off x="838200" y="2009660"/>
            <a:ext cx="1961003" cy="882919"/>
          </a:xfrm>
          <a:prstGeom prst="frame">
            <a:avLst/>
          </a:prstGeom>
          <a:gradFill>
            <a:gsLst>
              <a:gs pos="0">
                <a:schemeClr val="accent1">
                  <a:lumMod val="5000"/>
                  <a:lumOff val="95000"/>
                </a:schemeClr>
              </a:gs>
              <a:gs pos="0">
                <a:schemeClr val="tx2">
                  <a:lumMod val="100000"/>
                </a:schemeClr>
              </a:gs>
              <a:gs pos="74000">
                <a:schemeClr val="accent1">
                  <a:lumMod val="45000"/>
                  <a:lumOff val="55000"/>
                </a:schemeClr>
              </a:gs>
              <a:gs pos="100000">
                <a:schemeClr val="accent1">
                  <a:lumMod val="30000"/>
                  <a:lumOff val="70000"/>
                </a:schemeClr>
              </a:gs>
            </a:gsLst>
            <a:lin ang="5400000" scaled="1"/>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経営戦略</a:t>
            </a:r>
          </a:p>
        </p:txBody>
      </p:sp>
      <p:sp>
        <p:nvSpPr>
          <p:cNvPr id="6" name="四角形: メモ 5">
            <a:extLst>
              <a:ext uri="{FF2B5EF4-FFF2-40B4-BE49-F238E27FC236}">
                <a16:creationId xmlns:a16="http://schemas.microsoft.com/office/drawing/2014/main" id="{1BC4D310-D8F3-4466-9042-B6DC07D62CC7}"/>
              </a:ext>
            </a:extLst>
          </p:cNvPr>
          <p:cNvSpPr/>
          <p:nvPr/>
        </p:nvSpPr>
        <p:spPr>
          <a:xfrm>
            <a:off x="838200" y="2995816"/>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ja-JP" altLang="en-US" dirty="0">
                <a:solidFill>
                  <a:schemeClr val="tx1"/>
                </a:solidFill>
              </a:rPr>
              <a:t>会社品質方針</a:t>
            </a:r>
          </a:p>
        </p:txBody>
      </p:sp>
      <p:sp>
        <p:nvSpPr>
          <p:cNvPr id="8" name="四角形: メモ 7">
            <a:extLst>
              <a:ext uri="{FF2B5EF4-FFF2-40B4-BE49-F238E27FC236}">
                <a16:creationId xmlns:a16="http://schemas.microsoft.com/office/drawing/2014/main" id="{6A5E9512-82B3-41DA-8CF1-D46272DE6C8A}"/>
              </a:ext>
            </a:extLst>
          </p:cNvPr>
          <p:cNvSpPr/>
          <p:nvPr/>
        </p:nvSpPr>
        <p:spPr>
          <a:xfrm>
            <a:off x="8610600" y="3723200"/>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ja-JP" altLang="en-US" dirty="0">
                <a:solidFill>
                  <a:schemeClr val="tx1"/>
                </a:solidFill>
              </a:rPr>
              <a:t>実施計画</a:t>
            </a:r>
          </a:p>
        </p:txBody>
      </p:sp>
      <p:sp>
        <p:nvSpPr>
          <p:cNvPr id="10" name="四角形: メモ 9">
            <a:extLst>
              <a:ext uri="{FF2B5EF4-FFF2-40B4-BE49-F238E27FC236}">
                <a16:creationId xmlns:a16="http://schemas.microsoft.com/office/drawing/2014/main" id="{B1D00CB7-B911-4E2A-8B34-F4C280D49F62}"/>
              </a:ext>
            </a:extLst>
          </p:cNvPr>
          <p:cNvSpPr/>
          <p:nvPr/>
        </p:nvSpPr>
        <p:spPr>
          <a:xfrm>
            <a:off x="4724400" y="3719909"/>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ja-JP" altLang="en-US" dirty="0">
                <a:solidFill>
                  <a:schemeClr val="tx1"/>
                </a:solidFill>
              </a:rPr>
              <a:t>実施計画</a:t>
            </a:r>
          </a:p>
        </p:txBody>
      </p:sp>
      <p:sp>
        <p:nvSpPr>
          <p:cNvPr id="11" name="四角形: メモ 10">
            <a:extLst>
              <a:ext uri="{FF2B5EF4-FFF2-40B4-BE49-F238E27FC236}">
                <a16:creationId xmlns:a16="http://schemas.microsoft.com/office/drawing/2014/main" id="{BB9D9567-3F65-4F77-96A1-55CE9359F412}"/>
              </a:ext>
            </a:extLst>
          </p:cNvPr>
          <p:cNvSpPr/>
          <p:nvPr/>
        </p:nvSpPr>
        <p:spPr>
          <a:xfrm>
            <a:off x="838200" y="3719909"/>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ja-JP" altLang="en-US" dirty="0">
                <a:solidFill>
                  <a:schemeClr val="tx1"/>
                </a:solidFill>
              </a:rPr>
              <a:t>全社</a:t>
            </a:r>
            <a:r>
              <a:rPr kumimoji="1" lang="ja-JP" altLang="en-US" dirty="0">
                <a:solidFill>
                  <a:schemeClr val="tx1"/>
                </a:solidFill>
              </a:rPr>
              <a:t>品質目標</a:t>
            </a:r>
          </a:p>
        </p:txBody>
      </p:sp>
      <p:sp>
        <p:nvSpPr>
          <p:cNvPr id="12" name="四角形: メモ 11">
            <a:extLst>
              <a:ext uri="{FF2B5EF4-FFF2-40B4-BE49-F238E27FC236}">
                <a16:creationId xmlns:a16="http://schemas.microsoft.com/office/drawing/2014/main" id="{DDA96444-2164-4DAA-B5E1-14EF3B57534F}"/>
              </a:ext>
            </a:extLst>
          </p:cNvPr>
          <p:cNvSpPr/>
          <p:nvPr/>
        </p:nvSpPr>
        <p:spPr>
          <a:xfrm>
            <a:off x="4724400" y="3006681"/>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ja-JP" altLang="en-US" dirty="0">
                <a:solidFill>
                  <a:schemeClr val="tx1"/>
                </a:solidFill>
              </a:rPr>
              <a:t>部門品質目標</a:t>
            </a:r>
          </a:p>
        </p:txBody>
      </p:sp>
      <p:sp>
        <p:nvSpPr>
          <p:cNvPr id="13" name="四角形: メモ 12">
            <a:extLst>
              <a:ext uri="{FF2B5EF4-FFF2-40B4-BE49-F238E27FC236}">
                <a16:creationId xmlns:a16="http://schemas.microsoft.com/office/drawing/2014/main" id="{BF36873D-DC70-4F09-ABB0-FAF3AB91618F}"/>
              </a:ext>
            </a:extLst>
          </p:cNvPr>
          <p:cNvSpPr/>
          <p:nvPr/>
        </p:nvSpPr>
        <p:spPr>
          <a:xfrm>
            <a:off x="8610600" y="2995815"/>
            <a:ext cx="2743200" cy="643413"/>
          </a:xfrm>
          <a:prstGeom prst="foldedCorner">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ja-JP" altLang="en-US" dirty="0">
                <a:solidFill>
                  <a:schemeClr val="tx1"/>
                </a:solidFill>
              </a:rPr>
              <a:t>課品質目標</a:t>
            </a:r>
          </a:p>
        </p:txBody>
      </p:sp>
      <p:sp>
        <p:nvSpPr>
          <p:cNvPr id="7" name="矢印: 五方向 6">
            <a:extLst>
              <a:ext uri="{FF2B5EF4-FFF2-40B4-BE49-F238E27FC236}">
                <a16:creationId xmlns:a16="http://schemas.microsoft.com/office/drawing/2014/main" id="{C77259ED-0280-4244-9EBF-944B6B89874E}"/>
              </a:ext>
            </a:extLst>
          </p:cNvPr>
          <p:cNvSpPr/>
          <p:nvPr/>
        </p:nvSpPr>
        <p:spPr>
          <a:xfrm>
            <a:off x="3690652" y="2816298"/>
            <a:ext cx="1033748" cy="643413"/>
          </a:xfrm>
          <a:prstGeom prst="homePlate">
            <a:avLst>
              <a:gd name="adj" fmla="val 3801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展開</a:t>
            </a:r>
          </a:p>
        </p:txBody>
      </p:sp>
      <p:sp>
        <p:nvSpPr>
          <p:cNvPr id="14" name="矢印: 五方向 13">
            <a:extLst>
              <a:ext uri="{FF2B5EF4-FFF2-40B4-BE49-F238E27FC236}">
                <a16:creationId xmlns:a16="http://schemas.microsoft.com/office/drawing/2014/main" id="{D76D7414-E56D-4E0C-BF9B-395F74CA451C}"/>
              </a:ext>
            </a:extLst>
          </p:cNvPr>
          <p:cNvSpPr/>
          <p:nvPr/>
        </p:nvSpPr>
        <p:spPr>
          <a:xfrm>
            <a:off x="7231657" y="2814454"/>
            <a:ext cx="1033748" cy="643413"/>
          </a:xfrm>
          <a:prstGeom prst="homePlate">
            <a:avLst>
              <a:gd name="adj" fmla="val 3801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展開</a:t>
            </a:r>
          </a:p>
        </p:txBody>
      </p:sp>
      <p:sp>
        <p:nvSpPr>
          <p:cNvPr id="15" name="矢印: 五方向 14">
            <a:extLst>
              <a:ext uri="{FF2B5EF4-FFF2-40B4-BE49-F238E27FC236}">
                <a16:creationId xmlns:a16="http://schemas.microsoft.com/office/drawing/2014/main" id="{91E8D17A-C19F-4DE1-9ABE-051249B76BB7}"/>
              </a:ext>
            </a:extLst>
          </p:cNvPr>
          <p:cNvSpPr/>
          <p:nvPr/>
        </p:nvSpPr>
        <p:spPr>
          <a:xfrm rot="10800000">
            <a:off x="3853149" y="3971348"/>
            <a:ext cx="1033748" cy="643413"/>
          </a:xfrm>
          <a:prstGeom prst="homePlate">
            <a:avLst>
              <a:gd name="adj" fmla="val 3801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五方向 15">
            <a:extLst>
              <a:ext uri="{FF2B5EF4-FFF2-40B4-BE49-F238E27FC236}">
                <a16:creationId xmlns:a16="http://schemas.microsoft.com/office/drawing/2014/main" id="{7386DA44-48E7-447E-8DB2-556372DA68DC}"/>
              </a:ext>
            </a:extLst>
          </p:cNvPr>
          <p:cNvSpPr/>
          <p:nvPr/>
        </p:nvSpPr>
        <p:spPr>
          <a:xfrm rot="10800000">
            <a:off x="7799026" y="3962003"/>
            <a:ext cx="1033748" cy="643413"/>
          </a:xfrm>
          <a:prstGeom prst="homePlate">
            <a:avLst>
              <a:gd name="adj" fmla="val 3801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7" name="正方形/長方形 16">
            <a:extLst>
              <a:ext uri="{FF2B5EF4-FFF2-40B4-BE49-F238E27FC236}">
                <a16:creationId xmlns:a16="http://schemas.microsoft.com/office/drawing/2014/main" id="{ACBC8AC8-9478-4A82-A2C9-0E704BC0C927}"/>
              </a:ext>
            </a:extLst>
          </p:cNvPr>
          <p:cNvSpPr/>
          <p:nvPr/>
        </p:nvSpPr>
        <p:spPr>
          <a:xfrm>
            <a:off x="7748531" y="4079295"/>
            <a:ext cx="1134738" cy="442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レビュー</a:t>
            </a:r>
          </a:p>
        </p:txBody>
      </p:sp>
      <p:sp>
        <p:nvSpPr>
          <p:cNvPr id="18" name="正方形/長方形 17">
            <a:extLst>
              <a:ext uri="{FF2B5EF4-FFF2-40B4-BE49-F238E27FC236}">
                <a16:creationId xmlns:a16="http://schemas.microsoft.com/office/drawing/2014/main" id="{53E3CC61-7DA0-4245-ABFB-F4A570F48D7E}"/>
              </a:ext>
            </a:extLst>
          </p:cNvPr>
          <p:cNvSpPr/>
          <p:nvPr/>
        </p:nvSpPr>
        <p:spPr>
          <a:xfrm>
            <a:off x="3853149" y="4073029"/>
            <a:ext cx="1134738" cy="442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レビュー</a:t>
            </a:r>
          </a:p>
        </p:txBody>
      </p:sp>
      <p:sp>
        <p:nvSpPr>
          <p:cNvPr id="19" name="四角形: メモ 18">
            <a:extLst>
              <a:ext uri="{FF2B5EF4-FFF2-40B4-BE49-F238E27FC236}">
                <a16:creationId xmlns:a16="http://schemas.microsoft.com/office/drawing/2014/main" id="{FCD79066-5836-4248-A35A-49A95388F1F2}"/>
              </a:ext>
            </a:extLst>
          </p:cNvPr>
          <p:cNvSpPr/>
          <p:nvPr/>
        </p:nvSpPr>
        <p:spPr>
          <a:xfrm>
            <a:off x="838200" y="4515586"/>
            <a:ext cx="4493964" cy="1840763"/>
          </a:xfrm>
          <a:prstGeom prst="foldedCorner">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kumimoji="1" lang="en-US" altLang="ja-JP" dirty="0">
                <a:solidFill>
                  <a:schemeClr val="tx1"/>
                </a:solidFill>
              </a:rPr>
              <a:t>【</a:t>
            </a:r>
            <a:r>
              <a:rPr kumimoji="1" lang="ja-JP" altLang="en-US" dirty="0">
                <a:solidFill>
                  <a:schemeClr val="tx1"/>
                </a:solidFill>
              </a:rPr>
              <a:t>品質方針</a:t>
            </a:r>
            <a:r>
              <a:rPr kumimoji="1" lang="en-US" altLang="ja-JP" dirty="0">
                <a:solidFill>
                  <a:schemeClr val="tx1"/>
                </a:solidFill>
              </a:rPr>
              <a:t>】</a:t>
            </a:r>
          </a:p>
          <a:p>
            <a:r>
              <a:rPr lang="ja-JP" altLang="en-US" dirty="0">
                <a:solidFill>
                  <a:schemeClr val="tx1"/>
                </a:solidFill>
              </a:rPr>
              <a:t>・顧客満足　</a:t>
            </a:r>
            <a:r>
              <a:rPr kumimoji="1" lang="ja-JP" altLang="en-US" dirty="0">
                <a:solidFill>
                  <a:schemeClr val="tx1"/>
                </a:solidFill>
              </a:rPr>
              <a:t>・</a:t>
            </a:r>
            <a:r>
              <a:rPr kumimoji="1" lang="en-US" altLang="ja-JP" dirty="0">
                <a:solidFill>
                  <a:schemeClr val="tx1"/>
                </a:solidFill>
              </a:rPr>
              <a:t>QMS</a:t>
            </a:r>
            <a:r>
              <a:rPr kumimoji="1" lang="ja-JP" altLang="en-US" dirty="0">
                <a:solidFill>
                  <a:schemeClr val="tx1"/>
                </a:solidFill>
              </a:rPr>
              <a:t>の継続的改善</a:t>
            </a:r>
            <a:endParaRPr lang="en-US" altLang="ja-JP" dirty="0">
              <a:solidFill>
                <a:schemeClr val="tx1"/>
              </a:solidFill>
            </a:endParaRPr>
          </a:p>
          <a:p>
            <a:r>
              <a:rPr kumimoji="1" lang="en-US" altLang="ja-JP" dirty="0">
                <a:solidFill>
                  <a:schemeClr val="tx1"/>
                </a:solidFill>
              </a:rPr>
              <a:t>【</a:t>
            </a:r>
            <a:r>
              <a:rPr kumimoji="1" lang="ja-JP" altLang="en-US" dirty="0">
                <a:solidFill>
                  <a:schemeClr val="tx1"/>
                </a:solidFill>
              </a:rPr>
              <a:t>品質目標</a:t>
            </a:r>
            <a:r>
              <a:rPr kumimoji="1" lang="en-US" altLang="ja-JP" dirty="0">
                <a:solidFill>
                  <a:schemeClr val="tx1"/>
                </a:solidFill>
              </a:rPr>
              <a:t>】</a:t>
            </a:r>
          </a:p>
          <a:p>
            <a:r>
              <a:rPr lang="ja-JP" altLang="en-US" dirty="0">
                <a:solidFill>
                  <a:schemeClr val="tx1"/>
                </a:solidFill>
              </a:rPr>
              <a:t>・利益体質への点検　</a:t>
            </a:r>
            <a:r>
              <a:rPr kumimoji="1" lang="ja-JP" altLang="en-US" dirty="0">
                <a:solidFill>
                  <a:schemeClr val="tx1"/>
                </a:solidFill>
              </a:rPr>
              <a:t>・在庫回転率</a:t>
            </a:r>
          </a:p>
        </p:txBody>
      </p:sp>
      <p:sp>
        <p:nvSpPr>
          <p:cNvPr id="20" name="矢印: 下 19">
            <a:extLst>
              <a:ext uri="{FF2B5EF4-FFF2-40B4-BE49-F238E27FC236}">
                <a16:creationId xmlns:a16="http://schemas.microsoft.com/office/drawing/2014/main" id="{AD3BCD02-31D3-4390-AE9E-33DADF308A71}"/>
              </a:ext>
            </a:extLst>
          </p:cNvPr>
          <p:cNvSpPr/>
          <p:nvPr/>
        </p:nvSpPr>
        <p:spPr>
          <a:xfrm>
            <a:off x="1438619" y="2756290"/>
            <a:ext cx="760163" cy="360407"/>
          </a:xfrm>
          <a:prstGeom prst="downArrow">
            <a:avLst>
              <a:gd name="adj1" fmla="val 7029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四角形: メモ 20">
            <a:extLst>
              <a:ext uri="{FF2B5EF4-FFF2-40B4-BE49-F238E27FC236}">
                <a16:creationId xmlns:a16="http://schemas.microsoft.com/office/drawing/2014/main" id="{A3CBF2E6-3928-4DB9-8466-C63D3490C1A1}"/>
              </a:ext>
            </a:extLst>
          </p:cNvPr>
          <p:cNvSpPr/>
          <p:nvPr/>
        </p:nvSpPr>
        <p:spPr>
          <a:xfrm>
            <a:off x="6859838" y="4515585"/>
            <a:ext cx="4493964" cy="1879667"/>
          </a:xfrm>
          <a:prstGeom prst="foldedCorner">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kumimoji="1" lang="en-US" altLang="ja-JP" dirty="0">
                <a:solidFill>
                  <a:schemeClr val="tx1"/>
                </a:solidFill>
              </a:rPr>
              <a:t>【</a:t>
            </a:r>
            <a:r>
              <a:rPr kumimoji="1" lang="ja-JP" altLang="en-US" dirty="0">
                <a:solidFill>
                  <a:schemeClr val="tx1"/>
                </a:solidFill>
              </a:rPr>
              <a:t>品質目標</a:t>
            </a:r>
            <a:r>
              <a:rPr kumimoji="1" lang="en-US" altLang="ja-JP" dirty="0">
                <a:solidFill>
                  <a:schemeClr val="tx1"/>
                </a:solidFill>
              </a:rPr>
              <a:t>】</a:t>
            </a:r>
          </a:p>
          <a:p>
            <a:r>
              <a:rPr lang="ja-JP" altLang="en-US" dirty="0">
                <a:solidFill>
                  <a:schemeClr val="tx1"/>
                </a:solidFill>
              </a:rPr>
              <a:t>・クレーム削減：</a:t>
            </a:r>
            <a:r>
              <a:rPr lang="en-US" altLang="ja-JP" dirty="0">
                <a:solidFill>
                  <a:schemeClr val="tx1"/>
                </a:solidFill>
              </a:rPr>
              <a:t>10</a:t>
            </a:r>
            <a:r>
              <a:rPr lang="ja-JP" altLang="en-US" dirty="0">
                <a:solidFill>
                  <a:schemeClr val="tx1"/>
                </a:solidFill>
              </a:rPr>
              <a:t>件以下</a:t>
            </a:r>
            <a:endParaRPr lang="en-US" altLang="ja-JP" dirty="0">
              <a:solidFill>
                <a:schemeClr val="tx1"/>
              </a:solidFill>
            </a:endParaRPr>
          </a:p>
          <a:p>
            <a:r>
              <a:rPr lang="ja-JP" altLang="en-US" dirty="0">
                <a:solidFill>
                  <a:schemeClr val="tx1"/>
                </a:solidFill>
              </a:rPr>
              <a:t>・不良率低減</a:t>
            </a:r>
            <a:r>
              <a:rPr lang="en-US" altLang="ja-JP" dirty="0">
                <a:solidFill>
                  <a:schemeClr val="tx1"/>
                </a:solidFill>
              </a:rPr>
              <a:t>2ppm</a:t>
            </a:r>
            <a:r>
              <a:rPr lang="ja-JP" altLang="en-US" dirty="0">
                <a:solidFill>
                  <a:schemeClr val="tx1"/>
                </a:solidFill>
              </a:rPr>
              <a:t>以下</a:t>
            </a:r>
            <a:endParaRPr lang="en-US" altLang="ja-JP" dirty="0">
              <a:solidFill>
                <a:schemeClr val="tx1"/>
              </a:solidFill>
            </a:endParaRPr>
          </a:p>
          <a:p>
            <a:r>
              <a:rPr lang="ja-JP" altLang="en-US" dirty="0">
                <a:solidFill>
                  <a:schemeClr val="tx1"/>
                </a:solidFill>
              </a:rPr>
              <a:t>・外注先品質向上：監査結果</a:t>
            </a:r>
            <a:r>
              <a:rPr lang="en-US" altLang="ja-JP" dirty="0">
                <a:solidFill>
                  <a:schemeClr val="tx1"/>
                </a:solidFill>
              </a:rPr>
              <a:t>80</a:t>
            </a:r>
            <a:r>
              <a:rPr lang="ja-JP" altLang="en-US" dirty="0">
                <a:solidFill>
                  <a:schemeClr val="tx1"/>
                </a:solidFill>
              </a:rPr>
              <a:t>点以上</a:t>
            </a:r>
            <a:endParaRPr lang="en-US" altLang="ja-JP" dirty="0">
              <a:solidFill>
                <a:schemeClr val="tx1"/>
              </a:solidFill>
            </a:endParaRPr>
          </a:p>
          <a:p>
            <a:r>
              <a:rPr lang="ja-JP" altLang="en-US" dirty="0">
                <a:solidFill>
                  <a:schemeClr val="tx1"/>
                </a:solidFill>
              </a:rPr>
              <a:t>・多能工化率：</a:t>
            </a:r>
            <a:r>
              <a:rPr lang="en-US" altLang="ja-JP" dirty="0">
                <a:solidFill>
                  <a:schemeClr val="tx1"/>
                </a:solidFill>
              </a:rPr>
              <a:t>75%</a:t>
            </a:r>
            <a:r>
              <a:rPr lang="ja-JP" altLang="en-US" dirty="0">
                <a:solidFill>
                  <a:schemeClr val="tx1"/>
                </a:solidFill>
              </a:rPr>
              <a:t>以上</a:t>
            </a:r>
            <a:endParaRPr lang="en-US" altLang="ja-JP" dirty="0">
              <a:solidFill>
                <a:schemeClr val="tx1"/>
              </a:solidFill>
            </a:endParaRPr>
          </a:p>
        </p:txBody>
      </p:sp>
    </p:spTree>
    <p:extLst>
      <p:ext uri="{BB962C8B-B14F-4D97-AF65-F5344CB8AC3E}">
        <p14:creationId xmlns:p14="http://schemas.microsoft.com/office/powerpoint/2010/main" val="217731282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128</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4400" b="1" u="sng" dirty="0">
                <a:solidFill>
                  <a:schemeClr val="tx2"/>
                </a:solidFill>
                <a:effectLst>
                  <a:outerShdw blurRad="38100" dist="38100" dir="2700000" algn="tl">
                    <a:srgbClr val="000000">
                      <a:alpha val="43137"/>
                    </a:srgbClr>
                  </a:outerShdw>
                </a:effectLst>
              </a:rPr>
              <a:t>７．支援</a:t>
            </a:r>
            <a:endParaRPr lang="en-US" altLang="ja-JP" sz="4400" b="1" u="sng" dirty="0">
              <a:solidFill>
                <a:schemeClr val="tx2"/>
              </a:solidFill>
              <a:effectLst>
                <a:outerShdw blurRad="38100" dist="38100" dir="2700000" algn="tl">
                  <a:srgbClr val="000000">
                    <a:alpha val="43137"/>
                  </a:srgbClr>
                </a:outerShdw>
              </a:effectLst>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243118571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メモ 11">
            <a:extLst>
              <a:ext uri="{FF2B5EF4-FFF2-40B4-BE49-F238E27FC236}">
                <a16:creationId xmlns:a16="http://schemas.microsoft.com/office/drawing/2014/main" id="{98213EBB-542A-4018-894A-BC7E7EE0A2C6}"/>
              </a:ext>
            </a:extLst>
          </p:cNvPr>
          <p:cNvSpPr/>
          <p:nvPr/>
        </p:nvSpPr>
        <p:spPr>
          <a:xfrm>
            <a:off x="4455294" y="1939707"/>
            <a:ext cx="3281412" cy="2444625"/>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pPr>
              <a:lnSpc>
                <a:spcPts val="1600"/>
              </a:lnSpc>
            </a:pPr>
            <a:endParaRPr kumimoji="1" lang="en-US" altLang="ja-JP" sz="1600" dirty="0"/>
          </a:p>
          <a:p>
            <a:r>
              <a:rPr kumimoji="1" lang="en-US" altLang="ja-JP" sz="1600" dirty="0"/>
              <a:t>7.2.1</a:t>
            </a:r>
            <a:r>
              <a:rPr kumimoji="1" lang="ja-JP" altLang="en-US" sz="1600" dirty="0"/>
              <a:t>　力量－補足</a:t>
            </a:r>
            <a:endParaRPr kumimoji="1" lang="en-US" altLang="ja-JP" sz="1600" dirty="0"/>
          </a:p>
          <a:p>
            <a:r>
              <a:rPr lang="en-US" altLang="ja-JP" sz="1600" dirty="0"/>
              <a:t>7.2.2</a:t>
            </a:r>
            <a:r>
              <a:rPr lang="ja-JP" altLang="en-US" sz="1600" dirty="0"/>
              <a:t>　力量－業務を通じた教育訓練（</a:t>
            </a:r>
            <a:r>
              <a:rPr lang="en-US" altLang="ja-JP" sz="1600" dirty="0"/>
              <a:t>OJT</a:t>
            </a:r>
            <a:r>
              <a:rPr lang="ja-JP" altLang="en-US" sz="1600" dirty="0"/>
              <a:t>）</a:t>
            </a:r>
            <a:endParaRPr lang="en-US" altLang="ja-JP" sz="1600" dirty="0"/>
          </a:p>
          <a:p>
            <a:r>
              <a:rPr kumimoji="1" lang="en-US" altLang="ja-JP" sz="1600" dirty="0"/>
              <a:t>7.2.3</a:t>
            </a:r>
            <a:r>
              <a:rPr kumimoji="1" lang="ja-JP" altLang="en-US" sz="1600" dirty="0"/>
              <a:t>　内部監査員の力量</a:t>
            </a:r>
            <a:endParaRPr kumimoji="1" lang="en-US" altLang="ja-JP" sz="1600" dirty="0"/>
          </a:p>
          <a:p>
            <a:r>
              <a:rPr lang="en-US" altLang="ja-JP" sz="1600" dirty="0"/>
              <a:t>7.2.4</a:t>
            </a:r>
            <a:r>
              <a:rPr lang="ja-JP" altLang="en-US" sz="1600" dirty="0"/>
              <a:t>　第二者監査員の力量</a:t>
            </a:r>
            <a:endParaRPr kumimoji="1" lang="en-US" altLang="ja-JP" sz="16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129</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lang="ja-JP" altLang="en-US" sz="3600" dirty="0">
                <a:solidFill>
                  <a:schemeClr val="bg1"/>
                </a:solidFill>
              </a:rPr>
              <a:t>７．支援</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822747"/>
            <a:ext cx="3281413" cy="74418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7.2</a:t>
            </a:r>
            <a:r>
              <a:rPr lang="ja-JP" altLang="en-US" sz="2000" b="1" dirty="0">
                <a:solidFill>
                  <a:schemeClr val="tx1"/>
                </a:solidFill>
              </a:rPr>
              <a:t>　力量</a:t>
            </a:r>
            <a:endParaRPr lang="en-US" altLang="ja-JP" sz="2000" b="1" dirty="0">
              <a:solidFill>
                <a:schemeClr val="tx1"/>
              </a:solidFill>
            </a:endParaRP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2922032"/>
            <a:ext cx="3281412" cy="34343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sz="2000" dirty="0"/>
          </a:p>
          <a:p>
            <a:endParaRPr lang="en-US" altLang="ja-JP" sz="2000" dirty="0"/>
          </a:p>
          <a:p>
            <a:pPr>
              <a:lnSpc>
                <a:spcPts val="1600"/>
              </a:lnSpc>
            </a:pPr>
            <a:endParaRPr lang="en-US" altLang="ja-JP" sz="1600" dirty="0"/>
          </a:p>
          <a:p>
            <a:pPr>
              <a:lnSpc>
                <a:spcPts val="1600"/>
              </a:lnSpc>
            </a:pPr>
            <a:r>
              <a:rPr lang="en-US" altLang="ja-JP" sz="1600" dirty="0"/>
              <a:t>7.1.3.1</a:t>
            </a:r>
            <a:r>
              <a:rPr lang="ja-JP" altLang="en-US" sz="1600" dirty="0"/>
              <a:t>　工場、施設及び設備の計画</a:t>
            </a:r>
            <a:endParaRPr lang="en-US" altLang="ja-JP" sz="1600" dirty="0"/>
          </a:p>
          <a:p>
            <a:pPr>
              <a:lnSpc>
                <a:spcPts val="1600"/>
              </a:lnSpc>
            </a:pPr>
            <a:r>
              <a:rPr lang="en-US" altLang="ja-JP" sz="1600" dirty="0"/>
              <a:t>7.1.4.1</a:t>
            </a:r>
            <a:r>
              <a:rPr lang="ja-JP" altLang="en-US" sz="1600" dirty="0"/>
              <a:t>　プロセスの運用に関する環境－補足</a:t>
            </a:r>
            <a:endParaRPr lang="en-US" altLang="ja-JP" sz="1600" dirty="0"/>
          </a:p>
          <a:p>
            <a:pPr>
              <a:lnSpc>
                <a:spcPts val="1600"/>
              </a:lnSpc>
            </a:pPr>
            <a:r>
              <a:rPr lang="en-US" altLang="ja-JP" sz="1600" dirty="0"/>
              <a:t>7.1.5.1.1</a:t>
            </a:r>
            <a:r>
              <a:rPr lang="ja-JP" altLang="en-US" sz="1600" dirty="0"/>
              <a:t>　測定システム解析</a:t>
            </a:r>
            <a:endParaRPr lang="en-US" altLang="ja-JP" sz="1600" dirty="0"/>
          </a:p>
          <a:p>
            <a:pPr>
              <a:lnSpc>
                <a:spcPts val="1600"/>
              </a:lnSpc>
            </a:pPr>
            <a:r>
              <a:rPr lang="en-US" altLang="ja-JP" sz="1600" dirty="0"/>
              <a:t>7.1.5.2.1</a:t>
            </a:r>
            <a:r>
              <a:rPr lang="ja-JP" altLang="en-US" sz="1600" dirty="0"/>
              <a:t>　校正／検証の記録</a:t>
            </a:r>
            <a:endParaRPr lang="en-US" altLang="ja-JP" sz="1600" dirty="0"/>
          </a:p>
          <a:p>
            <a:pPr>
              <a:lnSpc>
                <a:spcPts val="1600"/>
              </a:lnSpc>
            </a:pPr>
            <a:r>
              <a:rPr lang="en-US" altLang="ja-JP" sz="1600" dirty="0"/>
              <a:t>7.1.5.3</a:t>
            </a:r>
            <a:r>
              <a:rPr lang="ja-JP" altLang="en-US" sz="1600" dirty="0"/>
              <a:t>　試験所要求事項</a:t>
            </a:r>
            <a:endParaRPr lang="en-US" altLang="ja-JP" sz="1600" dirty="0"/>
          </a:p>
          <a:p>
            <a:pPr>
              <a:lnSpc>
                <a:spcPts val="1600"/>
              </a:lnSpc>
            </a:pPr>
            <a:r>
              <a:rPr lang="en-US" altLang="ja-JP" sz="1600" dirty="0"/>
              <a:t>7.1.5.3.1</a:t>
            </a:r>
            <a:r>
              <a:rPr lang="ja-JP" altLang="en-US" sz="1600" dirty="0"/>
              <a:t>　内部試験所</a:t>
            </a:r>
            <a:endParaRPr lang="en-US" altLang="ja-JP" sz="1600" dirty="0"/>
          </a:p>
          <a:p>
            <a:pPr>
              <a:lnSpc>
                <a:spcPts val="1600"/>
              </a:lnSpc>
            </a:pPr>
            <a:r>
              <a:rPr lang="en-US" altLang="ja-JP" sz="1600" dirty="0"/>
              <a:t>7.1.5.3.2</a:t>
            </a:r>
            <a:r>
              <a:rPr lang="ja-JP" altLang="en-US" sz="1600" dirty="0"/>
              <a:t>　外部試験所</a:t>
            </a:r>
            <a:endParaRPr lang="en-US" altLang="ja-JP" sz="1600"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11729"/>
            <a:ext cx="3281413" cy="246279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7.1</a:t>
            </a:r>
            <a:r>
              <a:rPr lang="ja-JP" altLang="en-US" sz="2000" b="1" dirty="0">
                <a:solidFill>
                  <a:schemeClr val="tx1"/>
                </a:solidFill>
              </a:rPr>
              <a:t>　資源</a:t>
            </a:r>
            <a:endParaRPr lang="en-US" altLang="ja-JP" sz="2000" b="1" dirty="0">
              <a:solidFill>
                <a:schemeClr val="tx1"/>
              </a:solidFill>
            </a:endParaRPr>
          </a:p>
          <a:p>
            <a:pPr>
              <a:lnSpc>
                <a:spcPts val="1600"/>
              </a:lnSpc>
            </a:pPr>
            <a:r>
              <a:rPr kumimoji="1" lang="en-US" altLang="ja-JP" sz="1600" dirty="0">
                <a:solidFill>
                  <a:schemeClr val="tx1"/>
                </a:solidFill>
              </a:rPr>
              <a:t>7.1.1</a:t>
            </a:r>
            <a:r>
              <a:rPr kumimoji="1" lang="ja-JP" altLang="en-US" sz="1600" dirty="0">
                <a:solidFill>
                  <a:schemeClr val="tx1"/>
                </a:solidFill>
              </a:rPr>
              <a:t>　一般</a:t>
            </a:r>
            <a:endParaRPr kumimoji="1" lang="en-US" altLang="ja-JP" sz="1600" dirty="0">
              <a:solidFill>
                <a:schemeClr val="tx1"/>
              </a:solidFill>
            </a:endParaRPr>
          </a:p>
          <a:p>
            <a:pPr>
              <a:lnSpc>
                <a:spcPts val="1600"/>
              </a:lnSpc>
            </a:pPr>
            <a:r>
              <a:rPr lang="en-US" altLang="ja-JP" sz="1600" dirty="0">
                <a:solidFill>
                  <a:schemeClr val="tx1"/>
                </a:solidFill>
              </a:rPr>
              <a:t>7.1.2</a:t>
            </a:r>
            <a:r>
              <a:rPr lang="ja-JP" altLang="en-US" sz="1600" dirty="0">
                <a:solidFill>
                  <a:schemeClr val="tx1"/>
                </a:solidFill>
              </a:rPr>
              <a:t>　人々</a:t>
            </a:r>
            <a:endParaRPr lang="en-US" altLang="ja-JP" sz="1600" dirty="0">
              <a:solidFill>
                <a:schemeClr val="tx1"/>
              </a:solidFill>
            </a:endParaRPr>
          </a:p>
          <a:p>
            <a:pPr>
              <a:lnSpc>
                <a:spcPts val="1600"/>
              </a:lnSpc>
            </a:pPr>
            <a:r>
              <a:rPr kumimoji="1" lang="en-US" altLang="ja-JP" sz="1600" dirty="0">
                <a:solidFill>
                  <a:schemeClr val="tx1"/>
                </a:solidFill>
              </a:rPr>
              <a:t>7.1.3</a:t>
            </a:r>
            <a:r>
              <a:rPr kumimoji="1" lang="ja-JP" altLang="en-US" sz="1600" dirty="0">
                <a:solidFill>
                  <a:schemeClr val="tx1"/>
                </a:solidFill>
              </a:rPr>
              <a:t>　インフラストラクチャ</a:t>
            </a:r>
            <a:endParaRPr kumimoji="1" lang="en-US" altLang="ja-JP" sz="1600" dirty="0">
              <a:solidFill>
                <a:schemeClr val="tx1"/>
              </a:solidFill>
            </a:endParaRPr>
          </a:p>
          <a:p>
            <a:pPr>
              <a:lnSpc>
                <a:spcPts val="1600"/>
              </a:lnSpc>
            </a:pPr>
            <a:r>
              <a:rPr lang="en-US" altLang="ja-JP" sz="1600" dirty="0">
                <a:solidFill>
                  <a:schemeClr val="tx1"/>
                </a:solidFill>
              </a:rPr>
              <a:t>7.1.4</a:t>
            </a:r>
            <a:r>
              <a:rPr lang="ja-JP" altLang="en-US" sz="1600" dirty="0">
                <a:solidFill>
                  <a:schemeClr val="tx1"/>
                </a:solidFill>
              </a:rPr>
              <a:t>　プロセスの運用に関する環境</a:t>
            </a:r>
            <a:endParaRPr lang="en-US" altLang="ja-JP" sz="1600" dirty="0">
              <a:solidFill>
                <a:schemeClr val="tx1"/>
              </a:solidFill>
            </a:endParaRPr>
          </a:p>
          <a:p>
            <a:pPr>
              <a:lnSpc>
                <a:spcPts val="1600"/>
              </a:lnSpc>
            </a:pPr>
            <a:r>
              <a:rPr kumimoji="1" lang="en-US" altLang="ja-JP" sz="1600" dirty="0">
                <a:solidFill>
                  <a:schemeClr val="tx1"/>
                </a:solidFill>
              </a:rPr>
              <a:t>7.1.5</a:t>
            </a:r>
            <a:r>
              <a:rPr kumimoji="1" lang="ja-JP" altLang="en-US" sz="1600" dirty="0">
                <a:solidFill>
                  <a:schemeClr val="tx1"/>
                </a:solidFill>
              </a:rPr>
              <a:t>　監視及び測定のための資源</a:t>
            </a:r>
            <a:endParaRPr kumimoji="1" lang="en-US" altLang="ja-JP" sz="1600" dirty="0">
              <a:solidFill>
                <a:schemeClr val="tx1"/>
              </a:solidFill>
            </a:endParaRPr>
          </a:p>
          <a:p>
            <a:pPr>
              <a:lnSpc>
                <a:spcPts val="1600"/>
              </a:lnSpc>
            </a:pPr>
            <a:r>
              <a:rPr lang="en-US" altLang="ja-JP" sz="1600" dirty="0">
                <a:solidFill>
                  <a:schemeClr val="tx1"/>
                </a:solidFill>
              </a:rPr>
              <a:t>7.1.5.1</a:t>
            </a:r>
            <a:r>
              <a:rPr lang="ja-JP" altLang="en-US" sz="1600" dirty="0">
                <a:solidFill>
                  <a:schemeClr val="tx1"/>
                </a:solidFill>
              </a:rPr>
              <a:t>　一般</a:t>
            </a:r>
            <a:endParaRPr lang="en-US" altLang="ja-JP" sz="1600" dirty="0">
              <a:solidFill>
                <a:schemeClr val="tx1"/>
              </a:solidFill>
            </a:endParaRPr>
          </a:p>
          <a:p>
            <a:pPr>
              <a:lnSpc>
                <a:spcPts val="1600"/>
              </a:lnSpc>
            </a:pPr>
            <a:r>
              <a:rPr kumimoji="1" lang="en-US" altLang="ja-JP" sz="1600" dirty="0">
                <a:solidFill>
                  <a:schemeClr val="tx1"/>
                </a:solidFill>
              </a:rPr>
              <a:t>7.1.5.2</a:t>
            </a:r>
            <a:r>
              <a:rPr kumimoji="1" lang="ja-JP" altLang="en-US" sz="1600" dirty="0">
                <a:solidFill>
                  <a:schemeClr val="tx1"/>
                </a:solidFill>
              </a:rPr>
              <a:t>　測定のトレーサビリティ</a:t>
            </a:r>
            <a:endParaRPr kumimoji="1" lang="en-US" altLang="ja-JP" sz="1600" dirty="0">
              <a:solidFill>
                <a:schemeClr val="tx1"/>
              </a:solidFill>
            </a:endParaRPr>
          </a:p>
          <a:p>
            <a:pPr>
              <a:lnSpc>
                <a:spcPts val="1600"/>
              </a:lnSpc>
            </a:pPr>
            <a:r>
              <a:rPr lang="en-US" altLang="ja-JP" sz="1600" dirty="0">
                <a:solidFill>
                  <a:schemeClr val="tx1"/>
                </a:solidFill>
              </a:rPr>
              <a:t>7.1.6</a:t>
            </a:r>
            <a:r>
              <a:rPr lang="ja-JP" altLang="en-US" sz="1600" dirty="0">
                <a:solidFill>
                  <a:schemeClr val="tx1"/>
                </a:solidFill>
              </a:rPr>
              <a:t>　組織の知識</a:t>
            </a:r>
            <a:r>
              <a:rPr kumimoji="1" lang="ja-JP" altLang="en-US" sz="1600" dirty="0">
                <a:solidFill>
                  <a:schemeClr val="tx1"/>
                </a:solidFill>
              </a:rPr>
              <a:t>　</a:t>
            </a:r>
          </a:p>
        </p:txBody>
      </p:sp>
      <p:sp>
        <p:nvSpPr>
          <p:cNvPr id="13" name="フローチャート: 書類 12">
            <a:extLst>
              <a:ext uri="{FF2B5EF4-FFF2-40B4-BE49-F238E27FC236}">
                <a16:creationId xmlns:a16="http://schemas.microsoft.com/office/drawing/2014/main" id="{01A1497B-8B1D-4252-ADD4-72F06A6DEA9F}"/>
              </a:ext>
            </a:extLst>
          </p:cNvPr>
          <p:cNvSpPr/>
          <p:nvPr/>
        </p:nvSpPr>
        <p:spPr>
          <a:xfrm>
            <a:off x="8072386" y="1822748"/>
            <a:ext cx="3281413" cy="74418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7.4</a:t>
            </a:r>
            <a:r>
              <a:rPr lang="ja-JP" altLang="en-US" sz="2000" b="1" dirty="0">
                <a:solidFill>
                  <a:schemeClr val="tx1"/>
                </a:solidFill>
              </a:rPr>
              <a:t>　コミュニケーション　　　　　　　　　　　　　　　　　　　　　　　　　　　　　　　　　　　　　　　　　　　　　　　　　　　　　　　　　　　　　　　　　　　　　　　　　　　　　　　　　　　　　　　　　　　　　　　　　　　　　　　　　　　　　　</a:t>
            </a:r>
            <a:endParaRPr kumimoji="1" lang="ja-JP" altLang="en-US" sz="2000" b="1" dirty="0">
              <a:solidFill>
                <a:schemeClr val="tx1"/>
              </a:solidFill>
            </a:endParaRPr>
          </a:p>
        </p:txBody>
      </p:sp>
      <p:sp>
        <p:nvSpPr>
          <p:cNvPr id="10" name="四角形: メモ 9">
            <a:extLst>
              <a:ext uri="{FF2B5EF4-FFF2-40B4-BE49-F238E27FC236}">
                <a16:creationId xmlns:a16="http://schemas.microsoft.com/office/drawing/2014/main" id="{2F3E368F-3CA3-47D0-B689-F62F9F1B48E9}"/>
              </a:ext>
            </a:extLst>
          </p:cNvPr>
          <p:cNvSpPr/>
          <p:nvPr/>
        </p:nvSpPr>
        <p:spPr>
          <a:xfrm>
            <a:off x="4455293" y="4621456"/>
            <a:ext cx="3281412" cy="1733877"/>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pPr>
              <a:lnSpc>
                <a:spcPts val="1600"/>
              </a:lnSpc>
            </a:pPr>
            <a:endParaRPr lang="en-US" altLang="ja-JP" sz="1600" dirty="0"/>
          </a:p>
          <a:p>
            <a:r>
              <a:rPr lang="en-US" altLang="ja-JP" sz="1600" dirty="0"/>
              <a:t>7.3.1</a:t>
            </a:r>
            <a:r>
              <a:rPr lang="ja-JP" altLang="en-US" sz="1600" dirty="0"/>
              <a:t>　認識－補足</a:t>
            </a:r>
            <a:endParaRPr lang="en-US" altLang="ja-JP" sz="1600" dirty="0"/>
          </a:p>
          <a:p>
            <a:r>
              <a:rPr kumimoji="1" lang="en-US" altLang="ja-JP" sz="1600" dirty="0"/>
              <a:t>7.3.2</a:t>
            </a:r>
            <a:r>
              <a:rPr kumimoji="1" lang="ja-JP" altLang="en-US" sz="1600" dirty="0"/>
              <a:t>　従業員の動機付け及びエンパワーメント</a:t>
            </a:r>
            <a:endParaRPr kumimoji="1" lang="en-US" altLang="ja-JP" sz="1600" dirty="0"/>
          </a:p>
        </p:txBody>
      </p:sp>
      <p:sp>
        <p:nvSpPr>
          <p:cNvPr id="14" name="フローチャート: 書類 13">
            <a:extLst>
              <a:ext uri="{FF2B5EF4-FFF2-40B4-BE49-F238E27FC236}">
                <a16:creationId xmlns:a16="http://schemas.microsoft.com/office/drawing/2014/main" id="{090CA56F-0131-49ED-BCA6-A13C45405990}"/>
              </a:ext>
            </a:extLst>
          </p:cNvPr>
          <p:cNvSpPr/>
          <p:nvPr/>
        </p:nvSpPr>
        <p:spPr>
          <a:xfrm>
            <a:off x="4455292" y="4571255"/>
            <a:ext cx="3281413" cy="74418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7.3</a:t>
            </a:r>
            <a:r>
              <a:rPr lang="ja-JP" altLang="en-US" sz="2000" b="1" dirty="0">
                <a:solidFill>
                  <a:schemeClr val="tx1"/>
                </a:solidFill>
              </a:rPr>
              <a:t>　認識</a:t>
            </a:r>
            <a:endParaRPr lang="en-US" altLang="ja-JP" sz="2000" b="1" dirty="0">
              <a:solidFill>
                <a:schemeClr val="tx1"/>
              </a:solidFill>
            </a:endParaRPr>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3170478"/>
            <a:ext cx="3281412" cy="3184855"/>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1600" dirty="0"/>
          </a:p>
          <a:p>
            <a:endParaRPr lang="en-US" altLang="ja-JP" sz="1600" dirty="0"/>
          </a:p>
          <a:p>
            <a:endParaRPr lang="en-US" altLang="ja-JP" sz="1600" dirty="0"/>
          </a:p>
          <a:p>
            <a:endParaRPr lang="en-US" altLang="ja-JP" sz="1600" dirty="0"/>
          </a:p>
          <a:p>
            <a:endParaRPr lang="en-US" altLang="ja-JP" sz="1600" dirty="0"/>
          </a:p>
          <a:p>
            <a:endParaRPr lang="en-US" altLang="ja-JP" sz="1600" dirty="0"/>
          </a:p>
          <a:p>
            <a:r>
              <a:rPr lang="en-US" altLang="ja-JP" sz="1600" dirty="0"/>
              <a:t>7.5.1.1</a:t>
            </a:r>
            <a:r>
              <a:rPr lang="ja-JP" altLang="en-US" sz="1600" dirty="0"/>
              <a:t>　品質マネジメントシステムの文書類</a:t>
            </a:r>
            <a:endParaRPr lang="en-US" altLang="ja-JP" sz="1600" dirty="0"/>
          </a:p>
          <a:p>
            <a:r>
              <a:rPr lang="en-US" altLang="ja-JP" sz="1600" dirty="0"/>
              <a:t>7.5.3.2.1</a:t>
            </a:r>
            <a:r>
              <a:rPr lang="ja-JP" altLang="en-US" sz="1600" dirty="0"/>
              <a:t>　記録の保管</a:t>
            </a:r>
            <a:endParaRPr lang="en-US" altLang="ja-JP" sz="1600" dirty="0"/>
          </a:p>
          <a:p>
            <a:r>
              <a:rPr lang="en-US" altLang="ja-JP" sz="1600" dirty="0"/>
              <a:t>7.5.3.2.2</a:t>
            </a:r>
            <a:r>
              <a:rPr lang="ja-JP" altLang="en-US" sz="1600" dirty="0"/>
              <a:t>　技術仕様書</a:t>
            </a:r>
            <a:endParaRPr lang="en-US" altLang="ja-JP" sz="1600" dirty="0"/>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2805071"/>
            <a:ext cx="3281413" cy="193218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7.5</a:t>
            </a:r>
            <a:r>
              <a:rPr lang="ja-JP" altLang="en-US" sz="2000" b="1" dirty="0">
                <a:solidFill>
                  <a:schemeClr val="tx1"/>
                </a:solidFill>
              </a:rPr>
              <a:t>　文書化した情報</a:t>
            </a:r>
            <a:endParaRPr lang="en-US" altLang="ja-JP" sz="2000" b="1" dirty="0">
              <a:solidFill>
                <a:schemeClr val="tx1"/>
              </a:solidFill>
            </a:endParaRPr>
          </a:p>
          <a:p>
            <a:r>
              <a:rPr lang="en-US" altLang="ja-JP" sz="1600" dirty="0">
                <a:solidFill>
                  <a:schemeClr val="tx1"/>
                </a:solidFill>
              </a:rPr>
              <a:t>7.5.1</a:t>
            </a:r>
            <a:r>
              <a:rPr lang="ja-JP" altLang="en-US" sz="1600" dirty="0">
                <a:solidFill>
                  <a:schemeClr val="tx1"/>
                </a:solidFill>
              </a:rPr>
              <a:t>　一般</a:t>
            </a:r>
            <a:endParaRPr lang="en-US" altLang="ja-JP" sz="1600" dirty="0">
              <a:solidFill>
                <a:schemeClr val="tx1"/>
              </a:solidFill>
            </a:endParaRPr>
          </a:p>
          <a:p>
            <a:r>
              <a:rPr lang="en-US" altLang="ja-JP" sz="1600" dirty="0">
                <a:solidFill>
                  <a:schemeClr val="tx1"/>
                </a:solidFill>
              </a:rPr>
              <a:t>7.5.2</a:t>
            </a:r>
            <a:r>
              <a:rPr lang="ja-JP" altLang="en-US" sz="1600" dirty="0">
                <a:solidFill>
                  <a:schemeClr val="tx1"/>
                </a:solidFill>
              </a:rPr>
              <a:t>　作成及び更新</a:t>
            </a:r>
            <a:endParaRPr lang="en-US" altLang="ja-JP" sz="1600" dirty="0">
              <a:solidFill>
                <a:schemeClr val="tx1"/>
              </a:solidFill>
            </a:endParaRPr>
          </a:p>
          <a:p>
            <a:r>
              <a:rPr lang="en-US" altLang="ja-JP" sz="1600" dirty="0">
                <a:solidFill>
                  <a:schemeClr val="tx1"/>
                </a:solidFill>
              </a:rPr>
              <a:t>7.5.3</a:t>
            </a:r>
            <a:r>
              <a:rPr lang="ja-JP" altLang="en-US" sz="1600" dirty="0">
                <a:solidFill>
                  <a:schemeClr val="tx1"/>
                </a:solidFill>
              </a:rPr>
              <a:t>　文書化した情報の管理</a:t>
            </a:r>
            <a:endParaRPr lang="en-US" altLang="ja-JP" sz="1600" dirty="0">
              <a:solidFill>
                <a:schemeClr val="tx1"/>
              </a:solidFill>
            </a:endParaRPr>
          </a:p>
          <a:p>
            <a:r>
              <a:rPr lang="en-US" altLang="ja-JP" sz="1600" dirty="0">
                <a:solidFill>
                  <a:schemeClr val="tx1"/>
                </a:solidFill>
              </a:rPr>
              <a:t>7.5.3.1</a:t>
            </a:r>
          </a:p>
          <a:p>
            <a:r>
              <a:rPr lang="en-US" altLang="ja-JP" sz="1600" dirty="0">
                <a:solidFill>
                  <a:schemeClr val="tx1"/>
                </a:solidFill>
              </a:rPr>
              <a:t>7.5.3.2</a:t>
            </a:r>
          </a:p>
        </p:txBody>
      </p:sp>
    </p:spTree>
    <p:extLst>
      <p:ext uri="{BB962C8B-B14F-4D97-AF65-F5344CB8AC3E}">
        <p14:creationId xmlns:p14="http://schemas.microsoft.com/office/powerpoint/2010/main" val="216881577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0" indent="0">
              <a:buNone/>
            </a:pPr>
            <a:r>
              <a:rPr lang="en-US" altLang="ja-JP" sz="2400" dirty="0"/>
              <a:t>ISO9001:2015</a:t>
            </a:r>
            <a:r>
              <a:rPr lang="ja-JP" altLang="en-US" sz="2400" dirty="0"/>
              <a:t>　</a:t>
            </a:r>
            <a:r>
              <a:rPr lang="en-US" altLang="ja-JP" sz="2400" dirty="0"/>
              <a:t>7.1.3</a:t>
            </a:r>
          </a:p>
          <a:p>
            <a:pPr marL="0" indent="0">
              <a:buNone/>
            </a:pPr>
            <a:r>
              <a:rPr lang="ja-JP" altLang="en-US" sz="2400" dirty="0"/>
              <a:t>「必要なインフラストラクチャを明確にし、提供し、維持しなければならない。」</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ja-JP" altLang="en-US" sz="3000" b="1" dirty="0">
                <a:solidFill>
                  <a:schemeClr val="bg1"/>
                </a:solidFill>
              </a:rPr>
              <a:t>インフラストラクチャの解説</a:t>
            </a:r>
          </a:p>
        </p:txBody>
      </p:sp>
      <p:graphicFrame>
        <p:nvGraphicFramePr>
          <p:cNvPr id="2" name="表 1">
            <a:extLst>
              <a:ext uri="{FF2B5EF4-FFF2-40B4-BE49-F238E27FC236}">
                <a16:creationId xmlns:a16="http://schemas.microsoft.com/office/drawing/2014/main" id="{F08AA4FD-67DB-4FA0-95FF-2BEA4A6D6FB2}"/>
              </a:ext>
            </a:extLst>
          </p:cNvPr>
          <p:cNvGraphicFramePr>
            <a:graphicFrameLocks noGrp="1"/>
          </p:cNvGraphicFramePr>
          <p:nvPr>
            <p:extLst>
              <p:ext uri="{D42A27DB-BD31-4B8C-83A1-F6EECF244321}">
                <p14:modId xmlns:p14="http://schemas.microsoft.com/office/powerpoint/2010/main" val="3710585469"/>
              </p:ext>
            </p:extLst>
          </p:nvPr>
        </p:nvGraphicFramePr>
        <p:xfrm>
          <a:off x="838200" y="2827656"/>
          <a:ext cx="10515600" cy="2823999"/>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186056210"/>
                    </a:ext>
                  </a:extLst>
                </a:gridCol>
                <a:gridCol w="8610600">
                  <a:extLst>
                    <a:ext uri="{9D8B030D-6E8A-4147-A177-3AD203B41FA5}">
                      <a16:colId xmlns:a16="http://schemas.microsoft.com/office/drawing/2014/main" val="40744459"/>
                    </a:ext>
                  </a:extLst>
                </a:gridCol>
              </a:tblGrid>
              <a:tr h="941333">
                <a:tc>
                  <a:txBody>
                    <a:bodyPr/>
                    <a:lstStyle/>
                    <a:p>
                      <a:r>
                        <a:rPr kumimoji="1" lang="ja-JP" altLang="en-US" sz="2400" dirty="0"/>
                        <a:t>明確にし、</a:t>
                      </a:r>
                    </a:p>
                  </a:txBody>
                  <a:tcPr>
                    <a:solidFill>
                      <a:schemeClr val="tx2">
                        <a:lumMod val="20000"/>
                        <a:lumOff val="80000"/>
                      </a:schemeClr>
                    </a:solidFill>
                  </a:tcPr>
                </a:tc>
                <a:tc>
                  <a:txBody>
                    <a:bodyPr/>
                    <a:lstStyle/>
                    <a:p>
                      <a:r>
                        <a:rPr kumimoji="1" lang="ja-JP" altLang="en-US" sz="2400" dirty="0"/>
                        <a:t>用途別、種類別に分類整理し、識別番号を与え、台帳にリストアップする。</a:t>
                      </a:r>
                    </a:p>
                  </a:txBody>
                  <a:tcPr/>
                </a:tc>
                <a:extLst>
                  <a:ext uri="{0D108BD9-81ED-4DB2-BD59-A6C34878D82A}">
                    <a16:rowId xmlns:a16="http://schemas.microsoft.com/office/drawing/2014/main" val="1718598516"/>
                  </a:ext>
                </a:extLst>
              </a:tr>
              <a:tr h="941333">
                <a:tc>
                  <a:txBody>
                    <a:bodyPr/>
                    <a:lstStyle/>
                    <a:p>
                      <a:r>
                        <a:rPr kumimoji="1" lang="ja-JP" altLang="en-US" sz="2400" dirty="0"/>
                        <a:t>提供し、</a:t>
                      </a:r>
                    </a:p>
                  </a:txBody>
                  <a:tcPr>
                    <a:solidFill>
                      <a:schemeClr val="tx2">
                        <a:lumMod val="20000"/>
                        <a:lumOff val="80000"/>
                      </a:schemeClr>
                    </a:solidFill>
                  </a:tcPr>
                </a:tc>
                <a:tc>
                  <a:txBody>
                    <a:bodyPr/>
                    <a:lstStyle/>
                    <a:p>
                      <a:r>
                        <a:rPr kumimoji="1" lang="ja-JP" altLang="en-US" sz="2400" dirty="0"/>
                        <a:t>事前に必要性を判断して準備、供給する。</a:t>
                      </a:r>
                      <a:endParaRPr kumimoji="1" lang="en-US" altLang="ja-JP" sz="2400" dirty="0"/>
                    </a:p>
                    <a:p>
                      <a:r>
                        <a:rPr kumimoji="1" lang="ja-JP" altLang="en-US" sz="2400" dirty="0"/>
                        <a:t>（準備、貯蔵、施工、設置、供給、配置など）</a:t>
                      </a:r>
                    </a:p>
                  </a:txBody>
                  <a:tcPr/>
                </a:tc>
                <a:extLst>
                  <a:ext uri="{0D108BD9-81ED-4DB2-BD59-A6C34878D82A}">
                    <a16:rowId xmlns:a16="http://schemas.microsoft.com/office/drawing/2014/main" val="3557162687"/>
                  </a:ext>
                </a:extLst>
              </a:tr>
              <a:tr h="941333">
                <a:tc>
                  <a:txBody>
                    <a:bodyPr/>
                    <a:lstStyle/>
                    <a:p>
                      <a:r>
                        <a:rPr kumimoji="1" lang="ja-JP" altLang="en-US" sz="2400" dirty="0"/>
                        <a:t>維持する。</a:t>
                      </a:r>
                    </a:p>
                  </a:txBody>
                  <a:tcPr>
                    <a:solidFill>
                      <a:schemeClr val="tx2">
                        <a:lumMod val="20000"/>
                        <a:lumOff val="80000"/>
                      </a:schemeClr>
                    </a:solidFill>
                  </a:tcPr>
                </a:tc>
                <a:tc>
                  <a:txBody>
                    <a:bodyPr/>
                    <a:lstStyle/>
                    <a:p>
                      <a:r>
                        <a:rPr kumimoji="1" lang="ja-JP" altLang="en-US" sz="2400" dirty="0"/>
                        <a:t>経時劣化、損傷破壊に対する処置（是正、予防）のこと。</a:t>
                      </a:r>
                      <a:endParaRPr kumimoji="1" lang="en-US" altLang="ja-JP" sz="2400" dirty="0"/>
                    </a:p>
                    <a:p>
                      <a:r>
                        <a:rPr kumimoji="1" lang="ja-JP" altLang="en-US" sz="2400" dirty="0"/>
                        <a:t>（運用、点検、給油、防食、修理、保全、整理整頓など）</a:t>
                      </a:r>
                    </a:p>
                  </a:txBody>
                  <a:tcPr/>
                </a:tc>
                <a:extLst>
                  <a:ext uri="{0D108BD9-81ED-4DB2-BD59-A6C34878D82A}">
                    <a16:rowId xmlns:a16="http://schemas.microsoft.com/office/drawing/2014/main" val="3923882272"/>
                  </a:ext>
                </a:extLst>
              </a:tr>
            </a:tbl>
          </a:graphicData>
        </a:graphic>
      </p:graphicFrame>
    </p:spTree>
    <p:extLst>
      <p:ext uri="{BB962C8B-B14F-4D97-AF65-F5344CB8AC3E}">
        <p14:creationId xmlns:p14="http://schemas.microsoft.com/office/powerpoint/2010/main" val="167079647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工場、施設及び設備の計画を策定し改善するために</a:t>
            </a:r>
            <a:r>
              <a:rPr lang="ja-JP" altLang="en-US" sz="2000" dirty="0"/>
              <a:t>、リスク特定及びリスク緩和の方法を含めて、</a:t>
            </a:r>
            <a:r>
              <a:rPr lang="ja-JP" altLang="en-US" sz="2000" b="1" u="sng" dirty="0"/>
              <a:t>部門横断的アプローチ</a:t>
            </a:r>
            <a:r>
              <a:rPr lang="ja-JP" altLang="en-US" sz="2000" u="sng" dirty="0"/>
              <a:t>を用いなければならない。</a:t>
            </a:r>
            <a:endParaRPr lang="en-US" altLang="ja-JP" sz="2000" u="sng" dirty="0"/>
          </a:p>
          <a:p>
            <a:pPr marL="0" indent="0">
              <a:lnSpc>
                <a:spcPct val="100000"/>
              </a:lnSpc>
              <a:buNone/>
            </a:pPr>
            <a:r>
              <a:rPr lang="ja-JP" altLang="en-US" sz="2000" dirty="0"/>
              <a:t>☑</a:t>
            </a:r>
            <a:r>
              <a:rPr lang="ja-JP" altLang="en-US" sz="2000" u="sng" dirty="0"/>
              <a:t>工場レイアウトを設計する際は</a:t>
            </a:r>
            <a:r>
              <a:rPr lang="ja-JP" altLang="en-US" sz="2000" dirty="0"/>
              <a:t>、組織は次の事項を実施しなければならない。</a:t>
            </a:r>
            <a:endParaRPr lang="en-US" altLang="ja-JP" sz="2000" dirty="0"/>
          </a:p>
          <a:p>
            <a:pPr marL="800100" lvl="1" indent="-342900">
              <a:lnSpc>
                <a:spcPct val="100000"/>
              </a:lnSpc>
              <a:buFont typeface="+mj-lt"/>
              <a:buAutoNum type="alphaLcPeriod"/>
            </a:pPr>
            <a:r>
              <a:rPr lang="ja-JP" altLang="en-US" sz="2000" dirty="0"/>
              <a:t>不適合製品の管理を含む、材料の流れ、材料の取扱い及び現場スペースの付加価値のある活用を</a:t>
            </a:r>
            <a:r>
              <a:rPr lang="ja-JP" altLang="en-US" sz="2000" u="sng" dirty="0"/>
              <a:t>最適化する。</a:t>
            </a:r>
            <a:endParaRPr lang="en-US" altLang="ja-JP" sz="2000" u="sng" dirty="0"/>
          </a:p>
          <a:p>
            <a:pPr marL="800100" lvl="1" indent="-342900">
              <a:lnSpc>
                <a:spcPct val="100000"/>
              </a:lnSpc>
              <a:buFont typeface="+mj-lt"/>
              <a:buAutoNum type="alphaLcPeriod"/>
            </a:pPr>
            <a:r>
              <a:rPr lang="ja-JP" altLang="en-US" sz="2000" dirty="0"/>
              <a:t>該当する場合には、必ず、</a:t>
            </a:r>
            <a:r>
              <a:rPr lang="ja-JP" altLang="en-US" sz="2000" u="sng" dirty="0"/>
              <a:t>同期のとれた材料の流れを促進する。</a:t>
            </a:r>
            <a:endParaRPr lang="en-US" altLang="ja-JP" sz="2000" u="sng" dirty="0"/>
          </a:p>
          <a:p>
            <a:pPr marL="800100" lvl="1" indent="-342900">
              <a:lnSpc>
                <a:spcPct val="100000"/>
              </a:lnSpc>
              <a:buFont typeface="+mj-lt"/>
              <a:buAutoNum type="alphaLcPeriod"/>
            </a:pPr>
            <a:r>
              <a:rPr lang="ja-JP" altLang="en-US" sz="2000" dirty="0"/>
              <a:t>製造を支援する装置及びシステムの</a:t>
            </a:r>
            <a:r>
              <a:rPr lang="ja-JP" altLang="en-US" sz="2000" u="sng" dirty="0"/>
              <a:t>サイバー防御の実施。</a:t>
            </a:r>
            <a:endParaRPr lang="en-US" altLang="ja-JP" sz="2000" u="sng" dirty="0"/>
          </a:p>
          <a:p>
            <a:pPr marL="0" indent="0">
              <a:lnSpc>
                <a:spcPct val="100000"/>
              </a:lnSpc>
              <a:buNone/>
            </a:pPr>
            <a:r>
              <a:rPr lang="ja-JP" altLang="en-US" sz="2000" dirty="0"/>
              <a:t>☑新製品及び新運用に対する</a:t>
            </a:r>
            <a:r>
              <a:rPr lang="ja-JP" altLang="en-US" sz="2000" u="sng" dirty="0"/>
              <a:t>製造フィージビリティを評価するために、方法を開発し、実施しなければならない。</a:t>
            </a:r>
            <a:endParaRPr lang="en-US" altLang="ja-JP" sz="2000" u="sng" dirty="0"/>
          </a:p>
          <a:p>
            <a:pPr marL="0" indent="0">
              <a:lnSpc>
                <a:spcPct val="100000"/>
              </a:lnSpc>
              <a:buNone/>
            </a:pPr>
            <a:r>
              <a:rPr lang="ja-JP" altLang="en-US" sz="2000" dirty="0"/>
              <a:t>☑製造フィージビリティ評価には、</a:t>
            </a:r>
            <a:r>
              <a:rPr lang="ja-JP" altLang="en-US" sz="2000" u="sng" dirty="0"/>
              <a:t>生産能力計画を含めなければならない。</a:t>
            </a:r>
            <a:endParaRPr lang="en-US" altLang="ja-JP" sz="2000" u="sng" dirty="0"/>
          </a:p>
          <a:p>
            <a:pPr marL="0" indent="0">
              <a:lnSpc>
                <a:spcPct val="100000"/>
              </a:lnSpc>
              <a:buNone/>
            </a:pPr>
            <a:r>
              <a:rPr lang="ja-JP" altLang="en-US" sz="2000" dirty="0"/>
              <a:t>☑これらの方法は、既存の運用への提案された変更を評価することにも適用可能でなければならない。</a:t>
            </a: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7.1.3.1</a:t>
            </a:r>
            <a:r>
              <a:rPr kumimoji="1" lang="ja-JP" altLang="en-US" sz="3000" b="1" dirty="0">
                <a:solidFill>
                  <a:schemeClr val="tx2"/>
                </a:solidFill>
              </a:rPr>
              <a:t>　工場、施設及び設備の計画</a:t>
            </a:r>
          </a:p>
        </p:txBody>
      </p:sp>
      <p:sp>
        <p:nvSpPr>
          <p:cNvPr id="2" name="四角形: 角を丸くする 1">
            <a:extLst>
              <a:ext uri="{FF2B5EF4-FFF2-40B4-BE49-F238E27FC236}">
                <a16:creationId xmlns:a16="http://schemas.microsoft.com/office/drawing/2014/main" id="{76AF570A-0F70-4B7B-88E9-DD5C39555403}"/>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18</a:t>
            </a:r>
          </a:p>
        </p:txBody>
      </p:sp>
    </p:spTree>
    <p:extLst>
      <p:ext uri="{BB962C8B-B14F-4D97-AF65-F5344CB8AC3E}">
        <p14:creationId xmlns:p14="http://schemas.microsoft.com/office/powerpoint/2010/main" val="321406927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☑組織は、リスクに関連する定期的再評価を含めて、工程承認中になされた変更、コントロールプランの維持（</a:t>
            </a:r>
            <a:r>
              <a:rPr lang="en-US" altLang="ja-JP" sz="2000" dirty="0"/>
              <a:t>8.5.1.1</a:t>
            </a:r>
            <a:r>
              <a:rPr lang="ja-JP" altLang="en-US" sz="2000" dirty="0"/>
              <a:t>参照）及び作業の段取り替え検証（</a:t>
            </a:r>
            <a:r>
              <a:rPr lang="en-US" altLang="ja-JP" sz="2000" dirty="0"/>
              <a:t>8.5.1.3</a:t>
            </a:r>
            <a:r>
              <a:rPr lang="ja-JP" altLang="en-US" sz="2000" dirty="0"/>
              <a:t>参照）を取り入れるために、</a:t>
            </a:r>
            <a:r>
              <a:rPr lang="ja-JP" altLang="en-US" sz="2000" u="sng" dirty="0"/>
              <a:t>工程の有効性を維持しなければならない。</a:t>
            </a:r>
            <a:endParaRPr lang="en-US" altLang="ja-JP" sz="2000" u="sng" dirty="0"/>
          </a:p>
          <a:p>
            <a:pPr marL="0" indent="0">
              <a:lnSpc>
                <a:spcPct val="100000"/>
              </a:lnSpc>
              <a:buNone/>
            </a:pPr>
            <a:r>
              <a:rPr lang="ja-JP" altLang="en-US" sz="2000" dirty="0"/>
              <a:t>☑製造フィージビリティ評価及び生産能力評価は、マネジメントレビューへのインプットとしなければならない。（</a:t>
            </a:r>
            <a:r>
              <a:rPr lang="en-US" altLang="ja-JP" sz="2000" dirty="0"/>
              <a:t>ISO9001</a:t>
            </a:r>
            <a:r>
              <a:rPr lang="ja-JP" altLang="en-US" sz="2000" dirty="0"/>
              <a:t>の</a:t>
            </a:r>
            <a:r>
              <a:rPr lang="en-US" altLang="ja-JP" sz="2000" dirty="0"/>
              <a:t>9.3</a:t>
            </a:r>
            <a:r>
              <a:rPr lang="ja-JP" altLang="en-US" sz="2000" dirty="0"/>
              <a:t>参照）</a:t>
            </a:r>
            <a:endParaRPr lang="en-US" altLang="ja-JP" sz="2000" dirty="0"/>
          </a:p>
          <a:p>
            <a:pPr marL="0" indent="0">
              <a:lnSpc>
                <a:spcPct val="100000"/>
              </a:lnSpc>
              <a:buNone/>
            </a:pPr>
            <a:r>
              <a:rPr lang="ja-JP" altLang="en-US" sz="2000" dirty="0"/>
              <a:t>　注記</a:t>
            </a:r>
            <a:r>
              <a:rPr lang="en-US" altLang="ja-JP" sz="2000" dirty="0"/>
              <a:t>1</a:t>
            </a:r>
            <a:r>
              <a:rPr lang="ja-JP" altLang="en-US" sz="2000" dirty="0"/>
              <a:t>　これらの要求事項には、</a:t>
            </a:r>
            <a:r>
              <a:rPr lang="ja-JP" altLang="en-US" sz="2000" u="sng" dirty="0"/>
              <a:t>リーン生産の原則の適用を含めることが望ましい。</a:t>
            </a:r>
            <a:endParaRPr lang="en-US" altLang="ja-JP" sz="2000" u="sng" dirty="0"/>
          </a:p>
          <a:p>
            <a:pPr marL="0" indent="0">
              <a:lnSpc>
                <a:spcPct val="100000"/>
              </a:lnSpc>
              <a:buNone/>
            </a:pPr>
            <a:r>
              <a:rPr lang="ja-JP" altLang="en-US" sz="2000" dirty="0"/>
              <a:t>　注記</a:t>
            </a:r>
            <a:r>
              <a:rPr lang="en-US" altLang="ja-JP" sz="2000" dirty="0"/>
              <a:t>2</a:t>
            </a:r>
            <a:r>
              <a:rPr lang="ja-JP" altLang="en-US" sz="2000" dirty="0"/>
              <a:t>　これらの要求事項は、該当する場合には、必ず、サイト内供給者の活動に適用することが望ましい。</a:t>
            </a:r>
            <a:endParaRPr lang="en-US" altLang="ja-JP" sz="2000" dirty="0"/>
          </a:p>
          <a:p>
            <a:pPr>
              <a:buFont typeface="Wingdings" panose="05000000000000000000" pitchFamily="2" charset="2"/>
              <a:buChar char="u"/>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7.1.3.1</a:t>
            </a:r>
            <a:r>
              <a:rPr kumimoji="1" lang="ja-JP" altLang="en-US" sz="3000" b="1" dirty="0">
                <a:solidFill>
                  <a:schemeClr val="tx2"/>
                </a:solidFill>
              </a:rPr>
              <a:t>　工場、施設及び設備の計画</a:t>
            </a:r>
          </a:p>
        </p:txBody>
      </p:sp>
    </p:spTree>
    <p:extLst>
      <p:ext uri="{BB962C8B-B14F-4D97-AF65-F5344CB8AC3E}">
        <p14:creationId xmlns:p14="http://schemas.microsoft.com/office/powerpoint/2010/main" val="1052502978"/>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新製品の生産等に際しての工場側の準備について要求している。（</a:t>
            </a:r>
            <a:r>
              <a:rPr lang="ja-JP" altLang="en-US" sz="2400" dirty="0">
                <a:solidFill>
                  <a:srgbClr val="FF0000"/>
                </a:solidFill>
                <a:effectLst>
                  <a:outerShdw blurRad="38100" dist="38100" dir="2700000" algn="tl">
                    <a:srgbClr val="000000">
                      <a:alpha val="43137"/>
                    </a:srgbClr>
                  </a:outerShdw>
                </a:effectLst>
              </a:rPr>
              <a:t>最適な工場設計　➠　最適な工程設計</a:t>
            </a:r>
            <a:r>
              <a:rPr lang="ja-JP" altLang="en-US" sz="2400" dirty="0"/>
              <a:t>）</a:t>
            </a:r>
            <a:endParaRPr lang="en-US" altLang="ja-JP" sz="2400" dirty="0"/>
          </a:p>
          <a:p>
            <a:pPr lvl="1">
              <a:buFont typeface="Wingdings" panose="05000000000000000000" pitchFamily="2" charset="2"/>
              <a:buChar char="Ø"/>
            </a:pPr>
            <a:r>
              <a:rPr lang="ja-JP" altLang="en-US" dirty="0"/>
              <a:t>担当部門以外の各専門部門（設計、製造、品証、購買など）の参画が必須。</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スペースの有効活用と</a:t>
            </a:r>
            <a:r>
              <a:rPr lang="en-US" altLang="ja-JP" dirty="0">
                <a:solidFill>
                  <a:srgbClr val="FF0000"/>
                </a:solidFill>
                <a:effectLst>
                  <a:outerShdw blurRad="38100" dist="38100" dir="2700000" algn="tl">
                    <a:srgbClr val="000000">
                      <a:alpha val="43137"/>
                    </a:srgbClr>
                  </a:outerShdw>
                </a:effectLst>
              </a:rPr>
              <a:t>JIT</a:t>
            </a:r>
            <a:r>
              <a:rPr lang="ja-JP" altLang="en-US" dirty="0">
                <a:solidFill>
                  <a:srgbClr val="FF0000"/>
                </a:solidFill>
                <a:effectLst>
                  <a:outerShdw blurRad="38100" dist="38100" dir="2700000" algn="tl">
                    <a:srgbClr val="000000">
                      <a:alpha val="43137"/>
                    </a:srgbClr>
                  </a:outerShdw>
                </a:effectLst>
              </a:rPr>
              <a:t>生産の促進。</a:t>
            </a:r>
            <a:endParaRPr lang="en-US" altLang="ja-JP" dirty="0">
              <a:solidFill>
                <a:srgbClr val="FF0000"/>
              </a:solidFill>
              <a:effectLst>
                <a:outerShdw blurRad="38100" dist="38100" dir="2700000" algn="tl">
                  <a:srgbClr val="000000">
                    <a:alpha val="43137"/>
                  </a:srgbClr>
                </a:outerShdw>
              </a:effectLst>
            </a:endParaRPr>
          </a:p>
          <a:p>
            <a:pPr marL="514350" indent="-514350">
              <a:buFont typeface="+mj-lt"/>
              <a:buAutoNum type="arabicPeriod"/>
            </a:pPr>
            <a:r>
              <a:rPr lang="ja-JP" altLang="en-US" sz="2400" dirty="0"/>
              <a:t>新規部品の立上げの都度、全面的なレイアウト設計は非現実的である。現実的には次の運用を考慮する。</a:t>
            </a:r>
            <a:endParaRPr lang="en-US" altLang="ja-JP" sz="2400" dirty="0"/>
          </a:p>
          <a:p>
            <a:pPr lvl="1">
              <a:buFont typeface="Wingdings" panose="05000000000000000000" pitchFamily="2" charset="2"/>
              <a:buChar char="Ø"/>
            </a:pPr>
            <a:r>
              <a:rPr lang="ja-JP" altLang="en-US" dirty="0"/>
              <a:t>現在の工場及び工程の</a:t>
            </a:r>
            <a:r>
              <a:rPr lang="ja-JP" altLang="en-US" dirty="0">
                <a:solidFill>
                  <a:srgbClr val="FF0000"/>
                </a:solidFill>
                <a:effectLst>
                  <a:outerShdw blurRad="38100" dist="38100" dir="2700000" algn="tl">
                    <a:srgbClr val="000000">
                      <a:alpha val="43137"/>
                    </a:srgbClr>
                  </a:outerShdw>
                </a:effectLst>
              </a:rPr>
              <a:t>物流フローの明確化</a:t>
            </a:r>
            <a:r>
              <a:rPr lang="ja-JP" altLang="en-US" dirty="0"/>
              <a:t>。（文書化）</a:t>
            </a:r>
            <a:endParaRPr lang="en-US" altLang="ja-JP" dirty="0"/>
          </a:p>
          <a:p>
            <a:pPr lvl="1">
              <a:buFont typeface="Wingdings" panose="05000000000000000000" pitchFamily="2" charset="2"/>
              <a:buChar char="Ø"/>
            </a:pPr>
            <a:r>
              <a:rPr lang="ja-JP" altLang="en-US" dirty="0"/>
              <a:t>新製品及び新規運用の際の現行フローにおける、</a:t>
            </a:r>
            <a:endParaRPr lang="en-US" altLang="ja-JP" dirty="0"/>
          </a:p>
          <a:p>
            <a:pPr lvl="2"/>
            <a:r>
              <a:rPr lang="ja-JP" altLang="en-US" sz="2400" dirty="0"/>
              <a:t>リスクの認識</a:t>
            </a:r>
            <a:endParaRPr lang="en-US" altLang="ja-JP" sz="2400" dirty="0"/>
          </a:p>
          <a:p>
            <a:pPr lvl="2"/>
            <a:r>
              <a:rPr lang="ja-JP" altLang="en-US" sz="2400" dirty="0"/>
              <a:t>実現可能性と課題（製造フィージビリティ）の明確化</a:t>
            </a:r>
            <a:endParaRPr lang="en-US" altLang="ja-JP" sz="2400" dirty="0"/>
          </a:p>
          <a:p>
            <a:pPr lvl="2"/>
            <a:r>
              <a:rPr lang="ja-JP" altLang="en-US" sz="2400" dirty="0"/>
              <a:t>工程変更、コントロールプラン及び段取り替えとの相関</a:t>
            </a:r>
            <a:endParaRPr lang="en-US" altLang="ja-JP" sz="24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7.1.3.1</a:t>
            </a:r>
            <a:r>
              <a:rPr lang="ja-JP" altLang="en-US" sz="3000" b="1" dirty="0">
                <a:solidFill>
                  <a:schemeClr val="bg1"/>
                </a:solidFill>
              </a:rPr>
              <a:t>　工場、施設及び設備の計画</a:t>
            </a:r>
            <a:endParaRPr kumimoji="1" lang="ja-JP" altLang="en-US" sz="3000" b="1" dirty="0">
              <a:solidFill>
                <a:schemeClr val="bg1"/>
              </a:solidFill>
            </a:endParaRPr>
          </a:p>
        </p:txBody>
      </p:sp>
      <p:sp>
        <p:nvSpPr>
          <p:cNvPr id="2" name="吹き出し: 角を丸めた四角形 1">
            <a:extLst>
              <a:ext uri="{FF2B5EF4-FFF2-40B4-BE49-F238E27FC236}">
                <a16:creationId xmlns:a16="http://schemas.microsoft.com/office/drawing/2014/main" id="{48E3549D-B444-4AFB-9AD7-F6D6DA4139F0}"/>
              </a:ext>
            </a:extLst>
          </p:cNvPr>
          <p:cNvSpPr/>
          <p:nvPr/>
        </p:nvSpPr>
        <p:spPr>
          <a:xfrm>
            <a:off x="9066882" y="3899970"/>
            <a:ext cx="2286920" cy="1434029"/>
          </a:xfrm>
          <a:prstGeom prst="wedgeRoundRectCallout">
            <a:avLst>
              <a:gd name="adj1" fmla="val -67883"/>
              <a:gd name="adj2" fmla="val 4593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品質要求のみならず、物量、製品サイズ・重量、歩留り、在庫なども。</a:t>
            </a:r>
          </a:p>
        </p:txBody>
      </p:sp>
    </p:spTree>
    <p:extLst>
      <p:ext uri="{BB962C8B-B14F-4D97-AF65-F5344CB8AC3E}">
        <p14:creationId xmlns:p14="http://schemas.microsoft.com/office/powerpoint/2010/main" val="346143521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591239"/>
          </a:xfrm>
          <a:ln w="12700">
            <a:noFill/>
          </a:ln>
        </p:spPr>
        <p:txBody>
          <a:bodyPr>
            <a:normAutofit/>
          </a:bodyPr>
          <a:lstStyle/>
          <a:p>
            <a:pPr marL="457200" indent="-457200">
              <a:buFont typeface="+mj-lt"/>
              <a:buAutoNum type="arabicPeriod" startAt="3"/>
            </a:pPr>
            <a:r>
              <a:rPr lang="en-US" altLang="ja-JP" sz="2400" dirty="0"/>
              <a:t>APQP</a:t>
            </a:r>
            <a:r>
              <a:rPr lang="ja-JP" altLang="en-US" sz="2400" dirty="0"/>
              <a:t>　床配置図（</a:t>
            </a:r>
            <a:r>
              <a:rPr lang="en-US" altLang="ja-JP" sz="2400" dirty="0"/>
              <a:t>Floor</a:t>
            </a:r>
            <a:r>
              <a:rPr lang="ja-JP" altLang="en-US" sz="2400" dirty="0"/>
              <a:t> </a:t>
            </a:r>
            <a:r>
              <a:rPr lang="en-US" altLang="ja-JP" sz="2400" dirty="0"/>
              <a:t>Plan</a:t>
            </a:r>
            <a:r>
              <a:rPr lang="ja-JP" altLang="en-US" sz="2400" dirty="0"/>
              <a:t> </a:t>
            </a:r>
            <a:r>
              <a:rPr lang="en-US" altLang="ja-JP" sz="2400" dirty="0"/>
              <a:t>Layout</a:t>
            </a:r>
            <a:r>
              <a:rPr lang="ja-JP" altLang="en-US" sz="2400" dirty="0"/>
              <a:t>）チェックリスト　</a:t>
            </a:r>
            <a:r>
              <a:rPr lang="en-US" altLang="ja-JP" sz="1600" dirty="0"/>
              <a:t>※</a:t>
            </a:r>
            <a:r>
              <a:rPr lang="ja-JP" altLang="en-US" sz="1600" dirty="0"/>
              <a:t>一部抜粋</a:t>
            </a:r>
            <a:endParaRPr lang="en-US" altLang="ja-JP" sz="16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7.1.3.1</a:t>
            </a:r>
            <a:r>
              <a:rPr lang="ja-JP" altLang="en-US" sz="3000" b="1" dirty="0">
                <a:solidFill>
                  <a:schemeClr val="bg1"/>
                </a:solidFill>
              </a:rPr>
              <a:t>　工場、施設及び設備の計画</a:t>
            </a:r>
            <a:endParaRPr kumimoji="1" lang="ja-JP" altLang="en-US" sz="3000" b="1" dirty="0">
              <a:solidFill>
                <a:schemeClr val="bg1"/>
              </a:solidFill>
            </a:endParaRPr>
          </a:p>
        </p:txBody>
      </p:sp>
      <p:graphicFrame>
        <p:nvGraphicFramePr>
          <p:cNvPr id="6" name="表 5">
            <a:extLst>
              <a:ext uri="{FF2B5EF4-FFF2-40B4-BE49-F238E27FC236}">
                <a16:creationId xmlns:a16="http://schemas.microsoft.com/office/drawing/2014/main" id="{5C0F01D2-C2B5-481E-A4C9-8AF3927ECD8F}"/>
              </a:ext>
            </a:extLst>
          </p:cNvPr>
          <p:cNvGraphicFramePr>
            <a:graphicFrameLocks noGrp="1"/>
          </p:cNvGraphicFramePr>
          <p:nvPr>
            <p:extLst>
              <p:ext uri="{D42A27DB-BD31-4B8C-83A1-F6EECF244321}">
                <p14:modId xmlns:p14="http://schemas.microsoft.com/office/powerpoint/2010/main" val="4129929755"/>
              </p:ext>
            </p:extLst>
          </p:nvPr>
        </p:nvGraphicFramePr>
        <p:xfrm>
          <a:off x="838199" y="1945640"/>
          <a:ext cx="10515599" cy="4372430"/>
        </p:xfrm>
        <a:graphic>
          <a:graphicData uri="http://schemas.openxmlformats.org/drawingml/2006/table">
            <a:tbl>
              <a:tblPr firstRow="1" bandRow="1">
                <a:tableStyleId>{5940675A-B579-460E-94D1-54222C63F5DA}</a:tableStyleId>
              </a:tblPr>
              <a:tblGrid>
                <a:gridCol w="627044">
                  <a:extLst>
                    <a:ext uri="{9D8B030D-6E8A-4147-A177-3AD203B41FA5}">
                      <a16:colId xmlns:a16="http://schemas.microsoft.com/office/drawing/2014/main" val="4053531299"/>
                    </a:ext>
                  </a:extLst>
                </a:gridCol>
                <a:gridCol w="6731306">
                  <a:extLst>
                    <a:ext uri="{9D8B030D-6E8A-4147-A177-3AD203B41FA5}">
                      <a16:colId xmlns:a16="http://schemas.microsoft.com/office/drawing/2014/main" val="52107421"/>
                    </a:ext>
                  </a:extLst>
                </a:gridCol>
                <a:gridCol w="771181">
                  <a:extLst>
                    <a:ext uri="{9D8B030D-6E8A-4147-A177-3AD203B41FA5}">
                      <a16:colId xmlns:a16="http://schemas.microsoft.com/office/drawing/2014/main" val="2652499132"/>
                    </a:ext>
                  </a:extLst>
                </a:gridCol>
                <a:gridCol w="782198">
                  <a:extLst>
                    <a:ext uri="{9D8B030D-6E8A-4147-A177-3AD203B41FA5}">
                      <a16:colId xmlns:a16="http://schemas.microsoft.com/office/drawing/2014/main" val="2456372578"/>
                    </a:ext>
                  </a:extLst>
                </a:gridCol>
                <a:gridCol w="914400">
                  <a:extLst>
                    <a:ext uri="{9D8B030D-6E8A-4147-A177-3AD203B41FA5}">
                      <a16:colId xmlns:a16="http://schemas.microsoft.com/office/drawing/2014/main" val="1078834116"/>
                    </a:ext>
                  </a:extLst>
                </a:gridCol>
                <a:gridCol w="689470">
                  <a:extLst>
                    <a:ext uri="{9D8B030D-6E8A-4147-A177-3AD203B41FA5}">
                      <a16:colId xmlns:a16="http://schemas.microsoft.com/office/drawing/2014/main" val="246407121"/>
                    </a:ext>
                  </a:extLst>
                </a:gridCol>
              </a:tblGrid>
              <a:tr h="644509">
                <a:tc gridSpan="2">
                  <a:txBody>
                    <a:bodyPr/>
                    <a:lstStyle/>
                    <a:p>
                      <a:pPr algn="ctr"/>
                      <a:r>
                        <a:rPr kumimoji="1" lang="ja-JP" altLang="en-US" sz="2000" dirty="0"/>
                        <a:t>チェック</a:t>
                      </a:r>
                    </a:p>
                  </a:txBody>
                  <a:tcPr>
                    <a:solidFill>
                      <a:schemeClr val="tx2">
                        <a:lumMod val="40000"/>
                        <a:lumOff val="60000"/>
                      </a:schemeClr>
                    </a:solidFill>
                  </a:tcPr>
                </a:tc>
                <a:tc hMerge="1">
                  <a:txBody>
                    <a:bodyPr/>
                    <a:lstStyle/>
                    <a:p>
                      <a:pPr algn="ctr"/>
                      <a:endParaRPr kumimoji="1" lang="ja-JP" altLang="en-US" dirty="0"/>
                    </a:p>
                  </a:txBody>
                  <a:tcPr>
                    <a:solidFill>
                      <a:schemeClr val="tx2">
                        <a:lumMod val="40000"/>
                        <a:lumOff val="60000"/>
                      </a:schemeClr>
                    </a:solidFill>
                  </a:tcPr>
                </a:tc>
                <a:tc>
                  <a:txBody>
                    <a:bodyPr/>
                    <a:lstStyle/>
                    <a:p>
                      <a:pPr algn="ctr"/>
                      <a:r>
                        <a:rPr kumimoji="1" lang="ja-JP" altLang="en-US" sz="1800" dirty="0"/>
                        <a:t>評価</a:t>
                      </a:r>
                    </a:p>
                  </a:txBody>
                  <a:tcPr>
                    <a:solidFill>
                      <a:schemeClr val="tx2">
                        <a:lumMod val="40000"/>
                        <a:lumOff val="60000"/>
                      </a:schemeClr>
                    </a:solidFill>
                  </a:tcPr>
                </a:tc>
                <a:tc>
                  <a:txBody>
                    <a:bodyPr/>
                    <a:lstStyle/>
                    <a:p>
                      <a:pPr algn="ctr"/>
                      <a:r>
                        <a:rPr kumimoji="1" lang="ja-JP" altLang="en-US" sz="1800" dirty="0"/>
                        <a:t>対策</a:t>
                      </a:r>
                    </a:p>
                  </a:txBody>
                  <a:tcPr>
                    <a:solidFill>
                      <a:schemeClr val="tx2">
                        <a:lumMod val="40000"/>
                        <a:lumOff val="60000"/>
                      </a:schemeClr>
                    </a:solidFill>
                  </a:tcPr>
                </a:tc>
                <a:tc>
                  <a:txBody>
                    <a:bodyPr/>
                    <a:lstStyle/>
                    <a:p>
                      <a:pPr algn="ctr"/>
                      <a:r>
                        <a:rPr kumimoji="1" lang="ja-JP" altLang="en-US" sz="1800" dirty="0"/>
                        <a:t>責任者</a:t>
                      </a:r>
                    </a:p>
                  </a:txBody>
                  <a:tcPr>
                    <a:solidFill>
                      <a:schemeClr val="tx2">
                        <a:lumMod val="40000"/>
                        <a:lumOff val="60000"/>
                      </a:schemeClr>
                    </a:solidFill>
                  </a:tcPr>
                </a:tc>
                <a:tc>
                  <a:txBody>
                    <a:bodyPr/>
                    <a:lstStyle/>
                    <a:p>
                      <a:pPr algn="ctr"/>
                      <a:r>
                        <a:rPr kumimoji="1" lang="ja-JP" altLang="en-US" sz="1800" dirty="0"/>
                        <a:t>期限</a:t>
                      </a:r>
                    </a:p>
                  </a:txBody>
                  <a:tcPr>
                    <a:solidFill>
                      <a:schemeClr val="tx2">
                        <a:lumMod val="40000"/>
                        <a:lumOff val="60000"/>
                      </a:schemeClr>
                    </a:solidFill>
                  </a:tcPr>
                </a:tc>
                <a:extLst>
                  <a:ext uri="{0D108BD9-81ED-4DB2-BD59-A6C34878D82A}">
                    <a16:rowId xmlns:a16="http://schemas.microsoft.com/office/drawing/2014/main" val="3219431958"/>
                  </a:ext>
                </a:extLst>
              </a:tr>
              <a:tr h="687664">
                <a:tc>
                  <a:txBody>
                    <a:bodyPr/>
                    <a:lstStyle/>
                    <a:p>
                      <a:pPr algn="ctr"/>
                      <a:r>
                        <a:rPr kumimoji="1" lang="en-US" altLang="ja-JP" dirty="0"/>
                        <a:t>1</a:t>
                      </a:r>
                      <a:endParaRPr kumimoji="1" lang="ja-JP" altLang="en-US" dirty="0"/>
                    </a:p>
                  </a:txBody>
                  <a:tcPr/>
                </a:tc>
                <a:tc>
                  <a:txBody>
                    <a:bodyPr/>
                    <a:lstStyle/>
                    <a:p>
                      <a:r>
                        <a:rPr kumimoji="1" lang="ja-JP" altLang="en-US" sz="2000" dirty="0"/>
                        <a:t>リーン生産のコンセプトを、材料の流れを考慮する際に適用したか？</a:t>
                      </a:r>
                    </a:p>
                  </a:txBody>
                  <a:tcPr/>
                </a:tc>
                <a:tc>
                  <a:txBody>
                    <a:bodyPr/>
                    <a:lstStyle/>
                    <a:p>
                      <a:endParaRPr kumimoji="1" lang="ja-JP" altLang="en-US" sz="2000" dirty="0"/>
                    </a:p>
                  </a:txBody>
                  <a:tcPr/>
                </a:tc>
                <a:tc>
                  <a:txBody>
                    <a:bodyPr/>
                    <a:lstStyle/>
                    <a:p>
                      <a:endParaRPr kumimoji="1" lang="ja-JP" altLang="en-US" sz="2000" dirty="0"/>
                    </a:p>
                  </a:txBody>
                  <a:tcPr/>
                </a:tc>
                <a:tc>
                  <a:txBody>
                    <a:bodyPr/>
                    <a:lstStyle/>
                    <a:p>
                      <a:endParaRPr kumimoji="1" lang="ja-JP" altLang="en-US" sz="2000"/>
                    </a:p>
                  </a:txBody>
                  <a:tcPr/>
                </a:tc>
                <a:tc>
                  <a:txBody>
                    <a:bodyPr/>
                    <a:lstStyle/>
                    <a:p>
                      <a:endParaRPr kumimoji="1" lang="ja-JP" altLang="en-US" sz="2000"/>
                    </a:p>
                  </a:txBody>
                  <a:tcPr/>
                </a:tc>
                <a:extLst>
                  <a:ext uri="{0D108BD9-81ED-4DB2-BD59-A6C34878D82A}">
                    <a16:rowId xmlns:a16="http://schemas.microsoft.com/office/drawing/2014/main" val="2546995745"/>
                  </a:ext>
                </a:extLst>
              </a:tr>
              <a:tr h="687664">
                <a:tc>
                  <a:txBody>
                    <a:bodyPr/>
                    <a:lstStyle/>
                    <a:p>
                      <a:pPr algn="ctr"/>
                      <a:r>
                        <a:rPr kumimoji="1" lang="en-US" altLang="ja-JP" dirty="0"/>
                        <a:t>2</a:t>
                      </a:r>
                      <a:endParaRPr kumimoji="1" lang="ja-JP" altLang="en-US" dirty="0"/>
                    </a:p>
                  </a:txBody>
                  <a:tcPr/>
                </a:tc>
                <a:tc>
                  <a:txBody>
                    <a:bodyPr/>
                    <a:lstStyle/>
                    <a:p>
                      <a:r>
                        <a:rPr kumimoji="1" lang="ja-JP" altLang="en-US" sz="2000" dirty="0"/>
                        <a:t>床配置図には要求される全ての工程及び検査場所が明確にしてあるか？</a:t>
                      </a:r>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dirty="0"/>
                    </a:p>
                  </a:txBody>
                  <a:tcPr/>
                </a:tc>
                <a:tc>
                  <a:txBody>
                    <a:bodyPr/>
                    <a:lstStyle/>
                    <a:p>
                      <a:endParaRPr kumimoji="1" lang="ja-JP" altLang="en-US" sz="2000"/>
                    </a:p>
                  </a:txBody>
                  <a:tcPr/>
                </a:tc>
                <a:extLst>
                  <a:ext uri="{0D108BD9-81ED-4DB2-BD59-A6C34878D82A}">
                    <a16:rowId xmlns:a16="http://schemas.microsoft.com/office/drawing/2014/main" val="702955979"/>
                  </a:ext>
                </a:extLst>
              </a:tr>
              <a:tr h="687664">
                <a:tc>
                  <a:txBody>
                    <a:bodyPr/>
                    <a:lstStyle/>
                    <a:p>
                      <a:pPr algn="ctr"/>
                      <a:r>
                        <a:rPr kumimoji="1" lang="ja-JP" altLang="en-US" dirty="0"/>
                        <a:t>３</a:t>
                      </a:r>
                    </a:p>
                  </a:txBody>
                  <a:tcPr/>
                </a:tc>
                <a:tc>
                  <a:txBody>
                    <a:bodyPr/>
                    <a:lstStyle/>
                    <a:p>
                      <a:r>
                        <a:rPr kumimoji="1" lang="ja-JP" altLang="en-US" sz="2000" dirty="0"/>
                        <a:t>各作業場所における全ての材料、治工具及び装置用の場所が考慮されているか？</a:t>
                      </a:r>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a:p>
                  </a:txBody>
                  <a:tcPr/>
                </a:tc>
                <a:extLst>
                  <a:ext uri="{0D108BD9-81ED-4DB2-BD59-A6C34878D82A}">
                    <a16:rowId xmlns:a16="http://schemas.microsoft.com/office/drawing/2014/main" val="2983822681"/>
                  </a:ext>
                </a:extLst>
              </a:tr>
              <a:tr h="429574">
                <a:tc>
                  <a:txBody>
                    <a:bodyPr/>
                    <a:lstStyle/>
                    <a:p>
                      <a:pPr algn="ctr"/>
                      <a:r>
                        <a:rPr kumimoji="1" lang="en-US" altLang="ja-JP" dirty="0"/>
                        <a:t>4</a:t>
                      </a:r>
                      <a:endParaRPr kumimoji="1" lang="ja-JP" altLang="en-US" dirty="0"/>
                    </a:p>
                  </a:txBody>
                  <a:tcPr/>
                </a:tc>
                <a:tc>
                  <a:txBody>
                    <a:bodyPr/>
                    <a:lstStyle/>
                    <a:p>
                      <a:r>
                        <a:rPr kumimoji="1" lang="ja-JP" altLang="en-US" sz="2000" dirty="0"/>
                        <a:t>全ての装置に十分なスペースが割り当てられているか？</a:t>
                      </a:r>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a:p>
                  </a:txBody>
                  <a:tcPr/>
                </a:tc>
                <a:extLst>
                  <a:ext uri="{0D108BD9-81ED-4DB2-BD59-A6C34878D82A}">
                    <a16:rowId xmlns:a16="http://schemas.microsoft.com/office/drawing/2014/main" val="3136500469"/>
                  </a:ext>
                </a:extLst>
              </a:tr>
              <a:tr h="398409">
                <a:tc rowSpan="3">
                  <a:txBody>
                    <a:bodyPr/>
                    <a:lstStyle/>
                    <a:p>
                      <a:pPr algn="ctr"/>
                      <a:r>
                        <a:rPr kumimoji="1" lang="en-US" altLang="ja-JP" dirty="0"/>
                        <a:t>5</a:t>
                      </a:r>
                      <a:endParaRPr kumimoji="1" lang="ja-JP" altLang="en-US" dirty="0"/>
                    </a:p>
                  </a:txBody>
                  <a:tcPr/>
                </a:tc>
                <a:tc>
                  <a:txBody>
                    <a:bodyPr/>
                    <a:lstStyle/>
                    <a:p>
                      <a:r>
                        <a:rPr kumimoji="1" lang="ja-JP" altLang="en-US" sz="2000" dirty="0"/>
                        <a:t>工程及び検査場所は、</a:t>
                      </a:r>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a:p>
                  </a:txBody>
                  <a:tcPr/>
                </a:tc>
                <a:extLst>
                  <a:ext uri="{0D108BD9-81ED-4DB2-BD59-A6C34878D82A}">
                    <a16:rowId xmlns:a16="http://schemas.microsoft.com/office/drawing/2014/main" val="2582441269"/>
                  </a:ext>
                </a:extLst>
              </a:tr>
              <a:tr h="398409">
                <a:tc vMerge="1">
                  <a:txBody>
                    <a:bodyPr/>
                    <a:lstStyle/>
                    <a:p>
                      <a:pPr algn="ctr"/>
                      <a:endParaRPr kumimoji="1" lang="ja-JP" altLang="en-US" dirty="0"/>
                    </a:p>
                  </a:txBody>
                  <a:tcPr/>
                </a:tc>
                <a:tc>
                  <a:txBody>
                    <a:bodyPr/>
                    <a:lstStyle/>
                    <a:p>
                      <a:r>
                        <a:rPr kumimoji="1" lang="ja-JP" altLang="en-US" sz="2000" dirty="0"/>
                        <a:t>・十分な広さか？</a:t>
                      </a:r>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dirty="0"/>
                    </a:p>
                  </a:txBody>
                  <a:tcPr/>
                </a:tc>
                <a:extLst>
                  <a:ext uri="{0D108BD9-81ED-4DB2-BD59-A6C34878D82A}">
                    <a16:rowId xmlns:a16="http://schemas.microsoft.com/office/drawing/2014/main" val="136756470"/>
                  </a:ext>
                </a:extLst>
              </a:tr>
              <a:tr h="398409">
                <a:tc vMerge="1">
                  <a:txBody>
                    <a:bodyPr/>
                    <a:lstStyle/>
                    <a:p>
                      <a:pPr algn="ctr"/>
                      <a:endParaRPr kumimoji="1" lang="ja-JP" altLang="en-US" dirty="0"/>
                    </a:p>
                  </a:txBody>
                  <a:tcPr/>
                </a:tc>
                <a:tc>
                  <a:txBody>
                    <a:bodyPr/>
                    <a:lstStyle/>
                    <a:p>
                      <a:r>
                        <a:rPr kumimoji="1" lang="ja-JP" altLang="en-US" sz="2000" dirty="0"/>
                        <a:t>・適切な照度があるか？</a:t>
                      </a:r>
                    </a:p>
                  </a:txBody>
                  <a:tcPr/>
                </a:tc>
                <a:tc>
                  <a:txBody>
                    <a:bodyPr/>
                    <a:lstStyle/>
                    <a:p>
                      <a:endParaRPr kumimoji="1" lang="ja-JP" altLang="en-US" sz="2000" dirty="0"/>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extLst>
                  <a:ext uri="{0D108BD9-81ED-4DB2-BD59-A6C34878D82A}">
                    <a16:rowId xmlns:a16="http://schemas.microsoft.com/office/drawing/2014/main" val="3804851890"/>
                  </a:ext>
                </a:extLst>
              </a:tr>
            </a:tbl>
          </a:graphicData>
        </a:graphic>
      </p:graphicFrame>
    </p:spTree>
    <p:extLst>
      <p:ext uri="{BB962C8B-B14F-4D97-AF65-F5344CB8AC3E}">
        <p14:creationId xmlns:p14="http://schemas.microsoft.com/office/powerpoint/2010/main" val="244772371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613272"/>
          </a:xfrm>
          <a:ln w="12700">
            <a:noFill/>
          </a:ln>
        </p:spPr>
        <p:txBody>
          <a:bodyPr>
            <a:normAutofit/>
          </a:bodyPr>
          <a:lstStyle/>
          <a:p>
            <a:pPr marL="0" indent="0">
              <a:buNone/>
            </a:pPr>
            <a:r>
              <a:rPr lang="ja-JP" altLang="en-US" dirty="0">
                <a:solidFill>
                  <a:srgbClr val="FF0000"/>
                </a:solidFill>
                <a:effectLst>
                  <a:outerShdw blurRad="38100" dist="38100" dir="2700000" algn="tl">
                    <a:srgbClr val="000000">
                      <a:alpha val="43137"/>
                    </a:srgbClr>
                  </a:outerShdw>
                </a:effectLst>
              </a:rPr>
              <a:t>リーン（</a:t>
            </a:r>
            <a:r>
              <a:rPr lang="en-US" altLang="ja-JP" dirty="0">
                <a:solidFill>
                  <a:srgbClr val="FF0000"/>
                </a:solidFill>
                <a:effectLst>
                  <a:outerShdw blurRad="38100" dist="38100" dir="2700000" algn="tl">
                    <a:srgbClr val="000000">
                      <a:alpha val="43137"/>
                    </a:srgbClr>
                  </a:outerShdw>
                </a:effectLst>
              </a:rPr>
              <a:t>Lean</a:t>
            </a:r>
            <a:r>
              <a:rPr lang="ja-JP" altLang="en-US" dirty="0">
                <a:solidFill>
                  <a:srgbClr val="FF0000"/>
                </a:solidFill>
                <a:effectLst>
                  <a:outerShdw blurRad="38100" dist="38100" dir="2700000" algn="tl">
                    <a:srgbClr val="000000">
                      <a:alpha val="43137"/>
                    </a:srgbClr>
                  </a:outerShdw>
                </a:effectLst>
              </a:rPr>
              <a:t>）生産方式</a:t>
            </a:r>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7.1.3.1</a:t>
            </a:r>
            <a:r>
              <a:rPr lang="ja-JP" altLang="en-US" sz="3000" b="1" dirty="0">
                <a:solidFill>
                  <a:schemeClr val="bg1"/>
                </a:solidFill>
              </a:rPr>
              <a:t>　工場、施設及び設備の計画</a:t>
            </a:r>
            <a:endParaRPr kumimoji="1" lang="ja-JP" altLang="en-US" sz="3000" b="1" dirty="0">
              <a:solidFill>
                <a:schemeClr val="bg1"/>
              </a:solidFill>
            </a:endParaRPr>
          </a:p>
        </p:txBody>
      </p:sp>
      <p:sp>
        <p:nvSpPr>
          <p:cNvPr id="6" name="四角形: 角を丸くする 5">
            <a:extLst>
              <a:ext uri="{FF2B5EF4-FFF2-40B4-BE49-F238E27FC236}">
                <a16:creationId xmlns:a16="http://schemas.microsoft.com/office/drawing/2014/main" id="{B97E6AB2-7767-4390-AF31-C76CDD432EA9}"/>
              </a:ext>
            </a:extLst>
          </p:cNvPr>
          <p:cNvSpPr/>
          <p:nvPr/>
        </p:nvSpPr>
        <p:spPr>
          <a:xfrm>
            <a:off x="838200" y="1999465"/>
            <a:ext cx="5257800" cy="272126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マサチューセッツ工科大学の研究グループが、１９９０年にトヨタ生産方式につけた名称で、欧米ではリーン生産方式の呼称で普及している。（</a:t>
            </a:r>
            <a:r>
              <a:rPr kumimoji="1" lang="en-US" altLang="ja-JP" dirty="0">
                <a:solidFill>
                  <a:schemeClr val="tx1"/>
                </a:solidFill>
              </a:rPr>
              <a:t>Lean</a:t>
            </a:r>
            <a:r>
              <a:rPr kumimoji="1" lang="ja-JP" altLang="en-US" dirty="0">
                <a:solidFill>
                  <a:schemeClr val="tx1"/>
                </a:solidFill>
              </a:rPr>
              <a:t>：健康で余分な肉が無い）</a:t>
            </a:r>
            <a:endParaRPr kumimoji="1" lang="en-US" altLang="ja-JP" dirty="0">
              <a:solidFill>
                <a:schemeClr val="tx1"/>
              </a:solidFill>
            </a:endParaRPr>
          </a:p>
          <a:p>
            <a:r>
              <a:rPr lang="ja-JP" altLang="en-US" dirty="0">
                <a:solidFill>
                  <a:schemeClr val="tx1"/>
                </a:solidFill>
              </a:rPr>
              <a:t>作りすぎのムダ、在庫のムダ、動作のムダなどあらゆるムダを徹底的に排除し、生産性向上とコスト削減を目指す。（「カイゼン」）</a:t>
            </a:r>
            <a:endParaRPr kumimoji="1" lang="ja-JP" altLang="en-US" dirty="0">
              <a:solidFill>
                <a:schemeClr val="tx1"/>
              </a:solidFill>
            </a:endParaRPr>
          </a:p>
        </p:txBody>
      </p:sp>
      <p:sp>
        <p:nvSpPr>
          <p:cNvPr id="8" name="四角形: 角を丸くする 7">
            <a:extLst>
              <a:ext uri="{FF2B5EF4-FFF2-40B4-BE49-F238E27FC236}">
                <a16:creationId xmlns:a16="http://schemas.microsoft.com/office/drawing/2014/main" id="{0934A595-E568-4434-A344-C2273BB1F0DD}"/>
              </a:ext>
            </a:extLst>
          </p:cNvPr>
          <p:cNvSpPr/>
          <p:nvPr/>
        </p:nvSpPr>
        <p:spPr>
          <a:xfrm>
            <a:off x="1255922" y="5438278"/>
            <a:ext cx="4627085" cy="864289"/>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bg1">
                    <a:lumMod val="50000"/>
                  </a:schemeClr>
                </a:solidFill>
              </a:rPr>
              <a:t>大量生産方式</a:t>
            </a:r>
            <a:endParaRPr kumimoji="1" lang="en-US" altLang="ja-JP" sz="2000" b="1" dirty="0">
              <a:solidFill>
                <a:schemeClr val="bg1">
                  <a:lumMod val="50000"/>
                </a:schemeClr>
              </a:solidFill>
            </a:endParaRPr>
          </a:p>
        </p:txBody>
      </p:sp>
      <p:sp>
        <p:nvSpPr>
          <p:cNvPr id="7" name="矢印: 上下 6">
            <a:extLst>
              <a:ext uri="{FF2B5EF4-FFF2-40B4-BE49-F238E27FC236}">
                <a16:creationId xmlns:a16="http://schemas.microsoft.com/office/drawing/2014/main" id="{C953BA65-9E21-4E3D-937A-F1CBAD0507B3}"/>
              </a:ext>
            </a:extLst>
          </p:cNvPr>
          <p:cNvSpPr/>
          <p:nvPr/>
        </p:nvSpPr>
        <p:spPr>
          <a:xfrm>
            <a:off x="3200399" y="4705511"/>
            <a:ext cx="738130" cy="732767"/>
          </a:xfrm>
          <a:prstGeom prst="upDownArrow">
            <a:avLst>
              <a:gd name="adj1" fmla="val 67911"/>
              <a:gd name="adj2" fmla="val 334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0" name="表 9">
            <a:extLst>
              <a:ext uri="{FF2B5EF4-FFF2-40B4-BE49-F238E27FC236}">
                <a16:creationId xmlns:a16="http://schemas.microsoft.com/office/drawing/2014/main" id="{131584D5-E896-476E-8A6D-83056CF303BA}"/>
              </a:ext>
            </a:extLst>
          </p:cNvPr>
          <p:cNvGraphicFramePr>
            <a:graphicFrameLocks noGrp="1"/>
          </p:cNvGraphicFramePr>
          <p:nvPr>
            <p:extLst>
              <p:ext uri="{D42A27DB-BD31-4B8C-83A1-F6EECF244321}">
                <p14:modId xmlns:p14="http://schemas.microsoft.com/office/powerpoint/2010/main" val="1681577038"/>
              </p:ext>
            </p:extLst>
          </p:nvPr>
        </p:nvGraphicFramePr>
        <p:xfrm>
          <a:off x="6096000" y="1519061"/>
          <a:ext cx="5257800" cy="4895731"/>
        </p:xfrm>
        <a:graphic>
          <a:graphicData uri="http://schemas.openxmlformats.org/drawingml/2006/table">
            <a:tbl>
              <a:tblPr firstRow="1" bandRow="1">
                <a:tableStyleId>{5940675A-B579-460E-94D1-54222C63F5DA}</a:tableStyleId>
              </a:tblPr>
              <a:tblGrid>
                <a:gridCol w="1362419">
                  <a:extLst>
                    <a:ext uri="{9D8B030D-6E8A-4147-A177-3AD203B41FA5}">
                      <a16:colId xmlns:a16="http://schemas.microsoft.com/office/drawing/2014/main" val="4193696489"/>
                    </a:ext>
                  </a:extLst>
                </a:gridCol>
                <a:gridCol w="3895381">
                  <a:extLst>
                    <a:ext uri="{9D8B030D-6E8A-4147-A177-3AD203B41FA5}">
                      <a16:colId xmlns:a16="http://schemas.microsoft.com/office/drawing/2014/main" val="196415097"/>
                    </a:ext>
                  </a:extLst>
                </a:gridCol>
              </a:tblGrid>
              <a:tr h="486009">
                <a:tc gridSpan="2">
                  <a:txBody>
                    <a:bodyPr/>
                    <a:lstStyle/>
                    <a:p>
                      <a:pPr algn="ctr"/>
                      <a:r>
                        <a:rPr kumimoji="1" lang="ja-JP" altLang="en-US" sz="1800" b="1" u="sng" dirty="0"/>
                        <a:t>トヨタ生産方式　７つのムダ</a:t>
                      </a:r>
                    </a:p>
                  </a:txBody>
                  <a:tcPr anchor="ctr">
                    <a:solidFill>
                      <a:schemeClr val="tx2">
                        <a:lumMod val="40000"/>
                        <a:lumOff val="60000"/>
                      </a:schemeClr>
                    </a:solidFill>
                  </a:tcPr>
                </a:tc>
                <a:tc hMerge="1">
                  <a:txBody>
                    <a:bodyPr/>
                    <a:lstStyle/>
                    <a:p>
                      <a:endParaRPr kumimoji="1" lang="ja-JP" altLang="en-US" sz="1800" dirty="0"/>
                    </a:p>
                  </a:txBody>
                  <a:tcPr/>
                </a:tc>
                <a:extLst>
                  <a:ext uri="{0D108BD9-81ED-4DB2-BD59-A6C34878D82A}">
                    <a16:rowId xmlns:a16="http://schemas.microsoft.com/office/drawing/2014/main" val="5509673"/>
                  </a:ext>
                </a:extLst>
              </a:tr>
              <a:tr h="604661">
                <a:tc>
                  <a:txBody>
                    <a:bodyPr/>
                    <a:lstStyle/>
                    <a:p>
                      <a:r>
                        <a:rPr kumimoji="1" lang="ja-JP" altLang="en-US" sz="1800" dirty="0"/>
                        <a:t>①作りすぎ</a:t>
                      </a:r>
                    </a:p>
                  </a:txBody>
                  <a:tcPr/>
                </a:tc>
                <a:tc>
                  <a:txBody>
                    <a:bodyPr/>
                    <a:lstStyle/>
                    <a:p>
                      <a:r>
                        <a:rPr kumimoji="1" lang="ja-JP" altLang="en-US" sz="1800" dirty="0"/>
                        <a:t>過剰人員、過剰設備による材料の先食い。最悪のムダ。</a:t>
                      </a:r>
                    </a:p>
                  </a:txBody>
                  <a:tcPr/>
                </a:tc>
                <a:extLst>
                  <a:ext uri="{0D108BD9-81ED-4DB2-BD59-A6C34878D82A}">
                    <a16:rowId xmlns:a16="http://schemas.microsoft.com/office/drawing/2014/main" val="1184836310"/>
                  </a:ext>
                </a:extLst>
              </a:tr>
              <a:tr h="604661">
                <a:tc>
                  <a:txBody>
                    <a:bodyPr/>
                    <a:lstStyle/>
                    <a:p>
                      <a:r>
                        <a:rPr kumimoji="1" lang="ja-JP" altLang="en-US" sz="1800" dirty="0"/>
                        <a:t>②手待ち</a:t>
                      </a:r>
                    </a:p>
                  </a:txBody>
                  <a:tcPr/>
                </a:tc>
                <a:tc>
                  <a:txBody>
                    <a:bodyPr/>
                    <a:lstStyle/>
                    <a:p>
                      <a:r>
                        <a:rPr kumimoji="1" lang="ja-JP" altLang="en-US" sz="1800" dirty="0"/>
                        <a:t>自動化で見ているだけ。設備故障で作業ができない。</a:t>
                      </a:r>
                    </a:p>
                  </a:txBody>
                  <a:tcPr/>
                </a:tc>
                <a:extLst>
                  <a:ext uri="{0D108BD9-81ED-4DB2-BD59-A6C34878D82A}">
                    <a16:rowId xmlns:a16="http://schemas.microsoft.com/office/drawing/2014/main" val="3253784482"/>
                  </a:ext>
                </a:extLst>
              </a:tr>
              <a:tr h="604661">
                <a:tc>
                  <a:txBody>
                    <a:bodyPr/>
                    <a:lstStyle/>
                    <a:p>
                      <a:r>
                        <a:rPr kumimoji="1" lang="ja-JP" altLang="en-US" sz="1800" dirty="0"/>
                        <a:t>③運搬</a:t>
                      </a:r>
                    </a:p>
                  </a:txBody>
                  <a:tcPr/>
                </a:tc>
                <a:tc>
                  <a:txBody>
                    <a:bodyPr/>
                    <a:lstStyle/>
                    <a:p>
                      <a:r>
                        <a:rPr kumimoji="1" lang="ja-JP" altLang="en-US" sz="1800" dirty="0"/>
                        <a:t>必要以上の運搬距離。仮置き。分割（</a:t>
                      </a:r>
                      <a:r>
                        <a:rPr kumimoji="1" lang="en-US" altLang="ja-JP" sz="1800" dirty="0"/>
                        <a:t>2</a:t>
                      </a:r>
                      <a:r>
                        <a:rPr kumimoji="1" lang="ja-JP" altLang="en-US" sz="1800" dirty="0"/>
                        <a:t>回以上）運搬。</a:t>
                      </a:r>
                    </a:p>
                  </a:txBody>
                  <a:tcPr/>
                </a:tc>
                <a:extLst>
                  <a:ext uri="{0D108BD9-81ED-4DB2-BD59-A6C34878D82A}">
                    <a16:rowId xmlns:a16="http://schemas.microsoft.com/office/drawing/2014/main" val="3576225612"/>
                  </a:ext>
                </a:extLst>
              </a:tr>
              <a:tr h="604661">
                <a:tc>
                  <a:txBody>
                    <a:bodyPr/>
                    <a:lstStyle/>
                    <a:p>
                      <a:r>
                        <a:rPr kumimoji="1" lang="ja-JP" altLang="en-US" sz="1800" dirty="0"/>
                        <a:t>④加工</a:t>
                      </a:r>
                    </a:p>
                  </a:txBody>
                  <a:tcPr/>
                </a:tc>
                <a:tc>
                  <a:txBody>
                    <a:bodyPr/>
                    <a:lstStyle/>
                    <a:p>
                      <a:r>
                        <a:rPr kumimoji="1" lang="ja-JP" altLang="en-US" sz="1800" dirty="0"/>
                        <a:t>作業速度が遅い。作業状態が不安定。</a:t>
                      </a:r>
                    </a:p>
                  </a:txBody>
                  <a:tcPr/>
                </a:tc>
                <a:extLst>
                  <a:ext uri="{0D108BD9-81ED-4DB2-BD59-A6C34878D82A}">
                    <a16:rowId xmlns:a16="http://schemas.microsoft.com/office/drawing/2014/main" val="499348665"/>
                  </a:ext>
                </a:extLst>
              </a:tr>
              <a:tr h="604661">
                <a:tc>
                  <a:txBody>
                    <a:bodyPr/>
                    <a:lstStyle/>
                    <a:p>
                      <a:r>
                        <a:rPr kumimoji="1" lang="ja-JP" altLang="en-US" sz="1800" dirty="0"/>
                        <a:t>➄在庫</a:t>
                      </a:r>
                    </a:p>
                  </a:txBody>
                  <a:tcPr/>
                </a:tc>
                <a:tc>
                  <a:txBody>
                    <a:bodyPr/>
                    <a:lstStyle/>
                    <a:p>
                      <a:r>
                        <a:rPr kumimoji="1" lang="ja-JP" altLang="en-US" sz="1800" dirty="0"/>
                        <a:t>倉庫費、運搬費などの管理費。製品の経時劣化。</a:t>
                      </a:r>
                    </a:p>
                  </a:txBody>
                  <a:tcPr/>
                </a:tc>
                <a:extLst>
                  <a:ext uri="{0D108BD9-81ED-4DB2-BD59-A6C34878D82A}">
                    <a16:rowId xmlns:a16="http://schemas.microsoft.com/office/drawing/2014/main" val="3874321966"/>
                  </a:ext>
                </a:extLst>
              </a:tr>
              <a:tr h="604661">
                <a:tc>
                  <a:txBody>
                    <a:bodyPr/>
                    <a:lstStyle/>
                    <a:p>
                      <a:r>
                        <a:rPr kumimoji="1" lang="ja-JP" altLang="en-US" sz="1800" dirty="0"/>
                        <a:t>⑥動作</a:t>
                      </a:r>
                    </a:p>
                  </a:txBody>
                  <a:tcPr/>
                </a:tc>
                <a:tc>
                  <a:txBody>
                    <a:bodyPr/>
                    <a:lstStyle/>
                    <a:p>
                      <a:r>
                        <a:rPr kumimoji="1" lang="ja-JP" altLang="en-US" sz="1800" dirty="0"/>
                        <a:t>歩行や材料、治工具の取り置き。無理な作業姿勢や判断によるロス。</a:t>
                      </a:r>
                    </a:p>
                  </a:txBody>
                  <a:tcPr/>
                </a:tc>
                <a:extLst>
                  <a:ext uri="{0D108BD9-81ED-4DB2-BD59-A6C34878D82A}">
                    <a16:rowId xmlns:a16="http://schemas.microsoft.com/office/drawing/2014/main" val="3979564505"/>
                  </a:ext>
                </a:extLst>
              </a:tr>
              <a:tr h="604661">
                <a:tc>
                  <a:txBody>
                    <a:bodyPr/>
                    <a:lstStyle/>
                    <a:p>
                      <a:r>
                        <a:rPr kumimoji="1" lang="ja-JP" altLang="en-US" sz="1800" dirty="0"/>
                        <a:t>⑦不良</a:t>
                      </a:r>
                    </a:p>
                  </a:txBody>
                  <a:tcPr/>
                </a:tc>
                <a:tc>
                  <a:txBody>
                    <a:bodyPr/>
                    <a:lstStyle/>
                    <a:p>
                      <a:r>
                        <a:rPr kumimoji="1" lang="ja-JP" altLang="en-US" sz="1800" dirty="0"/>
                        <a:t>材料、部品及び工数のムダ。</a:t>
                      </a:r>
                    </a:p>
                  </a:txBody>
                  <a:tcPr/>
                </a:tc>
                <a:extLst>
                  <a:ext uri="{0D108BD9-81ED-4DB2-BD59-A6C34878D82A}">
                    <a16:rowId xmlns:a16="http://schemas.microsoft.com/office/drawing/2014/main" val="4011342158"/>
                  </a:ext>
                </a:extLst>
              </a:tr>
            </a:tbl>
          </a:graphicData>
        </a:graphic>
      </p:graphicFrame>
    </p:spTree>
    <p:extLst>
      <p:ext uri="{BB962C8B-B14F-4D97-AF65-F5344CB8AC3E}">
        <p14:creationId xmlns:p14="http://schemas.microsoft.com/office/powerpoint/2010/main" val="37011118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10000"/>
              </a:lnSpc>
              <a:buNone/>
            </a:pPr>
            <a:r>
              <a:rPr lang="ja-JP" altLang="en-US" sz="2000" dirty="0" smtClean="0"/>
              <a:t>①次のために必要な環境を明確に</a:t>
            </a:r>
            <a:r>
              <a:rPr lang="ja-JP" altLang="en-US" sz="2000" dirty="0" err="1" smtClean="0"/>
              <a:t>し提</a:t>
            </a:r>
            <a:r>
              <a:rPr lang="ja-JP" altLang="en-US" sz="2000" dirty="0" smtClean="0"/>
              <a:t>供し、維持する。</a:t>
            </a:r>
            <a:endParaRPr lang="en-US" altLang="ja-JP" sz="2000" dirty="0" smtClean="0"/>
          </a:p>
          <a:p>
            <a:pPr marL="0" indent="0">
              <a:lnSpc>
                <a:spcPct val="110000"/>
              </a:lnSpc>
              <a:buNone/>
            </a:pPr>
            <a:r>
              <a:rPr lang="ja-JP" altLang="en-US" sz="2000" dirty="0" smtClean="0"/>
              <a:t>　</a:t>
            </a:r>
            <a:r>
              <a:rPr lang="en-US" altLang="ja-JP" sz="2000" dirty="0" smtClean="0"/>
              <a:t>a)</a:t>
            </a:r>
            <a:r>
              <a:rPr lang="ja-JP" altLang="en-US" sz="2000" dirty="0" smtClean="0"/>
              <a:t>プロセスの運用　</a:t>
            </a:r>
            <a:endParaRPr lang="en-US" altLang="ja-JP" sz="2000" dirty="0" smtClean="0"/>
          </a:p>
          <a:p>
            <a:pPr marL="0" indent="0">
              <a:lnSpc>
                <a:spcPct val="110000"/>
              </a:lnSpc>
              <a:buNone/>
            </a:pPr>
            <a:r>
              <a:rPr lang="ja-JP" altLang="en-US" sz="2000" dirty="0" smtClean="0"/>
              <a:t>　</a:t>
            </a:r>
            <a:r>
              <a:rPr lang="en-US" altLang="ja-JP" sz="2000" dirty="0" smtClean="0"/>
              <a:t>b)</a:t>
            </a:r>
            <a:r>
              <a:rPr lang="ja-JP" altLang="en-US" sz="2000" dirty="0" smtClean="0"/>
              <a:t>製品・サービスの適合</a:t>
            </a:r>
            <a:endParaRPr lang="en-US" altLang="ja-JP" sz="2000" dirty="0" smtClean="0"/>
          </a:p>
          <a:p>
            <a:pPr marL="0" indent="0">
              <a:lnSpc>
                <a:spcPct val="110000"/>
              </a:lnSpc>
              <a:buNone/>
            </a:pPr>
            <a:r>
              <a:rPr lang="ja-JP" altLang="en-US" sz="2000" dirty="0" smtClean="0"/>
              <a:t>②注記　適切な環境は、次のような人的・物理的要因の組合せがありうる。</a:t>
            </a:r>
            <a:endParaRPr lang="en-US" altLang="ja-JP" sz="2000" dirty="0" smtClean="0"/>
          </a:p>
          <a:p>
            <a:pPr marL="0" indent="0">
              <a:lnSpc>
                <a:spcPct val="110000"/>
              </a:lnSpc>
              <a:buNone/>
            </a:pPr>
            <a:r>
              <a:rPr lang="ja-JP" altLang="en-US" sz="2000" dirty="0" smtClean="0"/>
              <a:t>　</a:t>
            </a:r>
            <a:r>
              <a:rPr lang="en-US" altLang="ja-JP" sz="2000" dirty="0" smtClean="0"/>
              <a:t>a)</a:t>
            </a:r>
            <a:r>
              <a:rPr lang="ja-JP" altLang="en-US" sz="2000" dirty="0" smtClean="0"/>
              <a:t>社会的要因（例　非差別的、半隠、非対立的）</a:t>
            </a:r>
            <a:endParaRPr lang="en-US" altLang="ja-JP" sz="2000" dirty="0" smtClean="0"/>
          </a:p>
          <a:p>
            <a:pPr marL="0" indent="0">
              <a:lnSpc>
                <a:spcPct val="110000"/>
              </a:lnSpc>
              <a:buNone/>
            </a:pPr>
            <a:r>
              <a:rPr lang="ja-JP" altLang="en-US" sz="2000" dirty="0" smtClean="0"/>
              <a:t>　</a:t>
            </a:r>
            <a:r>
              <a:rPr lang="en-US" altLang="ja-JP" sz="2000" dirty="0" smtClean="0"/>
              <a:t>b)</a:t>
            </a:r>
            <a:r>
              <a:rPr lang="ja-JP" altLang="en-US" sz="2000" dirty="0" smtClean="0"/>
              <a:t>心理的要因（例　ストレス軽減、燃え尽き症候群防止、心のケア）</a:t>
            </a:r>
            <a:endParaRPr lang="en-US" altLang="ja-JP" sz="2000" dirty="0" smtClean="0"/>
          </a:p>
          <a:p>
            <a:pPr marL="0" indent="0">
              <a:lnSpc>
                <a:spcPct val="110000"/>
              </a:lnSpc>
              <a:buNone/>
            </a:pPr>
            <a:r>
              <a:rPr lang="ja-JP" altLang="en-US" sz="2000" dirty="0" smtClean="0"/>
              <a:t>　</a:t>
            </a:r>
            <a:r>
              <a:rPr lang="en-US" altLang="ja-JP" sz="2000" dirty="0" smtClean="0"/>
              <a:t>c)</a:t>
            </a:r>
            <a:r>
              <a:rPr lang="ja-JP" altLang="en-US" sz="2000" dirty="0" smtClean="0"/>
              <a:t>物理的要因（例　気温・熱・温度・光・気流・衛生状態・騒音）</a:t>
            </a:r>
            <a:endParaRPr lang="en-US" altLang="ja-JP" sz="2000" dirty="0" smtClean="0"/>
          </a:p>
          <a:p>
            <a:pPr marL="0" indent="0">
              <a:lnSpc>
                <a:spcPct val="110000"/>
              </a:lnSpc>
              <a:buNone/>
            </a:pPr>
            <a:r>
              <a:rPr lang="ja-JP" altLang="en-US" sz="2000" dirty="0" smtClean="0"/>
              <a:t>③これらの要因は、提供する製品・サービスによって異なる。</a:t>
            </a:r>
            <a:endParaRPr lang="en-US" altLang="ja-JP" sz="2000" dirty="0" smtClean="0"/>
          </a:p>
          <a:p>
            <a:pPr marL="0" indent="0">
              <a:lnSpc>
                <a:spcPct val="110000"/>
              </a:lnSpc>
              <a:buNone/>
            </a:pPr>
            <a:r>
              <a:rPr lang="ja-JP" altLang="en-US" sz="2000" dirty="0" smtClean="0"/>
              <a:t>④注記　</a:t>
            </a:r>
            <a:r>
              <a:rPr lang="en-US" altLang="ja-JP" sz="2000" dirty="0" smtClean="0"/>
              <a:t>ISO45001</a:t>
            </a:r>
            <a:r>
              <a:rPr lang="ja-JP" altLang="en-US" sz="2000" dirty="0" smtClean="0"/>
              <a:t>（労働安全衛生マネジメントシステム、またはそれに相当するもの）へ</a:t>
            </a:r>
            <a:endParaRPr lang="en-US" altLang="ja-JP" sz="2000" dirty="0" smtClean="0"/>
          </a:p>
          <a:p>
            <a:pPr marL="0" indent="0">
              <a:lnSpc>
                <a:spcPct val="110000"/>
              </a:lnSpc>
              <a:buNone/>
            </a:pPr>
            <a:r>
              <a:rPr lang="ja-JP" altLang="en-US" sz="2000" dirty="0"/>
              <a:t>　</a:t>
            </a:r>
            <a:r>
              <a:rPr lang="ja-JP" altLang="en-US" sz="2000" dirty="0" smtClean="0"/>
              <a:t>の第三者認証は、この要求事項の要員安全の側面に対する組織の適合を実証するために　</a:t>
            </a:r>
            <a:endParaRPr lang="en-US" altLang="ja-JP" sz="2000" dirty="0" smtClean="0"/>
          </a:p>
          <a:p>
            <a:pPr marL="0" indent="0">
              <a:lnSpc>
                <a:spcPct val="110000"/>
              </a:lnSpc>
              <a:buNone/>
            </a:pPr>
            <a:r>
              <a:rPr lang="ja-JP" altLang="en-US" sz="2000"/>
              <a:t>　</a:t>
            </a:r>
            <a:r>
              <a:rPr lang="ja-JP" altLang="en-US" sz="2000" smtClean="0"/>
              <a:t>用いて</a:t>
            </a:r>
            <a:r>
              <a:rPr lang="ja-JP" altLang="en-US" sz="2000" dirty="0" smtClean="0"/>
              <a:t>もよい。</a:t>
            </a: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7.1.4</a:t>
            </a:r>
            <a:r>
              <a:rPr kumimoji="1" lang="ja-JP" altLang="en-US" sz="3000" b="1" dirty="0" smtClean="0">
                <a:solidFill>
                  <a:schemeClr val="tx2"/>
                </a:solidFill>
              </a:rPr>
              <a:t>　プロセスの運用に関する環境</a:t>
            </a:r>
            <a:r>
              <a:rPr kumimoji="1" lang="ja-JP" altLang="en-US" sz="3000" b="1" dirty="0">
                <a:solidFill>
                  <a:schemeClr val="tx2"/>
                </a:solidFill>
              </a:rPr>
              <a:t>　</a:t>
            </a:r>
            <a:r>
              <a:rPr lang="ja-JP" altLang="en-US" sz="3000" b="1" dirty="0" smtClean="0">
                <a:solidFill>
                  <a:schemeClr val="tx2"/>
                </a:solidFill>
              </a:rPr>
              <a:t>（岩波氏）</a:t>
            </a:r>
            <a:endParaRPr kumimoji="1" lang="ja-JP" altLang="en-US" sz="3000" b="1" dirty="0">
              <a:solidFill>
                <a:schemeClr val="tx2"/>
              </a:solidFill>
            </a:endParaRPr>
          </a:p>
        </p:txBody>
      </p:sp>
    </p:spTree>
    <p:extLst>
      <p:ext uri="{BB962C8B-B14F-4D97-AF65-F5344CB8AC3E}">
        <p14:creationId xmlns:p14="http://schemas.microsoft.com/office/powerpoint/2010/main" val="300218127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10000"/>
              </a:lnSpc>
              <a:buNone/>
            </a:pPr>
            <a:r>
              <a:rPr lang="en-US" altLang="ja-JP" sz="2000" u="sng" dirty="0"/>
              <a:t>ISO45001</a:t>
            </a:r>
            <a:r>
              <a:rPr lang="ja-JP" altLang="en-US" sz="2000" u="sng" dirty="0"/>
              <a:t>（又はそれに相当するもの）</a:t>
            </a:r>
            <a:r>
              <a:rPr lang="ja-JP" altLang="en-US" sz="2000" dirty="0"/>
              <a:t>への第三者認証が承認されれば、この要求事項の</a:t>
            </a:r>
            <a:r>
              <a:rPr lang="ja-JP" altLang="en-US" sz="2000" u="sng" dirty="0"/>
              <a:t>要員安全の側面に対する組織の適合を実証</a:t>
            </a:r>
            <a:r>
              <a:rPr lang="ja-JP" altLang="en-US" sz="2000" dirty="0"/>
              <a:t>するために用いてもよい。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7.1.4</a:t>
            </a:r>
            <a:r>
              <a:rPr kumimoji="1" lang="ja-JP" altLang="en-US" sz="3000" b="1" dirty="0">
                <a:solidFill>
                  <a:schemeClr val="tx2"/>
                </a:solidFill>
              </a:rPr>
              <a:t>　（注記）</a:t>
            </a:r>
          </a:p>
        </p:txBody>
      </p:sp>
    </p:spTree>
    <p:extLst>
      <p:ext uri="{BB962C8B-B14F-4D97-AF65-F5344CB8AC3E}">
        <p14:creationId xmlns:p14="http://schemas.microsoft.com/office/powerpoint/2010/main" val="287115871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99142"/>
            <a:ext cx="10515600" cy="854074"/>
          </a:xfrm>
          <a:ln w="12700">
            <a:solidFill>
              <a:schemeClr val="tx2"/>
            </a:solidFill>
          </a:ln>
        </p:spPr>
        <p:txBody>
          <a:bodyPr>
            <a:noAutofit/>
          </a:bodyPr>
          <a:lstStyle/>
          <a:p>
            <a:pPr marL="0" indent="0">
              <a:lnSpc>
                <a:spcPct val="100000"/>
              </a:lnSpc>
              <a:buNone/>
            </a:pPr>
            <a:r>
              <a:rPr lang="ja-JP" altLang="en-US" sz="2000" dirty="0"/>
              <a:t>☑組織は、製品及び製造工程のニーズに合わせて、事業所を整頓され清潔で手入れされた状態に維持しなければならない。</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7.1.4.1</a:t>
            </a:r>
            <a:r>
              <a:rPr kumimoji="1" lang="ja-JP" altLang="en-US" sz="3000" b="1" dirty="0">
                <a:solidFill>
                  <a:schemeClr val="tx2"/>
                </a:solidFill>
              </a:rPr>
              <a:t>　プロセスの運用に関する環境－補足</a:t>
            </a:r>
          </a:p>
        </p:txBody>
      </p:sp>
      <p:sp>
        <p:nvSpPr>
          <p:cNvPr id="6" name="タイトル 1">
            <a:extLst>
              <a:ext uri="{FF2B5EF4-FFF2-40B4-BE49-F238E27FC236}">
                <a16:creationId xmlns:a16="http://schemas.microsoft.com/office/drawing/2014/main" id="{9914E99F-7848-4A00-9EB6-D706CBF0F552}"/>
              </a:ext>
            </a:extLst>
          </p:cNvPr>
          <p:cNvSpPr txBox="1">
            <a:spLocks/>
          </p:cNvSpPr>
          <p:nvPr/>
        </p:nvSpPr>
        <p:spPr>
          <a:xfrm>
            <a:off x="838200" y="2574926"/>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7.1.4.1</a:t>
            </a:r>
            <a:r>
              <a:rPr lang="ja-JP" altLang="en-US" sz="3000" b="1" dirty="0">
                <a:solidFill>
                  <a:schemeClr val="bg1"/>
                </a:solidFill>
              </a:rPr>
              <a:t>　プロセスの運用に関する環境－補足</a:t>
            </a:r>
          </a:p>
        </p:txBody>
      </p:sp>
      <p:sp>
        <p:nvSpPr>
          <p:cNvPr id="8" name="コンテンツ プレースホルダー 2">
            <a:extLst>
              <a:ext uri="{FF2B5EF4-FFF2-40B4-BE49-F238E27FC236}">
                <a16:creationId xmlns:a16="http://schemas.microsoft.com/office/drawing/2014/main" id="{EEB3763D-86DC-492E-832D-788DCD7FF545}"/>
              </a:ext>
            </a:extLst>
          </p:cNvPr>
          <p:cNvSpPr txBox="1">
            <a:spLocks/>
          </p:cNvSpPr>
          <p:nvPr/>
        </p:nvSpPr>
        <p:spPr>
          <a:xfrm>
            <a:off x="838200" y="3613533"/>
            <a:ext cx="10515600" cy="2742817"/>
          </a:xfrm>
          <a:prstGeom prst="rect">
            <a:avLst/>
          </a:prstGeom>
          <a:ln w="12700">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lt"/>
              <a:buAutoNum type="arabicPeriod"/>
            </a:pPr>
            <a:r>
              <a:rPr lang="ja-JP" altLang="en-US" sz="2400" dirty="0"/>
              <a:t>基本的には</a:t>
            </a:r>
            <a:r>
              <a:rPr lang="en-US" altLang="ja-JP" sz="2400" dirty="0"/>
              <a:t>ISO9001:2015</a:t>
            </a:r>
            <a:r>
              <a:rPr lang="ja-JP" altLang="en-US" sz="2400" dirty="0"/>
              <a:t>　</a:t>
            </a:r>
            <a:r>
              <a:rPr lang="en-US" altLang="ja-JP" sz="2400" dirty="0"/>
              <a:t>7.1.4</a:t>
            </a:r>
            <a:r>
              <a:rPr lang="ja-JP" altLang="en-US" sz="2400" dirty="0"/>
              <a:t>に対する対応で充足する。</a:t>
            </a:r>
            <a:endParaRPr lang="en-US" altLang="ja-JP" sz="2400" dirty="0"/>
          </a:p>
          <a:p>
            <a:pPr lvl="1">
              <a:buFont typeface="Wingdings" panose="05000000000000000000" pitchFamily="2" charset="2"/>
              <a:buChar char="Ø"/>
            </a:pPr>
            <a:r>
              <a:rPr lang="ja-JP" altLang="en-US" dirty="0"/>
              <a:t>「５Ｓ」を起点とした環境整備。</a:t>
            </a:r>
            <a:endParaRPr lang="en-US" altLang="ja-JP" dirty="0"/>
          </a:p>
          <a:p>
            <a:pPr marL="514350" indent="-514350">
              <a:buFont typeface="+mj-lt"/>
              <a:buAutoNum type="arabicPeriod"/>
            </a:pPr>
            <a:r>
              <a:rPr lang="en-US" altLang="ja-JP" sz="2400" dirty="0">
                <a:solidFill>
                  <a:srgbClr val="FF0000"/>
                </a:solidFill>
                <a:effectLst>
                  <a:outerShdw blurRad="38100" dist="38100" dir="2700000" algn="tl">
                    <a:srgbClr val="000000">
                      <a:alpha val="43137"/>
                    </a:srgbClr>
                  </a:outerShdw>
                </a:effectLst>
              </a:rPr>
              <a:t>7.1.3.1</a:t>
            </a:r>
            <a:r>
              <a:rPr lang="ja-JP" altLang="en-US" sz="2400" dirty="0">
                <a:solidFill>
                  <a:srgbClr val="FF0000"/>
                </a:solidFill>
                <a:effectLst>
                  <a:outerShdw blurRad="38100" dist="38100" dir="2700000" algn="tl">
                    <a:srgbClr val="000000">
                      <a:alpha val="43137"/>
                    </a:srgbClr>
                  </a:outerShdw>
                </a:effectLst>
              </a:rPr>
              <a:t>との関連性は高い。</a:t>
            </a:r>
            <a:r>
              <a:rPr lang="ja-JP" altLang="en-US" sz="2400" dirty="0"/>
              <a:t>➠　工場レイアウトの一部としての環境整備。</a:t>
            </a:r>
            <a:endParaRPr lang="en-US" altLang="ja-JP" sz="2400" dirty="0"/>
          </a:p>
          <a:p>
            <a:pPr marL="514350" indent="-514350">
              <a:buFont typeface="+mj-lt"/>
              <a:buAutoNum type="arabicPeriod"/>
            </a:pPr>
            <a:r>
              <a:rPr lang="en-US" altLang="ja-JP" sz="2400" dirty="0"/>
              <a:t>ISO/TS16949</a:t>
            </a:r>
            <a:r>
              <a:rPr lang="ja-JP" altLang="en-US" sz="2400" dirty="0"/>
              <a:t>付属書</a:t>
            </a:r>
            <a:r>
              <a:rPr lang="en-US" altLang="ja-JP" sz="2400" dirty="0"/>
              <a:t>F</a:t>
            </a:r>
            <a:r>
              <a:rPr lang="ja-JP" altLang="en-US" sz="2400" dirty="0"/>
              <a:t>ガイダンス</a:t>
            </a:r>
            <a:r>
              <a:rPr lang="en-US" altLang="ja-JP" sz="2400" dirty="0"/>
              <a:t>6.4.2</a:t>
            </a:r>
            <a:r>
              <a:rPr lang="ja-JP" altLang="en-US" sz="2400" dirty="0"/>
              <a:t>　実施例。</a:t>
            </a:r>
            <a:endParaRPr lang="en-US" altLang="ja-JP" sz="2400" dirty="0"/>
          </a:p>
          <a:p>
            <a:pPr lvl="1"/>
            <a:r>
              <a:rPr lang="ja-JP" altLang="en-US" sz="2000" dirty="0"/>
              <a:t>適切な廃棄条件、適切な保管条件</a:t>
            </a:r>
            <a:endParaRPr lang="en-US" altLang="ja-JP" sz="2000" dirty="0"/>
          </a:p>
          <a:p>
            <a:pPr lvl="1"/>
            <a:r>
              <a:rPr lang="ja-JP" altLang="en-US" sz="2000" dirty="0"/>
              <a:t>清潔で、汚損を与えない輸送、運搬及び操作</a:t>
            </a:r>
            <a:endParaRPr lang="en-US" altLang="ja-JP" sz="2000" dirty="0"/>
          </a:p>
          <a:p>
            <a:pPr lvl="1"/>
            <a:r>
              <a:rPr lang="ja-JP" altLang="en-US" sz="2000" dirty="0"/>
              <a:t>清潔で、明るく、整理された作業場など／整理及び清潔に関する責任の所在</a:t>
            </a:r>
            <a:endParaRPr lang="en-US" altLang="ja-JP" sz="2000" dirty="0"/>
          </a:p>
          <a:p>
            <a:pPr marL="457200" lvl="1" indent="0">
              <a:buNone/>
            </a:pPr>
            <a:endParaRPr lang="en-US" altLang="ja-JP" dirty="0"/>
          </a:p>
        </p:txBody>
      </p:sp>
    </p:spTree>
    <p:extLst>
      <p:ext uri="{BB962C8B-B14F-4D97-AF65-F5344CB8AC3E}">
        <p14:creationId xmlns:p14="http://schemas.microsoft.com/office/powerpoint/2010/main" val="280962240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139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☑コントロールプランに特定されている各種の検査、測定及び試験設備システムの結果に存在するばらつきを解析するために、</a:t>
            </a:r>
            <a:r>
              <a:rPr lang="ja-JP" altLang="en-US" sz="2000" u="sng" dirty="0"/>
              <a:t>統計的調査を実施しなければならない。</a:t>
            </a:r>
            <a:endParaRPr lang="en-US" altLang="ja-JP" sz="2000" u="sng" dirty="0"/>
          </a:p>
          <a:p>
            <a:pPr marL="0" indent="0">
              <a:lnSpc>
                <a:spcPct val="100000"/>
              </a:lnSpc>
              <a:buNone/>
            </a:pPr>
            <a:r>
              <a:rPr lang="ja-JP" altLang="en-US" sz="2000" dirty="0"/>
              <a:t>☑</a:t>
            </a:r>
            <a:r>
              <a:rPr lang="ja-JP" altLang="en-US" sz="2000" u="sng" dirty="0"/>
              <a:t>使用する解析方法及び合否判定基準は、測定システム解析に関するレファレンスマニュアルに適合しなければならない。顧客が承認した場合は、他の解析方法及び合否判定基準を使用してもよい。</a:t>
            </a:r>
            <a:endParaRPr lang="en-US" altLang="ja-JP" sz="2000" u="sng" dirty="0"/>
          </a:p>
          <a:p>
            <a:pPr marL="0" indent="0">
              <a:lnSpc>
                <a:spcPct val="100000"/>
              </a:lnSpc>
              <a:buNone/>
            </a:pPr>
            <a:r>
              <a:rPr lang="ja-JP" altLang="en-US" sz="2000" dirty="0"/>
              <a:t>☑代替方法に対する顧客承諾の記録は、代替の測定システム解析の結果とともに保持しなければならない。（</a:t>
            </a:r>
            <a:r>
              <a:rPr lang="en-US" altLang="ja-JP" sz="2000" dirty="0"/>
              <a:t>9.1.1.1</a:t>
            </a:r>
            <a:r>
              <a:rPr lang="ja-JP" altLang="en-US" sz="2000" dirty="0"/>
              <a:t>参照）</a:t>
            </a:r>
            <a:endParaRPr lang="en-US" altLang="ja-JP" sz="2000" dirty="0"/>
          </a:p>
          <a:p>
            <a:pPr marL="0" indent="0">
              <a:lnSpc>
                <a:spcPct val="100000"/>
              </a:lnSpc>
              <a:buNone/>
            </a:pPr>
            <a:r>
              <a:rPr lang="ja-JP" altLang="en-US" sz="2000" dirty="0"/>
              <a:t>　注記　</a:t>
            </a:r>
            <a:r>
              <a:rPr lang="en-US" altLang="ja-JP" sz="2000" dirty="0"/>
              <a:t>MSA</a:t>
            </a:r>
            <a:r>
              <a:rPr lang="ja-JP" altLang="en-US" sz="2000" dirty="0"/>
              <a:t>調査の優先順位は、製品若しくは工程の</a:t>
            </a:r>
            <a:r>
              <a:rPr lang="ja-JP" altLang="en-US" sz="2000" u="sng" dirty="0"/>
              <a:t>重大特性又は特殊特性を重視することが望ましい。</a:t>
            </a:r>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7.1.5.1.1</a:t>
            </a:r>
            <a:r>
              <a:rPr lang="ja-JP" altLang="en-US" sz="3000" b="1" dirty="0">
                <a:solidFill>
                  <a:schemeClr val="tx2"/>
                </a:solidFill>
              </a:rPr>
              <a:t>　測定システム解析</a:t>
            </a:r>
            <a:endParaRPr kumimoji="1" lang="ja-JP" altLang="en-US" sz="3000" b="1" dirty="0">
              <a:solidFill>
                <a:schemeClr val="tx2"/>
              </a:solidFill>
            </a:endParaRPr>
          </a:p>
        </p:txBody>
      </p:sp>
    </p:spTree>
    <p:extLst>
      <p:ext uri="{BB962C8B-B14F-4D97-AF65-F5344CB8AC3E}">
        <p14:creationId xmlns:p14="http://schemas.microsoft.com/office/powerpoint/2010/main" val="345111196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endParaRPr lang="en-US" altLang="ja-JP" sz="24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7.1.5.1.1</a:t>
            </a:r>
            <a:r>
              <a:rPr lang="ja-JP" altLang="en-US" sz="3000" b="1" dirty="0">
                <a:solidFill>
                  <a:schemeClr val="bg1"/>
                </a:solidFill>
              </a:rPr>
              <a:t>　測定システム解析</a:t>
            </a:r>
            <a:endParaRPr kumimoji="1" lang="ja-JP" altLang="en-US" sz="3000" b="1" dirty="0">
              <a:solidFill>
                <a:schemeClr val="bg1"/>
              </a:solidFill>
            </a:endParaRPr>
          </a:p>
        </p:txBody>
      </p:sp>
      <p:pic>
        <p:nvPicPr>
          <p:cNvPr id="7" name="図 6">
            <a:extLst>
              <a:ext uri="{FF2B5EF4-FFF2-40B4-BE49-F238E27FC236}">
                <a16:creationId xmlns:a16="http://schemas.microsoft.com/office/drawing/2014/main" id="{BB8973E8-CF08-4CD2-B528-03DDFA88284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 xmlns:a1611="http://schemas.microsoft.com/office/drawing/2016/11/main" r:id="rId3"/>
              </a:ext>
            </a:extLst>
          </a:blip>
          <a:stretch>
            <a:fillRect/>
          </a:stretch>
        </p:blipFill>
        <p:spPr>
          <a:xfrm>
            <a:off x="838199" y="3919311"/>
            <a:ext cx="3105839" cy="2279101"/>
          </a:xfrm>
          <a:prstGeom prst="rect">
            <a:avLst/>
          </a:prstGeom>
        </p:spPr>
      </p:pic>
      <p:pic>
        <p:nvPicPr>
          <p:cNvPr id="11" name="図 10">
            <a:extLst>
              <a:ext uri="{FF2B5EF4-FFF2-40B4-BE49-F238E27FC236}">
                <a16:creationId xmlns:a16="http://schemas.microsoft.com/office/drawing/2014/main" id="{54A97E3F-4979-45F6-B634-BEC209DE708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 xmlns:a1611="http://schemas.microsoft.com/office/drawing/2016/11/main" r:id="rId5"/>
              </a:ext>
            </a:extLst>
          </a:blip>
          <a:stretch>
            <a:fillRect/>
          </a:stretch>
        </p:blipFill>
        <p:spPr>
          <a:xfrm>
            <a:off x="838199" y="1482273"/>
            <a:ext cx="3105839" cy="2279101"/>
          </a:xfrm>
          <a:prstGeom prst="rect">
            <a:avLst/>
          </a:prstGeom>
        </p:spPr>
      </p:pic>
      <p:sp>
        <p:nvSpPr>
          <p:cNvPr id="13" name="四角形: 角を丸くする 12">
            <a:extLst>
              <a:ext uri="{FF2B5EF4-FFF2-40B4-BE49-F238E27FC236}">
                <a16:creationId xmlns:a16="http://schemas.microsoft.com/office/drawing/2014/main" id="{C123380A-406B-473E-9AD9-F95B4E452CC8}"/>
              </a:ext>
            </a:extLst>
          </p:cNvPr>
          <p:cNvSpPr/>
          <p:nvPr/>
        </p:nvSpPr>
        <p:spPr>
          <a:xfrm>
            <a:off x="4131325" y="1482274"/>
            <a:ext cx="7222475" cy="469819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2400" b="1" u="sng" dirty="0">
                <a:solidFill>
                  <a:schemeClr val="tx1"/>
                </a:solidFill>
              </a:rPr>
              <a:t>「測定システム」とは</a:t>
            </a:r>
            <a:endParaRPr kumimoji="1" lang="en-US" altLang="ja-JP" sz="2400" b="1" u="sng" dirty="0">
              <a:solidFill>
                <a:schemeClr val="tx1"/>
              </a:solidFill>
            </a:endParaRPr>
          </a:p>
          <a:p>
            <a:pPr algn="ctr"/>
            <a:endParaRPr lang="en-US" altLang="ja-JP" dirty="0">
              <a:solidFill>
                <a:schemeClr val="tx1"/>
              </a:solidFill>
            </a:endParaRPr>
          </a:p>
          <a:p>
            <a:pPr algn="ctr"/>
            <a:r>
              <a:rPr kumimoji="1" lang="ja-JP" altLang="en-US" sz="2400" dirty="0">
                <a:solidFill>
                  <a:schemeClr val="tx1"/>
                </a:solidFill>
              </a:rPr>
              <a:t>測定単位を定量化するために、又は測定対象となっている主要な特性の評価を定めるために用いられる計器又はゲージ、標準（器）、要員、環境、及び前提条件を含めたもの。</a:t>
            </a:r>
            <a:endParaRPr kumimoji="1" lang="en-US" altLang="ja-JP" sz="2400" dirty="0">
              <a:solidFill>
                <a:schemeClr val="tx1"/>
              </a:solidFill>
            </a:endParaRPr>
          </a:p>
          <a:p>
            <a:pPr algn="ctr"/>
            <a:endParaRPr lang="en-US" altLang="ja-JP" sz="2400" dirty="0">
              <a:solidFill>
                <a:schemeClr val="tx1"/>
              </a:solidFill>
            </a:endParaRPr>
          </a:p>
          <a:p>
            <a:pPr algn="ctr"/>
            <a:endParaRPr kumimoji="1" lang="en-US" altLang="ja-JP" sz="2400" dirty="0">
              <a:solidFill>
                <a:schemeClr val="tx1"/>
              </a:solidFill>
            </a:endParaRPr>
          </a:p>
          <a:p>
            <a:pPr algn="ctr"/>
            <a:r>
              <a:rPr lang="ja-JP" altLang="en-US" sz="2400" dirty="0">
                <a:solidFill>
                  <a:srgbClr val="FF0000"/>
                </a:solidFill>
                <a:effectLst>
                  <a:outerShdw blurRad="38100" dist="38100" dir="2700000" algn="tl">
                    <a:srgbClr val="000000">
                      <a:alpha val="43137"/>
                    </a:srgbClr>
                  </a:outerShdw>
                </a:effectLst>
              </a:rPr>
              <a:t>測定値を得るために一連の完全なプロセス</a:t>
            </a:r>
            <a:endParaRPr lang="en-US" altLang="ja-JP" sz="2400" dirty="0">
              <a:solidFill>
                <a:srgbClr val="FF0000"/>
              </a:solidFill>
              <a:effectLst>
                <a:outerShdw blurRad="38100" dist="38100" dir="2700000" algn="tl">
                  <a:srgbClr val="000000">
                    <a:alpha val="43137"/>
                  </a:srgbClr>
                </a:outerShdw>
              </a:effectLst>
            </a:endParaRPr>
          </a:p>
          <a:p>
            <a:pPr algn="ctr"/>
            <a:r>
              <a:rPr kumimoji="1" lang="ja-JP" altLang="en-US" sz="2400" dirty="0">
                <a:solidFill>
                  <a:srgbClr val="FF0000"/>
                </a:solidFill>
                <a:effectLst>
                  <a:outerShdw blurRad="38100" dist="38100" dir="2700000" algn="tl">
                    <a:srgbClr val="000000">
                      <a:alpha val="43137"/>
                    </a:srgbClr>
                  </a:outerShdw>
                </a:effectLst>
              </a:rPr>
              <a:t>（測定に関係する様々な要素がある）</a:t>
            </a:r>
          </a:p>
        </p:txBody>
      </p:sp>
      <p:sp>
        <p:nvSpPr>
          <p:cNvPr id="14" name="矢印: 下 13">
            <a:extLst>
              <a:ext uri="{FF2B5EF4-FFF2-40B4-BE49-F238E27FC236}">
                <a16:creationId xmlns:a16="http://schemas.microsoft.com/office/drawing/2014/main" id="{581921A8-5D95-49BC-91AF-A0426C7DF742}"/>
              </a:ext>
            </a:extLst>
          </p:cNvPr>
          <p:cNvSpPr/>
          <p:nvPr/>
        </p:nvSpPr>
        <p:spPr>
          <a:xfrm>
            <a:off x="7158209" y="3961037"/>
            <a:ext cx="1168706" cy="542520"/>
          </a:xfrm>
          <a:prstGeom prst="downArrow">
            <a:avLst>
              <a:gd name="adj1" fmla="val 6696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23832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722564"/>
          </a:xfrm>
          <a:ln w="12700">
            <a:noFill/>
          </a:ln>
        </p:spPr>
        <p:txBody>
          <a:bodyPr>
            <a:normAutofit/>
          </a:bodyPr>
          <a:lstStyle/>
          <a:p>
            <a:pPr marL="0" indent="0">
              <a:buNone/>
            </a:pPr>
            <a:endParaRPr lang="en-US" altLang="ja-JP" sz="2400" dirty="0"/>
          </a:p>
          <a:p>
            <a:pPr marL="0" indent="0">
              <a:buNone/>
            </a:pPr>
            <a:endParaRPr lang="en-US" altLang="ja-JP" sz="2400" dirty="0"/>
          </a:p>
          <a:p>
            <a:pPr marL="0" indent="0">
              <a:buNone/>
            </a:pPr>
            <a:endParaRPr lang="en-US" altLang="ja-JP" sz="2400" dirty="0"/>
          </a:p>
          <a:p>
            <a:pPr marL="0" indent="0">
              <a:buNone/>
            </a:pPr>
            <a:endParaRPr lang="en-US" altLang="ja-JP" sz="2400" dirty="0"/>
          </a:p>
          <a:p>
            <a:pPr marL="0" indent="0">
              <a:buNone/>
            </a:pPr>
            <a:endParaRPr lang="en-US" altLang="ja-JP" sz="2400" dirty="0"/>
          </a:p>
          <a:p>
            <a:pPr marL="457200" indent="-457200">
              <a:buFont typeface="+mj-lt"/>
              <a:buAutoNum type="arabicPeriod"/>
            </a:pPr>
            <a:r>
              <a:rPr lang="ja-JP" altLang="en-US" sz="2400" dirty="0"/>
              <a:t>ＰＰＡＰによる要求（特殊特性優先／判定基準など）及びレファレンスマニュアル参照。</a:t>
            </a:r>
            <a:endParaRPr lang="en-US" altLang="ja-JP" sz="2400" dirty="0"/>
          </a:p>
          <a:p>
            <a:pPr marL="457200" indent="-457200">
              <a:buFont typeface="+mj-lt"/>
              <a:buAutoNum type="arabicPeriod"/>
            </a:pPr>
            <a:r>
              <a:rPr lang="ja-JP" altLang="en-US" sz="2400" dirty="0"/>
              <a:t>対象とする検査工程（測定機器及び試験装置）を決定する。</a:t>
            </a:r>
            <a:endParaRPr lang="en-US" altLang="ja-JP" sz="2400"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特殊特性及び顧客要求</a:t>
            </a:r>
            <a:r>
              <a:rPr lang="ja-JP" altLang="en-US" dirty="0"/>
              <a:t>による決定。</a:t>
            </a:r>
            <a:r>
              <a:rPr lang="ja-JP" altLang="en-US" sz="2000" dirty="0"/>
              <a:t>（“コントロールプランに特定された検査”　のため開発段階などは適用外。）</a:t>
            </a:r>
            <a:endParaRPr lang="en-US" altLang="ja-JP" sz="2000" dirty="0"/>
          </a:p>
          <a:p>
            <a:pPr lvl="1">
              <a:buFont typeface="Wingdings" panose="05000000000000000000" pitchFamily="2" charset="2"/>
              <a:buChar char="Ø"/>
            </a:pPr>
            <a:r>
              <a:rPr lang="ja-JP" altLang="en-US" dirty="0"/>
              <a:t>全機器ではなく代表機器で可。</a:t>
            </a:r>
            <a:r>
              <a:rPr lang="ja-JP" altLang="en-US" sz="2000" dirty="0"/>
              <a:t>（但し、対象のローテーションを考慮。）</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7.1.5.1.1</a:t>
            </a:r>
            <a:r>
              <a:rPr lang="ja-JP" altLang="en-US" sz="3000" b="1" dirty="0">
                <a:solidFill>
                  <a:schemeClr val="bg1"/>
                </a:solidFill>
              </a:rPr>
              <a:t>　測定システム解析</a:t>
            </a:r>
            <a:endParaRPr kumimoji="1" lang="ja-JP" altLang="en-US" sz="3000" b="1" dirty="0">
              <a:solidFill>
                <a:schemeClr val="bg1"/>
              </a:solidFill>
            </a:endParaRPr>
          </a:p>
        </p:txBody>
      </p:sp>
      <p:graphicFrame>
        <p:nvGraphicFramePr>
          <p:cNvPr id="7" name="表 6">
            <a:extLst>
              <a:ext uri="{FF2B5EF4-FFF2-40B4-BE49-F238E27FC236}">
                <a16:creationId xmlns:a16="http://schemas.microsoft.com/office/drawing/2014/main" id="{FEB4E53C-60C5-48E2-900F-54738CDB5456}"/>
              </a:ext>
            </a:extLst>
          </p:cNvPr>
          <p:cNvGraphicFramePr>
            <a:graphicFrameLocks noGrp="1"/>
          </p:cNvGraphicFramePr>
          <p:nvPr>
            <p:extLst>
              <p:ext uri="{D42A27DB-BD31-4B8C-83A1-F6EECF244321}">
                <p14:modId xmlns:p14="http://schemas.microsoft.com/office/powerpoint/2010/main" val="4145314983"/>
              </p:ext>
            </p:extLst>
          </p:nvPr>
        </p:nvGraphicFramePr>
        <p:xfrm>
          <a:off x="838200" y="1630494"/>
          <a:ext cx="10515600" cy="1994056"/>
        </p:xfrm>
        <a:graphic>
          <a:graphicData uri="http://schemas.openxmlformats.org/drawingml/2006/table">
            <a:tbl>
              <a:tblPr firstRow="1" bandRow="1">
                <a:tableStyleId>{5940675A-B579-460E-94D1-54222C63F5DA}</a:tableStyleId>
              </a:tblPr>
              <a:tblGrid>
                <a:gridCol w="3854986">
                  <a:extLst>
                    <a:ext uri="{9D8B030D-6E8A-4147-A177-3AD203B41FA5}">
                      <a16:colId xmlns:a16="http://schemas.microsoft.com/office/drawing/2014/main" val="634373418"/>
                    </a:ext>
                  </a:extLst>
                </a:gridCol>
                <a:gridCol w="3679633">
                  <a:extLst>
                    <a:ext uri="{9D8B030D-6E8A-4147-A177-3AD203B41FA5}">
                      <a16:colId xmlns:a16="http://schemas.microsoft.com/office/drawing/2014/main" val="2978827646"/>
                    </a:ext>
                  </a:extLst>
                </a:gridCol>
                <a:gridCol w="2980981">
                  <a:extLst>
                    <a:ext uri="{9D8B030D-6E8A-4147-A177-3AD203B41FA5}">
                      <a16:colId xmlns:a16="http://schemas.microsoft.com/office/drawing/2014/main" val="1567332473"/>
                    </a:ext>
                  </a:extLst>
                </a:gridCol>
              </a:tblGrid>
              <a:tr h="498514">
                <a:tc>
                  <a:txBody>
                    <a:bodyPr/>
                    <a:lstStyle/>
                    <a:p>
                      <a:r>
                        <a:rPr kumimoji="1" lang="ja-JP" altLang="en-US" sz="2400" dirty="0"/>
                        <a:t>国家標準に対する誤差</a:t>
                      </a:r>
                    </a:p>
                  </a:txBody>
                  <a:tcPr anchor="ctr" anchorCtr="1">
                    <a:solidFill>
                      <a:schemeClr val="tx2">
                        <a:lumMod val="20000"/>
                        <a:lumOff val="80000"/>
                      </a:schemeClr>
                    </a:solidFill>
                  </a:tcPr>
                </a:tc>
                <a:tc>
                  <a:txBody>
                    <a:bodyPr/>
                    <a:lstStyle/>
                    <a:p>
                      <a:r>
                        <a:rPr kumimoji="1" lang="ja-JP" altLang="en-US" sz="2400" dirty="0"/>
                        <a:t>校正</a:t>
                      </a:r>
                    </a:p>
                  </a:txBody>
                  <a:tcPr anchor="ctr" anchorCtr="1">
                    <a:solidFill>
                      <a:schemeClr val="tx2">
                        <a:lumMod val="20000"/>
                        <a:lumOff val="80000"/>
                      </a:schemeClr>
                    </a:solidFill>
                  </a:tcPr>
                </a:tc>
                <a:tc>
                  <a:txBody>
                    <a:bodyPr/>
                    <a:lstStyle/>
                    <a:p>
                      <a:r>
                        <a:rPr kumimoji="1" lang="ja-JP" altLang="en-US" sz="2400" dirty="0"/>
                        <a:t>箇条　</a:t>
                      </a:r>
                      <a:r>
                        <a:rPr kumimoji="1" lang="en-US" altLang="ja-JP" sz="2400" dirty="0"/>
                        <a:t>7.1.5.2</a:t>
                      </a:r>
                      <a:endParaRPr kumimoji="1" lang="ja-JP" altLang="en-US" sz="2400" dirty="0"/>
                    </a:p>
                  </a:txBody>
                  <a:tcPr anchor="ctr" anchorCtr="1">
                    <a:solidFill>
                      <a:schemeClr val="tx2">
                        <a:lumMod val="20000"/>
                        <a:lumOff val="80000"/>
                      </a:schemeClr>
                    </a:solidFill>
                  </a:tcPr>
                </a:tc>
                <a:extLst>
                  <a:ext uri="{0D108BD9-81ED-4DB2-BD59-A6C34878D82A}">
                    <a16:rowId xmlns:a16="http://schemas.microsoft.com/office/drawing/2014/main" val="4173401904"/>
                  </a:ext>
                </a:extLst>
              </a:tr>
              <a:tr h="498514">
                <a:tc>
                  <a:txBody>
                    <a:bodyPr/>
                    <a:lstStyle/>
                    <a:p>
                      <a:r>
                        <a:rPr kumimoji="1" lang="ja-JP" altLang="en-US" sz="2400" dirty="0">
                          <a:solidFill>
                            <a:srgbClr val="FF0000"/>
                          </a:solidFill>
                          <a:effectLst>
                            <a:outerShdw blurRad="38100" dist="38100" dir="2700000" algn="tl">
                              <a:srgbClr val="000000">
                                <a:alpha val="43137"/>
                              </a:srgbClr>
                            </a:outerShdw>
                          </a:effectLst>
                        </a:rPr>
                        <a:t>機器のばらつき</a:t>
                      </a:r>
                    </a:p>
                  </a:txBody>
                  <a:tcPr anchor="ctr" anchorCtr="1">
                    <a:solidFill>
                      <a:schemeClr val="tx2">
                        <a:lumMod val="20000"/>
                        <a:lumOff val="80000"/>
                      </a:schemeClr>
                    </a:solidFill>
                  </a:tcPr>
                </a:tc>
                <a:tc rowSpan="3">
                  <a:txBody>
                    <a:bodyPr/>
                    <a:lstStyle/>
                    <a:p>
                      <a:r>
                        <a:rPr kumimoji="1" lang="ja-JP" altLang="en-US" sz="2400" dirty="0">
                          <a:solidFill>
                            <a:srgbClr val="FF0000"/>
                          </a:solidFill>
                          <a:effectLst>
                            <a:outerShdw blurRad="38100" dist="38100" dir="2700000" algn="tl">
                              <a:srgbClr val="000000">
                                <a:alpha val="43137"/>
                              </a:srgbClr>
                            </a:outerShdw>
                          </a:effectLst>
                        </a:rPr>
                        <a:t>統計的手法による証明</a:t>
                      </a:r>
                    </a:p>
                  </a:txBody>
                  <a:tcPr anchor="ctr" anchorCtr="1">
                    <a:solidFill>
                      <a:schemeClr val="tx2">
                        <a:lumMod val="20000"/>
                        <a:lumOff val="80000"/>
                      </a:schemeClr>
                    </a:solidFill>
                  </a:tcPr>
                </a:tc>
                <a:tc rowSpan="3">
                  <a:txBody>
                    <a:bodyPr/>
                    <a:lstStyle/>
                    <a:p>
                      <a:r>
                        <a:rPr kumimoji="1" lang="ja-JP" altLang="en-US" sz="2400" dirty="0">
                          <a:solidFill>
                            <a:srgbClr val="FF0000"/>
                          </a:solidFill>
                          <a:effectLst>
                            <a:outerShdw blurRad="38100" dist="38100" dir="2700000" algn="tl">
                              <a:srgbClr val="000000">
                                <a:alpha val="43137"/>
                              </a:srgbClr>
                            </a:outerShdw>
                          </a:effectLst>
                        </a:rPr>
                        <a:t>箇条　</a:t>
                      </a:r>
                      <a:r>
                        <a:rPr kumimoji="1" lang="en-US" altLang="ja-JP" sz="2400" dirty="0">
                          <a:solidFill>
                            <a:srgbClr val="FF0000"/>
                          </a:solidFill>
                          <a:effectLst>
                            <a:outerShdw blurRad="38100" dist="38100" dir="2700000" algn="tl">
                              <a:srgbClr val="000000">
                                <a:alpha val="43137"/>
                              </a:srgbClr>
                            </a:outerShdw>
                          </a:effectLst>
                        </a:rPr>
                        <a:t>7.1.5.1.1</a:t>
                      </a:r>
                      <a:endParaRPr kumimoji="1" lang="ja-JP" altLang="en-US" sz="2400" dirty="0">
                        <a:solidFill>
                          <a:srgbClr val="FF0000"/>
                        </a:solidFill>
                        <a:effectLst>
                          <a:outerShdw blurRad="38100" dist="38100" dir="2700000" algn="tl">
                            <a:srgbClr val="000000">
                              <a:alpha val="43137"/>
                            </a:srgbClr>
                          </a:outerShdw>
                        </a:effectLst>
                      </a:endParaRPr>
                    </a:p>
                  </a:txBody>
                  <a:tcPr anchor="ctr" anchorCtr="1">
                    <a:solidFill>
                      <a:schemeClr val="tx2">
                        <a:lumMod val="20000"/>
                        <a:lumOff val="80000"/>
                      </a:schemeClr>
                    </a:solidFill>
                  </a:tcPr>
                </a:tc>
                <a:extLst>
                  <a:ext uri="{0D108BD9-81ED-4DB2-BD59-A6C34878D82A}">
                    <a16:rowId xmlns:a16="http://schemas.microsoft.com/office/drawing/2014/main" val="2306425175"/>
                  </a:ext>
                </a:extLst>
              </a:tr>
              <a:tr h="498514">
                <a:tc>
                  <a:txBody>
                    <a:bodyPr/>
                    <a:lstStyle/>
                    <a:p>
                      <a:r>
                        <a:rPr kumimoji="1" lang="ja-JP" altLang="en-US" sz="2400" dirty="0">
                          <a:solidFill>
                            <a:srgbClr val="FF0000"/>
                          </a:solidFill>
                          <a:effectLst>
                            <a:outerShdw blurRad="38100" dist="38100" dir="2700000" algn="tl">
                              <a:srgbClr val="000000">
                                <a:alpha val="43137"/>
                              </a:srgbClr>
                            </a:outerShdw>
                          </a:effectLst>
                        </a:rPr>
                        <a:t>機器の使い方</a:t>
                      </a:r>
                    </a:p>
                  </a:txBody>
                  <a:tcPr anchor="ctr" anchorCtr="1">
                    <a:solidFill>
                      <a:schemeClr val="tx2">
                        <a:lumMod val="20000"/>
                        <a:lumOff val="80000"/>
                      </a:schemeClr>
                    </a:solidFill>
                  </a:tcPr>
                </a:tc>
                <a:tc vMerge="1">
                  <a:txBody>
                    <a:bodyPr/>
                    <a:lstStyle/>
                    <a:p>
                      <a:endParaRPr kumimoji="1" lang="ja-JP" altLang="en-US" dirty="0"/>
                    </a:p>
                  </a:txBody>
                  <a:tcPr/>
                </a:tc>
                <a:tc vMerge="1">
                  <a:txBody>
                    <a:bodyPr/>
                    <a:lstStyle/>
                    <a:p>
                      <a:endParaRPr kumimoji="1" lang="ja-JP" altLang="en-US" dirty="0"/>
                    </a:p>
                  </a:txBody>
                  <a:tcPr/>
                </a:tc>
                <a:extLst>
                  <a:ext uri="{0D108BD9-81ED-4DB2-BD59-A6C34878D82A}">
                    <a16:rowId xmlns:a16="http://schemas.microsoft.com/office/drawing/2014/main" val="1831913554"/>
                  </a:ext>
                </a:extLst>
              </a:tr>
              <a:tr h="498514">
                <a:tc>
                  <a:txBody>
                    <a:bodyPr/>
                    <a:lstStyle/>
                    <a:p>
                      <a:r>
                        <a:rPr kumimoji="1" lang="ja-JP" altLang="en-US" sz="2400" dirty="0">
                          <a:solidFill>
                            <a:srgbClr val="FF0000"/>
                          </a:solidFill>
                          <a:effectLst>
                            <a:outerShdw blurRad="38100" dist="38100" dir="2700000" algn="tl">
                              <a:srgbClr val="000000">
                                <a:alpha val="43137"/>
                              </a:srgbClr>
                            </a:outerShdw>
                          </a:effectLst>
                        </a:rPr>
                        <a:t>要員のばらつき</a:t>
                      </a:r>
                    </a:p>
                  </a:txBody>
                  <a:tcPr anchor="ctr" anchorCtr="1">
                    <a:solidFill>
                      <a:schemeClr val="tx2">
                        <a:lumMod val="20000"/>
                        <a:lumOff val="80000"/>
                      </a:schemeClr>
                    </a:solidFill>
                  </a:tcPr>
                </a:tc>
                <a:tc vMerge="1">
                  <a:txBody>
                    <a:bodyPr/>
                    <a:lstStyle/>
                    <a:p>
                      <a:endParaRPr kumimoji="1" lang="ja-JP" altLang="en-US" dirty="0"/>
                    </a:p>
                  </a:txBody>
                  <a:tcPr/>
                </a:tc>
                <a:tc vMerge="1">
                  <a:txBody>
                    <a:bodyPr/>
                    <a:lstStyle/>
                    <a:p>
                      <a:endParaRPr kumimoji="1" lang="ja-JP" altLang="en-US" dirty="0"/>
                    </a:p>
                  </a:txBody>
                  <a:tcPr/>
                </a:tc>
                <a:extLst>
                  <a:ext uri="{0D108BD9-81ED-4DB2-BD59-A6C34878D82A}">
                    <a16:rowId xmlns:a16="http://schemas.microsoft.com/office/drawing/2014/main" val="1118939268"/>
                  </a:ext>
                </a:extLst>
              </a:tr>
            </a:tbl>
          </a:graphicData>
        </a:graphic>
      </p:graphicFrame>
      <p:sp>
        <p:nvSpPr>
          <p:cNvPr id="2" name="矢印: 右 1">
            <a:extLst>
              <a:ext uri="{FF2B5EF4-FFF2-40B4-BE49-F238E27FC236}">
                <a16:creationId xmlns:a16="http://schemas.microsoft.com/office/drawing/2014/main" id="{99A01234-EA5A-4869-BF0E-14C99C2D2569}"/>
              </a:ext>
            </a:extLst>
          </p:cNvPr>
          <p:cNvSpPr/>
          <p:nvPr/>
        </p:nvSpPr>
        <p:spPr>
          <a:xfrm>
            <a:off x="4608945" y="1630494"/>
            <a:ext cx="286327" cy="484633"/>
          </a:xfrm>
          <a:prstGeom prst="rightArrow">
            <a:avLst>
              <a:gd name="adj1" fmla="val 6860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 9">
            <a:extLst>
              <a:ext uri="{FF2B5EF4-FFF2-40B4-BE49-F238E27FC236}">
                <a16:creationId xmlns:a16="http://schemas.microsoft.com/office/drawing/2014/main" id="{9D546E85-E741-4524-AA25-51BD62855B50}"/>
              </a:ext>
            </a:extLst>
          </p:cNvPr>
          <p:cNvSpPr/>
          <p:nvPr/>
        </p:nvSpPr>
        <p:spPr>
          <a:xfrm>
            <a:off x="4608944" y="2261762"/>
            <a:ext cx="286327" cy="1248518"/>
          </a:xfrm>
          <a:prstGeom prst="rightArrow">
            <a:avLst>
              <a:gd name="adj1" fmla="val 6860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91862925"/>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59036"/>
          </a:xfrm>
          <a:ln w="12700">
            <a:noFill/>
          </a:ln>
        </p:spPr>
        <p:txBody>
          <a:bodyPr>
            <a:normAutofit/>
          </a:bodyPr>
          <a:lstStyle/>
          <a:p>
            <a:pPr marL="0" indent="0">
              <a:buNone/>
            </a:pPr>
            <a:r>
              <a:rPr lang="ja-JP" altLang="en-US" sz="2400" u="sng" dirty="0"/>
              <a:t>計量値</a:t>
            </a:r>
            <a:r>
              <a:rPr lang="en-US" altLang="ja-JP" sz="2400" u="sng" dirty="0"/>
              <a:t>MSA</a:t>
            </a:r>
            <a:r>
              <a:rPr lang="ja-JP" altLang="en-US" sz="2400" u="sng" dirty="0"/>
              <a:t>の変動要素</a:t>
            </a:r>
            <a:endParaRPr lang="en-US" altLang="ja-JP" sz="2400" u="sng"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7.1.5.1.1</a:t>
            </a:r>
            <a:r>
              <a:rPr lang="ja-JP" altLang="en-US" sz="3000" b="1" dirty="0">
                <a:solidFill>
                  <a:schemeClr val="bg1"/>
                </a:solidFill>
              </a:rPr>
              <a:t>　測定システム解析</a:t>
            </a:r>
            <a:endParaRPr kumimoji="1" lang="ja-JP" altLang="en-US" sz="3000" b="1" dirty="0">
              <a:solidFill>
                <a:schemeClr val="bg1"/>
              </a:solidFill>
            </a:endParaRPr>
          </a:p>
        </p:txBody>
      </p:sp>
      <p:graphicFrame>
        <p:nvGraphicFramePr>
          <p:cNvPr id="6" name="表 5">
            <a:extLst>
              <a:ext uri="{FF2B5EF4-FFF2-40B4-BE49-F238E27FC236}">
                <a16:creationId xmlns:a16="http://schemas.microsoft.com/office/drawing/2014/main" id="{0A09E79B-AC48-4AE9-AA7A-23392DB7080A}"/>
              </a:ext>
            </a:extLst>
          </p:cNvPr>
          <p:cNvGraphicFramePr>
            <a:graphicFrameLocks noGrp="1"/>
          </p:cNvGraphicFramePr>
          <p:nvPr>
            <p:extLst>
              <p:ext uri="{D42A27DB-BD31-4B8C-83A1-F6EECF244321}">
                <p14:modId xmlns:p14="http://schemas.microsoft.com/office/powerpoint/2010/main" val="3977152714"/>
              </p:ext>
            </p:extLst>
          </p:nvPr>
        </p:nvGraphicFramePr>
        <p:xfrm>
          <a:off x="838199" y="1983036"/>
          <a:ext cx="10515600" cy="4359375"/>
        </p:xfrm>
        <a:graphic>
          <a:graphicData uri="http://schemas.openxmlformats.org/drawingml/2006/table">
            <a:tbl>
              <a:tblPr firstRow="1" bandRow="1">
                <a:tableStyleId>{5940675A-B579-460E-94D1-54222C63F5DA}</a:tableStyleId>
              </a:tblPr>
              <a:tblGrid>
                <a:gridCol w="781281">
                  <a:extLst>
                    <a:ext uri="{9D8B030D-6E8A-4147-A177-3AD203B41FA5}">
                      <a16:colId xmlns:a16="http://schemas.microsoft.com/office/drawing/2014/main" val="1626439948"/>
                    </a:ext>
                  </a:extLst>
                </a:gridCol>
                <a:gridCol w="2071171">
                  <a:extLst>
                    <a:ext uri="{9D8B030D-6E8A-4147-A177-3AD203B41FA5}">
                      <a16:colId xmlns:a16="http://schemas.microsoft.com/office/drawing/2014/main" val="2180148106"/>
                    </a:ext>
                  </a:extLst>
                </a:gridCol>
                <a:gridCol w="6180462">
                  <a:extLst>
                    <a:ext uri="{9D8B030D-6E8A-4147-A177-3AD203B41FA5}">
                      <a16:colId xmlns:a16="http://schemas.microsoft.com/office/drawing/2014/main" val="689499387"/>
                    </a:ext>
                  </a:extLst>
                </a:gridCol>
                <a:gridCol w="1482686">
                  <a:extLst>
                    <a:ext uri="{9D8B030D-6E8A-4147-A177-3AD203B41FA5}">
                      <a16:colId xmlns:a16="http://schemas.microsoft.com/office/drawing/2014/main" val="376617094"/>
                    </a:ext>
                  </a:extLst>
                </a:gridCol>
              </a:tblGrid>
              <a:tr h="539827">
                <a:tc>
                  <a:txBody>
                    <a:bodyPr/>
                    <a:lstStyle/>
                    <a:p>
                      <a:pPr algn="ctr"/>
                      <a:r>
                        <a:rPr kumimoji="1" lang="ja-JP" altLang="en-US" dirty="0"/>
                        <a:t>区分</a:t>
                      </a:r>
                    </a:p>
                  </a:txBody>
                  <a:tcPr anchor="ctr">
                    <a:solidFill>
                      <a:schemeClr val="tx2">
                        <a:lumMod val="40000"/>
                        <a:lumOff val="60000"/>
                      </a:schemeClr>
                    </a:solidFill>
                  </a:tcPr>
                </a:tc>
                <a:tc>
                  <a:txBody>
                    <a:bodyPr/>
                    <a:lstStyle/>
                    <a:p>
                      <a:pPr algn="ctr"/>
                      <a:r>
                        <a:rPr kumimoji="1" lang="ja-JP" altLang="en-US" dirty="0"/>
                        <a:t>変動の種類</a:t>
                      </a:r>
                    </a:p>
                  </a:txBody>
                  <a:tcPr anchor="ctr">
                    <a:solidFill>
                      <a:schemeClr val="tx2">
                        <a:lumMod val="40000"/>
                        <a:lumOff val="60000"/>
                      </a:schemeClr>
                    </a:solidFill>
                  </a:tcPr>
                </a:tc>
                <a:tc>
                  <a:txBody>
                    <a:bodyPr/>
                    <a:lstStyle/>
                    <a:p>
                      <a:pPr algn="ctr"/>
                      <a:r>
                        <a:rPr kumimoji="1" lang="ja-JP" altLang="en-US" dirty="0"/>
                        <a:t>内容</a:t>
                      </a:r>
                    </a:p>
                  </a:txBody>
                  <a:tcPr anchor="ctr">
                    <a:solidFill>
                      <a:schemeClr val="tx2">
                        <a:lumMod val="40000"/>
                        <a:lumOff val="60000"/>
                      </a:schemeClr>
                    </a:solidFill>
                  </a:tcPr>
                </a:tc>
                <a:tc>
                  <a:txBody>
                    <a:bodyPr/>
                    <a:lstStyle/>
                    <a:p>
                      <a:pPr algn="ctr"/>
                      <a:r>
                        <a:rPr kumimoji="1" lang="ja-JP" altLang="en-US" dirty="0"/>
                        <a:t>解析方法例</a:t>
                      </a:r>
                    </a:p>
                  </a:txBody>
                  <a:tcPr anchor="ctr">
                    <a:solidFill>
                      <a:schemeClr val="tx2">
                        <a:lumMod val="40000"/>
                        <a:lumOff val="60000"/>
                      </a:schemeClr>
                    </a:solidFill>
                  </a:tcPr>
                </a:tc>
                <a:extLst>
                  <a:ext uri="{0D108BD9-81ED-4DB2-BD59-A6C34878D82A}">
                    <a16:rowId xmlns:a16="http://schemas.microsoft.com/office/drawing/2014/main" val="2038463199"/>
                  </a:ext>
                </a:extLst>
              </a:tr>
              <a:tr h="572877">
                <a:tc rowSpan="3">
                  <a:txBody>
                    <a:bodyPr/>
                    <a:lstStyle/>
                    <a:p>
                      <a:r>
                        <a:rPr kumimoji="1" lang="ja-JP" altLang="en-US" dirty="0"/>
                        <a:t>位置の変動</a:t>
                      </a:r>
                    </a:p>
                  </a:txBody>
                  <a:tcPr vert="eaVert" anchor="ctr"/>
                </a:tc>
                <a:tc>
                  <a:txBody>
                    <a:bodyPr/>
                    <a:lstStyle/>
                    <a:p>
                      <a:r>
                        <a:rPr kumimoji="1" lang="ja-JP" altLang="en-US" dirty="0"/>
                        <a:t>偏り</a:t>
                      </a:r>
                      <a:endParaRPr kumimoji="1" lang="en-US" altLang="ja-JP" dirty="0"/>
                    </a:p>
                    <a:p>
                      <a:r>
                        <a:rPr kumimoji="1" lang="ja-JP" altLang="en-US" sz="1600" dirty="0"/>
                        <a:t>（</a:t>
                      </a:r>
                      <a:r>
                        <a:rPr kumimoji="1" lang="en-US" altLang="ja-JP" sz="1600" dirty="0"/>
                        <a:t>bias</a:t>
                      </a:r>
                      <a:r>
                        <a:rPr kumimoji="1" lang="ja-JP" altLang="en-US" sz="1600" dirty="0"/>
                        <a:t>）</a:t>
                      </a:r>
                    </a:p>
                  </a:txBody>
                  <a:tcPr anchor="ctr"/>
                </a:tc>
                <a:tc>
                  <a:txBody>
                    <a:bodyPr/>
                    <a:lstStyle/>
                    <a:p>
                      <a:r>
                        <a:rPr kumimoji="1" lang="ja-JP" altLang="en-US" sz="1600" dirty="0"/>
                        <a:t>・測定値の平均値と基準値（参照値、真の値）との差。</a:t>
                      </a:r>
                    </a:p>
                  </a:txBody>
                  <a:tcPr anchor="ctr"/>
                </a:tc>
                <a:tc>
                  <a:txBody>
                    <a:bodyPr/>
                    <a:lstStyle/>
                    <a:p>
                      <a:r>
                        <a:rPr kumimoji="1" lang="ja-JP" altLang="en-US" sz="1600" dirty="0"/>
                        <a:t>偏り評価</a:t>
                      </a:r>
                      <a:endParaRPr kumimoji="1" lang="en-US" altLang="ja-JP" sz="1600" dirty="0"/>
                    </a:p>
                    <a:p>
                      <a:r>
                        <a:rPr kumimoji="1" lang="ja-JP" altLang="en-US" sz="1600" dirty="0"/>
                        <a:t>（校正）</a:t>
                      </a:r>
                    </a:p>
                  </a:txBody>
                  <a:tcPr anchor="ctr"/>
                </a:tc>
                <a:extLst>
                  <a:ext uri="{0D108BD9-81ED-4DB2-BD59-A6C34878D82A}">
                    <a16:rowId xmlns:a16="http://schemas.microsoft.com/office/drawing/2014/main" val="2117580365"/>
                  </a:ext>
                </a:extLst>
              </a:tr>
              <a:tr h="822960">
                <a:tc vMerge="1">
                  <a:txBody>
                    <a:bodyPr/>
                    <a:lstStyle/>
                    <a:p>
                      <a:endParaRPr kumimoji="1" lang="ja-JP" altLang="en-US" dirty="0"/>
                    </a:p>
                  </a:txBody>
                  <a:tcPr anchor="ctr"/>
                </a:tc>
                <a:tc>
                  <a:txBody>
                    <a:bodyPr/>
                    <a:lstStyle/>
                    <a:p>
                      <a:r>
                        <a:rPr kumimoji="1" lang="ja-JP" altLang="en-US" dirty="0"/>
                        <a:t>安定性</a:t>
                      </a:r>
                      <a:endParaRPr kumimoji="1" lang="en-US" altLang="ja-JP" dirty="0"/>
                    </a:p>
                    <a:p>
                      <a:r>
                        <a:rPr kumimoji="1" lang="ja-JP" altLang="en-US" sz="1600" dirty="0"/>
                        <a:t>（</a:t>
                      </a:r>
                      <a:r>
                        <a:rPr kumimoji="1" lang="en-US" altLang="ja-JP" sz="1600" dirty="0"/>
                        <a:t>stability</a:t>
                      </a:r>
                      <a:r>
                        <a:rPr kumimoji="1" lang="ja-JP" altLang="en-US" sz="1600" dirty="0"/>
                        <a:t>）</a:t>
                      </a:r>
                    </a:p>
                  </a:txBody>
                  <a:tcPr anchor="ctr"/>
                </a:tc>
                <a:tc>
                  <a:txBody>
                    <a:bodyPr/>
                    <a:lstStyle/>
                    <a:p>
                      <a:r>
                        <a:rPr kumimoji="1" lang="ja-JP" altLang="en-US" sz="1600" dirty="0"/>
                        <a:t>・一人の測定者が、同一製品の同一特性を、同じ測定器を使って、ある程度の時間間隔をおいて測定した時の測定値の平均値の差。</a:t>
                      </a:r>
                      <a:endParaRPr kumimoji="1" lang="en-US" altLang="ja-JP" sz="1600" dirty="0"/>
                    </a:p>
                    <a:p>
                      <a:r>
                        <a:rPr kumimoji="1" lang="ja-JP" altLang="en-US" sz="1600" dirty="0"/>
                        <a:t>・ドリフトとも言う。</a:t>
                      </a:r>
                    </a:p>
                  </a:txBody>
                  <a:tcPr anchor="ctr"/>
                </a:tc>
                <a:tc>
                  <a:txBody>
                    <a:bodyPr/>
                    <a:lstStyle/>
                    <a:p>
                      <a:r>
                        <a:rPr kumimoji="1" lang="ja-JP" altLang="en-US" sz="1600" dirty="0"/>
                        <a:t>安定性評価</a:t>
                      </a:r>
                      <a:endParaRPr kumimoji="1" lang="en-US" altLang="ja-JP" sz="1600" dirty="0"/>
                    </a:p>
                    <a:p>
                      <a:r>
                        <a:rPr kumimoji="1" lang="ja-JP" altLang="en-US" sz="1600" dirty="0"/>
                        <a:t>（校正）</a:t>
                      </a:r>
                    </a:p>
                  </a:txBody>
                  <a:tcPr anchor="ctr"/>
                </a:tc>
                <a:extLst>
                  <a:ext uri="{0D108BD9-81ED-4DB2-BD59-A6C34878D82A}">
                    <a16:rowId xmlns:a16="http://schemas.microsoft.com/office/drawing/2014/main" val="2799193429"/>
                  </a:ext>
                </a:extLst>
              </a:tr>
              <a:tr h="528442">
                <a:tc vMerge="1">
                  <a:txBody>
                    <a:bodyPr/>
                    <a:lstStyle/>
                    <a:p>
                      <a:endParaRPr kumimoji="1" lang="ja-JP" altLang="en-US" dirty="0"/>
                    </a:p>
                  </a:txBody>
                  <a:tcPr anchor="ctr"/>
                </a:tc>
                <a:tc>
                  <a:txBody>
                    <a:bodyPr/>
                    <a:lstStyle/>
                    <a:p>
                      <a:r>
                        <a:rPr kumimoji="1" lang="ja-JP" altLang="en-US" dirty="0"/>
                        <a:t>直線性</a:t>
                      </a:r>
                      <a:endParaRPr kumimoji="1" lang="en-US" altLang="ja-JP" dirty="0"/>
                    </a:p>
                    <a:p>
                      <a:r>
                        <a:rPr kumimoji="1" lang="ja-JP" altLang="en-US" sz="1600" dirty="0"/>
                        <a:t>（</a:t>
                      </a:r>
                      <a:r>
                        <a:rPr kumimoji="1" lang="en-US" altLang="ja-JP" sz="1600" dirty="0"/>
                        <a:t>linearity</a:t>
                      </a:r>
                      <a:r>
                        <a:rPr kumimoji="1" lang="ja-JP" altLang="en-US" sz="1600" dirty="0"/>
                        <a:t>）</a:t>
                      </a:r>
                    </a:p>
                  </a:txBody>
                  <a:tcPr anchor="ctr"/>
                </a:tc>
                <a:tc>
                  <a:txBody>
                    <a:bodyPr/>
                    <a:lstStyle/>
                    <a:p>
                      <a:r>
                        <a:rPr kumimoji="1" lang="ja-JP" altLang="en-US" sz="1600" dirty="0"/>
                        <a:t>・測定機器の使用（測定）範囲全体にわたる偏りの変化。</a:t>
                      </a:r>
                    </a:p>
                  </a:txBody>
                  <a:tcPr anchor="ctr"/>
                </a:tc>
                <a:tc>
                  <a:txBody>
                    <a:bodyPr/>
                    <a:lstStyle/>
                    <a:p>
                      <a:r>
                        <a:rPr kumimoji="1" lang="ja-JP" altLang="en-US" sz="1600" dirty="0"/>
                        <a:t>直線性評価</a:t>
                      </a:r>
                      <a:endParaRPr kumimoji="1" lang="en-US" altLang="ja-JP" sz="1600" dirty="0"/>
                    </a:p>
                    <a:p>
                      <a:r>
                        <a:rPr kumimoji="1" lang="ja-JP" altLang="en-US" sz="1600" dirty="0"/>
                        <a:t>（校正）</a:t>
                      </a:r>
                    </a:p>
                  </a:txBody>
                  <a:tcPr anchor="ctr"/>
                </a:tc>
                <a:extLst>
                  <a:ext uri="{0D108BD9-81ED-4DB2-BD59-A6C34878D82A}">
                    <a16:rowId xmlns:a16="http://schemas.microsoft.com/office/drawing/2014/main" val="4012631384"/>
                  </a:ext>
                </a:extLst>
              </a:tr>
              <a:tr h="954428">
                <a:tc rowSpan="2">
                  <a:txBody>
                    <a:bodyPr/>
                    <a:lstStyle/>
                    <a:p>
                      <a:r>
                        <a:rPr kumimoji="1" lang="ja-JP" altLang="en-US" dirty="0"/>
                        <a:t>幅の変動</a:t>
                      </a:r>
                    </a:p>
                  </a:txBody>
                  <a:tcPr vert="eaVert" anchor="ctr"/>
                </a:tc>
                <a:tc>
                  <a:txBody>
                    <a:bodyPr/>
                    <a:lstStyle/>
                    <a:p>
                      <a:r>
                        <a:rPr kumimoji="1" lang="ja-JP" altLang="en-US" dirty="0"/>
                        <a:t>繰返し性</a:t>
                      </a:r>
                      <a:endParaRPr kumimoji="1" lang="en-US" altLang="ja-JP" dirty="0"/>
                    </a:p>
                    <a:p>
                      <a:r>
                        <a:rPr kumimoji="1" lang="ja-JP" altLang="en-US" sz="1600" dirty="0"/>
                        <a:t>（</a:t>
                      </a:r>
                      <a:r>
                        <a:rPr kumimoji="1" lang="en-US" altLang="ja-JP" sz="1600" dirty="0"/>
                        <a:t>repeatability</a:t>
                      </a:r>
                      <a:r>
                        <a:rPr kumimoji="1" lang="ja-JP" altLang="en-US" sz="1600" dirty="0"/>
                        <a:t>）</a:t>
                      </a:r>
                    </a:p>
                  </a:txBody>
                  <a:tcPr anchor="ctr"/>
                </a:tc>
                <a:tc>
                  <a:txBody>
                    <a:bodyPr/>
                    <a:lstStyle/>
                    <a:p>
                      <a:r>
                        <a:rPr kumimoji="1" lang="ja-JP" altLang="en-US" sz="1600" dirty="0"/>
                        <a:t>・一人の測定者が、同一製品の同一特性を、同じ測定機器を使って、数回測定した時の測定値の変動（幅）。（装置変動：</a:t>
                      </a:r>
                      <a:r>
                        <a:rPr kumimoji="1" lang="en-US" altLang="ja-JP" sz="1600" dirty="0"/>
                        <a:t>EV</a:t>
                      </a:r>
                      <a:r>
                        <a:rPr kumimoji="1" lang="ja-JP" altLang="en-US" sz="1600" dirty="0"/>
                        <a:t>）</a:t>
                      </a:r>
                    </a:p>
                  </a:txBody>
                  <a:tcPr anchor="ctr"/>
                </a:tc>
                <a:tc rowSpan="2">
                  <a:txBody>
                    <a:bodyPr/>
                    <a:lstStyle/>
                    <a:p>
                      <a:r>
                        <a:rPr kumimoji="1" lang="ja-JP" altLang="en-US" sz="1600" dirty="0"/>
                        <a:t>％ＧＲＲ</a:t>
                      </a:r>
                    </a:p>
                  </a:txBody>
                  <a:tcPr/>
                </a:tc>
                <a:extLst>
                  <a:ext uri="{0D108BD9-81ED-4DB2-BD59-A6C34878D82A}">
                    <a16:rowId xmlns:a16="http://schemas.microsoft.com/office/drawing/2014/main" val="2965754564"/>
                  </a:ext>
                </a:extLst>
              </a:tr>
              <a:tr h="728886">
                <a:tc vMerge="1">
                  <a:txBody>
                    <a:bodyPr/>
                    <a:lstStyle/>
                    <a:p>
                      <a:endParaRPr kumimoji="1" lang="ja-JP" altLang="en-US" dirty="0"/>
                    </a:p>
                  </a:txBody>
                  <a:tcPr anchor="ctr"/>
                </a:tc>
                <a:tc>
                  <a:txBody>
                    <a:bodyPr/>
                    <a:lstStyle/>
                    <a:p>
                      <a:r>
                        <a:rPr kumimoji="1" lang="ja-JP" altLang="en-US" dirty="0"/>
                        <a:t>再現性</a:t>
                      </a:r>
                      <a:endParaRPr kumimoji="1" lang="en-US" altLang="ja-JP" dirty="0"/>
                    </a:p>
                    <a:p>
                      <a:r>
                        <a:rPr kumimoji="1" lang="ja-JP" altLang="en-US" sz="1600" dirty="0"/>
                        <a:t>（</a:t>
                      </a:r>
                      <a:r>
                        <a:rPr kumimoji="1" lang="en-US" altLang="ja-JP" sz="1600" dirty="0"/>
                        <a:t>reproducibility</a:t>
                      </a:r>
                      <a:r>
                        <a:rPr kumimoji="1" lang="ja-JP" altLang="en-US" sz="1600" dirty="0"/>
                        <a:t>）</a:t>
                      </a:r>
                    </a:p>
                  </a:txBody>
                  <a:tcPr anchor="ctr"/>
                </a:tc>
                <a:tc>
                  <a:txBody>
                    <a:bodyPr/>
                    <a:lstStyle/>
                    <a:p>
                      <a:r>
                        <a:rPr kumimoji="1" lang="ja-JP" altLang="en-US" sz="1600" dirty="0"/>
                        <a:t>・異なる測定者が、同一製品の同一特性を、同じ測定機器を使って、数回測定した時の各測定者ごとの平均値の変動。（測定者変動：</a:t>
                      </a:r>
                      <a:r>
                        <a:rPr kumimoji="1" lang="en-US" altLang="ja-JP" sz="1600" dirty="0"/>
                        <a:t>AV</a:t>
                      </a:r>
                      <a:r>
                        <a:rPr kumimoji="1" lang="ja-JP" altLang="en-US" sz="1600" dirty="0"/>
                        <a:t>）</a:t>
                      </a:r>
                    </a:p>
                  </a:txBody>
                  <a:tcPr anchor="ctr"/>
                </a:tc>
                <a:tc vMerge="1">
                  <a:txBody>
                    <a:bodyPr/>
                    <a:lstStyle/>
                    <a:p>
                      <a:endParaRPr kumimoji="1" lang="ja-JP" altLang="en-US" dirty="0"/>
                    </a:p>
                  </a:txBody>
                  <a:tcPr anchor="ctr"/>
                </a:tc>
                <a:extLst>
                  <a:ext uri="{0D108BD9-81ED-4DB2-BD59-A6C34878D82A}">
                    <a16:rowId xmlns:a16="http://schemas.microsoft.com/office/drawing/2014/main" val="71731339"/>
                  </a:ext>
                </a:extLst>
              </a:tr>
            </a:tbl>
          </a:graphicData>
        </a:graphic>
      </p:graphicFrame>
      <p:graphicFrame>
        <p:nvGraphicFramePr>
          <p:cNvPr id="7" name="表 6">
            <a:extLst>
              <a:ext uri="{FF2B5EF4-FFF2-40B4-BE49-F238E27FC236}">
                <a16:creationId xmlns:a16="http://schemas.microsoft.com/office/drawing/2014/main" id="{A1532F8B-95D6-4709-ACAE-14E426F5DC28}"/>
              </a:ext>
            </a:extLst>
          </p:cNvPr>
          <p:cNvGraphicFramePr>
            <a:graphicFrameLocks noGrp="1"/>
          </p:cNvGraphicFramePr>
          <p:nvPr>
            <p:extLst>
              <p:ext uri="{D42A27DB-BD31-4B8C-83A1-F6EECF244321}">
                <p14:modId xmlns:p14="http://schemas.microsoft.com/office/powerpoint/2010/main" val="1112708457"/>
              </p:ext>
            </p:extLst>
          </p:nvPr>
        </p:nvGraphicFramePr>
        <p:xfrm>
          <a:off x="9871112" y="4979624"/>
          <a:ext cx="1482687" cy="1366778"/>
        </p:xfrm>
        <a:graphic>
          <a:graphicData uri="http://schemas.openxmlformats.org/drawingml/2006/table">
            <a:tbl>
              <a:tblPr firstRow="1" bandRow="1">
                <a:tableStyleId>{5940675A-B579-460E-94D1-54222C63F5DA}</a:tableStyleId>
              </a:tblPr>
              <a:tblGrid>
                <a:gridCol w="822217">
                  <a:extLst>
                    <a:ext uri="{9D8B030D-6E8A-4147-A177-3AD203B41FA5}">
                      <a16:colId xmlns:a16="http://schemas.microsoft.com/office/drawing/2014/main" val="525733494"/>
                    </a:ext>
                  </a:extLst>
                </a:gridCol>
                <a:gridCol w="660470">
                  <a:extLst>
                    <a:ext uri="{9D8B030D-6E8A-4147-A177-3AD203B41FA5}">
                      <a16:colId xmlns:a16="http://schemas.microsoft.com/office/drawing/2014/main" val="642153133"/>
                    </a:ext>
                  </a:extLst>
                </a:gridCol>
              </a:tblGrid>
              <a:tr h="453209">
                <a:tc>
                  <a:txBody>
                    <a:bodyPr/>
                    <a:lstStyle/>
                    <a:p>
                      <a:r>
                        <a:rPr kumimoji="1" lang="ja-JP" altLang="en-US" sz="1200" dirty="0"/>
                        <a:t>１０％未満</a:t>
                      </a:r>
                    </a:p>
                  </a:txBody>
                  <a:tcPr>
                    <a:solidFill>
                      <a:schemeClr val="accent1">
                        <a:lumMod val="20000"/>
                        <a:lumOff val="80000"/>
                      </a:schemeClr>
                    </a:solidFill>
                  </a:tcPr>
                </a:tc>
                <a:tc>
                  <a:txBody>
                    <a:bodyPr/>
                    <a:lstStyle/>
                    <a:p>
                      <a:r>
                        <a:rPr kumimoji="1" lang="ja-JP" altLang="en-US" sz="1200" dirty="0"/>
                        <a:t>合格</a:t>
                      </a:r>
                    </a:p>
                  </a:txBody>
                  <a:tcPr>
                    <a:solidFill>
                      <a:schemeClr val="accent1">
                        <a:lumMod val="20000"/>
                        <a:lumOff val="80000"/>
                      </a:schemeClr>
                    </a:solidFill>
                  </a:tcPr>
                </a:tc>
                <a:extLst>
                  <a:ext uri="{0D108BD9-81ED-4DB2-BD59-A6C34878D82A}">
                    <a16:rowId xmlns:a16="http://schemas.microsoft.com/office/drawing/2014/main" val="1309335406"/>
                  </a:ext>
                </a:extLst>
              </a:tr>
              <a:tr h="511945">
                <a:tc>
                  <a:txBody>
                    <a:bodyPr/>
                    <a:lstStyle/>
                    <a:p>
                      <a:r>
                        <a:rPr kumimoji="1" lang="ja-JP" altLang="en-US" sz="1200" dirty="0"/>
                        <a:t>１０％～</a:t>
                      </a:r>
                      <a:endParaRPr kumimoji="1" lang="en-US" altLang="ja-JP" sz="1200" dirty="0"/>
                    </a:p>
                    <a:p>
                      <a:r>
                        <a:rPr kumimoji="1" lang="ja-JP" altLang="en-US" sz="1200" dirty="0"/>
                        <a:t>３０％</a:t>
                      </a:r>
                    </a:p>
                  </a:txBody>
                  <a:tcPr>
                    <a:solidFill>
                      <a:schemeClr val="accent1">
                        <a:lumMod val="20000"/>
                        <a:lumOff val="80000"/>
                      </a:schemeClr>
                    </a:solidFill>
                  </a:tcPr>
                </a:tc>
                <a:tc>
                  <a:txBody>
                    <a:bodyPr/>
                    <a:lstStyle/>
                    <a:p>
                      <a:r>
                        <a:rPr kumimoji="1" lang="ja-JP" altLang="en-US" sz="1200" dirty="0"/>
                        <a:t>条件付合格</a:t>
                      </a:r>
                    </a:p>
                  </a:txBody>
                  <a:tcPr>
                    <a:solidFill>
                      <a:schemeClr val="accent1">
                        <a:lumMod val="20000"/>
                        <a:lumOff val="80000"/>
                      </a:schemeClr>
                    </a:solidFill>
                  </a:tcPr>
                </a:tc>
                <a:extLst>
                  <a:ext uri="{0D108BD9-81ED-4DB2-BD59-A6C34878D82A}">
                    <a16:rowId xmlns:a16="http://schemas.microsoft.com/office/drawing/2014/main" val="2037875429"/>
                  </a:ext>
                </a:extLst>
              </a:tr>
              <a:tr h="397633">
                <a:tc>
                  <a:txBody>
                    <a:bodyPr/>
                    <a:lstStyle/>
                    <a:p>
                      <a:r>
                        <a:rPr kumimoji="1" lang="ja-JP" altLang="en-US" sz="1200" dirty="0"/>
                        <a:t>３０％超</a:t>
                      </a:r>
                    </a:p>
                  </a:txBody>
                  <a:tcPr>
                    <a:solidFill>
                      <a:schemeClr val="accent1">
                        <a:lumMod val="20000"/>
                        <a:lumOff val="80000"/>
                      </a:schemeClr>
                    </a:solidFill>
                  </a:tcPr>
                </a:tc>
                <a:tc>
                  <a:txBody>
                    <a:bodyPr/>
                    <a:lstStyle/>
                    <a:p>
                      <a:r>
                        <a:rPr kumimoji="1" lang="ja-JP" altLang="en-US" sz="1200" dirty="0"/>
                        <a:t>不合格</a:t>
                      </a:r>
                    </a:p>
                  </a:txBody>
                  <a:tcPr>
                    <a:solidFill>
                      <a:schemeClr val="accent1">
                        <a:lumMod val="20000"/>
                        <a:lumOff val="80000"/>
                      </a:schemeClr>
                    </a:solidFill>
                  </a:tcPr>
                </a:tc>
                <a:extLst>
                  <a:ext uri="{0D108BD9-81ED-4DB2-BD59-A6C34878D82A}">
                    <a16:rowId xmlns:a16="http://schemas.microsoft.com/office/drawing/2014/main" val="721977463"/>
                  </a:ext>
                </a:extLst>
              </a:tr>
            </a:tbl>
          </a:graphicData>
        </a:graphic>
      </p:graphicFrame>
    </p:spTree>
    <p:extLst>
      <p:ext uri="{BB962C8B-B14F-4D97-AF65-F5344CB8AC3E}">
        <p14:creationId xmlns:p14="http://schemas.microsoft.com/office/powerpoint/2010/main" val="122215986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0" indent="0">
              <a:buNone/>
            </a:pPr>
            <a:r>
              <a:rPr lang="ja-JP" altLang="en-US" sz="2400" u="sng" dirty="0"/>
              <a:t>計数値</a:t>
            </a:r>
            <a:r>
              <a:rPr lang="en-US" altLang="ja-JP" sz="2400" u="sng" dirty="0"/>
              <a:t>MSA</a:t>
            </a:r>
            <a:r>
              <a:rPr lang="ja-JP" altLang="en-US" sz="2400" u="sng" dirty="0"/>
              <a:t>の評価項目</a:t>
            </a:r>
            <a:endParaRPr lang="en-US" altLang="ja-JP" sz="2400" u="sng" dirty="0"/>
          </a:p>
          <a:p>
            <a:pPr marL="0" indent="0">
              <a:buNone/>
            </a:pPr>
            <a:endParaRPr lang="ja-JP" altLang="en-US" dirty="0"/>
          </a:p>
          <a:p>
            <a:pPr marL="0" indent="0">
              <a:buNone/>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7.1.5.1.1</a:t>
            </a:r>
            <a:r>
              <a:rPr lang="ja-JP" altLang="en-US" sz="3000" b="1" dirty="0">
                <a:solidFill>
                  <a:schemeClr val="bg1"/>
                </a:solidFill>
              </a:rPr>
              <a:t>　測定システム解析</a:t>
            </a:r>
            <a:endParaRPr kumimoji="1" lang="ja-JP" altLang="en-US" sz="3000" b="1" dirty="0">
              <a:solidFill>
                <a:schemeClr val="bg1"/>
              </a:solidFill>
            </a:endParaRPr>
          </a:p>
        </p:txBody>
      </p:sp>
      <p:graphicFrame>
        <p:nvGraphicFramePr>
          <p:cNvPr id="2" name="表 7">
            <a:extLst>
              <a:ext uri="{FF2B5EF4-FFF2-40B4-BE49-F238E27FC236}">
                <a16:creationId xmlns:a16="http://schemas.microsoft.com/office/drawing/2014/main" id="{19D1259C-0C44-4643-92E4-5939F4D17A13}"/>
              </a:ext>
            </a:extLst>
          </p:cNvPr>
          <p:cNvGraphicFramePr>
            <a:graphicFrameLocks noGrp="1"/>
          </p:cNvGraphicFramePr>
          <p:nvPr>
            <p:extLst>
              <p:ext uri="{D42A27DB-BD31-4B8C-83A1-F6EECF244321}">
                <p14:modId xmlns:p14="http://schemas.microsoft.com/office/powerpoint/2010/main" val="1393290090"/>
              </p:ext>
            </p:extLst>
          </p:nvPr>
        </p:nvGraphicFramePr>
        <p:xfrm>
          <a:off x="838200" y="2085974"/>
          <a:ext cx="10515600" cy="3441065"/>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1307956442"/>
                    </a:ext>
                  </a:extLst>
                </a:gridCol>
                <a:gridCol w="2103120">
                  <a:extLst>
                    <a:ext uri="{9D8B030D-6E8A-4147-A177-3AD203B41FA5}">
                      <a16:colId xmlns:a16="http://schemas.microsoft.com/office/drawing/2014/main" val="1688271558"/>
                    </a:ext>
                  </a:extLst>
                </a:gridCol>
                <a:gridCol w="2103120">
                  <a:extLst>
                    <a:ext uri="{9D8B030D-6E8A-4147-A177-3AD203B41FA5}">
                      <a16:colId xmlns:a16="http://schemas.microsoft.com/office/drawing/2014/main" val="3268838548"/>
                    </a:ext>
                  </a:extLst>
                </a:gridCol>
                <a:gridCol w="2103120">
                  <a:extLst>
                    <a:ext uri="{9D8B030D-6E8A-4147-A177-3AD203B41FA5}">
                      <a16:colId xmlns:a16="http://schemas.microsoft.com/office/drawing/2014/main" val="3423573225"/>
                    </a:ext>
                  </a:extLst>
                </a:gridCol>
                <a:gridCol w="2103120">
                  <a:extLst>
                    <a:ext uri="{9D8B030D-6E8A-4147-A177-3AD203B41FA5}">
                      <a16:colId xmlns:a16="http://schemas.microsoft.com/office/drawing/2014/main" val="2672129191"/>
                    </a:ext>
                  </a:extLst>
                </a:gridCol>
              </a:tblGrid>
              <a:tr h="596451">
                <a:tc>
                  <a:txBody>
                    <a:bodyPr/>
                    <a:lstStyle/>
                    <a:p>
                      <a:pPr algn="ctr"/>
                      <a:r>
                        <a:rPr kumimoji="1" lang="ja-JP" altLang="en-US" sz="2000" dirty="0"/>
                        <a:t>区分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合格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条件付合格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不合格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631923287"/>
                  </a:ext>
                </a:extLst>
              </a:tr>
              <a:tr h="596451">
                <a:tc rowSpan="3">
                  <a:txBody>
                    <a:bodyPr/>
                    <a:lstStyle/>
                    <a:p>
                      <a:r>
                        <a:rPr kumimoji="1" lang="ja-JP" altLang="en-US" sz="2000" dirty="0"/>
                        <a:t>受入判定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有効性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≧９０％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≧８０％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＜８０％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4598045"/>
                  </a:ext>
                </a:extLst>
              </a:tr>
              <a:tr h="596451">
                <a:tc vMerge="1">
                  <a:txBody>
                    <a:bodyPr/>
                    <a:lstStyle/>
                    <a:p>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ミス率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964727"/>
                  </a:ext>
                </a:extLst>
              </a:tr>
              <a:tr h="596451">
                <a:tc vMerge="1">
                  <a:txBody>
                    <a:bodyPr/>
                    <a:lstStyle/>
                    <a:p>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誤り警告率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≦１０％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＞１０％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3971883"/>
                  </a:ext>
                </a:extLst>
              </a:tr>
              <a:tr h="1055261">
                <a:tc gridSpan="2">
                  <a:txBody>
                    <a:bodyPr/>
                    <a:lstStyle/>
                    <a:p>
                      <a:r>
                        <a:rPr kumimoji="1" lang="ja-JP" altLang="en-US" sz="2000" dirty="0"/>
                        <a:t>一致の程度（カッパ）</a:t>
                      </a:r>
                      <a:endParaRPr kumimoji="1" lang="en-US" altLang="ja-JP" sz="2000" dirty="0"/>
                    </a:p>
                    <a:p>
                      <a:r>
                        <a:rPr kumimoji="1" lang="ja-JP" altLang="en-US" sz="1600" dirty="0"/>
                        <a:t>（カッパは、一致の程度ではなく位置しているか否かを示すもの）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kumimoji="1" lang="ja-JP" altLang="en-US" sz="2000" dirty="0"/>
                        <a:t>良い一致≧０．７５　　　　　≦０．４悪い一致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9183370"/>
                  </a:ext>
                </a:extLst>
              </a:tr>
            </a:tbl>
          </a:graphicData>
        </a:graphic>
      </p:graphicFrame>
    </p:spTree>
    <p:extLst>
      <p:ext uri="{BB962C8B-B14F-4D97-AF65-F5344CB8AC3E}">
        <p14:creationId xmlns:p14="http://schemas.microsoft.com/office/powerpoint/2010/main" val="241643017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005840"/>
          </a:xfrm>
          <a:ln w="12700">
            <a:solidFill>
              <a:schemeClr val="tx2"/>
            </a:solidFill>
          </a:ln>
        </p:spPr>
        <p:txBody>
          <a:bodyPr>
            <a:normAutofit/>
          </a:bodyPr>
          <a:lstStyle/>
          <a:p>
            <a:pPr marL="0" indent="0">
              <a:lnSpc>
                <a:spcPct val="110000"/>
              </a:lnSpc>
              <a:buNone/>
            </a:pPr>
            <a:r>
              <a:rPr lang="ja-JP" altLang="en-US" sz="2000" dirty="0"/>
              <a:t>機器の校正記録に対してトレーサブルな番号又は他の識別子は、</a:t>
            </a:r>
            <a:r>
              <a:rPr lang="en-US" altLang="ja-JP" sz="2000" dirty="0"/>
              <a:t>ISO9001:2015</a:t>
            </a:r>
            <a:r>
              <a:rPr lang="ja-JP" altLang="en-US" sz="2000" dirty="0"/>
              <a:t>における要求事項の意図を満たす。</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7.1.5.2</a:t>
            </a:r>
            <a:r>
              <a:rPr kumimoji="1" lang="ja-JP" altLang="en-US" sz="3000" b="1" dirty="0">
                <a:solidFill>
                  <a:schemeClr val="tx2"/>
                </a:solidFill>
              </a:rPr>
              <a:t>　（注記）</a:t>
            </a:r>
          </a:p>
        </p:txBody>
      </p:sp>
      <p:sp>
        <p:nvSpPr>
          <p:cNvPr id="6" name="タイトル 1">
            <a:extLst>
              <a:ext uri="{FF2B5EF4-FFF2-40B4-BE49-F238E27FC236}">
                <a16:creationId xmlns:a16="http://schemas.microsoft.com/office/drawing/2014/main" id="{8AA4AE80-CB99-425D-A894-12E750264E07}"/>
              </a:ext>
            </a:extLst>
          </p:cNvPr>
          <p:cNvSpPr txBox="1">
            <a:spLocks/>
          </p:cNvSpPr>
          <p:nvPr/>
        </p:nvSpPr>
        <p:spPr>
          <a:xfrm>
            <a:off x="838200" y="283464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7.1.5.2</a:t>
            </a:r>
            <a:r>
              <a:rPr lang="ja-JP" altLang="en-US" sz="3000" b="1" dirty="0">
                <a:solidFill>
                  <a:schemeClr val="bg1"/>
                </a:solidFill>
              </a:rPr>
              <a:t>　（注記）</a:t>
            </a:r>
          </a:p>
        </p:txBody>
      </p:sp>
      <p:sp>
        <p:nvSpPr>
          <p:cNvPr id="7" name="コンテンツ プレースホルダー 2">
            <a:extLst>
              <a:ext uri="{FF2B5EF4-FFF2-40B4-BE49-F238E27FC236}">
                <a16:creationId xmlns:a16="http://schemas.microsoft.com/office/drawing/2014/main" id="{9BB5A7DC-9284-43A3-AAA5-8FE8FBDBC151}"/>
              </a:ext>
            </a:extLst>
          </p:cNvPr>
          <p:cNvSpPr txBox="1">
            <a:spLocks/>
          </p:cNvSpPr>
          <p:nvPr/>
        </p:nvSpPr>
        <p:spPr>
          <a:xfrm>
            <a:off x="838200" y="3993514"/>
            <a:ext cx="10515600" cy="134048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ja-JP" altLang="en-US" sz="2400" dirty="0"/>
              <a:t>トレーサビリティを確実にするための記録方法を再度念押ししている。</a:t>
            </a:r>
            <a:endParaRPr lang="en-US" altLang="ja-JP" sz="2400" dirty="0"/>
          </a:p>
          <a:p>
            <a:pPr lvl="1">
              <a:lnSpc>
                <a:spcPct val="110000"/>
              </a:lnSpc>
              <a:buFont typeface="Wingdings" panose="05000000000000000000" pitchFamily="2" charset="2"/>
              <a:buChar char="Ø"/>
            </a:pPr>
            <a:r>
              <a:rPr lang="ja-JP" altLang="en-US" dirty="0"/>
              <a:t>台帳管理、現品表示などに関する番号の工夫と整合性。</a:t>
            </a:r>
            <a:endParaRPr lang="en-US" altLang="ja-JP" dirty="0"/>
          </a:p>
          <a:p>
            <a:pPr marL="0" indent="0">
              <a:lnSpc>
                <a:spcPct val="110000"/>
              </a:lnSpc>
              <a:buFont typeface="Arial" panose="020B0604020202020204" pitchFamily="34" charset="0"/>
              <a:buNone/>
            </a:pPr>
            <a:endParaRPr lang="ja-JP" altLang="en-US" sz="2000" dirty="0"/>
          </a:p>
        </p:txBody>
      </p:sp>
    </p:spTree>
    <p:extLst>
      <p:ext uri="{BB962C8B-B14F-4D97-AF65-F5344CB8AC3E}">
        <p14:creationId xmlns:p14="http://schemas.microsoft.com/office/powerpoint/2010/main" val="824109678"/>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buNone/>
            </a:pPr>
            <a:r>
              <a:rPr lang="ja-JP" altLang="en-US" sz="2000" dirty="0"/>
              <a:t>☑</a:t>
            </a:r>
            <a:r>
              <a:rPr lang="ja-JP" altLang="ja-JP" sz="2000" dirty="0"/>
              <a:t>組織は、校正／検証の記録をマネジメントする</a:t>
            </a:r>
            <a:r>
              <a:rPr lang="ja-JP" altLang="ja-JP" sz="2000" b="1" dirty="0"/>
              <a:t>文書化したプロセス</a:t>
            </a:r>
            <a:r>
              <a:rPr lang="ja-JP" altLang="ja-JP" sz="2000" dirty="0"/>
              <a:t>をもたなければならない。</a:t>
            </a:r>
            <a:endParaRPr lang="en-US" altLang="ja-JP" sz="2000" dirty="0"/>
          </a:p>
          <a:p>
            <a:pPr marL="0" indent="0">
              <a:buNone/>
            </a:pPr>
            <a:r>
              <a:rPr lang="ja-JP" altLang="en-US" sz="2000" dirty="0"/>
              <a:t>☑内部要求事項、法令・規制要求事項及び顧客が定めた要求事項への適合の証拠を提供するために必要な、全てのゲージ、測定機器及び試験設備（測定に関連する従業員所有の機器、顧客所有の機器、サイト内供給者所有の機器を含む。）に対する</a:t>
            </a:r>
            <a:r>
              <a:rPr lang="ja-JP" altLang="en-US" sz="2000" u="sng" dirty="0"/>
              <a:t>校正／検証の活動の</a:t>
            </a:r>
            <a:r>
              <a:rPr lang="ja-JP" altLang="en-US" sz="2000" b="1" u="sng" dirty="0"/>
              <a:t>記録は、保持</a:t>
            </a:r>
            <a:r>
              <a:rPr lang="ja-JP" altLang="en-US" sz="2000" u="sng" dirty="0"/>
              <a:t>しなければならない。</a:t>
            </a:r>
            <a:endParaRPr lang="en-US" altLang="ja-JP" sz="2000" u="sng" dirty="0"/>
          </a:p>
          <a:p>
            <a:pPr marL="0" indent="0">
              <a:buNone/>
            </a:pPr>
            <a:r>
              <a:rPr lang="ja-JP" altLang="en-US" sz="2000" dirty="0"/>
              <a:t>☑組織は、校正／検証の活動及び記録には次の詳細事項を含めなければならないことを確実にしなければならない。</a:t>
            </a:r>
            <a:endParaRPr lang="en-US" altLang="ja-JP" sz="2000" dirty="0"/>
          </a:p>
          <a:p>
            <a:pPr marL="800100" lvl="1" indent="-342900">
              <a:buFont typeface="+mj-lt"/>
              <a:buAutoNum type="alphaLcPeriod"/>
            </a:pPr>
            <a:r>
              <a:rPr lang="ja-JP" altLang="en-US" sz="2000" dirty="0"/>
              <a:t>測定システムに影響する、</a:t>
            </a:r>
            <a:r>
              <a:rPr lang="ja-JP" altLang="en-US" sz="2000" u="sng" dirty="0"/>
              <a:t>設計変更による改訂</a:t>
            </a:r>
            <a:endParaRPr lang="en-US" altLang="ja-JP" sz="2000" u="sng" dirty="0"/>
          </a:p>
          <a:p>
            <a:pPr marL="800100" lvl="1" indent="-342900">
              <a:buFont typeface="+mj-lt"/>
              <a:buAutoNum type="alphaLcPeriod"/>
            </a:pPr>
            <a:r>
              <a:rPr lang="ja-JP" altLang="en-US" sz="2000" dirty="0"/>
              <a:t>校正／検証のために受け入れた状態で、</a:t>
            </a:r>
            <a:r>
              <a:rPr lang="ja-JP" altLang="en-US" sz="2000" u="sng" dirty="0"/>
              <a:t>仕様外れの値</a:t>
            </a:r>
            <a:endParaRPr lang="en-US" altLang="ja-JP" sz="2000" u="sng" dirty="0"/>
          </a:p>
          <a:p>
            <a:pPr marL="800100" lvl="1" indent="-342900">
              <a:buFont typeface="+mj-lt"/>
              <a:buAutoNum type="alphaLcPeriod"/>
            </a:pPr>
            <a:r>
              <a:rPr lang="ja-JP" altLang="en-US" sz="2000" u="sng" dirty="0"/>
              <a:t>仕様外れ状態によって引き起こされ得る</a:t>
            </a:r>
            <a:r>
              <a:rPr lang="ja-JP" altLang="en-US" sz="2000" dirty="0"/>
              <a:t>製品の意図した用途に対する</a:t>
            </a:r>
            <a:r>
              <a:rPr lang="ja-JP" altLang="en-US" sz="2000" u="sng" dirty="0"/>
              <a:t>リスクの評価</a:t>
            </a:r>
            <a:endParaRPr lang="en-US" altLang="ja-JP" sz="2000" u="sng" dirty="0"/>
          </a:p>
          <a:p>
            <a:pPr marL="800100" lvl="1" indent="-342900">
              <a:buFont typeface="+mj-lt"/>
              <a:buAutoNum type="alphaLcPeriod"/>
            </a:pPr>
            <a:r>
              <a:rPr lang="ja-JP" altLang="en-US" sz="2000" dirty="0"/>
              <a:t>検査測定及び試験設備が、計画した検証又は校正、又はその使用中に、</a:t>
            </a:r>
            <a:r>
              <a:rPr lang="ja-JP" altLang="en-US" sz="2000" u="sng" dirty="0"/>
              <a:t>校正外れ又は故障が発見された場合</a:t>
            </a:r>
            <a:r>
              <a:rPr lang="ja-JP" altLang="en-US" sz="2000" dirty="0"/>
              <a:t>、この検査測定及び試験設備によって得られた以前の測定結果の妥当性に関する文書化した情報を、校正報告書に関連する標準器の</a:t>
            </a:r>
            <a:r>
              <a:rPr lang="ja-JP" altLang="en-US" sz="2000" u="sng" dirty="0"/>
              <a:t>最後の校正を行った日付及び次の校正が必要になる期限を含めて、保持しなければならない。</a:t>
            </a:r>
            <a:endParaRPr lang="en-US" altLang="ja-JP" sz="2000" u="sng" dirty="0"/>
          </a:p>
          <a:p>
            <a:pPr marL="0" indent="0">
              <a:buNone/>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7.1.5.2.1</a:t>
            </a:r>
            <a:r>
              <a:rPr kumimoji="1" lang="ja-JP" altLang="en-US" sz="3000" b="1" dirty="0">
                <a:solidFill>
                  <a:schemeClr val="tx2"/>
                </a:solidFill>
              </a:rPr>
              <a:t>　校正／検証の記録</a:t>
            </a:r>
          </a:p>
        </p:txBody>
      </p:sp>
    </p:spTree>
    <p:extLst>
      <p:ext uri="{BB962C8B-B14F-4D97-AF65-F5344CB8AC3E}">
        <p14:creationId xmlns:p14="http://schemas.microsoft.com/office/powerpoint/2010/main" val="280133473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800100" lvl="1" indent="-342900">
              <a:lnSpc>
                <a:spcPct val="100000"/>
              </a:lnSpc>
              <a:buFont typeface="+mj-lt"/>
              <a:buAutoNum type="alphaLcPeriod" startAt="5"/>
            </a:pPr>
            <a:r>
              <a:rPr lang="ja-JP" altLang="en-US" sz="2000" dirty="0"/>
              <a:t>疑わしい製品又は材料が出荷された場合の</a:t>
            </a:r>
            <a:r>
              <a:rPr lang="ja-JP" altLang="en-US" sz="2000" u="sng" dirty="0"/>
              <a:t>顧客への通知</a:t>
            </a:r>
            <a:endParaRPr lang="en-US" altLang="ja-JP" sz="2000" u="sng" dirty="0"/>
          </a:p>
          <a:p>
            <a:pPr marL="800100" lvl="1" indent="-342900">
              <a:lnSpc>
                <a:spcPct val="100000"/>
              </a:lnSpc>
              <a:buFont typeface="+mj-lt"/>
              <a:buAutoNum type="alphaLcPeriod" startAt="5"/>
            </a:pPr>
            <a:r>
              <a:rPr lang="ja-JP" altLang="en-US" sz="2000" dirty="0"/>
              <a:t>校正／検証後の、仕様への適合表明</a:t>
            </a:r>
            <a:endParaRPr lang="en-US" altLang="ja-JP" sz="2000" dirty="0"/>
          </a:p>
          <a:p>
            <a:pPr marL="800100" lvl="1" indent="-342900">
              <a:lnSpc>
                <a:spcPct val="100000"/>
              </a:lnSpc>
              <a:buFont typeface="+mj-lt"/>
              <a:buAutoNum type="alphaLcPeriod" startAt="5"/>
            </a:pPr>
            <a:r>
              <a:rPr lang="ja-JP" altLang="en-US" sz="2000" dirty="0"/>
              <a:t>製品及び工程の管理に使用される</a:t>
            </a:r>
            <a:r>
              <a:rPr lang="ja-JP" altLang="en-US" sz="2000" u="sng" dirty="0"/>
              <a:t>ソフトウェアのバージョンが指示どおりであることの検証</a:t>
            </a:r>
            <a:endParaRPr lang="en-US" altLang="ja-JP" sz="2000" u="sng" dirty="0"/>
          </a:p>
          <a:p>
            <a:pPr marL="800100" lvl="1" indent="-342900">
              <a:lnSpc>
                <a:spcPct val="100000"/>
              </a:lnSpc>
              <a:buFont typeface="+mj-lt"/>
              <a:buAutoNum type="alphaLcPeriod" startAt="5"/>
            </a:pPr>
            <a:r>
              <a:rPr lang="ja-JP" altLang="en-US" sz="2000" dirty="0"/>
              <a:t>全てのゲージ（従業員所有の機器、顧客所有の機器、サイト内供給者所有の機器を含む）に対する</a:t>
            </a:r>
            <a:r>
              <a:rPr lang="ja-JP" altLang="en-US" sz="2000" u="sng" dirty="0"/>
              <a:t>校正及び保全活動の記録</a:t>
            </a:r>
            <a:endParaRPr lang="en-US" altLang="ja-JP" sz="2000" u="sng" dirty="0"/>
          </a:p>
          <a:p>
            <a:pPr marL="800100" lvl="1" indent="-342900">
              <a:lnSpc>
                <a:spcPct val="100000"/>
              </a:lnSpc>
              <a:buFont typeface="+mj-lt"/>
              <a:buAutoNum type="alphaLcPeriod" startAt="5"/>
            </a:pPr>
            <a:r>
              <a:rPr lang="ja-JP" altLang="en-US" sz="2000" dirty="0"/>
              <a:t>製品及び工程の管理に使用される（従業員所有の機器、顧客所有の機器、サイト内供給者所有の機器にインストールされたソフトウェアを含む）</a:t>
            </a:r>
            <a:r>
              <a:rPr lang="ja-JP" altLang="en-US" sz="2000" u="sng" dirty="0"/>
              <a:t>生産に関係するソフトウェアの検証</a:t>
            </a:r>
          </a:p>
          <a:p>
            <a:pPr marL="0" indent="0">
              <a:buNone/>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7.1.5.2.1</a:t>
            </a:r>
            <a:r>
              <a:rPr kumimoji="1" lang="ja-JP" altLang="en-US" sz="3000" b="1" dirty="0">
                <a:solidFill>
                  <a:schemeClr val="tx2"/>
                </a:solidFill>
              </a:rPr>
              <a:t>　校正／検証の記録</a:t>
            </a:r>
          </a:p>
        </p:txBody>
      </p:sp>
    </p:spTree>
    <p:extLst>
      <p:ext uri="{BB962C8B-B14F-4D97-AF65-F5344CB8AC3E}">
        <p14:creationId xmlns:p14="http://schemas.microsoft.com/office/powerpoint/2010/main" val="27297073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200" dirty="0"/>
              <a:t>ＩＳＯ９００１における校正／検証の記録要求がより詳細となった。</a:t>
            </a:r>
            <a:endParaRPr lang="en-US" altLang="ja-JP" sz="2200" dirty="0"/>
          </a:p>
          <a:p>
            <a:pPr marL="457200" indent="-457200">
              <a:buFont typeface="+mj-lt"/>
              <a:buAutoNum type="arabicPeriod"/>
            </a:pPr>
            <a:r>
              <a:rPr lang="ja-JP" altLang="en-US" sz="2200" dirty="0"/>
              <a:t>ａ）機器の改造、内臓プログラムの改訂など。</a:t>
            </a:r>
            <a:endParaRPr lang="en-US" altLang="ja-JP" sz="2200" dirty="0"/>
          </a:p>
          <a:p>
            <a:pPr marL="457200" indent="-457200">
              <a:buFont typeface="+mj-lt"/>
              <a:buAutoNum type="arabicPeriod"/>
            </a:pPr>
            <a:r>
              <a:rPr lang="ja-JP" altLang="en-US" sz="2200" dirty="0"/>
              <a:t>ｂ）校正実施時の外れた値　➠　この程度によりｃ）及びｄ）の判断が変化する。</a:t>
            </a:r>
            <a:endParaRPr lang="en-US" altLang="ja-JP" sz="2200" dirty="0"/>
          </a:p>
          <a:p>
            <a:pPr marL="457200" indent="-457200">
              <a:buFont typeface="+mj-lt"/>
              <a:buAutoNum type="arabicPeriod"/>
            </a:pPr>
            <a:r>
              <a:rPr lang="ja-JP" altLang="en-US" sz="2200" dirty="0"/>
              <a:t>ｃ）仕様外れの程度を当該ＦＭＥＡにより評価し、</a:t>
            </a:r>
            <a:r>
              <a:rPr lang="en-US" altLang="ja-JP" sz="2200" dirty="0"/>
              <a:t>7.1.5.2</a:t>
            </a:r>
            <a:r>
              <a:rPr lang="ja-JP" altLang="en-US" sz="2200" dirty="0"/>
              <a:t>の対応を行う。</a:t>
            </a:r>
            <a:endParaRPr lang="en-US" altLang="ja-JP" sz="2200" dirty="0"/>
          </a:p>
          <a:p>
            <a:pPr marL="457200" indent="-457200">
              <a:buFont typeface="+mj-lt"/>
              <a:buAutoNum type="arabicPeriod"/>
            </a:pPr>
            <a:r>
              <a:rPr lang="ja-JP" altLang="en-US" sz="2200" dirty="0"/>
              <a:t>ｅ）疑わしい製品の出荷については、</a:t>
            </a:r>
            <a:r>
              <a:rPr lang="en-US" altLang="ja-JP" sz="2200" dirty="0"/>
              <a:t>8.7.1.3</a:t>
            </a:r>
            <a:r>
              <a:rPr lang="ja-JP" altLang="en-US" sz="2200" dirty="0"/>
              <a:t>に従う。</a:t>
            </a:r>
            <a:endParaRPr lang="en-US" altLang="ja-JP" sz="2200" dirty="0"/>
          </a:p>
          <a:p>
            <a:pPr marL="457200" indent="-457200">
              <a:buFont typeface="+mj-lt"/>
              <a:buAutoNum type="arabicPeriod"/>
            </a:pPr>
            <a:r>
              <a:rPr lang="ja-JP" altLang="en-US" sz="2200" dirty="0"/>
              <a:t>ｇ）バージョンが正しいか？　　ｉ）ソフトが正しいか？</a:t>
            </a:r>
            <a:endParaRPr lang="en-US" altLang="ja-JP" sz="2200" dirty="0"/>
          </a:p>
          <a:p>
            <a:pPr marL="457200" indent="-457200">
              <a:buFont typeface="+mj-lt"/>
              <a:buAutoNum type="arabicPeriod"/>
            </a:pPr>
            <a:r>
              <a:rPr lang="ja-JP" altLang="en-US" sz="2200" dirty="0"/>
              <a:t>規格は、“従業員所有の機器”　の存在を肯定しているが、可能な限り排除（組織による所有）すべき。</a:t>
            </a:r>
            <a:endParaRPr lang="en-US" altLang="ja-JP" sz="2200"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7.1.5.2.1</a:t>
            </a:r>
            <a:r>
              <a:rPr lang="ja-JP" altLang="en-US" sz="3000" b="1" dirty="0">
                <a:solidFill>
                  <a:schemeClr val="bg1"/>
                </a:solidFill>
              </a:rPr>
              <a:t>　校正／検証の記録</a:t>
            </a:r>
            <a:endParaRPr kumimoji="1" lang="ja-JP" altLang="en-US" sz="3000" b="1" dirty="0">
              <a:solidFill>
                <a:schemeClr val="bg1"/>
              </a:solidFill>
            </a:endParaRPr>
          </a:p>
        </p:txBody>
      </p:sp>
      <p:sp>
        <p:nvSpPr>
          <p:cNvPr id="6" name="矢印: 右 5">
            <a:extLst>
              <a:ext uri="{FF2B5EF4-FFF2-40B4-BE49-F238E27FC236}">
                <a16:creationId xmlns:a16="http://schemas.microsoft.com/office/drawing/2014/main" id="{C3DB1E15-3784-4B2B-B0BC-397BD1684630}"/>
              </a:ext>
            </a:extLst>
          </p:cNvPr>
          <p:cNvSpPr/>
          <p:nvPr/>
        </p:nvSpPr>
        <p:spPr>
          <a:xfrm>
            <a:off x="954497" y="5379011"/>
            <a:ext cx="326673" cy="737693"/>
          </a:xfrm>
          <a:prstGeom prst="rightArrow">
            <a:avLst>
              <a:gd name="adj1" fmla="val 7371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88C639BA-EA19-4E00-BA8F-0A3C2579BA38}"/>
              </a:ext>
            </a:extLst>
          </p:cNvPr>
          <p:cNvSpPr/>
          <p:nvPr/>
        </p:nvSpPr>
        <p:spPr>
          <a:xfrm>
            <a:off x="1311008" y="5139367"/>
            <a:ext cx="4327792" cy="1216983"/>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単に校正／検証の記録だけではない。（補正前の値／機器に対して行った途中の調整／顧客通知</a:t>
            </a:r>
            <a:r>
              <a:rPr lang="ja-JP" altLang="en-US" sz="2000" dirty="0">
                <a:solidFill>
                  <a:schemeClr val="tx1"/>
                </a:solidFill>
              </a:rPr>
              <a:t>）</a:t>
            </a:r>
            <a:endParaRPr kumimoji="1" lang="ja-JP" altLang="en-US" sz="2000" dirty="0">
              <a:solidFill>
                <a:schemeClr val="tx1"/>
              </a:solidFill>
            </a:endParaRPr>
          </a:p>
        </p:txBody>
      </p:sp>
      <p:sp>
        <p:nvSpPr>
          <p:cNvPr id="10" name="矢印: 右 9">
            <a:extLst>
              <a:ext uri="{FF2B5EF4-FFF2-40B4-BE49-F238E27FC236}">
                <a16:creationId xmlns:a16="http://schemas.microsoft.com/office/drawing/2014/main" id="{D1BBFD7D-9D37-4B54-AC2C-7422D611DB06}"/>
              </a:ext>
            </a:extLst>
          </p:cNvPr>
          <p:cNvSpPr/>
          <p:nvPr/>
        </p:nvSpPr>
        <p:spPr>
          <a:xfrm>
            <a:off x="5746376" y="5379012"/>
            <a:ext cx="326673" cy="737693"/>
          </a:xfrm>
          <a:prstGeom prst="rightArrow">
            <a:avLst>
              <a:gd name="adj1" fmla="val 7371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FC0DF46A-AE60-476D-9E56-3701AC12AF9D}"/>
              </a:ext>
            </a:extLst>
          </p:cNvPr>
          <p:cNvSpPr/>
          <p:nvPr/>
        </p:nvSpPr>
        <p:spPr>
          <a:xfrm>
            <a:off x="6096000" y="5139367"/>
            <a:ext cx="5257799" cy="1216983"/>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特に重要視すべきは、</a:t>
            </a:r>
            <a:r>
              <a:rPr lang="ja-JP" altLang="en-US" sz="2000" dirty="0">
                <a:solidFill>
                  <a:schemeClr val="tx1"/>
                </a:solidFill>
              </a:rPr>
              <a:t>校正で不合格になった場合に、</a:t>
            </a:r>
            <a:r>
              <a:rPr lang="en-US" altLang="ja-JP" sz="2000" dirty="0">
                <a:solidFill>
                  <a:srgbClr val="FF0000"/>
                </a:solidFill>
                <a:effectLst>
                  <a:outerShdw blurRad="38100" dist="38100" dir="2700000" algn="tl">
                    <a:srgbClr val="000000">
                      <a:alpha val="43137"/>
                    </a:srgbClr>
                  </a:outerShdw>
                </a:effectLst>
              </a:rPr>
              <a:t>『</a:t>
            </a:r>
            <a:r>
              <a:rPr lang="ja-JP" altLang="en-US" sz="2000" dirty="0">
                <a:solidFill>
                  <a:srgbClr val="FF0000"/>
                </a:solidFill>
                <a:effectLst>
                  <a:outerShdw blurRad="38100" dist="38100" dir="2700000" algn="tl">
                    <a:srgbClr val="000000">
                      <a:alpha val="43137"/>
                    </a:srgbClr>
                  </a:outerShdw>
                </a:effectLst>
              </a:rPr>
              <a:t>その機器をどの期間どの現場で使用したか</a:t>
            </a:r>
            <a:r>
              <a:rPr lang="en-US" altLang="ja-JP" sz="2000" dirty="0">
                <a:solidFill>
                  <a:srgbClr val="FF0000"/>
                </a:solidFill>
                <a:effectLst>
                  <a:outerShdw blurRad="38100" dist="38100" dir="2700000" algn="tl">
                    <a:srgbClr val="000000">
                      <a:alpha val="43137"/>
                    </a:srgbClr>
                  </a:outerShdw>
                </a:effectLst>
              </a:rPr>
              <a:t>』</a:t>
            </a:r>
            <a:r>
              <a:rPr kumimoji="1" lang="ja-JP" altLang="en-US" sz="2000" dirty="0">
                <a:solidFill>
                  <a:schemeClr val="tx1"/>
                </a:solidFill>
              </a:rPr>
              <a:t>がわかること。</a:t>
            </a:r>
          </a:p>
        </p:txBody>
      </p:sp>
      <p:sp>
        <p:nvSpPr>
          <p:cNvPr id="2" name="吹き出し: 角を丸めた四角形 1">
            <a:extLst>
              <a:ext uri="{FF2B5EF4-FFF2-40B4-BE49-F238E27FC236}">
                <a16:creationId xmlns:a16="http://schemas.microsoft.com/office/drawing/2014/main" id="{0259CB58-1A67-49CA-9017-AA8159A2D0CE}"/>
              </a:ext>
            </a:extLst>
          </p:cNvPr>
          <p:cNvSpPr/>
          <p:nvPr/>
        </p:nvSpPr>
        <p:spPr>
          <a:xfrm>
            <a:off x="10486953" y="5991224"/>
            <a:ext cx="788078" cy="365126"/>
          </a:xfrm>
          <a:prstGeom prst="wedgeRoundRectCallout">
            <a:avLst>
              <a:gd name="adj1" fmla="val -37888"/>
              <a:gd name="adj2" fmla="val -74493"/>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ｄ）</a:t>
            </a:r>
          </a:p>
        </p:txBody>
      </p:sp>
    </p:spTree>
    <p:extLst>
      <p:ext uri="{BB962C8B-B14F-4D97-AF65-F5344CB8AC3E}">
        <p14:creationId xmlns:p14="http://schemas.microsoft.com/office/powerpoint/2010/main" val="310818154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85000" lnSpcReduction="10000"/>
          </a:bodyPr>
          <a:lstStyle/>
          <a:p>
            <a:pPr marL="0" indent="0">
              <a:lnSpc>
                <a:spcPct val="120000"/>
              </a:lnSpc>
              <a:buNone/>
            </a:pPr>
            <a:r>
              <a:rPr lang="ja-JP" altLang="en-US" sz="2400" dirty="0"/>
              <a:t>☑組織内部の試験所施設は、要求される検査、試験又は校正サービスを実行する能力を含む、定められた適用範囲をもたなければならない。</a:t>
            </a:r>
            <a:endParaRPr lang="en-US" altLang="ja-JP" sz="2400" dirty="0"/>
          </a:p>
          <a:p>
            <a:pPr marL="0" indent="0">
              <a:lnSpc>
                <a:spcPct val="120000"/>
              </a:lnSpc>
              <a:buNone/>
            </a:pPr>
            <a:r>
              <a:rPr lang="ja-JP" altLang="en-US" sz="2400" dirty="0"/>
              <a:t>☑この試験所適用範囲は、</a:t>
            </a:r>
            <a:r>
              <a:rPr lang="ja-JP" altLang="en-US" sz="2400" b="1" dirty="0"/>
              <a:t>品質マネジメントシステム文書</a:t>
            </a:r>
            <a:r>
              <a:rPr lang="ja-JP" altLang="en-US" sz="2400" dirty="0"/>
              <a:t>に含めなければならない。</a:t>
            </a:r>
            <a:endParaRPr lang="en-US" altLang="ja-JP" sz="2400" dirty="0"/>
          </a:p>
          <a:p>
            <a:pPr marL="0" indent="0">
              <a:lnSpc>
                <a:spcPct val="120000"/>
              </a:lnSpc>
              <a:buNone/>
            </a:pPr>
            <a:r>
              <a:rPr lang="ja-JP" altLang="en-US" sz="2400" dirty="0"/>
              <a:t>☑試験所は、最低限、</a:t>
            </a:r>
            <a:r>
              <a:rPr lang="ja-JP" altLang="en-US" sz="2400" u="sng" dirty="0"/>
              <a:t>次の事項に対する要求事項を規定し、実施しなければならない。</a:t>
            </a:r>
            <a:endParaRPr lang="en-US" altLang="ja-JP" sz="2400" u="sng" dirty="0"/>
          </a:p>
          <a:p>
            <a:pPr marL="914400" lvl="1" indent="-457200">
              <a:lnSpc>
                <a:spcPct val="120000"/>
              </a:lnSpc>
              <a:buFont typeface="+mj-lt"/>
              <a:buAutoNum type="alphaLcPeriod"/>
            </a:pPr>
            <a:r>
              <a:rPr lang="ja-JP" altLang="en-US" dirty="0"/>
              <a:t>試験所の</a:t>
            </a:r>
            <a:r>
              <a:rPr lang="ja-JP" altLang="en-US" u="sng" dirty="0"/>
              <a:t>技術手順</a:t>
            </a:r>
            <a:r>
              <a:rPr lang="ja-JP" altLang="en-US" dirty="0"/>
              <a:t>の適切性</a:t>
            </a:r>
            <a:endParaRPr lang="en-US" altLang="ja-JP" dirty="0"/>
          </a:p>
          <a:p>
            <a:pPr marL="914400" lvl="1" indent="-457200">
              <a:lnSpc>
                <a:spcPct val="120000"/>
              </a:lnSpc>
              <a:buFont typeface="+mj-lt"/>
              <a:buAutoNum type="alphaLcPeriod"/>
            </a:pPr>
            <a:r>
              <a:rPr lang="ja-JP" altLang="en-US" dirty="0"/>
              <a:t>試験所要員の</a:t>
            </a:r>
            <a:r>
              <a:rPr lang="ja-JP" altLang="en-US" u="sng" dirty="0"/>
              <a:t>力量</a:t>
            </a:r>
            <a:endParaRPr lang="en-US" altLang="ja-JP" u="sng" dirty="0"/>
          </a:p>
          <a:p>
            <a:pPr marL="914400" lvl="1" indent="-457200">
              <a:lnSpc>
                <a:spcPct val="120000"/>
              </a:lnSpc>
              <a:buFont typeface="+mj-lt"/>
              <a:buAutoNum type="alphaLcPeriod"/>
            </a:pPr>
            <a:r>
              <a:rPr lang="ja-JP" altLang="en-US" dirty="0"/>
              <a:t>製品の</a:t>
            </a:r>
            <a:r>
              <a:rPr lang="ja-JP" altLang="en-US" u="sng" dirty="0"/>
              <a:t>試験</a:t>
            </a:r>
            <a:endParaRPr lang="en-US" altLang="ja-JP" u="sng" dirty="0"/>
          </a:p>
          <a:p>
            <a:pPr marL="914400" lvl="1" indent="-457200">
              <a:lnSpc>
                <a:spcPct val="120000"/>
              </a:lnSpc>
              <a:buFont typeface="+mj-lt"/>
              <a:buAutoNum type="alphaLcPeriod"/>
            </a:pPr>
            <a:r>
              <a:rPr lang="ja-JP" altLang="en-US" u="sng" dirty="0"/>
              <a:t>該当するプロセス規格</a:t>
            </a:r>
            <a:r>
              <a:rPr lang="ja-JP" altLang="en-US" dirty="0"/>
              <a:t>（</a:t>
            </a:r>
            <a:r>
              <a:rPr lang="en-US" altLang="ja-JP" dirty="0"/>
              <a:t>ASTM</a:t>
            </a:r>
            <a:r>
              <a:rPr lang="ja-JP" altLang="en-US" dirty="0" err="1"/>
              <a:t>、</a:t>
            </a:r>
            <a:r>
              <a:rPr lang="en-US" altLang="ja-JP" dirty="0"/>
              <a:t>EN</a:t>
            </a:r>
            <a:r>
              <a:rPr lang="ja-JP" altLang="en-US" dirty="0"/>
              <a:t>などのような）にトレーサブルな形で、これらのサービスを正確に実行する能力。国家標準又は国際標準が存在しない場合、組織は、測定システムの能力を検証する手法を定めて実施しなければならない。</a:t>
            </a:r>
            <a:endParaRPr lang="en-US" altLang="ja-JP" dirty="0"/>
          </a:p>
          <a:p>
            <a:pPr marL="914400" lvl="1" indent="-457200">
              <a:lnSpc>
                <a:spcPct val="120000"/>
              </a:lnSpc>
              <a:buFont typeface="+mj-lt"/>
              <a:buAutoNum type="alphaLcPeriod"/>
            </a:pPr>
            <a:r>
              <a:rPr lang="ja-JP" altLang="en-US" dirty="0"/>
              <a:t>もしあれば、</a:t>
            </a:r>
            <a:r>
              <a:rPr lang="ja-JP" altLang="en-US" u="sng" dirty="0"/>
              <a:t>顧客要求事項</a:t>
            </a:r>
            <a:endParaRPr lang="ja-JP" altLang="en-US" sz="2400" u="sng" dirty="0"/>
          </a:p>
          <a:p>
            <a:pPr marL="0" indent="0">
              <a:buNone/>
            </a:pPr>
            <a:endParaRPr lang="ja-JP" altLang="en-US" sz="2000" dirty="0"/>
          </a:p>
          <a:p>
            <a:pPr marL="0" indent="0">
              <a:buNone/>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7.1.5.3.1</a:t>
            </a:r>
            <a:r>
              <a:rPr kumimoji="1" lang="ja-JP" altLang="en-US" sz="3000" b="1" dirty="0">
                <a:solidFill>
                  <a:schemeClr val="tx2"/>
                </a:solidFill>
              </a:rPr>
              <a:t>　内部試験所</a:t>
            </a:r>
          </a:p>
        </p:txBody>
      </p:sp>
    </p:spTree>
    <p:extLst>
      <p:ext uri="{BB962C8B-B14F-4D97-AF65-F5344CB8AC3E}">
        <p14:creationId xmlns:p14="http://schemas.microsoft.com/office/powerpoint/2010/main" val="1815303014"/>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149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20000"/>
              </a:lnSpc>
              <a:buFont typeface="+mj-lt"/>
              <a:buAutoNum type="alphaLcPeriod" startAt="6"/>
            </a:pPr>
            <a:r>
              <a:rPr lang="ja-JP" altLang="en-US" sz="2000" dirty="0"/>
              <a:t>関係する記録のレビュー</a:t>
            </a:r>
            <a:endParaRPr lang="en-US" altLang="ja-JP" sz="2000" dirty="0"/>
          </a:p>
          <a:p>
            <a:pPr marL="0" indent="0">
              <a:lnSpc>
                <a:spcPct val="120000"/>
              </a:lnSpc>
              <a:buNone/>
            </a:pPr>
            <a:r>
              <a:rPr lang="ja-JP" altLang="en-US" sz="2000" dirty="0"/>
              <a:t>注記　</a:t>
            </a:r>
            <a:r>
              <a:rPr lang="en-US" altLang="ja-JP" sz="2000" u="sng" dirty="0"/>
              <a:t>ISO/TEC17025</a:t>
            </a:r>
            <a:r>
              <a:rPr lang="ja-JP" altLang="en-US" sz="2000" u="sng" dirty="0"/>
              <a:t>（又はそれに相当するもの）に対する第三者認定</a:t>
            </a:r>
            <a:r>
              <a:rPr lang="ja-JP" altLang="en-US" sz="2000" dirty="0"/>
              <a:t>を、組織の内部試験所がこの要求事項に適合していることの実証に使用してもよい。</a:t>
            </a:r>
          </a:p>
          <a:p>
            <a:pPr marL="0" indent="0">
              <a:buNone/>
            </a:pPr>
            <a:endParaRPr lang="ja-JP" altLang="en-US" sz="2000" dirty="0"/>
          </a:p>
          <a:p>
            <a:pPr marL="0" indent="0">
              <a:buNone/>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7.1.5.3.1</a:t>
            </a:r>
            <a:r>
              <a:rPr kumimoji="1" lang="ja-JP" altLang="en-US" sz="3000" b="1" dirty="0">
                <a:solidFill>
                  <a:schemeClr val="tx2"/>
                </a:solidFill>
              </a:rPr>
              <a:t>　内部試験所</a:t>
            </a:r>
          </a:p>
        </p:txBody>
      </p:sp>
    </p:spTree>
    <p:extLst>
      <p:ext uri="{BB962C8B-B14F-4D97-AF65-F5344CB8AC3E}">
        <p14:creationId xmlns:p14="http://schemas.microsoft.com/office/powerpoint/2010/main" val="341872115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66725"/>
          </a:xfrm>
          <a:ln w="12700">
            <a:noFill/>
          </a:ln>
        </p:spPr>
        <p:txBody>
          <a:bodyPr>
            <a:normAutofit/>
          </a:bodyPr>
          <a:lstStyle/>
          <a:p>
            <a:pPr marL="457200" indent="-457200">
              <a:buFont typeface="+mj-lt"/>
              <a:buAutoNum type="arabicPeriod"/>
            </a:pPr>
            <a:r>
              <a:rPr lang="ja-JP" altLang="en-US" sz="2400" dirty="0"/>
              <a:t>規格要求事項の要点整理。</a:t>
            </a:r>
            <a:endParaRPr lang="en-US" altLang="ja-JP" dirty="0"/>
          </a:p>
          <a:p>
            <a:pPr marL="457200" indent="-457200">
              <a:buFont typeface="+mj-lt"/>
              <a:buAutoNum type="arabicPeriod"/>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7.1.5.3.1</a:t>
            </a:r>
            <a:r>
              <a:rPr lang="ja-JP" altLang="en-US" sz="3000" b="1" dirty="0">
                <a:solidFill>
                  <a:schemeClr val="bg1"/>
                </a:solidFill>
              </a:rPr>
              <a:t>　内部試験所</a:t>
            </a:r>
            <a:endParaRPr kumimoji="1" lang="ja-JP" altLang="en-US" sz="3000" b="1" dirty="0">
              <a:solidFill>
                <a:schemeClr val="bg1"/>
              </a:solidFill>
            </a:endParaRPr>
          </a:p>
        </p:txBody>
      </p:sp>
      <p:graphicFrame>
        <p:nvGraphicFramePr>
          <p:cNvPr id="2" name="表 5">
            <a:extLst>
              <a:ext uri="{FF2B5EF4-FFF2-40B4-BE49-F238E27FC236}">
                <a16:creationId xmlns:a16="http://schemas.microsoft.com/office/drawing/2014/main" id="{64BB54EE-5E3C-4399-AC0A-C19A6D596162}"/>
              </a:ext>
            </a:extLst>
          </p:cNvPr>
          <p:cNvGraphicFramePr>
            <a:graphicFrameLocks noGrp="1"/>
          </p:cNvGraphicFramePr>
          <p:nvPr>
            <p:extLst>
              <p:ext uri="{D42A27DB-BD31-4B8C-83A1-F6EECF244321}">
                <p14:modId xmlns:p14="http://schemas.microsoft.com/office/powerpoint/2010/main" val="4124382561"/>
              </p:ext>
            </p:extLst>
          </p:nvPr>
        </p:nvGraphicFramePr>
        <p:xfrm>
          <a:off x="838200" y="1990725"/>
          <a:ext cx="10515600" cy="4406482"/>
        </p:xfrm>
        <a:graphic>
          <a:graphicData uri="http://schemas.openxmlformats.org/drawingml/2006/table">
            <a:tbl>
              <a:tblPr firstRow="1" bandRow="1">
                <a:tableStyleId>{5940675A-B579-460E-94D1-54222C63F5DA}</a:tableStyleId>
              </a:tblPr>
              <a:tblGrid>
                <a:gridCol w="1933575">
                  <a:extLst>
                    <a:ext uri="{9D8B030D-6E8A-4147-A177-3AD203B41FA5}">
                      <a16:colId xmlns:a16="http://schemas.microsoft.com/office/drawing/2014/main" val="1995280537"/>
                    </a:ext>
                  </a:extLst>
                </a:gridCol>
                <a:gridCol w="8582025">
                  <a:extLst>
                    <a:ext uri="{9D8B030D-6E8A-4147-A177-3AD203B41FA5}">
                      <a16:colId xmlns:a16="http://schemas.microsoft.com/office/drawing/2014/main" val="1549831623"/>
                    </a:ext>
                  </a:extLst>
                </a:gridCol>
              </a:tblGrid>
              <a:tr h="456336">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要点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199224546"/>
                  </a:ext>
                </a:extLst>
              </a:tr>
              <a:tr h="456336">
                <a:tc>
                  <a:txBody>
                    <a:bodyPr/>
                    <a:lstStyle/>
                    <a:p>
                      <a:r>
                        <a:rPr kumimoji="1" lang="ja-JP" altLang="en-US" sz="2000" dirty="0"/>
                        <a:t>適用範囲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「品質マニュアル」或いは「検査管理規定」などによる文書化。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1037290"/>
                  </a:ext>
                </a:extLst>
              </a:tr>
              <a:tr h="787649">
                <a:tc>
                  <a:txBody>
                    <a:bodyPr/>
                    <a:lstStyle/>
                    <a:p>
                      <a:r>
                        <a:rPr kumimoji="1" lang="ja-JP" altLang="en-US" sz="2000" dirty="0"/>
                        <a:t>技術手順の適切性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検査・試験の手順及び測定機器校正の手順を決めて、適切性を検証（製品監査など）する。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6350143"/>
                  </a:ext>
                </a:extLst>
              </a:tr>
              <a:tr h="456336">
                <a:tc>
                  <a:txBody>
                    <a:bodyPr/>
                    <a:lstStyle/>
                    <a:p>
                      <a:r>
                        <a:rPr kumimoji="1" lang="ja-JP" altLang="en-US" sz="2000" dirty="0"/>
                        <a:t>要員の力量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試験所要員に必要な力量を明確にし、保有する。（</a:t>
                      </a:r>
                      <a:r>
                        <a:rPr kumimoji="1" lang="en-US" altLang="ja-JP" sz="2000" dirty="0"/>
                        <a:t>7.2</a:t>
                      </a:r>
                      <a:r>
                        <a:rPr kumimoji="1" lang="ja-JP" altLang="en-US" sz="2000" dirty="0"/>
                        <a:t>項による運用）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5313348"/>
                  </a:ext>
                </a:extLst>
              </a:tr>
              <a:tr h="456336">
                <a:tc>
                  <a:txBody>
                    <a:bodyPr/>
                    <a:lstStyle/>
                    <a:p>
                      <a:r>
                        <a:rPr kumimoji="1" lang="ja-JP" altLang="en-US" sz="2000" dirty="0"/>
                        <a:t>製品の試験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実施する検査・試験・評価の内容及び設備・機器リストなどの作成。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323607"/>
                  </a:ext>
                </a:extLst>
              </a:tr>
              <a:tr h="964982">
                <a:tc>
                  <a:txBody>
                    <a:bodyPr/>
                    <a:lstStyle/>
                    <a:p>
                      <a:r>
                        <a:rPr kumimoji="1" lang="ja-JP" altLang="en-US" sz="2000" dirty="0"/>
                        <a:t>該当するプロセス規格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国家標準（</a:t>
                      </a:r>
                      <a:r>
                        <a:rPr kumimoji="1" lang="en-US" altLang="ja-JP" sz="2000" dirty="0"/>
                        <a:t>JIS</a:t>
                      </a:r>
                      <a:r>
                        <a:rPr kumimoji="1" lang="ja-JP" altLang="en-US" sz="2000" dirty="0"/>
                        <a:t>）、国際標準（</a:t>
                      </a:r>
                      <a:r>
                        <a:rPr kumimoji="1" lang="en-US" altLang="ja-JP" sz="2000" dirty="0"/>
                        <a:t>ASTM</a:t>
                      </a:r>
                      <a:r>
                        <a:rPr kumimoji="1" lang="ja-JP" altLang="en-US" sz="1600" dirty="0"/>
                        <a:t>（米国材料試験）</a:t>
                      </a:r>
                      <a:r>
                        <a:rPr kumimoji="1" lang="ja-JP" altLang="en-US" sz="2000" dirty="0"/>
                        <a:t>／</a:t>
                      </a:r>
                      <a:r>
                        <a:rPr kumimoji="1" lang="en-US" altLang="ja-JP" sz="2000" dirty="0"/>
                        <a:t>EN</a:t>
                      </a:r>
                      <a:r>
                        <a:rPr kumimoji="1" lang="ja-JP" altLang="en-US" sz="1600" dirty="0"/>
                        <a:t>（欧州規格）</a:t>
                      </a:r>
                      <a:r>
                        <a:rPr kumimoji="1" lang="ja-JP" altLang="en-US" sz="2000" dirty="0"/>
                        <a:t>）などの適用。</a:t>
                      </a:r>
                      <a:endParaRPr kumimoji="1" lang="en-US" altLang="ja-JP" sz="2000" dirty="0"/>
                    </a:p>
                    <a:p>
                      <a:pPr marL="285750" indent="-285750">
                        <a:buFont typeface="Arial" panose="020B0604020202020204" pitchFamily="34" charset="0"/>
                        <a:buChar char="•"/>
                      </a:pPr>
                      <a:r>
                        <a:rPr kumimoji="1" lang="ja-JP" altLang="en-US" sz="2000" dirty="0"/>
                        <a:t>存在しない場合の組織による検証方法の決定。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7146425"/>
                  </a:ext>
                </a:extLst>
              </a:tr>
              <a:tr h="787649">
                <a:tc>
                  <a:txBody>
                    <a:bodyPr/>
                    <a:lstStyle/>
                    <a:p>
                      <a:r>
                        <a:rPr kumimoji="1" lang="en-US" altLang="ja-JP" sz="2000" dirty="0"/>
                        <a:t>ISO/IEC17025</a:t>
                      </a:r>
                      <a:r>
                        <a:rPr kumimoji="1" lang="ja-JP" altLang="en-US" sz="2000" dirty="0"/>
                        <a:t>第三者認証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sz="2000" dirty="0"/>
                        <a:t>内部試験所への適用は必須ではないが、第三者認証により内部試験所要求事項の全てが満足する。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956129"/>
                  </a:ext>
                </a:extLst>
              </a:tr>
            </a:tbl>
          </a:graphicData>
        </a:graphic>
      </p:graphicFrame>
    </p:spTree>
    <p:extLst>
      <p:ext uri="{BB962C8B-B14F-4D97-AF65-F5344CB8AC3E}">
        <p14:creationId xmlns:p14="http://schemas.microsoft.com/office/powerpoint/2010/main" val="42324284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2"/>
            </a:pPr>
            <a:r>
              <a:rPr lang="ja-JP" altLang="en-US" sz="2400" dirty="0"/>
              <a:t>内部試験所　➠　オフラインにおいて試験及び検査などを実施する場所</a:t>
            </a:r>
            <a:endParaRPr lang="en-US" altLang="ja-JP" sz="2400" dirty="0"/>
          </a:p>
          <a:p>
            <a:pPr marL="457200" indent="-457200">
              <a:buFont typeface="+mj-lt"/>
              <a:buAutoNum type="arabicPeriod" startAt="2"/>
            </a:pPr>
            <a:r>
              <a:rPr lang="en-US" altLang="ja-JP" sz="2400" dirty="0"/>
              <a:t>3.1</a:t>
            </a:r>
            <a:r>
              <a:rPr lang="ja-JP" altLang="en-US" sz="2400" dirty="0"/>
              <a:t>項　定義に従い次の事項を文書化する。</a:t>
            </a:r>
            <a:endParaRPr lang="en-US" altLang="ja-JP" sz="2400" dirty="0"/>
          </a:p>
          <a:p>
            <a:pPr marL="914400" lvl="1" indent="-457200">
              <a:buFont typeface="+mj-ea"/>
              <a:buAutoNum type="circleNumDbPlain"/>
            </a:pPr>
            <a:r>
              <a:rPr lang="ja-JP" altLang="en-US" dirty="0">
                <a:solidFill>
                  <a:srgbClr val="FF0000"/>
                </a:solidFill>
                <a:effectLst>
                  <a:outerShdw blurRad="38100" dist="38100" dir="2700000" algn="tl">
                    <a:srgbClr val="000000">
                      <a:alpha val="43137"/>
                    </a:srgbClr>
                  </a:outerShdw>
                </a:effectLst>
              </a:rPr>
              <a:t>実施する試験、検査及び校正</a:t>
            </a:r>
            <a:endParaRPr lang="en-US" altLang="ja-JP" dirty="0">
              <a:solidFill>
                <a:srgbClr val="FF0000"/>
              </a:solidFill>
              <a:effectLst>
                <a:outerShdw blurRad="38100" dist="38100" dir="2700000" algn="tl">
                  <a:srgbClr val="000000">
                    <a:alpha val="43137"/>
                  </a:srgbClr>
                </a:outerShdw>
              </a:effectLst>
            </a:endParaRPr>
          </a:p>
          <a:p>
            <a:pPr marL="914400" lvl="1" indent="-457200">
              <a:buFont typeface="+mj-ea"/>
              <a:buAutoNum type="circleNumDbPlain"/>
            </a:pPr>
            <a:r>
              <a:rPr lang="ja-JP" altLang="en-US" dirty="0">
                <a:solidFill>
                  <a:srgbClr val="FF0000"/>
                </a:solidFill>
                <a:effectLst>
                  <a:outerShdw blurRad="38100" dist="38100" dir="2700000" algn="tl">
                    <a:srgbClr val="000000">
                      <a:alpha val="43137"/>
                    </a:srgbClr>
                  </a:outerShdw>
                </a:effectLst>
              </a:rPr>
              <a:t>使用する設備リスト</a:t>
            </a:r>
            <a:endParaRPr lang="en-US" altLang="ja-JP" dirty="0">
              <a:solidFill>
                <a:srgbClr val="FF0000"/>
              </a:solidFill>
              <a:effectLst>
                <a:outerShdw blurRad="38100" dist="38100" dir="2700000" algn="tl">
                  <a:srgbClr val="000000">
                    <a:alpha val="43137"/>
                  </a:srgbClr>
                </a:outerShdw>
              </a:effectLst>
            </a:endParaRPr>
          </a:p>
          <a:p>
            <a:pPr marL="914400" lvl="1" indent="-457200">
              <a:buFont typeface="+mj-ea"/>
              <a:buAutoNum type="circleNumDbPlain"/>
            </a:pPr>
            <a:r>
              <a:rPr lang="ja-JP" altLang="en-US" dirty="0">
                <a:solidFill>
                  <a:srgbClr val="FF0000"/>
                </a:solidFill>
                <a:effectLst>
                  <a:outerShdw blurRad="38100" dist="38100" dir="2700000" algn="tl">
                    <a:srgbClr val="000000">
                      <a:alpha val="43137"/>
                    </a:srgbClr>
                  </a:outerShdw>
                </a:effectLst>
              </a:rPr>
              <a:t>実施方法及び規格</a:t>
            </a:r>
            <a:endParaRPr lang="en-US" altLang="ja-JP" dirty="0">
              <a:solidFill>
                <a:srgbClr val="FF0000"/>
              </a:solidFill>
              <a:effectLst>
                <a:outerShdw blurRad="38100" dist="38100" dir="2700000" algn="tl">
                  <a:srgbClr val="000000">
                    <a:alpha val="43137"/>
                  </a:srgbClr>
                </a:outerShdw>
              </a:effectLst>
            </a:endParaRPr>
          </a:p>
          <a:p>
            <a:pPr marL="457200" indent="-457200">
              <a:buFont typeface="+mj-ea"/>
              <a:buAutoNum type="arabicPeriod" startAt="2"/>
            </a:pPr>
            <a:endParaRPr lang="en-US" altLang="ja-JP" sz="2400" dirty="0"/>
          </a:p>
          <a:p>
            <a:pPr marL="457200" indent="-457200">
              <a:buFont typeface="+mj-lt"/>
              <a:buAutoNum type="arabicPeriod" startAt="2"/>
            </a:pPr>
            <a:r>
              <a:rPr lang="ja-JP" altLang="en-US" sz="2400" dirty="0"/>
              <a:t>製造だけではなく、設計・開発時の試験などにも適用する。</a:t>
            </a:r>
            <a:endParaRPr lang="en-US" altLang="ja-JP" sz="2400" dirty="0"/>
          </a:p>
          <a:p>
            <a:pPr marL="457200" indent="-457200">
              <a:buFont typeface="+mj-lt"/>
              <a:buAutoNum type="arabicPeriod" startAt="2"/>
            </a:pPr>
            <a:r>
              <a:rPr lang="ja-JP" altLang="en-US" sz="2400" dirty="0"/>
              <a:t>試験所の要員に対し、次の事項を明確に管理する。</a:t>
            </a:r>
            <a:endParaRPr lang="en-US" altLang="ja-JP" sz="2400" dirty="0"/>
          </a:p>
          <a:p>
            <a:pPr lvl="1">
              <a:buFont typeface="Wingdings" panose="05000000000000000000" pitchFamily="2" charset="2"/>
              <a:buChar char="Ø"/>
            </a:pPr>
            <a:r>
              <a:rPr lang="ja-JP" altLang="en-US" dirty="0"/>
              <a:t>持つべき力量（</a:t>
            </a:r>
            <a:r>
              <a:rPr lang="en-US" altLang="ja-JP" dirty="0"/>
              <a:t>7.2.1</a:t>
            </a:r>
            <a:r>
              <a:rPr lang="ja-JP" altLang="en-US" dirty="0"/>
              <a:t>による）</a:t>
            </a:r>
            <a:endParaRPr lang="en-US" altLang="ja-JP" dirty="0"/>
          </a:p>
          <a:p>
            <a:pPr lvl="1">
              <a:buFont typeface="Wingdings" panose="05000000000000000000" pitchFamily="2" charset="2"/>
              <a:buChar char="Ø"/>
            </a:pPr>
            <a:r>
              <a:rPr lang="ja-JP" altLang="en-US" dirty="0"/>
              <a:t>力量を証明する記録（教育訓練記録）</a:t>
            </a:r>
            <a:endParaRPr lang="en-US" altLang="ja-JP" dirty="0"/>
          </a:p>
          <a:p>
            <a:pPr lvl="1">
              <a:buFont typeface="Wingdings" panose="05000000000000000000" pitchFamily="2" charset="2"/>
              <a:buChar char="Ø"/>
            </a:pPr>
            <a:r>
              <a:rPr lang="ja-JP" altLang="en-US" dirty="0"/>
              <a:t>資格認定制度</a:t>
            </a:r>
            <a:endParaRPr lang="en-US" altLang="ja-JP" dirty="0"/>
          </a:p>
          <a:p>
            <a:pPr marL="457200" indent="-457200">
              <a:buFont typeface="+mj-lt"/>
              <a:buAutoNum type="arabicPeriod" startAt="2"/>
            </a:pPr>
            <a:endParaRPr lang="ja-JP" altLang="en-US" dirty="0"/>
          </a:p>
          <a:p>
            <a:pPr>
              <a:buFont typeface="Wingdings" panose="05000000000000000000" pitchFamily="2" charset="2"/>
              <a:buChar char="u"/>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7.1.5.3.1</a:t>
            </a:r>
            <a:r>
              <a:rPr lang="ja-JP" altLang="en-US" sz="3000" b="1" dirty="0">
                <a:solidFill>
                  <a:schemeClr val="bg1"/>
                </a:solidFill>
              </a:rPr>
              <a:t>　内部試験所</a:t>
            </a:r>
            <a:endParaRPr kumimoji="1" lang="ja-JP" altLang="en-US" sz="3000" b="1" dirty="0">
              <a:solidFill>
                <a:schemeClr val="bg1"/>
              </a:solidFill>
            </a:endParaRPr>
          </a:p>
        </p:txBody>
      </p:sp>
      <p:pic>
        <p:nvPicPr>
          <p:cNvPr id="13" name="図 12">
            <a:extLst>
              <a:ext uri="{FF2B5EF4-FFF2-40B4-BE49-F238E27FC236}">
                <a16:creationId xmlns:a16="http://schemas.microsoft.com/office/drawing/2014/main" id="{A351874B-3EE0-427F-BBEF-F9034E797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8092" y="2335576"/>
            <a:ext cx="5415708" cy="1718631"/>
          </a:xfrm>
          <a:prstGeom prst="rect">
            <a:avLst/>
          </a:prstGeom>
          <a:noFill/>
          <a:extLst>
            <a:ext uri="{909E8E84-426E-40DD-AFC4-6F175D3DCCD1}">
              <a14:hiddenFill xmlns:a14="http://schemas.microsoft.com/office/drawing/2010/main">
                <a:solidFill>
                  <a:srgbClr val="FFFFFF"/>
                </a:solidFill>
              </a14:hiddenFill>
            </a:ext>
          </a:extLst>
        </p:spPr>
      </p:pic>
      <p:sp>
        <p:nvSpPr>
          <p:cNvPr id="14" name="矢印: 右 13">
            <a:extLst>
              <a:ext uri="{FF2B5EF4-FFF2-40B4-BE49-F238E27FC236}">
                <a16:creationId xmlns:a16="http://schemas.microsoft.com/office/drawing/2014/main" id="{3D21536A-EAD9-4994-9426-917D22D8A788}"/>
              </a:ext>
            </a:extLst>
          </p:cNvPr>
          <p:cNvSpPr/>
          <p:nvPr/>
        </p:nvSpPr>
        <p:spPr>
          <a:xfrm>
            <a:off x="5641555" y="2682797"/>
            <a:ext cx="197385" cy="838546"/>
          </a:xfrm>
          <a:prstGeom prst="rightArrow">
            <a:avLst>
              <a:gd name="adj1" fmla="val 7371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60315240"/>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☑組織が検査、試験、又は校正サービスに使用する、外部／商用／独立の試験所施設は、要求さ れる検査、試験、又は校正を実行する能力を含む、定められた試験所適用範囲をもたなければ ならない。また、次の事項のいずれかを満たさなければならない。 </a:t>
            </a:r>
            <a:r>
              <a:rPr lang="en-US" altLang="ja-JP" sz="2000" dirty="0"/>
              <a:t>― </a:t>
            </a:r>
            <a:r>
              <a:rPr lang="ja-JP" altLang="en-US" sz="2000" dirty="0"/>
              <a:t>試験所は、</a:t>
            </a:r>
            <a:r>
              <a:rPr lang="en-US" altLang="ja-JP" sz="2000" dirty="0"/>
              <a:t>ILAC MRA</a:t>
            </a:r>
            <a:r>
              <a:rPr lang="ja-JP" altLang="en-US" sz="2000" dirty="0"/>
              <a:t>（</a:t>
            </a:r>
            <a:r>
              <a:rPr lang="en-US" altLang="ja-JP" sz="2000" dirty="0"/>
              <a:t>International Laboratory Accreditation Forum Mutual Recognition Arrangement</a:t>
            </a:r>
            <a:r>
              <a:rPr lang="ja-JP" altLang="en-US" sz="2000" dirty="0"/>
              <a:t>－</a:t>
            </a:r>
            <a:r>
              <a:rPr lang="en-US" altLang="ja-JP" sz="2000" dirty="0"/>
              <a:t>www.ilac.org</a:t>
            </a:r>
            <a:r>
              <a:rPr lang="ja-JP" altLang="en-US" sz="2000" dirty="0"/>
              <a:t>）</a:t>
            </a:r>
            <a:r>
              <a:rPr lang="en-US" altLang="ja-JP" sz="2000" dirty="0"/>
              <a:t>1 </a:t>
            </a:r>
            <a:r>
              <a:rPr lang="ja-JP" altLang="en-US" sz="2000" dirty="0"/>
              <a:t>の認定機関（加盟機関）によって </a:t>
            </a:r>
            <a:r>
              <a:rPr lang="en-US" altLang="ja-JP" sz="2000" dirty="0"/>
              <a:t>ISO/IEC17025 </a:t>
            </a:r>
            <a:r>
              <a:rPr lang="ja-JP" altLang="en-US" sz="2000" dirty="0"/>
              <a:t>又はこれに相当する国内基準（例として、中国の </a:t>
            </a:r>
            <a:r>
              <a:rPr lang="en-US" altLang="ja-JP" sz="2000" dirty="0"/>
              <a:t>CNAS</a:t>
            </a:r>
            <a:r>
              <a:rPr lang="ja-JP" altLang="en-US" sz="2000" dirty="0"/>
              <a:t>－</a:t>
            </a:r>
            <a:r>
              <a:rPr lang="en-US" altLang="ja-JP" sz="2000" dirty="0"/>
              <a:t>CL01</a:t>
            </a:r>
            <a:r>
              <a:rPr lang="ja-JP" altLang="en-US" sz="2000" dirty="0"/>
              <a:t>）これに相当する国内基準 </a:t>
            </a:r>
            <a:r>
              <a:rPr lang="en-US" altLang="ja-JP" sz="2000" dirty="0"/>
              <a:t>2 </a:t>
            </a:r>
            <a:r>
              <a:rPr lang="ja-JP" altLang="en-US" sz="2000" dirty="0"/>
              <a:t>に認定され、該当する検査、試験、又は校正サービスを認定（認証書）の適用範囲に含めなけ ればならない。校正又は試験報告書の認証書は、国家認定機関のマークを含んでいなければな らない。　　　　　　　　　　　　　　　　　　　　　　　　　　　　　　　　　　　　　　　　　　　</a:t>
            </a:r>
            <a:r>
              <a:rPr lang="en-US" altLang="ja-JP" sz="2000" dirty="0">
                <a:solidFill>
                  <a:srgbClr val="FF0000"/>
                </a:solidFill>
              </a:rPr>
              <a:t>― </a:t>
            </a:r>
            <a:r>
              <a:rPr lang="ja-JP" altLang="en-US" sz="2000" dirty="0">
                <a:solidFill>
                  <a:srgbClr val="FF0000"/>
                </a:solidFill>
              </a:rPr>
              <a:t>非認定試験所を利用する場合（例 例えば、しかしこれに限定されない、特殊専用的若 しくは一体型機器のために 、すなわち国際的にトレーサブルな標準器がない特性値のために、又は当初の機器製造業者</a:t>
            </a:r>
            <a:r>
              <a:rPr lang="en-US" altLang="ja-JP" sz="2000" dirty="0">
                <a:solidFill>
                  <a:srgbClr val="FF0000"/>
                </a:solidFill>
              </a:rPr>
              <a:t>)</a:t>
            </a:r>
            <a:r>
              <a:rPr lang="ja-JP" altLang="en-US" sz="2000" dirty="0">
                <a:solidFill>
                  <a:srgbClr val="FF0000"/>
                </a:solidFill>
              </a:rPr>
              <a:t>、組織は、試験所が評価され、</a:t>
            </a:r>
            <a:r>
              <a:rPr lang="en-US" altLang="ja-JP" sz="2000" dirty="0">
                <a:solidFill>
                  <a:srgbClr val="FF0000"/>
                </a:solidFill>
              </a:rPr>
              <a:t>IATF16949 </a:t>
            </a:r>
            <a:r>
              <a:rPr lang="ja-JP" altLang="en-US" sz="2000" dirty="0">
                <a:solidFill>
                  <a:srgbClr val="FF0000"/>
                </a:solidFill>
              </a:rPr>
              <a:t>の </a:t>
            </a:r>
            <a:r>
              <a:rPr lang="en-US" altLang="ja-JP" sz="2000" dirty="0">
                <a:solidFill>
                  <a:srgbClr val="FF0000"/>
                </a:solidFill>
              </a:rPr>
              <a:t>7.1.5.3.1 </a:t>
            </a:r>
            <a:r>
              <a:rPr lang="ja-JP" altLang="en-US" sz="2000" dirty="0">
                <a:solidFill>
                  <a:srgbClr val="FF0000"/>
                </a:solidFill>
              </a:rPr>
              <a:t>項の 要求事項を満たしている証拠があることを確実にする責任がある。</a:t>
            </a:r>
            <a:endParaRPr lang="en-US" altLang="ja-JP" sz="2000" dirty="0">
              <a:solidFill>
                <a:srgbClr val="FF0000"/>
              </a:solidFill>
            </a:endParaRPr>
          </a:p>
          <a:p>
            <a:pPr marL="0" indent="0">
              <a:lnSpc>
                <a:spcPct val="100000"/>
              </a:lnSpc>
              <a:buNone/>
            </a:pPr>
            <a:r>
              <a:rPr lang="ja-JP" altLang="en-US" sz="2000" dirty="0"/>
              <a:t>注記 私有ソフトウェアの使用を含む、一体型測定機器の自己校正は、校正の要求事項に該 当しない。</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7.1.5.3.2</a:t>
            </a:r>
            <a:r>
              <a:rPr lang="ja-JP" altLang="en-US" sz="3000" b="1" dirty="0">
                <a:solidFill>
                  <a:schemeClr val="tx2"/>
                </a:solidFill>
              </a:rPr>
              <a:t>　外部試験所</a:t>
            </a:r>
            <a:endParaRPr kumimoji="1" lang="ja-JP" altLang="en-US" sz="3000" b="1" dirty="0">
              <a:solidFill>
                <a:schemeClr val="tx2"/>
              </a:solidFill>
            </a:endParaRPr>
          </a:p>
        </p:txBody>
      </p:sp>
      <p:sp>
        <p:nvSpPr>
          <p:cNvPr id="2" name="四角形: 角を丸くする 1">
            <a:extLst>
              <a:ext uri="{FF2B5EF4-FFF2-40B4-BE49-F238E27FC236}">
                <a16:creationId xmlns:a16="http://schemas.microsoft.com/office/drawing/2014/main" id="{0AD8C2CF-2338-4B2E-9B9A-E14CBF6D435B}"/>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10</a:t>
            </a:r>
          </a:p>
        </p:txBody>
      </p:sp>
    </p:spTree>
    <p:extLst>
      <p:ext uri="{BB962C8B-B14F-4D97-AF65-F5344CB8AC3E}">
        <p14:creationId xmlns:p14="http://schemas.microsoft.com/office/powerpoint/2010/main" val="16941676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☑ある機器に対して認定された試験所を利用できない場合、校正サービスは、</a:t>
            </a:r>
            <a:r>
              <a:rPr lang="ja-JP" altLang="en-US" sz="2000" u="sng" dirty="0"/>
              <a:t>機器の製造業者によって実行してもよい。</a:t>
            </a:r>
            <a:r>
              <a:rPr lang="ja-JP" altLang="en-US" sz="2000" dirty="0"/>
              <a:t>この場合、組織は、</a:t>
            </a:r>
            <a:r>
              <a:rPr lang="en-US" altLang="ja-JP" sz="2000" dirty="0"/>
              <a:t>7.1.5.3.1</a:t>
            </a:r>
            <a:r>
              <a:rPr lang="ja-JP" altLang="en-US" sz="2000" dirty="0"/>
              <a:t>に記載された要求事項を満たすことを確実にしなければならない。</a:t>
            </a:r>
          </a:p>
          <a:p>
            <a:pPr marL="0" indent="0">
              <a:lnSpc>
                <a:spcPct val="100000"/>
              </a:lnSpc>
              <a:buNone/>
            </a:pPr>
            <a:r>
              <a:rPr lang="ja-JP" altLang="en-US" sz="2000" dirty="0"/>
              <a:t>　校正サービスの使用は、認定された（又は顧客が認めた）試験所以外による場合、要求されれば、政府規制の確認の対象となる場合がある。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7.1.5.3.2</a:t>
            </a:r>
            <a:r>
              <a:rPr lang="ja-JP" altLang="en-US" sz="3000" b="1" dirty="0">
                <a:solidFill>
                  <a:schemeClr val="tx2"/>
                </a:solidFill>
              </a:rPr>
              <a:t>　外部試験所</a:t>
            </a:r>
            <a:endParaRPr kumimoji="1" lang="ja-JP" altLang="en-US" sz="3000" b="1" dirty="0">
              <a:solidFill>
                <a:schemeClr val="tx2"/>
              </a:solidFill>
            </a:endParaRPr>
          </a:p>
        </p:txBody>
      </p:sp>
    </p:spTree>
    <p:extLst>
      <p:ext uri="{BB962C8B-B14F-4D97-AF65-F5344CB8AC3E}">
        <p14:creationId xmlns:p14="http://schemas.microsoft.com/office/powerpoint/2010/main" val="172287042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外部試験所　➠　試験及び校正などを委託する相手</a:t>
            </a:r>
            <a:endParaRPr lang="en-US" altLang="ja-JP" sz="2400" dirty="0"/>
          </a:p>
          <a:p>
            <a:pPr marL="457200" indent="-457200">
              <a:buFont typeface="+mj-lt"/>
              <a:buAutoNum type="arabicPeriod"/>
            </a:pPr>
            <a:r>
              <a:rPr lang="ja-JP" altLang="en-US" sz="2400" dirty="0"/>
              <a:t>外部試験所は次のいずれかを満たすこと。</a:t>
            </a:r>
            <a:endParaRPr lang="en-US" altLang="ja-JP" sz="2400" dirty="0"/>
          </a:p>
          <a:p>
            <a:pPr marL="914400" lvl="1" indent="-457200">
              <a:buFont typeface="+mj-ea"/>
              <a:buAutoNum type="circleNumDbPlain"/>
            </a:pPr>
            <a:r>
              <a:rPr lang="en-US" altLang="ja-JP" dirty="0">
                <a:solidFill>
                  <a:srgbClr val="FF0000"/>
                </a:solidFill>
                <a:effectLst>
                  <a:outerShdw blurRad="38100" dist="38100" dir="2700000" algn="tl">
                    <a:srgbClr val="000000">
                      <a:alpha val="43137"/>
                    </a:srgbClr>
                  </a:outerShdw>
                </a:effectLst>
              </a:rPr>
              <a:t>ISO/IEC17025</a:t>
            </a:r>
            <a:r>
              <a:rPr lang="ja-JP" altLang="en-US" dirty="0">
                <a:solidFill>
                  <a:srgbClr val="FF0000"/>
                </a:solidFill>
                <a:effectLst>
                  <a:outerShdw blurRad="38100" dist="38100" dir="2700000" algn="tl">
                    <a:srgbClr val="000000">
                      <a:alpha val="43137"/>
                    </a:srgbClr>
                  </a:outerShdw>
                </a:effectLst>
              </a:rPr>
              <a:t>又は同等の国内認定（</a:t>
            </a:r>
            <a:r>
              <a:rPr lang="en-US" altLang="ja-JP" dirty="0">
                <a:solidFill>
                  <a:srgbClr val="FF0000"/>
                </a:solidFill>
                <a:effectLst>
                  <a:outerShdw blurRad="38100" dist="38100" dir="2700000" algn="tl">
                    <a:srgbClr val="000000">
                      <a:alpha val="43137"/>
                    </a:srgbClr>
                  </a:outerShdw>
                </a:effectLst>
              </a:rPr>
              <a:t>JCSS</a:t>
            </a:r>
            <a:r>
              <a:rPr lang="ja-JP" altLang="en-US" dirty="0">
                <a:solidFill>
                  <a:srgbClr val="FF0000"/>
                </a:solidFill>
                <a:effectLst>
                  <a:outerShdw blurRad="38100" dist="38100" dir="2700000" algn="tl">
                    <a:srgbClr val="000000">
                      <a:alpha val="43137"/>
                    </a:srgbClr>
                  </a:outerShdw>
                </a:effectLst>
              </a:rPr>
              <a:t>）</a:t>
            </a:r>
            <a:endParaRPr lang="en-US" altLang="ja-JP" dirty="0">
              <a:solidFill>
                <a:srgbClr val="FF0000"/>
              </a:solidFill>
              <a:effectLst>
                <a:outerShdw blurRad="38100" dist="38100" dir="2700000" algn="tl">
                  <a:srgbClr val="000000">
                    <a:alpha val="43137"/>
                  </a:srgbClr>
                </a:outerShdw>
              </a:effectLst>
            </a:endParaRPr>
          </a:p>
          <a:p>
            <a:pPr marL="914400" lvl="1" indent="-457200">
              <a:buFont typeface="+mj-ea"/>
              <a:buAutoNum type="circleNumDbPlain"/>
            </a:pPr>
            <a:r>
              <a:rPr lang="ja-JP" altLang="en-US" dirty="0"/>
              <a:t>顧客が認めた第二者監査結果（例えば組織による監査）</a:t>
            </a:r>
            <a:endParaRPr lang="en-US" altLang="ja-JP" dirty="0"/>
          </a:p>
          <a:p>
            <a:pPr marL="914400" lvl="1" indent="-457200">
              <a:buFont typeface="+mj-ea"/>
              <a:buAutoNum type="circleNumDbPlain"/>
            </a:pPr>
            <a:r>
              <a:rPr lang="ja-JP" altLang="en-US" dirty="0">
                <a:solidFill>
                  <a:srgbClr val="FF0000"/>
                </a:solidFill>
                <a:effectLst>
                  <a:outerShdw blurRad="38100" dist="38100" dir="2700000" algn="tl">
                    <a:srgbClr val="000000">
                      <a:alpha val="43137"/>
                    </a:srgbClr>
                  </a:outerShdw>
                </a:effectLst>
              </a:rPr>
              <a:t>機器メーカーへの委託（</a:t>
            </a:r>
            <a:r>
              <a:rPr lang="en-US" altLang="ja-JP" dirty="0">
                <a:solidFill>
                  <a:srgbClr val="FF0000"/>
                </a:solidFill>
                <a:effectLst>
                  <a:outerShdw blurRad="38100" dist="38100" dir="2700000" algn="tl">
                    <a:srgbClr val="000000">
                      <a:alpha val="43137"/>
                    </a:srgbClr>
                  </a:outerShdw>
                </a:effectLst>
              </a:rPr>
              <a:t>7.1.5.3.1</a:t>
            </a:r>
            <a:r>
              <a:rPr lang="ja-JP" altLang="en-US" dirty="0">
                <a:solidFill>
                  <a:srgbClr val="FF0000"/>
                </a:solidFill>
                <a:effectLst>
                  <a:outerShdw blurRad="38100" dist="38100" dir="2700000" algn="tl">
                    <a:srgbClr val="000000">
                      <a:alpha val="43137"/>
                    </a:srgbClr>
                  </a:outerShdw>
                </a:effectLst>
              </a:rPr>
              <a:t>を満たす相手）</a:t>
            </a:r>
            <a:endParaRPr lang="en-US" altLang="ja-JP" sz="2400" dirty="0"/>
          </a:p>
          <a:p>
            <a:pPr marL="457200" indent="-457200">
              <a:buFont typeface="+mj-lt"/>
              <a:buAutoNum type="arabicPeriod"/>
            </a:pPr>
            <a:r>
              <a:rPr lang="ja-JP" altLang="en-US" sz="2400" dirty="0"/>
              <a:t>現実的には２の③に頼らざるを得ない場合がある。その場合、可能な限り、</a:t>
            </a:r>
            <a:r>
              <a:rPr lang="ja-JP" altLang="en-US" sz="2400" dirty="0">
                <a:solidFill>
                  <a:srgbClr val="FF0000"/>
                </a:solidFill>
                <a:effectLst>
                  <a:outerShdw blurRad="38100" dist="38100" dir="2700000" algn="tl">
                    <a:srgbClr val="000000">
                      <a:alpha val="43137"/>
                    </a:srgbClr>
                  </a:outerShdw>
                </a:effectLst>
              </a:rPr>
              <a:t>機器メーカーから</a:t>
            </a:r>
            <a:r>
              <a:rPr lang="en-US" altLang="ja-JP" sz="2400" dirty="0">
                <a:solidFill>
                  <a:srgbClr val="FF0000"/>
                </a:solidFill>
                <a:effectLst>
                  <a:outerShdw blurRad="38100" dist="38100" dir="2700000" algn="tl">
                    <a:srgbClr val="000000">
                      <a:alpha val="43137"/>
                    </a:srgbClr>
                  </a:outerShdw>
                </a:effectLst>
              </a:rPr>
              <a:t>7.1.5.3.1</a:t>
            </a:r>
            <a:r>
              <a:rPr lang="ja-JP" altLang="en-US" sz="2400" dirty="0">
                <a:solidFill>
                  <a:srgbClr val="FF0000"/>
                </a:solidFill>
                <a:effectLst>
                  <a:outerShdw blurRad="38100" dist="38100" dir="2700000" algn="tl">
                    <a:srgbClr val="000000">
                      <a:alpha val="43137"/>
                    </a:srgbClr>
                  </a:outerShdw>
                </a:effectLst>
              </a:rPr>
              <a:t>に関する文書を入手</a:t>
            </a:r>
            <a:r>
              <a:rPr lang="ja-JP" altLang="en-US" sz="2400" dirty="0"/>
              <a:t>する。（</a:t>
            </a:r>
            <a:r>
              <a:rPr lang="en-US" altLang="ja-JP" sz="2400" dirty="0"/>
              <a:t>FAQ7</a:t>
            </a:r>
            <a:r>
              <a:rPr lang="ja-JP" altLang="en-US" sz="2400" dirty="0"/>
              <a:t>）</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7.1.5.3.2</a:t>
            </a:r>
            <a:r>
              <a:rPr lang="ja-JP" altLang="en-US" sz="3000" b="1" dirty="0">
                <a:solidFill>
                  <a:schemeClr val="bg1"/>
                </a:solidFill>
              </a:rPr>
              <a:t>　外部試験所</a:t>
            </a:r>
            <a:endParaRPr kumimoji="1" lang="ja-JP" altLang="en-US" sz="3000" b="1" dirty="0">
              <a:solidFill>
                <a:schemeClr val="bg1"/>
              </a:solidFill>
            </a:endParaRPr>
          </a:p>
        </p:txBody>
      </p:sp>
      <p:sp>
        <p:nvSpPr>
          <p:cNvPr id="2" name="正方形/長方形 1">
            <a:extLst>
              <a:ext uri="{FF2B5EF4-FFF2-40B4-BE49-F238E27FC236}">
                <a16:creationId xmlns:a16="http://schemas.microsoft.com/office/drawing/2014/main" id="{4AE931BC-D224-4F87-849C-3784E606A267}"/>
              </a:ext>
            </a:extLst>
          </p:cNvPr>
          <p:cNvSpPr/>
          <p:nvPr/>
        </p:nvSpPr>
        <p:spPr>
          <a:xfrm>
            <a:off x="838199" y="4417764"/>
            <a:ext cx="10515599" cy="193858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600" b="1" dirty="0">
                <a:solidFill>
                  <a:schemeClr val="tx1"/>
                </a:solidFill>
              </a:rPr>
              <a:t>ＪＣＳＳ（</a:t>
            </a:r>
            <a:r>
              <a:rPr kumimoji="1" lang="en-US" altLang="ja-JP" sz="1600" b="1" dirty="0">
                <a:solidFill>
                  <a:schemeClr val="tx1"/>
                </a:solidFill>
              </a:rPr>
              <a:t>Japan Calibration Service System</a:t>
            </a:r>
            <a:r>
              <a:rPr kumimoji="1" lang="ja-JP" altLang="en-US" sz="1600" b="1" dirty="0">
                <a:solidFill>
                  <a:schemeClr val="tx1"/>
                </a:solidFill>
              </a:rPr>
              <a:t>）</a:t>
            </a:r>
            <a:endParaRPr kumimoji="1" lang="en-US" altLang="ja-JP" sz="1600" b="1" dirty="0">
              <a:solidFill>
                <a:schemeClr val="tx1"/>
              </a:solidFill>
            </a:endParaRPr>
          </a:p>
          <a:p>
            <a:pPr algn="ctr"/>
            <a:r>
              <a:rPr lang="ja-JP" altLang="en-US" sz="1600" b="1" dirty="0">
                <a:solidFill>
                  <a:schemeClr val="tx1"/>
                </a:solidFill>
              </a:rPr>
              <a:t>計量法校正事業者登録制度</a:t>
            </a:r>
            <a:endParaRPr lang="en-US" altLang="ja-JP" sz="1600" b="1" dirty="0">
              <a:solidFill>
                <a:schemeClr val="tx1"/>
              </a:solidFill>
            </a:endParaRPr>
          </a:p>
          <a:p>
            <a:r>
              <a:rPr kumimoji="1" lang="en-US" altLang="ja-JP" sz="1600" dirty="0">
                <a:solidFill>
                  <a:schemeClr val="tx1"/>
                </a:solidFill>
              </a:rPr>
              <a:t>JCSS</a:t>
            </a:r>
            <a:r>
              <a:rPr kumimoji="1" lang="ja-JP" altLang="en-US" sz="1600" dirty="0">
                <a:solidFill>
                  <a:schemeClr val="tx1"/>
                </a:solidFill>
              </a:rPr>
              <a:t>は、国家計量標準供給制度と校正事業者登録制度からなる制度。</a:t>
            </a:r>
            <a:endParaRPr kumimoji="1" lang="en-US" altLang="ja-JP" sz="1600" dirty="0">
              <a:solidFill>
                <a:schemeClr val="tx1"/>
              </a:solidFill>
            </a:endParaRPr>
          </a:p>
          <a:p>
            <a:r>
              <a:rPr lang="en-US" altLang="ja-JP" sz="1600" dirty="0">
                <a:solidFill>
                  <a:schemeClr val="tx1"/>
                </a:solidFill>
              </a:rPr>
              <a:t>JCSS</a:t>
            </a:r>
            <a:r>
              <a:rPr lang="ja-JP" altLang="en-US" sz="1600" dirty="0">
                <a:solidFill>
                  <a:schemeClr val="tx1"/>
                </a:solidFill>
              </a:rPr>
              <a:t>登録事業者は、</a:t>
            </a:r>
            <a:r>
              <a:rPr lang="en-US" altLang="ja-JP" sz="1600" dirty="0">
                <a:solidFill>
                  <a:schemeClr val="tx1"/>
                </a:solidFill>
              </a:rPr>
              <a:t>ISO/IEC17025</a:t>
            </a:r>
            <a:r>
              <a:rPr lang="ja-JP" altLang="en-US" sz="1600" dirty="0">
                <a:solidFill>
                  <a:schemeClr val="tx1"/>
                </a:solidFill>
              </a:rPr>
              <a:t>と同等の国内基準にて認定された事業者として、外部試験所要求事項を満たす。</a:t>
            </a:r>
            <a:endParaRPr lang="en-US" altLang="ja-JP" sz="1600" dirty="0">
              <a:solidFill>
                <a:schemeClr val="tx1"/>
              </a:solidFill>
            </a:endParaRPr>
          </a:p>
          <a:p>
            <a:r>
              <a:rPr kumimoji="1" lang="en-US" altLang="ja-JP" sz="1600" dirty="0">
                <a:solidFill>
                  <a:schemeClr val="tx1"/>
                </a:solidFill>
              </a:rPr>
              <a:t>【</a:t>
            </a:r>
            <a:r>
              <a:rPr kumimoji="1" lang="ja-JP" altLang="en-US" sz="1600" dirty="0">
                <a:solidFill>
                  <a:schemeClr val="tx1"/>
                </a:solidFill>
              </a:rPr>
              <a:t>登録区分</a:t>
            </a:r>
            <a:r>
              <a:rPr kumimoji="1" lang="en-US" altLang="ja-JP" sz="1600" dirty="0">
                <a:solidFill>
                  <a:schemeClr val="tx1"/>
                </a:solidFill>
              </a:rPr>
              <a:t>】</a:t>
            </a:r>
          </a:p>
          <a:p>
            <a:r>
              <a:rPr lang="ja-JP" altLang="en-US" sz="1600" dirty="0">
                <a:solidFill>
                  <a:schemeClr val="tx1"/>
                </a:solidFill>
              </a:rPr>
              <a:t>①長さ　②質量　③時間　④温度　⑤光　⑥角度　⑦体積　⑧流量・流速　⑨振動加速度</a:t>
            </a:r>
            <a:endParaRPr lang="en-US" altLang="ja-JP" sz="1600" dirty="0">
              <a:solidFill>
                <a:schemeClr val="tx1"/>
              </a:solidFill>
            </a:endParaRPr>
          </a:p>
          <a:p>
            <a:r>
              <a:rPr lang="ja-JP" altLang="en-US" sz="1600" dirty="0">
                <a:solidFill>
                  <a:schemeClr val="tx1"/>
                </a:solidFill>
              </a:rPr>
              <a:t>⑩電気等（直流・低周波）　⑪電気等（高周波）　・・・・・他　全２４項目</a:t>
            </a:r>
            <a:endParaRPr kumimoji="1" lang="ja-JP" altLang="en-US" sz="1600" dirty="0">
              <a:solidFill>
                <a:schemeClr val="tx1"/>
              </a:solidFill>
            </a:endParaRPr>
          </a:p>
        </p:txBody>
      </p:sp>
    </p:spTree>
    <p:extLst>
      <p:ext uri="{BB962C8B-B14F-4D97-AF65-F5344CB8AC3E}">
        <p14:creationId xmlns:p14="http://schemas.microsoft.com/office/powerpoint/2010/main" val="1195742906"/>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77108"/>
            <a:ext cx="10515600" cy="1869328"/>
          </a:xfrm>
          <a:ln w="12700">
            <a:solidFill>
              <a:schemeClr val="tx2"/>
            </a:solidFill>
          </a:ln>
        </p:spPr>
        <p:txBody>
          <a:bodyPr>
            <a:normAutofit fontScale="77500" lnSpcReduction="20000"/>
          </a:bodyPr>
          <a:lstStyle/>
          <a:p>
            <a:pPr marL="0" indent="0">
              <a:lnSpc>
                <a:spcPct val="100000"/>
              </a:lnSpc>
              <a:buNone/>
            </a:pPr>
            <a:r>
              <a:rPr lang="ja-JP" altLang="en-US" sz="2000" dirty="0"/>
              <a:t>☑組織は、製品及びプロセス要求事項への適合に影響する活動に従事する全ての要員の、認識（</a:t>
            </a:r>
            <a:r>
              <a:rPr lang="en-US" altLang="ja-JP" sz="2000" dirty="0"/>
              <a:t>7.3.1</a:t>
            </a:r>
            <a:r>
              <a:rPr lang="ja-JP" altLang="en-US" sz="2000" dirty="0"/>
              <a:t>参照）を含めて、教育訓練のニーズ及び達成すべき力量を明確にする</a:t>
            </a:r>
            <a:r>
              <a:rPr lang="ja-JP" altLang="en-US" sz="2000" b="1" dirty="0"/>
              <a:t>文書化したプロセス</a:t>
            </a:r>
            <a:r>
              <a:rPr lang="ja-JP" altLang="en-US" sz="2000" dirty="0"/>
              <a:t>を確立し、維持しなければならない。</a:t>
            </a:r>
            <a:endParaRPr lang="en-US" altLang="ja-JP" sz="2000" dirty="0"/>
          </a:p>
          <a:p>
            <a:pPr marL="0" indent="0">
              <a:lnSpc>
                <a:spcPct val="100000"/>
              </a:lnSpc>
              <a:buNone/>
            </a:pPr>
            <a:r>
              <a:rPr lang="ja-JP" altLang="en-US" sz="2000" dirty="0"/>
              <a:t>☑必要に応じて、顧客要求事項を満たすことに特に配慮して</a:t>
            </a:r>
            <a:r>
              <a:rPr lang="ja-JP" altLang="en-US" sz="1800" dirty="0"/>
              <a:t>、</a:t>
            </a:r>
            <a:r>
              <a:rPr lang="ja-JP" altLang="en-US" sz="2100" dirty="0"/>
              <a:t>特定の業務に従事する要員を適格性確認しなければならない。</a:t>
            </a:r>
            <a:r>
              <a:rPr lang="ja-JP" altLang="en-US" sz="2400" dirty="0"/>
              <a:t>                                                                                                                                          ☑</a:t>
            </a:r>
            <a:r>
              <a:rPr lang="ja-JP" altLang="en-US" sz="2100" dirty="0">
                <a:solidFill>
                  <a:srgbClr val="FF0000"/>
                </a:solidFill>
              </a:rPr>
              <a:t>組織に対するリスクを低減又は排除するために、教育訓練及び認識に、機器故障及び／又は 実施されたサイバー攻撃の症状を認識することのような、組織の環境及び従業員の責任に適 切な予防法に関する情報も含めなければならない。</a:t>
            </a:r>
            <a:endParaRPr lang="ja-JP" altLang="en-US" sz="2100" u="sng" dirty="0">
              <a:solidFill>
                <a:srgbClr val="FF0000"/>
              </a:solidFill>
            </a:endParaRP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7.2.1</a:t>
            </a:r>
            <a:r>
              <a:rPr kumimoji="1" lang="ja-JP" altLang="en-US" sz="3000" b="1" dirty="0">
                <a:solidFill>
                  <a:schemeClr val="tx2"/>
                </a:solidFill>
              </a:rPr>
              <a:t>　力量－補足</a:t>
            </a:r>
          </a:p>
        </p:txBody>
      </p:sp>
      <p:sp>
        <p:nvSpPr>
          <p:cNvPr id="6" name="タイトル 1">
            <a:extLst>
              <a:ext uri="{FF2B5EF4-FFF2-40B4-BE49-F238E27FC236}">
                <a16:creationId xmlns:a16="http://schemas.microsoft.com/office/drawing/2014/main" id="{75CA1FC3-5556-4FB0-A72B-5EC00B1D9767}"/>
              </a:ext>
            </a:extLst>
          </p:cNvPr>
          <p:cNvSpPr txBox="1">
            <a:spLocks/>
          </p:cNvSpPr>
          <p:nvPr/>
        </p:nvSpPr>
        <p:spPr>
          <a:xfrm>
            <a:off x="838200" y="342900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7.2.1</a:t>
            </a:r>
            <a:r>
              <a:rPr lang="ja-JP" altLang="en-US" sz="3000" b="1" dirty="0">
                <a:solidFill>
                  <a:schemeClr val="bg1"/>
                </a:solidFill>
              </a:rPr>
              <a:t>　力量－補足</a:t>
            </a:r>
          </a:p>
        </p:txBody>
      </p:sp>
      <p:sp>
        <p:nvSpPr>
          <p:cNvPr id="7" name="コンテンツ プレースホルダー 2">
            <a:extLst>
              <a:ext uri="{FF2B5EF4-FFF2-40B4-BE49-F238E27FC236}">
                <a16:creationId xmlns:a16="http://schemas.microsoft.com/office/drawing/2014/main" id="{16DFCB7F-4217-4AA4-94D7-05BA1ECC04C1}"/>
              </a:ext>
            </a:extLst>
          </p:cNvPr>
          <p:cNvSpPr txBox="1">
            <a:spLocks/>
          </p:cNvSpPr>
          <p:nvPr/>
        </p:nvSpPr>
        <p:spPr>
          <a:xfrm>
            <a:off x="838200" y="4464071"/>
            <a:ext cx="10515600" cy="186932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に対する要求の強化。　➠　文書化したプロセス。</a:t>
            </a:r>
            <a:endParaRPr lang="en-US" altLang="ja-JP" sz="2400" dirty="0"/>
          </a:p>
          <a:p>
            <a:pPr marL="457200" indent="-457200">
              <a:lnSpc>
                <a:spcPct val="100000"/>
              </a:lnSpc>
              <a:buFont typeface="+mj-lt"/>
              <a:buAutoNum type="arabicPeriod"/>
            </a:pPr>
            <a:r>
              <a:rPr lang="ja-JP" altLang="en-US" sz="2400" dirty="0">
                <a:solidFill>
                  <a:srgbClr val="FF0000"/>
                </a:solidFill>
                <a:effectLst>
                  <a:outerShdw blurRad="38100" dist="38100" dir="2700000" algn="tl">
                    <a:srgbClr val="000000">
                      <a:alpha val="43137"/>
                    </a:srgbClr>
                  </a:outerShdw>
                </a:effectLst>
              </a:rPr>
              <a:t>特定の業務に従事する要員</a:t>
            </a:r>
            <a:r>
              <a:rPr lang="ja-JP" altLang="en-US" sz="2400" dirty="0"/>
              <a:t>の適格性確認。</a:t>
            </a:r>
            <a:endParaRPr lang="en-US" altLang="ja-JP" sz="2400" dirty="0"/>
          </a:p>
          <a:p>
            <a:pPr lvl="1">
              <a:lnSpc>
                <a:spcPct val="100000"/>
              </a:lnSpc>
              <a:buFont typeface="Wingdings" panose="05000000000000000000" pitchFamily="2" charset="2"/>
              <a:buChar char="Ø"/>
            </a:pPr>
            <a:r>
              <a:rPr lang="ja-JP" altLang="en-US" dirty="0"/>
              <a:t>例として、内部監査員、内部試験所要員、検査員、設計者、特殊工程作業者など。</a:t>
            </a:r>
            <a:endParaRPr lang="en-US" altLang="ja-JP" dirty="0"/>
          </a:p>
        </p:txBody>
      </p:sp>
    </p:spTree>
    <p:extLst>
      <p:ext uri="{BB962C8B-B14F-4D97-AF65-F5344CB8AC3E}">
        <p14:creationId xmlns:p14="http://schemas.microsoft.com/office/powerpoint/2010/main" val="2794783243"/>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☑組織は、品質要求事項への適合、内部要求事項、規制又は法令要求事項に影響する、新規の又は変更された責任を負う要員に対し、</a:t>
            </a:r>
            <a:r>
              <a:rPr lang="ja-JP" altLang="en-US" sz="2000" u="sng" dirty="0"/>
              <a:t>業務を通じた教育訓練（</a:t>
            </a:r>
            <a:r>
              <a:rPr lang="en-US" altLang="ja-JP" sz="2000" u="sng" dirty="0"/>
              <a:t>OJT</a:t>
            </a:r>
            <a:r>
              <a:rPr lang="ja-JP" altLang="en-US" sz="2000" u="sng" dirty="0"/>
              <a:t>）</a:t>
            </a:r>
            <a:r>
              <a:rPr lang="ja-JP" altLang="en-US" sz="2000" dirty="0"/>
              <a:t>（これには顧客要求事項の教育訓練を含めなければならない。）</a:t>
            </a:r>
            <a:r>
              <a:rPr lang="ja-JP" altLang="en-US" sz="2000" u="sng" dirty="0"/>
              <a:t>を提供しなければならない。</a:t>
            </a:r>
            <a:endParaRPr lang="en-US" altLang="ja-JP" sz="2000" u="sng" dirty="0"/>
          </a:p>
          <a:p>
            <a:pPr marL="0" indent="0">
              <a:lnSpc>
                <a:spcPct val="100000"/>
              </a:lnSpc>
              <a:buNone/>
            </a:pPr>
            <a:r>
              <a:rPr lang="ja-JP" altLang="en-US" sz="2000" dirty="0"/>
              <a:t>☑これには、</a:t>
            </a:r>
            <a:r>
              <a:rPr lang="ja-JP" altLang="en-US" sz="2000" u="sng" dirty="0"/>
              <a:t>契約又は派遣の要員を含めなければならない。</a:t>
            </a:r>
            <a:endParaRPr lang="en-US" altLang="ja-JP" sz="2000" u="sng" dirty="0"/>
          </a:p>
          <a:p>
            <a:pPr marL="0" indent="0">
              <a:lnSpc>
                <a:spcPct val="100000"/>
              </a:lnSpc>
              <a:buNone/>
            </a:pPr>
            <a:r>
              <a:rPr lang="ja-JP" altLang="en-US" sz="2000" dirty="0"/>
              <a:t>☑業務を通じた教育訓練（</a:t>
            </a:r>
            <a:r>
              <a:rPr lang="en-US" altLang="ja-JP" sz="2000" dirty="0"/>
              <a:t>OJT</a:t>
            </a:r>
            <a:r>
              <a:rPr lang="ja-JP" altLang="en-US" sz="2000" dirty="0"/>
              <a:t>）に対する詳細な</a:t>
            </a:r>
            <a:r>
              <a:rPr lang="ja-JP" altLang="en-US" sz="2000" u="sng" dirty="0"/>
              <a:t>要求レベルは</a:t>
            </a:r>
            <a:r>
              <a:rPr lang="ja-JP" altLang="en-US" sz="2000" dirty="0"/>
              <a:t>、要員が有する教育及び日常業務を実行するために</a:t>
            </a:r>
            <a:r>
              <a:rPr lang="ja-JP" altLang="en-US" sz="2000" u="sng" dirty="0"/>
              <a:t>必要な任務の複雑さのレベルに見合っていなければならない。</a:t>
            </a:r>
            <a:endParaRPr lang="en-US" altLang="ja-JP" sz="2000" u="sng" dirty="0"/>
          </a:p>
          <a:p>
            <a:pPr marL="0" indent="0">
              <a:lnSpc>
                <a:spcPct val="100000"/>
              </a:lnSpc>
              <a:buNone/>
            </a:pPr>
            <a:r>
              <a:rPr lang="ja-JP" altLang="en-US" sz="2000" dirty="0"/>
              <a:t>☑品質に影響し得る仕事に従事する要員には、</a:t>
            </a:r>
            <a:r>
              <a:rPr lang="ja-JP" altLang="en-US" sz="2000" u="sng" dirty="0"/>
              <a:t>顧客要求事項に対する不適合の因果関係について、知らせなければならない。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7.2.2</a:t>
            </a:r>
            <a:r>
              <a:rPr lang="ja-JP" altLang="en-US" sz="3000" b="1" dirty="0">
                <a:solidFill>
                  <a:schemeClr val="tx2"/>
                </a:solidFill>
              </a:rPr>
              <a:t>　力量－業務を通じた教育訓練（</a:t>
            </a:r>
            <a:r>
              <a:rPr lang="en-US" altLang="ja-JP" sz="3000" b="1" dirty="0">
                <a:solidFill>
                  <a:schemeClr val="tx2"/>
                </a:solidFill>
              </a:rPr>
              <a:t>OJT</a:t>
            </a:r>
            <a:r>
              <a:rPr lang="ja-JP" altLang="en-US" sz="3000" b="1" dirty="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2503305224"/>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en-US" altLang="ja-JP" sz="2400" dirty="0"/>
              <a:t>『</a:t>
            </a:r>
            <a:r>
              <a:rPr lang="ja-JP" altLang="en-US" sz="2400" dirty="0"/>
              <a:t>ＯＪＴ</a:t>
            </a:r>
            <a:r>
              <a:rPr lang="en-US" altLang="ja-JP" sz="2400" dirty="0"/>
              <a:t>』</a:t>
            </a:r>
            <a:r>
              <a:rPr lang="ja-JP" altLang="en-US" sz="2400" dirty="0"/>
              <a:t>における</a:t>
            </a:r>
            <a:r>
              <a:rPr lang="en-US" altLang="ja-JP" sz="2400" dirty="0"/>
              <a:t>7.2</a:t>
            </a:r>
            <a:r>
              <a:rPr lang="ja-JP" altLang="en-US" sz="2400" dirty="0"/>
              <a:t>と</a:t>
            </a:r>
            <a:r>
              <a:rPr lang="en-US" altLang="ja-JP" sz="2400" dirty="0"/>
              <a:t>7.2.2</a:t>
            </a:r>
            <a:r>
              <a:rPr lang="ja-JP" altLang="en-US" sz="2400" dirty="0"/>
              <a:t>の違い。</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要点。</a:t>
            </a:r>
            <a:endParaRPr lang="en-US" altLang="ja-JP" sz="2400" dirty="0"/>
          </a:p>
          <a:p>
            <a:pPr marL="914400" lvl="1" indent="-457200">
              <a:buFont typeface="+mj-ea"/>
              <a:buAutoNum type="circleNumDbPlain"/>
            </a:pPr>
            <a:r>
              <a:rPr lang="ja-JP" altLang="en-US" dirty="0"/>
              <a:t>顧客要求（</a:t>
            </a:r>
            <a:r>
              <a:rPr lang="en-US" altLang="ja-JP" dirty="0"/>
              <a:t>PPAP</a:t>
            </a:r>
            <a:r>
              <a:rPr lang="ja-JP" altLang="en-US" dirty="0"/>
              <a:t>など）スケジュールの考慮。</a:t>
            </a:r>
            <a:endParaRPr lang="en-US" altLang="ja-JP" dirty="0"/>
          </a:p>
          <a:p>
            <a:pPr marL="914400" lvl="1" indent="-457200">
              <a:buFont typeface="+mj-ea"/>
              <a:buAutoNum type="circleNumDbPlain"/>
            </a:pPr>
            <a:r>
              <a:rPr lang="ja-JP" altLang="en-US" dirty="0"/>
              <a:t>工程変更などの際の</a:t>
            </a:r>
            <a:r>
              <a:rPr lang="en-US" altLang="ja-JP" dirty="0"/>
              <a:t>OJT</a:t>
            </a:r>
            <a:r>
              <a:rPr lang="ja-JP" altLang="en-US" dirty="0"/>
              <a:t>手順の明確化。</a:t>
            </a:r>
            <a:endParaRPr lang="en-US" altLang="ja-JP" dirty="0"/>
          </a:p>
          <a:p>
            <a:pPr marL="914400" lvl="1" indent="-457200">
              <a:buFont typeface="+mj-ea"/>
              <a:buAutoNum type="circleNumDbPlain"/>
            </a:pPr>
            <a:r>
              <a:rPr lang="ja-JP" altLang="en-US" dirty="0"/>
              <a:t>特殊特性に関する作業における教育基準書（作業標準など）の整備。</a:t>
            </a:r>
            <a:endParaRPr lang="en-US" altLang="ja-JP" dirty="0"/>
          </a:p>
          <a:p>
            <a:pPr marL="914400" lvl="1" indent="-457200">
              <a:buFont typeface="+mj-ea"/>
              <a:buAutoNum type="circleNumDbPlain"/>
            </a:pPr>
            <a:r>
              <a:rPr lang="ja-JP" altLang="en-US" dirty="0"/>
              <a:t>作業観察による効果の検証。</a:t>
            </a:r>
            <a:endParaRPr lang="en-US" altLang="ja-JP" dirty="0"/>
          </a:p>
          <a:p>
            <a:pPr marL="914400" lvl="1" indent="-457200">
              <a:buFont typeface="+mj-ea"/>
              <a:buAutoNum type="circleNumDbPlain"/>
            </a:pPr>
            <a:r>
              <a:rPr lang="ja-JP" altLang="en-US" dirty="0"/>
              <a:t>社員以外の要員も対象。　</a:t>
            </a:r>
            <a:r>
              <a:rPr lang="en-US" altLang="ja-JP" sz="2000" dirty="0"/>
              <a:t>※</a:t>
            </a:r>
            <a:r>
              <a:rPr lang="ja-JP" altLang="en-US" sz="2000" dirty="0"/>
              <a:t>日本の「改正派遣法」「下請法」は留意。</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7.2.2</a:t>
            </a:r>
            <a:r>
              <a:rPr lang="ja-JP" altLang="en-US" sz="3000" b="1" dirty="0">
                <a:solidFill>
                  <a:schemeClr val="bg1"/>
                </a:solidFill>
              </a:rPr>
              <a:t>　力量－業務を通じた教育訓練（</a:t>
            </a:r>
            <a:r>
              <a:rPr lang="en-US" altLang="ja-JP" sz="3000" b="1" dirty="0">
                <a:solidFill>
                  <a:schemeClr val="bg1"/>
                </a:solidFill>
              </a:rPr>
              <a:t>OJT</a:t>
            </a:r>
            <a:r>
              <a:rPr lang="ja-JP" altLang="en-US" sz="3000" b="1" dirty="0">
                <a:solidFill>
                  <a:schemeClr val="bg1"/>
                </a:solidFill>
              </a:rPr>
              <a:t>）</a:t>
            </a:r>
            <a:endParaRPr kumimoji="1" lang="ja-JP" altLang="en-US" sz="3000" b="1" dirty="0">
              <a:solidFill>
                <a:schemeClr val="bg1"/>
              </a:solidFill>
            </a:endParaRPr>
          </a:p>
        </p:txBody>
      </p:sp>
      <p:graphicFrame>
        <p:nvGraphicFramePr>
          <p:cNvPr id="6" name="表 5">
            <a:extLst>
              <a:ext uri="{FF2B5EF4-FFF2-40B4-BE49-F238E27FC236}">
                <a16:creationId xmlns:a16="http://schemas.microsoft.com/office/drawing/2014/main" id="{98CEA2FE-4524-44EB-AF7F-93782BDD4CE4}"/>
              </a:ext>
            </a:extLst>
          </p:cNvPr>
          <p:cNvGraphicFramePr>
            <a:graphicFrameLocks noGrp="1"/>
          </p:cNvGraphicFramePr>
          <p:nvPr>
            <p:extLst>
              <p:ext uri="{D42A27DB-BD31-4B8C-83A1-F6EECF244321}">
                <p14:modId xmlns:p14="http://schemas.microsoft.com/office/powerpoint/2010/main" val="1976649496"/>
              </p:ext>
            </p:extLst>
          </p:nvPr>
        </p:nvGraphicFramePr>
        <p:xfrm>
          <a:off x="838199" y="1964572"/>
          <a:ext cx="10515599" cy="1188720"/>
        </p:xfrm>
        <a:graphic>
          <a:graphicData uri="http://schemas.openxmlformats.org/drawingml/2006/table">
            <a:tbl>
              <a:tblPr firstRow="1" bandRow="1">
                <a:tableStyleId>{5940675A-B579-460E-94D1-54222C63F5DA}</a:tableStyleId>
              </a:tblPr>
              <a:tblGrid>
                <a:gridCol w="1343141">
                  <a:extLst>
                    <a:ext uri="{9D8B030D-6E8A-4147-A177-3AD203B41FA5}">
                      <a16:colId xmlns:a16="http://schemas.microsoft.com/office/drawing/2014/main" val="1842774849"/>
                    </a:ext>
                  </a:extLst>
                </a:gridCol>
                <a:gridCol w="9172458">
                  <a:extLst>
                    <a:ext uri="{9D8B030D-6E8A-4147-A177-3AD203B41FA5}">
                      <a16:colId xmlns:a16="http://schemas.microsoft.com/office/drawing/2014/main" val="126258208"/>
                    </a:ext>
                  </a:extLst>
                </a:gridCol>
              </a:tblGrid>
              <a:tr h="370840">
                <a:tc>
                  <a:txBody>
                    <a:bodyPr/>
                    <a:lstStyle/>
                    <a:p>
                      <a:r>
                        <a:rPr kumimoji="1" lang="en-US" altLang="ja-JP" sz="2200" dirty="0"/>
                        <a:t>7.2</a:t>
                      </a:r>
                      <a:r>
                        <a:rPr kumimoji="1" lang="ja-JP" altLang="en-US" sz="2200" dirty="0"/>
                        <a:t>項</a:t>
                      </a:r>
                    </a:p>
                  </a:txBody>
                  <a:tcPr>
                    <a:solidFill>
                      <a:schemeClr val="tx2">
                        <a:lumMod val="20000"/>
                        <a:lumOff val="80000"/>
                      </a:schemeClr>
                    </a:solidFill>
                  </a:tcPr>
                </a:tc>
                <a:tc>
                  <a:txBody>
                    <a:bodyPr/>
                    <a:lstStyle/>
                    <a:p>
                      <a:r>
                        <a:rPr kumimoji="1" lang="ja-JP" altLang="en-US" sz="2200" dirty="0"/>
                        <a:t>要員の技能向上を目的とした全般的なＯＪＴ</a:t>
                      </a:r>
                    </a:p>
                  </a:txBody>
                  <a:tcPr>
                    <a:solidFill>
                      <a:schemeClr val="tx2">
                        <a:lumMod val="20000"/>
                        <a:lumOff val="80000"/>
                      </a:schemeClr>
                    </a:solidFill>
                  </a:tcPr>
                </a:tc>
                <a:extLst>
                  <a:ext uri="{0D108BD9-81ED-4DB2-BD59-A6C34878D82A}">
                    <a16:rowId xmlns:a16="http://schemas.microsoft.com/office/drawing/2014/main" val="2006019667"/>
                  </a:ext>
                </a:extLst>
              </a:tr>
              <a:tr h="370840">
                <a:tc>
                  <a:txBody>
                    <a:bodyPr/>
                    <a:lstStyle/>
                    <a:p>
                      <a:r>
                        <a:rPr kumimoji="1" lang="en-US" altLang="ja-JP" sz="2200" dirty="0"/>
                        <a:t>7.2.2</a:t>
                      </a:r>
                      <a:r>
                        <a:rPr kumimoji="1" lang="ja-JP" altLang="en-US" sz="2200" dirty="0"/>
                        <a:t>項</a:t>
                      </a:r>
                    </a:p>
                  </a:txBody>
                  <a:tcPr>
                    <a:solidFill>
                      <a:schemeClr val="tx2">
                        <a:lumMod val="20000"/>
                        <a:lumOff val="80000"/>
                      </a:schemeClr>
                    </a:solidFill>
                  </a:tcPr>
                </a:tc>
                <a:tc>
                  <a:txBody>
                    <a:bodyPr/>
                    <a:lstStyle/>
                    <a:p>
                      <a:r>
                        <a:rPr kumimoji="1" lang="ja-JP" altLang="en-US" sz="2200" dirty="0"/>
                        <a:t>ある目的に絞られたＯＪＴ（新製品の立上げ／工程変更／特殊工程）</a:t>
                      </a:r>
                      <a:endParaRPr kumimoji="1" lang="en-US" altLang="ja-JP" sz="2200" dirty="0"/>
                    </a:p>
                    <a:p>
                      <a:r>
                        <a:rPr kumimoji="1" lang="ja-JP" altLang="en-US" sz="2200" dirty="0"/>
                        <a:t>➠　重要な顧客要求の満足と不適合品流出防止。</a:t>
                      </a:r>
                      <a:endParaRPr kumimoji="1" lang="en-US" altLang="ja-JP" sz="2200" dirty="0"/>
                    </a:p>
                  </a:txBody>
                  <a:tcPr>
                    <a:solidFill>
                      <a:schemeClr val="tx2">
                        <a:lumMod val="20000"/>
                        <a:lumOff val="80000"/>
                      </a:schemeClr>
                    </a:solidFill>
                  </a:tcPr>
                </a:tc>
                <a:extLst>
                  <a:ext uri="{0D108BD9-81ED-4DB2-BD59-A6C34878D82A}">
                    <a16:rowId xmlns:a16="http://schemas.microsoft.com/office/drawing/2014/main" val="1951494987"/>
                  </a:ext>
                </a:extLst>
              </a:tr>
            </a:tbl>
          </a:graphicData>
        </a:graphic>
      </p:graphicFrame>
    </p:spTree>
    <p:extLst>
      <p:ext uri="{BB962C8B-B14F-4D97-AF65-F5344CB8AC3E}">
        <p14:creationId xmlns:p14="http://schemas.microsoft.com/office/powerpoint/2010/main" val="3558196759"/>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☑組織は、組織によって及び／又は顧客固有要求事項によって規定された要求事項を考慮に入れて、</a:t>
            </a:r>
            <a:r>
              <a:rPr lang="ja-JP" altLang="en-US" sz="2000" u="sng" dirty="0"/>
              <a:t>内部監査員が力量をもつことを検証</a:t>
            </a:r>
            <a:r>
              <a:rPr lang="ja-JP" altLang="en-US" sz="2000" dirty="0"/>
              <a:t>する</a:t>
            </a:r>
            <a:r>
              <a:rPr lang="ja-JP" altLang="en-US" sz="2000" b="1" dirty="0"/>
              <a:t>文書化されたプロセス</a:t>
            </a:r>
            <a:r>
              <a:rPr lang="ja-JP" altLang="en-US" sz="2000" dirty="0"/>
              <a:t>をもたなければならない。監査員の力量に関する追加の手引には、</a:t>
            </a:r>
            <a:r>
              <a:rPr lang="en-US" altLang="ja-JP" sz="2000" dirty="0"/>
              <a:t>ISO19011</a:t>
            </a:r>
            <a:r>
              <a:rPr lang="ja-JP" altLang="en-US" sz="2000" dirty="0"/>
              <a:t>を参照する。</a:t>
            </a:r>
            <a:endParaRPr lang="en-US" altLang="ja-JP" sz="2000" dirty="0"/>
          </a:p>
          <a:p>
            <a:pPr marL="0" indent="0">
              <a:lnSpc>
                <a:spcPct val="100000"/>
              </a:lnSpc>
              <a:buNone/>
            </a:pPr>
            <a:r>
              <a:rPr lang="ja-JP" altLang="en-US" sz="2000" dirty="0"/>
              <a:t>☑組織は、資格をもつ</a:t>
            </a:r>
            <a:r>
              <a:rPr lang="ja-JP" altLang="en-US" sz="2000" u="sng" dirty="0"/>
              <a:t>内部監査員のリストを維持しなければならない。</a:t>
            </a:r>
            <a:endParaRPr lang="en-US" altLang="ja-JP" sz="2000" u="sng" dirty="0"/>
          </a:p>
          <a:p>
            <a:pPr marL="0" indent="0">
              <a:lnSpc>
                <a:spcPct val="100000"/>
              </a:lnSpc>
              <a:buNone/>
            </a:pPr>
            <a:r>
              <a:rPr lang="ja-JP" altLang="en-US" sz="2000" dirty="0"/>
              <a:t>☑品質マネジメントシステム監査員は、次の最低限の力量を実証できなければならない。</a:t>
            </a:r>
            <a:endParaRPr lang="en-US" altLang="ja-JP" sz="2000" dirty="0"/>
          </a:p>
          <a:p>
            <a:pPr marL="800100" lvl="1" indent="-342900">
              <a:lnSpc>
                <a:spcPct val="100000"/>
              </a:lnSpc>
              <a:buFont typeface="+mj-lt"/>
              <a:buAutoNum type="alphaLcPeriod"/>
            </a:pPr>
            <a:r>
              <a:rPr lang="ja-JP" altLang="en-US" sz="2000" dirty="0"/>
              <a:t>リスクに基づく考え方を含む、監査に対する</a:t>
            </a:r>
            <a:r>
              <a:rPr lang="ja-JP" altLang="en-US" sz="2000" u="sng" dirty="0"/>
              <a:t>自動車産業プロセスアプローチの理解</a:t>
            </a:r>
            <a:endParaRPr lang="en-US" altLang="ja-JP" sz="2000" u="sng" dirty="0"/>
          </a:p>
          <a:p>
            <a:pPr marL="800100" lvl="1" indent="-342900">
              <a:lnSpc>
                <a:spcPct val="100000"/>
              </a:lnSpc>
              <a:buFont typeface="+mj-lt"/>
              <a:buAutoNum type="alphaLcPeriod"/>
            </a:pPr>
            <a:r>
              <a:rPr lang="ja-JP" altLang="en-US" sz="2000" dirty="0"/>
              <a:t>該当する</a:t>
            </a:r>
            <a:r>
              <a:rPr lang="ja-JP" altLang="en-US" sz="2000" u="sng" dirty="0"/>
              <a:t>顧客固有要求事項の理解</a:t>
            </a:r>
            <a:endParaRPr lang="en-US" altLang="ja-JP" sz="2000" u="sng" dirty="0"/>
          </a:p>
          <a:p>
            <a:pPr marL="800100" lvl="1" indent="-342900">
              <a:lnSpc>
                <a:spcPct val="100000"/>
              </a:lnSpc>
              <a:buFont typeface="+mj-lt"/>
              <a:buAutoNum type="alphaLcPeriod"/>
            </a:pPr>
            <a:r>
              <a:rPr lang="ja-JP" altLang="en-US" sz="2000" dirty="0"/>
              <a:t>監査適用範囲に関して適用される</a:t>
            </a:r>
            <a:r>
              <a:rPr lang="en-US" altLang="ja-JP" sz="2000" dirty="0"/>
              <a:t>ISO9001</a:t>
            </a:r>
            <a:r>
              <a:rPr lang="ja-JP" altLang="en-US" sz="2000" dirty="0"/>
              <a:t>及び</a:t>
            </a:r>
            <a:r>
              <a:rPr lang="en-US" altLang="ja-JP" sz="2000" u="sng" dirty="0"/>
              <a:t>IATF16949</a:t>
            </a:r>
            <a:r>
              <a:rPr lang="ja-JP" altLang="en-US" sz="2000" u="sng" dirty="0"/>
              <a:t>要求事項の理解</a:t>
            </a:r>
            <a:endParaRPr lang="en-US" altLang="ja-JP" sz="2000" u="sng" dirty="0"/>
          </a:p>
          <a:p>
            <a:pPr marL="800100" lvl="1" indent="-342900">
              <a:lnSpc>
                <a:spcPct val="100000"/>
              </a:lnSpc>
              <a:buFont typeface="+mj-lt"/>
              <a:buAutoNum type="alphaLcPeriod"/>
            </a:pPr>
            <a:r>
              <a:rPr lang="ja-JP" altLang="en-US" sz="2000" dirty="0"/>
              <a:t>監査範囲に関係する、該当する</a:t>
            </a:r>
            <a:r>
              <a:rPr lang="ja-JP" altLang="en-US" sz="2000" u="sng" dirty="0"/>
              <a:t>コアツール要求事項の理解</a:t>
            </a:r>
            <a:endParaRPr lang="en-US" altLang="ja-JP" sz="2000" u="sng" dirty="0"/>
          </a:p>
          <a:p>
            <a:pPr marL="800100" lvl="1" indent="-342900">
              <a:lnSpc>
                <a:spcPct val="100000"/>
              </a:lnSpc>
              <a:buFont typeface="+mj-lt"/>
              <a:buAutoNum type="alphaLcPeriod"/>
            </a:pPr>
            <a:r>
              <a:rPr lang="ja-JP" altLang="en-US" sz="2000" u="sng" dirty="0"/>
              <a:t>計画、実施、報告及び監査所見の完了の仕方の理解</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7.2.3</a:t>
            </a:r>
            <a:r>
              <a:rPr kumimoji="1" lang="ja-JP" altLang="en-US" sz="3000" b="1" dirty="0">
                <a:solidFill>
                  <a:schemeClr val="tx2"/>
                </a:solidFill>
              </a:rPr>
              <a:t>　内部監査員の力量</a:t>
            </a:r>
          </a:p>
        </p:txBody>
      </p:sp>
      <p:sp>
        <p:nvSpPr>
          <p:cNvPr id="2" name="四角形: 角を丸くする 1">
            <a:extLst>
              <a:ext uri="{FF2B5EF4-FFF2-40B4-BE49-F238E27FC236}">
                <a16:creationId xmlns:a16="http://schemas.microsoft.com/office/drawing/2014/main" id="{89FB0FB0-350A-4FAF-A392-71345B06F109}"/>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a:t>
            </a:r>
            <a:r>
              <a:rPr lang="en-US" altLang="ja-JP" sz="1600" dirty="0">
                <a:solidFill>
                  <a:schemeClr val="tx1"/>
                </a:solidFill>
              </a:rPr>
              <a:t>4</a:t>
            </a:r>
            <a:endParaRPr kumimoji="1" lang="en-US" altLang="ja-JP" sz="1600" dirty="0">
              <a:solidFill>
                <a:schemeClr val="tx1"/>
              </a:solidFill>
            </a:endParaRPr>
          </a:p>
        </p:txBody>
      </p:sp>
    </p:spTree>
    <p:extLst>
      <p:ext uri="{BB962C8B-B14F-4D97-AF65-F5344CB8AC3E}">
        <p14:creationId xmlns:p14="http://schemas.microsoft.com/office/powerpoint/2010/main" val="1097593156"/>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159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製造工程監査員は</a:t>
            </a:r>
            <a:r>
              <a:rPr lang="ja-JP" altLang="en-US" sz="2000" dirty="0"/>
              <a:t>、最低限、監査対象となる該当する製造工程の、工程リスク分析（</a:t>
            </a:r>
            <a:r>
              <a:rPr lang="en-US" altLang="ja-JP" sz="2000" dirty="0"/>
              <a:t>PFMEA</a:t>
            </a:r>
            <a:r>
              <a:rPr lang="ja-JP" altLang="en-US" sz="2000" dirty="0"/>
              <a:t>のような）及びコントロールプランを含む、</a:t>
            </a:r>
            <a:r>
              <a:rPr lang="ja-JP" altLang="en-US" sz="2000" u="sng" dirty="0"/>
              <a:t>専門的理解を実証しなければならない。</a:t>
            </a:r>
            <a:endParaRPr lang="en-US" altLang="ja-JP" sz="2000" u="sng" dirty="0"/>
          </a:p>
          <a:p>
            <a:pPr marL="0" indent="0">
              <a:lnSpc>
                <a:spcPct val="100000"/>
              </a:lnSpc>
              <a:buNone/>
            </a:pPr>
            <a:r>
              <a:rPr lang="ja-JP" altLang="en-US" sz="2000" dirty="0"/>
              <a:t>☑</a:t>
            </a:r>
            <a:r>
              <a:rPr lang="ja-JP" altLang="en-US" sz="2000" u="sng" dirty="0"/>
              <a:t>製品監査員は</a:t>
            </a:r>
            <a:r>
              <a:rPr lang="ja-JP" altLang="en-US" sz="2000" dirty="0"/>
              <a:t>、最低限、製品の適合性を検証するために、</a:t>
            </a:r>
            <a:r>
              <a:rPr lang="ja-JP" altLang="en-US" sz="2000" u="sng" dirty="0"/>
              <a:t>製品要求事項の理解、並びに該当する測定及び試験設備の使用において、力量を実証しなければならない。</a:t>
            </a:r>
            <a:endParaRPr lang="en-US" altLang="ja-JP" sz="2000" u="sng" dirty="0"/>
          </a:p>
          <a:p>
            <a:pPr marL="0" indent="0">
              <a:lnSpc>
                <a:spcPct val="100000"/>
              </a:lnSpc>
              <a:buNone/>
            </a:pPr>
            <a:r>
              <a:rPr lang="ja-JP" altLang="en-US" sz="2000" dirty="0"/>
              <a:t>☑力量を獲得するために組織の要員が教育訓練を提供する場合は、上記要求事項を備えた</a:t>
            </a:r>
            <a:r>
              <a:rPr lang="ja-JP" altLang="en-US" sz="2000" u="sng" dirty="0"/>
              <a:t>トレーナーの力量を実証する</a:t>
            </a:r>
            <a:r>
              <a:rPr lang="ja-JP" altLang="en-US" sz="2000" dirty="0"/>
              <a:t>ために</a:t>
            </a:r>
            <a:r>
              <a:rPr lang="ja-JP" altLang="en-US" sz="2000" b="1" dirty="0"/>
              <a:t>文書化した情報を保持</a:t>
            </a:r>
            <a:r>
              <a:rPr lang="ja-JP" altLang="en-US" sz="2000" dirty="0"/>
              <a:t>しなければならない。</a:t>
            </a:r>
            <a:endParaRPr lang="en-US" altLang="ja-JP" sz="2000" dirty="0"/>
          </a:p>
          <a:p>
            <a:pPr marL="0" indent="0">
              <a:lnSpc>
                <a:spcPct val="100000"/>
              </a:lnSpc>
              <a:buNone/>
            </a:pPr>
            <a:r>
              <a:rPr lang="ja-JP" altLang="en-US" sz="2000" dirty="0"/>
              <a:t>☑内部監査員の力量における維持及び改善は、次の事項を通じて実証しなければならない。</a:t>
            </a:r>
            <a:endParaRPr lang="en-US" altLang="ja-JP" sz="2000" dirty="0"/>
          </a:p>
          <a:p>
            <a:pPr marL="800100" lvl="1" indent="-342900">
              <a:lnSpc>
                <a:spcPct val="100000"/>
              </a:lnSpc>
              <a:buFont typeface="+mj-lt"/>
              <a:buAutoNum type="alphaLcPeriod" startAt="6"/>
            </a:pPr>
            <a:r>
              <a:rPr lang="ja-JP" altLang="en-US" sz="2000" dirty="0"/>
              <a:t>組織が定める、</a:t>
            </a:r>
            <a:r>
              <a:rPr lang="ja-JP" altLang="en-US" sz="2000" u="sng" dirty="0"/>
              <a:t>年間最低回数の監査の実施</a:t>
            </a:r>
            <a:endParaRPr lang="en-US" altLang="ja-JP" sz="2000" u="sng" dirty="0"/>
          </a:p>
          <a:p>
            <a:pPr marL="800100" lvl="1" indent="-342900">
              <a:lnSpc>
                <a:spcPct val="100000"/>
              </a:lnSpc>
              <a:buFont typeface="+mj-lt"/>
              <a:buAutoNum type="alphaLcPeriod" startAt="6"/>
            </a:pPr>
            <a:r>
              <a:rPr lang="ja-JP" altLang="en-US" sz="2000" dirty="0"/>
              <a:t>内部変化（例　工程技術、製品技術）及び外部変化（例　</a:t>
            </a:r>
            <a:r>
              <a:rPr lang="en-US" altLang="ja-JP" sz="2000" dirty="0"/>
              <a:t>ISO9001</a:t>
            </a:r>
            <a:r>
              <a:rPr lang="ja-JP" altLang="en-US" sz="2000" dirty="0" err="1"/>
              <a:t>、</a:t>
            </a:r>
            <a:r>
              <a:rPr lang="en-US" altLang="ja-JP" sz="2000" dirty="0"/>
              <a:t>IATF16949</a:t>
            </a:r>
            <a:r>
              <a:rPr lang="ja-JP" altLang="en-US" sz="2000" dirty="0" err="1"/>
              <a:t>、</a:t>
            </a:r>
            <a:r>
              <a:rPr lang="ja-JP" altLang="en-US" sz="2000" dirty="0"/>
              <a:t>コアツール及び顧客固有要求事項）に基づく、</a:t>
            </a:r>
            <a:r>
              <a:rPr lang="ja-JP" altLang="en-US" sz="2000" u="sng" dirty="0"/>
              <a:t>該当する要求事項の知識の維持</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7.2.3</a:t>
            </a:r>
            <a:r>
              <a:rPr kumimoji="1" lang="ja-JP" altLang="en-US" sz="3000" b="1" dirty="0">
                <a:solidFill>
                  <a:schemeClr val="tx2"/>
                </a:solidFill>
              </a:rPr>
              <a:t>　内部監査員の力量</a:t>
            </a:r>
          </a:p>
        </p:txBody>
      </p:sp>
      <p:sp>
        <p:nvSpPr>
          <p:cNvPr id="2" name="四角形: 角を丸くする 1">
            <a:extLst>
              <a:ext uri="{FF2B5EF4-FFF2-40B4-BE49-F238E27FC236}">
                <a16:creationId xmlns:a16="http://schemas.microsoft.com/office/drawing/2014/main" id="{24D0874A-3C69-44F3-971D-1418C53B9678}"/>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a:t>
            </a:r>
            <a:r>
              <a:rPr lang="en-US" altLang="ja-JP" sz="1600" dirty="0">
                <a:solidFill>
                  <a:schemeClr val="tx1"/>
                </a:solidFill>
              </a:rPr>
              <a:t>4</a:t>
            </a:r>
            <a:endParaRPr kumimoji="1" lang="en-US" altLang="ja-JP" sz="1600" dirty="0">
              <a:solidFill>
                <a:schemeClr val="tx1"/>
              </a:solidFill>
            </a:endParaRPr>
          </a:p>
        </p:txBody>
      </p:sp>
    </p:spTree>
    <p:extLst>
      <p:ext uri="{BB962C8B-B14F-4D97-AF65-F5344CB8AC3E}">
        <p14:creationId xmlns:p14="http://schemas.microsoft.com/office/powerpoint/2010/main" val="1620645789"/>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12240"/>
            <a:ext cx="10515600" cy="4944110"/>
          </a:xfrm>
          <a:ln w="12700">
            <a:noFill/>
          </a:ln>
        </p:spPr>
        <p:txBody>
          <a:bodyPr>
            <a:normAutofit fontScale="92500" lnSpcReduction="10000"/>
          </a:bodyPr>
          <a:lstStyle/>
          <a:p>
            <a:pPr marL="457200" indent="-457200">
              <a:buFont typeface="+mj-lt"/>
              <a:buAutoNum type="arabicPeriod"/>
            </a:pPr>
            <a:r>
              <a:rPr lang="ja-JP" altLang="en-US" sz="2400" dirty="0"/>
              <a:t>内部監査員の区分と求められる力量。</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「経験」　➠　講習の受講ではなく、組織内での業務経験から得る。</a:t>
            </a:r>
            <a:endParaRPr lang="en-US" altLang="ja-JP" sz="2400" dirty="0"/>
          </a:p>
          <a:p>
            <a:pPr marL="457200" indent="-457200">
              <a:buFont typeface="+mj-lt"/>
              <a:buAutoNum type="arabicPeriod"/>
            </a:pPr>
            <a:r>
              <a:rPr lang="ja-JP" altLang="en-US" sz="2400" dirty="0"/>
              <a:t>力量管理の明確化。</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solidFill>
                  <a:srgbClr val="FF0000"/>
                </a:solidFill>
                <a:effectLst>
                  <a:outerShdw blurRad="38100" dist="38100" dir="2700000" algn="tl">
                    <a:srgbClr val="000000">
                      <a:alpha val="43137"/>
                    </a:srgbClr>
                  </a:outerShdw>
                </a:effectLst>
              </a:rPr>
              <a:t>力量の維持と改善</a:t>
            </a:r>
            <a:r>
              <a:rPr lang="ja-JP" altLang="en-US" sz="2400" dirty="0"/>
              <a:t>も重要。➠計画された監査における実務。</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7.2.3</a:t>
            </a:r>
            <a:r>
              <a:rPr lang="ja-JP" altLang="en-US" sz="3000" b="1" dirty="0">
                <a:solidFill>
                  <a:schemeClr val="bg1"/>
                </a:solidFill>
              </a:rPr>
              <a:t>　内部監査員の力量</a:t>
            </a:r>
            <a:endParaRPr kumimoji="1" lang="ja-JP" altLang="en-US" sz="3000" b="1" dirty="0">
              <a:solidFill>
                <a:schemeClr val="bg1"/>
              </a:solidFill>
            </a:endParaRPr>
          </a:p>
        </p:txBody>
      </p:sp>
      <p:graphicFrame>
        <p:nvGraphicFramePr>
          <p:cNvPr id="6" name="表 5">
            <a:extLst>
              <a:ext uri="{FF2B5EF4-FFF2-40B4-BE49-F238E27FC236}">
                <a16:creationId xmlns:a16="http://schemas.microsoft.com/office/drawing/2014/main" id="{0BAA0F8F-6484-4E07-A1AB-0661180A3850}"/>
              </a:ext>
            </a:extLst>
          </p:cNvPr>
          <p:cNvGraphicFramePr>
            <a:graphicFrameLocks noGrp="1"/>
          </p:cNvGraphicFramePr>
          <p:nvPr>
            <p:extLst>
              <p:ext uri="{D42A27DB-BD31-4B8C-83A1-F6EECF244321}">
                <p14:modId xmlns:p14="http://schemas.microsoft.com/office/powerpoint/2010/main" val="1497122619"/>
              </p:ext>
            </p:extLst>
          </p:nvPr>
        </p:nvGraphicFramePr>
        <p:xfrm>
          <a:off x="838199" y="1742440"/>
          <a:ext cx="10515600" cy="1483360"/>
        </p:xfrm>
        <a:graphic>
          <a:graphicData uri="http://schemas.openxmlformats.org/drawingml/2006/table">
            <a:tbl>
              <a:tblPr firstRow="1" bandRow="1">
                <a:tableStyleId>{5940675A-B579-460E-94D1-54222C63F5DA}</a:tableStyleId>
              </a:tblPr>
              <a:tblGrid>
                <a:gridCol w="2720249">
                  <a:extLst>
                    <a:ext uri="{9D8B030D-6E8A-4147-A177-3AD203B41FA5}">
                      <a16:colId xmlns:a16="http://schemas.microsoft.com/office/drawing/2014/main" val="2353328391"/>
                    </a:ext>
                  </a:extLst>
                </a:gridCol>
                <a:gridCol w="7795351">
                  <a:extLst>
                    <a:ext uri="{9D8B030D-6E8A-4147-A177-3AD203B41FA5}">
                      <a16:colId xmlns:a16="http://schemas.microsoft.com/office/drawing/2014/main" val="1817288010"/>
                    </a:ext>
                  </a:extLst>
                </a:gridCol>
              </a:tblGrid>
              <a:tr h="370840">
                <a:tc>
                  <a:txBody>
                    <a:bodyPr/>
                    <a:lstStyle/>
                    <a:p>
                      <a:pPr algn="ctr"/>
                      <a:r>
                        <a:rPr kumimoji="1" lang="ja-JP" altLang="en-US" sz="1800" dirty="0"/>
                        <a:t>区分</a:t>
                      </a:r>
                    </a:p>
                  </a:txBody>
                  <a:tcPr anchor="ctr">
                    <a:solidFill>
                      <a:schemeClr val="tx2">
                        <a:lumMod val="40000"/>
                        <a:lumOff val="60000"/>
                      </a:schemeClr>
                    </a:solidFill>
                  </a:tcPr>
                </a:tc>
                <a:tc>
                  <a:txBody>
                    <a:bodyPr/>
                    <a:lstStyle/>
                    <a:p>
                      <a:pPr algn="ctr"/>
                      <a:r>
                        <a:rPr kumimoji="1" lang="ja-JP" altLang="en-US" sz="1800" dirty="0"/>
                        <a:t>力量</a:t>
                      </a:r>
                    </a:p>
                  </a:txBody>
                  <a:tcPr anchor="ctr">
                    <a:solidFill>
                      <a:schemeClr val="tx2">
                        <a:lumMod val="40000"/>
                        <a:lumOff val="60000"/>
                      </a:schemeClr>
                    </a:solidFill>
                  </a:tcPr>
                </a:tc>
                <a:extLst>
                  <a:ext uri="{0D108BD9-81ED-4DB2-BD59-A6C34878D82A}">
                    <a16:rowId xmlns:a16="http://schemas.microsoft.com/office/drawing/2014/main" val="18040720"/>
                  </a:ext>
                </a:extLst>
              </a:tr>
              <a:tr h="370840">
                <a:tc>
                  <a:txBody>
                    <a:bodyPr/>
                    <a:lstStyle/>
                    <a:p>
                      <a:r>
                        <a:rPr kumimoji="1" lang="en-US" altLang="ja-JP" sz="1800" dirty="0"/>
                        <a:t>QMS</a:t>
                      </a:r>
                      <a:r>
                        <a:rPr kumimoji="1" lang="ja-JP" altLang="en-US" sz="1800" dirty="0"/>
                        <a:t>監査員</a:t>
                      </a:r>
                    </a:p>
                  </a:txBody>
                  <a:tcPr anchor="ctr"/>
                </a:tc>
                <a:tc>
                  <a:txBody>
                    <a:bodyPr/>
                    <a:lstStyle/>
                    <a:p>
                      <a:r>
                        <a:rPr kumimoji="1" lang="ja-JP" altLang="en-US" sz="1800" dirty="0"/>
                        <a:t>ａ）～ｅ）➠各種要求事項に関する理解</a:t>
                      </a:r>
                    </a:p>
                  </a:txBody>
                  <a:tcPr anchor="ctr"/>
                </a:tc>
                <a:extLst>
                  <a:ext uri="{0D108BD9-81ED-4DB2-BD59-A6C34878D82A}">
                    <a16:rowId xmlns:a16="http://schemas.microsoft.com/office/drawing/2014/main" val="760615467"/>
                  </a:ext>
                </a:extLst>
              </a:tr>
              <a:tr h="370840">
                <a:tc>
                  <a:txBody>
                    <a:bodyPr/>
                    <a:lstStyle/>
                    <a:p>
                      <a:r>
                        <a:rPr kumimoji="1" lang="ja-JP" altLang="en-US" sz="1800" dirty="0"/>
                        <a:t>製造工程監査員</a:t>
                      </a:r>
                    </a:p>
                  </a:txBody>
                  <a:tcPr anchor="ctr"/>
                </a:tc>
                <a:tc>
                  <a:txBody>
                    <a:bodyPr/>
                    <a:lstStyle/>
                    <a:p>
                      <a:r>
                        <a:rPr kumimoji="1" lang="en-US" altLang="ja-JP" sz="1800" dirty="0"/>
                        <a:t>PFMEA</a:t>
                      </a:r>
                      <a:r>
                        <a:rPr kumimoji="1" lang="ja-JP" altLang="en-US" sz="1800" dirty="0"/>
                        <a:t>及び</a:t>
                      </a:r>
                      <a:r>
                        <a:rPr kumimoji="1" lang="en-US" altLang="ja-JP" sz="1800" dirty="0"/>
                        <a:t>CP</a:t>
                      </a:r>
                      <a:r>
                        <a:rPr kumimoji="1" lang="ja-JP" altLang="en-US" sz="1800" dirty="0"/>
                        <a:t>を含む製造業務の</a:t>
                      </a:r>
                      <a:r>
                        <a:rPr kumimoji="1" lang="ja-JP" altLang="en-US" sz="1800" dirty="0">
                          <a:solidFill>
                            <a:srgbClr val="FF0000"/>
                          </a:solidFill>
                          <a:effectLst>
                            <a:outerShdw blurRad="38100" dist="38100" dir="2700000" algn="tl">
                              <a:srgbClr val="000000">
                                <a:alpha val="43137"/>
                              </a:srgbClr>
                            </a:outerShdw>
                          </a:effectLst>
                        </a:rPr>
                        <a:t>経験</a:t>
                      </a:r>
                    </a:p>
                  </a:txBody>
                  <a:tcPr anchor="ctr"/>
                </a:tc>
                <a:extLst>
                  <a:ext uri="{0D108BD9-81ED-4DB2-BD59-A6C34878D82A}">
                    <a16:rowId xmlns:a16="http://schemas.microsoft.com/office/drawing/2014/main" val="1099475831"/>
                  </a:ext>
                </a:extLst>
              </a:tr>
              <a:tr h="370840">
                <a:tc>
                  <a:txBody>
                    <a:bodyPr/>
                    <a:lstStyle/>
                    <a:p>
                      <a:r>
                        <a:rPr kumimoji="1" lang="ja-JP" altLang="en-US" sz="1800" dirty="0"/>
                        <a:t>製品監査員</a:t>
                      </a:r>
                    </a:p>
                  </a:txBody>
                  <a:tcPr anchor="ctr"/>
                </a:tc>
                <a:tc>
                  <a:txBody>
                    <a:bodyPr/>
                    <a:lstStyle/>
                    <a:p>
                      <a:r>
                        <a:rPr kumimoji="1" lang="ja-JP" altLang="en-US" sz="1800" dirty="0"/>
                        <a:t>図面及び仕様書、測定及び試験などの</a:t>
                      </a:r>
                      <a:r>
                        <a:rPr kumimoji="1" lang="ja-JP" altLang="en-US" sz="1800" dirty="0">
                          <a:solidFill>
                            <a:srgbClr val="FF0000"/>
                          </a:solidFill>
                          <a:effectLst>
                            <a:outerShdw blurRad="38100" dist="38100" dir="2700000" algn="tl">
                              <a:srgbClr val="000000">
                                <a:alpha val="43137"/>
                              </a:srgbClr>
                            </a:outerShdw>
                          </a:effectLst>
                        </a:rPr>
                        <a:t>経験</a:t>
                      </a:r>
                    </a:p>
                  </a:txBody>
                  <a:tcPr anchor="ctr"/>
                </a:tc>
                <a:extLst>
                  <a:ext uri="{0D108BD9-81ED-4DB2-BD59-A6C34878D82A}">
                    <a16:rowId xmlns:a16="http://schemas.microsoft.com/office/drawing/2014/main" val="2227466182"/>
                  </a:ext>
                </a:extLst>
              </a:tr>
            </a:tbl>
          </a:graphicData>
        </a:graphic>
      </p:graphicFrame>
      <p:graphicFrame>
        <p:nvGraphicFramePr>
          <p:cNvPr id="7" name="表 6">
            <a:extLst>
              <a:ext uri="{FF2B5EF4-FFF2-40B4-BE49-F238E27FC236}">
                <a16:creationId xmlns:a16="http://schemas.microsoft.com/office/drawing/2014/main" id="{DA0FC878-FD0B-43A6-BF46-63B2B237656B}"/>
              </a:ext>
            </a:extLst>
          </p:cNvPr>
          <p:cNvGraphicFramePr>
            <a:graphicFrameLocks noGrp="1"/>
          </p:cNvGraphicFramePr>
          <p:nvPr>
            <p:extLst>
              <p:ext uri="{D42A27DB-BD31-4B8C-83A1-F6EECF244321}">
                <p14:modId xmlns:p14="http://schemas.microsoft.com/office/powerpoint/2010/main" val="2013962142"/>
              </p:ext>
            </p:extLst>
          </p:nvPr>
        </p:nvGraphicFramePr>
        <p:xfrm>
          <a:off x="838199" y="4079558"/>
          <a:ext cx="10515600" cy="1483360"/>
        </p:xfrm>
        <a:graphic>
          <a:graphicData uri="http://schemas.openxmlformats.org/drawingml/2006/table">
            <a:tbl>
              <a:tblPr firstRow="1" bandRow="1">
                <a:tableStyleId>{5940675A-B579-460E-94D1-54222C63F5DA}</a:tableStyleId>
              </a:tblPr>
              <a:tblGrid>
                <a:gridCol w="2389743">
                  <a:extLst>
                    <a:ext uri="{9D8B030D-6E8A-4147-A177-3AD203B41FA5}">
                      <a16:colId xmlns:a16="http://schemas.microsoft.com/office/drawing/2014/main" val="1224342969"/>
                    </a:ext>
                  </a:extLst>
                </a:gridCol>
                <a:gridCol w="4153359">
                  <a:extLst>
                    <a:ext uri="{9D8B030D-6E8A-4147-A177-3AD203B41FA5}">
                      <a16:colId xmlns:a16="http://schemas.microsoft.com/office/drawing/2014/main" val="2065474477"/>
                    </a:ext>
                  </a:extLst>
                </a:gridCol>
                <a:gridCol w="3972498">
                  <a:extLst>
                    <a:ext uri="{9D8B030D-6E8A-4147-A177-3AD203B41FA5}">
                      <a16:colId xmlns:a16="http://schemas.microsoft.com/office/drawing/2014/main" val="2131829331"/>
                    </a:ext>
                  </a:extLst>
                </a:gridCol>
              </a:tblGrid>
              <a:tr h="370840">
                <a:tc>
                  <a:txBody>
                    <a:bodyPr/>
                    <a:lstStyle/>
                    <a:p>
                      <a:pPr algn="ctr"/>
                      <a:r>
                        <a:rPr kumimoji="1" lang="ja-JP" altLang="en-US" sz="1800" dirty="0"/>
                        <a:t>区分</a:t>
                      </a:r>
                    </a:p>
                  </a:txBody>
                  <a:tcPr anchor="ctr">
                    <a:solidFill>
                      <a:schemeClr val="tx2">
                        <a:lumMod val="40000"/>
                        <a:lumOff val="60000"/>
                      </a:schemeClr>
                    </a:solidFill>
                  </a:tcPr>
                </a:tc>
                <a:tc>
                  <a:txBody>
                    <a:bodyPr/>
                    <a:lstStyle/>
                    <a:p>
                      <a:pPr algn="ctr"/>
                      <a:r>
                        <a:rPr kumimoji="1" lang="ja-JP" altLang="en-US" sz="1800" dirty="0"/>
                        <a:t>力量</a:t>
                      </a:r>
                    </a:p>
                  </a:txBody>
                  <a:tcPr anchor="ctr">
                    <a:solidFill>
                      <a:schemeClr val="tx2">
                        <a:lumMod val="40000"/>
                        <a:lumOff val="60000"/>
                      </a:schemeClr>
                    </a:solidFill>
                  </a:tcPr>
                </a:tc>
                <a:tc>
                  <a:txBody>
                    <a:bodyPr/>
                    <a:lstStyle/>
                    <a:p>
                      <a:pPr algn="ctr"/>
                      <a:r>
                        <a:rPr kumimoji="1" lang="ja-JP" altLang="en-US" sz="1800" dirty="0"/>
                        <a:t>方法</a:t>
                      </a:r>
                    </a:p>
                  </a:txBody>
                  <a:tcPr anchor="ctr">
                    <a:solidFill>
                      <a:schemeClr val="tx2">
                        <a:lumMod val="40000"/>
                        <a:lumOff val="60000"/>
                      </a:schemeClr>
                    </a:solidFill>
                  </a:tcPr>
                </a:tc>
                <a:extLst>
                  <a:ext uri="{0D108BD9-81ED-4DB2-BD59-A6C34878D82A}">
                    <a16:rowId xmlns:a16="http://schemas.microsoft.com/office/drawing/2014/main" val="3048493658"/>
                  </a:ext>
                </a:extLst>
              </a:tr>
              <a:tr h="370840">
                <a:tc>
                  <a:txBody>
                    <a:bodyPr/>
                    <a:lstStyle/>
                    <a:p>
                      <a:r>
                        <a:rPr kumimoji="1" lang="en-US" altLang="ja-JP" sz="1800" dirty="0"/>
                        <a:t>QMS</a:t>
                      </a:r>
                      <a:r>
                        <a:rPr kumimoji="1" lang="ja-JP" altLang="en-US" sz="1800" dirty="0"/>
                        <a:t>監査員</a:t>
                      </a:r>
                    </a:p>
                  </a:txBody>
                  <a:tcPr anchor="ctr"/>
                </a:tc>
                <a:tc>
                  <a:txBody>
                    <a:bodyPr/>
                    <a:lstStyle/>
                    <a:p>
                      <a:r>
                        <a:rPr kumimoji="1" lang="ja-JP" altLang="en-US" sz="1800" dirty="0"/>
                        <a:t>①</a:t>
                      </a:r>
                      <a:r>
                        <a:rPr kumimoji="1" lang="en-US" altLang="ja-JP" sz="1800" dirty="0"/>
                        <a:t>ISO9001</a:t>
                      </a:r>
                      <a:r>
                        <a:rPr kumimoji="1" lang="ja-JP" altLang="en-US" sz="1800" dirty="0"/>
                        <a:t>要求事項の理解・・・</a:t>
                      </a:r>
                    </a:p>
                  </a:txBody>
                  <a:tcPr anchor="ctr"/>
                </a:tc>
                <a:tc>
                  <a:txBody>
                    <a:bodyPr/>
                    <a:lstStyle/>
                    <a:p>
                      <a:r>
                        <a:rPr kumimoji="1" lang="ja-JP" altLang="en-US" sz="1800" dirty="0"/>
                        <a:t>①外部又は社内研修受講・・・</a:t>
                      </a:r>
                    </a:p>
                  </a:txBody>
                  <a:tcPr anchor="ctr"/>
                </a:tc>
                <a:extLst>
                  <a:ext uri="{0D108BD9-81ED-4DB2-BD59-A6C34878D82A}">
                    <a16:rowId xmlns:a16="http://schemas.microsoft.com/office/drawing/2014/main" val="2303679413"/>
                  </a:ext>
                </a:extLst>
              </a:tr>
              <a:tr h="370840">
                <a:tc>
                  <a:txBody>
                    <a:bodyPr/>
                    <a:lstStyle/>
                    <a:p>
                      <a:r>
                        <a:rPr kumimoji="1" lang="ja-JP" altLang="en-US" sz="1800" dirty="0"/>
                        <a:t>製造工程監査員</a:t>
                      </a:r>
                    </a:p>
                  </a:txBody>
                  <a:tcPr anchor="ctr"/>
                </a:tc>
                <a:tc>
                  <a:txBody>
                    <a:bodyPr/>
                    <a:lstStyle/>
                    <a:p>
                      <a:r>
                        <a:rPr kumimoji="1" lang="ja-JP" altLang="en-US" sz="1800" dirty="0"/>
                        <a:t>①製造部業務経験</a:t>
                      </a:r>
                      <a:r>
                        <a:rPr kumimoji="1" lang="en-US" altLang="ja-JP" sz="1800" dirty="0"/>
                        <a:t>3</a:t>
                      </a:r>
                      <a:r>
                        <a:rPr kumimoji="1" lang="ja-JP" altLang="en-US" sz="1800" dirty="0"/>
                        <a:t>年以上・・・</a:t>
                      </a:r>
                    </a:p>
                  </a:txBody>
                  <a:tcPr anchor="ctr"/>
                </a:tc>
                <a:tc>
                  <a:txBody>
                    <a:bodyPr/>
                    <a:lstStyle/>
                    <a:p>
                      <a:r>
                        <a:rPr kumimoji="1" lang="ja-JP" altLang="en-US" sz="1800" dirty="0"/>
                        <a:t>①実務経験・・・</a:t>
                      </a:r>
                    </a:p>
                  </a:txBody>
                  <a:tcPr anchor="ctr"/>
                </a:tc>
                <a:extLst>
                  <a:ext uri="{0D108BD9-81ED-4DB2-BD59-A6C34878D82A}">
                    <a16:rowId xmlns:a16="http://schemas.microsoft.com/office/drawing/2014/main" val="959846376"/>
                  </a:ext>
                </a:extLst>
              </a:tr>
              <a:tr h="370840">
                <a:tc>
                  <a:txBody>
                    <a:bodyPr/>
                    <a:lstStyle/>
                    <a:p>
                      <a:r>
                        <a:rPr kumimoji="1" lang="ja-JP" altLang="en-US" sz="1800" dirty="0"/>
                        <a:t>製品監査員</a:t>
                      </a:r>
                    </a:p>
                  </a:txBody>
                  <a:tcPr anchor="ctr"/>
                </a:tc>
                <a:tc>
                  <a:txBody>
                    <a:bodyPr/>
                    <a:lstStyle/>
                    <a:p>
                      <a:r>
                        <a:rPr kumimoji="1" lang="ja-JP" altLang="en-US" sz="1800" dirty="0"/>
                        <a:t>①品質保証課及び・・・</a:t>
                      </a:r>
                    </a:p>
                  </a:txBody>
                  <a:tcPr anchor="ctr"/>
                </a:tc>
                <a:tc>
                  <a:txBody>
                    <a:bodyPr/>
                    <a:lstStyle/>
                    <a:p>
                      <a:r>
                        <a:rPr kumimoji="1" lang="ja-JP" altLang="en-US" sz="1800" dirty="0"/>
                        <a:t>①実務経験・・・</a:t>
                      </a:r>
                    </a:p>
                  </a:txBody>
                  <a:tcPr anchor="ctr"/>
                </a:tc>
                <a:extLst>
                  <a:ext uri="{0D108BD9-81ED-4DB2-BD59-A6C34878D82A}">
                    <a16:rowId xmlns:a16="http://schemas.microsoft.com/office/drawing/2014/main" val="1850588178"/>
                  </a:ext>
                </a:extLst>
              </a:tr>
            </a:tbl>
          </a:graphicData>
        </a:graphic>
      </p:graphicFrame>
    </p:spTree>
    <p:extLst>
      <p:ext uri="{BB962C8B-B14F-4D97-AF65-F5344CB8AC3E}">
        <p14:creationId xmlns:p14="http://schemas.microsoft.com/office/powerpoint/2010/main" val="230069022"/>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7.2.3</a:t>
            </a:r>
            <a:r>
              <a:rPr lang="ja-JP" altLang="en-US" sz="3000" b="1" dirty="0">
                <a:solidFill>
                  <a:schemeClr val="bg1"/>
                </a:solidFill>
              </a:rPr>
              <a:t>　内部監査員の力量</a:t>
            </a:r>
            <a:endParaRPr kumimoji="1" lang="ja-JP" altLang="en-US" sz="3000" b="1" dirty="0">
              <a:solidFill>
                <a:schemeClr val="bg1"/>
              </a:solidFill>
            </a:endParaRPr>
          </a:p>
        </p:txBody>
      </p:sp>
      <p:pic>
        <p:nvPicPr>
          <p:cNvPr id="8" name="図 7">
            <a:extLst>
              <a:ext uri="{FF2B5EF4-FFF2-40B4-BE49-F238E27FC236}">
                <a16:creationId xmlns:a16="http://schemas.microsoft.com/office/drawing/2014/main" id="{2C700564-A406-45ED-BF7B-EC87A7F19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13840"/>
            <a:ext cx="10515600" cy="4842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241147"/>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第二者監査を実施する監査員の力量を実証しなければならない。</a:t>
            </a:r>
            <a:endParaRPr lang="en-US" altLang="ja-JP" sz="2000" u="sng" dirty="0"/>
          </a:p>
          <a:p>
            <a:pPr marL="0" indent="0">
              <a:lnSpc>
                <a:spcPct val="100000"/>
              </a:lnSpc>
              <a:buNone/>
            </a:pPr>
            <a:r>
              <a:rPr lang="ja-JP" altLang="en-US" sz="2000" dirty="0"/>
              <a:t>☑第二者監査員は、監査員の適格性確認に対する顧客固有要求事項を満たし、次の事項の理解を含む、最低限の核となる次の力量を実証しなければならない。</a:t>
            </a:r>
            <a:endParaRPr lang="en-US" altLang="ja-JP" sz="2000" dirty="0"/>
          </a:p>
          <a:p>
            <a:pPr marL="800100" lvl="1" indent="-342900">
              <a:lnSpc>
                <a:spcPct val="100000"/>
              </a:lnSpc>
              <a:buFont typeface="+mj-lt"/>
              <a:buAutoNum type="alphaLcPeriod"/>
            </a:pPr>
            <a:r>
              <a:rPr lang="ja-JP" altLang="en-US" sz="2000" dirty="0"/>
              <a:t>リスクに基づく考え方を含む、監査に対する</a:t>
            </a:r>
            <a:r>
              <a:rPr lang="ja-JP" altLang="en-US" sz="2000" u="sng" dirty="0"/>
              <a:t>自動車産業プロセスアプローチ</a:t>
            </a:r>
            <a:endParaRPr lang="en-US" altLang="ja-JP" sz="2000" u="sng" dirty="0"/>
          </a:p>
          <a:p>
            <a:pPr marL="800100" lvl="1" indent="-342900">
              <a:lnSpc>
                <a:spcPct val="100000"/>
              </a:lnSpc>
              <a:buFont typeface="+mj-lt"/>
              <a:buAutoNum type="alphaLcPeriod"/>
            </a:pPr>
            <a:r>
              <a:rPr lang="ja-JP" altLang="en-US" sz="2000" dirty="0"/>
              <a:t>該当する</a:t>
            </a:r>
            <a:r>
              <a:rPr lang="ja-JP" altLang="en-US" sz="2000" u="sng" dirty="0"/>
              <a:t>顧客及び組織の固有要求事項</a:t>
            </a:r>
            <a:endParaRPr lang="en-US" altLang="ja-JP" sz="2000" u="sng" dirty="0"/>
          </a:p>
          <a:p>
            <a:pPr marL="800100" lvl="1" indent="-342900">
              <a:lnSpc>
                <a:spcPct val="100000"/>
              </a:lnSpc>
              <a:buFont typeface="+mj-lt"/>
              <a:buAutoNum type="alphaLcPeriod"/>
            </a:pPr>
            <a:r>
              <a:rPr lang="ja-JP" altLang="en-US" sz="2000" dirty="0"/>
              <a:t>監査範囲に関係する、該当する</a:t>
            </a:r>
            <a:r>
              <a:rPr lang="en-US" altLang="ja-JP" sz="2000" dirty="0"/>
              <a:t>ISO9001</a:t>
            </a:r>
            <a:r>
              <a:rPr lang="ja-JP" altLang="en-US" sz="2000" dirty="0"/>
              <a:t>及び</a:t>
            </a:r>
            <a:r>
              <a:rPr lang="en-US" altLang="ja-JP" sz="2000" u="sng" dirty="0"/>
              <a:t>IATF16949</a:t>
            </a:r>
            <a:r>
              <a:rPr lang="ja-JP" altLang="en-US" sz="2000" u="sng" dirty="0"/>
              <a:t>要求事項</a:t>
            </a:r>
            <a:endParaRPr lang="en-US" altLang="ja-JP" sz="2000" u="sng" dirty="0"/>
          </a:p>
          <a:p>
            <a:pPr marL="800100" lvl="1" indent="-342900">
              <a:lnSpc>
                <a:spcPct val="100000"/>
              </a:lnSpc>
              <a:buFont typeface="+mj-lt"/>
              <a:buAutoNum type="alphaLcPeriod"/>
            </a:pPr>
            <a:r>
              <a:rPr lang="en-US" altLang="ja-JP" sz="2000" dirty="0"/>
              <a:t>PFMEA</a:t>
            </a:r>
            <a:r>
              <a:rPr lang="ja-JP" altLang="en-US" sz="2000" dirty="0"/>
              <a:t>及びコントロールプランを含む、</a:t>
            </a:r>
            <a:r>
              <a:rPr lang="ja-JP" altLang="en-US" sz="2000" u="sng" dirty="0"/>
              <a:t>監査対象となる製造工程</a:t>
            </a:r>
            <a:endParaRPr lang="en-US" altLang="ja-JP" sz="2000" u="sng" dirty="0"/>
          </a:p>
          <a:p>
            <a:pPr marL="800100" lvl="1" indent="-342900">
              <a:lnSpc>
                <a:spcPct val="100000"/>
              </a:lnSpc>
              <a:buFont typeface="+mj-lt"/>
              <a:buAutoNum type="alphaLcPeriod"/>
            </a:pPr>
            <a:r>
              <a:rPr lang="ja-JP" altLang="en-US" sz="2000" dirty="0"/>
              <a:t>監査範囲に関係する、該当する</a:t>
            </a:r>
            <a:r>
              <a:rPr lang="ja-JP" altLang="en-US" sz="2000" u="sng" dirty="0"/>
              <a:t>コアツール要求事項</a:t>
            </a:r>
            <a:endParaRPr lang="en-US" altLang="ja-JP" sz="2000" u="sng" dirty="0"/>
          </a:p>
          <a:p>
            <a:pPr marL="800100" lvl="1" indent="-342900">
              <a:lnSpc>
                <a:spcPct val="100000"/>
              </a:lnSpc>
              <a:buFont typeface="+mj-lt"/>
              <a:buAutoNum type="alphaLcPeriod"/>
            </a:pPr>
            <a:r>
              <a:rPr lang="ja-JP" altLang="en-US" sz="2000" u="sng" dirty="0"/>
              <a:t>計画、実施、監査報告書の準備及び監査所見の完了の仕方</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7.2.4</a:t>
            </a:r>
            <a:r>
              <a:rPr lang="ja-JP" altLang="en-US" sz="3000" b="1" dirty="0">
                <a:solidFill>
                  <a:schemeClr val="tx2"/>
                </a:solidFill>
              </a:rPr>
              <a:t>　第二者監査員の力量</a:t>
            </a:r>
            <a:endParaRPr kumimoji="1" lang="ja-JP" altLang="en-US" sz="3000" b="1" dirty="0">
              <a:solidFill>
                <a:schemeClr val="tx2"/>
              </a:solidFill>
            </a:endParaRPr>
          </a:p>
        </p:txBody>
      </p:sp>
    </p:spTree>
    <p:extLst>
      <p:ext uri="{BB962C8B-B14F-4D97-AF65-F5344CB8AC3E}">
        <p14:creationId xmlns:p14="http://schemas.microsoft.com/office/powerpoint/2010/main" val="2364451879"/>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en-US" altLang="ja-JP" sz="2400" dirty="0"/>
              <a:t>7.2.3</a:t>
            </a:r>
            <a:r>
              <a:rPr lang="ja-JP" altLang="en-US" sz="2400" dirty="0"/>
              <a:t>　</a:t>
            </a:r>
            <a:r>
              <a:rPr lang="en-US" altLang="ja-JP" sz="2400" dirty="0"/>
              <a:t>QMS</a:t>
            </a:r>
            <a:r>
              <a:rPr lang="ja-JP" altLang="en-US" sz="2400" dirty="0"/>
              <a:t>監査員　＋　次の項目。</a:t>
            </a:r>
            <a:endParaRPr lang="en-US" altLang="ja-JP" sz="2400" dirty="0"/>
          </a:p>
          <a:p>
            <a:pPr marL="914400" lvl="1" indent="-457200">
              <a:buFont typeface="+mj-ea"/>
              <a:buAutoNum type="circleNumDbPlain"/>
            </a:pPr>
            <a:r>
              <a:rPr lang="ja-JP" altLang="en-US" dirty="0"/>
              <a:t>組織の固有要求事項。（該当する場合）（</a:t>
            </a:r>
            <a:r>
              <a:rPr lang="en-US" altLang="ja-JP" dirty="0"/>
              <a:t>8.4.3.1</a:t>
            </a:r>
            <a:r>
              <a:rPr lang="ja-JP" altLang="en-US" dirty="0"/>
              <a:t>）</a:t>
            </a:r>
            <a:endParaRPr lang="en-US" altLang="ja-JP" dirty="0"/>
          </a:p>
          <a:p>
            <a:pPr marL="914400" lvl="1" indent="-457200">
              <a:buFont typeface="+mj-ea"/>
              <a:buAutoNum type="circleNumDbPlain"/>
            </a:pPr>
            <a:r>
              <a:rPr lang="ja-JP" altLang="en-US" dirty="0"/>
              <a:t>監査先の製造工程。（製造工程監査員と同様）</a:t>
            </a:r>
            <a:endParaRPr lang="en-US" altLang="ja-JP" dirty="0"/>
          </a:p>
          <a:p>
            <a:pPr marL="457200" indent="-457200">
              <a:buFont typeface="+mj-lt"/>
              <a:buAutoNum type="arabicPeriod"/>
            </a:pPr>
            <a:r>
              <a:rPr lang="ja-JP" altLang="en-US" sz="2400" dirty="0"/>
              <a:t>要点。</a:t>
            </a:r>
            <a:endParaRPr lang="en-US" altLang="ja-JP" sz="2400" dirty="0"/>
          </a:p>
          <a:p>
            <a:pPr lvl="1">
              <a:buFont typeface="Wingdings" panose="05000000000000000000" pitchFamily="2" charset="2"/>
              <a:buChar char="Ø"/>
            </a:pPr>
            <a:r>
              <a:rPr lang="ja-JP" altLang="en-US" dirty="0"/>
              <a:t>監査先からの入手文書に留意。（タートル図、コントロールプランなどの必要性判断）</a:t>
            </a:r>
            <a:endParaRPr lang="en-US" altLang="ja-JP" dirty="0"/>
          </a:p>
          <a:p>
            <a:pPr lvl="1">
              <a:buFont typeface="Wingdings" panose="05000000000000000000" pitchFamily="2" charset="2"/>
              <a:buChar char="Ø"/>
            </a:pPr>
            <a:r>
              <a:rPr lang="ja-JP" altLang="en-US" dirty="0"/>
              <a:t>監査においては、監査先に対する技術指導（例えば、コアツールの教育など）が必要な場面も。</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7.2.4</a:t>
            </a:r>
            <a:r>
              <a:rPr lang="ja-JP" altLang="en-US" sz="3000" b="1" dirty="0">
                <a:solidFill>
                  <a:schemeClr val="bg1"/>
                </a:solidFill>
              </a:rPr>
              <a:t>　第二者監査員の力量</a:t>
            </a:r>
            <a:endParaRPr kumimoji="1" lang="ja-JP" altLang="en-US" sz="3000" b="1" dirty="0">
              <a:solidFill>
                <a:schemeClr val="bg1"/>
              </a:solidFill>
            </a:endParaRPr>
          </a:p>
        </p:txBody>
      </p:sp>
    </p:spTree>
    <p:extLst>
      <p:ext uri="{BB962C8B-B14F-4D97-AF65-F5344CB8AC3E}">
        <p14:creationId xmlns:p14="http://schemas.microsoft.com/office/powerpoint/2010/main" val="3935641140"/>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131065"/>
          </a:xfrm>
          <a:ln w="12700">
            <a:solidFill>
              <a:schemeClr val="tx2"/>
            </a:solidFill>
          </a:ln>
        </p:spPr>
        <p:txBody>
          <a:bodyPr>
            <a:normAutofit/>
          </a:bodyPr>
          <a:lstStyle/>
          <a:p>
            <a:pPr marL="0" indent="0">
              <a:lnSpc>
                <a:spcPct val="100000"/>
              </a:lnSpc>
              <a:buNone/>
            </a:pPr>
            <a:r>
              <a:rPr lang="ja-JP" altLang="en-US" sz="2000" dirty="0"/>
              <a:t>☑組織は、全ての従業員が、顧客要求事項及び不適合製品に関わる顧客のリスクを含む、従業員が製品品質に及ぼす影響、並びに品質を達成し、維持し及び改善するために行う活動の重要性を認識することを</a:t>
            </a:r>
            <a:r>
              <a:rPr lang="ja-JP" altLang="en-US" sz="2000" u="sng" dirty="0"/>
              <a:t>実証する、</a:t>
            </a:r>
            <a:r>
              <a:rPr lang="ja-JP" altLang="en-US" sz="2000" b="1" u="sng" dirty="0"/>
              <a:t>文書化した情報を維持</a:t>
            </a:r>
            <a:r>
              <a:rPr lang="ja-JP" altLang="en-US" sz="2000" u="sng" dirty="0"/>
              <a:t>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7.3.1</a:t>
            </a:r>
            <a:r>
              <a:rPr kumimoji="1" lang="ja-JP" altLang="en-US" sz="3000" b="1" dirty="0">
                <a:solidFill>
                  <a:schemeClr val="tx2"/>
                </a:solidFill>
              </a:rPr>
              <a:t>　認識－補足</a:t>
            </a: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95986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7.3.1</a:t>
            </a:r>
            <a:r>
              <a:rPr lang="ja-JP" altLang="en-US" sz="3000" b="1" dirty="0">
                <a:solidFill>
                  <a:schemeClr val="bg1"/>
                </a:solidFill>
              </a:rPr>
              <a:t>　認識－補足</a:t>
            </a:r>
          </a:p>
        </p:txBody>
      </p:sp>
      <p:sp>
        <p:nvSpPr>
          <p:cNvPr id="7" name="コンテンツ プレースホルダー 2">
            <a:extLst>
              <a:ext uri="{FF2B5EF4-FFF2-40B4-BE49-F238E27FC236}">
                <a16:creationId xmlns:a16="http://schemas.microsoft.com/office/drawing/2014/main" id="{3D25340F-2D0C-4B9A-B317-1524E98EF518}"/>
              </a:ext>
            </a:extLst>
          </p:cNvPr>
          <p:cNvSpPr txBox="1">
            <a:spLocks/>
          </p:cNvSpPr>
          <p:nvPr/>
        </p:nvSpPr>
        <p:spPr>
          <a:xfrm>
            <a:off x="838200" y="4066411"/>
            <a:ext cx="10515600" cy="2103035"/>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全ての従業員が求められる認識を持つことを実証する文書化した情報が必要。</a:t>
            </a:r>
            <a:endParaRPr lang="en-US" altLang="ja-JP" sz="2400" dirty="0"/>
          </a:p>
          <a:p>
            <a:pPr lvl="1">
              <a:lnSpc>
                <a:spcPct val="100000"/>
              </a:lnSpc>
              <a:buFont typeface="Wingdings" panose="05000000000000000000" pitchFamily="2" charset="2"/>
              <a:buChar char="Ø"/>
            </a:pPr>
            <a:r>
              <a:rPr lang="ja-JP" altLang="en-US" dirty="0"/>
              <a:t>例えば、日々の、或いは定期イベント的な、教育、コミュニケーション及び活動などの場と実施結果の明確化と記録。</a:t>
            </a:r>
          </a:p>
        </p:txBody>
      </p:sp>
    </p:spTree>
    <p:extLst>
      <p:ext uri="{BB962C8B-B14F-4D97-AF65-F5344CB8AC3E}">
        <p14:creationId xmlns:p14="http://schemas.microsoft.com/office/powerpoint/2010/main" val="91076957"/>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681908"/>
          </a:xfrm>
          <a:ln w="12700">
            <a:solidFill>
              <a:schemeClr val="tx2"/>
            </a:solidFill>
          </a:ln>
        </p:spPr>
        <p:txBody>
          <a:bodyPr>
            <a:normAutofit/>
          </a:bodyPr>
          <a:lstStyle/>
          <a:p>
            <a:pPr marL="0" indent="0">
              <a:lnSpc>
                <a:spcPct val="100000"/>
              </a:lnSpc>
              <a:buNone/>
            </a:pPr>
            <a:r>
              <a:rPr lang="ja-JP" altLang="en-US" sz="2000" dirty="0"/>
              <a:t>☑組織は、品質目標を達成し、継続的改善を行い及び革新を促進する環境を創造するための、</a:t>
            </a:r>
            <a:r>
              <a:rPr lang="ja-JP" altLang="en-US" sz="2000" u="sng" dirty="0"/>
              <a:t>従業員を動機づける</a:t>
            </a:r>
            <a:r>
              <a:rPr lang="ja-JP" altLang="en-US" sz="2000" b="1" dirty="0"/>
              <a:t>文書化したプロセス</a:t>
            </a:r>
            <a:r>
              <a:rPr lang="ja-JP" altLang="en-US" sz="2000" dirty="0"/>
              <a:t>を維持しなければならない。</a:t>
            </a:r>
            <a:endParaRPr lang="en-US" altLang="ja-JP" sz="2000" dirty="0"/>
          </a:p>
          <a:p>
            <a:pPr marL="0" indent="0">
              <a:lnSpc>
                <a:spcPct val="100000"/>
              </a:lnSpc>
              <a:buNone/>
            </a:pPr>
            <a:r>
              <a:rPr lang="ja-JP" altLang="en-US" sz="2000" dirty="0"/>
              <a:t>☑そのプロセスには、組織全体にわたって品質及び技術的認識を促進することを含めなければならない。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7.3.2</a:t>
            </a:r>
            <a:r>
              <a:rPr kumimoji="1" lang="ja-JP" altLang="en-US" sz="3000" b="1" dirty="0">
                <a:solidFill>
                  <a:schemeClr val="tx2"/>
                </a:solidFill>
              </a:rPr>
              <a:t>　従業員の動機付け及びエンパワーメント</a:t>
            </a:r>
          </a:p>
        </p:txBody>
      </p:sp>
      <p:sp>
        <p:nvSpPr>
          <p:cNvPr id="6" name="タイトル 1">
            <a:extLst>
              <a:ext uri="{FF2B5EF4-FFF2-40B4-BE49-F238E27FC236}">
                <a16:creationId xmlns:a16="http://schemas.microsoft.com/office/drawing/2014/main" id="{BC4721A5-2CF1-48FE-9BEA-45DE289474F0}"/>
              </a:ext>
            </a:extLst>
          </p:cNvPr>
          <p:cNvSpPr txBox="1">
            <a:spLocks/>
          </p:cNvSpPr>
          <p:nvPr/>
        </p:nvSpPr>
        <p:spPr>
          <a:xfrm>
            <a:off x="838200" y="3500018"/>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7.3.2</a:t>
            </a:r>
            <a:r>
              <a:rPr lang="ja-JP" altLang="en-US" sz="3000" b="1" dirty="0">
                <a:solidFill>
                  <a:schemeClr val="bg1"/>
                </a:solidFill>
              </a:rPr>
              <a:t>　従業員の動機付け及びエンパワーメント</a:t>
            </a:r>
          </a:p>
        </p:txBody>
      </p:sp>
      <p:sp>
        <p:nvSpPr>
          <p:cNvPr id="7" name="コンテンツ プレースホルダー 2">
            <a:extLst>
              <a:ext uri="{FF2B5EF4-FFF2-40B4-BE49-F238E27FC236}">
                <a16:creationId xmlns:a16="http://schemas.microsoft.com/office/drawing/2014/main" id="{DB6A0784-A6BD-48AC-96CC-EE84A527FCCF}"/>
              </a:ext>
            </a:extLst>
          </p:cNvPr>
          <p:cNvSpPr txBox="1">
            <a:spLocks/>
          </p:cNvSpPr>
          <p:nvPr/>
        </p:nvSpPr>
        <p:spPr>
          <a:xfrm>
            <a:off x="838200" y="4683296"/>
            <a:ext cx="10515600" cy="168190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エンパワーメント　➠　権限を持たせることにより従業員の潜在能力を引き出し、能力を業務へ生かしていく仕掛け。</a:t>
            </a:r>
            <a:endParaRPr lang="en-US" altLang="ja-JP" sz="2400" dirty="0"/>
          </a:p>
          <a:p>
            <a:pPr marL="457200" indent="-457200">
              <a:lnSpc>
                <a:spcPct val="100000"/>
              </a:lnSpc>
              <a:buFont typeface="+mj-lt"/>
              <a:buAutoNum type="arabicPeriod"/>
            </a:pPr>
            <a:r>
              <a:rPr lang="ja-JP" altLang="en-US" sz="2400" dirty="0"/>
              <a:t>「提案制度」「各種表彰」「</a:t>
            </a:r>
            <a:r>
              <a:rPr lang="en-US" altLang="ja-JP" sz="2400" dirty="0"/>
              <a:t>QC</a:t>
            </a:r>
            <a:r>
              <a:rPr lang="ja-JP" altLang="en-US" sz="2400" dirty="0"/>
              <a:t>サークル」など。</a:t>
            </a:r>
            <a:endParaRPr lang="en-US" altLang="ja-JP" sz="2400" dirty="0"/>
          </a:p>
        </p:txBody>
      </p:sp>
    </p:spTree>
    <p:extLst>
      <p:ext uri="{BB962C8B-B14F-4D97-AF65-F5344CB8AC3E}">
        <p14:creationId xmlns:p14="http://schemas.microsoft.com/office/powerpoint/2010/main" val="3389381428"/>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558188"/>
          </a:xfrm>
          <a:ln w="12700">
            <a:noFill/>
          </a:ln>
        </p:spPr>
        <p:txBody>
          <a:bodyPr>
            <a:normAutofit/>
          </a:bodyPr>
          <a:lstStyle/>
          <a:p>
            <a:pPr marL="457200" indent="-457200">
              <a:buFont typeface="+mj-lt"/>
              <a:buAutoNum type="arabicPeriod" startAt="3"/>
            </a:pPr>
            <a:r>
              <a:rPr lang="ja-JP" altLang="en-US" sz="2400" dirty="0"/>
              <a:t>マズローの欲求５段階</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7.3.2</a:t>
            </a:r>
            <a:r>
              <a:rPr lang="ja-JP" altLang="en-US" sz="3000" b="1" dirty="0">
                <a:solidFill>
                  <a:schemeClr val="bg1"/>
                </a:solidFill>
              </a:rPr>
              <a:t>　従業員の動機付け及びエンパワーメント</a:t>
            </a:r>
          </a:p>
        </p:txBody>
      </p:sp>
      <p:graphicFrame>
        <p:nvGraphicFramePr>
          <p:cNvPr id="2" name="図表 1">
            <a:extLst>
              <a:ext uri="{FF2B5EF4-FFF2-40B4-BE49-F238E27FC236}">
                <a16:creationId xmlns:a16="http://schemas.microsoft.com/office/drawing/2014/main" id="{C50C9D5C-8EF7-48C8-B6CC-921D5B765605}"/>
              </a:ext>
            </a:extLst>
          </p:cNvPr>
          <p:cNvGraphicFramePr/>
          <p:nvPr>
            <p:extLst>
              <p:ext uri="{D42A27DB-BD31-4B8C-83A1-F6EECF244321}">
                <p14:modId xmlns:p14="http://schemas.microsoft.com/office/powerpoint/2010/main" val="2682663544"/>
              </p:ext>
            </p:extLst>
          </p:nvPr>
        </p:nvGraphicFramePr>
        <p:xfrm>
          <a:off x="2071170" y="2082188"/>
          <a:ext cx="7601639" cy="4274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矢印: 上下 6">
            <a:extLst>
              <a:ext uri="{FF2B5EF4-FFF2-40B4-BE49-F238E27FC236}">
                <a16:creationId xmlns:a16="http://schemas.microsoft.com/office/drawing/2014/main" id="{0548181E-6EEF-480A-B581-E1A06E044A22}"/>
              </a:ext>
            </a:extLst>
          </p:cNvPr>
          <p:cNvSpPr/>
          <p:nvPr/>
        </p:nvSpPr>
        <p:spPr>
          <a:xfrm>
            <a:off x="1167788" y="2082188"/>
            <a:ext cx="1134737" cy="2522862"/>
          </a:xfrm>
          <a:prstGeom prst="upDownArrow">
            <a:avLst>
              <a:gd name="adj1" fmla="val 86735"/>
              <a:gd name="adj2" fmla="val 3414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400" b="1" dirty="0">
                <a:solidFill>
                  <a:schemeClr val="tx1"/>
                </a:solidFill>
              </a:rPr>
              <a:t>精神的</a:t>
            </a:r>
          </a:p>
        </p:txBody>
      </p:sp>
      <p:sp>
        <p:nvSpPr>
          <p:cNvPr id="10" name="矢印: 上下 9">
            <a:extLst>
              <a:ext uri="{FF2B5EF4-FFF2-40B4-BE49-F238E27FC236}">
                <a16:creationId xmlns:a16="http://schemas.microsoft.com/office/drawing/2014/main" id="{C5CB8713-0BEC-40F1-83E0-FF9B30F36929}"/>
              </a:ext>
            </a:extLst>
          </p:cNvPr>
          <p:cNvSpPr/>
          <p:nvPr/>
        </p:nvSpPr>
        <p:spPr>
          <a:xfrm>
            <a:off x="1167788" y="4605051"/>
            <a:ext cx="1134737" cy="1751298"/>
          </a:xfrm>
          <a:prstGeom prst="upDownArrow">
            <a:avLst>
              <a:gd name="adj1" fmla="val 86735"/>
              <a:gd name="adj2" fmla="val 3414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2400" b="1" dirty="0">
                <a:solidFill>
                  <a:schemeClr val="tx1"/>
                </a:solidFill>
              </a:rPr>
              <a:t>物質</a:t>
            </a:r>
            <a:r>
              <a:rPr kumimoji="1" lang="ja-JP" altLang="en-US" sz="2400" b="1" dirty="0">
                <a:solidFill>
                  <a:schemeClr val="tx1"/>
                </a:solidFill>
              </a:rPr>
              <a:t>的</a:t>
            </a:r>
          </a:p>
        </p:txBody>
      </p:sp>
      <p:sp>
        <p:nvSpPr>
          <p:cNvPr id="8" name="矢印: 上 7">
            <a:extLst>
              <a:ext uri="{FF2B5EF4-FFF2-40B4-BE49-F238E27FC236}">
                <a16:creationId xmlns:a16="http://schemas.microsoft.com/office/drawing/2014/main" id="{BEBBA161-68F9-445A-90EA-9B4955F62697}"/>
              </a:ext>
            </a:extLst>
          </p:cNvPr>
          <p:cNvSpPr/>
          <p:nvPr/>
        </p:nvSpPr>
        <p:spPr>
          <a:xfrm>
            <a:off x="9757273" y="2875402"/>
            <a:ext cx="1266939" cy="3477275"/>
          </a:xfrm>
          <a:prstGeom prst="upArrow">
            <a:avLst>
              <a:gd name="adj1" fmla="val 75000"/>
              <a:gd name="adj2" fmla="val 3173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400" b="1" dirty="0">
                <a:solidFill>
                  <a:schemeClr val="tx1"/>
                </a:solidFill>
              </a:rPr>
              <a:t>欠乏</a:t>
            </a:r>
          </a:p>
        </p:txBody>
      </p:sp>
      <p:sp>
        <p:nvSpPr>
          <p:cNvPr id="11" name="矢印: 上 10">
            <a:extLst>
              <a:ext uri="{FF2B5EF4-FFF2-40B4-BE49-F238E27FC236}">
                <a16:creationId xmlns:a16="http://schemas.microsoft.com/office/drawing/2014/main" id="{F6E512F4-2667-4CA1-B3F9-24AA070453E5}"/>
              </a:ext>
            </a:extLst>
          </p:cNvPr>
          <p:cNvSpPr/>
          <p:nvPr/>
        </p:nvSpPr>
        <p:spPr>
          <a:xfrm>
            <a:off x="9757272" y="1564394"/>
            <a:ext cx="1266939" cy="1309171"/>
          </a:xfrm>
          <a:prstGeom prst="upArrow">
            <a:avLst>
              <a:gd name="adj1" fmla="val 75000"/>
              <a:gd name="adj2" fmla="val 32609"/>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400" b="1" dirty="0">
                <a:solidFill>
                  <a:srgbClr val="FF0000"/>
                </a:solidFill>
                <a:effectLst>
                  <a:outerShdw blurRad="38100" dist="38100" dir="2700000" algn="tl">
                    <a:srgbClr val="000000">
                      <a:alpha val="43137"/>
                    </a:srgbClr>
                  </a:outerShdw>
                </a:effectLst>
              </a:rPr>
              <a:t>成長</a:t>
            </a:r>
          </a:p>
        </p:txBody>
      </p:sp>
    </p:spTree>
    <p:extLst>
      <p:ext uri="{BB962C8B-B14F-4D97-AF65-F5344CB8AC3E}">
        <p14:creationId xmlns:p14="http://schemas.microsoft.com/office/powerpoint/2010/main" val="59537160"/>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4"/>
            </a:pPr>
            <a:r>
              <a:rPr lang="ja-JP" altLang="en-US" sz="2400" dirty="0"/>
              <a:t>「衛生要因」と「動機付け要因」　</a:t>
            </a:r>
            <a:r>
              <a:rPr lang="ja-JP" altLang="en-US" sz="1600" dirty="0"/>
              <a:t>～臨床心理学者フレデリック・ハーズバーグ～</a:t>
            </a:r>
            <a:endParaRPr lang="en-US" altLang="ja-JP" sz="1600" dirty="0"/>
          </a:p>
          <a:p>
            <a:pPr lvl="1">
              <a:buFont typeface="Wingdings" panose="05000000000000000000" pitchFamily="2" charset="2"/>
              <a:buChar char="Ø"/>
            </a:pPr>
            <a:r>
              <a:rPr lang="ja-JP" altLang="en-US" dirty="0"/>
              <a:t>衛生要因：給与、賞与、休暇、福利厚生、物的職場環境</a:t>
            </a:r>
            <a:endParaRPr lang="en-US" altLang="ja-JP"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動機付け要因</a:t>
            </a:r>
            <a:r>
              <a:rPr lang="ja-JP" altLang="en-US" dirty="0"/>
              <a:t>：</a:t>
            </a:r>
            <a:endParaRPr lang="en-US" altLang="ja-JP" dirty="0"/>
          </a:p>
          <a:p>
            <a:pPr lvl="2"/>
            <a:r>
              <a:rPr lang="ja-JP" altLang="en-US" sz="2400" dirty="0"/>
              <a:t>人間関係</a:t>
            </a:r>
            <a:endParaRPr lang="en-US" altLang="ja-JP" sz="2400" dirty="0"/>
          </a:p>
          <a:p>
            <a:pPr lvl="2"/>
            <a:r>
              <a:rPr lang="ja-JP" altLang="en-US" sz="2400" dirty="0"/>
              <a:t>承認・賞賛・認知</a:t>
            </a:r>
            <a:endParaRPr lang="en-US" altLang="ja-JP" sz="2400" dirty="0"/>
          </a:p>
          <a:p>
            <a:pPr lvl="2"/>
            <a:r>
              <a:rPr lang="ja-JP" altLang="en-US" sz="2400" dirty="0"/>
              <a:t>達成と成長</a:t>
            </a:r>
            <a:endParaRPr lang="en-US" altLang="ja-JP" sz="2400" dirty="0"/>
          </a:p>
          <a:p>
            <a:pPr lvl="2"/>
            <a:r>
              <a:rPr lang="ja-JP" altLang="en-US" sz="2400" dirty="0"/>
              <a:t>責任と貢献</a:t>
            </a:r>
            <a:endParaRPr lang="en-US" altLang="ja-JP" sz="2400" dirty="0"/>
          </a:p>
          <a:p>
            <a:pPr marL="0" indent="0">
              <a:buNone/>
            </a:pPr>
            <a:endParaRPr lang="en-US" altLang="ja-JP" sz="2400" dirty="0"/>
          </a:p>
          <a:p>
            <a:pPr lvl="2"/>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7.3.2</a:t>
            </a:r>
            <a:r>
              <a:rPr lang="ja-JP" altLang="en-US" sz="3000" b="1" dirty="0">
                <a:solidFill>
                  <a:schemeClr val="bg1"/>
                </a:solidFill>
              </a:rPr>
              <a:t>　従業員の動機付け及びエンパワーメント</a:t>
            </a:r>
          </a:p>
        </p:txBody>
      </p:sp>
      <p:sp>
        <p:nvSpPr>
          <p:cNvPr id="6" name="矢印: 下 5">
            <a:extLst>
              <a:ext uri="{FF2B5EF4-FFF2-40B4-BE49-F238E27FC236}">
                <a16:creationId xmlns:a16="http://schemas.microsoft.com/office/drawing/2014/main" id="{9755A32D-02E7-4FB7-891C-0A0AE2C5878D}"/>
              </a:ext>
            </a:extLst>
          </p:cNvPr>
          <p:cNvSpPr/>
          <p:nvPr/>
        </p:nvSpPr>
        <p:spPr>
          <a:xfrm>
            <a:off x="5303520" y="4460239"/>
            <a:ext cx="1584960" cy="396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4EFDC2C9-9903-4041-A0C8-8B639D70F1FC}"/>
              </a:ext>
            </a:extLst>
          </p:cNvPr>
          <p:cNvSpPr/>
          <p:nvPr/>
        </p:nvSpPr>
        <p:spPr>
          <a:xfrm>
            <a:off x="1782896" y="5008879"/>
            <a:ext cx="8626208" cy="1195071"/>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ja-JP" altLang="en-US" sz="2200" dirty="0">
                <a:solidFill>
                  <a:schemeClr val="tx1"/>
                </a:solidFill>
              </a:rPr>
              <a:t>いくら衛生要因を取り除いても満足感にはつながらない。</a:t>
            </a:r>
            <a:endParaRPr kumimoji="1" lang="en-US" altLang="ja-JP" sz="2200" dirty="0">
              <a:solidFill>
                <a:schemeClr val="tx1"/>
              </a:solidFill>
            </a:endParaRPr>
          </a:p>
          <a:p>
            <a:r>
              <a:rPr lang="ja-JP" altLang="en-US" sz="2200" dirty="0">
                <a:solidFill>
                  <a:schemeClr val="tx1"/>
                </a:solidFill>
              </a:rPr>
              <a:t>動機付け要因へのアプローチが重要。</a:t>
            </a:r>
            <a:endParaRPr kumimoji="1" lang="ja-JP" altLang="en-US" sz="2200" dirty="0">
              <a:solidFill>
                <a:schemeClr val="tx1"/>
              </a:solidFill>
            </a:endParaRPr>
          </a:p>
        </p:txBody>
      </p:sp>
    </p:spTree>
    <p:extLst>
      <p:ext uri="{BB962C8B-B14F-4D97-AF65-F5344CB8AC3E}">
        <p14:creationId xmlns:p14="http://schemas.microsoft.com/office/powerpoint/2010/main" val="161102529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92500" lnSpcReduction="20000"/>
          </a:bodyPr>
          <a:lstStyle/>
          <a:p>
            <a:pPr marL="0" indent="0">
              <a:lnSpc>
                <a:spcPct val="100000"/>
              </a:lnSpc>
              <a:buNone/>
            </a:pPr>
            <a:r>
              <a:rPr lang="ja-JP" altLang="en-US" sz="2000" dirty="0" smtClean="0"/>
              <a:t>①品質マネジメントシステムに関連する、内部・外部のコミュニケーションを決定する。</a:t>
            </a:r>
            <a:endParaRPr lang="en-US" altLang="ja-JP" sz="2000" dirty="0" smtClean="0"/>
          </a:p>
          <a:p>
            <a:pPr marL="0" indent="0">
              <a:lnSpc>
                <a:spcPct val="100000"/>
              </a:lnSpc>
              <a:buNone/>
            </a:pPr>
            <a:r>
              <a:rPr lang="ja-JP" altLang="en-US" sz="2000" dirty="0" smtClean="0"/>
              <a:t>②内部・外部のコミュニケーションには、次の事項を含む。</a:t>
            </a:r>
            <a:endParaRPr lang="en-US" altLang="ja-JP" sz="2000" dirty="0" smtClean="0"/>
          </a:p>
          <a:p>
            <a:pPr marL="0" indent="0">
              <a:lnSpc>
                <a:spcPct val="100000"/>
              </a:lnSpc>
              <a:buNone/>
            </a:pPr>
            <a:r>
              <a:rPr lang="en-US" altLang="ja-JP" sz="2000" dirty="0" smtClean="0"/>
              <a:t>a)</a:t>
            </a:r>
            <a:r>
              <a:rPr lang="ja-JP" altLang="en-US" sz="2000" dirty="0" smtClean="0"/>
              <a:t>コミュニケーションの内容</a:t>
            </a:r>
            <a:endParaRPr lang="en-US" altLang="ja-JP" sz="2000" dirty="0" smtClean="0"/>
          </a:p>
          <a:p>
            <a:pPr marL="0" indent="0">
              <a:lnSpc>
                <a:spcPct val="100000"/>
              </a:lnSpc>
              <a:buNone/>
            </a:pPr>
            <a:r>
              <a:rPr lang="en-US" altLang="ja-JP" sz="2000" dirty="0" smtClean="0"/>
              <a:t>b)</a:t>
            </a:r>
            <a:r>
              <a:rPr lang="ja-JP" altLang="en-US" sz="2000" dirty="0"/>
              <a:t>コミュニケーション</a:t>
            </a:r>
            <a:r>
              <a:rPr lang="ja-JP" altLang="en-US" sz="2000" dirty="0" smtClean="0"/>
              <a:t>の実施時期</a:t>
            </a:r>
            <a:endParaRPr lang="en-US" altLang="ja-JP" sz="2000" dirty="0" smtClean="0"/>
          </a:p>
          <a:p>
            <a:pPr marL="0" indent="0">
              <a:lnSpc>
                <a:spcPct val="100000"/>
              </a:lnSpc>
              <a:buNone/>
            </a:pPr>
            <a:r>
              <a:rPr lang="en-US" altLang="ja-JP" sz="2000" dirty="0" smtClean="0"/>
              <a:t>c)</a:t>
            </a:r>
            <a:r>
              <a:rPr lang="ja-JP" altLang="en-US" sz="2000" dirty="0"/>
              <a:t>コミュニケーション</a:t>
            </a:r>
            <a:r>
              <a:rPr lang="ja-JP" altLang="en-US" sz="2000" dirty="0" smtClean="0"/>
              <a:t>の相手</a:t>
            </a:r>
            <a:endParaRPr lang="en-US" altLang="ja-JP" sz="2000" dirty="0" smtClean="0"/>
          </a:p>
          <a:p>
            <a:pPr marL="0" indent="0">
              <a:lnSpc>
                <a:spcPct val="100000"/>
              </a:lnSpc>
              <a:buNone/>
            </a:pPr>
            <a:r>
              <a:rPr lang="en-US" altLang="ja-JP" sz="2000" dirty="0" smtClean="0"/>
              <a:t>d)</a:t>
            </a:r>
            <a:r>
              <a:rPr lang="ja-JP" altLang="en-US" sz="2000" dirty="0"/>
              <a:t>コミュニケーション</a:t>
            </a:r>
            <a:r>
              <a:rPr lang="ja-JP" altLang="en-US" sz="2000" dirty="0" smtClean="0"/>
              <a:t>の方法</a:t>
            </a:r>
            <a:endParaRPr lang="en-US" altLang="ja-JP" sz="2000" dirty="0" smtClean="0"/>
          </a:p>
          <a:p>
            <a:pPr marL="0" indent="0">
              <a:lnSpc>
                <a:spcPct val="100000"/>
              </a:lnSpc>
              <a:buNone/>
            </a:pPr>
            <a:r>
              <a:rPr lang="en-US" altLang="ja-JP" sz="2000" dirty="0" smtClean="0"/>
              <a:t>e)</a:t>
            </a:r>
            <a:r>
              <a:rPr lang="ja-JP" altLang="en-US" sz="2000" dirty="0"/>
              <a:t>コミュニケーション</a:t>
            </a:r>
            <a:r>
              <a:rPr lang="ja-JP" altLang="en-US" sz="2000" dirty="0" smtClean="0"/>
              <a:t>の行う人</a:t>
            </a:r>
            <a:endParaRPr lang="en-US" altLang="ja-JP" sz="2000" dirty="0" smtClean="0"/>
          </a:p>
          <a:p>
            <a:pPr marL="0" indent="0">
              <a:lnSpc>
                <a:spcPct val="100000"/>
              </a:lnSpc>
              <a:buNone/>
            </a:pPr>
            <a:r>
              <a:rPr lang="en-US" altLang="ja-JP" sz="2000" dirty="0" smtClean="0"/>
              <a:t>[</a:t>
            </a:r>
            <a:r>
              <a:rPr lang="ja-JP" altLang="en-US" sz="2000" dirty="0" smtClean="0"/>
              <a:t>要求事項の解説</a:t>
            </a:r>
            <a:r>
              <a:rPr lang="en-US" altLang="ja-JP" sz="2000" dirty="0" smtClean="0"/>
              <a:t>]</a:t>
            </a:r>
          </a:p>
          <a:p>
            <a:pPr marL="0" indent="0">
              <a:lnSpc>
                <a:spcPct val="100000"/>
              </a:lnSpc>
              <a:buNone/>
            </a:pPr>
            <a:r>
              <a:rPr lang="ja-JP" altLang="en-US" sz="2000" dirty="0" smtClean="0"/>
              <a:t>コミュニケーション不足が原因で、問題が起こらないように、品質マネジメントシステムに関連する、内部・外部コミュニケーションの方法を決定して、実施することを意図しています。</a:t>
            </a:r>
            <a:endParaRPr lang="en-US" altLang="ja-JP" sz="2000" dirty="0" smtClean="0"/>
          </a:p>
          <a:p>
            <a:pPr marL="0" indent="0">
              <a:lnSpc>
                <a:spcPct val="100000"/>
              </a:lnSpc>
              <a:buNone/>
            </a:pPr>
            <a:r>
              <a:rPr lang="ja-JP" altLang="en-US" sz="2000" dirty="0" smtClean="0"/>
              <a:t>内部</a:t>
            </a:r>
            <a:r>
              <a:rPr lang="en-US" altLang="ja-JP" sz="2000" dirty="0" smtClean="0"/>
              <a:t>(</a:t>
            </a:r>
            <a:r>
              <a:rPr lang="ja-JP" altLang="en-US" sz="2000" dirty="0" smtClean="0"/>
              <a:t>社内</a:t>
            </a:r>
            <a:r>
              <a:rPr lang="en-US" altLang="ja-JP" sz="2000" dirty="0" smtClean="0"/>
              <a:t>)</a:t>
            </a:r>
            <a:r>
              <a:rPr lang="ja-JP" altLang="en-US" sz="2000" dirty="0" smtClean="0"/>
              <a:t>および外部</a:t>
            </a:r>
            <a:r>
              <a:rPr lang="en-US" altLang="ja-JP" sz="2000" dirty="0" smtClean="0"/>
              <a:t>(</a:t>
            </a:r>
            <a:r>
              <a:rPr lang="ja-JP" altLang="en-US" sz="2000" dirty="0" smtClean="0"/>
              <a:t>顧客、供給者など</a:t>
            </a:r>
            <a:r>
              <a:rPr lang="en-US" altLang="ja-JP" sz="2000" dirty="0" smtClean="0"/>
              <a:t>)</a:t>
            </a:r>
            <a:r>
              <a:rPr lang="ja-JP" altLang="en-US" sz="2000" dirty="0" smtClean="0"/>
              <a:t>とのコミュニケーションに関して、コミュニケーションの内容、実施時期、相手、方法、担当者などを決めることを述べています。</a:t>
            </a:r>
            <a:endParaRPr lang="en-US" altLang="ja-JP" sz="2000" dirty="0" smtClean="0"/>
          </a:p>
          <a:p>
            <a:pPr marL="0" indent="0">
              <a:lnSpc>
                <a:spcPct val="100000"/>
              </a:lnSpc>
              <a:buNone/>
            </a:pPr>
            <a:r>
              <a:rPr lang="ja-JP" altLang="en-US" sz="2000" dirty="0" smtClean="0"/>
              <a:t>なお、外部コミュニケーションの中心をなす顧客とのコミュニケーションについては箇条</a:t>
            </a:r>
            <a:r>
              <a:rPr lang="en-US" altLang="ja-JP" sz="2000" dirty="0" smtClean="0"/>
              <a:t>8.2.1</a:t>
            </a:r>
            <a:r>
              <a:rPr lang="ja-JP" altLang="en-US" sz="2000" dirty="0" smtClean="0"/>
              <a:t>において詳しく述べています。</a:t>
            </a: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smtClean="0">
                <a:solidFill>
                  <a:schemeClr val="tx2"/>
                </a:solidFill>
              </a:rPr>
              <a:t>7.4</a:t>
            </a:r>
            <a:r>
              <a:rPr lang="ja-JP" altLang="en-US" sz="3000" b="1" dirty="0">
                <a:solidFill>
                  <a:schemeClr val="tx2"/>
                </a:solidFill>
              </a:rPr>
              <a:t>　</a:t>
            </a:r>
            <a:r>
              <a:rPr lang="ja-JP" altLang="en-US" sz="3000" b="1" dirty="0" smtClean="0">
                <a:solidFill>
                  <a:schemeClr val="tx2"/>
                </a:solidFill>
              </a:rPr>
              <a:t>コミュニケーション（岩波氏）</a:t>
            </a:r>
            <a:endParaRPr kumimoji="1" lang="ja-JP" altLang="en-US" sz="3000" b="1" dirty="0">
              <a:solidFill>
                <a:schemeClr val="tx2"/>
              </a:solidFill>
            </a:endParaRPr>
          </a:p>
        </p:txBody>
      </p:sp>
    </p:spTree>
    <p:extLst>
      <p:ext uri="{BB962C8B-B14F-4D97-AF65-F5344CB8AC3E}">
        <p14:creationId xmlns:p14="http://schemas.microsoft.com/office/powerpoint/2010/main" val="3743711736"/>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169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55000" lnSpcReduction="20000"/>
          </a:bodyPr>
          <a:lstStyle/>
          <a:p>
            <a:pPr marL="0" indent="0">
              <a:lnSpc>
                <a:spcPct val="100000"/>
              </a:lnSpc>
              <a:buNone/>
            </a:pPr>
            <a:r>
              <a:rPr lang="ja-JP" altLang="en-US" sz="2000" dirty="0" smtClean="0"/>
              <a:t>内容</a:t>
            </a:r>
            <a:endParaRPr lang="en-US" altLang="ja-JP" sz="2000" dirty="0" smtClean="0"/>
          </a:p>
          <a:p>
            <a:pPr marL="0" indent="0">
              <a:lnSpc>
                <a:spcPct val="100000"/>
              </a:lnSpc>
              <a:buNone/>
            </a:pPr>
            <a:r>
              <a:rPr lang="ja-JP" altLang="en-US" sz="2000" dirty="0" smtClean="0"/>
              <a:t>文書化した情報の維持：仕事のルールを決めたもの</a:t>
            </a:r>
            <a:endParaRPr lang="en-US" altLang="ja-JP" sz="2000" dirty="0" smtClean="0"/>
          </a:p>
          <a:p>
            <a:pPr marL="0" indent="0">
              <a:lnSpc>
                <a:spcPct val="100000"/>
              </a:lnSpc>
              <a:buNone/>
            </a:pPr>
            <a:r>
              <a:rPr lang="ja-JP" altLang="en-US" sz="2000" dirty="0" smtClean="0"/>
              <a:t>文書化した情報の保持：仕事を実施した証拠</a:t>
            </a:r>
            <a:endParaRPr lang="en-US" altLang="ja-JP" sz="2000" dirty="0" smtClean="0"/>
          </a:p>
          <a:p>
            <a:pPr marL="0" indent="0">
              <a:lnSpc>
                <a:spcPct val="100000"/>
              </a:lnSpc>
              <a:buNone/>
            </a:pPr>
            <a:r>
              <a:rPr lang="ja-JP" altLang="en-US" sz="2000" dirty="0" smtClean="0"/>
              <a:t>承認</a:t>
            </a:r>
            <a:endParaRPr lang="en-US" altLang="ja-JP" sz="2000" dirty="0" smtClean="0"/>
          </a:p>
          <a:p>
            <a:pPr marL="0" indent="0">
              <a:lnSpc>
                <a:spcPct val="100000"/>
              </a:lnSpc>
              <a:buNone/>
            </a:pPr>
            <a:r>
              <a:rPr lang="ja-JP" altLang="en-US" sz="2000" dirty="0" smtClean="0"/>
              <a:t>文書化</a:t>
            </a:r>
            <a:r>
              <a:rPr lang="ja-JP" altLang="en-US" sz="2000" dirty="0"/>
              <a:t>した情報の維持</a:t>
            </a:r>
            <a:r>
              <a:rPr lang="ja-JP" altLang="en-US" sz="2000" dirty="0" smtClean="0"/>
              <a:t>：内容の承認が必要</a:t>
            </a:r>
            <a:endParaRPr lang="en-US" altLang="ja-JP" sz="2000" dirty="0"/>
          </a:p>
          <a:p>
            <a:pPr marL="0" indent="0">
              <a:lnSpc>
                <a:spcPct val="100000"/>
              </a:lnSpc>
              <a:buNone/>
            </a:pPr>
            <a:r>
              <a:rPr lang="ja-JP" altLang="en-US" sz="2000" dirty="0"/>
              <a:t>文書化した情報の保持</a:t>
            </a:r>
            <a:r>
              <a:rPr lang="ja-JP" altLang="en-US" sz="2000" dirty="0" smtClean="0"/>
              <a:t>：</a:t>
            </a:r>
            <a:r>
              <a:rPr lang="ja-JP" altLang="en-US" sz="2000" dirty="0"/>
              <a:t>内容の</a:t>
            </a:r>
            <a:r>
              <a:rPr lang="ja-JP" altLang="en-US" sz="2000" dirty="0" smtClean="0"/>
              <a:t>承認はない</a:t>
            </a:r>
            <a:endParaRPr lang="en-US" altLang="ja-JP" sz="2000" dirty="0"/>
          </a:p>
          <a:p>
            <a:pPr marL="0" indent="0">
              <a:lnSpc>
                <a:spcPct val="100000"/>
              </a:lnSpc>
              <a:buNone/>
            </a:pPr>
            <a:r>
              <a:rPr lang="ja-JP" altLang="en-US" sz="2000" dirty="0" smtClean="0"/>
              <a:t>改定</a:t>
            </a:r>
            <a:endParaRPr lang="en-US" altLang="ja-JP" sz="2000" dirty="0" smtClean="0"/>
          </a:p>
          <a:p>
            <a:pPr marL="0" indent="0">
              <a:lnSpc>
                <a:spcPct val="100000"/>
              </a:lnSpc>
              <a:buNone/>
            </a:pPr>
            <a:r>
              <a:rPr lang="ja-JP" altLang="en-US" sz="2000" dirty="0"/>
              <a:t>文書化した情報の維持</a:t>
            </a:r>
            <a:r>
              <a:rPr lang="ja-JP" altLang="en-US" sz="2000" dirty="0" smtClean="0"/>
              <a:t>：改定があ</a:t>
            </a:r>
            <a:r>
              <a:rPr lang="ja-JP" altLang="en-US" sz="2000" dirty="0"/>
              <a:t>る</a:t>
            </a:r>
            <a:endParaRPr lang="en-US" altLang="ja-JP" sz="2000" dirty="0"/>
          </a:p>
          <a:p>
            <a:pPr marL="0" indent="0">
              <a:lnSpc>
                <a:spcPct val="100000"/>
              </a:lnSpc>
              <a:buNone/>
            </a:pPr>
            <a:r>
              <a:rPr lang="ja-JP" altLang="en-US" sz="2000" dirty="0"/>
              <a:t>文書化した情報の保持</a:t>
            </a:r>
            <a:r>
              <a:rPr lang="ja-JP" altLang="en-US" sz="2000" dirty="0" smtClean="0"/>
              <a:t>：改定がない</a:t>
            </a:r>
            <a:endParaRPr lang="en-US" altLang="ja-JP" sz="2000" dirty="0"/>
          </a:p>
          <a:p>
            <a:pPr marL="0" indent="0">
              <a:lnSpc>
                <a:spcPct val="100000"/>
              </a:lnSpc>
              <a:buNone/>
            </a:pPr>
            <a:r>
              <a:rPr lang="ja-JP" altLang="en-US" sz="2000" dirty="0" smtClean="0"/>
              <a:t>帳票</a:t>
            </a:r>
            <a:endParaRPr lang="en-US" altLang="ja-JP" sz="2000" dirty="0" smtClean="0"/>
          </a:p>
          <a:p>
            <a:pPr marL="0" indent="0">
              <a:lnSpc>
                <a:spcPct val="100000"/>
              </a:lnSpc>
              <a:buNone/>
            </a:pPr>
            <a:r>
              <a:rPr lang="ja-JP" altLang="en-US" sz="2000" dirty="0"/>
              <a:t>文書化した情報の維持</a:t>
            </a:r>
            <a:r>
              <a:rPr lang="ja-JP" altLang="en-US" sz="2000" dirty="0" smtClean="0"/>
              <a:t>：結果を記入する前は文書</a:t>
            </a:r>
            <a:endParaRPr lang="en-US" altLang="ja-JP" sz="2000" dirty="0"/>
          </a:p>
          <a:p>
            <a:pPr marL="0" indent="0">
              <a:lnSpc>
                <a:spcPct val="100000"/>
              </a:lnSpc>
              <a:buNone/>
            </a:pPr>
            <a:r>
              <a:rPr lang="ja-JP" altLang="en-US" sz="2000" dirty="0"/>
              <a:t>文書化した情報の保持</a:t>
            </a:r>
            <a:r>
              <a:rPr lang="ja-JP" altLang="en-US" sz="2000" dirty="0" smtClean="0"/>
              <a:t>：</a:t>
            </a:r>
            <a:r>
              <a:rPr lang="ja-JP" altLang="en-US" sz="2000" dirty="0"/>
              <a:t>結果を</a:t>
            </a:r>
            <a:r>
              <a:rPr lang="ja-JP" altLang="en-US" sz="2000" dirty="0" smtClean="0"/>
              <a:t>記入したものは記録</a:t>
            </a:r>
            <a:endParaRPr lang="en-US" altLang="ja-JP" sz="2000" dirty="0"/>
          </a:p>
          <a:p>
            <a:pPr marL="0" indent="0">
              <a:lnSpc>
                <a:spcPct val="100000"/>
              </a:lnSpc>
              <a:buNone/>
            </a:pPr>
            <a:r>
              <a:rPr lang="ja-JP" altLang="en-US" sz="2000" dirty="0" smtClean="0"/>
              <a:t>保管期間</a:t>
            </a:r>
            <a:endParaRPr lang="en-US" altLang="ja-JP" sz="2000" dirty="0" smtClean="0"/>
          </a:p>
          <a:p>
            <a:pPr marL="0" indent="0">
              <a:lnSpc>
                <a:spcPct val="100000"/>
              </a:lnSpc>
              <a:buNone/>
            </a:pPr>
            <a:r>
              <a:rPr lang="ja-JP" altLang="en-US" sz="2000" dirty="0"/>
              <a:t>文書化した情報の維持</a:t>
            </a:r>
            <a:r>
              <a:rPr lang="ja-JP" altLang="en-US" sz="2000" dirty="0" smtClean="0"/>
              <a:t>：改定されるまで保管する</a:t>
            </a:r>
            <a:endParaRPr lang="en-US" altLang="ja-JP" sz="2000" dirty="0"/>
          </a:p>
          <a:p>
            <a:pPr marL="0" indent="0">
              <a:lnSpc>
                <a:spcPct val="100000"/>
              </a:lnSpc>
              <a:buNone/>
            </a:pPr>
            <a:r>
              <a:rPr lang="ja-JP" altLang="en-US" sz="2000" dirty="0"/>
              <a:t>文書化した情報の保持</a:t>
            </a:r>
            <a:r>
              <a:rPr lang="ja-JP" altLang="en-US" sz="2000" dirty="0" smtClean="0"/>
              <a:t>：保管期間を決める</a:t>
            </a:r>
            <a:endParaRPr lang="en-US" altLang="ja-JP" sz="2000" dirty="0"/>
          </a:p>
          <a:p>
            <a:pPr marL="0" indent="0">
              <a:lnSpc>
                <a:spcPct val="100000"/>
              </a:lnSpc>
              <a:buNone/>
            </a:pPr>
            <a:r>
              <a:rPr lang="ja-JP" altLang="en-US" sz="2000" dirty="0" smtClean="0"/>
              <a:t>配布と保管</a:t>
            </a:r>
            <a:endParaRPr lang="en-US" altLang="ja-JP" sz="2000" dirty="0" smtClean="0"/>
          </a:p>
          <a:p>
            <a:pPr marL="0" indent="0">
              <a:lnSpc>
                <a:spcPct val="100000"/>
              </a:lnSpc>
              <a:buNone/>
            </a:pPr>
            <a:r>
              <a:rPr lang="ja-JP" altLang="en-US" sz="2000" dirty="0"/>
              <a:t>文書化した情報の維持</a:t>
            </a:r>
            <a:r>
              <a:rPr lang="ja-JP" altLang="en-US" sz="2000" dirty="0" smtClean="0"/>
              <a:t>：配布先を決める</a:t>
            </a:r>
            <a:endParaRPr lang="en-US" altLang="ja-JP" sz="2000" dirty="0"/>
          </a:p>
          <a:p>
            <a:pPr marL="0" indent="0">
              <a:lnSpc>
                <a:spcPct val="100000"/>
              </a:lnSpc>
              <a:buNone/>
            </a:pPr>
            <a:r>
              <a:rPr lang="ja-JP" altLang="en-US" sz="2000" dirty="0"/>
              <a:t>文書化した情報の保持</a:t>
            </a:r>
            <a:r>
              <a:rPr lang="ja-JP" altLang="en-US" sz="2000" dirty="0" smtClean="0"/>
              <a:t>：保管部門を決める</a:t>
            </a:r>
            <a:endParaRPr lang="en-US" altLang="ja-JP" sz="2000" dirty="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78774"/>
            <a:ext cx="10515600" cy="854074"/>
          </a:xfrm>
          <a:solidFill>
            <a:schemeClr val="bg1"/>
          </a:solidFill>
          <a:ln w="38100">
            <a:solidFill>
              <a:schemeClr val="tx2"/>
            </a:solidFill>
          </a:ln>
        </p:spPr>
        <p:txBody>
          <a:bodyPr>
            <a:normAutofit/>
          </a:bodyPr>
          <a:lstStyle/>
          <a:p>
            <a:r>
              <a:rPr lang="en-US" altLang="ja-JP" sz="3000" b="1" dirty="0" smtClean="0">
                <a:solidFill>
                  <a:schemeClr val="tx2"/>
                </a:solidFill>
              </a:rPr>
              <a:t>7.4</a:t>
            </a:r>
            <a:r>
              <a:rPr lang="ja-JP" altLang="en-US" sz="3000" b="1" dirty="0">
                <a:solidFill>
                  <a:schemeClr val="tx2"/>
                </a:solidFill>
              </a:rPr>
              <a:t>　</a:t>
            </a:r>
            <a:r>
              <a:rPr lang="ja-JP" altLang="en-US" sz="3000" b="1" dirty="0" smtClean="0">
                <a:solidFill>
                  <a:schemeClr val="tx2"/>
                </a:solidFill>
              </a:rPr>
              <a:t>コミュニケーション（岩波氏）</a:t>
            </a:r>
            <a:endParaRPr kumimoji="1" lang="ja-JP" altLang="en-US" sz="3000" b="1" dirty="0">
              <a:solidFill>
                <a:schemeClr val="tx2"/>
              </a:solidFill>
            </a:endParaRPr>
          </a:p>
        </p:txBody>
      </p:sp>
    </p:spTree>
    <p:extLst>
      <p:ext uri="{BB962C8B-B14F-4D97-AF65-F5344CB8AC3E}">
        <p14:creationId xmlns:p14="http://schemas.microsoft.com/office/powerpoint/2010/main" val="2616654672"/>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smtClean="0"/>
              <a:t>①品質マネジメントシステムの文書には、下記を含む</a:t>
            </a:r>
            <a:endParaRPr lang="en-US" altLang="ja-JP" sz="2000" dirty="0" smtClean="0"/>
          </a:p>
          <a:p>
            <a:pPr marL="0" indent="0">
              <a:lnSpc>
                <a:spcPct val="100000"/>
              </a:lnSpc>
              <a:buNone/>
            </a:pPr>
            <a:r>
              <a:rPr lang="en-US" altLang="ja-JP" sz="2000" dirty="0" smtClean="0"/>
              <a:t>a)ISO9001</a:t>
            </a:r>
            <a:r>
              <a:rPr lang="ja-JP" altLang="en-US" sz="2000" dirty="0" smtClean="0"/>
              <a:t>規格が要求する文書化した情報</a:t>
            </a:r>
            <a:endParaRPr lang="en-US" altLang="ja-JP" sz="2000" dirty="0" smtClean="0"/>
          </a:p>
          <a:p>
            <a:pPr marL="0" indent="0">
              <a:lnSpc>
                <a:spcPct val="100000"/>
              </a:lnSpc>
              <a:buNone/>
            </a:pPr>
            <a:r>
              <a:rPr lang="en-US" altLang="ja-JP" sz="2000" dirty="0" smtClean="0"/>
              <a:t>b)</a:t>
            </a:r>
            <a:r>
              <a:rPr lang="ja-JP" altLang="en-US" sz="2000" dirty="0" smtClean="0"/>
              <a:t>品質マネジメントシステムの有効性のために必要であると、組織が決定した文書化した情報</a:t>
            </a:r>
            <a:endParaRPr lang="en-US" altLang="ja-JP" sz="2000" dirty="0" smtClean="0"/>
          </a:p>
          <a:p>
            <a:pPr marL="0" indent="0">
              <a:lnSpc>
                <a:spcPct val="100000"/>
              </a:lnSpc>
              <a:buNone/>
            </a:pPr>
            <a:r>
              <a:rPr lang="ja-JP" altLang="en-US" sz="2000" dirty="0" smtClean="0"/>
              <a:t>②注記　品質マネジメントシステムの文書化した情報の程度は、次のような理由によって、それぞれの組織で異なる場合がある。</a:t>
            </a:r>
            <a:endParaRPr lang="en-US" altLang="ja-JP" sz="2000" dirty="0" smtClean="0"/>
          </a:p>
          <a:p>
            <a:pPr marL="0" indent="0">
              <a:lnSpc>
                <a:spcPct val="100000"/>
              </a:lnSpc>
              <a:buNone/>
            </a:pPr>
            <a:r>
              <a:rPr lang="en-US" altLang="ja-JP" sz="2000" dirty="0" smtClean="0"/>
              <a:t>a)</a:t>
            </a:r>
            <a:r>
              <a:rPr lang="ja-JP" altLang="en-US" sz="2000" dirty="0" smtClean="0"/>
              <a:t>組織の規模・活動・プロセス・製品・サービスの種類</a:t>
            </a:r>
            <a:endParaRPr lang="en-US" altLang="ja-JP" sz="2000" dirty="0" smtClean="0"/>
          </a:p>
          <a:p>
            <a:pPr marL="0" indent="0">
              <a:lnSpc>
                <a:spcPct val="100000"/>
              </a:lnSpc>
              <a:buNone/>
            </a:pPr>
            <a:r>
              <a:rPr lang="en-US" altLang="ja-JP" sz="2000" dirty="0" smtClean="0"/>
              <a:t>b)</a:t>
            </a:r>
            <a:r>
              <a:rPr lang="ja-JP" altLang="en-US" sz="2000" dirty="0" smtClean="0"/>
              <a:t>プロセスとその相互作用の複雑さ</a:t>
            </a:r>
            <a:endParaRPr lang="en-US" altLang="ja-JP" sz="2000" dirty="0" smtClean="0"/>
          </a:p>
          <a:p>
            <a:pPr marL="0" indent="0">
              <a:lnSpc>
                <a:spcPct val="100000"/>
              </a:lnSpc>
              <a:buNone/>
            </a:pPr>
            <a:r>
              <a:rPr lang="en-US" altLang="ja-JP" sz="2000" dirty="0" smtClean="0"/>
              <a:t>c)</a:t>
            </a:r>
            <a:r>
              <a:rPr lang="ja-JP" altLang="en-US" sz="2000" dirty="0" smtClean="0"/>
              <a:t>人々の力量</a:t>
            </a: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a:p>
            <a:pPr marL="0" indent="0">
              <a:lnSpc>
                <a:spcPct val="100000"/>
              </a:lnSpc>
              <a:buNone/>
            </a:pPr>
            <a:endParaRPr lang="en-US" altLang="ja-JP" sz="2000" dirty="0"/>
          </a:p>
          <a:p>
            <a:pPr marL="0" indent="0">
              <a:lnSpc>
                <a:spcPct val="100000"/>
              </a:lnSpc>
              <a:buNone/>
            </a:pP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smtClean="0">
                <a:solidFill>
                  <a:schemeClr val="tx2"/>
                </a:solidFill>
              </a:rPr>
              <a:t>7.5.1</a:t>
            </a:r>
            <a:r>
              <a:rPr lang="ja-JP" altLang="en-US" sz="3000" b="1" dirty="0">
                <a:solidFill>
                  <a:schemeClr val="tx2"/>
                </a:solidFill>
              </a:rPr>
              <a:t>　</a:t>
            </a:r>
            <a:r>
              <a:rPr lang="ja-JP" altLang="en-US" sz="3000" b="1" dirty="0" smtClean="0">
                <a:solidFill>
                  <a:schemeClr val="tx2"/>
                </a:solidFill>
              </a:rPr>
              <a:t>文書化した情報（</a:t>
            </a:r>
            <a:r>
              <a:rPr lang="ja-JP" altLang="en-US" sz="3000" b="1" dirty="0" smtClean="0">
                <a:solidFill>
                  <a:schemeClr val="tx2"/>
                </a:solidFill>
              </a:rPr>
              <a:t>岩波氏）</a:t>
            </a:r>
            <a:endParaRPr kumimoji="1" lang="ja-JP" altLang="en-US" sz="3000" b="1" dirty="0">
              <a:solidFill>
                <a:schemeClr val="tx2"/>
              </a:solidFill>
            </a:endParaRPr>
          </a:p>
        </p:txBody>
      </p:sp>
    </p:spTree>
    <p:extLst>
      <p:ext uri="{BB962C8B-B14F-4D97-AF65-F5344CB8AC3E}">
        <p14:creationId xmlns:p14="http://schemas.microsoft.com/office/powerpoint/2010/main" val="1185445228"/>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☑組織の</a:t>
            </a:r>
            <a:r>
              <a:rPr lang="ja-JP" altLang="en-US" sz="2000" u="sng" dirty="0"/>
              <a:t>品質マネジメントシステムは、</a:t>
            </a:r>
            <a:r>
              <a:rPr lang="ja-JP" altLang="en-US" sz="2000" b="1" u="sng" dirty="0"/>
              <a:t>文書化</a:t>
            </a:r>
            <a:r>
              <a:rPr lang="ja-JP" altLang="en-US" sz="2000" u="sng" dirty="0"/>
              <a:t>し、品質マニュアルに含めなければならない</a:t>
            </a:r>
            <a:r>
              <a:rPr lang="ja-JP" altLang="en-US" sz="2000" dirty="0"/>
              <a:t>、その品質マニュアルは一連の文書（電子版又は印刷版）であってもよい。</a:t>
            </a:r>
            <a:endParaRPr lang="en-US" altLang="ja-JP" sz="2000" dirty="0"/>
          </a:p>
          <a:p>
            <a:pPr marL="0" indent="0">
              <a:lnSpc>
                <a:spcPct val="100000"/>
              </a:lnSpc>
              <a:buNone/>
            </a:pPr>
            <a:r>
              <a:rPr lang="ja-JP" altLang="en-US" sz="2000" dirty="0"/>
              <a:t>☑品質マニュアルの様式及び構成は、組織の裁量により、また、組織の規模、文化及び複雑さによって決まる。一連の文書が使用されるならば、組織の品質マニュアルを構成する文書のリストを保持しなければならない。</a:t>
            </a:r>
            <a:endParaRPr lang="en-US" altLang="ja-JP" sz="2000" dirty="0"/>
          </a:p>
          <a:p>
            <a:pPr marL="0" indent="0">
              <a:lnSpc>
                <a:spcPct val="100000"/>
              </a:lnSpc>
              <a:buNone/>
            </a:pPr>
            <a:r>
              <a:rPr lang="ja-JP" altLang="en-US" sz="2000" dirty="0"/>
              <a:t>☑品質マニュアルには、少なくとも次に示すものを含めなければならない。</a:t>
            </a:r>
            <a:endParaRPr lang="en-US" altLang="ja-JP" sz="2000" dirty="0"/>
          </a:p>
          <a:p>
            <a:pPr marL="800100" lvl="1" indent="-342900">
              <a:lnSpc>
                <a:spcPct val="100000"/>
              </a:lnSpc>
              <a:buFont typeface="+mj-lt"/>
              <a:buAutoNum type="alphaLcPeriod"/>
            </a:pPr>
            <a:r>
              <a:rPr lang="ja-JP" altLang="en-US" sz="2000" dirty="0"/>
              <a:t>品質マネジメントシステムの</a:t>
            </a:r>
            <a:r>
              <a:rPr lang="ja-JP" altLang="en-US" sz="2000" u="sng" dirty="0"/>
              <a:t>適用範囲</a:t>
            </a:r>
            <a:r>
              <a:rPr lang="ja-JP" altLang="en-US" sz="2000" dirty="0"/>
              <a:t>、除外があればその詳細及び正当化する理由</a:t>
            </a:r>
            <a:endParaRPr lang="en-US" altLang="ja-JP" sz="2000" dirty="0"/>
          </a:p>
          <a:p>
            <a:pPr marL="800100" lvl="1" indent="-342900">
              <a:lnSpc>
                <a:spcPct val="100000"/>
              </a:lnSpc>
              <a:buFont typeface="+mj-lt"/>
              <a:buAutoNum type="alphaLcPeriod"/>
            </a:pPr>
            <a:r>
              <a:rPr lang="ja-JP" altLang="en-US" sz="2000" dirty="0"/>
              <a:t>品質マネジメントシステムについて確立された、</a:t>
            </a:r>
            <a:r>
              <a:rPr lang="ja-JP" altLang="en-US" sz="2000" u="sng" dirty="0"/>
              <a:t>文書化されたプロセス、またはその言及。</a:t>
            </a:r>
            <a:endParaRPr lang="en-US" altLang="ja-JP" sz="2000" u="sng" dirty="0"/>
          </a:p>
          <a:p>
            <a:pPr marL="800100" lvl="1" indent="-342900">
              <a:lnSpc>
                <a:spcPct val="100000"/>
              </a:lnSpc>
              <a:buFont typeface="+mj-lt"/>
              <a:buAutoNum type="alphaLcPeriod"/>
            </a:pPr>
            <a:r>
              <a:rPr lang="ja-JP" altLang="en-US" sz="2000" u="sng" dirty="0"/>
              <a:t>組織のプロセス、順序及び相互作用（インプット及びアウトプット）、アウトソースプロセスがあればその管理の方式及び程度</a:t>
            </a:r>
            <a:r>
              <a:rPr lang="ja-JP" altLang="en-US" sz="2000" dirty="0"/>
              <a:t>を含める。</a:t>
            </a:r>
            <a:endParaRPr lang="en-US" altLang="ja-JP" sz="2000" dirty="0"/>
          </a:p>
          <a:p>
            <a:pPr marL="800100" lvl="1" indent="-342900">
              <a:lnSpc>
                <a:spcPct val="100000"/>
              </a:lnSpc>
              <a:buFont typeface="+mj-lt"/>
              <a:buAutoNum type="alphaLcPeriod"/>
            </a:pPr>
            <a:r>
              <a:rPr lang="ja-JP" altLang="en-US" sz="2000" u="sng" dirty="0"/>
              <a:t>顧客固有要求事項</a:t>
            </a:r>
            <a:r>
              <a:rPr lang="ja-JP" altLang="en-US" sz="2000" dirty="0"/>
              <a:t>が、組織の品質マネジメントシステム内で</a:t>
            </a:r>
            <a:r>
              <a:rPr lang="ja-JP" altLang="en-US" sz="2000" u="sng" dirty="0"/>
              <a:t>対処されている所</a:t>
            </a:r>
            <a:r>
              <a:rPr lang="ja-JP" altLang="en-US" sz="2000" dirty="0"/>
              <a:t>を示す文書（例：表、リスト、又は</a:t>
            </a:r>
            <a:r>
              <a:rPr lang="ja-JP" altLang="en-US" sz="2000" u="sng" dirty="0"/>
              <a:t>マトリクス</a:t>
            </a:r>
            <a:r>
              <a:rPr lang="ja-JP" altLang="en-US" sz="2000" dirty="0"/>
              <a:t>）。</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7.5.1.1</a:t>
            </a:r>
            <a:r>
              <a:rPr lang="ja-JP" altLang="en-US" sz="3000" b="1" dirty="0">
                <a:solidFill>
                  <a:schemeClr val="tx2"/>
                </a:solidFill>
              </a:rPr>
              <a:t>　品質マネジメントシステムの文書類</a:t>
            </a:r>
            <a:endParaRPr kumimoji="1" lang="ja-JP" altLang="en-US" sz="3000" b="1" dirty="0">
              <a:solidFill>
                <a:schemeClr val="tx2"/>
              </a:solidFill>
            </a:endParaRPr>
          </a:p>
        </p:txBody>
      </p:sp>
      <p:sp>
        <p:nvSpPr>
          <p:cNvPr id="2" name="四角形: 角を丸くする 1">
            <a:extLst>
              <a:ext uri="{FF2B5EF4-FFF2-40B4-BE49-F238E27FC236}">
                <a16:creationId xmlns:a16="http://schemas.microsoft.com/office/drawing/2014/main" id="{E765F46E-F8D0-4158-BA55-B3E4CDD0BAB0}"/>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5</a:t>
            </a:r>
          </a:p>
        </p:txBody>
      </p:sp>
    </p:spTree>
    <p:extLst>
      <p:ext uri="{BB962C8B-B14F-4D97-AF65-F5344CB8AC3E}">
        <p14:creationId xmlns:p14="http://schemas.microsoft.com/office/powerpoint/2010/main" val="1134968271"/>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208183"/>
          </a:xfrm>
          <a:ln w="12700">
            <a:solidFill>
              <a:schemeClr val="tx2"/>
            </a:solidFill>
          </a:ln>
        </p:spPr>
        <p:txBody>
          <a:bodyPr>
            <a:normAutofit/>
          </a:bodyPr>
          <a:lstStyle/>
          <a:p>
            <a:pPr marL="0" indent="0">
              <a:lnSpc>
                <a:spcPct val="100000"/>
              </a:lnSpc>
              <a:buNone/>
            </a:pPr>
            <a:r>
              <a:rPr lang="ja-JP" altLang="en-US" sz="2000" dirty="0"/>
              <a:t>注記　この自動車産業</a:t>
            </a:r>
            <a:r>
              <a:rPr lang="en-US" altLang="ja-JP" sz="2000" dirty="0"/>
              <a:t>QMS</a:t>
            </a:r>
            <a:r>
              <a:rPr lang="ja-JP" altLang="en-US" sz="2000" dirty="0"/>
              <a:t>規格の要求事項が、どのように組織のプロセスによって取り組まれているかを示すマトリックスは、組織のプロセスとこの自動車産業</a:t>
            </a:r>
            <a:r>
              <a:rPr lang="en-US" altLang="ja-JP" sz="2000" dirty="0"/>
              <a:t>QMS</a:t>
            </a:r>
            <a:r>
              <a:rPr lang="ja-JP" altLang="en-US" sz="2000" dirty="0"/>
              <a:t>とのつながりを支援するために利用してもよい。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7.5.1.1</a:t>
            </a:r>
            <a:r>
              <a:rPr lang="ja-JP" altLang="en-US" sz="3000" b="1" dirty="0">
                <a:solidFill>
                  <a:schemeClr val="tx2"/>
                </a:solidFill>
              </a:rPr>
              <a:t>　品質マネジメントシステムの文書類</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462BEB01-46B0-41CA-9C1D-B2779231D40A}"/>
              </a:ext>
            </a:extLst>
          </p:cNvPr>
          <p:cNvSpPr txBox="1">
            <a:spLocks/>
          </p:cNvSpPr>
          <p:nvPr/>
        </p:nvSpPr>
        <p:spPr>
          <a:xfrm>
            <a:off x="838200" y="303698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7.5.1.1</a:t>
            </a:r>
            <a:r>
              <a:rPr lang="ja-JP" altLang="en-US" sz="3000" b="1" dirty="0">
                <a:solidFill>
                  <a:schemeClr val="bg1"/>
                </a:solidFill>
              </a:rPr>
              <a:t>　品質マネジメントシステムの文書類</a:t>
            </a:r>
          </a:p>
        </p:txBody>
      </p:sp>
      <p:sp>
        <p:nvSpPr>
          <p:cNvPr id="7" name="コンテンツ プレースホルダー 2">
            <a:extLst>
              <a:ext uri="{FF2B5EF4-FFF2-40B4-BE49-F238E27FC236}">
                <a16:creationId xmlns:a16="http://schemas.microsoft.com/office/drawing/2014/main" id="{E3FCF2FC-47BB-49A3-9552-3097F60F8437}"/>
              </a:ext>
            </a:extLst>
          </p:cNvPr>
          <p:cNvSpPr txBox="1">
            <a:spLocks/>
          </p:cNvSpPr>
          <p:nvPr/>
        </p:nvSpPr>
        <p:spPr>
          <a:xfrm>
            <a:off x="838200" y="4125817"/>
            <a:ext cx="10515600" cy="2230533"/>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QMS</a:t>
            </a:r>
            <a:r>
              <a:rPr lang="ja-JP" altLang="en-US" sz="2400" dirty="0"/>
              <a:t>の全体像を把握できるもの。　➠　品質マニュアル。</a:t>
            </a:r>
            <a:endParaRPr lang="en-US" altLang="ja-JP" sz="2400" dirty="0"/>
          </a:p>
          <a:p>
            <a:pPr marL="457200" indent="-457200">
              <a:lnSpc>
                <a:spcPct val="100000"/>
              </a:lnSpc>
              <a:buFont typeface="+mj-lt"/>
              <a:buAutoNum type="arabicPeriod"/>
            </a:pPr>
            <a:r>
              <a:rPr lang="ja-JP" altLang="en-US" sz="2400" dirty="0"/>
              <a:t>マニュアル取込みか、付随する文書かは柔軟に決定する。</a:t>
            </a:r>
            <a:endParaRPr lang="en-US" altLang="ja-JP" sz="2400" dirty="0"/>
          </a:p>
          <a:p>
            <a:pPr lvl="1">
              <a:lnSpc>
                <a:spcPct val="100000"/>
              </a:lnSpc>
              <a:buFont typeface="Wingdings" panose="05000000000000000000" pitchFamily="2" charset="2"/>
              <a:buChar char="Ø"/>
            </a:pPr>
            <a:r>
              <a:rPr lang="ja-JP" altLang="en-US" dirty="0"/>
              <a:t>品質マニュアルからの</a:t>
            </a:r>
            <a:r>
              <a:rPr lang="ja-JP" altLang="en-US" dirty="0">
                <a:solidFill>
                  <a:srgbClr val="FF0000"/>
                </a:solidFill>
                <a:effectLst>
                  <a:outerShdw blurRad="38100" dist="38100" dir="2700000" algn="tl">
                    <a:srgbClr val="000000">
                      <a:alpha val="43137"/>
                    </a:srgbClr>
                  </a:outerShdw>
                </a:effectLst>
              </a:rPr>
              <a:t>呼び出しが確実にされていること。</a:t>
            </a:r>
            <a:endParaRPr lang="en-US" altLang="ja-JP" dirty="0">
              <a:solidFill>
                <a:srgbClr val="FF0000"/>
              </a:solidFill>
              <a:effectLst>
                <a:outerShdw blurRad="38100" dist="38100" dir="2700000" algn="tl">
                  <a:srgbClr val="000000">
                    <a:alpha val="43137"/>
                  </a:srgbClr>
                </a:outerShdw>
              </a:effectLst>
            </a:endParaRPr>
          </a:p>
          <a:p>
            <a:pPr lvl="1">
              <a:lnSpc>
                <a:spcPct val="100000"/>
              </a:lnSpc>
              <a:buFont typeface="Wingdings" panose="05000000000000000000" pitchFamily="2" charset="2"/>
              <a:buChar char="Ø"/>
            </a:pPr>
            <a:endParaRPr lang="ja-JP" altLang="en-US" dirty="0"/>
          </a:p>
        </p:txBody>
      </p:sp>
    </p:spTree>
    <p:extLst>
      <p:ext uri="{BB962C8B-B14F-4D97-AF65-F5344CB8AC3E}">
        <p14:creationId xmlns:p14="http://schemas.microsoft.com/office/powerpoint/2010/main" val="472879883"/>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startAt="3"/>
            </a:pPr>
            <a:r>
              <a:rPr lang="ja-JP" altLang="en-US" sz="2400" dirty="0"/>
              <a:t>品質マニュアル作成時の要点。</a:t>
            </a:r>
            <a:endParaRPr lang="en-US" altLang="ja-JP" sz="2400" dirty="0"/>
          </a:p>
          <a:p>
            <a:pPr marL="914400" lvl="1" indent="-457200">
              <a:buFont typeface="+mj-ea"/>
              <a:buAutoNum type="circleNumDbPlain"/>
            </a:pPr>
            <a:r>
              <a:rPr lang="ja-JP" altLang="en-US" dirty="0"/>
              <a:t>１つの文書でも一連（複数）の文書でもよい。一連の文書で構成する場合は、それらの文書リストを作成する。また紙媒体でも電子媒体でもよい。</a:t>
            </a:r>
            <a:endParaRPr lang="en-US" altLang="ja-JP" dirty="0"/>
          </a:p>
          <a:p>
            <a:pPr marL="914400" lvl="1" indent="-457200">
              <a:buFont typeface="+mj-ea"/>
              <a:buAutoNum type="circleNumDbPlain"/>
            </a:pPr>
            <a:r>
              <a:rPr lang="ja-JP" altLang="en-US" dirty="0"/>
              <a:t>適用範囲に関する記述をする。（除外に関する詳細な理由含め）</a:t>
            </a:r>
            <a:endParaRPr lang="en-US" altLang="ja-JP" dirty="0"/>
          </a:p>
          <a:p>
            <a:pPr marL="914400" lvl="1" indent="-457200">
              <a:buFont typeface="+mj-ea"/>
              <a:buAutoNum type="circleNumDbPlain"/>
            </a:pPr>
            <a:r>
              <a:rPr lang="ja-JP" altLang="en-US" dirty="0"/>
              <a:t>規格が要求する　“文書化したプロセス”　の記述又は参照文書の記述をする。</a:t>
            </a:r>
            <a:endParaRPr lang="en-US" altLang="ja-JP" dirty="0"/>
          </a:p>
          <a:p>
            <a:pPr marL="914400" lvl="1" indent="-457200">
              <a:buFont typeface="+mj-ea"/>
              <a:buAutoNum type="circleNumDbPlain"/>
            </a:pPr>
            <a:r>
              <a:rPr lang="ja-JP" altLang="en-US" dirty="0"/>
              <a:t>プロセス管理図（タートル図）の参照。</a:t>
            </a:r>
            <a:endParaRPr lang="en-US" altLang="ja-JP" dirty="0"/>
          </a:p>
          <a:p>
            <a:pPr marL="914400" lvl="1" indent="-457200">
              <a:buFont typeface="+mj-ea"/>
              <a:buAutoNum type="circleNumDbPlain"/>
            </a:pPr>
            <a:r>
              <a:rPr lang="ja-JP" altLang="en-US" dirty="0"/>
              <a:t>プロセス　⇔　顧客固有要求事項のマトリックスの参照。</a:t>
            </a:r>
            <a:endParaRPr lang="en-US" altLang="ja-JP" dirty="0"/>
          </a:p>
          <a:p>
            <a:pPr marL="914400" lvl="1" indent="-457200">
              <a:buFont typeface="+mj-ea"/>
              <a:buAutoNum type="circleNumDbPlain"/>
            </a:pPr>
            <a:r>
              <a:rPr lang="ja-JP" altLang="en-US" dirty="0"/>
              <a:t>プロセス　⇔　</a:t>
            </a:r>
            <a:r>
              <a:rPr lang="en-US" altLang="ja-JP" dirty="0"/>
              <a:t>IATF</a:t>
            </a:r>
            <a:r>
              <a:rPr lang="ja-JP" altLang="en-US" dirty="0"/>
              <a:t>要求事項のマトリックスの参照。</a:t>
            </a:r>
            <a:endParaRPr lang="en-US" altLang="ja-JP" dirty="0"/>
          </a:p>
          <a:p>
            <a:pPr marL="914400" lvl="1" indent="-457200">
              <a:buFont typeface="+mj-ea"/>
              <a:buAutoNum type="circleNumDbPlain"/>
            </a:pP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7.5.1.1</a:t>
            </a:r>
            <a:r>
              <a:rPr lang="ja-JP" altLang="en-US" sz="3000" b="1" dirty="0">
                <a:solidFill>
                  <a:schemeClr val="bg1"/>
                </a:solidFill>
              </a:rPr>
              <a:t>　品質マネジメントシステムの文書類</a:t>
            </a:r>
          </a:p>
        </p:txBody>
      </p:sp>
      <p:sp>
        <p:nvSpPr>
          <p:cNvPr id="6" name="矢印: 下 5">
            <a:extLst>
              <a:ext uri="{FF2B5EF4-FFF2-40B4-BE49-F238E27FC236}">
                <a16:creationId xmlns:a16="http://schemas.microsoft.com/office/drawing/2014/main" id="{FF6BEA63-AFC5-4209-9EE9-96B9709CC293}"/>
              </a:ext>
            </a:extLst>
          </p:cNvPr>
          <p:cNvSpPr/>
          <p:nvPr/>
        </p:nvSpPr>
        <p:spPr>
          <a:xfrm>
            <a:off x="5234539" y="5334000"/>
            <a:ext cx="1722922" cy="259882"/>
          </a:xfrm>
          <a:prstGeom prst="downArrow">
            <a:avLst>
              <a:gd name="adj1" fmla="val 6891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C06B872-A6EC-4176-AFC9-D047E9DCAE27}"/>
              </a:ext>
            </a:extLst>
          </p:cNvPr>
          <p:cNvSpPr/>
          <p:nvPr/>
        </p:nvSpPr>
        <p:spPr>
          <a:xfrm>
            <a:off x="838200" y="5659655"/>
            <a:ext cx="10515600" cy="696695"/>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これらは「認証申請」「第</a:t>
            </a:r>
            <a:r>
              <a:rPr lang="ja-JP" altLang="en-US" sz="2400" dirty="0">
                <a:solidFill>
                  <a:schemeClr val="tx1"/>
                </a:solidFill>
              </a:rPr>
              <a:t>１段階審査」時に提出する文書がほとんど。</a:t>
            </a:r>
            <a:endParaRPr kumimoji="1" lang="ja-JP" altLang="en-US" sz="2400" dirty="0">
              <a:solidFill>
                <a:schemeClr val="tx1"/>
              </a:solidFill>
            </a:endParaRPr>
          </a:p>
        </p:txBody>
      </p:sp>
      <p:sp>
        <p:nvSpPr>
          <p:cNvPr id="2" name="吹き出し: 角を丸めた四角形 1">
            <a:extLst>
              <a:ext uri="{FF2B5EF4-FFF2-40B4-BE49-F238E27FC236}">
                <a16:creationId xmlns:a16="http://schemas.microsoft.com/office/drawing/2014/main" id="{6078DAB5-4188-4BB4-9804-813F1C3921A0}"/>
              </a:ext>
            </a:extLst>
          </p:cNvPr>
          <p:cNvSpPr/>
          <p:nvPr/>
        </p:nvSpPr>
        <p:spPr>
          <a:xfrm>
            <a:off x="9022079" y="3727251"/>
            <a:ext cx="2130829" cy="696695"/>
          </a:xfrm>
          <a:prstGeom prst="wedgeRoundRectCallout">
            <a:avLst>
              <a:gd name="adj1" fmla="val -42077"/>
              <a:gd name="adj2" fmla="val 60520"/>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4.3.2(3)</a:t>
            </a:r>
            <a:r>
              <a:rPr kumimoji="1" lang="ja-JP" altLang="en-US" dirty="0">
                <a:solidFill>
                  <a:schemeClr val="tx1"/>
                </a:solidFill>
              </a:rPr>
              <a:t>まとめ方の事例参照。</a:t>
            </a:r>
          </a:p>
        </p:txBody>
      </p:sp>
    </p:spTree>
    <p:extLst>
      <p:ext uri="{BB962C8B-B14F-4D97-AF65-F5344CB8AC3E}">
        <p14:creationId xmlns:p14="http://schemas.microsoft.com/office/powerpoint/2010/main" val="3535358601"/>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smtClean="0"/>
              <a:t>③文書化した情報を作成・更新する際、次の事項を確実にする。</a:t>
            </a:r>
            <a:endParaRPr lang="en-US" altLang="ja-JP" sz="2000" dirty="0" smtClean="0"/>
          </a:p>
          <a:p>
            <a:pPr marL="0" indent="0">
              <a:lnSpc>
                <a:spcPct val="100000"/>
              </a:lnSpc>
              <a:buNone/>
            </a:pPr>
            <a:r>
              <a:rPr lang="en-US" altLang="ja-JP" sz="2000" dirty="0" smtClean="0"/>
              <a:t>a)</a:t>
            </a:r>
            <a:r>
              <a:rPr lang="ja-JP" altLang="en-US" sz="2000" dirty="0" smtClean="0"/>
              <a:t>識別・記述　</a:t>
            </a:r>
            <a:r>
              <a:rPr lang="en-US" altLang="ja-JP" sz="2000" dirty="0" smtClean="0"/>
              <a:t>---</a:t>
            </a:r>
            <a:r>
              <a:rPr lang="ja-JP" altLang="en-US" sz="2000" dirty="0" smtClean="0"/>
              <a:t>　タイトル、日付、作成者、参照番号など</a:t>
            </a:r>
            <a:endParaRPr lang="en-US" altLang="ja-JP" sz="2000" dirty="0" smtClean="0"/>
          </a:p>
          <a:p>
            <a:pPr marL="0" indent="0">
              <a:lnSpc>
                <a:spcPct val="100000"/>
              </a:lnSpc>
              <a:buNone/>
            </a:pPr>
            <a:r>
              <a:rPr lang="en-US" altLang="ja-JP" sz="2000" dirty="0" smtClean="0"/>
              <a:t>b)</a:t>
            </a:r>
            <a:r>
              <a:rPr lang="ja-JP" altLang="en-US" sz="2000" dirty="0" smtClean="0"/>
              <a:t>適切な形式　</a:t>
            </a:r>
            <a:r>
              <a:rPr lang="en-US" altLang="ja-JP" sz="2000" dirty="0" smtClean="0"/>
              <a:t>---</a:t>
            </a:r>
            <a:r>
              <a:rPr lang="ja-JP" altLang="en-US" sz="2000" dirty="0" smtClean="0"/>
              <a:t>　</a:t>
            </a:r>
            <a:r>
              <a:rPr lang="ja-JP" altLang="en-US" sz="2000" dirty="0" smtClean="0"/>
              <a:t>例えば、言語、ソフトウエアの版、図表、および媒体</a:t>
            </a:r>
            <a:endParaRPr lang="en-US" altLang="ja-JP" sz="2000" dirty="0" smtClean="0"/>
          </a:p>
          <a:p>
            <a:pPr marL="0" indent="0">
              <a:lnSpc>
                <a:spcPct val="100000"/>
              </a:lnSpc>
              <a:buNone/>
            </a:pPr>
            <a:r>
              <a:rPr lang="ja-JP" altLang="en-US" sz="2000" dirty="0" smtClean="0"/>
              <a:t>（例えば、紙・電子媒体）など</a:t>
            </a:r>
            <a:endParaRPr lang="en-US" altLang="ja-JP" sz="2000" dirty="0" smtClean="0"/>
          </a:p>
          <a:p>
            <a:pPr marL="0" indent="0">
              <a:lnSpc>
                <a:spcPct val="100000"/>
              </a:lnSpc>
              <a:buNone/>
            </a:pPr>
            <a:r>
              <a:rPr lang="en-US" altLang="ja-JP" sz="2000" dirty="0" smtClean="0"/>
              <a:t>c)</a:t>
            </a:r>
            <a:r>
              <a:rPr lang="ja-JP" altLang="en-US" sz="2000" dirty="0" smtClean="0"/>
              <a:t>適切性および妥当性に関する、適切レビュー・承認</a:t>
            </a: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7.5.2</a:t>
            </a:r>
            <a:r>
              <a:rPr kumimoji="1" lang="ja-JP" altLang="en-US" sz="3000" b="1" dirty="0" smtClean="0">
                <a:solidFill>
                  <a:schemeClr val="tx2"/>
                </a:solidFill>
              </a:rPr>
              <a:t>　作業および更新　（岩波氏）</a:t>
            </a:r>
            <a:endParaRPr kumimoji="1" lang="ja-JP" altLang="en-US" sz="3000" b="1" dirty="0">
              <a:solidFill>
                <a:schemeClr val="tx2"/>
              </a:solidFill>
            </a:endParaRPr>
          </a:p>
        </p:txBody>
      </p:sp>
    </p:spTree>
    <p:extLst>
      <p:ext uri="{BB962C8B-B14F-4D97-AF65-F5344CB8AC3E}">
        <p14:creationId xmlns:p14="http://schemas.microsoft.com/office/powerpoint/2010/main" val="2035820117"/>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70000" lnSpcReduction="20000"/>
          </a:bodyPr>
          <a:lstStyle/>
          <a:p>
            <a:pPr marL="0" indent="0">
              <a:lnSpc>
                <a:spcPct val="100000"/>
              </a:lnSpc>
              <a:buNone/>
            </a:pPr>
            <a:r>
              <a:rPr lang="en-US" altLang="ja-JP" sz="2000" dirty="0" smtClean="0"/>
              <a:t>7.5.3.1</a:t>
            </a:r>
          </a:p>
          <a:p>
            <a:pPr marL="0" indent="0">
              <a:lnSpc>
                <a:spcPct val="100000"/>
              </a:lnSpc>
              <a:buNone/>
            </a:pPr>
            <a:r>
              <a:rPr lang="ja-JP" altLang="en-US" sz="2000" dirty="0" smtClean="0"/>
              <a:t>①品質マネジメントシステム及び</a:t>
            </a:r>
            <a:r>
              <a:rPr lang="en-US" altLang="ja-JP" sz="2000" dirty="0" smtClean="0"/>
              <a:t>ISO9001</a:t>
            </a:r>
            <a:r>
              <a:rPr lang="ja-JP" altLang="en-US" sz="2000" dirty="0" smtClean="0"/>
              <a:t>規格で要求されている文書化した情報は、次の事項を確実にするために管理する。</a:t>
            </a:r>
            <a:endParaRPr lang="en-US" altLang="ja-JP" sz="2000" dirty="0" smtClean="0"/>
          </a:p>
          <a:p>
            <a:pPr marL="0" indent="0">
              <a:lnSpc>
                <a:spcPct val="100000"/>
              </a:lnSpc>
              <a:buNone/>
            </a:pPr>
            <a:r>
              <a:rPr lang="en-US" altLang="ja-JP" sz="2000" dirty="0" smtClean="0"/>
              <a:t>a)</a:t>
            </a:r>
            <a:r>
              <a:rPr lang="ja-JP" altLang="en-US" sz="2000" dirty="0" smtClean="0"/>
              <a:t>文書化した情報が、必要なときに、必要なところで、入手可能かつ利用に適した状態である。</a:t>
            </a:r>
            <a:endParaRPr lang="en-US" altLang="ja-JP" sz="2000" dirty="0" smtClean="0"/>
          </a:p>
          <a:p>
            <a:pPr marL="0" indent="0">
              <a:lnSpc>
                <a:spcPct val="100000"/>
              </a:lnSpc>
              <a:buNone/>
            </a:pPr>
            <a:r>
              <a:rPr lang="en-US" altLang="ja-JP" sz="2000" dirty="0" smtClean="0"/>
              <a:t>b)</a:t>
            </a:r>
            <a:r>
              <a:rPr lang="ja-JP" altLang="en-US" sz="2000" dirty="0" smtClean="0"/>
              <a:t>文書化した情報が十分に保護されている</a:t>
            </a:r>
            <a:endParaRPr lang="en-US" altLang="ja-JP" sz="2000" dirty="0" smtClean="0"/>
          </a:p>
          <a:p>
            <a:pPr marL="0" indent="0">
              <a:lnSpc>
                <a:spcPct val="100000"/>
              </a:lnSpc>
              <a:buNone/>
            </a:pPr>
            <a:r>
              <a:rPr lang="ja-JP" altLang="en-US" sz="2000" dirty="0" smtClean="0"/>
              <a:t>②次の行動に取り組む（該当する場合には必ず）</a:t>
            </a:r>
            <a:endParaRPr lang="en-US" altLang="ja-JP" sz="2000" dirty="0" smtClean="0"/>
          </a:p>
          <a:p>
            <a:pPr marL="0" indent="0">
              <a:lnSpc>
                <a:spcPct val="100000"/>
              </a:lnSpc>
              <a:buNone/>
            </a:pPr>
            <a:r>
              <a:rPr lang="en-US" altLang="ja-JP" sz="2000" dirty="0" smtClean="0"/>
              <a:t>a)</a:t>
            </a:r>
            <a:r>
              <a:rPr lang="ja-JP" altLang="en-US" sz="2000" dirty="0" smtClean="0"/>
              <a:t>配布・アクセス・検索・利用</a:t>
            </a:r>
            <a:endParaRPr lang="en-US" altLang="ja-JP" sz="2000" dirty="0" smtClean="0"/>
          </a:p>
          <a:p>
            <a:pPr marL="0" indent="0">
              <a:lnSpc>
                <a:spcPct val="100000"/>
              </a:lnSpc>
              <a:buNone/>
            </a:pPr>
            <a:r>
              <a:rPr lang="en-US" altLang="ja-JP" sz="2000" dirty="0" smtClean="0"/>
              <a:t>b)</a:t>
            </a:r>
            <a:r>
              <a:rPr lang="ja-JP" altLang="en-US" sz="2000" dirty="0" smtClean="0"/>
              <a:t>保管・保存</a:t>
            </a:r>
            <a:r>
              <a:rPr lang="en-US" altLang="ja-JP" sz="2000" dirty="0" smtClean="0"/>
              <a:t>(</a:t>
            </a:r>
            <a:r>
              <a:rPr lang="ja-JP" altLang="en-US" sz="2000" dirty="0" smtClean="0"/>
              <a:t>読み易さが保たれることを含む）</a:t>
            </a:r>
            <a:endParaRPr lang="en-US" altLang="ja-JP" sz="2000" dirty="0" smtClean="0"/>
          </a:p>
          <a:p>
            <a:pPr marL="0" indent="0">
              <a:lnSpc>
                <a:spcPct val="100000"/>
              </a:lnSpc>
              <a:buNone/>
            </a:pPr>
            <a:r>
              <a:rPr lang="en-US" altLang="ja-JP" sz="2000" dirty="0" smtClean="0"/>
              <a:t>c)</a:t>
            </a:r>
            <a:r>
              <a:rPr lang="ja-JP" altLang="en-US" sz="2000" dirty="0" smtClean="0"/>
              <a:t>変更の管理、例えば、版の管理</a:t>
            </a:r>
            <a:endParaRPr lang="en-US" altLang="ja-JP" sz="2000" dirty="0" smtClean="0"/>
          </a:p>
          <a:p>
            <a:pPr marL="0" indent="0">
              <a:lnSpc>
                <a:spcPct val="100000"/>
              </a:lnSpc>
              <a:buNone/>
            </a:pPr>
            <a:r>
              <a:rPr lang="en-US" altLang="ja-JP" sz="2000" dirty="0" smtClean="0"/>
              <a:t>d)</a:t>
            </a:r>
            <a:r>
              <a:rPr lang="ja-JP" altLang="en-US" sz="2000" dirty="0" smtClean="0"/>
              <a:t>保持・廃棄</a:t>
            </a:r>
            <a:endParaRPr lang="en-US" altLang="ja-JP" sz="2000" dirty="0" smtClean="0"/>
          </a:p>
          <a:p>
            <a:pPr marL="0" indent="0">
              <a:lnSpc>
                <a:spcPct val="100000"/>
              </a:lnSpc>
              <a:buNone/>
            </a:pPr>
            <a:r>
              <a:rPr lang="ja-JP" altLang="en-US" sz="2000" dirty="0" smtClean="0"/>
              <a:t>③注記　アクセスとは、文書化した情報の閲覧許可の決定、または文書化した情報の閲覧・変更許可・権限の決定を意味しうる。</a:t>
            </a:r>
            <a:endParaRPr lang="en-US" altLang="ja-JP" sz="2000" dirty="0" smtClean="0"/>
          </a:p>
          <a:p>
            <a:pPr marL="0" indent="0">
              <a:lnSpc>
                <a:spcPct val="100000"/>
              </a:lnSpc>
              <a:buNone/>
            </a:pPr>
            <a:r>
              <a:rPr lang="ja-JP" altLang="en-US" sz="2000" dirty="0" smtClean="0"/>
              <a:t>④品質マネジメントシステムの計画と運用のために組織が必要と決定した、外部からの文書化した情報は、特定し、管理する。</a:t>
            </a:r>
            <a:endParaRPr lang="en-US" altLang="ja-JP" sz="2000" dirty="0" smtClean="0"/>
          </a:p>
          <a:p>
            <a:pPr marL="0" indent="0">
              <a:lnSpc>
                <a:spcPct val="100000"/>
              </a:lnSpc>
              <a:buNone/>
            </a:pPr>
            <a:r>
              <a:rPr lang="en-US" altLang="ja-JP" sz="2000" dirty="0" smtClean="0"/>
              <a:t>--------------------------------------------------------------------------------------------------------</a:t>
            </a:r>
          </a:p>
          <a:p>
            <a:pPr marL="0" indent="0">
              <a:lnSpc>
                <a:spcPct val="100000"/>
              </a:lnSpc>
              <a:buNone/>
            </a:pPr>
            <a:r>
              <a:rPr lang="en-US" altLang="ja-JP" sz="2000" dirty="0" smtClean="0"/>
              <a:t>7.5.3.2</a:t>
            </a:r>
          </a:p>
          <a:p>
            <a:pPr marL="0" indent="0">
              <a:lnSpc>
                <a:spcPct val="100000"/>
              </a:lnSpc>
              <a:buNone/>
            </a:pPr>
            <a:r>
              <a:rPr lang="ja-JP" altLang="en-US" sz="2000" dirty="0" smtClean="0"/>
              <a:t>⑤適合の証拠として保持する文書化した情報は、意図しない改変からの保護する。</a:t>
            </a: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7.5.3</a:t>
            </a:r>
            <a:r>
              <a:rPr kumimoji="1" lang="ja-JP" altLang="en-US" sz="3000" b="1" dirty="0" smtClean="0">
                <a:solidFill>
                  <a:schemeClr val="tx2"/>
                </a:solidFill>
              </a:rPr>
              <a:t>　文書化した情報の管理　（岩波氏）</a:t>
            </a:r>
            <a:endParaRPr kumimoji="1" lang="ja-JP" altLang="en-US" sz="3000" b="1" dirty="0">
              <a:solidFill>
                <a:schemeClr val="tx2"/>
              </a:solidFill>
            </a:endParaRPr>
          </a:p>
        </p:txBody>
      </p:sp>
    </p:spTree>
    <p:extLst>
      <p:ext uri="{BB962C8B-B14F-4D97-AF65-F5344CB8AC3E}">
        <p14:creationId xmlns:p14="http://schemas.microsoft.com/office/powerpoint/2010/main" val="3255870232"/>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記録保管方針を定め、</a:t>
            </a:r>
            <a:r>
              <a:rPr lang="ja-JP" altLang="en-US" sz="2000" b="1" u="sng" dirty="0"/>
              <a:t>文書化</a:t>
            </a:r>
            <a:r>
              <a:rPr lang="ja-JP" altLang="en-US" sz="2000" u="sng" dirty="0"/>
              <a:t>し、実施しなければならない。</a:t>
            </a:r>
            <a:endParaRPr lang="en-US" altLang="ja-JP" sz="2000" u="sng" dirty="0"/>
          </a:p>
          <a:p>
            <a:pPr marL="0" indent="0">
              <a:lnSpc>
                <a:spcPct val="100000"/>
              </a:lnSpc>
              <a:buNone/>
            </a:pPr>
            <a:r>
              <a:rPr lang="ja-JP" altLang="en-US" sz="2000" dirty="0"/>
              <a:t>☑記録の管理は、</a:t>
            </a:r>
            <a:r>
              <a:rPr lang="ja-JP" altLang="en-US" sz="2000" u="sng" dirty="0"/>
              <a:t>法令、規制、組織及び顧客要求事項を満たさなければならない。</a:t>
            </a:r>
            <a:endParaRPr lang="en-US" altLang="ja-JP" sz="2000" u="sng" dirty="0"/>
          </a:p>
          <a:p>
            <a:pPr marL="0" indent="0">
              <a:lnSpc>
                <a:spcPct val="100000"/>
              </a:lnSpc>
              <a:buNone/>
            </a:pPr>
            <a:r>
              <a:rPr lang="ja-JP" altLang="en-US" sz="2000" dirty="0"/>
              <a:t>☑生産部品承認、治工具の記録（保全及び保有者を含む）、製品設計及び工程設計の記録、購買注文書（該当する場合には、必ず）、契約書及びその修正事項は、</a:t>
            </a:r>
            <a:r>
              <a:rPr lang="ja-JP" altLang="en-US" sz="2000" u="sng" dirty="0"/>
              <a:t>製品が生産及びサービス要求事項に対して有効である期間に加えて</a:t>
            </a:r>
            <a:r>
              <a:rPr lang="en-US" altLang="ja-JP" sz="2000" u="sng" dirty="0"/>
              <a:t>1</a:t>
            </a:r>
            <a:r>
              <a:rPr lang="ja-JP" altLang="en-US" sz="2000" u="sng" dirty="0"/>
              <a:t>暦年、保持しなければならない。</a:t>
            </a:r>
            <a:r>
              <a:rPr lang="ja-JP" altLang="en-US" sz="2000" dirty="0"/>
              <a:t>ただし、顧客又は規制当局によって規定されたときは、この限りでない。</a:t>
            </a:r>
          </a:p>
          <a:p>
            <a:pPr marL="0" indent="0">
              <a:lnSpc>
                <a:spcPct val="100000"/>
              </a:lnSpc>
              <a:buNone/>
            </a:pPr>
            <a:r>
              <a:rPr lang="ja-JP" altLang="en-US" sz="2000" dirty="0"/>
              <a:t>注記　生産部品承認の文書化した情報には、承認された製品、該当する設備の記録、又は承認された試験データを含めてもよい。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7.5.3.2.1</a:t>
            </a:r>
            <a:r>
              <a:rPr kumimoji="1" lang="ja-JP" altLang="en-US" sz="3000" b="1" dirty="0">
                <a:solidFill>
                  <a:schemeClr val="tx2"/>
                </a:solidFill>
              </a:rPr>
              <a:t>　記録の保管</a:t>
            </a:r>
          </a:p>
        </p:txBody>
      </p:sp>
    </p:spTree>
    <p:extLst>
      <p:ext uri="{BB962C8B-B14F-4D97-AF65-F5344CB8AC3E}">
        <p14:creationId xmlns:p14="http://schemas.microsoft.com/office/powerpoint/2010/main" val="27781039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保管における要点。</a:t>
            </a:r>
            <a:endParaRPr lang="en-US" altLang="ja-JP" sz="2400" dirty="0"/>
          </a:p>
          <a:p>
            <a:pPr marL="914400" lvl="1" indent="-457200">
              <a:buFont typeface="+mj-ea"/>
              <a:buAutoNum type="circleNumDbPlain"/>
            </a:pPr>
            <a:r>
              <a:rPr lang="ja-JP" altLang="en-US" dirty="0"/>
              <a:t>規制要求及び顧客要求を満足すること。</a:t>
            </a:r>
            <a:endParaRPr lang="en-US" altLang="ja-JP" dirty="0"/>
          </a:p>
          <a:p>
            <a:pPr lvl="2">
              <a:buFont typeface="Wingdings" panose="05000000000000000000" pitchFamily="2" charset="2"/>
              <a:buChar char="Ø"/>
            </a:pPr>
            <a:r>
              <a:rPr lang="ja-JP" altLang="en-US" sz="2400" dirty="0"/>
              <a:t>ＰＬ法、リコールの際のトレーサビリティ及び顧客指定</a:t>
            </a:r>
            <a:endParaRPr lang="en-US" altLang="ja-JP" sz="2400" dirty="0"/>
          </a:p>
          <a:p>
            <a:pPr marL="971550" lvl="1" indent="-514350">
              <a:buFont typeface="+mj-ea"/>
              <a:buAutoNum type="circleNumDbPlain"/>
            </a:pPr>
            <a:r>
              <a:rPr lang="ja-JP" altLang="en-US" dirty="0"/>
              <a:t>保管が最終目的ではなく、リコールなどの際に</a:t>
            </a:r>
            <a:r>
              <a:rPr lang="ja-JP" altLang="en-US" dirty="0">
                <a:solidFill>
                  <a:srgbClr val="FF0000"/>
                </a:solidFill>
                <a:effectLst>
                  <a:outerShdw blurRad="38100" dist="38100" dir="2700000" algn="tl">
                    <a:srgbClr val="000000">
                      <a:alpha val="43137"/>
                    </a:srgbClr>
                  </a:outerShdw>
                </a:effectLst>
              </a:rPr>
              <a:t>トレーサビリティがとれる状態であること</a:t>
            </a:r>
            <a:r>
              <a:rPr lang="ja-JP" altLang="en-US" dirty="0"/>
              <a:t>が最終目的。</a:t>
            </a:r>
            <a:endParaRPr lang="en-US" altLang="ja-JP" dirty="0"/>
          </a:p>
          <a:p>
            <a:pPr marL="514350" indent="-514350">
              <a:buFont typeface="+mj-lt"/>
              <a:buAutoNum type="arabicPeriod"/>
            </a:pPr>
            <a:r>
              <a:rPr lang="ja-JP" altLang="en-US" sz="2400" dirty="0"/>
              <a:t>フォード及びＧＭの顧客固有要求事項が追加された。</a:t>
            </a:r>
            <a:endParaRPr lang="en-US" altLang="ja-JP" sz="2400" dirty="0"/>
          </a:p>
          <a:p>
            <a:pPr lvl="1">
              <a:buFont typeface="Wingdings" panose="05000000000000000000" pitchFamily="2" charset="2"/>
              <a:buChar char="Ø"/>
            </a:pPr>
            <a:r>
              <a:rPr lang="ja-JP" altLang="en-US" dirty="0"/>
              <a:t>生産部品承認、治工具の記録、製品設計及び工程設計記録・・・</a:t>
            </a:r>
            <a:r>
              <a:rPr lang="ja-JP" altLang="en-US" dirty="0">
                <a:solidFill>
                  <a:srgbClr val="FF0000"/>
                </a:solidFill>
                <a:effectLst>
                  <a:outerShdw blurRad="38100" dist="38100" dir="2700000" algn="tl">
                    <a:srgbClr val="000000">
                      <a:alpha val="43137"/>
                    </a:srgbClr>
                  </a:outerShdw>
                </a:effectLst>
              </a:rPr>
              <a:t>要求事項に加えて１暦年。</a:t>
            </a:r>
            <a:endParaRPr lang="en-US" altLang="ja-JP" dirty="0">
              <a:solidFill>
                <a:srgbClr val="FF0000"/>
              </a:solidFill>
              <a:effectLst>
                <a:outerShdw blurRad="38100" dist="38100" dir="2700000" algn="tl">
                  <a:srgbClr val="000000">
                    <a:alpha val="43137"/>
                  </a:srgbClr>
                </a:outerShdw>
              </a:effectLst>
            </a:endParaRPr>
          </a:p>
          <a:p>
            <a:pPr marL="514350" indent="-514350">
              <a:buFont typeface="+mj-lt"/>
              <a:buAutoNum type="arabicPeriod"/>
            </a:pPr>
            <a:r>
              <a:rPr lang="ja-JP" altLang="en-US" sz="2400" dirty="0"/>
              <a:t>「１暦年」とは。</a:t>
            </a:r>
            <a:endParaRPr lang="en-US" altLang="ja-JP" sz="2400" dirty="0"/>
          </a:p>
          <a:p>
            <a:pPr lvl="1">
              <a:buFont typeface="Wingdings" panose="05000000000000000000" pitchFamily="2" charset="2"/>
              <a:buChar char="Ø"/>
            </a:pPr>
            <a:r>
              <a:rPr lang="ja-JP" altLang="en-US" dirty="0"/>
              <a:t>要求事項の期限　</a:t>
            </a:r>
            <a:r>
              <a:rPr lang="en-US" altLang="ja-JP" dirty="0"/>
              <a:t>+</a:t>
            </a:r>
            <a:r>
              <a:rPr lang="ja-JP" altLang="en-US" dirty="0"/>
              <a:t>　次の年の</a:t>
            </a:r>
            <a:r>
              <a:rPr lang="en-US" altLang="ja-JP" dirty="0"/>
              <a:t>12</a:t>
            </a:r>
            <a:r>
              <a:rPr lang="ja-JP" altLang="en-US" dirty="0"/>
              <a:t>月</a:t>
            </a:r>
            <a:r>
              <a:rPr lang="en-US" altLang="ja-JP" dirty="0"/>
              <a:t>31</a:t>
            </a:r>
            <a:r>
              <a:rPr lang="ja-JP" altLang="en-US" dirty="0"/>
              <a:t>日。</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7.5.3.2.1</a:t>
            </a:r>
            <a:r>
              <a:rPr lang="ja-JP" altLang="en-US" sz="3000" b="1" dirty="0">
                <a:solidFill>
                  <a:schemeClr val="bg1"/>
                </a:solidFill>
              </a:rPr>
              <a:t>　記録の保管</a:t>
            </a:r>
            <a:endParaRPr kumimoji="1" lang="ja-JP" altLang="en-US" sz="3000" b="1" dirty="0">
              <a:solidFill>
                <a:schemeClr val="bg1"/>
              </a:solidFill>
            </a:endParaRPr>
          </a:p>
        </p:txBody>
      </p:sp>
    </p:spTree>
    <p:extLst>
      <p:ext uri="{BB962C8B-B14F-4D97-AF65-F5344CB8AC3E}">
        <p14:creationId xmlns:p14="http://schemas.microsoft.com/office/powerpoint/2010/main" val="1492691538"/>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☑組織は、顧客の全ての技術規格／仕様書及び関係する改訂に対して、要求される顧客スケジュールに基づいて、</a:t>
            </a:r>
            <a:r>
              <a:rPr lang="ja-JP" altLang="en-US" sz="2000" u="sng" dirty="0"/>
              <a:t>レビュー、配付及び実施を記述した</a:t>
            </a:r>
            <a:r>
              <a:rPr lang="ja-JP" altLang="en-US" sz="2000" b="1" u="sng" dirty="0"/>
              <a:t>文書化したプロセス</a:t>
            </a:r>
            <a:r>
              <a:rPr lang="ja-JP" altLang="en-US" sz="2000" u="sng" dirty="0"/>
              <a:t>をもたなければならない。</a:t>
            </a:r>
            <a:endParaRPr lang="en-US" altLang="ja-JP" sz="2000" u="sng" dirty="0"/>
          </a:p>
          <a:p>
            <a:pPr marL="0" indent="0">
              <a:lnSpc>
                <a:spcPct val="100000"/>
              </a:lnSpc>
              <a:buNone/>
            </a:pPr>
            <a:r>
              <a:rPr lang="ja-JP" altLang="en-US" sz="2000" dirty="0"/>
              <a:t>技術規格／仕様書の変更が、製品設計変更になる場合は、</a:t>
            </a:r>
            <a:r>
              <a:rPr lang="en-US" altLang="ja-JP" sz="2000" dirty="0"/>
              <a:t>ISO9001</a:t>
            </a:r>
            <a:r>
              <a:rPr lang="ja-JP" altLang="en-US" sz="2000" dirty="0"/>
              <a:t>の</a:t>
            </a:r>
            <a:r>
              <a:rPr lang="en-US" altLang="ja-JP" sz="2000" u="sng" dirty="0"/>
              <a:t>8.3.6</a:t>
            </a:r>
            <a:r>
              <a:rPr lang="ja-JP" altLang="en-US" sz="2000" u="sng" dirty="0"/>
              <a:t>の要求事項を参照する。</a:t>
            </a:r>
            <a:r>
              <a:rPr lang="ja-JP" altLang="en-US" sz="2000" dirty="0"/>
              <a:t>技術規格／仕様書の変更が、製品実現プロセスの変更になる場合は、</a:t>
            </a:r>
            <a:r>
              <a:rPr lang="en-US" altLang="ja-JP" sz="2000" u="sng" dirty="0"/>
              <a:t>8.5.6.1</a:t>
            </a:r>
            <a:r>
              <a:rPr lang="ja-JP" altLang="en-US" sz="2000" u="sng" dirty="0"/>
              <a:t>の要求事項を参照する。</a:t>
            </a:r>
            <a:endParaRPr lang="en-US" altLang="ja-JP" sz="2000" u="sng" dirty="0"/>
          </a:p>
          <a:p>
            <a:pPr marL="0" indent="0">
              <a:lnSpc>
                <a:spcPct val="100000"/>
              </a:lnSpc>
              <a:buNone/>
            </a:pPr>
            <a:r>
              <a:rPr lang="ja-JP" altLang="en-US" sz="2000" dirty="0"/>
              <a:t>☑組織は、</a:t>
            </a:r>
            <a:r>
              <a:rPr lang="ja-JP" altLang="en-US" sz="2000" u="sng" dirty="0"/>
              <a:t>生産において実施された各変更の日付の</a:t>
            </a:r>
            <a:r>
              <a:rPr lang="ja-JP" altLang="en-US" sz="2000" b="1" u="sng" dirty="0"/>
              <a:t>記録を保持</a:t>
            </a:r>
            <a:r>
              <a:rPr lang="ja-JP" altLang="en-US" sz="2000" u="sng" dirty="0"/>
              <a:t>しなければならない。</a:t>
            </a:r>
            <a:endParaRPr lang="en-US" altLang="ja-JP" sz="2000" u="sng" dirty="0"/>
          </a:p>
          <a:p>
            <a:pPr marL="0" indent="0">
              <a:lnSpc>
                <a:spcPct val="100000"/>
              </a:lnSpc>
              <a:buNone/>
            </a:pPr>
            <a:r>
              <a:rPr lang="ja-JP" altLang="en-US" sz="2000" dirty="0"/>
              <a:t>☑実施には、更新された文書を含めなければならない。レビューは、技術規格／仕様書の変更を</a:t>
            </a:r>
            <a:r>
              <a:rPr lang="ja-JP" altLang="en-US" sz="2000" u="sng" dirty="0"/>
              <a:t>受領してから、</a:t>
            </a:r>
            <a:r>
              <a:rPr lang="en-US" altLang="ja-JP" sz="2000" u="sng" dirty="0"/>
              <a:t>10</a:t>
            </a:r>
            <a:r>
              <a:rPr lang="ja-JP" altLang="en-US" sz="2000" u="sng" dirty="0"/>
              <a:t>稼働日内に完了する</a:t>
            </a:r>
            <a:r>
              <a:rPr lang="ja-JP" altLang="en-US" sz="2000" dirty="0"/>
              <a:t>ことが望ましい。</a:t>
            </a:r>
            <a:endParaRPr lang="en-US" altLang="ja-JP" sz="2000" dirty="0"/>
          </a:p>
          <a:p>
            <a:pPr marL="0" indent="0">
              <a:lnSpc>
                <a:spcPct val="100000"/>
              </a:lnSpc>
              <a:buNone/>
            </a:pPr>
            <a:r>
              <a:rPr lang="ja-JP" altLang="en-US" sz="2000" dirty="0"/>
              <a:t>注記　技術規格／仕様書の変更は、仕様書が設計記録に引用されている、又は、コントロールプラン、リスク分析（</a:t>
            </a:r>
            <a:r>
              <a:rPr lang="en-US" altLang="ja-JP" sz="2000" dirty="0"/>
              <a:t>FMEA</a:t>
            </a:r>
            <a:r>
              <a:rPr lang="ja-JP" altLang="en-US" sz="2000" dirty="0"/>
              <a:t>のような）、などのような生産部品承認プロセス文書に影響する場合、顧客の生産部品承認の更新された記録が要求される場合がある。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7.5.3.2.2</a:t>
            </a:r>
            <a:r>
              <a:rPr lang="ja-JP" altLang="en-US" sz="3000" b="1" dirty="0">
                <a:solidFill>
                  <a:schemeClr val="tx2"/>
                </a:solidFill>
              </a:rPr>
              <a:t>　技術仕様書</a:t>
            </a:r>
            <a:endParaRPr kumimoji="1" lang="ja-JP" altLang="en-US" sz="3000" b="1" dirty="0">
              <a:solidFill>
                <a:schemeClr val="tx2"/>
              </a:solidFill>
            </a:endParaRPr>
          </a:p>
        </p:txBody>
      </p:sp>
    </p:spTree>
    <p:extLst>
      <p:ext uri="{BB962C8B-B14F-4D97-AF65-F5344CB8AC3E}">
        <p14:creationId xmlns:p14="http://schemas.microsoft.com/office/powerpoint/2010/main" val="3359664060"/>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179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要点。</a:t>
            </a:r>
            <a:endParaRPr lang="en-US" altLang="ja-JP" sz="2400" dirty="0"/>
          </a:p>
          <a:p>
            <a:pPr marL="914400" lvl="1" indent="-457200">
              <a:buFont typeface="+mj-ea"/>
              <a:buAutoNum type="circleNumDbPlain"/>
            </a:pPr>
            <a:r>
              <a:rPr lang="ja-JP" altLang="en-US" dirty="0"/>
              <a:t>技術仕様書（仕様書／規格書／図面など）の受理➠配布の確認。</a:t>
            </a:r>
            <a:endParaRPr lang="en-US" altLang="ja-JP" dirty="0"/>
          </a:p>
          <a:p>
            <a:pPr marL="914400" lvl="1" indent="-457200">
              <a:buFont typeface="+mj-ea"/>
              <a:buAutoNum type="circleNumDbPlain"/>
            </a:pPr>
            <a:r>
              <a:rPr lang="ja-JP" altLang="en-US" dirty="0"/>
              <a:t>変更情報の受理➠周知の確認。</a:t>
            </a:r>
            <a:endParaRPr lang="en-US" altLang="ja-JP" dirty="0"/>
          </a:p>
          <a:p>
            <a:pPr marL="914400" lvl="1" indent="-457200">
              <a:buFont typeface="+mj-ea"/>
              <a:buAutoNum type="circleNumDbPlain"/>
            </a:pPr>
            <a:r>
              <a:rPr lang="ja-JP" altLang="en-US" dirty="0"/>
              <a:t>運用開始時期の記録。（日付／ロットなど）</a:t>
            </a:r>
            <a:endParaRPr lang="en-US" altLang="ja-JP" dirty="0"/>
          </a:p>
          <a:p>
            <a:pPr marL="457200" indent="-457200">
              <a:buFont typeface="+mj-ea"/>
              <a:buAutoNum type="arabicPeriod"/>
            </a:pPr>
            <a:r>
              <a:rPr lang="ja-JP" altLang="en-US" sz="2400" dirty="0"/>
              <a:t>処理は</a:t>
            </a:r>
            <a:r>
              <a:rPr lang="ja-JP" altLang="en-US" sz="2400" u="sng" dirty="0"/>
              <a:t>速やか</a:t>
            </a:r>
            <a:r>
              <a:rPr lang="ja-JP" altLang="en-US" sz="2000" u="sng" dirty="0"/>
              <a:t>（</a:t>
            </a:r>
            <a:r>
              <a:rPr lang="en-US" altLang="ja-JP" sz="2000" u="sng" dirty="0"/>
              <a:t>10</a:t>
            </a:r>
            <a:r>
              <a:rPr lang="ja-JP" altLang="en-US" sz="2000" u="sng" dirty="0"/>
              <a:t>稼働日内）</a:t>
            </a:r>
            <a:r>
              <a:rPr lang="ja-JP" altLang="en-US" sz="2400" dirty="0"/>
              <a:t>に行う。（</a:t>
            </a:r>
            <a:r>
              <a:rPr lang="en-US" altLang="ja-JP" sz="2400" dirty="0"/>
              <a:t>APQP</a:t>
            </a:r>
            <a:r>
              <a:rPr lang="ja-JP" altLang="en-US" sz="2400" dirty="0"/>
              <a:t>顧客スケジュールなど）</a:t>
            </a:r>
            <a:endParaRPr lang="en-US" altLang="ja-JP" sz="2400" dirty="0"/>
          </a:p>
          <a:p>
            <a:pPr marL="457200" indent="-457200">
              <a:buFont typeface="+mj-ea"/>
              <a:buAutoNum type="arabicPeriod"/>
            </a:pPr>
            <a:r>
              <a:rPr lang="ja-JP" altLang="en-US" sz="2400" dirty="0"/>
              <a:t>外部文書管理台帳などによる文書化された管理が必要。</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kumimoji="1" lang="en-US" altLang="ja-JP" sz="3000" b="1" dirty="0">
                <a:solidFill>
                  <a:schemeClr val="bg1"/>
                </a:solidFill>
              </a:rPr>
              <a:t>7.5.3.2.2</a:t>
            </a:r>
            <a:r>
              <a:rPr kumimoji="1" lang="ja-JP" altLang="en-US" sz="3000" b="1" dirty="0">
                <a:solidFill>
                  <a:schemeClr val="bg1"/>
                </a:solidFill>
              </a:rPr>
              <a:t>　技術仕様書</a:t>
            </a:r>
          </a:p>
        </p:txBody>
      </p:sp>
      <p:graphicFrame>
        <p:nvGraphicFramePr>
          <p:cNvPr id="2" name="表 1">
            <a:extLst>
              <a:ext uri="{FF2B5EF4-FFF2-40B4-BE49-F238E27FC236}">
                <a16:creationId xmlns:a16="http://schemas.microsoft.com/office/drawing/2014/main" id="{F268FC15-1E22-46BF-B28B-BDFB186B5D62}"/>
              </a:ext>
            </a:extLst>
          </p:cNvPr>
          <p:cNvGraphicFramePr>
            <a:graphicFrameLocks noGrp="1"/>
          </p:cNvGraphicFramePr>
          <p:nvPr>
            <p:extLst>
              <p:ext uri="{D42A27DB-BD31-4B8C-83A1-F6EECF244321}">
                <p14:modId xmlns:p14="http://schemas.microsoft.com/office/powerpoint/2010/main" val="1078954186"/>
              </p:ext>
            </p:extLst>
          </p:nvPr>
        </p:nvGraphicFramePr>
        <p:xfrm>
          <a:off x="838199" y="4145280"/>
          <a:ext cx="10515603" cy="1188720"/>
        </p:xfrm>
        <a:graphic>
          <a:graphicData uri="http://schemas.openxmlformats.org/drawingml/2006/table">
            <a:tbl>
              <a:tblPr firstRow="1" bandRow="1">
                <a:tableStyleId>{5940675A-B579-460E-94D1-54222C63F5DA}</a:tableStyleId>
              </a:tblPr>
              <a:tblGrid>
                <a:gridCol w="1288056">
                  <a:extLst>
                    <a:ext uri="{9D8B030D-6E8A-4147-A177-3AD203B41FA5}">
                      <a16:colId xmlns:a16="http://schemas.microsoft.com/office/drawing/2014/main" val="1384737150"/>
                    </a:ext>
                  </a:extLst>
                </a:gridCol>
                <a:gridCol w="1288974">
                  <a:extLst>
                    <a:ext uri="{9D8B030D-6E8A-4147-A177-3AD203B41FA5}">
                      <a16:colId xmlns:a16="http://schemas.microsoft.com/office/drawing/2014/main" val="3431576759"/>
                    </a:ext>
                  </a:extLst>
                </a:gridCol>
                <a:gridCol w="3139807">
                  <a:extLst>
                    <a:ext uri="{9D8B030D-6E8A-4147-A177-3AD203B41FA5}">
                      <a16:colId xmlns:a16="http://schemas.microsoft.com/office/drawing/2014/main" val="1120404911"/>
                    </a:ext>
                  </a:extLst>
                </a:gridCol>
                <a:gridCol w="1112704">
                  <a:extLst>
                    <a:ext uri="{9D8B030D-6E8A-4147-A177-3AD203B41FA5}">
                      <a16:colId xmlns:a16="http://schemas.microsoft.com/office/drawing/2014/main" val="3238520186"/>
                    </a:ext>
                  </a:extLst>
                </a:gridCol>
                <a:gridCol w="1145754">
                  <a:extLst>
                    <a:ext uri="{9D8B030D-6E8A-4147-A177-3AD203B41FA5}">
                      <a16:colId xmlns:a16="http://schemas.microsoft.com/office/drawing/2014/main" val="3834325325"/>
                    </a:ext>
                  </a:extLst>
                </a:gridCol>
                <a:gridCol w="1299990">
                  <a:extLst>
                    <a:ext uri="{9D8B030D-6E8A-4147-A177-3AD203B41FA5}">
                      <a16:colId xmlns:a16="http://schemas.microsoft.com/office/drawing/2014/main" val="2042422857"/>
                    </a:ext>
                  </a:extLst>
                </a:gridCol>
                <a:gridCol w="1240318">
                  <a:extLst>
                    <a:ext uri="{9D8B030D-6E8A-4147-A177-3AD203B41FA5}">
                      <a16:colId xmlns:a16="http://schemas.microsoft.com/office/drawing/2014/main" val="1891619474"/>
                    </a:ext>
                  </a:extLst>
                </a:gridCol>
              </a:tblGrid>
              <a:tr h="370840">
                <a:tc>
                  <a:txBody>
                    <a:bodyPr/>
                    <a:lstStyle/>
                    <a:p>
                      <a:pPr algn="ctr"/>
                      <a:r>
                        <a:rPr kumimoji="1" lang="ja-JP" altLang="en-US" sz="2000" dirty="0"/>
                        <a:t>顧客</a:t>
                      </a:r>
                    </a:p>
                  </a:txBody>
                  <a:tcPr>
                    <a:solidFill>
                      <a:schemeClr val="tx2">
                        <a:lumMod val="40000"/>
                        <a:lumOff val="60000"/>
                      </a:schemeClr>
                    </a:solidFill>
                  </a:tcPr>
                </a:tc>
                <a:tc>
                  <a:txBody>
                    <a:bodyPr/>
                    <a:lstStyle/>
                    <a:p>
                      <a:pPr algn="ctr"/>
                      <a:r>
                        <a:rPr kumimoji="1" lang="ja-JP" altLang="en-US" sz="2000" dirty="0"/>
                        <a:t>品番</a:t>
                      </a:r>
                    </a:p>
                  </a:txBody>
                  <a:tcPr>
                    <a:solidFill>
                      <a:schemeClr val="tx2">
                        <a:lumMod val="40000"/>
                        <a:lumOff val="60000"/>
                      </a:schemeClr>
                    </a:solidFill>
                  </a:tcPr>
                </a:tc>
                <a:tc>
                  <a:txBody>
                    <a:bodyPr/>
                    <a:lstStyle/>
                    <a:p>
                      <a:pPr algn="ctr"/>
                      <a:r>
                        <a:rPr kumimoji="1" lang="ja-JP" altLang="en-US" sz="2000" dirty="0"/>
                        <a:t>技術文書</a:t>
                      </a:r>
                    </a:p>
                  </a:txBody>
                  <a:tcPr>
                    <a:solidFill>
                      <a:schemeClr val="tx2">
                        <a:lumMod val="40000"/>
                        <a:lumOff val="60000"/>
                      </a:schemeClr>
                    </a:solidFill>
                  </a:tcPr>
                </a:tc>
                <a:tc>
                  <a:txBody>
                    <a:bodyPr/>
                    <a:lstStyle/>
                    <a:p>
                      <a:pPr algn="ctr"/>
                      <a:r>
                        <a:rPr kumimoji="1" lang="ja-JP" altLang="en-US" sz="2000" dirty="0"/>
                        <a:t>受理日</a:t>
                      </a:r>
                    </a:p>
                  </a:txBody>
                  <a:tcPr>
                    <a:solidFill>
                      <a:schemeClr val="tx2">
                        <a:lumMod val="40000"/>
                        <a:lumOff val="60000"/>
                      </a:schemeClr>
                    </a:solidFill>
                  </a:tcPr>
                </a:tc>
                <a:tc>
                  <a:txBody>
                    <a:bodyPr/>
                    <a:lstStyle/>
                    <a:p>
                      <a:pPr algn="ctr"/>
                      <a:r>
                        <a:rPr kumimoji="1" lang="ja-JP" altLang="en-US" sz="2000" dirty="0"/>
                        <a:t>改定</a:t>
                      </a:r>
                    </a:p>
                  </a:txBody>
                  <a:tcPr>
                    <a:solidFill>
                      <a:schemeClr val="tx2">
                        <a:lumMod val="40000"/>
                        <a:lumOff val="60000"/>
                      </a:schemeClr>
                    </a:solidFill>
                  </a:tcPr>
                </a:tc>
                <a:tc>
                  <a:txBody>
                    <a:bodyPr/>
                    <a:lstStyle/>
                    <a:p>
                      <a:pPr algn="ctr"/>
                      <a:r>
                        <a:rPr kumimoji="1" lang="ja-JP" altLang="en-US" sz="2000" dirty="0"/>
                        <a:t>適用製番</a:t>
                      </a:r>
                    </a:p>
                  </a:txBody>
                  <a:tcPr>
                    <a:solidFill>
                      <a:schemeClr val="tx2">
                        <a:lumMod val="40000"/>
                        <a:lumOff val="60000"/>
                      </a:schemeClr>
                    </a:solidFill>
                  </a:tcPr>
                </a:tc>
                <a:tc>
                  <a:txBody>
                    <a:bodyPr/>
                    <a:lstStyle/>
                    <a:p>
                      <a:pPr algn="ctr"/>
                      <a:r>
                        <a:rPr kumimoji="1" lang="ja-JP" altLang="en-US" sz="2000"/>
                        <a:t>配布先</a:t>
                      </a: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435528969"/>
                  </a:ext>
                </a:extLst>
              </a:tr>
              <a:tr h="370840">
                <a:tc>
                  <a:txBody>
                    <a:bodyPr/>
                    <a:lstStyle/>
                    <a:p>
                      <a:r>
                        <a:rPr kumimoji="1" lang="ja-JP" altLang="en-US" sz="2000" dirty="0"/>
                        <a:t>＊＊＊＊</a:t>
                      </a:r>
                    </a:p>
                  </a:txBody>
                  <a:tcPr/>
                </a:tc>
                <a:tc>
                  <a:txBody>
                    <a:bodyPr/>
                    <a:lstStyle/>
                    <a:p>
                      <a:r>
                        <a:rPr kumimoji="1" lang="en-US" altLang="ja-JP" sz="2000" dirty="0"/>
                        <a:t>ABC-01</a:t>
                      </a:r>
                      <a:endParaRPr kumimoji="1" lang="ja-JP" altLang="en-US" sz="2000" dirty="0"/>
                    </a:p>
                  </a:txBody>
                  <a:tcPr/>
                </a:tc>
                <a:tc>
                  <a:txBody>
                    <a:bodyPr/>
                    <a:lstStyle/>
                    <a:p>
                      <a:r>
                        <a:rPr kumimoji="1" lang="ja-JP" altLang="en-US" sz="2000" dirty="0"/>
                        <a:t>素材図（</a:t>
                      </a:r>
                      <a:r>
                        <a:rPr kumimoji="1" lang="en-US" altLang="ja-JP" sz="2000" dirty="0"/>
                        <a:t>ABC-01-B1</a:t>
                      </a:r>
                      <a:r>
                        <a:rPr kumimoji="1" lang="ja-JP" altLang="en-US" sz="2000" dirty="0"/>
                        <a:t>）</a:t>
                      </a:r>
                    </a:p>
                  </a:txBody>
                  <a:tcPr/>
                </a:tc>
                <a:tc>
                  <a:txBody>
                    <a:bodyPr/>
                    <a:lstStyle/>
                    <a:p>
                      <a:r>
                        <a:rPr kumimoji="1" lang="en-US" altLang="ja-JP" sz="2000" dirty="0"/>
                        <a:t>190301</a:t>
                      </a:r>
                      <a:endParaRPr kumimoji="1" lang="ja-JP" altLang="en-US" sz="2000" dirty="0"/>
                    </a:p>
                  </a:txBody>
                  <a:tcPr/>
                </a:tc>
                <a:tc>
                  <a:txBody>
                    <a:bodyPr/>
                    <a:lstStyle/>
                    <a:p>
                      <a:r>
                        <a:rPr kumimoji="1" lang="en-US" altLang="ja-JP" sz="2000" dirty="0"/>
                        <a:t>190420</a:t>
                      </a:r>
                      <a:endParaRPr kumimoji="1" lang="ja-JP" altLang="en-US" sz="2000" dirty="0"/>
                    </a:p>
                  </a:txBody>
                  <a:tcPr/>
                </a:tc>
                <a:tc>
                  <a:txBody>
                    <a:bodyPr/>
                    <a:lstStyle/>
                    <a:p>
                      <a:r>
                        <a:rPr kumimoji="1" lang="ja-JP" altLang="en-US" sz="2000" dirty="0"/>
                        <a:t>＊＊＊＊</a:t>
                      </a:r>
                    </a:p>
                  </a:txBody>
                  <a:tcPr/>
                </a:tc>
                <a:tc>
                  <a:txBody>
                    <a:bodyPr/>
                    <a:lstStyle/>
                    <a:p>
                      <a:r>
                        <a:rPr kumimoji="1" lang="ja-JP" altLang="en-US" sz="2000"/>
                        <a:t>＊＊＊＊</a:t>
                      </a:r>
                    </a:p>
                  </a:txBody>
                  <a:tcPr/>
                </a:tc>
                <a:extLst>
                  <a:ext uri="{0D108BD9-81ED-4DB2-BD59-A6C34878D82A}">
                    <a16:rowId xmlns:a16="http://schemas.microsoft.com/office/drawing/2014/main" val="1238280070"/>
                  </a:ext>
                </a:extLst>
              </a:tr>
              <a:tr h="370840">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a:p>
                  </a:txBody>
                  <a:tcPr/>
                </a:tc>
                <a:tc>
                  <a:txBody>
                    <a:bodyPr/>
                    <a:lstStyle/>
                    <a:p>
                      <a:endParaRPr kumimoji="1" lang="ja-JP" altLang="en-US" sz="2000"/>
                    </a:p>
                  </a:txBody>
                  <a:tcPr/>
                </a:tc>
                <a:tc>
                  <a:txBody>
                    <a:bodyPr/>
                    <a:lstStyle/>
                    <a:p>
                      <a:endParaRPr kumimoji="1" lang="ja-JP" altLang="en-US" sz="2000" dirty="0"/>
                    </a:p>
                  </a:txBody>
                  <a:tcPr/>
                </a:tc>
                <a:tc>
                  <a:txBody>
                    <a:bodyPr/>
                    <a:lstStyle/>
                    <a:p>
                      <a:endParaRPr kumimoji="1" lang="ja-JP" altLang="en-US" sz="2000" dirty="0"/>
                    </a:p>
                  </a:txBody>
                  <a:tcPr/>
                </a:tc>
                <a:tc>
                  <a:txBody>
                    <a:bodyPr/>
                    <a:lstStyle/>
                    <a:p>
                      <a:endParaRPr kumimoji="1" lang="ja-JP" altLang="en-US" sz="2000" dirty="0"/>
                    </a:p>
                  </a:txBody>
                  <a:tcPr/>
                </a:tc>
                <a:extLst>
                  <a:ext uri="{0D108BD9-81ED-4DB2-BD59-A6C34878D82A}">
                    <a16:rowId xmlns:a16="http://schemas.microsoft.com/office/drawing/2014/main" val="1777908483"/>
                  </a:ext>
                </a:extLst>
              </a:tr>
            </a:tbl>
          </a:graphicData>
        </a:graphic>
      </p:graphicFrame>
      <p:sp>
        <p:nvSpPr>
          <p:cNvPr id="11" name="矢印: 上カーブ 10">
            <a:extLst>
              <a:ext uri="{FF2B5EF4-FFF2-40B4-BE49-F238E27FC236}">
                <a16:creationId xmlns:a16="http://schemas.microsoft.com/office/drawing/2014/main" id="{BAA8A66C-B456-4A02-8014-4F7BDA59D87D}"/>
              </a:ext>
            </a:extLst>
          </p:cNvPr>
          <p:cNvSpPr/>
          <p:nvPr/>
        </p:nvSpPr>
        <p:spPr>
          <a:xfrm rot="5400000">
            <a:off x="1119321" y="4559300"/>
            <a:ext cx="2499360" cy="41148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四角形: 角を丸くする 11">
            <a:extLst>
              <a:ext uri="{FF2B5EF4-FFF2-40B4-BE49-F238E27FC236}">
                <a16:creationId xmlns:a16="http://schemas.microsoft.com/office/drawing/2014/main" id="{0B16F8A7-0023-4B45-BD28-51D55B3E8C96}"/>
              </a:ext>
            </a:extLst>
          </p:cNvPr>
          <p:cNvSpPr/>
          <p:nvPr/>
        </p:nvSpPr>
        <p:spPr>
          <a:xfrm>
            <a:off x="2783840" y="5476240"/>
            <a:ext cx="8168640" cy="8801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200" u="sng" dirty="0">
                <a:solidFill>
                  <a:schemeClr val="tx1"/>
                </a:solidFill>
              </a:rPr>
              <a:t>量産移行後も該当するが、ここでの意図は　“ＡＰＱＰスケジュール（部品承認まで）”　を特に意識している。</a:t>
            </a:r>
          </a:p>
        </p:txBody>
      </p:sp>
    </p:spTree>
    <p:extLst>
      <p:ext uri="{BB962C8B-B14F-4D97-AF65-F5344CB8AC3E}">
        <p14:creationId xmlns:p14="http://schemas.microsoft.com/office/powerpoint/2010/main" val="3611914818"/>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180</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4400" b="1" u="sng" dirty="0">
                <a:solidFill>
                  <a:schemeClr val="tx2"/>
                </a:solidFill>
                <a:effectLst>
                  <a:outerShdw blurRad="38100" dist="38100" dir="2700000" algn="tl">
                    <a:srgbClr val="000000">
                      <a:alpha val="43137"/>
                    </a:srgbClr>
                  </a:outerShdw>
                </a:effectLst>
              </a:rPr>
              <a:t>８．運用</a:t>
            </a:r>
            <a:endParaRPr kumimoji="1" lang="en-US" altLang="ja-JP" sz="4400" b="1" u="sng" dirty="0">
              <a:solidFill>
                <a:schemeClr val="tx2"/>
              </a:solidFill>
              <a:effectLst>
                <a:outerShdw blurRad="38100" dist="38100" dir="2700000" algn="tl">
                  <a:srgbClr val="000000">
                    <a:alpha val="43137"/>
                  </a:srgbClr>
                </a:outerShdw>
              </a:effectLst>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160911962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181</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８．運用</a:t>
            </a: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11730"/>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8.1</a:t>
            </a:r>
            <a:r>
              <a:rPr lang="ja-JP" altLang="en-US" sz="2000" b="1" dirty="0">
                <a:solidFill>
                  <a:schemeClr val="tx1"/>
                </a:solidFill>
              </a:rPr>
              <a:t>　運用の計画及び管理</a:t>
            </a:r>
            <a:endParaRPr lang="en-US" altLang="ja-JP" sz="2000" b="1" dirty="0">
              <a:solidFill>
                <a:schemeClr val="tx1"/>
              </a:solidFill>
            </a:endParaRPr>
          </a:p>
        </p:txBody>
      </p:sp>
      <p:sp>
        <p:nvSpPr>
          <p:cNvPr id="17" name="フローチャート: 書類 16">
            <a:extLst>
              <a:ext uri="{FF2B5EF4-FFF2-40B4-BE49-F238E27FC236}">
                <a16:creationId xmlns:a16="http://schemas.microsoft.com/office/drawing/2014/main" id="{A9EF9072-1CAA-46FC-8657-E3FA21322EDA}"/>
              </a:ext>
            </a:extLst>
          </p:cNvPr>
          <p:cNvSpPr/>
          <p:nvPr/>
        </p:nvSpPr>
        <p:spPr>
          <a:xfrm>
            <a:off x="838201" y="3333140"/>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8.2</a:t>
            </a:r>
            <a:r>
              <a:rPr lang="ja-JP" altLang="en-US" sz="2000" b="1" dirty="0">
                <a:solidFill>
                  <a:schemeClr val="tx1"/>
                </a:solidFill>
              </a:rPr>
              <a:t>　製品及びサービスに関する要求事項</a:t>
            </a:r>
            <a:endParaRPr lang="en-US" altLang="ja-JP" sz="2000" b="1" dirty="0">
              <a:solidFill>
                <a:schemeClr val="tx1"/>
              </a:solidFill>
            </a:endParaRPr>
          </a:p>
        </p:txBody>
      </p:sp>
      <p:sp>
        <p:nvSpPr>
          <p:cNvPr id="18" name="フローチャート: 書類 17">
            <a:extLst>
              <a:ext uri="{FF2B5EF4-FFF2-40B4-BE49-F238E27FC236}">
                <a16:creationId xmlns:a16="http://schemas.microsoft.com/office/drawing/2014/main" id="{D1F35C35-FA92-4CD8-B5C6-62214E7E9C15}"/>
              </a:ext>
            </a:extLst>
          </p:cNvPr>
          <p:cNvSpPr/>
          <p:nvPr/>
        </p:nvSpPr>
        <p:spPr>
          <a:xfrm>
            <a:off x="838201" y="4855632"/>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a:t>
            </a:r>
            <a:r>
              <a:rPr lang="ja-JP" altLang="en-US" sz="2000" b="1" dirty="0">
                <a:solidFill>
                  <a:schemeClr val="tx1"/>
                </a:solidFill>
              </a:rPr>
              <a:t>　製品及びサービスの設計・開発</a:t>
            </a:r>
            <a:endParaRPr lang="en-US" altLang="ja-JP" sz="2000" b="1" dirty="0">
              <a:solidFill>
                <a:schemeClr val="tx1"/>
              </a:solidFill>
            </a:endParaRPr>
          </a:p>
        </p:txBody>
      </p:sp>
      <p:sp>
        <p:nvSpPr>
          <p:cNvPr id="19" name="フローチャート: 書類 18">
            <a:extLst>
              <a:ext uri="{FF2B5EF4-FFF2-40B4-BE49-F238E27FC236}">
                <a16:creationId xmlns:a16="http://schemas.microsoft.com/office/drawing/2014/main" id="{CA17FDBF-A009-4220-A828-DFFE6F8A0E5C}"/>
              </a:ext>
            </a:extLst>
          </p:cNvPr>
          <p:cNvSpPr/>
          <p:nvPr/>
        </p:nvSpPr>
        <p:spPr>
          <a:xfrm>
            <a:off x="4455293" y="1811730"/>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8.4</a:t>
            </a:r>
            <a:r>
              <a:rPr lang="ja-JP" altLang="en-US" sz="2000" b="1" dirty="0">
                <a:solidFill>
                  <a:schemeClr val="tx1"/>
                </a:solidFill>
              </a:rPr>
              <a:t>　外部から提供されるプロセス、製品及びサービスの管理</a:t>
            </a:r>
            <a:endParaRPr lang="en-US" altLang="ja-JP" sz="2000" b="1" dirty="0">
              <a:solidFill>
                <a:schemeClr val="tx1"/>
              </a:solidFill>
            </a:endParaRPr>
          </a:p>
        </p:txBody>
      </p:sp>
      <p:sp>
        <p:nvSpPr>
          <p:cNvPr id="20" name="フローチャート: 書類 19">
            <a:extLst>
              <a:ext uri="{FF2B5EF4-FFF2-40B4-BE49-F238E27FC236}">
                <a16:creationId xmlns:a16="http://schemas.microsoft.com/office/drawing/2014/main" id="{CFA01606-52D7-4AB2-90FE-1E6498DB8A62}"/>
              </a:ext>
            </a:extLst>
          </p:cNvPr>
          <p:cNvSpPr/>
          <p:nvPr/>
        </p:nvSpPr>
        <p:spPr>
          <a:xfrm>
            <a:off x="4455293" y="3333140"/>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a:t>
            </a:r>
            <a:r>
              <a:rPr lang="ja-JP" altLang="en-US" sz="2000" b="1" dirty="0">
                <a:solidFill>
                  <a:schemeClr val="tx1"/>
                </a:solidFill>
              </a:rPr>
              <a:t>　製造及びサービスの提供</a:t>
            </a:r>
            <a:endParaRPr lang="en-US" altLang="ja-JP" sz="2000" b="1" dirty="0">
              <a:solidFill>
                <a:schemeClr val="tx1"/>
              </a:solidFill>
            </a:endParaRPr>
          </a:p>
        </p:txBody>
      </p:sp>
      <p:sp>
        <p:nvSpPr>
          <p:cNvPr id="21" name="フローチャート: 書類 20">
            <a:extLst>
              <a:ext uri="{FF2B5EF4-FFF2-40B4-BE49-F238E27FC236}">
                <a16:creationId xmlns:a16="http://schemas.microsoft.com/office/drawing/2014/main" id="{10CA3635-D3AD-4B12-9F98-D9E2C2E698E2}"/>
              </a:ext>
            </a:extLst>
          </p:cNvPr>
          <p:cNvSpPr/>
          <p:nvPr/>
        </p:nvSpPr>
        <p:spPr>
          <a:xfrm>
            <a:off x="4455293" y="4855632"/>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8.6</a:t>
            </a:r>
            <a:r>
              <a:rPr lang="ja-JP" altLang="en-US" sz="2000" b="1" dirty="0">
                <a:solidFill>
                  <a:schemeClr val="tx1"/>
                </a:solidFill>
              </a:rPr>
              <a:t>　製品及びサービスのリリース</a:t>
            </a:r>
            <a:endParaRPr lang="en-US" altLang="ja-JP" sz="2000" b="1" dirty="0">
              <a:solidFill>
                <a:schemeClr val="tx1"/>
              </a:solidFill>
            </a:endParaRPr>
          </a:p>
        </p:txBody>
      </p:sp>
      <p:sp>
        <p:nvSpPr>
          <p:cNvPr id="22" name="フローチャート: 書類 21">
            <a:extLst>
              <a:ext uri="{FF2B5EF4-FFF2-40B4-BE49-F238E27FC236}">
                <a16:creationId xmlns:a16="http://schemas.microsoft.com/office/drawing/2014/main" id="{9F0759AE-3779-4592-A51D-90951DD14A4B}"/>
              </a:ext>
            </a:extLst>
          </p:cNvPr>
          <p:cNvSpPr/>
          <p:nvPr/>
        </p:nvSpPr>
        <p:spPr>
          <a:xfrm>
            <a:off x="8072386" y="1811730"/>
            <a:ext cx="3281413" cy="1372146"/>
          </a:xfrm>
          <a:prstGeom prst="flowChartDocumen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8.7</a:t>
            </a:r>
            <a:r>
              <a:rPr lang="ja-JP" altLang="en-US" sz="2000" b="1" dirty="0">
                <a:solidFill>
                  <a:schemeClr val="tx1"/>
                </a:solidFill>
              </a:rPr>
              <a:t>　不適合なアウトプットの管理</a:t>
            </a:r>
            <a:endParaRPr lang="en-US" altLang="ja-JP" sz="2000" b="1" dirty="0">
              <a:solidFill>
                <a:schemeClr val="tx1"/>
              </a:solidFill>
            </a:endParaRPr>
          </a:p>
        </p:txBody>
      </p:sp>
    </p:spTree>
    <p:extLst>
      <p:ext uri="{BB962C8B-B14F-4D97-AF65-F5344CB8AC3E}">
        <p14:creationId xmlns:p14="http://schemas.microsoft.com/office/powerpoint/2010/main" val="2530074422"/>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メモ 11">
            <a:extLst>
              <a:ext uri="{FF2B5EF4-FFF2-40B4-BE49-F238E27FC236}">
                <a16:creationId xmlns:a16="http://schemas.microsoft.com/office/drawing/2014/main" id="{98213EBB-542A-4018-894A-BC7E7EE0A2C6}"/>
              </a:ext>
            </a:extLst>
          </p:cNvPr>
          <p:cNvSpPr/>
          <p:nvPr/>
        </p:nvSpPr>
        <p:spPr>
          <a:xfrm>
            <a:off x="4455294" y="2568874"/>
            <a:ext cx="3281412" cy="1176861"/>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pPr>
              <a:lnSpc>
                <a:spcPts val="1600"/>
              </a:lnSpc>
            </a:pPr>
            <a:endParaRPr lang="en-US" altLang="ja-JP" sz="2000" dirty="0"/>
          </a:p>
          <a:p>
            <a:r>
              <a:rPr kumimoji="1" lang="en-US" altLang="ja-JP" dirty="0"/>
              <a:t>8.2.1.1</a:t>
            </a:r>
            <a:r>
              <a:rPr kumimoji="1" lang="ja-JP" altLang="en-US" dirty="0"/>
              <a:t>　顧客とのコミュニケーション－補足</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182</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5"/>
            <a:ext cx="10515600" cy="1116905"/>
          </a:xfrm>
          <a:solidFill>
            <a:schemeClr val="tx2"/>
          </a:solidFill>
        </p:spPr>
        <p:txBody>
          <a:bodyPr>
            <a:normAutofit/>
          </a:bodyPr>
          <a:lstStyle/>
          <a:p>
            <a:r>
              <a:rPr lang="en-US" altLang="ja-JP" sz="3600" dirty="0">
                <a:solidFill>
                  <a:schemeClr val="bg1"/>
                </a:solidFill>
              </a:rPr>
              <a:t>8.1</a:t>
            </a:r>
            <a:r>
              <a:rPr lang="ja-JP" altLang="en-US" sz="3600" dirty="0">
                <a:solidFill>
                  <a:schemeClr val="bg1"/>
                </a:solidFill>
              </a:rPr>
              <a:t>　運用の計画及び管理</a:t>
            </a:r>
            <a:r>
              <a:rPr lang="en-US" altLang="ja-JP" sz="3600" dirty="0">
                <a:solidFill>
                  <a:schemeClr val="bg1"/>
                </a:solidFill>
              </a:rPr>
              <a:t/>
            </a:r>
            <a:br>
              <a:rPr lang="en-US" altLang="ja-JP" sz="3600" dirty="0">
                <a:solidFill>
                  <a:schemeClr val="bg1"/>
                </a:solidFill>
              </a:rPr>
            </a:br>
            <a:r>
              <a:rPr lang="en-US" altLang="ja-JP" sz="3600" dirty="0">
                <a:solidFill>
                  <a:schemeClr val="bg1"/>
                </a:solidFill>
              </a:rPr>
              <a:t>8.2</a:t>
            </a:r>
            <a:r>
              <a:rPr lang="ja-JP" altLang="en-US" sz="3600" dirty="0">
                <a:solidFill>
                  <a:schemeClr val="bg1"/>
                </a:solidFill>
              </a:rPr>
              <a:t>　製品及びサービスに関する要求事項</a:t>
            </a:r>
            <a:endParaRPr kumimoji="1" lang="ja-JP" altLang="en-US" sz="3600" dirty="0">
              <a:solidFill>
                <a:schemeClr val="bg1"/>
              </a:solidFill>
            </a:endParaRP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884623"/>
            <a:ext cx="3281413" cy="1048425"/>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8.2.1</a:t>
            </a:r>
            <a:r>
              <a:rPr lang="ja-JP" altLang="en-US" sz="2000" b="1" dirty="0">
                <a:solidFill>
                  <a:schemeClr val="tx1"/>
                </a:solidFill>
              </a:rPr>
              <a:t>　顧客とのコミュニケーション</a:t>
            </a:r>
            <a:endParaRPr lang="en-US" altLang="ja-JP" sz="2000" b="1" dirty="0">
              <a:solidFill>
                <a:schemeClr val="tx1"/>
              </a:solidFill>
            </a:endParaRP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2663668"/>
            <a:ext cx="3281412" cy="1556212"/>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r>
              <a:rPr kumimoji="1" lang="en-US" altLang="ja-JP" dirty="0"/>
              <a:t>8.1.1</a:t>
            </a:r>
            <a:r>
              <a:rPr kumimoji="1" lang="ja-JP" altLang="en-US" dirty="0"/>
              <a:t>　運用の計画及び管理－補足</a:t>
            </a:r>
            <a:endParaRPr kumimoji="1" lang="en-US" altLang="ja-JP" dirty="0"/>
          </a:p>
          <a:p>
            <a:r>
              <a:rPr lang="en-US" altLang="ja-JP" dirty="0"/>
              <a:t>8.1.2</a:t>
            </a:r>
            <a:r>
              <a:rPr lang="ja-JP" altLang="en-US" dirty="0"/>
              <a:t>　機密保持</a:t>
            </a:r>
            <a:endParaRPr lang="en-US" altLang="ja-JP"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73605"/>
            <a:ext cx="3281413" cy="1048425"/>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8.1</a:t>
            </a:r>
            <a:r>
              <a:rPr lang="ja-JP" altLang="en-US" sz="2000" b="1" dirty="0">
                <a:solidFill>
                  <a:schemeClr val="tx1"/>
                </a:solidFill>
              </a:rPr>
              <a:t>　運用の計画及び管理</a:t>
            </a:r>
            <a:endParaRPr lang="en-US" altLang="ja-JP" sz="2000" b="1" dirty="0">
              <a:solidFill>
                <a:schemeClr val="tx1"/>
              </a:solidFill>
            </a:endParaRPr>
          </a:p>
        </p:txBody>
      </p:sp>
      <p:sp>
        <p:nvSpPr>
          <p:cNvPr id="10" name="四角形: メモ 9">
            <a:extLst>
              <a:ext uri="{FF2B5EF4-FFF2-40B4-BE49-F238E27FC236}">
                <a16:creationId xmlns:a16="http://schemas.microsoft.com/office/drawing/2014/main" id="{2F3E368F-3CA3-47D0-B689-F62F9F1B48E9}"/>
              </a:ext>
            </a:extLst>
          </p:cNvPr>
          <p:cNvSpPr/>
          <p:nvPr/>
        </p:nvSpPr>
        <p:spPr>
          <a:xfrm>
            <a:off x="4455293" y="4638101"/>
            <a:ext cx="3281412" cy="1717232"/>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pPr>
              <a:lnSpc>
                <a:spcPts val="1600"/>
              </a:lnSpc>
            </a:pPr>
            <a:endParaRPr lang="en-US" altLang="ja-JP" sz="2000" dirty="0"/>
          </a:p>
          <a:p>
            <a:pPr>
              <a:lnSpc>
                <a:spcPts val="1600"/>
              </a:lnSpc>
            </a:pPr>
            <a:endParaRPr lang="en-US" altLang="ja-JP" sz="2000" dirty="0"/>
          </a:p>
          <a:p>
            <a:r>
              <a:rPr lang="en-US" altLang="ja-JP" dirty="0"/>
              <a:t>8.2.2.1</a:t>
            </a:r>
            <a:r>
              <a:rPr lang="ja-JP" altLang="en-US" dirty="0"/>
              <a:t>　製品及びサービスに関する要求事項の明確化－補足</a:t>
            </a:r>
            <a:endParaRPr lang="en-US" altLang="ja-JP" dirty="0"/>
          </a:p>
        </p:txBody>
      </p:sp>
      <p:sp>
        <p:nvSpPr>
          <p:cNvPr id="14" name="フローチャート: 書類 13">
            <a:extLst>
              <a:ext uri="{FF2B5EF4-FFF2-40B4-BE49-F238E27FC236}">
                <a16:creationId xmlns:a16="http://schemas.microsoft.com/office/drawing/2014/main" id="{090CA56F-0131-49ED-BCA6-A13C45405990}"/>
              </a:ext>
            </a:extLst>
          </p:cNvPr>
          <p:cNvSpPr/>
          <p:nvPr/>
        </p:nvSpPr>
        <p:spPr>
          <a:xfrm>
            <a:off x="4455292" y="4000393"/>
            <a:ext cx="3281413" cy="1218380"/>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8.2.2</a:t>
            </a:r>
            <a:r>
              <a:rPr lang="ja-JP" altLang="en-US" sz="2000" b="1" dirty="0">
                <a:solidFill>
                  <a:schemeClr val="tx1"/>
                </a:solidFill>
              </a:rPr>
              <a:t>　製品及びサービスに関する要求事項の明確化</a:t>
            </a:r>
            <a:endParaRPr lang="en-US" altLang="ja-JP" sz="2000" b="1" dirty="0">
              <a:solidFill>
                <a:schemeClr val="tx1"/>
              </a:solidFill>
            </a:endParaRPr>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2001584"/>
            <a:ext cx="3281412" cy="4353749"/>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1600" dirty="0"/>
          </a:p>
          <a:p>
            <a:endParaRPr lang="en-US" altLang="ja-JP" sz="1600" dirty="0"/>
          </a:p>
          <a:p>
            <a:endParaRPr lang="en-US" altLang="ja-JP" sz="1600" dirty="0"/>
          </a:p>
          <a:p>
            <a:endParaRPr lang="en-US" altLang="ja-JP" sz="1600" dirty="0"/>
          </a:p>
          <a:p>
            <a:endParaRPr lang="en-US" altLang="ja-JP" sz="1600" dirty="0"/>
          </a:p>
          <a:p>
            <a:endParaRPr lang="en-US" altLang="ja-JP" sz="1600" dirty="0"/>
          </a:p>
          <a:p>
            <a:r>
              <a:rPr lang="en-US" altLang="ja-JP" dirty="0"/>
              <a:t>8.2.3.1.1</a:t>
            </a:r>
            <a:r>
              <a:rPr lang="ja-JP" altLang="en-US" dirty="0"/>
              <a:t>　製品及びサービスに関する要求事項のレビュー－補足</a:t>
            </a:r>
            <a:endParaRPr lang="en-US" altLang="ja-JP" dirty="0"/>
          </a:p>
          <a:p>
            <a:r>
              <a:rPr lang="en-US" altLang="ja-JP" dirty="0"/>
              <a:t>8.2.3.1.2</a:t>
            </a:r>
            <a:r>
              <a:rPr lang="ja-JP" altLang="en-US" dirty="0"/>
              <a:t>　顧客指定の特殊特性</a:t>
            </a:r>
            <a:endParaRPr lang="en-US" altLang="ja-JP" dirty="0"/>
          </a:p>
          <a:p>
            <a:r>
              <a:rPr lang="en-US" altLang="ja-JP" dirty="0"/>
              <a:t>8.2.3.1.3</a:t>
            </a:r>
            <a:r>
              <a:rPr lang="ja-JP" altLang="en-US" dirty="0"/>
              <a:t>　組織の製造</a:t>
            </a:r>
            <a:r>
              <a:rPr lang="ja-JP" altLang="en-US" sz="2000" dirty="0"/>
              <a:t>フィージビリティ</a:t>
            </a:r>
            <a:endParaRPr lang="en-US" altLang="ja-JP" sz="2000" dirty="0"/>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1884623"/>
            <a:ext cx="3281413" cy="1733877"/>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8.2.3</a:t>
            </a:r>
            <a:r>
              <a:rPr lang="ja-JP" altLang="en-US" sz="2000" b="1" dirty="0">
                <a:solidFill>
                  <a:schemeClr val="tx1"/>
                </a:solidFill>
              </a:rPr>
              <a:t>　製品及びサービスに関する要求事項のレビュー</a:t>
            </a:r>
            <a:endParaRPr lang="en-US" altLang="ja-JP" sz="2000" b="1" dirty="0">
              <a:solidFill>
                <a:schemeClr val="tx1"/>
              </a:solidFill>
            </a:endParaRPr>
          </a:p>
          <a:p>
            <a:r>
              <a:rPr lang="en-US" altLang="ja-JP" dirty="0">
                <a:solidFill>
                  <a:schemeClr val="tx1"/>
                </a:solidFill>
              </a:rPr>
              <a:t>8.2.3.1</a:t>
            </a:r>
          </a:p>
          <a:p>
            <a:r>
              <a:rPr lang="en-US" altLang="ja-JP" dirty="0">
                <a:solidFill>
                  <a:schemeClr val="tx1"/>
                </a:solidFill>
              </a:rPr>
              <a:t>8.2.3.2</a:t>
            </a:r>
          </a:p>
        </p:txBody>
      </p:sp>
    </p:spTree>
    <p:extLst>
      <p:ext uri="{BB962C8B-B14F-4D97-AF65-F5344CB8AC3E}">
        <p14:creationId xmlns:p14="http://schemas.microsoft.com/office/powerpoint/2010/main" val="348785801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66092"/>
            <a:ext cx="10515600" cy="3018621"/>
          </a:xfrm>
          <a:ln w="12700">
            <a:solidFill>
              <a:schemeClr val="tx2"/>
            </a:solidFill>
          </a:ln>
        </p:spPr>
        <p:txBody>
          <a:bodyPr>
            <a:normAutofit lnSpcReduction="10000"/>
          </a:bodyPr>
          <a:lstStyle/>
          <a:p>
            <a:pPr marL="0" indent="0">
              <a:lnSpc>
                <a:spcPct val="100000"/>
              </a:lnSpc>
              <a:buNone/>
            </a:pPr>
            <a:r>
              <a:rPr lang="ja-JP" altLang="en-US" sz="2000" dirty="0"/>
              <a:t>☑製品実現の計画をする際は、次の事項を含めなければならない。</a:t>
            </a:r>
            <a:endParaRPr lang="en-US" altLang="ja-JP" sz="2000" dirty="0"/>
          </a:p>
          <a:p>
            <a:pPr marL="800100" lvl="1" indent="-342900">
              <a:lnSpc>
                <a:spcPct val="100000"/>
              </a:lnSpc>
              <a:buFont typeface="+mj-lt"/>
              <a:buAutoNum type="alphaLcPeriod"/>
            </a:pPr>
            <a:r>
              <a:rPr lang="ja-JP" altLang="en-US" sz="2000" dirty="0"/>
              <a:t>顧客の製品要求事項及び技術仕様書</a:t>
            </a:r>
            <a:endParaRPr lang="en-US" altLang="ja-JP" sz="2000" dirty="0"/>
          </a:p>
          <a:p>
            <a:pPr marL="800100" lvl="1" indent="-342900">
              <a:lnSpc>
                <a:spcPct val="100000"/>
              </a:lnSpc>
              <a:buFont typeface="+mj-lt"/>
              <a:buAutoNum type="alphaLcPeriod"/>
            </a:pPr>
            <a:r>
              <a:rPr lang="ja-JP" altLang="en-US" sz="2000" dirty="0"/>
              <a:t>物流要求事項</a:t>
            </a:r>
            <a:endParaRPr lang="en-US" altLang="ja-JP" sz="2000" dirty="0"/>
          </a:p>
          <a:p>
            <a:pPr marL="800100" lvl="1" indent="-342900">
              <a:lnSpc>
                <a:spcPct val="100000"/>
              </a:lnSpc>
              <a:buFont typeface="+mj-lt"/>
              <a:buAutoNum type="alphaLcPeriod"/>
            </a:pPr>
            <a:r>
              <a:rPr lang="ja-JP" altLang="en-US" sz="2000" dirty="0"/>
              <a:t>製造フィージビリティ</a:t>
            </a:r>
            <a:endParaRPr lang="en-US" altLang="ja-JP" sz="2000" dirty="0"/>
          </a:p>
          <a:p>
            <a:pPr marL="800100" lvl="1" indent="-342900">
              <a:lnSpc>
                <a:spcPct val="100000"/>
              </a:lnSpc>
              <a:buFont typeface="+mj-lt"/>
              <a:buAutoNum type="alphaLcPeriod"/>
            </a:pPr>
            <a:r>
              <a:rPr lang="ja-JP" altLang="en-US" sz="2000" dirty="0"/>
              <a:t>プロジェクト計画（</a:t>
            </a:r>
            <a:r>
              <a:rPr lang="en-US" altLang="ja-JP" sz="2000" dirty="0"/>
              <a:t>ISO9001</a:t>
            </a:r>
            <a:r>
              <a:rPr lang="ja-JP" altLang="en-US" sz="2000" dirty="0"/>
              <a:t>の</a:t>
            </a:r>
            <a:r>
              <a:rPr lang="en-US" altLang="ja-JP" sz="2000" dirty="0"/>
              <a:t>8.3.2</a:t>
            </a:r>
            <a:r>
              <a:rPr lang="ja-JP" altLang="en-US" sz="2000" dirty="0"/>
              <a:t>参照）</a:t>
            </a:r>
            <a:endParaRPr lang="en-US" altLang="ja-JP" sz="2000" dirty="0"/>
          </a:p>
          <a:p>
            <a:pPr marL="800100" lvl="1" indent="-342900">
              <a:lnSpc>
                <a:spcPct val="100000"/>
              </a:lnSpc>
              <a:buFont typeface="+mj-lt"/>
              <a:buAutoNum type="alphaLcPeriod"/>
            </a:pPr>
            <a:r>
              <a:rPr lang="ja-JP" altLang="en-US" sz="2000" dirty="0"/>
              <a:t>合否判定基準</a:t>
            </a:r>
            <a:endParaRPr lang="en-US" altLang="ja-JP" sz="2000" dirty="0"/>
          </a:p>
          <a:p>
            <a:pPr marL="0" indent="0">
              <a:lnSpc>
                <a:spcPct val="100000"/>
              </a:lnSpc>
              <a:buNone/>
            </a:pPr>
            <a:r>
              <a:rPr lang="en-US" altLang="ja-JP" sz="2000" dirty="0"/>
              <a:t>ISO9001</a:t>
            </a:r>
            <a:r>
              <a:rPr lang="ja-JP" altLang="en-US" sz="2000" dirty="0"/>
              <a:t>の</a:t>
            </a:r>
            <a:r>
              <a:rPr lang="en-US" altLang="ja-JP" sz="2000" dirty="0"/>
              <a:t>8.1 c</a:t>
            </a:r>
            <a:r>
              <a:rPr lang="ja-JP" altLang="en-US" sz="2000" dirty="0"/>
              <a:t>）</a:t>
            </a:r>
            <a:r>
              <a:rPr lang="ja-JP" altLang="en-US" sz="1600" dirty="0"/>
              <a:t>（要求事項へ適合するための資源）</a:t>
            </a:r>
            <a:r>
              <a:rPr lang="ja-JP" altLang="en-US" sz="2000" dirty="0"/>
              <a:t>に特定される資源は、製品及び製品の合否判定基準に固有の、要求される検証、妥当性確認、監視、測定、検査及び試験活動について述べている。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8.1.1</a:t>
            </a:r>
            <a:r>
              <a:rPr lang="ja-JP" altLang="en-US" sz="3000" b="1" dirty="0">
                <a:solidFill>
                  <a:schemeClr val="tx2"/>
                </a:solidFill>
              </a:rPr>
              <a:t>　運用の計画及び管理－補足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74508E37-B28D-4C80-BD05-AEC3614706ED}"/>
              </a:ext>
            </a:extLst>
          </p:cNvPr>
          <p:cNvSpPr txBox="1">
            <a:spLocks/>
          </p:cNvSpPr>
          <p:nvPr/>
        </p:nvSpPr>
        <p:spPr>
          <a:xfrm>
            <a:off x="838200" y="453160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8.1.1</a:t>
            </a:r>
            <a:r>
              <a:rPr lang="ja-JP" altLang="en-US" sz="3000" b="1" dirty="0">
                <a:solidFill>
                  <a:schemeClr val="bg1"/>
                </a:solidFill>
              </a:rPr>
              <a:t>　運用の計画及び管理－補足</a:t>
            </a:r>
          </a:p>
        </p:txBody>
      </p:sp>
      <p:sp>
        <p:nvSpPr>
          <p:cNvPr id="7" name="コンテンツ プレースホルダー 2">
            <a:extLst>
              <a:ext uri="{FF2B5EF4-FFF2-40B4-BE49-F238E27FC236}">
                <a16:creationId xmlns:a16="http://schemas.microsoft.com/office/drawing/2014/main" id="{052D81AC-1DCA-4F27-A869-B6FF7A852DF5}"/>
              </a:ext>
            </a:extLst>
          </p:cNvPr>
          <p:cNvSpPr txBox="1">
            <a:spLocks/>
          </p:cNvSpPr>
          <p:nvPr/>
        </p:nvSpPr>
        <p:spPr>
          <a:xfrm>
            <a:off x="838200" y="5532570"/>
            <a:ext cx="10515600" cy="823779"/>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製品実現に関する計画事項の追加要求。</a:t>
            </a:r>
            <a:endParaRPr lang="en-US" altLang="ja-JP" sz="2400" dirty="0"/>
          </a:p>
          <a:p>
            <a:pPr lvl="1">
              <a:lnSpc>
                <a:spcPct val="100000"/>
              </a:lnSpc>
              <a:buFont typeface="Wingdings" panose="05000000000000000000" pitchFamily="2" charset="2"/>
              <a:buChar char="Ø"/>
            </a:pPr>
            <a:r>
              <a:rPr lang="en-US" altLang="ja-JP" sz="2200" dirty="0"/>
              <a:t>APQP</a:t>
            </a:r>
            <a:r>
              <a:rPr lang="ja-JP" altLang="en-US" sz="2200" dirty="0"/>
              <a:t>（品質計画書など）による計画事項。</a:t>
            </a:r>
            <a:endParaRPr lang="en-US" altLang="ja-JP" sz="2200" dirty="0"/>
          </a:p>
        </p:txBody>
      </p:sp>
    </p:spTree>
    <p:extLst>
      <p:ext uri="{BB962C8B-B14F-4D97-AF65-F5344CB8AC3E}">
        <p14:creationId xmlns:p14="http://schemas.microsoft.com/office/powerpoint/2010/main" val="2402595576"/>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131065"/>
          </a:xfrm>
          <a:ln w="12700">
            <a:solidFill>
              <a:schemeClr val="tx2"/>
            </a:solidFill>
          </a:ln>
        </p:spPr>
        <p:txBody>
          <a:bodyPr>
            <a:normAutofit/>
          </a:bodyPr>
          <a:lstStyle/>
          <a:p>
            <a:pPr marL="0" indent="0">
              <a:lnSpc>
                <a:spcPct val="100000"/>
              </a:lnSpc>
              <a:buNone/>
            </a:pPr>
            <a:r>
              <a:rPr lang="ja-JP" altLang="en-US" sz="2000" dirty="0"/>
              <a:t>☑組織は、顧客と契約した開発中の製品及びプロジェクト、並びに関係製品情報の</a:t>
            </a:r>
            <a:r>
              <a:rPr lang="ja-JP" altLang="en-US" sz="2000" u="sng" dirty="0"/>
              <a:t>機密保持を確実にしなければならない。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8.1.2</a:t>
            </a:r>
            <a:r>
              <a:rPr lang="ja-JP" altLang="en-US" sz="3000" b="1" dirty="0">
                <a:solidFill>
                  <a:schemeClr val="tx2"/>
                </a:solidFill>
              </a:rPr>
              <a:t>　機密保持</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95986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8.1.2</a:t>
            </a:r>
            <a:r>
              <a:rPr lang="ja-JP" altLang="en-US" sz="3000" b="1" dirty="0">
                <a:solidFill>
                  <a:schemeClr val="bg1"/>
                </a:solidFill>
              </a:rPr>
              <a:t>　機密保持</a:t>
            </a:r>
          </a:p>
        </p:txBody>
      </p:sp>
      <p:sp>
        <p:nvSpPr>
          <p:cNvPr id="7" name="コンテンツ プレースホルダー 2">
            <a:extLst>
              <a:ext uri="{FF2B5EF4-FFF2-40B4-BE49-F238E27FC236}">
                <a16:creationId xmlns:a16="http://schemas.microsoft.com/office/drawing/2014/main" id="{1C7C5629-191D-463A-96F0-07D33153E281}"/>
              </a:ext>
            </a:extLst>
          </p:cNvPr>
          <p:cNvSpPr txBox="1">
            <a:spLocks/>
          </p:cNvSpPr>
          <p:nvPr/>
        </p:nvSpPr>
        <p:spPr>
          <a:xfrm>
            <a:off x="838200" y="4051722"/>
            <a:ext cx="10515600" cy="230462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顧客にとって</a:t>
            </a:r>
            <a:r>
              <a:rPr lang="ja-JP" altLang="en-US" sz="2400" dirty="0">
                <a:solidFill>
                  <a:srgbClr val="FF0000"/>
                </a:solidFill>
                <a:effectLst>
                  <a:outerShdw blurRad="38100" dist="38100" dir="2700000" algn="tl">
                    <a:srgbClr val="000000">
                      <a:alpha val="43137"/>
                    </a:srgbClr>
                  </a:outerShdw>
                </a:effectLst>
              </a:rPr>
              <a:t>競合他社への機密漏洩を防止</a:t>
            </a:r>
            <a:r>
              <a:rPr lang="ja-JP" altLang="en-US" sz="2400" dirty="0"/>
              <a:t>することが目的。</a:t>
            </a:r>
            <a:endParaRPr lang="en-US" altLang="ja-JP" sz="2400" dirty="0"/>
          </a:p>
          <a:p>
            <a:pPr marL="457200" indent="-457200">
              <a:lnSpc>
                <a:spcPct val="100000"/>
              </a:lnSpc>
              <a:buFont typeface="+mj-lt"/>
              <a:buAutoNum type="arabicPeriod"/>
            </a:pPr>
            <a:r>
              <a:rPr lang="ja-JP" altLang="en-US" sz="2400" dirty="0"/>
              <a:t>要点。</a:t>
            </a:r>
            <a:endParaRPr lang="en-US" altLang="ja-JP" sz="2400" dirty="0"/>
          </a:p>
          <a:p>
            <a:pPr marL="914400" lvl="1" indent="-45720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顧客にとっての機密情報</a:t>
            </a:r>
            <a:r>
              <a:rPr lang="ja-JP" altLang="en-US" dirty="0"/>
              <a:t>は何か。（顧客が指定する場合もある。）</a:t>
            </a:r>
            <a:endParaRPr lang="en-US" altLang="ja-JP" dirty="0"/>
          </a:p>
          <a:p>
            <a:pPr marL="914400" lvl="1" indent="-457200">
              <a:lnSpc>
                <a:spcPct val="100000"/>
              </a:lnSpc>
              <a:buFont typeface="+mj-ea"/>
              <a:buAutoNum type="circleNumDbPlain"/>
            </a:pPr>
            <a:r>
              <a:rPr lang="ja-JP" altLang="en-US" dirty="0"/>
              <a:t>媒体の保管方法、配布及びアクセス範囲の明確化。（外部は当然だが、盲点は内部に対する機密管理。）</a:t>
            </a:r>
            <a:endParaRPr lang="en-US" altLang="ja-JP" dirty="0"/>
          </a:p>
        </p:txBody>
      </p:sp>
      <p:sp>
        <p:nvSpPr>
          <p:cNvPr id="2" name="吹き出し: 角を丸めた四角形 1">
            <a:extLst>
              <a:ext uri="{FF2B5EF4-FFF2-40B4-BE49-F238E27FC236}">
                <a16:creationId xmlns:a16="http://schemas.microsoft.com/office/drawing/2014/main" id="{B5E9D7EB-B35A-46BE-929D-3673EF48DD9D}"/>
              </a:ext>
            </a:extLst>
          </p:cNvPr>
          <p:cNvSpPr/>
          <p:nvPr/>
        </p:nvSpPr>
        <p:spPr>
          <a:xfrm>
            <a:off x="4267200" y="4419599"/>
            <a:ext cx="6878320" cy="540093"/>
          </a:xfrm>
          <a:prstGeom prst="wedgeRoundRectCallout">
            <a:avLst>
              <a:gd name="adj1" fmla="val -50480"/>
              <a:gd name="adj2" fmla="val 6419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製品情報（図面・仕様書）、開発情報（</a:t>
            </a:r>
            <a:r>
              <a:rPr kumimoji="1" lang="en-US" altLang="ja-JP" sz="2000" dirty="0">
                <a:solidFill>
                  <a:schemeClr val="tx1"/>
                </a:solidFill>
              </a:rPr>
              <a:t>APQP</a:t>
            </a:r>
            <a:r>
              <a:rPr lang="ja-JP" altLang="en-US" sz="2000" dirty="0">
                <a:solidFill>
                  <a:schemeClr val="tx1"/>
                </a:solidFill>
              </a:rPr>
              <a:t>）など。</a:t>
            </a:r>
            <a:endParaRPr kumimoji="1" lang="ja-JP" altLang="en-US" sz="2000" dirty="0">
              <a:solidFill>
                <a:schemeClr val="tx1"/>
              </a:solidFill>
            </a:endParaRPr>
          </a:p>
        </p:txBody>
      </p:sp>
    </p:spTree>
    <p:extLst>
      <p:ext uri="{BB962C8B-B14F-4D97-AF65-F5344CB8AC3E}">
        <p14:creationId xmlns:p14="http://schemas.microsoft.com/office/powerpoint/2010/main" val="378519063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131065"/>
          </a:xfrm>
          <a:ln w="12700">
            <a:solidFill>
              <a:schemeClr val="tx2"/>
            </a:solidFill>
          </a:ln>
        </p:spPr>
        <p:txBody>
          <a:bodyPr>
            <a:normAutofit/>
          </a:bodyPr>
          <a:lstStyle/>
          <a:p>
            <a:pPr marL="0" indent="0">
              <a:lnSpc>
                <a:spcPct val="100000"/>
              </a:lnSpc>
              <a:buNone/>
            </a:pPr>
            <a:r>
              <a:rPr lang="ja-JP" altLang="en-US" sz="2000" dirty="0"/>
              <a:t>☑記述された又は口頭のコミュニケーションは、</a:t>
            </a:r>
            <a:r>
              <a:rPr lang="ja-JP" altLang="en-US" sz="2000" u="sng" dirty="0"/>
              <a:t>顧客と合意した言語</a:t>
            </a:r>
            <a:r>
              <a:rPr lang="ja-JP" altLang="en-US" sz="2000" dirty="0"/>
              <a:t>に寄らなければならない。組織は、</a:t>
            </a:r>
            <a:r>
              <a:rPr lang="ja-JP" altLang="en-US" sz="2000" u="sng" dirty="0"/>
              <a:t>顧客に規定されたコンピュータ言語及び書式（例　</a:t>
            </a:r>
            <a:r>
              <a:rPr lang="en-US" altLang="ja-JP" sz="2000" u="sng" dirty="0"/>
              <a:t>CAD</a:t>
            </a:r>
            <a:r>
              <a:rPr lang="ja-JP" altLang="en-US" sz="2000" u="sng" dirty="0"/>
              <a:t>データ、電子データ交換）</a:t>
            </a:r>
            <a:r>
              <a:rPr lang="ja-JP" altLang="en-US" sz="2000" dirty="0"/>
              <a:t>を含めて、必要な情報を伝達する能力をもたなければならない。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8.2.1.1</a:t>
            </a:r>
            <a:r>
              <a:rPr kumimoji="1" lang="ja-JP" altLang="en-US" sz="3000" b="1" dirty="0">
                <a:solidFill>
                  <a:schemeClr val="tx2"/>
                </a:solidFill>
              </a:rPr>
              <a:t>　顧客とのコミュニケーション－補足</a:t>
            </a: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95986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8.2.1.1</a:t>
            </a:r>
            <a:r>
              <a:rPr lang="ja-JP" altLang="en-US" sz="3000" b="1" dirty="0">
                <a:solidFill>
                  <a:schemeClr val="bg1"/>
                </a:solidFill>
              </a:rPr>
              <a:t>　顧客とのコミュニケーション－補足</a:t>
            </a:r>
          </a:p>
        </p:txBody>
      </p:sp>
      <p:sp>
        <p:nvSpPr>
          <p:cNvPr id="7" name="コンテンツ プレースホルダー 2">
            <a:extLst>
              <a:ext uri="{FF2B5EF4-FFF2-40B4-BE49-F238E27FC236}">
                <a16:creationId xmlns:a16="http://schemas.microsoft.com/office/drawing/2014/main" id="{FC507DE4-A992-4776-8AB1-988724CE2219}"/>
              </a:ext>
            </a:extLst>
          </p:cNvPr>
          <p:cNvSpPr txBox="1">
            <a:spLocks/>
          </p:cNvSpPr>
          <p:nvPr/>
        </p:nvSpPr>
        <p:spPr>
          <a:xfrm>
            <a:off x="838200" y="4066411"/>
            <a:ext cx="10515600" cy="228993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自動車産業界のグローバル化に伴う顧客との共通認識事項。</a:t>
            </a:r>
            <a:endParaRPr lang="en-US" altLang="ja-JP" sz="2400" dirty="0"/>
          </a:p>
          <a:p>
            <a:pPr lvl="1">
              <a:lnSpc>
                <a:spcPct val="100000"/>
              </a:lnSpc>
              <a:buFont typeface="Wingdings" panose="05000000000000000000" pitchFamily="2" charset="2"/>
              <a:buChar char="Ø"/>
            </a:pPr>
            <a:r>
              <a:rPr lang="ja-JP" altLang="en-US" dirty="0"/>
              <a:t>言語、コンピュータ言語、ソフトの最新バージョンなど。</a:t>
            </a:r>
            <a:endParaRPr lang="en-US" altLang="ja-JP" dirty="0"/>
          </a:p>
          <a:p>
            <a:pPr lvl="1">
              <a:lnSpc>
                <a:spcPct val="100000"/>
              </a:lnSpc>
              <a:buFont typeface="Wingdings" panose="05000000000000000000" pitchFamily="2" charset="2"/>
              <a:buChar char="Ø"/>
            </a:pPr>
            <a:endParaRPr lang="en-US" altLang="ja-JP" dirty="0"/>
          </a:p>
          <a:p>
            <a:pPr lvl="1">
              <a:lnSpc>
                <a:spcPct val="100000"/>
              </a:lnSpc>
              <a:buFont typeface="Wingdings" panose="05000000000000000000" pitchFamily="2" charset="2"/>
              <a:buChar char="Ø"/>
            </a:pPr>
            <a:endParaRPr lang="en-US" altLang="ja-JP" dirty="0"/>
          </a:p>
          <a:p>
            <a:pPr marL="514350" indent="-514350">
              <a:lnSpc>
                <a:spcPct val="100000"/>
              </a:lnSpc>
              <a:buFont typeface="+mj-lt"/>
              <a:buAutoNum type="arabicPeriod"/>
            </a:pPr>
            <a:r>
              <a:rPr lang="ja-JP" altLang="en-US" sz="2400" dirty="0"/>
              <a:t>過度な共通化が重要ではなく、</a:t>
            </a:r>
            <a:r>
              <a:rPr lang="ja-JP" altLang="en-US" sz="2400" dirty="0">
                <a:solidFill>
                  <a:srgbClr val="FF0000"/>
                </a:solidFill>
                <a:effectLst>
                  <a:outerShdw blurRad="38100" dist="38100" dir="2700000" algn="tl">
                    <a:srgbClr val="000000">
                      <a:alpha val="43137"/>
                    </a:srgbClr>
                  </a:outerShdw>
                </a:effectLst>
              </a:rPr>
              <a:t>“顧客と合意する”</a:t>
            </a:r>
            <a:r>
              <a:rPr lang="ja-JP" altLang="en-US" sz="2400" dirty="0"/>
              <a:t>　ことが重要。</a:t>
            </a:r>
          </a:p>
        </p:txBody>
      </p:sp>
      <p:sp>
        <p:nvSpPr>
          <p:cNvPr id="2" name="吹き出し: 角を丸めた四角形 1">
            <a:extLst>
              <a:ext uri="{FF2B5EF4-FFF2-40B4-BE49-F238E27FC236}">
                <a16:creationId xmlns:a16="http://schemas.microsoft.com/office/drawing/2014/main" id="{759024DD-8E9C-4E16-9508-146E86AA525A}"/>
              </a:ext>
            </a:extLst>
          </p:cNvPr>
          <p:cNvSpPr/>
          <p:nvPr/>
        </p:nvSpPr>
        <p:spPr>
          <a:xfrm>
            <a:off x="3840480" y="5057506"/>
            <a:ext cx="4937760" cy="672733"/>
          </a:xfrm>
          <a:prstGeom prst="wedgeRoundRectCallout">
            <a:avLst>
              <a:gd name="adj1" fmla="val -42599"/>
              <a:gd name="adj2" fmla="val -70218"/>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CAD</a:t>
            </a:r>
            <a:r>
              <a:rPr kumimoji="1" lang="ja-JP" altLang="en-US" sz="2000" dirty="0">
                <a:solidFill>
                  <a:schemeClr val="tx1"/>
                </a:solidFill>
              </a:rPr>
              <a:t>データの交換時、或いは試験ソフトのバージョンなど。</a:t>
            </a:r>
          </a:p>
        </p:txBody>
      </p:sp>
    </p:spTree>
    <p:extLst>
      <p:ext uri="{BB962C8B-B14F-4D97-AF65-F5344CB8AC3E}">
        <p14:creationId xmlns:p14="http://schemas.microsoft.com/office/powerpoint/2010/main" val="2381139827"/>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872866"/>
          </a:xfrm>
          <a:ln w="12700">
            <a:solidFill>
              <a:schemeClr val="tx2"/>
            </a:solidFill>
          </a:ln>
        </p:spPr>
        <p:txBody>
          <a:bodyPr>
            <a:normAutofit/>
          </a:bodyPr>
          <a:lstStyle/>
          <a:p>
            <a:pPr marL="0" indent="0">
              <a:lnSpc>
                <a:spcPct val="100000"/>
              </a:lnSpc>
              <a:buNone/>
            </a:pPr>
            <a:r>
              <a:rPr lang="ja-JP" altLang="en-US" sz="2000" dirty="0"/>
              <a:t>☑これらの要求事項には、製品及び製造工程について組織の知識の結果として</a:t>
            </a:r>
            <a:r>
              <a:rPr lang="ja-JP" altLang="en-US" sz="2000" u="sng" dirty="0"/>
              <a:t>リサイクル、環境影響及び特性を含めなければならない。</a:t>
            </a:r>
            <a:endParaRPr lang="en-US" altLang="ja-JP" sz="2000" u="sng" dirty="0"/>
          </a:p>
          <a:p>
            <a:pPr marL="0" indent="0">
              <a:lnSpc>
                <a:spcPct val="100000"/>
              </a:lnSpc>
              <a:buNone/>
            </a:pPr>
            <a:r>
              <a:rPr lang="ja-JP" altLang="en-US" sz="2000" dirty="0"/>
              <a:t>☑</a:t>
            </a:r>
            <a:r>
              <a:rPr lang="en-US" altLang="ja-JP" sz="2000" u="sng" dirty="0"/>
              <a:t>ISO9001</a:t>
            </a:r>
            <a:r>
              <a:rPr lang="ja-JP" altLang="en-US" sz="2000" u="sng" dirty="0"/>
              <a:t>の</a:t>
            </a:r>
            <a:r>
              <a:rPr lang="en-US" altLang="ja-JP" sz="2000" u="sng" dirty="0"/>
              <a:t>8.2.2 a</a:t>
            </a:r>
            <a:r>
              <a:rPr lang="ja-JP" altLang="en-US" sz="2000" u="sng" dirty="0"/>
              <a:t>）</a:t>
            </a:r>
            <a:r>
              <a:rPr lang="en-US" altLang="ja-JP" sz="2000" u="sng" dirty="0"/>
              <a:t>1</a:t>
            </a:r>
            <a:r>
              <a:rPr lang="ja-JP" altLang="en-US" sz="2000" u="sng" dirty="0"/>
              <a:t>）</a:t>
            </a:r>
            <a:r>
              <a:rPr lang="ja-JP" altLang="en-US" sz="1600" u="sng" dirty="0"/>
              <a:t>（法令・規制）</a:t>
            </a:r>
            <a:r>
              <a:rPr lang="ja-JP" altLang="en-US" sz="2000" u="sng" dirty="0"/>
              <a:t>への適合には</a:t>
            </a:r>
            <a:r>
              <a:rPr lang="ja-JP" altLang="en-US" sz="2000" dirty="0"/>
              <a:t>、材料の入手、保管、取扱い、リサイクル、除去、又は廃棄に関係する、全ての該当する政府の、</a:t>
            </a:r>
            <a:r>
              <a:rPr lang="ja-JP" altLang="en-US" sz="2000" u="sng" dirty="0"/>
              <a:t>安全規制及び環境規制を含めなければならない。</a:t>
            </a:r>
            <a:r>
              <a:rPr lang="ja-JP" altLang="en-US" sz="2000" dirty="0"/>
              <a:t>しかし、それに限定されない。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8.2.2.1</a:t>
            </a:r>
            <a:r>
              <a:rPr kumimoji="1" lang="ja-JP" altLang="en-US" sz="3000" b="1" dirty="0">
                <a:solidFill>
                  <a:schemeClr val="tx2"/>
                </a:solidFill>
              </a:rPr>
              <a:t>　製品及びサービスに関する要求事項の明確化－補足</a:t>
            </a:r>
          </a:p>
        </p:txBody>
      </p:sp>
      <p:sp>
        <p:nvSpPr>
          <p:cNvPr id="6" name="タイトル 1">
            <a:extLst>
              <a:ext uri="{FF2B5EF4-FFF2-40B4-BE49-F238E27FC236}">
                <a16:creationId xmlns:a16="http://schemas.microsoft.com/office/drawing/2014/main" id="{DB620C3A-2ACA-487F-A9E4-26CDCC6A9225}"/>
              </a:ext>
            </a:extLst>
          </p:cNvPr>
          <p:cNvSpPr txBox="1">
            <a:spLocks/>
          </p:cNvSpPr>
          <p:nvPr/>
        </p:nvSpPr>
        <p:spPr>
          <a:xfrm>
            <a:off x="838200" y="3552941"/>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8.2.2.1</a:t>
            </a:r>
            <a:r>
              <a:rPr lang="ja-JP" altLang="en-US" sz="3000" b="1" dirty="0">
                <a:solidFill>
                  <a:schemeClr val="bg1"/>
                </a:solidFill>
              </a:rPr>
              <a:t>　製品及びサービスに関する要求事項の明確化－補足</a:t>
            </a:r>
          </a:p>
        </p:txBody>
      </p:sp>
      <p:sp>
        <p:nvSpPr>
          <p:cNvPr id="7" name="コンテンツ プレースホルダー 2">
            <a:extLst>
              <a:ext uri="{FF2B5EF4-FFF2-40B4-BE49-F238E27FC236}">
                <a16:creationId xmlns:a16="http://schemas.microsoft.com/office/drawing/2014/main" id="{4EBE8B3A-1479-4E18-92C5-BAD4FB576CF9}"/>
              </a:ext>
            </a:extLst>
          </p:cNvPr>
          <p:cNvSpPr txBox="1">
            <a:spLocks/>
          </p:cNvSpPr>
          <p:nvPr/>
        </p:nvSpPr>
        <p:spPr>
          <a:xfrm>
            <a:off x="838200" y="4560983"/>
            <a:ext cx="10515600" cy="178710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環境と安全に関する要求事項についての補足。</a:t>
            </a:r>
            <a:endParaRPr lang="en-US" altLang="ja-JP" sz="2400" dirty="0"/>
          </a:p>
          <a:p>
            <a:pPr lvl="1">
              <a:lnSpc>
                <a:spcPct val="100000"/>
              </a:lnSpc>
              <a:buFont typeface="Wingdings" panose="05000000000000000000" pitchFamily="2" charset="2"/>
              <a:buChar char="Ø"/>
            </a:pPr>
            <a:r>
              <a:rPr lang="ja-JP" altLang="en-US" dirty="0"/>
              <a:t>基本的には、国内（外の場合も）法と顧客固有要求事項を順守するという観点で対応する。</a:t>
            </a:r>
            <a:endParaRPr lang="en-US" altLang="ja-JP" sz="2200" dirty="0"/>
          </a:p>
        </p:txBody>
      </p:sp>
      <p:sp>
        <p:nvSpPr>
          <p:cNvPr id="2" name="吹き出し: 角を丸めた四角形 1">
            <a:extLst>
              <a:ext uri="{FF2B5EF4-FFF2-40B4-BE49-F238E27FC236}">
                <a16:creationId xmlns:a16="http://schemas.microsoft.com/office/drawing/2014/main" id="{D44B9894-BA0D-4C02-8035-E726E832E741}"/>
              </a:ext>
            </a:extLst>
          </p:cNvPr>
          <p:cNvSpPr/>
          <p:nvPr/>
        </p:nvSpPr>
        <p:spPr>
          <a:xfrm>
            <a:off x="4693920" y="5575666"/>
            <a:ext cx="6659880" cy="772421"/>
          </a:xfrm>
          <a:prstGeom prst="wedgeRoundRectCallout">
            <a:avLst>
              <a:gd name="adj1" fmla="val -42599"/>
              <a:gd name="adj2" fmla="val -70218"/>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含有規制物質、保安基準、</a:t>
            </a:r>
            <a:r>
              <a:rPr kumimoji="1" lang="en-US" altLang="ja-JP" sz="2000" dirty="0">
                <a:solidFill>
                  <a:schemeClr val="tx1"/>
                </a:solidFill>
              </a:rPr>
              <a:t>FMVSS</a:t>
            </a:r>
            <a:r>
              <a:rPr kumimoji="1" lang="ja-JP" altLang="en-US" sz="2000" dirty="0">
                <a:solidFill>
                  <a:schemeClr val="tx1"/>
                </a:solidFill>
              </a:rPr>
              <a:t>（米国自動車安全基準）、</a:t>
            </a:r>
            <a:r>
              <a:rPr kumimoji="1" lang="en-US" altLang="ja-JP" sz="2000" dirty="0">
                <a:solidFill>
                  <a:schemeClr val="tx1"/>
                </a:solidFill>
              </a:rPr>
              <a:t>ELV</a:t>
            </a:r>
            <a:r>
              <a:rPr kumimoji="1" lang="ja-JP" altLang="en-US" sz="2000" dirty="0">
                <a:solidFill>
                  <a:schemeClr val="tx1"/>
                </a:solidFill>
              </a:rPr>
              <a:t>指令（使用済自動車環境規制）・・・。</a:t>
            </a:r>
          </a:p>
        </p:txBody>
      </p:sp>
    </p:spTree>
    <p:extLst>
      <p:ext uri="{BB962C8B-B14F-4D97-AF65-F5344CB8AC3E}">
        <p14:creationId xmlns:p14="http://schemas.microsoft.com/office/powerpoint/2010/main" val="249363028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1"/>
            <a:ext cx="10515600" cy="1020896"/>
          </a:xfrm>
          <a:ln w="12700">
            <a:solidFill>
              <a:schemeClr val="tx2"/>
            </a:solidFill>
          </a:ln>
        </p:spPr>
        <p:txBody>
          <a:bodyPr>
            <a:normAutofit/>
          </a:bodyPr>
          <a:lstStyle/>
          <a:p>
            <a:pPr marL="0" indent="0">
              <a:lnSpc>
                <a:spcPct val="100000"/>
              </a:lnSpc>
              <a:buNone/>
            </a:pPr>
            <a:r>
              <a:rPr lang="ja-JP" altLang="en-US" sz="2000" dirty="0"/>
              <a:t>☑組織は、正式なレビューのための、</a:t>
            </a:r>
            <a:r>
              <a:rPr lang="en-US" altLang="ja-JP" sz="2000" dirty="0"/>
              <a:t>ISO9001</a:t>
            </a:r>
            <a:r>
              <a:rPr lang="ja-JP" altLang="en-US" sz="2000" dirty="0"/>
              <a:t>の</a:t>
            </a:r>
            <a:r>
              <a:rPr lang="en-US" altLang="ja-JP" sz="2000" dirty="0"/>
              <a:t>8.2.3.1</a:t>
            </a:r>
            <a:r>
              <a:rPr lang="ja-JP" altLang="en-US" sz="2000" dirty="0"/>
              <a:t>に述べられている要求事項に対する顧客が正式許可した免除の、</a:t>
            </a:r>
            <a:r>
              <a:rPr lang="ja-JP" altLang="en-US" sz="2000" b="1" dirty="0"/>
              <a:t>文書化した証拠を保持</a:t>
            </a:r>
            <a:r>
              <a:rPr lang="ja-JP" altLang="en-US" sz="2000" dirty="0"/>
              <a:t>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Autofit/>
          </a:bodyPr>
          <a:lstStyle/>
          <a:p>
            <a:r>
              <a:rPr lang="en-US" altLang="ja-JP" sz="2800" b="1" dirty="0">
                <a:solidFill>
                  <a:schemeClr val="tx2"/>
                </a:solidFill>
              </a:rPr>
              <a:t>8.2.3.1.1</a:t>
            </a:r>
            <a:r>
              <a:rPr lang="ja-JP" altLang="en-US" sz="2800" b="1" dirty="0">
                <a:solidFill>
                  <a:schemeClr val="tx2"/>
                </a:solidFill>
              </a:rPr>
              <a:t>　製品及びサービスに関する要求事項のレビュー－補足</a:t>
            </a:r>
            <a:endParaRPr kumimoji="1" lang="ja-JP" altLang="en-US" sz="28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79304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b="1" dirty="0">
                <a:solidFill>
                  <a:schemeClr val="bg1"/>
                </a:solidFill>
              </a:rPr>
              <a:t>8.2.3.1.1</a:t>
            </a:r>
            <a:r>
              <a:rPr lang="ja-JP" altLang="en-US" sz="2800" b="1" dirty="0">
                <a:solidFill>
                  <a:schemeClr val="bg1"/>
                </a:solidFill>
              </a:rPr>
              <a:t>　製品及びサービスに関する要求事項のレビュー－補足</a:t>
            </a:r>
          </a:p>
        </p:txBody>
      </p:sp>
      <p:sp>
        <p:nvSpPr>
          <p:cNvPr id="7" name="コンテンツ プレースホルダー 2">
            <a:extLst>
              <a:ext uri="{FF2B5EF4-FFF2-40B4-BE49-F238E27FC236}">
                <a16:creationId xmlns:a16="http://schemas.microsoft.com/office/drawing/2014/main" id="{8B13F91F-F5CC-450B-BF95-6AE20FA3D286}"/>
              </a:ext>
            </a:extLst>
          </p:cNvPr>
          <p:cNvSpPr txBox="1">
            <a:spLocks/>
          </p:cNvSpPr>
          <p:nvPr/>
        </p:nvSpPr>
        <p:spPr>
          <a:xfrm>
            <a:off x="838200" y="3895262"/>
            <a:ext cx="10515600" cy="2307233"/>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では、カタログなどによる製品情報によってレビューとすることを認めているが、</a:t>
            </a:r>
            <a:r>
              <a:rPr lang="en-US" altLang="ja-JP" sz="2400" dirty="0"/>
              <a:t>IATF</a:t>
            </a:r>
            <a:r>
              <a:rPr lang="ja-JP" altLang="en-US" sz="2400" dirty="0"/>
              <a:t>では基本的には認められない。但し、顧客が認めた（免除した）記録があれば可。</a:t>
            </a:r>
          </a:p>
        </p:txBody>
      </p:sp>
    </p:spTree>
    <p:extLst>
      <p:ext uri="{BB962C8B-B14F-4D97-AF65-F5344CB8AC3E}">
        <p14:creationId xmlns:p14="http://schemas.microsoft.com/office/powerpoint/2010/main" val="2861300343"/>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77109"/>
            <a:ext cx="10515600" cy="854074"/>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特殊特性の指定、承認文書及び管理に対する顧客要求事項に適合しなければならない。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8.2.3.1.2</a:t>
            </a:r>
            <a:r>
              <a:rPr lang="ja-JP" altLang="en-US" sz="3000" b="1" dirty="0">
                <a:solidFill>
                  <a:schemeClr val="tx2"/>
                </a:solidFill>
              </a:rPr>
              <a:t>　顧客指定の特殊特性</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55958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8.2.3.1.2</a:t>
            </a:r>
            <a:r>
              <a:rPr lang="ja-JP" altLang="en-US" sz="3000" b="1" dirty="0">
                <a:solidFill>
                  <a:schemeClr val="bg1"/>
                </a:solidFill>
              </a:rPr>
              <a:t>　顧客指定の特殊特性</a:t>
            </a:r>
          </a:p>
        </p:txBody>
      </p:sp>
      <p:sp>
        <p:nvSpPr>
          <p:cNvPr id="7" name="コンテンツ プレースホルダー 2">
            <a:extLst>
              <a:ext uri="{FF2B5EF4-FFF2-40B4-BE49-F238E27FC236}">
                <a16:creationId xmlns:a16="http://schemas.microsoft.com/office/drawing/2014/main" id="{8CF8653E-B57E-451F-A569-4C2F70C2B36B}"/>
              </a:ext>
            </a:extLst>
          </p:cNvPr>
          <p:cNvSpPr txBox="1">
            <a:spLocks/>
          </p:cNvSpPr>
          <p:nvPr/>
        </p:nvSpPr>
        <p:spPr>
          <a:xfrm>
            <a:off x="838200" y="3571567"/>
            <a:ext cx="10515600" cy="2784783"/>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重要保安部品と特殊特性の位置づけ。</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顧客から指定された場合、具体的な管理方法として何をすることが要求されているかを</a:t>
            </a:r>
            <a:r>
              <a:rPr lang="ja-JP" altLang="en-US" sz="2400" dirty="0">
                <a:solidFill>
                  <a:srgbClr val="FF0000"/>
                </a:solidFill>
                <a:effectLst>
                  <a:outerShdw blurRad="38100" dist="38100" dir="2700000" algn="tl">
                    <a:srgbClr val="000000">
                      <a:alpha val="43137"/>
                    </a:srgbClr>
                  </a:outerShdw>
                </a:effectLst>
              </a:rPr>
              <a:t>顧客固有要求事項（通常</a:t>
            </a:r>
            <a:r>
              <a:rPr lang="en-US" altLang="ja-JP" sz="2400" dirty="0">
                <a:solidFill>
                  <a:srgbClr val="FF0000"/>
                </a:solidFill>
                <a:effectLst>
                  <a:outerShdw blurRad="38100" dist="38100" dir="2700000" algn="tl">
                    <a:srgbClr val="000000">
                      <a:alpha val="43137"/>
                    </a:srgbClr>
                  </a:outerShdw>
                </a:effectLst>
              </a:rPr>
              <a:t>PPAP</a:t>
            </a:r>
            <a:r>
              <a:rPr lang="ja-JP" altLang="en-US" sz="2400" dirty="0">
                <a:solidFill>
                  <a:srgbClr val="FF0000"/>
                </a:solidFill>
                <a:effectLst>
                  <a:outerShdw blurRad="38100" dist="38100" dir="2700000" algn="tl">
                    <a:srgbClr val="000000">
                      <a:alpha val="43137"/>
                    </a:srgbClr>
                  </a:outerShdw>
                </a:effectLst>
              </a:rPr>
              <a:t>）で明確にしておくこと。</a:t>
            </a:r>
            <a:endParaRPr lang="en-US" altLang="ja-JP" sz="2400" dirty="0">
              <a:solidFill>
                <a:srgbClr val="FF0000"/>
              </a:solidFill>
              <a:effectLst>
                <a:outerShdw blurRad="38100" dist="38100" dir="2700000" algn="tl">
                  <a:srgbClr val="000000">
                    <a:alpha val="43137"/>
                  </a:srgbClr>
                </a:outerShdw>
              </a:effectLst>
            </a:endParaRPr>
          </a:p>
          <a:p>
            <a:pPr marL="457200" indent="-457200">
              <a:lnSpc>
                <a:spcPct val="100000"/>
              </a:lnSpc>
              <a:buFont typeface="+mj-lt"/>
              <a:buAutoNum type="arabicPeriod"/>
            </a:pPr>
            <a:r>
              <a:rPr lang="ja-JP" altLang="en-US" sz="2400" dirty="0"/>
              <a:t>顧客指定特殊特性は、</a:t>
            </a:r>
            <a:r>
              <a:rPr lang="en-US" altLang="ja-JP" sz="2400" dirty="0"/>
              <a:t>8.3.3</a:t>
            </a:r>
            <a:r>
              <a:rPr lang="ja-JP" altLang="en-US" sz="2400" dirty="0"/>
              <a:t>設計・開発へのインプットになる。</a:t>
            </a:r>
          </a:p>
        </p:txBody>
      </p:sp>
      <p:graphicFrame>
        <p:nvGraphicFramePr>
          <p:cNvPr id="2" name="表 1">
            <a:extLst>
              <a:ext uri="{FF2B5EF4-FFF2-40B4-BE49-F238E27FC236}">
                <a16:creationId xmlns:a16="http://schemas.microsoft.com/office/drawing/2014/main" id="{BB65BD3B-A231-48C2-A8D4-21E07509A8B5}"/>
              </a:ext>
            </a:extLst>
          </p:cNvPr>
          <p:cNvGraphicFramePr>
            <a:graphicFrameLocks noGrp="1"/>
          </p:cNvGraphicFramePr>
          <p:nvPr>
            <p:extLst>
              <p:ext uri="{D42A27DB-BD31-4B8C-83A1-F6EECF244321}">
                <p14:modId xmlns:p14="http://schemas.microsoft.com/office/powerpoint/2010/main" val="308910625"/>
              </p:ext>
            </p:extLst>
          </p:nvPr>
        </p:nvGraphicFramePr>
        <p:xfrm>
          <a:off x="1337937" y="4003983"/>
          <a:ext cx="9800116" cy="853440"/>
        </p:xfrm>
        <a:graphic>
          <a:graphicData uri="http://schemas.openxmlformats.org/drawingml/2006/table">
            <a:tbl>
              <a:tblPr firstRow="1" bandRow="1">
                <a:tableStyleId>{5940675A-B579-460E-94D1-54222C63F5DA}</a:tableStyleId>
              </a:tblPr>
              <a:tblGrid>
                <a:gridCol w="2793388">
                  <a:extLst>
                    <a:ext uri="{9D8B030D-6E8A-4147-A177-3AD203B41FA5}">
                      <a16:colId xmlns:a16="http://schemas.microsoft.com/office/drawing/2014/main" val="1032855595"/>
                    </a:ext>
                  </a:extLst>
                </a:gridCol>
                <a:gridCol w="7006728">
                  <a:extLst>
                    <a:ext uri="{9D8B030D-6E8A-4147-A177-3AD203B41FA5}">
                      <a16:colId xmlns:a16="http://schemas.microsoft.com/office/drawing/2014/main" val="99188867"/>
                    </a:ext>
                  </a:extLst>
                </a:gridCol>
              </a:tblGrid>
              <a:tr h="370840">
                <a:tc>
                  <a:txBody>
                    <a:bodyPr/>
                    <a:lstStyle/>
                    <a:p>
                      <a:r>
                        <a:rPr kumimoji="1" lang="ja-JP" altLang="en-US" sz="2200" dirty="0"/>
                        <a:t>重要保安部品</a:t>
                      </a:r>
                    </a:p>
                  </a:txBody>
                  <a:tcPr>
                    <a:solidFill>
                      <a:schemeClr val="tx2">
                        <a:lumMod val="20000"/>
                        <a:lumOff val="80000"/>
                      </a:schemeClr>
                    </a:solidFill>
                  </a:tcPr>
                </a:tc>
                <a:tc>
                  <a:txBody>
                    <a:bodyPr/>
                    <a:lstStyle/>
                    <a:p>
                      <a:r>
                        <a:rPr kumimoji="1" lang="ja-JP" altLang="en-US" sz="2200" dirty="0"/>
                        <a:t>安全保安上、重要な「部品全体」を対象とする。</a:t>
                      </a:r>
                      <a:endParaRPr kumimoji="1" lang="en-US" altLang="ja-JP" sz="2200" dirty="0"/>
                    </a:p>
                  </a:txBody>
                  <a:tcPr>
                    <a:solidFill>
                      <a:schemeClr val="tx2">
                        <a:lumMod val="20000"/>
                        <a:lumOff val="80000"/>
                      </a:schemeClr>
                    </a:solidFill>
                  </a:tcPr>
                </a:tc>
                <a:extLst>
                  <a:ext uri="{0D108BD9-81ED-4DB2-BD59-A6C34878D82A}">
                    <a16:rowId xmlns:a16="http://schemas.microsoft.com/office/drawing/2014/main" val="408009336"/>
                  </a:ext>
                </a:extLst>
              </a:tr>
              <a:tr h="370840">
                <a:tc>
                  <a:txBody>
                    <a:bodyPr/>
                    <a:lstStyle/>
                    <a:p>
                      <a:r>
                        <a:rPr kumimoji="1" lang="ja-JP" altLang="en-US" sz="2200" dirty="0"/>
                        <a:t>特殊特性</a:t>
                      </a:r>
                    </a:p>
                  </a:txBody>
                  <a:tcPr>
                    <a:solidFill>
                      <a:schemeClr val="tx2">
                        <a:lumMod val="20000"/>
                        <a:lumOff val="80000"/>
                      </a:schemeClr>
                    </a:solidFill>
                  </a:tcPr>
                </a:tc>
                <a:tc>
                  <a:txBody>
                    <a:bodyPr/>
                    <a:lstStyle/>
                    <a:p>
                      <a:r>
                        <a:rPr kumimoji="1" lang="ja-JP" altLang="en-US" sz="2200" dirty="0"/>
                        <a:t>特定の「品質特性」（寸法／材質／外観／性能など）</a:t>
                      </a:r>
                    </a:p>
                  </a:txBody>
                  <a:tcPr>
                    <a:solidFill>
                      <a:schemeClr val="tx2">
                        <a:lumMod val="20000"/>
                        <a:lumOff val="80000"/>
                      </a:schemeClr>
                    </a:solidFill>
                  </a:tcPr>
                </a:tc>
                <a:extLst>
                  <a:ext uri="{0D108BD9-81ED-4DB2-BD59-A6C34878D82A}">
                    <a16:rowId xmlns:a16="http://schemas.microsoft.com/office/drawing/2014/main" val="1338958888"/>
                  </a:ext>
                </a:extLst>
              </a:tr>
            </a:tbl>
          </a:graphicData>
        </a:graphic>
      </p:graphicFrame>
    </p:spTree>
    <p:extLst>
      <p:ext uri="{BB962C8B-B14F-4D97-AF65-F5344CB8AC3E}">
        <p14:creationId xmlns:p14="http://schemas.microsoft.com/office/powerpoint/2010/main" val="3407623133"/>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189</a:t>
            </a:fld>
            <a:endParaRPr kumimoji="1" lang="ja-JP" altLang="en-US"/>
          </a:p>
        </p:txBody>
      </p:sp>
      <p:sp>
        <p:nvSpPr>
          <p:cNvPr id="7" name="コンテンツ プレースホルダー 2">
            <a:extLst>
              <a:ext uri="{FF2B5EF4-FFF2-40B4-BE49-F238E27FC236}">
                <a16:creationId xmlns:a16="http://schemas.microsoft.com/office/drawing/2014/main" id="{8CF8653E-B57E-451F-A569-4C2F70C2B36B}"/>
              </a:ext>
            </a:extLst>
          </p:cNvPr>
          <p:cNvSpPr txBox="1">
            <a:spLocks/>
          </p:cNvSpPr>
          <p:nvPr/>
        </p:nvSpPr>
        <p:spPr>
          <a:xfrm>
            <a:off x="838200" y="1534161"/>
            <a:ext cx="10515600" cy="482219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特殊特性は、</a:t>
            </a:r>
            <a:endParaRPr lang="en-US" altLang="ja-JP" sz="2400" dirty="0"/>
          </a:p>
          <a:p>
            <a:pPr lvl="1">
              <a:lnSpc>
                <a:spcPct val="100000"/>
              </a:lnSpc>
              <a:buFont typeface="Wingdings" panose="05000000000000000000" pitchFamily="2" charset="2"/>
              <a:buChar char="Ø"/>
            </a:pPr>
            <a:r>
              <a:rPr lang="ja-JP" altLang="en-US" dirty="0"/>
              <a:t>顧客が指定し、　：顧客要求</a:t>
            </a:r>
            <a:endParaRPr lang="en-US" altLang="ja-JP" dirty="0"/>
          </a:p>
          <a:p>
            <a:pPr lvl="1">
              <a:lnSpc>
                <a:spcPct val="100000"/>
              </a:lnSpc>
              <a:buFont typeface="Wingdings" panose="05000000000000000000" pitchFamily="2" charset="2"/>
              <a:buChar char="Ø"/>
            </a:pPr>
            <a:r>
              <a:rPr lang="ja-JP" altLang="en-US" u="sng" dirty="0"/>
              <a:t>組織が追加</a:t>
            </a:r>
            <a:r>
              <a:rPr lang="ja-JP" altLang="en-US" dirty="0"/>
              <a:t>する。：</a:t>
            </a:r>
            <a:r>
              <a:rPr lang="en-US" altLang="ja-JP" dirty="0"/>
              <a:t>DFMEA</a:t>
            </a:r>
            <a:r>
              <a:rPr lang="ja-JP" altLang="en-US" dirty="0"/>
              <a:t>／</a:t>
            </a:r>
            <a:r>
              <a:rPr lang="en-US" altLang="ja-JP" dirty="0"/>
              <a:t>PFMEA</a:t>
            </a:r>
            <a:r>
              <a:rPr lang="ja-JP" altLang="en-US" dirty="0"/>
              <a:t>　➠　</a:t>
            </a:r>
            <a:r>
              <a:rPr lang="en-US" altLang="ja-JP" dirty="0"/>
              <a:t>8.3.5.1</a:t>
            </a:r>
            <a:r>
              <a:rPr lang="ja-JP" altLang="en-US" dirty="0"/>
              <a:t>／</a:t>
            </a:r>
            <a:r>
              <a:rPr lang="en-US" altLang="ja-JP" dirty="0"/>
              <a:t>8.3.5.2</a:t>
            </a:r>
          </a:p>
          <a:p>
            <a:pPr marL="514350" indent="-514350">
              <a:lnSpc>
                <a:spcPct val="100000"/>
              </a:lnSpc>
              <a:buFont typeface="+mj-lt"/>
              <a:buAutoNum type="arabicPeriod" startAt="5"/>
            </a:pPr>
            <a:r>
              <a:rPr lang="ja-JP" altLang="en-US" sz="2400" dirty="0"/>
              <a:t>特殊特性（記号）は全ての工程管理文書（</a:t>
            </a:r>
            <a:r>
              <a:rPr lang="en-US" altLang="ja-JP" sz="2400" dirty="0"/>
              <a:t>FMEA</a:t>
            </a:r>
            <a:r>
              <a:rPr lang="ja-JP" altLang="en-US" sz="2400" dirty="0"/>
              <a:t>、コントロールプラン、作業標準）に記載する。</a:t>
            </a:r>
          </a:p>
        </p:txBody>
      </p:sp>
      <p:sp>
        <p:nvSpPr>
          <p:cNvPr id="11" name="タイトル 1">
            <a:extLst>
              <a:ext uri="{FF2B5EF4-FFF2-40B4-BE49-F238E27FC236}">
                <a16:creationId xmlns:a16="http://schemas.microsoft.com/office/drawing/2014/main" id="{033BD01F-0FD1-4378-A6CA-E494E1CC9606}"/>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8.2.3.1.2</a:t>
            </a:r>
            <a:r>
              <a:rPr lang="ja-JP" altLang="en-US" sz="3000" b="1" dirty="0">
                <a:solidFill>
                  <a:schemeClr val="bg1"/>
                </a:solidFill>
              </a:rPr>
              <a:t>　顧客指定の特殊特性</a:t>
            </a:r>
          </a:p>
        </p:txBody>
      </p:sp>
      <p:sp>
        <p:nvSpPr>
          <p:cNvPr id="15" name="矢印: 上カーブ 14">
            <a:extLst>
              <a:ext uri="{FF2B5EF4-FFF2-40B4-BE49-F238E27FC236}">
                <a16:creationId xmlns:a16="http://schemas.microsoft.com/office/drawing/2014/main" id="{F75F49C4-AEFA-413C-B45A-49C137CD40DF}"/>
              </a:ext>
            </a:extLst>
          </p:cNvPr>
          <p:cNvSpPr/>
          <p:nvPr/>
        </p:nvSpPr>
        <p:spPr>
          <a:xfrm rot="5400000">
            <a:off x="475749" y="3397568"/>
            <a:ext cx="1815464" cy="41148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四角形: 角を丸くする 16">
            <a:extLst>
              <a:ext uri="{FF2B5EF4-FFF2-40B4-BE49-F238E27FC236}">
                <a16:creationId xmlns:a16="http://schemas.microsoft.com/office/drawing/2014/main" id="{8AF58F62-BE0F-46F7-A474-533D4148F49F}"/>
              </a:ext>
            </a:extLst>
          </p:cNvPr>
          <p:cNvSpPr/>
          <p:nvPr/>
        </p:nvSpPr>
        <p:spPr>
          <a:xfrm>
            <a:off x="1674761" y="3945256"/>
            <a:ext cx="8556359" cy="8801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u="sng" dirty="0">
                <a:solidFill>
                  <a:schemeClr val="tx1"/>
                </a:solidFill>
              </a:rPr>
              <a:t>顧客指定の特殊特性が無い場合でも、組織による特定がなされるべき。</a:t>
            </a:r>
          </a:p>
        </p:txBody>
      </p:sp>
    </p:spTree>
    <p:extLst>
      <p:ext uri="{BB962C8B-B14F-4D97-AF65-F5344CB8AC3E}">
        <p14:creationId xmlns:p14="http://schemas.microsoft.com/office/powerpoint/2010/main" val="4154346048"/>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2651393"/>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組織の製造工程が一貫して、顧客の規定した全ての技術及び生産能力の要求事項を満たす製品を生産できることが実現可能か否かを判定する</a:t>
            </a:r>
            <a:r>
              <a:rPr lang="ja-JP" altLang="en-US" sz="2000" dirty="0"/>
              <a:t>ための分析を実施するために、</a:t>
            </a:r>
            <a:r>
              <a:rPr lang="ja-JP" altLang="en-US" sz="2000" b="1" dirty="0"/>
              <a:t>部門横断的アプローチ</a:t>
            </a:r>
            <a:r>
              <a:rPr lang="ja-JP" altLang="en-US" sz="2000" dirty="0"/>
              <a:t>を利用しなければならない。</a:t>
            </a:r>
            <a:endParaRPr lang="en-US" altLang="ja-JP" sz="2000" dirty="0"/>
          </a:p>
          <a:p>
            <a:pPr marL="0" indent="0">
              <a:lnSpc>
                <a:spcPct val="100000"/>
              </a:lnSpc>
              <a:buNone/>
            </a:pPr>
            <a:r>
              <a:rPr lang="ja-JP" altLang="en-US" sz="2000" dirty="0"/>
              <a:t>☑組織は、このフィージビリティ分析を、組織にとって</a:t>
            </a:r>
            <a:r>
              <a:rPr lang="ja-JP" altLang="en-US" sz="2000" u="sng" dirty="0"/>
              <a:t>新規の製造技術又は製品技術に対して及び変更された製造工程又は製品設計に対して実施しなければならない。</a:t>
            </a:r>
          </a:p>
          <a:p>
            <a:pPr marL="0" indent="0">
              <a:lnSpc>
                <a:spcPct val="100000"/>
              </a:lnSpc>
              <a:buNone/>
            </a:pPr>
            <a:r>
              <a:rPr lang="ja-JP" altLang="en-US" sz="2000" dirty="0"/>
              <a:t>加えて、組織は、生産稼働、ベンチマーキング調査、又は他の適切な方法で、仕様どおりの製品を要求される速度で生産する能力の妥当性確認を行うことが望ましい。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8.2.3.1.3</a:t>
            </a:r>
            <a:r>
              <a:rPr kumimoji="1" lang="ja-JP" altLang="en-US" sz="3000" b="1" dirty="0">
                <a:solidFill>
                  <a:schemeClr val="tx2"/>
                </a:solidFill>
              </a:rPr>
              <a:t>　組織の製造フィージビリティ</a:t>
            </a:r>
          </a:p>
        </p:txBody>
      </p:sp>
    </p:spTree>
    <p:extLst>
      <p:ext uri="{BB962C8B-B14F-4D97-AF65-F5344CB8AC3E}">
        <p14:creationId xmlns:p14="http://schemas.microsoft.com/office/powerpoint/2010/main" val="210821100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顧客との契約前に、顧客要求事項に従って</a:t>
            </a:r>
            <a:r>
              <a:rPr lang="ja-JP" altLang="en-US" sz="2400" dirty="0">
                <a:solidFill>
                  <a:srgbClr val="FF0000"/>
                </a:solidFill>
                <a:effectLst>
                  <a:outerShdw blurRad="38100" dist="38100" dir="2700000" algn="tl">
                    <a:srgbClr val="000000">
                      <a:alpha val="43137"/>
                    </a:srgbClr>
                  </a:outerShdw>
                </a:effectLst>
              </a:rPr>
              <a:t>量産能力があるかどうか</a:t>
            </a:r>
            <a:r>
              <a:rPr lang="ja-JP" altLang="en-US" sz="2400" dirty="0"/>
              <a:t>を確認すること。（</a:t>
            </a:r>
            <a:r>
              <a:rPr lang="en-US" altLang="ja-JP" sz="2400" dirty="0"/>
              <a:t>7.1.3.1</a:t>
            </a:r>
            <a:r>
              <a:rPr lang="ja-JP" altLang="en-US" sz="2400" dirty="0"/>
              <a:t>　工場、施設及び設備の計画と併せ）</a:t>
            </a:r>
            <a:endParaRPr lang="en-US" altLang="ja-JP" sz="2400" dirty="0"/>
          </a:p>
          <a:p>
            <a:pPr lvl="1">
              <a:buFont typeface="Wingdings" panose="05000000000000000000" pitchFamily="2" charset="2"/>
              <a:buChar char="Ø"/>
            </a:pPr>
            <a:r>
              <a:rPr lang="en-US" altLang="ja-JP" dirty="0"/>
              <a:t>ISO9001</a:t>
            </a:r>
            <a:r>
              <a:rPr lang="ja-JP" altLang="en-US" dirty="0"/>
              <a:t>　</a:t>
            </a:r>
            <a:r>
              <a:rPr lang="en-US" altLang="ja-JP" dirty="0"/>
              <a:t>8.2.3.1</a:t>
            </a:r>
            <a:r>
              <a:rPr lang="ja-JP" altLang="en-US" dirty="0"/>
              <a:t>　要求事項を満たす能力があるか否かのレビュー</a:t>
            </a:r>
            <a:endParaRPr lang="en-US" altLang="ja-JP" dirty="0"/>
          </a:p>
          <a:p>
            <a:pPr marL="457200" indent="-457200">
              <a:buFont typeface="+mj-lt"/>
              <a:buAutoNum type="arabicPeriod"/>
            </a:pPr>
            <a:r>
              <a:rPr lang="ja-JP" altLang="en-US" sz="2400" dirty="0"/>
              <a:t>次のような事項について確認する。</a:t>
            </a:r>
            <a:endParaRPr lang="en-US" altLang="ja-JP" sz="2400" dirty="0"/>
          </a:p>
          <a:p>
            <a:pPr marL="914400" lvl="1" indent="-457200">
              <a:buFont typeface="+mj-ea"/>
              <a:buAutoNum type="circleNumDbPlain"/>
            </a:pPr>
            <a:r>
              <a:rPr lang="ja-JP" altLang="en-US" dirty="0"/>
              <a:t>製品設計案は、現有の技術で製造可能か。</a:t>
            </a:r>
            <a:endParaRPr lang="en-US" altLang="ja-JP" dirty="0"/>
          </a:p>
          <a:p>
            <a:pPr marL="914400" lvl="1" indent="-457200">
              <a:buFont typeface="+mj-ea"/>
              <a:buAutoNum type="circleNumDbPlain"/>
            </a:pPr>
            <a:r>
              <a:rPr lang="ja-JP" altLang="en-US" dirty="0"/>
              <a:t>想定している製造場所で製造可能か。</a:t>
            </a:r>
            <a:endParaRPr lang="en-US" altLang="ja-JP" dirty="0"/>
          </a:p>
          <a:p>
            <a:pPr marL="914400" lvl="1" indent="-457200">
              <a:buFont typeface="+mj-ea"/>
              <a:buAutoNum type="circleNumDbPlain"/>
            </a:pPr>
            <a:r>
              <a:rPr lang="ja-JP" altLang="en-US" dirty="0"/>
              <a:t>量産時に規定の数量を生産する能力があるか。</a:t>
            </a:r>
            <a:endParaRPr lang="en-US" altLang="ja-JP" dirty="0"/>
          </a:p>
          <a:p>
            <a:pPr marL="914400" lvl="1" indent="-457200">
              <a:buFont typeface="+mj-ea"/>
              <a:buAutoNum type="circleNumDbPlain"/>
            </a:pPr>
            <a:r>
              <a:rPr lang="ja-JP" altLang="en-US" dirty="0"/>
              <a:t>部品の供給体制に支障はないか。</a:t>
            </a:r>
            <a:endParaRPr lang="en-US" altLang="ja-JP" dirty="0"/>
          </a:p>
          <a:p>
            <a:pPr marL="914400" lvl="1" indent="-457200">
              <a:buFont typeface="+mj-ea"/>
              <a:buAutoNum type="circleNumDbPlain"/>
            </a:pPr>
            <a:r>
              <a:rPr lang="ja-JP" altLang="en-US" dirty="0"/>
              <a:t>類似品の工程能力に問題は無いか。（</a:t>
            </a:r>
            <a:r>
              <a:rPr lang="en-US" altLang="ja-JP" dirty="0" err="1"/>
              <a:t>Cpk</a:t>
            </a:r>
            <a:r>
              <a:rPr lang="ja-JP" altLang="en-US" dirty="0"/>
              <a:t>）</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8.2.3.1.3</a:t>
            </a:r>
            <a:r>
              <a:rPr lang="ja-JP" altLang="en-US" sz="3000" b="1" dirty="0">
                <a:solidFill>
                  <a:schemeClr val="bg1"/>
                </a:solidFill>
              </a:rPr>
              <a:t>　組織の製造フィージビリティ</a:t>
            </a:r>
            <a:endParaRPr kumimoji="1" lang="ja-JP" altLang="en-US" sz="3000" b="1" dirty="0">
              <a:solidFill>
                <a:schemeClr val="bg1"/>
              </a:solidFill>
            </a:endParaRPr>
          </a:p>
        </p:txBody>
      </p:sp>
      <p:sp>
        <p:nvSpPr>
          <p:cNvPr id="2" name="四角形: 角を丸くする 1">
            <a:extLst>
              <a:ext uri="{FF2B5EF4-FFF2-40B4-BE49-F238E27FC236}">
                <a16:creationId xmlns:a16="http://schemas.microsoft.com/office/drawing/2014/main" id="{51DC9F09-FD22-4AB1-8AF8-9FB83ECFBCC9}"/>
              </a:ext>
            </a:extLst>
          </p:cNvPr>
          <p:cNvSpPr/>
          <p:nvPr/>
        </p:nvSpPr>
        <p:spPr>
          <a:xfrm>
            <a:off x="2199151" y="5522741"/>
            <a:ext cx="7783049" cy="833609"/>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2200" dirty="0">
                <a:solidFill>
                  <a:schemeClr val="tx1"/>
                </a:solidFill>
              </a:rPr>
              <a:t>要求事項に対する</a:t>
            </a:r>
            <a:r>
              <a:rPr kumimoji="1" lang="en-US" altLang="ja-JP" sz="2200" dirty="0">
                <a:solidFill>
                  <a:schemeClr val="tx1"/>
                </a:solidFill>
              </a:rPr>
              <a:t>『</a:t>
            </a:r>
            <a:r>
              <a:rPr kumimoji="1" lang="ja-JP" altLang="en-US" sz="2200" dirty="0">
                <a:solidFill>
                  <a:schemeClr val="tx1"/>
                </a:solidFill>
              </a:rPr>
              <a:t>総合的生産能力</a:t>
            </a:r>
            <a:r>
              <a:rPr kumimoji="1" lang="en-US" altLang="ja-JP" sz="2200" dirty="0">
                <a:solidFill>
                  <a:schemeClr val="tx1"/>
                </a:solidFill>
              </a:rPr>
              <a:t>』</a:t>
            </a:r>
            <a:r>
              <a:rPr kumimoji="1" lang="ja-JP" altLang="en-US" sz="2200" dirty="0">
                <a:solidFill>
                  <a:schemeClr val="tx1"/>
                </a:solidFill>
              </a:rPr>
              <a:t>の評価を行うこと。</a:t>
            </a:r>
          </a:p>
        </p:txBody>
      </p:sp>
      <p:sp>
        <p:nvSpPr>
          <p:cNvPr id="7" name="矢印: 下 6">
            <a:extLst>
              <a:ext uri="{FF2B5EF4-FFF2-40B4-BE49-F238E27FC236}">
                <a16:creationId xmlns:a16="http://schemas.microsoft.com/office/drawing/2014/main" id="{D7D95956-5BAE-444D-B25E-5A0544BE39D2}"/>
              </a:ext>
            </a:extLst>
          </p:cNvPr>
          <p:cNvSpPr/>
          <p:nvPr/>
        </p:nvSpPr>
        <p:spPr>
          <a:xfrm>
            <a:off x="5222240" y="5110480"/>
            <a:ext cx="873760" cy="365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角を丸めた四角形 7">
            <a:extLst>
              <a:ext uri="{FF2B5EF4-FFF2-40B4-BE49-F238E27FC236}">
                <a16:creationId xmlns:a16="http://schemas.microsoft.com/office/drawing/2014/main" id="{A8E6B74D-7708-4DAB-AD8A-602C90229091}"/>
              </a:ext>
            </a:extLst>
          </p:cNvPr>
          <p:cNvSpPr/>
          <p:nvPr/>
        </p:nvSpPr>
        <p:spPr>
          <a:xfrm>
            <a:off x="7838440" y="4445520"/>
            <a:ext cx="3515360" cy="772421"/>
          </a:xfrm>
          <a:prstGeom prst="wedgeRoundRectCallout">
            <a:avLst>
              <a:gd name="adj1" fmla="val -48631"/>
              <a:gd name="adj2" fmla="val 86308"/>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rPr>
              <a:t>工場、施設及び設備については、</a:t>
            </a:r>
            <a:r>
              <a:rPr lang="en-US" altLang="ja-JP" sz="2000" dirty="0">
                <a:solidFill>
                  <a:schemeClr val="tx1"/>
                </a:solidFill>
              </a:rPr>
              <a:t>7.1.3.1</a:t>
            </a:r>
            <a:r>
              <a:rPr lang="ja-JP" altLang="en-US" sz="2000" dirty="0">
                <a:solidFill>
                  <a:schemeClr val="tx1"/>
                </a:solidFill>
              </a:rPr>
              <a:t>にて要求。</a:t>
            </a:r>
            <a:endParaRPr kumimoji="1" lang="ja-JP" altLang="en-US" sz="2000" dirty="0">
              <a:solidFill>
                <a:schemeClr val="tx1"/>
              </a:solidFill>
            </a:endParaRPr>
          </a:p>
        </p:txBody>
      </p:sp>
    </p:spTree>
    <p:extLst>
      <p:ext uri="{BB962C8B-B14F-4D97-AF65-F5344CB8AC3E}">
        <p14:creationId xmlns:p14="http://schemas.microsoft.com/office/powerpoint/2010/main" val="1593354771"/>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580222"/>
          </a:xfrm>
          <a:ln w="12700">
            <a:noFill/>
          </a:ln>
        </p:spPr>
        <p:txBody>
          <a:bodyPr>
            <a:normAutofit/>
          </a:bodyPr>
          <a:lstStyle/>
          <a:p>
            <a:pPr marL="0" indent="0">
              <a:buNone/>
            </a:pPr>
            <a:r>
              <a:rPr lang="ja-JP" altLang="en-US" sz="2400" dirty="0"/>
              <a:t>製品実現可能性検討書の例</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8.2.3.1.3</a:t>
            </a:r>
            <a:r>
              <a:rPr lang="ja-JP" altLang="en-US" sz="3000" b="1" dirty="0">
                <a:solidFill>
                  <a:schemeClr val="bg1"/>
                </a:solidFill>
              </a:rPr>
              <a:t>　組織の製造フィージビリティ</a:t>
            </a:r>
            <a:endParaRPr kumimoji="1" lang="ja-JP" altLang="en-US" sz="3000" b="1" dirty="0">
              <a:solidFill>
                <a:schemeClr val="bg1"/>
              </a:solidFill>
            </a:endParaRPr>
          </a:p>
        </p:txBody>
      </p:sp>
      <p:pic>
        <p:nvPicPr>
          <p:cNvPr id="6" name="図 5">
            <a:extLst>
              <a:ext uri="{FF2B5EF4-FFF2-40B4-BE49-F238E27FC236}">
                <a16:creationId xmlns:a16="http://schemas.microsoft.com/office/drawing/2014/main" id="{7D86C191-DA48-469A-8709-49AFA8F247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983036"/>
            <a:ext cx="10515599" cy="4285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789322"/>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四角形: メモ 18">
            <a:extLst>
              <a:ext uri="{FF2B5EF4-FFF2-40B4-BE49-F238E27FC236}">
                <a16:creationId xmlns:a16="http://schemas.microsoft.com/office/drawing/2014/main" id="{774D7FC9-E99E-44E8-B8D5-F1C72713BA99}"/>
              </a:ext>
            </a:extLst>
          </p:cNvPr>
          <p:cNvSpPr/>
          <p:nvPr/>
        </p:nvSpPr>
        <p:spPr>
          <a:xfrm>
            <a:off x="8072378" y="1900811"/>
            <a:ext cx="3281412" cy="203430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pPr>
              <a:lnSpc>
                <a:spcPts val="1600"/>
              </a:lnSpc>
            </a:pPr>
            <a:endParaRPr lang="en-US" altLang="ja-JP" sz="2000" dirty="0"/>
          </a:p>
          <a:p>
            <a:pPr>
              <a:lnSpc>
                <a:spcPts val="1600"/>
              </a:lnSpc>
            </a:pPr>
            <a:endParaRPr kumimoji="1" lang="en-US" altLang="ja-JP" dirty="0"/>
          </a:p>
          <a:p>
            <a:r>
              <a:rPr lang="en-US" altLang="ja-JP" dirty="0"/>
              <a:t>8.3.5.1</a:t>
            </a:r>
            <a:r>
              <a:rPr lang="ja-JP" altLang="en-US" dirty="0"/>
              <a:t>　設計・開発からのアウトプット－補足</a:t>
            </a:r>
            <a:endParaRPr lang="en-US" altLang="ja-JP" dirty="0"/>
          </a:p>
          <a:p>
            <a:r>
              <a:rPr lang="en-US" altLang="ja-JP" dirty="0"/>
              <a:t>8.3.5.2</a:t>
            </a:r>
            <a:r>
              <a:rPr lang="ja-JP" altLang="en-US" dirty="0"/>
              <a:t>　製造工程設計からのアウトプット</a:t>
            </a:r>
            <a:r>
              <a:rPr lang="ja-JP" altLang="en-US" sz="1600" dirty="0"/>
              <a:t>　</a:t>
            </a:r>
            <a:endParaRPr kumimoji="1" lang="en-US" altLang="ja-JP" sz="1600" dirty="0"/>
          </a:p>
        </p:txBody>
      </p:sp>
      <p:sp>
        <p:nvSpPr>
          <p:cNvPr id="12" name="四角形: メモ 11">
            <a:extLst>
              <a:ext uri="{FF2B5EF4-FFF2-40B4-BE49-F238E27FC236}">
                <a16:creationId xmlns:a16="http://schemas.microsoft.com/office/drawing/2014/main" id="{98213EBB-542A-4018-894A-BC7E7EE0A2C6}"/>
              </a:ext>
            </a:extLst>
          </p:cNvPr>
          <p:cNvSpPr/>
          <p:nvPr/>
        </p:nvSpPr>
        <p:spPr>
          <a:xfrm>
            <a:off x="4455294" y="1589056"/>
            <a:ext cx="3281412" cy="2346061"/>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pPr>
              <a:lnSpc>
                <a:spcPts val="1600"/>
              </a:lnSpc>
            </a:pPr>
            <a:endParaRPr kumimoji="1" lang="en-US" altLang="ja-JP" sz="1600" dirty="0"/>
          </a:p>
          <a:p>
            <a:r>
              <a:rPr lang="en-US" altLang="ja-JP" dirty="0"/>
              <a:t>8.3.3.1</a:t>
            </a:r>
            <a:r>
              <a:rPr lang="ja-JP" altLang="en-US" dirty="0"/>
              <a:t>　製品設計へのインプット</a:t>
            </a:r>
            <a:endParaRPr lang="en-US" altLang="ja-JP" dirty="0"/>
          </a:p>
          <a:p>
            <a:r>
              <a:rPr kumimoji="1" lang="en-US" altLang="ja-JP" dirty="0"/>
              <a:t>8.3.3.2</a:t>
            </a:r>
            <a:r>
              <a:rPr kumimoji="1" lang="ja-JP" altLang="en-US" dirty="0"/>
              <a:t>　製造工程設計へのインプット</a:t>
            </a:r>
            <a:endParaRPr kumimoji="1" lang="en-US" altLang="ja-JP" dirty="0"/>
          </a:p>
          <a:p>
            <a:r>
              <a:rPr lang="en-US" altLang="ja-JP" dirty="0"/>
              <a:t>8.3.3.3</a:t>
            </a:r>
            <a:r>
              <a:rPr lang="ja-JP" altLang="en-US" dirty="0"/>
              <a:t>　特殊特性</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193</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8.3</a:t>
            </a:r>
            <a:r>
              <a:rPr kumimoji="1" lang="ja-JP" altLang="en-US" sz="3600" dirty="0">
                <a:solidFill>
                  <a:schemeClr val="bg1"/>
                </a:solidFill>
              </a:rPr>
              <a:t>　製品及びサービスの設計・開発</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589056"/>
            <a:ext cx="3281413" cy="74418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8.3.3</a:t>
            </a:r>
            <a:r>
              <a:rPr lang="ja-JP" altLang="en-US" sz="2000" b="1" dirty="0">
                <a:solidFill>
                  <a:schemeClr val="tx1"/>
                </a:solidFill>
              </a:rPr>
              <a:t>　設計・開発へのインプット</a:t>
            </a:r>
            <a:endParaRPr lang="en-US" altLang="ja-JP" sz="2000" b="1" dirty="0">
              <a:solidFill>
                <a:schemeClr val="tx1"/>
              </a:solidFill>
            </a:endParaRP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2133422"/>
            <a:ext cx="3281412" cy="1246311"/>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r>
              <a:rPr lang="en-US" altLang="ja-JP" dirty="0"/>
              <a:t>8.3.1.1</a:t>
            </a:r>
            <a:r>
              <a:rPr lang="ja-JP" altLang="en-US" dirty="0"/>
              <a:t>　製品及びサービスの設計・開発－補足</a:t>
            </a:r>
            <a:endParaRPr lang="en-US" altLang="ja-JP"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578038"/>
            <a:ext cx="3281413" cy="85407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8.3.1</a:t>
            </a:r>
            <a:r>
              <a:rPr lang="ja-JP" altLang="en-US" sz="2000" b="1" dirty="0">
                <a:solidFill>
                  <a:schemeClr val="tx1"/>
                </a:solidFill>
              </a:rPr>
              <a:t>　一般</a:t>
            </a:r>
            <a:endParaRPr lang="en-US" altLang="ja-JP" sz="2000" b="1" dirty="0">
              <a:solidFill>
                <a:schemeClr val="tx1"/>
              </a:solidFill>
            </a:endParaRPr>
          </a:p>
          <a:p>
            <a:pPr>
              <a:lnSpc>
                <a:spcPts val="1600"/>
              </a:lnSpc>
            </a:pPr>
            <a:endParaRPr kumimoji="1" lang="en-US" altLang="ja-JP" sz="1600" dirty="0">
              <a:solidFill>
                <a:schemeClr val="tx1"/>
              </a:solidFill>
            </a:endParaRPr>
          </a:p>
        </p:txBody>
      </p:sp>
      <p:sp>
        <p:nvSpPr>
          <p:cNvPr id="13" name="フローチャート: 書類 12">
            <a:extLst>
              <a:ext uri="{FF2B5EF4-FFF2-40B4-BE49-F238E27FC236}">
                <a16:creationId xmlns:a16="http://schemas.microsoft.com/office/drawing/2014/main" id="{01A1497B-8B1D-4252-ADD4-72F06A6DEA9F}"/>
              </a:ext>
            </a:extLst>
          </p:cNvPr>
          <p:cNvSpPr/>
          <p:nvPr/>
        </p:nvSpPr>
        <p:spPr>
          <a:xfrm>
            <a:off x="8072386" y="1589056"/>
            <a:ext cx="3281413" cy="85407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8.3.5</a:t>
            </a:r>
            <a:r>
              <a:rPr lang="ja-JP" altLang="en-US" sz="2000" b="1" dirty="0">
                <a:solidFill>
                  <a:schemeClr val="tx1"/>
                </a:solidFill>
              </a:rPr>
              <a:t>　設計・開発からのアウトプット　　　　　　　　　　　　　　　　　　　　　　　　　　　　　　　　　　　　　　　　　　　　　　　　　　　　　　　　　　　　　　　　　　　　　　　　　　　　　　　　　　　　　　　　　　　　　　　　　　　　　　　　　　　　　　</a:t>
            </a:r>
            <a:endParaRPr kumimoji="1" lang="ja-JP" altLang="en-US" sz="2000" b="1" dirty="0">
              <a:solidFill>
                <a:schemeClr val="tx1"/>
              </a:solidFill>
            </a:endParaRPr>
          </a:p>
        </p:txBody>
      </p:sp>
      <p:sp>
        <p:nvSpPr>
          <p:cNvPr id="10" name="四角形: メモ 9">
            <a:extLst>
              <a:ext uri="{FF2B5EF4-FFF2-40B4-BE49-F238E27FC236}">
                <a16:creationId xmlns:a16="http://schemas.microsoft.com/office/drawing/2014/main" id="{2F3E368F-3CA3-47D0-B689-F62F9F1B48E9}"/>
              </a:ext>
            </a:extLst>
          </p:cNvPr>
          <p:cNvSpPr/>
          <p:nvPr/>
        </p:nvSpPr>
        <p:spPr>
          <a:xfrm>
            <a:off x="4455293" y="4168808"/>
            <a:ext cx="3281412" cy="218652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r>
              <a:rPr lang="en-US" altLang="ja-JP" dirty="0"/>
              <a:t>8.3.4.1</a:t>
            </a:r>
            <a:r>
              <a:rPr lang="ja-JP" altLang="en-US" dirty="0"/>
              <a:t>　監視</a:t>
            </a:r>
            <a:endParaRPr lang="en-US" altLang="ja-JP" dirty="0"/>
          </a:p>
          <a:p>
            <a:r>
              <a:rPr lang="en-US" altLang="ja-JP" dirty="0"/>
              <a:t>8.3.4.2</a:t>
            </a:r>
            <a:r>
              <a:rPr lang="ja-JP" altLang="en-US" dirty="0"/>
              <a:t>　設計・開発の妥当性確認</a:t>
            </a:r>
            <a:endParaRPr lang="en-US" altLang="ja-JP" dirty="0"/>
          </a:p>
          <a:p>
            <a:r>
              <a:rPr lang="en-US" altLang="ja-JP" dirty="0"/>
              <a:t>8.3.4.3</a:t>
            </a:r>
            <a:r>
              <a:rPr lang="ja-JP" altLang="en-US" dirty="0"/>
              <a:t>　試作プログラム</a:t>
            </a:r>
            <a:endParaRPr lang="en-US" altLang="ja-JP" dirty="0"/>
          </a:p>
          <a:p>
            <a:r>
              <a:rPr lang="en-US" altLang="ja-JP" dirty="0"/>
              <a:t>8.3.4.4</a:t>
            </a:r>
            <a:r>
              <a:rPr lang="ja-JP" altLang="en-US" dirty="0"/>
              <a:t>　製品承認プロセス</a:t>
            </a:r>
            <a:endParaRPr lang="en-US" altLang="ja-JP" dirty="0"/>
          </a:p>
        </p:txBody>
      </p:sp>
      <p:sp>
        <p:nvSpPr>
          <p:cNvPr id="14" name="フローチャート: 書類 13">
            <a:extLst>
              <a:ext uri="{FF2B5EF4-FFF2-40B4-BE49-F238E27FC236}">
                <a16:creationId xmlns:a16="http://schemas.microsoft.com/office/drawing/2014/main" id="{090CA56F-0131-49ED-BCA6-A13C45405990}"/>
              </a:ext>
            </a:extLst>
          </p:cNvPr>
          <p:cNvSpPr/>
          <p:nvPr/>
        </p:nvSpPr>
        <p:spPr>
          <a:xfrm>
            <a:off x="4455292" y="4084388"/>
            <a:ext cx="3281413" cy="67008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8.3.4</a:t>
            </a:r>
            <a:r>
              <a:rPr lang="ja-JP" altLang="en-US" sz="2000" b="1" dirty="0">
                <a:solidFill>
                  <a:schemeClr val="tx1"/>
                </a:solidFill>
              </a:rPr>
              <a:t>　設計・開発の管理</a:t>
            </a:r>
            <a:endParaRPr lang="en-US" altLang="ja-JP" sz="2000" b="1" dirty="0">
              <a:solidFill>
                <a:schemeClr val="tx1"/>
              </a:solidFill>
            </a:endParaRPr>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4538948"/>
            <a:ext cx="3281412" cy="1816384"/>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1600" dirty="0"/>
          </a:p>
          <a:p>
            <a:r>
              <a:rPr lang="en-US" altLang="ja-JP" dirty="0"/>
              <a:t>8.3.6.1</a:t>
            </a:r>
            <a:r>
              <a:rPr lang="ja-JP" altLang="en-US" dirty="0"/>
              <a:t>　設計・開発の変更－補足</a:t>
            </a:r>
            <a:endParaRPr lang="en-US" altLang="ja-JP" dirty="0"/>
          </a:p>
          <a:p>
            <a:endParaRPr lang="en-US" altLang="ja-JP" sz="1600" dirty="0"/>
          </a:p>
          <a:p>
            <a:endParaRPr lang="en-US" altLang="ja-JP" sz="1600" dirty="0"/>
          </a:p>
          <a:p>
            <a:endParaRPr lang="en-US" altLang="ja-JP" sz="1600" dirty="0"/>
          </a:p>
          <a:p>
            <a:pPr>
              <a:lnSpc>
                <a:spcPts val="1600"/>
              </a:lnSpc>
            </a:pPr>
            <a:r>
              <a:rPr lang="en-US" altLang="ja-JP" sz="1600" dirty="0"/>
              <a:t>7.5.1.1</a:t>
            </a:r>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4084388"/>
            <a:ext cx="3281413" cy="85407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8.3.6</a:t>
            </a:r>
            <a:r>
              <a:rPr lang="ja-JP" altLang="en-US" sz="2000" b="1" dirty="0">
                <a:solidFill>
                  <a:schemeClr val="tx1"/>
                </a:solidFill>
              </a:rPr>
              <a:t>　設計・開発の変更</a:t>
            </a:r>
            <a:endParaRPr lang="en-US" altLang="ja-JP" sz="2000" b="1" dirty="0">
              <a:solidFill>
                <a:schemeClr val="tx1"/>
              </a:solidFill>
            </a:endParaRPr>
          </a:p>
          <a:p>
            <a:pPr>
              <a:lnSpc>
                <a:spcPts val="1600"/>
              </a:lnSpc>
            </a:pPr>
            <a:endParaRPr lang="en-US" altLang="ja-JP" sz="1600" dirty="0">
              <a:solidFill>
                <a:schemeClr val="tx1"/>
              </a:solidFill>
            </a:endParaRPr>
          </a:p>
        </p:txBody>
      </p:sp>
      <p:sp>
        <p:nvSpPr>
          <p:cNvPr id="17" name="四角形: メモ 16">
            <a:extLst>
              <a:ext uri="{FF2B5EF4-FFF2-40B4-BE49-F238E27FC236}">
                <a16:creationId xmlns:a16="http://schemas.microsoft.com/office/drawing/2014/main" id="{900B67BC-3661-41F7-9265-666DDC1070F7}"/>
              </a:ext>
            </a:extLst>
          </p:cNvPr>
          <p:cNvSpPr/>
          <p:nvPr/>
        </p:nvSpPr>
        <p:spPr>
          <a:xfrm>
            <a:off x="838201" y="4285561"/>
            <a:ext cx="3281412" cy="2069772"/>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1600" dirty="0"/>
          </a:p>
          <a:p>
            <a:r>
              <a:rPr lang="en-US" altLang="ja-JP" dirty="0"/>
              <a:t>8.3.2.1</a:t>
            </a:r>
            <a:r>
              <a:rPr lang="ja-JP" altLang="en-US" dirty="0"/>
              <a:t>　設計・開発の計画－補足</a:t>
            </a:r>
            <a:endParaRPr lang="en-US" altLang="ja-JP" dirty="0"/>
          </a:p>
          <a:p>
            <a:r>
              <a:rPr lang="en-US" altLang="ja-JP" dirty="0"/>
              <a:t>8.3.2.2</a:t>
            </a:r>
            <a:r>
              <a:rPr lang="ja-JP" altLang="en-US" dirty="0"/>
              <a:t>　製品設計の技能</a:t>
            </a:r>
            <a:endParaRPr lang="en-US" altLang="ja-JP" dirty="0"/>
          </a:p>
          <a:p>
            <a:r>
              <a:rPr lang="en-US" altLang="ja-JP" dirty="0"/>
              <a:t>8.3.2.3</a:t>
            </a:r>
            <a:r>
              <a:rPr lang="ja-JP" altLang="en-US" dirty="0"/>
              <a:t>　組込みソフトウェアをもつ製品の開発</a:t>
            </a:r>
            <a:endParaRPr lang="en-US" altLang="ja-JP" dirty="0"/>
          </a:p>
        </p:txBody>
      </p:sp>
      <p:sp>
        <p:nvSpPr>
          <p:cNvPr id="18" name="フローチャート: 書類 17">
            <a:extLst>
              <a:ext uri="{FF2B5EF4-FFF2-40B4-BE49-F238E27FC236}">
                <a16:creationId xmlns:a16="http://schemas.microsoft.com/office/drawing/2014/main" id="{DE2359D9-DEBC-4884-A554-2B7E7F7F9D8D}"/>
              </a:ext>
            </a:extLst>
          </p:cNvPr>
          <p:cNvSpPr/>
          <p:nvPr/>
        </p:nvSpPr>
        <p:spPr>
          <a:xfrm>
            <a:off x="838200" y="4084388"/>
            <a:ext cx="3281413" cy="755201"/>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8.3.2</a:t>
            </a:r>
            <a:r>
              <a:rPr lang="ja-JP" altLang="en-US" sz="2000" b="1" dirty="0">
                <a:solidFill>
                  <a:schemeClr val="tx1"/>
                </a:solidFill>
              </a:rPr>
              <a:t>　設計・開発の計画</a:t>
            </a:r>
            <a:endParaRPr lang="en-US" altLang="ja-JP" sz="2000" b="1" dirty="0">
              <a:solidFill>
                <a:schemeClr val="tx1"/>
              </a:solidFill>
            </a:endParaRPr>
          </a:p>
          <a:p>
            <a:pPr>
              <a:lnSpc>
                <a:spcPts val="1600"/>
              </a:lnSpc>
            </a:pPr>
            <a:endParaRPr kumimoji="1" lang="en-US" altLang="ja-JP" sz="1600" dirty="0">
              <a:solidFill>
                <a:schemeClr val="tx1"/>
              </a:solidFill>
            </a:endParaRPr>
          </a:p>
        </p:txBody>
      </p:sp>
    </p:spTree>
    <p:extLst>
      <p:ext uri="{BB962C8B-B14F-4D97-AF65-F5344CB8AC3E}">
        <p14:creationId xmlns:p14="http://schemas.microsoft.com/office/powerpoint/2010/main" val="125376367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194</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IATF8.3</a:t>
            </a:r>
            <a:r>
              <a:rPr kumimoji="1" lang="ja-JP" altLang="en-US" sz="3600" dirty="0">
                <a:solidFill>
                  <a:schemeClr val="bg1"/>
                </a:solidFill>
              </a:rPr>
              <a:t>の要求事項体系確認</a:t>
            </a:r>
          </a:p>
        </p:txBody>
      </p:sp>
      <p:graphicFrame>
        <p:nvGraphicFramePr>
          <p:cNvPr id="2" name="表 2">
            <a:extLst>
              <a:ext uri="{FF2B5EF4-FFF2-40B4-BE49-F238E27FC236}">
                <a16:creationId xmlns:a16="http://schemas.microsoft.com/office/drawing/2014/main" id="{B3D1ABB0-5442-4E3B-841E-4932B4E3C116}"/>
              </a:ext>
            </a:extLst>
          </p:cNvPr>
          <p:cNvGraphicFramePr>
            <a:graphicFrameLocks noGrp="1"/>
          </p:cNvGraphicFramePr>
          <p:nvPr>
            <p:extLst>
              <p:ext uri="{D42A27DB-BD31-4B8C-83A1-F6EECF244321}">
                <p14:modId xmlns:p14="http://schemas.microsoft.com/office/powerpoint/2010/main" val="2864004447"/>
              </p:ext>
            </p:extLst>
          </p:nvPr>
        </p:nvGraphicFramePr>
        <p:xfrm>
          <a:off x="1605281" y="1300481"/>
          <a:ext cx="8839200" cy="5151120"/>
        </p:xfrm>
        <a:graphic>
          <a:graphicData uri="http://schemas.openxmlformats.org/drawingml/2006/table">
            <a:tbl>
              <a:tblPr firstRow="1" bandRow="1">
                <a:tableStyleId>{5940675A-B579-460E-94D1-54222C63F5DA}</a:tableStyleId>
              </a:tblPr>
              <a:tblGrid>
                <a:gridCol w="2946400">
                  <a:extLst>
                    <a:ext uri="{9D8B030D-6E8A-4147-A177-3AD203B41FA5}">
                      <a16:colId xmlns:a16="http://schemas.microsoft.com/office/drawing/2014/main" val="3032327894"/>
                    </a:ext>
                  </a:extLst>
                </a:gridCol>
                <a:gridCol w="2946400">
                  <a:extLst>
                    <a:ext uri="{9D8B030D-6E8A-4147-A177-3AD203B41FA5}">
                      <a16:colId xmlns:a16="http://schemas.microsoft.com/office/drawing/2014/main" val="3741951700"/>
                    </a:ext>
                  </a:extLst>
                </a:gridCol>
                <a:gridCol w="2946400">
                  <a:extLst>
                    <a:ext uri="{9D8B030D-6E8A-4147-A177-3AD203B41FA5}">
                      <a16:colId xmlns:a16="http://schemas.microsoft.com/office/drawing/2014/main" val="1889566778"/>
                    </a:ext>
                  </a:extLst>
                </a:gridCol>
              </a:tblGrid>
              <a:tr h="361071">
                <a:tc>
                  <a:txBody>
                    <a:bodyPr/>
                    <a:lstStyle/>
                    <a:p>
                      <a:pPr algn="ctr"/>
                      <a:r>
                        <a:rPr kumimoji="1" lang="en-US" altLang="ja-JP" sz="2000" dirty="0">
                          <a:solidFill>
                            <a:schemeClr val="bg1"/>
                          </a:solidFill>
                        </a:rPr>
                        <a:t>ISO9001</a:t>
                      </a:r>
                      <a:endParaRPr kumimoji="1" lang="ja-JP" altLang="en-US" sz="20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en-US" altLang="ja-JP" sz="2000" dirty="0">
                          <a:solidFill>
                            <a:schemeClr val="bg1"/>
                          </a:solidFill>
                        </a:rPr>
                        <a:t>IATF</a:t>
                      </a:r>
                      <a:r>
                        <a:rPr kumimoji="1" lang="ja-JP" altLang="en-US" sz="2000" dirty="0">
                          <a:solidFill>
                            <a:schemeClr val="bg1"/>
                          </a:solidFill>
                        </a:rPr>
                        <a:t>（製品設計）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en-US" altLang="ja-JP" sz="2000" dirty="0">
                          <a:solidFill>
                            <a:schemeClr val="bg1"/>
                          </a:solidFill>
                        </a:rPr>
                        <a:t>IATF</a:t>
                      </a:r>
                      <a:r>
                        <a:rPr kumimoji="1" lang="ja-JP" altLang="en-US" sz="2000" dirty="0">
                          <a:solidFill>
                            <a:schemeClr val="bg1"/>
                          </a:solidFill>
                        </a:rPr>
                        <a:t>（工程設計）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300619760"/>
                  </a:ext>
                </a:extLst>
              </a:tr>
              <a:tr h="361071">
                <a:tc>
                  <a:txBody>
                    <a:bodyPr/>
                    <a:lstStyle/>
                    <a:p>
                      <a:pPr algn="ctr"/>
                      <a:r>
                        <a:rPr kumimoji="1" lang="en-US" altLang="ja-JP" sz="2000" dirty="0">
                          <a:solidFill>
                            <a:schemeClr val="bg1"/>
                          </a:solidFill>
                        </a:rPr>
                        <a:t>8.3.1</a:t>
                      </a:r>
                      <a:r>
                        <a:rPr kumimoji="1" lang="ja-JP" altLang="en-US" sz="2000" dirty="0">
                          <a:solidFill>
                            <a:schemeClr val="bg1"/>
                          </a:solidFill>
                        </a:rPr>
                        <a:t>（一般）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algn="ctr"/>
                      <a:r>
                        <a:rPr kumimoji="1" lang="en-US" altLang="ja-JP" sz="2000" dirty="0"/>
                        <a:t>8.3.1.1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2648419"/>
                  </a:ext>
                </a:extLst>
              </a:tr>
              <a:tr h="361071">
                <a:tc rowSpan="3">
                  <a:txBody>
                    <a:bodyPr/>
                    <a:lstStyle/>
                    <a:p>
                      <a:pPr algn="ctr"/>
                      <a:r>
                        <a:rPr kumimoji="1" lang="en-US" altLang="ja-JP" sz="2000" dirty="0">
                          <a:solidFill>
                            <a:schemeClr val="bg1"/>
                          </a:solidFill>
                        </a:rPr>
                        <a:t>8.3.2</a:t>
                      </a:r>
                      <a:r>
                        <a:rPr kumimoji="1" lang="ja-JP" altLang="en-US" sz="2000" dirty="0">
                          <a:solidFill>
                            <a:schemeClr val="bg1"/>
                          </a:solidFill>
                        </a:rPr>
                        <a:t>（計画）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algn="ctr"/>
                      <a:r>
                        <a:rPr kumimoji="1" lang="en-US" altLang="ja-JP" sz="2000" dirty="0"/>
                        <a:t>8.3.2.1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9209314"/>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2000" dirty="0"/>
                        <a:t>8.3.2.2</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a:t>
                      </a:r>
                      <a:r>
                        <a:rPr kumimoji="1" lang="en-US" altLang="ja-JP" sz="2000" dirty="0"/>
                        <a:t>8.3.2.2</a:t>
                      </a:r>
                      <a:r>
                        <a:rPr kumimoji="1" lang="ja-JP" altLang="en-US" sz="2000" dirty="0"/>
                        <a:t>推奨）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3090029"/>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2000" dirty="0"/>
                        <a:t>8.3.2.3</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691969890"/>
                  </a:ext>
                </a:extLst>
              </a:tr>
              <a:tr h="361071">
                <a:tc rowSpan="2">
                  <a:txBody>
                    <a:bodyPr/>
                    <a:lstStyle/>
                    <a:p>
                      <a:pPr algn="ctr"/>
                      <a:r>
                        <a:rPr kumimoji="1" lang="en-US" altLang="ja-JP" sz="2000" dirty="0">
                          <a:solidFill>
                            <a:schemeClr val="bg1"/>
                          </a:solidFill>
                        </a:rPr>
                        <a:t>8.3.3</a:t>
                      </a:r>
                      <a:r>
                        <a:rPr kumimoji="1" lang="ja-JP" altLang="en-US" sz="2000" dirty="0">
                          <a:solidFill>
                            <a:schemeClr val="bg1"/>
                          </a:solidFill>
                        </a:rPr>
                        <a:t>（インプット）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en-US" altLang="ja-JP" sz="2000" dirty="0"/>
                        <a:t>8.3.3.1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en-US" altLang="ja-JP" sz="2000" dirty="0"/>
                        <a:t>8.3.3.2</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99643592"/>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kumimoji="1" lang="en-US" altLang="ja-JP" sz="2000" dirty="0"/>
                        <a:t>8.3.3.3</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6972089"/>
                  </a:ext>
                </a:extLst>
              </a:tr>
              <a:tr h="361071">
                <a:tc rowSpan="4">
                  <a:txBody>
                    <a:bodyPr/>
                    <a:lstStyle/>
                    <a:p>
                      <a:pPr algn="ctr"/>
                      <a:r>
                        <a:rPr kumimoji="1" lang="en-US" altLang="ja-JP" sz="2000" dirty="0">
                          <a:solidFill>
                            <a:schemeClr val="bg1"/>
                          </a:solidFill>
                        </a:rPr>
                        <a:t>8.3.4</a:t>
                      </a:r>
                      <a:r>
                        <a:rPr kumimoji="1" lang="ja-JP" altLang="en-US" sz="2000" dirty="0">
                          <a:solidFill>
                            <a:schemeClr val="bg1"/>
                          </a:solidFill>
                        </a:rPr>
                        <a:t>（管理）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algn="ctr"/>
                      <a:r>
                        <a:rPr kumimoji="1" lang="en-US" altLang="ja-JP" sz="2000" dirty="0"/>
                        <a:t>8.3.4.1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9999920"/>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kumimoji="1" lang="en-US" altLang="ja-JP" sz="2000" dirty="0"/>
                        <a:t>8.3.4.2</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179764"/>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kumimoji="1" lang="en-US" altLang="ja-JP" sz="2000" dirty="0"/>
                        <a:t>8.3.4.3</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4683028"/>
                  </a:ext>
                </a:extLst>
              </a:tr>
              <a:tr h="361071">
                <a:tc vMerge="1">
                  <a:txBody>
                    <a:bodyPr/>
                    <a:lstStyle/>
                    <a:p>
                      <a:pPr algn="ct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kumimoji="1" lang="en-US" altLang="ja-JP" sz="2000" dirty="0"/>
                        <a:t>8.3.4.4</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508878"/>
                  </a:ext>
                </a:extLst>
              </a:tr>
              <a:tr h="361071">
                <a:tc>
                  <a:txBody>
                    <a:bodyPr/>
                    <a:lstStyle/>
                    <a:p>
                      <a:pPr algn="ctr"/>
                      <a:r>
                        <a:rPr kumimoji="1" lang="en-US" altLang="ja-JP" sz="2000" dirty="0">
                          <a:solidFill>
                            <a:schemeClr val="bg1"/>
                          </a:solidFill>
                        </a:rPr>
                        <a:t>8.3.5</a:t>
                      </a:r>
                      <a:r>
                        <a:rPr kumimoji="1" lang="ja-JP" altLang="en-US" sz="2000" dirty="0">
                          <a:solidFill>
                            <a:schemeClr val="bg1"/>
                          </a:solidFill>
                        </a:rPr>
                        <a:t>（アウトプット）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en-US" altLang="ja-JP" sz="2000" dirty="0"/>
                        <a:t>8.3.5.1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en-US" altLang="ja-JP" sz="2000" dirty="0"/>
                        <a:t>8.3.5.2</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84420680"/>
                  </a:ext>
                </a:extLst>
              </a:tr>
              <a:tr h="361071">
                <a:tc>
                  <a:txBody>
                    <a:bodyPr/>
                    <a:lstStyle/>
                    <a:p>
                      <a:pPr algn="ctr"/>
                      <a:r>
                        <a:rPr kumimoji="1" lang="en-US" altLang="ja-JP" sz="2000" dirty="0">
                          <a:solidFill>
                            <a:schemeClr val="bg1"/>
                          </a:solidFill>
                        </a:rPr>
                        <a:t>8.3.6</a:t>
                      </a:r>
                      <a:r>
                        <a:rPr kumimoji="1" lang="ja-JP" altLang="en-US" sz="2000" dirty="0">
                          <a:solidFill>
                            <a:schemeClr val="bg1"/>
                          </a:solidFill>
                        </a:rPr>
                        <a:t>（変更）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algn="ctr"/>
                      <a:r>
                        <a:rPr kumimoji="1" lang="en-US" altLang="ja-JP" sz="2000" dirty="0"/>
                        <a:t>8.3.6.1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841280"/>
                  </a:ext>
                </a:extLst>
              </a:tr>
            </a:tbl>
          </a:graphicData>
        </a:graphic>
      </p:graphicFrame>
    </p:spTree>
    <p:extLst>
      <p:ext uri="{BB962C8B-B14F-4D97-AF65-F5344CB8AC3E}">
        <p14:creationId xmlns:p14="http://schemas.microsoft.com/office/powerpoint/2010/main" val="242641191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362419"/>
          </a:xfrm>
          <a:ln w="12700">
            <a:solidFill>
              <a:schemeClr val="tx2"/>
            </a:solidFill>
          </a:ln>
        </p:spPr>
        <p:txBody>
          <a:bodyPr>
            <a:normAutofit/>
          </a:bodyPr>
          <a:lstStyle/>
          <a:p>
            <a:pPr marL="0" indent="0">
              <a:lnSpc>
                <a:spcPct val="100000"/>
              </a:lnSpc>
              <a:buNone/>
            </a:pPr>
            <a:r>
              <a:rPr lang="ja-JP" altLang="en-US" sz="2000" dirty="0"/>
              <a:t>☑</a:t>
            </a:r>
            <a:r>
              <a:rPr lang="en-US" altLang="ja-JP" sz="2000" dirty="0"/>
              <a:t>ISO9001</a:t>
            </a:r>
            <a:r>
              <a:rPr lang="ja-JP" altLang="en-US" sz="2000" dirty="0"/>
              <a:t>の</a:t>
            </a:r>
            <a:r>
              <a:rPr lang="en-US" altLang="ja-JP" sz="2000" dirty="0"/>
              <a:t>8.3.1</a:t>
            </a:r>
            <a:r>
              <a:rPr lang="ja-JP" altLang="en-US" sz="2000" dirty="0"/>
              <a:t>の要求事項は、製品及び製造工程の設計・開発に適用し、不具合の検出よりも</a:t>
            </a:r>
            <a:r>
              <a:rPr lang="ja-JP" altLang="en-US" sz="2000" u="sng" dirty="0"/>
              <a:t>不具合の予防を重視しなければならない。</a:t>
            </a:r>
            <a:endParaRPr lang="en-US" altLang="ja-JP" sz="2000" u="sng" dirty="0"/>
          </a:p>
          <a:p>
            <a:pPr marL="0" indent="0">
              <a:lnSpc>
                <a:spcPct val="100000"/>
              </a:lnSpc>
              <a:buNone/>
            </a:pPr>
            <a:r>
              <a:rPr lang="ja-JP" altLang="en-US" sz="2000" dirty="0"/>
              <a:t>☑組織は、</a:t>
            </a:r>
            <a:r>
              <a:rPr lang="ja-JP" altLang="en-US" sz="2000" b="1" dirty="0"/>
              <a:t>設計・開発プロセスを文書化</a:t>
            </a:r>
            <a:r>
              <a:rPr lang="ja-JP" altLang="en-US" sz="2000" dirty="0"/>
              <a:t>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8.3.1.1</a:t>
            </a:r>
            <a:r>
              <a:rPr kumimoji="1" lang="ja-JP" altLang="en-US" sz="3000" b="1" dirty="0">
                <a:solidFill>
                  <a:schemeClr val="tx2"/>
                </a:solidFill>
              </a:rPr>
              <a:t>　製品及びサービスの設計・開発－補足</a:t>
            </a: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103084"/>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8.3.1.1</a:t>
            </a:r>
            <a:r>
              <a:rPr lang="ja-JP" altLang="en-US" sz="3000" b="1" dirty="0">
                <a:solidFill>
                  <a:schemeClr val="bg1"/>
                </a:solidFill>
              </a:rPr>
              <a:t>　製品及びサービスの設計・開発－補足</a:t>
            </a:r>
          </a:p>
        </p:txBody>
      </p:sp>
      <p:sp>
        <p:nvSpPr>
          <p:cNvPr id="7" name="コンテンツ プレースホルダー 2">
            <a:extLst>
              <a:ext uri="{FF2B5EF4-FFF2-40B4-BE49-F238E27FC236}">
                <a16:creationId xmlns:a16="http://schemas.microsoft.com/office/drawing/2014/main" id="{38D70330-0FCD-4DFC-BE22-1976BF8373D1}"/>
              </a:ext>
            </a:extLst>
          </p:cNvPr>
          <p:cNvSpPr txBox="1">
            <a:spLocks/>
          </p:cNvSpPr>
          <p:nvPr/>
        </p:nvSpPr>
        <p:spPr>
          <a:xfrm>
            <a:off x="838200" y="4173823"/>
            <a:ext cx="10515600" cy="218252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製造工程への適用が必須事項。（</a:t>
            </a:r>
            <a:r>
              <a:rPr lang="en-US" altLang="ja-JP" sz="2400" dirty="0"/>
              <a:t>4.3</a:t>
            </a:r>
            <a:r>
              <a:rPr lang="ja-JP" altLang="en-US" sz="2400" dirty="0"/>
              <a:t>項参照）</a:t>
            </a:r>
            <a:endParaRPr lang="en-US" altLang="ja-JP" sz="2400" dirty="0"/>
          </a:p>
          <a:p>
            <a:pPr marL="457200" indent="-457200">
              <a:lnSpc>
                <a:spcPct val="100000"/>
              </a:lnSpc>
              <a:buFont typeface="+mj-lt"/>
              <a:buAutoNum type="arabicPeriod"/>
            </a:pPr>
            <a:r>
              <a:rPr lang="ja-JP" altLang="en-US" sz="2400" dirty="0"/>
              <a:t>製品の設計・開発段階（</a:t>
            </a:r>
            <a:r>
              <a:rPr lang="en-US" altLang="ja-JP" sz="2400" dirty="0"/>
              <a:t>DFMEA</a:t>
            </a:r>
            <a:r>
              <a:rPr lang="ja-JP" altLang="en-US" sz="2400" dirty="0"/>
              <a:t>など）及び生産準備段階（</a:t>
            </a:r>
            <a:r>
              <a:rPr lang="en-US" altLang="ja-JP" sz="2400" dirty="0"/>
              <a:t>PFMEA</a:t>
            </a:r>
            <a:r>
              <a:rPr lang="ja-JP" altLang="en-US" sz="2400" dirty="0"/>
              <a:t>）において「</a:t>
            </a:r>
            <a:r>
              <a:rPr lang="ja-JP" altLang="en-US" sz="2400" dirty="0">
                <a:solidFill>
                  <a:srgbClr val="FF0000"/>
                </a:solidFill>
                <a:effectLst>
                  <a:outerShdw blurRad="38100" dist="38100" dir="2700000" algn="tl">
                    <a:srgbClr val="000000">
                      <a:alpha val="43137"/>
                    </a:srgbClr>
                  </a:outerShdw>
                </a:effectLst>
              </a:rPr>
              <a:t>量産時の不具合を未然に防ぐ</a:t>
            </a:r>
            <a:r>
              <a:rPr lang="ja-JP" altLang="en-US" sz="2400" dirty="0"/>
              <a:t>」ことが</a:t>
            </a:r>
            <a:r>
              <a:rPr lang="en-US" altLang="ja-JP" sz="2400" dirty="0"/>
              <a:t>8.3</a:t>
            </a:r>
            <a:r>
              <a:rPr lang="ja-JP" altLang="en-US" sz="2400" dirty="0"/>
              <a:t>項の目的。</a:t>
            </a:r>
            <a:endParaRPr lang="en-US" altLang="ja-JP" sz="2400" dirty="0"/>
          </a:p>
          <a:p>
            <a:pPr lvl="1">
              <a:lnSpc>
                <a:spcPct val="100000"/>
              </a:lnSpc>
              <a:buFont typeface="Wingdings" panose="05000000000000000000" pitchFamily="2" charset="2"/>
              <a:buChar char="Ø"/>
            </a:pPr>
            <a:r>
              <a:rPr lang="en-US" altLang="ja-JP" dirty="0"/>
              <a:t>FMEA</a:t>
            </a:r>
            <a:r>
              <a:rPr lang="ja-JP" altLang="en-US" dirty="0"/>
              <a:t>の基本　➠　検出度より</a:t>
            </a:r>
            <a:r>
              <a:rPr lang="ja-JP" altLang="en-US" dirty="0">
                <a:solidFill>
                  <a:srgbClr val="FF0000"/>
                </a:solidFill>
                <a:effectLst>
                  <a:outerShdw blurRad="38100" dist="38100" dir="2700000" algn="tl">
                    <a:srgbClr val="000000">
                      <a:alpha val="43137"/>
                    </a:srgbClr>
                  </a:outerShdw>
                </a:effectLst>
              </a:rPr>
              <a:t>発生度の改善</a:t>
            </a:r>
            <a:r>
              <a:rPr lang="ja-JP" altLang="en-US" dirty="0"/>
              <a:t>が優先。</a:t>
            </a:r>
            <a:endParaRPr lang="en-US" altLang="ja-JP" dirty="0"/>
          </a:p>
        </p:txBody>
      </p:sp>
    </p:spTree>
    <p:extLst>
      <p:ext uri="{BB962C8B-B14F-4D97-AF65-F5344CB8AC3E}">
        <p14:creationId xmlns:p14="http://schemas.microsoft.com/office/powerpoint/2010/main" val="276820504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☑組織は、設計・開発プロセスに、</a:t>
            </a:r>
            <a:r>
              <a:rPr lang="ja-JP" altLang="en-US" sz="2000" u="sng" dirty="0"/>
              <a:t>影響を受ける全ての組織内の利害関係者及び必要に応じて、サプライチェーンを含める</a:t>
            </a:r>
            <a:r>
              <a:rPr lang="ja-JP" altLang="en-US" sz="2000" dirty="0"/>
              <a:t>ことを確実にしなければならない。そのような</a:t>
            </a:r>
            <a:r>
              <a:rPr lang="ja-JP" altLang="en-US" sz="2000" b="1" dirty="0"/>
              <a:t>部門横断的アプローチ</a:t>
            </a:r>
            <a:r>
              <a:rPr lang="ja-JP" altLang="en-US" sz="2000" dirty="0"/>
              <a:t>を用いる領域の例には、次の事項がある。しかし、それに限定されない。</a:t>
            </a:r>
            <a:endParaRPr lang="en-US" altLang="ja-JP" sz="2000" dirty="0"/>
          </a:p>
          <a:p>
            <a:pPr marL="800100" lvl="1" indent="-342900">
              <a:lnSpc>
                <a:spcPct val="100000"/>
              </a:lnSpc>
              <a:buFont typeface="+mj-lt"/>
              <a:buAutoNum type="alphaLcPeriod"/>
            </a:pPr>
            <a:r>
              <a:rPr lang="ja-JP" altLang="en-US" sz="2000" dirty="0"/>
              <a:t>プロジェクトマネジメント（例えば、</a:t>
            </a:r>
            <a:r>
              <a:rPr lang="en-US" altLang="ja-JP" sz="2000" u="sng" dirty="0"/>
              <a:t>APQP</a:t>
            </a:r>
            <a:r>
              <a:rPr lang="ja-JP" altLang="en-US" sz="2000" dirty="0"/>
              <a:t>又は</a:t>
            </a:r>
            <a:r>
              <a:rPr lang="en-US" altLang="ja-JP" sz="2000" dirty="0"/>
              <a:t>VDA-RGA</a:t>
            </a:r>
            <a:r>
              <a:rPr lang="ja-JP" altLang="en-US" sz="2000" dirty="0"/>
              <a:t>）</a:t>
            </a:r>
            <a:endParaRPr lang="en-US" altLang="ja-JP" sz="2000" dirty="0"/>
          </a:p>
          <a:p>
            <a:pPr marL="800100" lvl="1" indent="-342900">
              <a:lnSpc>
                <a:spcPct val="100000"/>
              </a:lnSpc>
              <a:buFont typeface="+mj-lt"/>
              <a:buAutoNum type="alphaLcPeriod"/>
            </a:pPr>
            <a:r>
              <a:rPr lang="ja-JP" altLang="en-US" sz="2000" dirty="0"/>
              <a:t>代替の設計提案及び製造工程案の使用を検討するような、製品設計及び製造工程設計の活動（例えば、</a:t>
            </a:r>
            <a:r>
              <a:rPr lang="en-US" altLang="ja-JP" sz="2000" u="sng" dirty="0"/>
              <a:t>DFM</a:t>
            </a:r>
            <a:r>
              <a:rPr lang="ja-JP" altLang="en-US" sz="2000" u="sng" dirty="0"/>
              <a:t>及び</a:t>
            </a:r>
            <a:r>
              <a:rPr lang="en-US" altLang="ja-JP" sz="2000" u="sng" dirty="0"/>
              <a:t>DFA</a:t>
            </a:r>
            <a:r>
              <a:rPr lang="ja-JP" altLang="en-US" sz="2000" dirty="0"/>
              <a:t>）</a:t>
            </a:r>
            <a:endParaRPr lang="en-US" altLang="ja-JP" sz="2000" dirty="0"/>
          </a:p>
          <a:p>
            <a:pPr marL="800100" lvl="1" indent="-342900">
              <a:lnSpc>
                <a:spcPct val="100000"/>
              </a:lnSpc>
              <a:buFont typeface="+mj-lt"/>
              <a:buAutoNum type="alphaLcPeriod"/>
            </a:pPr>
            <a:r>
              <a:rPr lang="ja-JP" altLang="en-US" sz="2000" dirty="0"/>
              <a:t>潜在的リスクを低減する処置を含む、</a:t>
            </a:r>
            <a:r>
              <a:rPr lang="ja-JP" altLang="en-US" sz="2000" u="sng" dirty="0"/>
              <a:t>製品設計リスク分析（</a:t>
            </a:r>
            <a:r>
              <a:rPr lang="en-US" altLang="ja-JP" sz="2000" u="sng" dirty="0"/>
              <a:t>FMEA</a:t>
            </a:r>
            <a:r>
              <a:rPr lang="ja-JP" altLang="en-US" sz="2000" u="sng" dirty="0"/>
              <a:t>）</a:t>
            </a:r>
            <a:r>
              <a:rPr lang="ja-JP" altLang="en-US" sz="2000" dirty="0"/>
              <a:t>の実施及びレビュー</a:t>
            </a:r>
            <a:endParaRPr lang="en-US" altLang="ja-JP" sz="2000" dirty="0"/>
          </a:p>
          <a:p>
            <a:pPr marL="800100" lvl="1" indent="-342900">
              <a:lnSpc>
                <a:spcPct val="100000"/>
              </a:lnSpc>
              <a:buFont typeface="+mj-lt"/>
              <a:buAutoNum type="alphaLcPeriod"/>
            </a:pPr>
            <a:r>
              <a:rPr lang="ja-JP" altLang="en-US" sz="2000" u="sng" dirty="0"/>
              <a:t>製造工程リスク分析</a:t>
            </a:r>
            <a:r>
              <a:rPr lang="ja-JP" altLang="en-US" sz="2000" dirty="0"/>
              <a:t>の実施及びレビュー（例えば、</a:t>
            </a:r>
            <a:r>
              <a:rPr lang="en-US" altLang="ja-JP" sz="2000" dirty="0"/>
              <a:t>FMEA</a:t>
            </a:r>
            <a:r>
              <a:rPr lang="ja-JP" altLang="en-US" sz="2000" dirty="0" err="1"/>
              <a:t>、</a:t>
            </a:r>
            <a:r>
              <a:rPr lang="ja-JP" altLang="en-US" sz="2000" dirty="0"/>
              <a:t>工程フロー、コントロールプラン及び標準作業指示書）</a:t>
            </a:r>
          </a:p>
          <a:p>
            <a:pPr marL="0" indent="0">
              <a:lnSpc>
                <a:spcPct val="100000"/>
              </a:lnSpc>
              <a:buNone/>
            </a:pPr>
            <a:r>
              <a:rPr lang="ja-JP" altLang="en-US" sz="2000" dirty="0"/>
              <a:t>注記　</a:t>
            </a:r>
            <a:r>
              <a:rPr lang="ja-JP" altLang="en-US" sz="2000" b="1" dirty="0"/>
              <a:t>部門横断的アプローチ</a:t>
            </a:r>
            <a:r>
              <a:rPr lang="ja-JP" altLang="en-US" sz="2000" dirty="0"/>
              <a:t>には、通常、組織の設計、製造、技術、品質、生産、購買、供給者、保全及び他の適切な部門を含める。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8.3.2.1</a:t>
            </a:r>
            <a:r>
              <a:rPr kumimoji="1" lang="ja-JP" altLang="en-US" sz="3000" b="1" dirty="0">
                <a:solidFill>
                  <a:schemeClr val="tx2"/>
                </a:solidFill>
              </a:rPr>
              <a:t>　設計・開発の計画－補足</a:t>
            </a:r>
          </a:p>
        </p:txBody>
      </p:sp>
    </p:spTree>
    <p:extLst>
      <p:ext uri="{BB962C8B-B14F-4D97-AF65-F5344CB8AC3E}">
        <p14:creationId xmlns:p14="http://schemas.microsoft.com/office/powerpoint/2010/main" val="2841683193"/>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en-US" altLang="ja-JP" sz="2400" dirty="0"/>
              <a:t>ISO9001</a:t>
            </a:r>
            <a:r>
              <a:rPr lang="ja-JP" altLang="en-US" sz="2400" dirty="0"/>
              <a:t>の要求事項に対し、部門横断的アプローチの強化と具体的計画事例が示された。</a:t>
            </a:r>
            <a:endParaRPr lang="en-US" altLang="ja-JP" sz="2400" dirty="0"/>
          </a:p>
          <a:p>
            <a:pPr lvl="1">
              <a:buFont typeface="Wingdings" panose="05000000000000000000" pitchFamily="2" charset="2"/>
              <a:buChar char="Ø"/>
            </a:pPr>
            <a:r>
              <a:rPr lang="ja-JP" altLang="en-US" dirty="0"/>
              <a:t>注記に「営業」は示されていないが、顧客要求事項に関連して当然含まれると判断すべき。</a:t>
            </a:r>
            <a:endParaRPr lang="en-US" altLang="ja-JP" dirty="0"/>
          </a:p>
          <a:p>
            <a:pPr marL="514350" indent="-514350">
              <a:buFont typeface="+mj-lt"/>
              <a:buAutoNum type="arabicPeriod"/>
            </a:pPr>
            <a:r>
              <a:rPr lang="ja-JP" altLang="en-US" sz="2400" dirty="0"/>
              <a:t>通常、顧客の開発スケジュールは機密性が高く、全容は示されないが、部品供給組織に対して必要な情報と計画（要求期限）が示され、その情報が組織の計画の基本となる。</a:t>
            </a:r>
            <a:endParaRPr lang="en-US" altLang="ja-JP" sz="2400" dirty="0"/>
          </a:p>
          <a:p>
            <a:pPr lvl="1">
              <a:buFont typeface="Wingdings" panose="05000000000000000000" pitchFamily="2" charset="2"/>
              <a:buChar char="Ø"/>
            </a:pPr>
            <a:r>
              <a:rPr lang="en-US" altLang="ja-JP" dirty="0"/>
              <a:t>QCD</a:t>
            </a:r>
            <a:r>
              <a:rPr lang="ja-JP" altLang="en-US" dirty="0"/>
              <a:t>の目標を達成するために、</a:t>
            </a:r>
            <a:r>
              <a:rPr lang="ja-JP" altLang="en-US" dirty="0">
                <a:solidFill>
                  <a:srgbClr val="FF0000"/>
                </a:solidFill>
                <a:effectLst>
                  <a:outerShdw blurRad="38100" dist="38100" dir="2700000" algn="tl">
                    <a:srgbClr val="000000">
                      <a:alpha val="43137"/>
                    </a:srgbClr>
                  </a:outerShdw>
                </a:effectLst>
              </a:rPr>
              <a:t>設計・開発及び生産準備（金型／治工具／ゲージ／生産設備）の時期</a:t>
            </a:r>
            <a:r>
              <a:rPr lang="ja-JP" altLang="en-US" dirty="0"/>
              <a:t>を明確にする。</a:t>
            </a:r>
            <a:endParaRPr lang="en-US" altLang="ja-JP" dirty="0"/>
          </a:p>
          <a:p>
            <a:pPr lvl="1">
              <a:buFont typeface="Wingdings" panose="05000000000000000000" pitchFamily="2" charset="2"/>
              <a:buChar char="Ø"/>
            </a:pPr>
            <a:r>
              <a:rPr lang="ja-JP" altLang="en-US" dirty="0"/>
              <a:t>プロジェクト会議等の際に</a:t>
            </a:r>
            <a:r>
              <a:rPr lang="ja-JP" altLang="en-US" dirty="0">
                <a:solidFill>
                  <a:srgbClr val="FF0000"/>
                </a:solidFill>
                <a:effectLst>
                  <a:outerShdw blurRad="38100" dist="38100" dir="2700000" algn="tl">
                    <a:srgbClr val="000000">
                      <a:alpha val="43137"/>
                    </a:srgbClr>
                  </a:outerShdw>
                </a:effectLst>
              </a:rPr>
              <a:t>進捗管理</a:t>
            </a:r>
            <a:r>
              <a:rPr lang="ja-JP" altLang="en-US" dirty="0"/>
              <a:t>を行う。</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8.3.2.1</a:t>
            </a:r>
            <a:r>
              <a:rPr lang="ja-JP" altLang="en-US" sz="3000" b="1" dirty="0">
                <a:solidFill>
                  <a:schemeClr val="bg1"/>
                </a:solidFill>
              </a:rPr>
              <a:t>　設計・開発の計画－補足</a:t>
            </a:r>
            <a:endParaRPr kumimoji="1" lang="ja-JP" altLang="en-US" sz="3000" b="1" dirty="0">
              <a:solidFill>
                <a:schemeClr val="bg1"/>
              </a:solidFill>
            </a:endParaRPr>
          </a:p>
        </p:txBody>
      </p:sp>
    </p:spTree>
    <p:extLst>
      <p:ext uri="{BB962C8B-B14F-4D97-AF65-F5344CB8AC3E}">
        <p14:creationId xmlns:p14="http://schemas.microsoft.com/office/powerpoint/2010/main" val="3252928597"/>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7BAD41DE-1A08-4406-8AA5-E1685DA212DF}"/>
              </a:ext>
            </a:extLst>
          </p:cNvPr>
          <p:cNvGraphicFramePr>
            <a:graphicFrameLocks noGrp="1"/>
          </p:cNvGraphicFramePr>
          <p:nvPr>
            <p:extLst>
              <p:ext uri="{D42A27DB-BD31-4B8C-83A1-F6EECF244321}">
                <p14:modId xmlns:p14="http://schemas.microsoft.com/office/powerpoint/2010/main" val="4082175043"/>
              </p:ext>
            </p:extLst>
          </p:nvPr>
        </p:nvGraphicFramePr>
        <p:xfrm>
          <a:off x="838200" y="2480940"/>
          <a:ext cx="10515600" cy="3820039"/>
        </p:xfrm>
        <a:graphic>
          <a:graphicData uri="http://schemas.openxmlformats.org/drawingml/2006/table">
            <a:tbl>
              <a:tblPr firstRow="1" bandRow="1">
                <a:tableStyleId>{5940675A-B579-460E-94D1-54222C63F5DA}</a:tableStyleId>
              </a:tblPr>
              <a:tblGrid>
                <a:gridCol w="1023652">
                  <a:extLst>
                    <a:ext uri="{9D8B030D-6E8A-4147-A177-3AD203B41FA5}">
                      <a16:colId xmlns:a16="http://schemas.microsoft.com/office/drawing/2014/main" val="93586170"/>
                    </a:ext>
                  </a:extLst>
                </a:gridCol>
                <a:gridCol w="1366090">
                  <a:extLst>
                    <a:ext uri="{9D8B030D-6E8A-4147-A177-3AD203B41FA5}">
                      <a16:colId xmlns:a16="http://schemas.microsoft.com/office/drawing/2014/main" val="3915477965"/>
                    </a:ext>
                  </a:extLst>
                </a:gridCol>
                <a:gridCol w="2313542">
                  <a:extLst>
                    <a:ext uri="{9D8B030D-6E8A-4147-A177-3AD203B41FA5}">
                      <a16:colId xmlns:a16="http://schemas.microsoft.com/office/drawing/2014/main" val="3817321131"/>
                    </a:ext>
                  </a:extLst>
                </a:gridCol>
                <a:gridCol w="2307116">
                  <a:extLst>
                    <a:ext uri="{9D8B030D-6E8A-4147-A177-3AD203B41FA5}">
                      <a16:colId xmlns:a16="http://schemas.microsoft.com/office/drawing/2014/main" val="4203011363"/>
                    </a:ext>
                  </a:extLst>
                </a:gridCol>
                <a:gridCol w="2187766">
                  <a:extLst>
                    <a:ext uri="{9D8B030D-6E8A-4147-A177-3AD203B41FA5}">
                      <a16:colId xmlns:a16="http://schemas.microsoft.com/office/drawing/2014/main" val="4288919373"/>
                    </a:ext>
                  </a:extLst>
                </a:gridCol>
                <a:gridCol w="1317434">
                  <a:extLst>
                    <a:ext uri="{9D8B030D-6E8A-4147-A177-3AD203B41FA5}">
                      <a16:colId xmlns:a16="http://schemas.microsoft.com/office/drawing/2014/main" val="1447672930"/>
                    </a:ext>
                  </a:extLst>
                </a:gridCol>
              </a:tblGrid>
              <a:tr h="3820039">
                <a:tc>
                  <a:txBody>
                    <a:bodyPr/>
                    <a:lstStyle/>
                    <a:p>
                      <a:endParaRPr kumimoji="1" lang="ja-JP"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50741819"/>
                  </a:ext>
                </a:extLst>
              </a:tr>
            </a:tbl>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558188"/>
          </a:xfrm>
          <a:ln w="12700">
            <a:noFill/>
          </a:ln>
        </p:spPr>
        <p:txBody>
          <a:bodyPr>
            <a:normAutofit/>
          </a:bodyPr>
          <a:lstStyle/>
          <a:p>
            <a:pPr marL="0" indent="0" algn="ctr">
              <a:buNone/>
            </a:pPr>
            <a:r>
              <a:rPr lang="en-US" altLang="ja-JP" sz="2400" u="sng" dirty="0"/>
              <a:t>APQP</a:t>
            </a:r>
            <a:r>
              <a:rPr lang="ja-JP" altLang="en-US" sz="2400" u="sng" dirty="0"/>
              <a:t>タイミングチャート</a:t>
            </a:r>
            <a:endParaRPr lang="en-US" altLang="ja-JP" sz="2400" u="sng"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8.3.2.1</a:t>
            </a:r>
            <a:r>
              <a:rPr lang="ja-JP" altLang="en-US" sz="3000" b="1" dirty="0">
                <a:solidFill>
                  <a:schemeClr val="bg1"/>
                </a:solidFill>
              </a:rPr>
              <a:t>　設計・開発の計画－補足</a:t>
            </a:r>
            <a:endParaRPr kumimoji="1" lang="ja-JP" altLang="en-US" sz="3000" b="1" dirty="0">
              <a:solidFill>
                <a:schemeClr val="bg1"/>
              </a:solidFill>
            </a:endParaRPr>
          </a:p>
        </p:txBody>
      </p:sp>
      <p:sp>
        <p:nvSpPr>
          <p:cNvPr id="2" name="矢印: 五方向 1">
            <a:extLst>
              <a:ext uri="{FF2B5EF4-FFF2-40B4-BE49-F238E27FC236}">
                <a16:creationId xmlns:a16="http://schemas.microsoft.com/office/drawing/2014/main" id="{70293E69-B490-4A3A-835A-19D01A3402C6}"/>
              </a:ext>
            </a:extLst>
          </p:cNvPr>
          <p:cNvSpPr/>
          <p:nvPr/>
        </p:nvSpPr>
        <p:spPr>
          <a:xfrm>
            <a:off x="838200" y="2604893"/>
            <a:ext cx="2797366"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計画</a:t>
            </a:r>
          </a:p>
        </p:txBody>
      </p:sp>
      <p:sp>
        <p:nvSpPr>
          <p:cNvPr id="7" name="正方形/長方形 6">
            <a:extLst>
              <a:ext uri="{FF2B5EF4-FFF2-40B4-BE49-F238E27FC236}">
                <a16:creationId xmlns:a16="http://schemas.microsoft.com/office/drawing/2014/main" id="{283060D9-4C35-4378-A211-B609B1C4AA2A}"/>
              </a:ext>
            </a:extLst>
          </p:cNvPr>
          <p:cNvSpPr/>
          <p:nvPr/>
        </p:nvSpPr>
        <p:spPr>
          <a:xfrm>
            <a:off x="1243065" y="1909382"/>
            <a:ext cx="1200839" cy="470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コンセプト</a:t>
            </a:r>
            <a:endParaRPr kumimoji="1" lang="en-US" altLang="ja-JP" sz="1400" dirty="0">
              <a:solidFill>
                <a:schemeClr val="tx1"/>
              </a:solidFill>
            </a:endParaRPr>
          </a:p>
          <a:p>
            <a:pPr algn="ctr"/>
            <a:r>
              <a:rPr lang="ja-JP" altLang="en-US" sz="1400" dirty="0">
                <a:solidFill>
                  <a:schemeClr val="tx1"/>
                </a:solidFill>
              </a:rPr>
              <a:t>開始／承認</a:t>
            </a:r>
            <a:endParaRPr kumimoji="1" lang="ja-JP" altLang="en-US" sz="1400" dirty="0">
              <a:solidFill>
                <a:schemeClr val="tx1"/>
              </a:solidFill>
            </a:endParaRPr>
          </a:p>
        </p:txBody>
      </p:sp>
      <p:sp>
        <p:nvSpPr>
          <p:cNvPr id="10" name="正方形/長方形 9">
            <a:extLst>
              <a:ext uri="{FF2B5EF4-FFF2-40B4-BE49-F238E27FC236}">
                <a16:creationId xmlns:a16="http://schemas.microsoft.com/office/drawing/2014/main" id="{EE75F7B3-2357-4742-9238-7227B244EA35}"/>
              </a:ext>
            </a:extLst>
          </p:cNvPr>
          <p:cNvSpPr/>
          <p:nvPr/>
        </p:nvSpPr>
        <p:spPr>
          <a:xfrm>
            <a:off x="4960339" y="1902055"/>
            <a:ext cx="1200839" cy="470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試作</a:t>
            </a:r>
          </a:p>
        </p:txBody>
      </p:sp>
      <p:sp>
        <p:nvSpPr>
          <p:cNvPr id="11" name="正方形/長方形 10">
            <a:extLst>
              <a:ext uri="{FF2B5EF4-FFF2-40B4-BE49-F238E27FC236}">
                <a16:creationId xmlns:a16="http://schemas.microsoft.com/office/drawing/2014/main" id="{B7C992F3-82D2-4A0E-B3EF-2F9B7D2861E3}"/>
              </a:ext>
            </a:extLst>
          </p:cNvPr>
          <p:cNvSpPr/>
          <p:nvPr/>
        </p:nvSpPr>
        <p:spPr>
          <a:xfrm>
            <a:off x="2570595" y="1907596"/>
            <a:ext cx="1200839" cy="470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プログラム</a:t>
            </a:r>
            <a:endParaRPr kumimoji="1" lang="en-US" altLang="ja-JP" sz="1400" dirty="0">
              <a:solidFill>
                <a:schemeClr val="tx1"/>
              </a:solidFill>
            </a:endParaRPr>
          </a:p>
          <a:p>
            <a:pPr algn="ctr"/>
            <a:r>
              <a:rPr lang="ja-JP" altLang="en-US" sz="1400" dirty="0">
                <a:solidFill>
                  <a:schemeClr val="tx1"/>
                </a:solidFill>
              </a:rPr>
              <a:t>承認</a:t>
            </a:r>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03F2437D-6C02-417E-830E-B323DB49F772}"/>
              </a:ext>
            </a:extLst>
          </p:cNvPr>
          <p:cNvSpPr/>
          <p:nvPr/>
        </p:nvSpPr>
        <p:spPr>
          <a:xfrm>
            <a:off x="7253697" y="1911379"/>
            <a:ext cx="1200839" cy="470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量産試作</a:t>
            </a:r>
          </a:p>
        </p:txBody>
      </p:sp>
      <p:sp>
        <p:nvSpPr>
          <p:cNvPr id="13" name="正方形/長方形 12">
            <a:extLst>
              <a:ext uri="{FF2B5EF4-FFF2-40B4-BE49-F238E27FC236}">
                <a16:creationId xmlns:a16="http://schemas.microsoft.com/office/drawing/2014/main" id="{8DEA5759-4FAD-4633-A64B-A42C103F5441}"/>
              </a:ext>
            </a:extLst>
          </p:cNvPr>
          <p:cNvSpPr/>
          <p:nvPr/>
        </p:nvSpPr>
        <p:spPr>
          <a:xfrm>
            <a:off x="9381780" y="1905536"/>
            <a:ext cx="1200839" cy="470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量産開始</a:t>
            </a:r>
          </a:p>
        </p:txBody>
      </p:sp>
      <p:sp>
        <p:nvSpPr>
          <p:cNvPr id="14" name="矢印: 五方向 13">
            <a:extLst>
              <a:ext uri="{FF2B5EF4-FFF2-40B4-BE49-F238E27FC236}">
                <a16:creationId xmlns:a16="http://schemas.microsoft.com/office/drawing/2014/main" id="{CD7D7958-CB90-4597-A337-AFF211DE61E2}"/>
              </a:ext>
            </a:extLst>
          </p:cNvPr>
          <p:cNvSpPr/>
          <p:nvPr/>
        </p:nvSpPr>
        <p:spPr>
          <a:xfrm>
            <a:off x="2668834" y="3200681"/>
            <a:ext cx="3181123"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製品の設計・開発</a:t>
            </a:r>
          </a:p>
        </p:txBody>
      </p:sp>
      <p:sp>
        <p:nvSpPr>
          <p:cNvPr id="15" name="矢印: 五方向 14">
            <a:extLst>
              <a:ext uri="{FF2B5EF4-FFF2-40B4-BE49-F238E27FC236}">
                <a16:creationId xmlns:a16="http://schemas.microsoft.com/office/drawing/2014/main" id="{45F6A07D-EEDF-4C84-BA82-3ED41185C6EF}"/>
              </a:ext>
            </a:extLst>
          </p:cNvPr>
          <p:cNvSpPr/>
          <p:nvPr/>
        </p:nvSpPr>
        <p:spPr>
          <a:xfrm>
            <a:off x="2647718" y="3795176"/>
            <a:ext cx="5505681"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工程の設計・開発</a:t>
            </a:r>
          </a:p>
        </p:txBody>
      </p:sp>
      <p:sp>
        <p:nvSpPr>
          <p:cNvPr id="16" name="矢印: 五方向 15">
            <a:extLst>
              <a:ext uri="{FF2B5EF4-FFF2-40B4-BE49-F238E27FC236}">
                <a16:creationId xmlns:a16="http://schemas.microsoft.com/office/drawing/2014/main" id="{7B7615E4-5E8A-4939-BAD6-0406FFFB6465}"/>
              </a:ext>
            </a:extLst>
          </p:cNvPr>
          <p:cNvSpPr/>
          <p:nvPr/>
        </p:nvSpPr>
        <p:spPr>
          <a:xfrm>
            <a:off x="4375529" y="4388378"/>
            <a:ext cx="5587387"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製品及び工程の妥当性確認</a:t>
            </a:r>
          </a:p>
        </p:txBody>
      </p:sp>
      <p:sp>
        <p:nvSpPr>
          <p:cNvPr id="17" name="矢印: 五方向 16">
            <a:extLst>
              <a:ext uri="{FF2B5EF4-FFF2-40B4-BE49-F238E27FC236}">
                <a16:creationId xmlns:a16="http://schemas.microsoft.com/office/drawing/2014/main" id="{A4CB6BD5-A2AD-4C81-A400-BE7BBBD5E160}"/>
              </a:ext>
            </a:extLst>
          </p:cNvPr>
          <p:cNvSpPr/>
          <p:nvPr/>
        </p:nvSpPr>
        <p:spPr>
          <a:xfrm>
            <a:off x="9705860" y="4982873"/>
            <a:ext cx="1647940"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量産</a:t>
            </a:r>
          </a:p>
        </p:txBody>
      </p:sp>
      <p:sp>
        <p:nvSpPr>
          <p:cNvPr id="18" name="矢印: 五方向 17">
            <a:extLst>
              <a:ext uri="{FF2B5EF4-FFF2-40B4-BE49-F238E27FC236}">
                <a16:creationId xmlns:a16="http://schemas.microsoft.com/office/drawing/2014/main" id="{F03DCAC4-67D9-41B9-9D2B-CE9D0E04B3E9}"/>
              </a:ext>
            </a:extLst>
          </p:cNvPr>
          <p:cNvSpPr/>
          <p:nvPr/>
        </p:nvSpPr>
        <p:spPr>
          <a:xfrm>
            <a:off x="838200" y="5574782"/>
            <a:ext cx="10515600" cy="591909"/>
          </a:xfrm>
          <a:prstGeom prst="homePlate">
            <a:avLst/>
          </a:prstGeom>
          <a:solidFill>
            <a:schemeClr val="accent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フィードバック・評価・是正処置</a:t>
            </a:r>
          </a:p>
        </p:txBody>
      </p:sp>
      <p:sp>
        <p:nvSpPr>
          <p:cNvPr id="8" name="正方形/長方形 7">
            <a:extLst>
              <a:ext uri="{FF2B5EF4-FFF2-40B4-BE49-F238E27FC236}">
                <a16:creationId xmlns:a16="http://schemas.microsoft.com/office/drawing/2014/main" id="{AF4E38A5-C5D5-4D2C-A4F4-07651C15AB0B}"/>
              </a:ext>
            </a:extLst>
          </p:cNvPr>
          <p:cNvSpPr/>
          <p:nvPr/>
        </p:nvSpPr>
        <p:spPr>
          <a:xfrm>
            <a:off x="2133846" y="2307033"/>
            <a:ext cx="1092519" cy="389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ﾌｪｰｽﾞ１</a:t>
            </a:r>
          </a:p>
        </p:txBody>
      </p:sp>
      <p:sp>
        <p:nvSpPr>
          <p:cNvPr id="20" name="正方形/長方形 19">
            <a:extLst>
              <a:ext uri="{FF2B5EF4-FFF2-40B4-BE49-F238E27FC236}">
                <a16:creationId xmlns:a16="http://schemas.microsoft.com/office/drawing/2014/main" id="{C7811F3E-51C2-4ED7-A91E-441721E7DF5A}"/>
              </a:ext>
            </a:extLst>
          </p:cNvPr>
          <p:cNvSpPr/>
          <p:nvPr/>
        </p:nvSpPr>
        <p:spPr>
          <a:xfrm>
            <a:off x="3887580" y="2305861"/>
            <a:ext cx="1092519" cy="389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ﾌｪｰｽﾞ２</a:t>
            </a:r>
          </a:p>
        </p:txBody>
      </p:sp>
      <p:sp>
        <p:nvSpPr>
          <p:cNvPr id="22" name="正方形/長方形 21">
            <a:extLst>
              <a:ext uri="{FF2B5EF4-FFF2-40B4-BE49-F238E27FC236}">
                <a16:creationId xmlns:a16="http://schemas.microsoft.com/office/drawing/2014/main" id="{EC06E2F4-6954-402B-96BA-596C36650C25}"/>
              </a:ext>
            </a:extLst>
          </p:cNvPr>
          <p:cNvSpPr/>
          <p:nvPr/>
        </p:nvSpPr>
        <p:spPr>
          <a:xfrm>
            <a:off x="5989980" y="2305862"/>
            <a:ext cx="1092519" cy="389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ﾌｪｰｽﾞ３</a:t>
            </a:r>
          </a:p>
        </p:txBody>
      </p:sp>
      <p:sp>
        <p:nvSpPr>
          <p:cNvPr id="24" name="正方形/長方形 23">
            <a:extLst>
              <a:ext uri="{FF2B5EF4-FFF2-40B4-BE49-F238E27FC236}">
                <a16:creationId xmlns:a16="http://schemas.microsoft.com/office/drawing/2014/main" id="{47382A93-674D-4611-B692-293001DA1ED4}"/>
              </a:ext>
            </a:extLst>
          </p:cNvPr>
          <p:cNvSpPr/>
          <p:nvPr/>
        </p:nvSpPr>
        <p:spPr>
          <a:xfrm>
            <a:off x="8424724" y="2315106"/>
            <a:ext cx="1092519" cy="389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ﾌｪｰｽﾞ４</a:t>
            </a:r>
          </a:p>
        </p:txBody>
      </p:sp>
      <p:sp>
        <p:nvSpPr>
          <p:cNvPr id="26" name="正方形/長方形 25">
            <a:extLst>
              <a:ext uri="{FF2B5EF4-FFF2-40B4-BE49-F238E27FC236}">
                <a16:creationId xmlns:a16="http://schemas.microsoft.com/office/drawing/2014/main" id="{6B0FC8F7-6EF3-4D21-8044-776B67B9C3FF}"/>
              </a:ext>
            </a:extLst>
          </p:cNvPr>
          <p:cNvSpPr/>
          <p:nvPr/>
        </p:nvSpPr>
        <p:spPr>
          <a:xfrm>
            <a:off x="10036359" y="2315106"/>
            <a:ext cx="1092519" cy="389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ﾌｪｰｽﾞ５</a:t>
            </a:r>
          </a:p>
        </p:txBody>
      </p:sp>
      <p:sp>
        <p:nvSpPr>
          <p:cNvPr id="28" name="吹き出し: 角を丸めた四角形 27">
            <a:extLst>
              <a:ext uri="{FF2B5EF4-FFF2-40B4-BE49-F238E27FC236}">
                <a16:creationId xmlns:a16="http://schemas.microsoft.com/office/drawing/2014/main" id="{C4329B21-D432-4131-B86A-3FB69399E1FA}"/>
              </a:ext>
            </a:extLst>
          </p:cNvPr>
          <p:cNvSpPr/>
          <p:nvPr/>
        </p:nvSpPr>
        <p:spPr>
          <a:xfrm>
            <a:off x="5871073" y="2780184"/>
            <a:ext cx="5101727" cy="940949"/>
          </a:xfrm>
          <a:prstGeom prst="wedgeRoundRectCallout">
            <a:avLst>
              <a:gd name="adj1" fmla="val -48526"/>
              <a:gd name="adj2" fmla="val -65664"/>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部品製造組織の場合、顧客</a:t>
            </a:r>
            <a:r>
              <a:rPr kumimoji="1" lang="en-US" altLang="ja-JP" dirty="0">
                <a:solidFill>
                  <a:schemeClr val="tx1"/>
                </a:solidFill>
              </a:rPr>
              <a:t>APQP</a:t>
            </a:r>
            <a:r>
              <a:rPr kumimoji="1" lang="ja-JP" altLang="en-US" dirty="0">
                <a:solidFill>
                  <a:schemeClr val="tx1"/>
                </a:solidFill>
              </a:rPr>
              <a:t>が示され、その枠の中で「フェーズ３～５」を計画するのが一般的。</a:t>
            </a:r>
          </a:p>
        </p:txBody>
      </p:sp>
    </p:spTree>
    <p:extLst>
      <p:ext uri="{BB962C8B-B14F-4D97-AF65-F5344CB8AC3E}">
        <p14:creationId xmlns:p14="http://schemas.microsoft.com/office/powerpoint/2010/main" val="156804794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199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55725"/>
            <a:ext cx="10515600" cy="1695948"/>
          </a:xfrm>
          <a:ln w="12700">
            <a:solidFill>
              <a:schemeClr val="tx2"/>
            </a:solidFill>
          </a:ln>
        </p:spPr>
        <p:txBody>
          <a:bodyPr>
            <a:normAutofit/>
          </a:bodyPr>
          <a:lstStyle/>
          <a:p>
            <a:pPr marL="0" indent="0">
              <a:lnSpc>
                <a:spcPct val="100000"/>
              </a:lnSpc>
              <a:buNone/>
            </a:pPr>
            <a:r>
              <a:rPr lang="ja-JP" altLang="en-US" sz="2000" dirty="0"/>
              <a:t>☑組織は、製品設計の責任を負う要員が、設計要求事項を実現する力量をもち、</a:t>
            </a:r>
            <a:r>
              <a:rPr lang="ja-JP" altLang="en-US" sz="2000" u="sng" dirty="0"/>
              <a:t>適用されるツール及び手法の技能をもつ</a:t>
            </a:r>
            <a:r>
              <a:rPr lang="ja-JP" altLang="en-US" sz="2000" dirty="0"/>
              <a:t>ことを確実にしなければならない。</a:t>
            </a:r>
            <a:endParaRPr lang="en-US" altLang="ja-JP" sz="2000" dirty="0"/>
          </a:p>
          <a:p>
            <a:pPr marL="0" indent="0">
              <a:lnSpc>
                <a:spcPct val="100000"/>
              </a:lnSpc>
              <a:buNone/>
            </a:pPr>
            <a:r>
              <a:rPr lang="ja-JP" altLang="en-US" sz="2000" dirty="0"/>
              <a:t>☑組織は、適用されるツール及び手法を明確にしなければならない。</a:t>
            </a:r>
          </a:p>
          <a:p>
            <a:pPr marL="0" indent="0">
              <a:lnSpc>
                <a:spcPct val="100000"/>
              </a:lnSpc>
              <a:buNone/>
            </a:pPr>
            <a:r>
              <a:rPr lang="ja-JP" altLang="en-US" sz="2000" dirty="0"/>
              <a:t>注記　製品設計の技能の例の一つとして、デジタル化された数学的なデータの適用がある。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8.3.2.2</a:t>
            </a:r>
            <a:r>
              <a:rPr kumimoji="1" lang="ja-JP" altLang="en-US" sz="3000" b="1" dirty="0">
                <a:solidFill>
                  <a:schemeClr val="tx2"/>
                </a:solidFill>
              </a:rPr>
              <a:t>　製品設計の技能</a:t>
            </a:r>
          </a:p>
        </p:txBody>
      </p:sp>
      <p:sp>
        <p:nvSpPr>
          <p:cNvPr id="6" name="タイトル 1">
            <a:extLst>
              <a:ext uri="{FF2B5EF4-FFF2-40B4-BE49-F238E27FC236}">
                <a16:creationId xmlns:a16="http://schemas.microsoft.com/office/drawing/2014/main" id="{BEC8FFCA-BD13-4643-9CE9-5767E0106F02}"/>
              </a:ext>
            </a:extLst>
          </p:cNvPr>
          <p:cNvSpPr txBox="1">
            <a:spLocks/>
          </p:cNvSpPr>
          <p:nvPr/>
        </p:nvSpPr>
        <p:spPr>
          <a:xfrm>
            <a:off x="838200" y="3367088"/>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8.3.2.2</a:t>
            </a:r>
            <a:r>
              <a:rPr lang="ja-JP" altLang="en-US" sz="3000" b="1" dirty="0">
                <a:solidFill>
                  <a:schemeClr val="bg1"/>
                </a:solidFill>
              </a:rPr>
              <a:t>　製品設計の技能</a:t>
            </a:r>
          </a:p>
        </p:txBody>
      </p:sp>
      <p:sp>
        <p:nvSpPr>
          <p:cNvPr id="7" name="コンテンツ プレースホルダー 2">
            <a:extLst>
              <a:ext uri="{FF2B5EF4-FFF2-40B4-BE49-F238E27FC236}">
                <a16:creationId xmlns:a16="http://schemas.microsoft.com/office/drawing/2014/main" id="{DA99822A-6F41-41F4-A6ED-BE7FA355F374}"/>
              </a:ext>
            </a:extLst>
          </p:cNvPr>
          <p:cNvSpPr txBox="1">
            <a:spLocks/>
          </p:cNvSpPr>
          <p:nvPr/>
        </p:nvSpPr>
        <p:spPr>
          <a:xfrm>
            <a:off x="838200" y="4338886"/>
            <a:ext cx="10515600" cy="2017463"/>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品質問題には設計品質要因が依然として多い。➠設計者の力量の重要性。</a:t>
            </a:r>
            <a:endParaRPr lang="en-US" altLang="ja-JP" sz="2400" dirty="0"/>
          </a:p>
          <a:p>
            <a:pPr marL="457200" indent="-457200">
              <a:lnSpc>
                <a:spcPct val="100000"/>
              </a:lnSpc>
              <a:buFont typeface="+mj-lt"/>
              <a:buAutoNum type="arabicPeriod"/>
            </a:pPr>
            <a:r>
              <a:rPr lang="ja-JP" altLang="en-US" sz="2400" dirty="0"/>
              <a:t>必要な力量として考慮すべき事項。</a:t>
            </a:r>
            <a:endParaRPr lang="en-US" altLang="ja-JP" sz="2400" dirty="0"/>
          </a:p>
        </p:txBody>
      </p:sp>
      <p:graphicFrame>
        <p:nvGraphicFramePr>
          <p:cNvPr id="2" name="表 1">
            <a:extLst>
              <a:ext uri="{FF2B5EF4-FFF2-40B4-BE49-F238E27FC236}">
                <a16:creationId xmlns:a16="http://schemas.microsoft.com/office/drawing/2014/main" id="{0ADF044C-471D-496E-B53E-5E39C7AAAFF4}"/>
              </a:ext>
            </a:extLst>
          </p:cNvPr>
          <p:cNvGraphicFramePr>
            <a:graphicFrameLocks noGrp="1"/>
          </p:cNvGraphicFramePr>
          <p:nvPr>
            <p:extLst>
              <p:ext uri="{D42A27DB-BD31-4B8C-83A1-F6EECF244321}">
                <p14:modId xmlns:p14="http://schemas.microsoft.com/office/powerpoint/2010/main" val="70091423"/>
              </p:ext>
            </p:extLst>
          </p:nvPr>
        </p:nvGraphicFramePr>
        <p:xfrm>
          <a:off x="1040482" y="5271147"/>
          <a:ext cx="10313318" cy="1085202"/>
        </p:xfrm>
        <a:graphic>
          <a:graphicData uri="http://schemas.openxmlformats.org/drawingml/2006/table">
            <a:tbl>
              <a:tblPr firstRow="1" bandRow="1">
                <a:tableStyleId>{5940675A-B579-460E-94D1-54222C63F5DA}</a:tableStyleId>
              </a:tblPr>
              <a:tblGrid>
                <a:gridCol w="3134911">
                  <a:extLst>
                    <a:ext uri="{9D8B030D-6E8A-4147-A177-3AD203B41FA5}">
                      <a16:colId xmlns:a16="http://schemas.microsoft.com/office/drawing/2014/main" val="3563486851"/>
                    </a:ext>
                  </a:extLst>
                </a:gridCol>
                <a:gridCol w="7178407">
                  <a:extLst>
                    <a:ext uri="{9D8B030D-6E8A-4147-A177-3AD203B41FA5}">
                      <a16:colId xmlns:a16="http://schemas.microsoft.com/office/drawing/2014/main" val="4176028383"/>
                    </a:ext>
                  </a:extLst>
                </a:gridCol>
              </a:tblGrid>
              <a:tr h="542601">
                <a:tc>
                  <a:txBody>
                    <a:bodyPr/>
                    <a:lstStyle/>
                    <a:p>
                      <a:r>
                        <a:rPr kumimoji="1" lang="ja-JP" altLang="en-US" sz="2200" dirty="0"/>
                        <a:t>組織（製品）固有技術</a:t>
                      </a:r>
                    </a:p>
                  </a:txBody>
                  <a:tcPr anchor="ctr">
                    <a:solidFill>
                      <a:schemeClr val="tx2">
                        <a:lumMod val="20000"/>
                        <a:lumOff val="80000"/>
                      </a:schemeClr>
                    </a:solidFill>
                  </a:tcPr>
                </a:tc>
                <a:tc>
                  <a:txBody>
                    <a:bodyPr/>
                    <a:lstStyle/>
                    <a:p>
                      <a:r>
                        <a:rPr kumimoji="1" lang="ja-JP" altLang="en-US" sz="2200" dirty="0"/>
                        <a:t>組織の製品及び製造に関する技術</a:t>
                      </a:r>
                    </a:p>
                  </a:txBody>
                  <a:tcPr anchor="ctr">
                    <a:solidFill>
                      <a:schemeClr val="tx2">
                        <a:lumMod val="20000"/>
                        <a:lumOff val="80000"/>
                      </a:schemeClr>
                    </a:solidFill>
                  </a:tcPr>
                </a:tc>
                <a:extLst>
                  <a:ext uri="{0D108BD9-81ED-4DB2-BD59-A6C34878D82A}">
                    <a16:rowId xmlns:a16="http://schemas.microsoft.com/office/drawing/2014/main" val="3067141646"/>
                  </a:ext>
                </a:extLst>
              </a:tr>
              <a:tr h="542601">
                <a:tc>
                  <a:txBody>
                    <a:bodyPr/>
                    <a:lstStyle/>
                    <a:p>
                      <a:r>
                        <a:rPr kumimoji="1" lang="ja-JP" altLang="en-US" sz="2200" dirty="0"/>
                        <a:t>設計技術</a:t>
                      </a:r>
                    </a:p>
                  </a:txBody>
                  <a:tcPr anchor="ctr">
                    <a:solidFill>
                      <a:schemeClr val="tx2">
                        <a:lumMod val="20000"/>
                        <a:lumOff val="80000"/>
                      </a:schemeClr>
                    </a:solidFill>
                  </a:tcPr>
                </a:tc>
                <a:tc>
                  <a:txBody>
                    <a:bodyPr/>
                    <a:lstStyle/>
                    <a:p>
                      <a:r>
                        <a:rPr kumimoji="1" lang="en-US" altLang="ja-JP" sz="2200" dirty="0"/>
                        <a:t>CAD</a:t>
                      </a:r>
                      <a:r>
                        <a:rPr kumimoji="1" lang="ja-JP" altLang="en-US" sz="2200" dirty="0"/>
                        <a:t>／</a:t>
                      </a:r>
                      <a:r>
                        <a:rPr kumimoji="1" lang="en-US" altLang="ja-JP" sz="2200" dirty="0"/>
                        <a:t>FMEA</a:t>
                      </a:r>
                      <a:r>
                        <a:rPr kumimoji="1" lang="ja-JP" altLang="en-US" sz="2200" dirty="0"/>
                        <a:t>／</a:t>
                      </a:r>
                      <a:r>
                        <a:rPr kumimoji="1" lang="en-US" altLang="ja-JP" sz="2200" dirty="0"/>
                        <a:t>SPC</a:t>
                      </a:r>
                      <a:r>
                        <a:rPr kumimoji="1" lang="ja-JP" altLang="en-US" sz="2200" dirty="0"/>
                        <a:t>／</a:t>
                      </a:r>
                      <a:r>
                        <a:rPr kumimoji="1" lang="en-US" altLang="ja-JP" sz="2200" dirty="0"/>
                        <a:t>VE</a:t>
                      </a:r>
                      <a:r>
                        <a:rPr kumimoji="1" lang="ja-JP" altLang="en-US" sz="2200" dirty="0"/>
                        <a:t>／環境／安全・・・</a:t>
                      </a:r>
                    </a:p>
                  </a:txBody>
                  <a:tcPr anchor="ctr">
                    <a:solidFill>
                      <a:schemeClr val="tx2">
                        <a:lumMod val="20000"/>
                        <a:lumOff val="80000"/>
                      </a:schemeClr>
                    </a:solidFill>
                  </a:tcPr>
                </a:tc>
                <a:extLst>
                  <a:ext uri="{0D108BD9-81ED-4DB2-BD59-A6C34878D82A}">
                    <a16:rowId xmlns:a16="http://schemas.microsoft.com/office/drawing/2014/main" val="2945422486"/>
                  </a:ext>
                </a:extLst>
              </a:tr>
            </a:tbl>
          </a:graphicData>
        </a:graphic>
      </p:graphicFrame>
      <p:sp>
        <p:nvSpPr>
          <p:cNvPr id="10" name="吹き出し: 角を丸めた四角形 9">
            <a:extLst>
              <a:ext uri="{FF2B5EF4-FFF2-40B4-BE49-F238E27FC236}">
                <a16:creationId xmlns:a16="http://schemas.microsoft.com/office/drawing/2014/main" id="{F3442409-7A24-4912-942A-8D319D7244F3}"/>
              </a:ext>
            </a:extLst>
          </p:cNvPr>
          <p:cNvSpPr/>
          <p:nvPr/>
        </p:nvSpPr>
        <p:spPr>
          <a:xfrm>
            <a:off x="5780922" y="3367087"/>
            <a:ext cx="5293478" cy="766559"/>
          </a:xfrm>
          <a:prstGeom prst="wedgeRoundRectCallout">
            <a:avLst>
              <a:gd name="adj1" fmla="val -54794"/>
              <a:gd name="adj2" fmla="val -5280"/>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工程設計の技能も含めることを推奨。</a:t>
            </a:r>
          </a:p>
        </p:txBody>
      </p:sp>
      <p:sp>
        <p:nvSpPr>
          <p:cNvPr id="8" name="正方形/長方形 7">
            <a:extLst>
              <a:ext uri="{FF2B5EF4-FFF2-40B4-BE49-F238E27FC236}">
                <a16:creationId xmlns:a16="http://schemas.microsoft.com/office/drawing/2014/main" id="{A4325A62-1D56-4F33-BA9E-2642F0ABFA3C}"/>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3776491189"/>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内部で開発された組込みソフトウェアをもつ製品に対する品質保証のプロセスを用いなければならない。</a:t>
            </a:r>
            <a:endParaRPr lang="en-US" altLang="ja-JP" sz="2000" u="sng" dirty="0"/>
          </a:p>
          <a:p>
            <a:pPr marL="0" indent="0">
              <a:lnSpc>
                <a:spcPct val="100000"/>
              </a:lnSpc>
              <a:buNone/>
            </a:pPr>
            <a:r>
              <a:rPr lang="ja-JP" altLang="en-US" sz="2000" dirty="0"/>
              <a:t>☑ソフトウェア開発評価の方法論を、組織のソフトウェア開発プロセスを評価するために利用しなければならない。リスク及び顧客に及ぼす潜在的な影響に基づく優先順位付けを用いて、組織は、</a:t>
            </a:r>
            <a:r>
              <a:rPr lang="ja-JP" altLang="en-US" sz="2000" u="sng" dirty="0"/>
              <a:t>ソフトウェア開発能力の自己評価の</a:t>
            </a:r>
            <a:r>
              <a:rPr lang="ja-JP" altLang="en-US" sz="2000" b="1" u="sng" dirty="0"/>
              <a:t>文書化した情報を保持</a:t>
            </a:r>
            <a:r>
              <a:rPr lang="ja-JP" altLang="en-US" sz="2000" u="sng" dirty="0"/>
              <a:t>しなければならない。</a:t>
            </a:r>
            <a:endParaRPr lang="en-US" altLang="ja-JP" sz="2000" u="sng" dirty="0"/>
          </a:p>
          <a:p>
            <a:pPr marL="0" indent="0">
              <a:lnSpc>
                <a:spcPct val="100000"/>
              </a:lnSpc>
              <a:buNone/>
            </a:pPr>
            <a:r>
              <a:rPr lang="ja-JP" altLang="en-US" sz="2000" dirty="0"/>
              <a:t>☑組織は、ソフトウェア開発を内部監査プログラム（</a:t>
            </a:r>
            <a:r>
              <a:rPr lang="en-US" altLang="ja-JP" sz="2000" dirty="0"/>
              <a:t>9.2.2.1</a:t>
            </a:r>
            <a:r>
              <a:rPr lang="ja-JP" altLang="en-US" sz="2000" dirty="0"/>
              <a:t>参照）の範囲に含めなければならない。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8.3.2.3</a:t>
            </a:r>
            <a:r>
              <a:rPr kumimoji="1" lang="ja-JP" altLang="en-US" sz="3000" b="1" dirty="0">
                <a:solidFill>
                  <a:schemeClr val="tx2"/>
                </a:solidFill>
              </a:rPr>
              <a:t>　組込みソフトウェアをもつ製品の開発</a:t>
            </a:r>
          </a:p>
        </p:txBody>
      </p:sp>
      <p:sp>
        <p:nvSpPr>
          <p:cNvPr id="2" name="正方形/長方形 1">
            <a:extLst>
              <a:ext uri="{FF2B5EF4-FFF2-40B4-BE49-F238E27FC236}">
                <a16:creationId xmlns:a16="http://schemas.microsoft.com/office/drawing/2014/main" id="{E8F9AEE9-29D2-4820-B816-E2631812E22A}"/>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2308026493"/>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現在の自動車にソフトウェアは欠かせない。（エンジン制御、排気ガス制御、カーナビ、自動運転・・・）</a:t>
            </a:r>
            <a:endParaRPr lang="en-US" altLang="ja-JP" sz="2400" dirty="0"/>
          </a:p>
          <a:p>
            <a:pPr lvl="1">
              <a:buFont typeface="Wingdings" panose="05000000000000000000" pitchFamily="2" charset="2"/>
              <a:buChar char="Ø"/>
            </a:pPr>
            <a:r>
              <a:rPr lang="ja-JP" altLang="en-US" dirty="0"/>
              <a:t>自動車の安全と環境の最重要機能の一つ。</a:t>
            </a:r>
            <a:endParaRPr lang="en-US" altLang="ja-JP" dirty="0"/>
          </a:p>
          <a:p>
            <a:pPr marL="457200" indent="-457200">
              <a:buFont typeface="+mj-lt"/>
              <a:buAutoNum type="arabicPeriod"/>
            </a:pPr>
            <a:r>
              <a:rPr lang="ja-JP" altLang="en-US" sz="2400" dirty="0"/>
              <a:t>ソフトウェアは目に見えないものであるため、ハードウェアの開発手順とは異なる。</a:t>
            </a:r>
            <a:endParaRPr lang="en-US" altLang="ja-JP" sz="2400" dirty="0"/>
          </a:p>
          <a:p>
            <a:pPr lvl="1">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独自の開発手順を決定する。</a:t>
            </a:r>
            <a:endParaRPr lang="en-US" altLang="ja-JP" dirty="0">
              <a:solidFill>
                <a:srgbClr val="FF0000"/>
              </a:solidFill>
              <a:effectLst>
                <a:outerShdw blurRad="38100" dist="38100" dir="2700000" algn="tl">
                  <a:srgbClr val="000000">
                    <a:alpha val="43137"/>
                  </a:srgbClr>
                </a:outerShdw>
              </a:effectLst>
            </a:endParaRPr>
          </a:p>
          <a:p>
            <a:pPr lvl="1">
              <a:buFont typeface="Wingdings" panose="05000000000000000000" pitchFamily="2" charset="2"/>
              <a:buChar char="Ø"/>
            </a:pPr>
            <a:r>
              <a:rPr lang="ja-JP" altLang="en-US" dirty="0"/>
              <a:t>ソフトウェアは</a:t>
            </a:r>
            <a:r>
              <a:rPr lang="ja-JP" altLang="en-US" dirty="0">
                <a:solidFill>
                  <a:srgbClr val="FF0000"/>
                </a:solidFill>
                <a:effectLst>
                  <a:outerShdw blurRad="38100" dist="38100" dir="2700000" algn="tl">
                    <a:srgbClr val="000000">
                      <a:alpha val="43137"/>
                    </a:srgbClr>
                  </a:outerShdw>
                </a:effectLst>
              </a:rPr>
              <a:t>完全な客観的評価が困難なため、自己評価手順の決定と実施</a:t>
            </a:r>
            <a:r>
              <a:rPr lang="ja-JP" altLang="en-US" dirty="0"/>
              <a:t>も要求されている。</a:t>
            </a:r>
            <a:endParaRPr lang="en-US" altLang="ja-JP" dirty="0"/>
          </a:p>
          <a:p>
            <a:pPr marL="514350" indent="-514350">
              <a:buFont typeface="+mj-lt"/>
              <a:buAutoNum type="arabicPeriod"/>
            </a:pPr>
            <a:r>
              <a:rPr lang="ja-JP" altLang="en-US" sz="2400" dirty="0"/>
              <a:t>参考文献</a:t>
            </a:r>
            <a:endParaRPr lang="en-US" altLang="ja-JP" sz="2400" dirty="0"/>
          </a:p>
          <a:p>
            <a:pPr marL="971550" lvl="1" indent="-514350">
              <a:buFont typeface="+mj-ea"/>
              <a:buAutoNum type="circleNumDbPlain"/>
            </a:pPr>
            <a:r>
              <a:rPr lang="en-US" altLang="ja-JP" dirty="0"/>
              <a:t>SPICE</a:t>
            </a:r>
            <a:r>
              <a:rPr lang="ja-JP" altLang="en-US" dirty="0"/>
              <a:t>：欧州自動車産業の業界標準プロセスモデル</a:t>
            </a:r>
            <a:endParaRPr lang="en-US" altLang="ja-JP" dirty="0"/>
          </a:p>
          <a:p>
            <a:pPr marL="971550" lvl="1" indent="-514350">
              <a:buFont typeface="+mj-ea"/>
              <a:buAutoNum type="circleNumDbPlain"/>
            </a:pPr>
            <a:r>
              <a:rPr lang="en-US" altLang="ja-JP" dirty="0"/>
              <a:t>CMMI</a:t>
            </a:r>
            <a:r>
              <a:rPr lang="ja-JP" altLang="en-US" dirty="0"/>
              <a:t>：米国ガイドライン</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8.3.2.3</a:t>
            </a:r>
            <a:r>
              <a:rPr lang="ja-JP" altLang="en-US" sz="3000" b="1" dirty="0">
                <a:solidFill>
                  <a:schemeClr val="bg1"/>
                </a:solidFill>
              </a:rPr>
              <a:t>　組込みソフトウェアをもつ製品の開発</a:t>
            </a:r>
            <a:endParaRPr kumimoji="1" lang="ja-JP" altLang="en-US" sz="3000" b="1" dirty="0">
              <a:solidFill>
                <a:schemeClr val="bg1"/>
              </a:solidFill>
            </a:endParaRPr>
          </a:p>
        </p:txBody>
      </p:sp>
    </p:spTree>
    <p:extLst>
      <p:ext uri="{BB962C8B-B14F-4D97-AF65-F5344CB8AC3E}">
        <p14:creationId xmlns:p14="http://schemas.microsoft.com/office/powerpoint/2010/main" val="1311334171"/>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☑組織は、契約内容の確認の結果として、製品設計へのインプット要求事項を特定し、</a:t>
            </a:r>
            <a:r>
              <a:rPr lang="ja-JP" altLang="en-US" sz="2000" b="1" dirty="0"/>
              <a:t>文書化</a:t>
            </a:r>
            <a:r>
              <a:rPr lang="ja-JP" altLang="en-US" sz="2000" dirty="0"/>
              <a:t>し、レビューしなければならない。製品設計へのインプット要求事項には、次の事項を含める。しかし、それに限定されない。</a:t>
            </a:r>
            <a:endParaRPr lang="en-US" altLang="ja-JP" sz="2000" dirty="0"/>
          </a:p>
          <a:p>
            <a:pPr marL="800100" lvl="1" indent="-342900">
              <a:lnSpc>
                <a:spcPct val="100000"/>
              </a:lnSpc>
              <a:buFont typeface="+mj-lt"/>
              <a:buAutoNum type="alphaLcPeriod"/>
            </a:pPr>
            <a:r>
              <a:rPr lang="ja-JP" altLang="en-US" sz="2000" u="sng" dirty="0"/>
              <a:t>特殊特性</a:t>
            </a:r>
            <a:r>
              <a:rPr lang="ja-JP" altLang="en-US" sz="2000" dirty="0"/>
              <a:t>（</a:t>
            </a:r>
            <a:r>
              <a:rPr lang="en-US" altLang="ja-JP" sz="2000" dirty="0"/>
              <a:t>8.3.3.3</a:t>
            </a:r>
            <a:r>
              <a:rPr lang="ja-JP" altLang="en-US" sz="2000" dirty="0"/>
              <a:t>参照）を含む、しかし、それに限定されない製品仕様書</a:t>
            </a:r>
            <a:endParaRPr lang="en-US" altLang="ja-JP" sz="2000" dirty="0"/>
          </a:p>
          <a:p>
            <a:pPr marL="800100" lvl="1" indent="-342900">
              <a:lnSpc>
                <a:spcPct val="100000"/>
              </a:lnSpc>
              <a:buFont typeface="+mj-lt"/>
              <a:buAutoNum type="alphaLcPeriod"/>
            </a:pPr>
            <a:r>
              <a:rPr lang="ja-JP" altLang="en-US" sz="2000" u="sng" dirty="0"/>
              <a:t>境界及びインタフェース</a:t>
            </a:r>
            <a:r>
              <a:rPr lang="ja-JP" altLang="en-US" sz="2000" dirty="0"/>
              <a:t>要求事項</a:t>
            </a:r>
            <a:endParaRPr lang="en-US" altLang="ja-JP" sz="2000" dirty="0"/>
          </a:p>
          <a:p>
            <a:pPr marL="800100" lvl="1" indent="-342900">
              <a:lnSpc>
                <a:spcPct val="100000"/>
              </a:lnSpc>
              <a:buFont typeface="+mj-lt"/>
              <a:buAutoNum type="alphaLcPeriod"/>
            </a:pPr>
            <a:r>
              <a:rPr lang="ja-JP" altLang="en-US" sz="2000" dirty="0"/>
              <a:t>識別、トレーサビリティ及び包装</a:t>
            </a:r>
            <a:endParaRPr lang="en-US" altLang="ja-JP" sz="2000" dirty="0"/>
          </a:p>
          <a:p>
            <a:pPr marL="800100" lvl="1" indent="-342900">
              <a:lnSpc>
                <a:spcPct val="100000"/>
              </a:lnSpc>
              <a:buFont typeface="+mj-lt"/>
              <a:buAutoNum type="alphaLcPeriod"/>
            </a:pPr>
            <a:r>
              <a:rPr lang="ja-JP" altLang="en-US" sz="2000" dirty="0"/>
              <a:t>設計の</a:t>
            </a:r>
            <a:r>
              <a:rPr lang="ja-JP" altLang="en-US" sz="2000" u="sng" dirty="0"/>
              <a:t>代替案</a:t>
            </a:r>
            <a:r>
              <a:rPr lang="ja-JP" altLang="en-US" sz="2000" dirty="0"/>
              <a:t>の検討</a:t>
            </a:r>
            <a:endParaRPr lang="en-US" altLang="ja-JP" sz="2000" dirty="0"/>
          </a:p>
          <a:p>
            <a:pPr marL="800100" lvl="1" indent="-342900">
              <a:lnSpc>
                <a:spcPct val="100000"/>
              </a:lnSpc>
              <a:buFont typeface="+mj-lt"/>
              <a:buAutoNum type="alphaLcPeriod"/>
            </a:pPr>
            <a:r>
              <a:rPr lang="ja-JP" altLang="en-US" sz="2000" dirty="0"/>
              <a:t>インプット要求事項に伴うリスク及び</a:t>
            </a:r>
            <a:r>
              <a:rPr lang="ja-JP" altLang="en-US" sz="2000" u="sng" dirty="0"/>
              <a:t>リスクを緩和する</a:t>
            </a:r>
            <a:r>
              <a:rPr lang="ja-JP" altLang="en-US" sz="2000" dirty="0"/>
              <a:t>／管理する組織の能力の、</a:t>
            </a:r>
            <a:r>
              <a:rPr lang="ja-JP" altLang="en-US" sz="2000" u="sng" dirty="0"/>
              <a:t>フィージビリティ分析の結果</a:t>
            </a:r>
            <a:r>
              <a:rPr lang="ja-JP" altLang="en-US" sz="2000" dirty="0"/>
              <a:t>を含む評価</a:t>
            </a:r>
            <a:endParaRPr lang="en-US" altLang="ja-JP" sz="2000" dirty="0"/>
          </a:p>
          <a:p>
            <a:pPr marL="800100" lvl="1" indent="-342900">
              <a:lnSpc>
                <a:spcPct val="100000"/>
              </a:lnSpc>
              <a:buFont typeface="+mj-lt"/>
              <a:buAutoNum type="alphaLcPeriod"/>
            </a:pPr>
            <a:r>
              <a:rPr lang="ja-JP" altLang="en-US" sz="2000" dirty="0"/>
              <a:t>保存、信頼性、耐久性、サービス性、健康、安全、環境、開発タイミング及びコストを含む、</a:t>
            </a:r>
            <a:r>
              <a:rPr lang="ja-JP" altLang="en-US" sz="2000" u="sng" dirty="0"/>
              <a:t>製品要求事項への適合に対する目標</a:t>
            </a:r>
            <a:endParaRPr lang="en-US" altLang="ja-JP" sz="2000" u="sng" dirty="0"/>
          </a:p>
          <a:p>
            <a:pPr marL="800100" lvl="1" indent="-342900">
              <a:lnSpc>
                <a:spcPct val="100000"/>
              </a:lnSpc>
              <a:buFont typeface="+mj-lt"/>
              <a:buAutoNum type="alphaLcPeriod"/>
            </a:pPr>
            <a:r>
              <a:rPr lang="ja-JP" altLang="en-US" sz="2000" dirty="0"/>
              <a:t>顧客から提供された場合、顧客指定の仕向国の該当する</a:t>
            </a:r>
            <a:r>
              <a:rPr lang="ja-JP" altLang="en-US" sz="2000" u="sng" dirty="0"/>
              <a:t>法令・規制要求事項</a:t>
            </a:r>
            <a:endParaRPr lang="en-US" altLang="ja-JP" sz="2000" u="sng" dirty="0"/>
          </a:p>
          <a:p>
            <a:pPr marL="800100" lvl="1" indent="-342900">
              <a:lnSpc>
                <a:spcPct val="100000"/>
              </a:lnSpc>
              <a:buFont typeface="+mj-lt"/>
              <a:buAutoNum type="alphaLcPeriod"/>
            </a:pPr>
            <a:r>
              <a:rPr lang="ja-JP" altLang="en-US" sz="2000" dirty="0"/>
              <a:t>組込みソフトウェア要求事項</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8.3.3.1</a:t>
            </a:r>
            <a:r>
              <a:rPr kumimoji="1" lang="ja-JP" altLang="en-US" sz="3000" b="1" dirty="0">
                <a:solidFill>
                  <a:schemeClr val="tx2"/>
                </a:solidFill>
              </a:rPr>
              <a:t>　製品設計へのインプット</a:t>
            </a:r>
          </a:p>
        </p:txBody>
      </p:sp>
      <p:sp>
        <p:nvSpPr>
          <p:cNvPr id="2" name="正方形/長方形 1">
            <a:extLst>
              <a:ext uri="{FF2B5EF4-FFF2-40B4-BE49-F238E27FC236}">
                <a16:creationId xmlns:a16="http://schemas.microsoft.com/office/drawing/2014/main" id="{651B8C12-C517-4F0F-91D3-873CF43FFA17}"/>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324556714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54227"/>
            <a:ext cx="10515600" cy="1817915"/>
          </a:xfrm>
          <a:ln w="12700">
            <a:solidFill>
              <a:schemeClr val="tx2"/>
            </a:solidFill>
          </a:ln>
        </p:spPr>
        <p:txBody>
          <a:bodyPr>
            <a:normAutofit/>
          </a:bodyPr>
          <a:lstStyle/>
          <a:p>
            <a:pPr marL="0" indent="0">
              <a:lnSpc>
                <a:spcPct val="100000"/>
              </a:lnSpc>
              <a:buNone/>
            </a:pPr>
            <a:r>
              <a:rPr lang="ja-JP" altLang="en-US" sz="2000" dirty="0"/>
              <a:t>☑組織は、現在及び未来の類似するプロジェクトのために、過去の設計プロジェクト、競合製品分析（ベンチマーキング）、供給者からのフィードバック、内部からのインプット、市場データ及び他の関連する情報源から得られた情報を展開するプロセスをもたなければならない。</a:t>
            </a:r>
          </a:p>
          <a:p>
            <a:pPr marL="0" indent="0">
              <a:lnSpc>
                <a:spcPct val="100000"/>
              </a:lnSpc>
              <a:buNone/>
            </a:pPr>
            <a:r>
              <a:rPr lang="ja-JP" altLang="en-US" sz="2000" dirty="0"/>
              <a:t>注記　設計の代替案を検討するアプローチの一つは、トレードオフ曲線の活用である。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8.3.3.1</a:t>
            </a:r>
            <a:r>
              <a:rPr kumimoji="1" lang="ja-JP" altLang="en-US" sz="3000" b="1" dirty="0">
                <a:solidFill>
                  <a:schemeClr val="tx2"/>
                </a:solidFill>
              </a:rPr>
              <a:t>　製品設計へのインプット</a:t>
            </a:r>
          </a:p>
        </p:txBody>
      </p:sp>
      <p:sp>
        <p:nvSpPr>
          <p:cNvPr id="6" name="タイトル 1">
            <a:extLst>
              <a:ext uri="{FF2B5EF4-FFF2-40B4-BE49-F238E27FC236}">
                <a16:creationId xmlns:a16="http://schemas.microsoft.com/office/drawing/2014/main" id="{A3ADAAE4-9FA1-4A49-BBD9-52EAC5CA1E0A}"/>
              </a:ext>
            </a:extLst>
          </p:cNvPr>
          <p:cNvSpPr txBox="1">
            <a:spLocks/>
          </p:cNvSpPr>
          <p:nvPr/>
        </p:nvSpPr>
        <p:spPr>
          <a:xfrm>
            <a:off x="841872" y="3523946"/>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8.3.3.1</a:t>
            </a:r>
            <a:r>
              <a:rPr lang="ja-JP" altLang="en-US" sz="3000" b="1" dirty="0">
                <a:solidFill>
                  <a:schemeClr val="bg1"/>
                </a:solidFill>
              </a:rPr>
              <a:t>　製品設計へのインプット</a:t>
            </a:r>
          </a:p>
        </p:txBody>
      </p:sp>
      <p:sp>
        <p:nvSpPr>
          <p:cNvPr id="7" name="コンテンツ プレースホルダー 2">
            <a:extLst>
              <a:ext uri="{FF2B5EF4-FFF2-40B4-BE49-F238E27FC236}">
                <a16:creationId xmlns:a16="http://schemas.microsoft.com/office/drawing/2014/main" id="{6D2C7850-D2AB-41F4-8849-268D1A772AE5}"/>
              </a:ext>
            </a:extLst>
          </p:cNvPr>
          <p:cNvSpPr txBox="1">
            <a:spLocks/>
          </p:cNvSpPr>
          <p:nvPr/>
        </p:nvSpPr>
        <p:spPr>
          <a:xfrm>
            <a:off x="838200" y="4538435"/>
            <a:ext cx="10515600" cy="1817915"/>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に対し、より詳細な要求事項が追加となった。</a:t>
            </a:r>
            <a:endParaRPr lang="en-US" altLang="ja-JP" sz="2400" dirty="0"/>
          </a:p>
          <a:p>
            <a:pPr lvl="1">
              <a:lnSpc>
                <a:spcPct val="100000"/>
              </a:lnSpc>
              <a:buFont typeface="Wingdings" panose="05000000000000000000" pitchFamily="2" charset="2"/>
              <a:buChar char="Ø"/>
            </a:pPr>
            <a:r>
              <a:rPr lang="en-US" altLang="ja-JP" dirty="0"/>
              <a:t>b</a:t>
            </a:r>
            <a:r>
              <a:rPr lang="ja-JP" altLang="en-US" sz="2200" dirty="0"/>
              <a:t>）境界とは、他の部品との取り合い条件。</a:t>
            </a:r>
            <a:endParaRPr lang="en-US" altLang="ja-JP" sz="2200" dirty="0"/>
          </a:p>
          <a:p>
            <a:pPr lvl="1">
              <a:lnSpc>
                <a:spcPct val="100000"/>
              </a:lnSpc>
              <a:buFont typeface="Wingdings" panose="05000000000000000000" pitchFamily="2" charset="2"/>
              <a:buChar char="Ø"/>
            </a:pPr>
            <a:r>
              <a:rPr lang="en-US" altLang="ja-JP" sz="2200" dirty="0"/>
              <a:t>d</a:t>
            </a:r>
            <a:r>
              <a:rPr lang="ja-JP" altLang="en-US" sz="2200" dirty="0"/>
              <a:t>）代替案とは、設計計画段階における複数案のこと。「トレードオフ曲線」は例示であって必須ではない。</a:t>
            </a:r>
          </a:p>
        </p:txBody>
      </p:sp>
      <p:sp>
        <p:nvSpPr>
          <p:cNvPr id="2" name="正方形/長方形 1">
            <a:extLst>
              <a:ext uri="{FF2B5EF4-FFF2-40B4-BE49-F238E27FC236}">
                <a16:creationId xmlns:a16="http://schemas.microsoft.com/office/drawing/2014/main" id="{985B1281-0C74-458A-A13B-246E7D024DF5}"/>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1020812415"/>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204</a:t>
            </a:fld>
            <a:endParaRPr kumimoji="1" lang="ja-JP" altLang="en-US"/>
          </a:p>
        </p:txBody>
      </p:sp>
      <p:sp>
        <p:nvSpPr>
          <p:cNvPr id="7" name="コンテンツ プレースホルダー 2">
            <a:extLst>
              <a:ext uri="{FF2B5EF4-FFF2-40B4-BE49-F238E27FC236}">
                <a16:creationId xmlns:a16="http://schemas.microsoft.com/office/drawing/2014/main" id="{6D2C7850-D2AB-41F4-8849-268D1A772AE5}"/>
              </a:ext>
            </a:extLst>
          </p:cNvPr>
          <p:cNvSpPr txBox="1">
            <a:spLocks/>
          </p:cNvSpPr>
          <p:nvPr/>
        </p:nvSpPr>
        <p:spPr>
          <a:xfrm>
            <a:off x="838200" y="1452880"/>
            <a:ext cx="10515600" cy="490347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1">
              <a:lnSpc>
                <a:spcPct val="100000"/>
              </a:lnSpc>
              <a:buFont typeface="Wingdings" panose="05000000000000000000" pitchFamily="2" charset="2"/>
              <a:buChar char="Ø"/>
            </a:pPr>
            <a:r>
              <a:rPr lang="en-US" altLang="ja-JP" dirty="0"/>
              <a:t>e</a:t>
            </a:r>
            <a:r>
              <a:rPr lang="ja-JP" altLang="en-US" sz="2200" dirty="0"/>
              <a:t>）要求事項から生じるリスクを緩和するための組織の能力評価。（何ができて何ができないか。）</a:t>
            </a:r>
            <a:endParaRPr lang="en-US" altLang="ja-JP" sz="2200" dirty="0"/>
          </a:p>
          <a:p>
            <a:pPr lvl="1">
              <a:lnSpc>
                <a:spcPct val="100000"/>
              </a:lnSpc>
              <a:buFont typeface="Wingdings" panose="05000000000000000000" pitchFamily="2" charset="2"/>
              <a:buChar char="Ø"/>
            </a:pPr>
            <a:r>
              <a:rPr lang="en-US" altLang="ja-JP" sz="2200" dirty="0"/>
              <a:t>f</a:t>
            </a:r>
            <a:r>
              <a:rPr lang="ja-JP" altLang="en-US" sz="2200" dirty="0"/>
              <a:t>）目標：定めるべき目標を「設計計画書」などで明確にする。</a:t>
            </a:r>
            <a:endParaRPr lang="en-US" altLang="ja-JP" sz="2200" dirty="0"/>
          </a:p>
          <a:p>
            <a:pPr marL="514350" indent="-514350">
              <a:lnSpc>
                <a:spcPct val="100000"/>
              </a:lnSpc>
              <a:buFont typeface="+mj-lt"/>
              <a:buAutoNum type="arabicPeriod" startAt="2"/>
            </a:pPr>
            <a:r>
              <a:rPr lang="ja-JP" altLang="en-US" sz="2400" dirty="0"/>
              <a:t>設計に必要なインプット情報を収集～展開するプロセス。</a:t>
            </a:r>
            <a:endParaRPr lang="en-US" altLang="ja-JP" sz="2400" dirty="0"/>
          </a:p>
          <a:p>
            <a:pPr lvl="1">
              <a:lnSpc>
                <a:spcPct val="100000"/>
              </a:lnSpc>
              <a:buFont typeface="Wingdings" panose="05000000000000000000" pitchFamily="2" charset="2"/>
              <a:buChar char="Ø"/>
            </a:pPr>
            <a:r>
              <a:rPr lang="ja-JP" altLang="en-US" dirty="0"/>
              <a:t>過去の情報、市場情報及ベンチマークなどの情報を的確に活用することを求めている。</a:t>
            </a:r>
          </a:p>
        </p:txBody>
      </p:sp>
      <p:sp>
        <p:nvSpPr>
          <p:cNvPr id="12" name="タイトル 1">
            <a:extLst>
              <a:ext uri="{FF2B5EF4-FFF2-40B4-BE49-F238E27FC236}">
                <a16:creationId xmlns:a16="http://schemas.microsoft.com/office/drawing/2014/main" id="{9F0CA3F0-D723-4C97-A082-0DE5A67DEC24}"/>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8.3.3.1</a:t>
            </a:r>
            <a:r>
              <a:rPr lang="ja-JP" altLang="en-US" sz="3000" b="1" dirty="0">
                <a:solidFill>
                  <a:schemeClr val="bg1"/>
                </a:solidFill>
              </a:rPr>
              <a:t>　製品設計へのインプット</a:t>
            </a:r>
          </a:p>
        </p:txBody>
      </p:sp>
      <p:graphicFrame>
        <p:nvGraphicFramePr>
          <p:cNvPr id="14" name="表 13">
            <a:extLst>
              <a:ext uri="{FF2B5EF4-FFF2-40B4-BE49-F238E27FC236}">
                <a16:creationId xmlns:a16="http://schemas.microsoft.com/office/drawing/2014/main" id="{CF67CD45-F8ED-4B0E-9CC3-B5831739BB87}"/>
              </a:ext>
            </a:extLst>
          </p:cNvPr>
          <p:cNvGraphicFramePr>
            <a:graphicFrameLocks noGrp="1"/>
          </p:cNvGraphicFramePr>
          <p:nvPr>
            <p:extLst>
              <p:ext uri="{D42A27DB-BD31-4B8C-83A1-F6EECF244321}">
                <p14:modId xmlns:p14="http://schemas.microsoft.com/office/powerpoint/2010/main" val="3994439322"/>
              </p:ext>
            </p:extLst>
          </p:nvPr>
        </p:nvGraphicFramePr>
        <p:xfrm>
          <a:off x="5079998" y="3826510"/>
          <a:ext cx="6273805" cy="2529840"/>
        </p:xfrm>
        <a:graphic>
          <a:graphicData uri="http://schemas.openxmlformats.org/drawingml/2006/table">
            <a:tbl>
              <a:tblPr firstRow="1" bandRow="1">
                <a:tableStyleId>{5940675A-B579-460E-94D1-54222C63F5DA}</a:tableStyleId>
              </a:tblPr>
              <a:tblGrid>
                <a:gridCol w="2587959">
                  <a:extLst>
                    <a:ext uri="{9D8B030D-6E8A-4147-A177-3AD203B41FA5}">
                      <a16:colId xmlns:a16="http://schemas.microsoft.com/office/drawing/2014/main" val="1625154909"/>
                    </a:ext>
                  </a:extLst>
                </a:gridCol>
                <a:gridCol w="1121745">
                  <a:extLst>
                    <a:ext uri="{9D8B030D-6E8A-4147-A177-3AD203B41FA5}">
                      <a16:colId xmlns:a16="http://schemas.microsoft.com/office/drawing/2014/main" val="1087340181"/>
                    </a:ext>
                  </a:extLst>
                </a:gridCol>
                <a:gridCol w="2564101">
                  <a:extLst>
                    <a:ext uri="{9D8B030D-6E8A-4147-A177-3AD203B41FA5}">
                      <a16:colId xmlns:a16="http://schemas.microsoft.com/office/drawing/2014/main" val="702971715"/>
                    </a:ext>
                  </a:extLst>
                </a:gridCol>
              </a:tblGrid>
              <a:tr h="353152">
                <a:tc gridSpan="3">
                  <a:txBody>
                    <a:bodyPr/>
                    <a:lstStyle/>
                    <a:p>
                      <a:pPr algn="ctr"/>
                      <a:r>
                        <a:rPr kumimoji="1" lang="ja-JP" altLang="en-US" sz="2000" b="1" dirty="0"/>
                        <a:t>トレードオフになりやすい関係</a:t>
                      </a:r>
                    </a:p>
                  </a:txBody>
                  <a:tcPr anchor="ctr">
                    <a:solidFill>
                      <a:schemeClr val="tx2">
                        <a:lumMod val="40000"/>
                        <a:lumOff val="60000"/>
                      </a:schemeClr>
                    </a:solidFill>
                  </a:tcPr>
                </a:tc>
                <a:tc hMerge="1">
                  <a:txBody>
                    <a:bodyPr/>
                    <a:lstStyle/>
                    <a:p>
                      <a:endParaRPr kumimoji="1" lang="ja-JP" altLang="en-US" dirty="0"/>
                    </a:p>
                  </a:txBody>
                  <a:tcPr anchor="ctr"/>
                </a:tc>
                <a:tc hMerge="1">
                  <a:txBody>
                    <a:bodyPr/>
                    <a:lstStyle/>
                    <a:p>
                      <a:endParaRPr kumimoji="1" lang="ja-JP" altLang="en-US" dirty="0"/>
                    </a:p>
                  </a:txBody>
                  <a:tcPr anchor="ctr"/>
                </a:tc>
                <a:extLst>
                  <a:ext uri="{0D108BD9-81ED-4DB2-BD59-A6C34878D82A}">
                    <a16:rowId xmlns:a16="http://schemas.microsoft.com/office/drawing/2014/main" val="166672092"/>
                  </a:ext>
                </a:extLst>
              </a:tr>
              <a:tr h="271655">
                <a:tc>
                  <a:txBody>
                    <a:bodyPr/>
                    <a:lstStyle/>
                    <a:p>
                      <a:r>
                        <a:rPr kumimoji="1" lang="ja-JP" altLang="en-US" sz="1400" dirty="0"/>
                        <a:t>安全性向上</a:t>
                      </a:r>
                    </a:p>
                  </a:txBody>
                  <a:tcPr anchor="ctr"/>
                </a:tc>
                <a:tc rowSpan="7">
                  <a:txBody>
                    <a:bodyPr/>
                    <a:lstStyle/>
                    <a:p>
                      <a:endParaRPr kumimoji="1" lang="ja-JP" altLang="en-US" sz="1400" dirty="0"/>
                    </a:p>
                  </a:txBody>
                  <a:tcPr anchor="ctr"/>
                </a:tc>
                <a:tc>
                  <a:txBody>
                    <a:bodyPr/>
                    <a:lstStyle/>
                    <a:p>
                      <a:r>
                        <a:rPr kumimoji="1" lang="ja-JP" altLang="en-US" sz="1400" dirty="0"/>
                        <a:t>コスト増加</a:t>
                      </a:r>
                    </a:p>
                  </a:txBody>
                  <a:tcPr anchor="ctr"/>
                </a:tc>
                <a:extLst>
                  <a:ext uri="{0D108BD9-81ED-4DB2-BD59-A6C34878D82A}">
                    <a16:rowId xmlns:a16="http://schemas.microsoft.com/office/drawing/2014/main" val="4278378765"/>
                  </a:ext>
                </a:extLst>
              </a:tr>
              <a:tr h="271655">
                <a:tc>
                  <a:txBody>
                    <a:bodyPr/>
                    <a:lstStyle/>
                    <a:p>
                      <a:r>
                        <a:rPr kumimoji="1" lang="ja-JP" altLang="en-US" sz="1400" dirty="0"/>
                        <a:t>デザイン性向上</a:t>
                      </a:r>
                    </a:p>
                  </a:txBody>
                  <a:tcPr anchor="ctr"/>
                </a:tc>
                <a:tc vMerge="1">
                  <a:txBody>
                    <a:bodyPr/>
                    <a:lstStyle/>
                    <a:p>
                      <a:endParaRPr kumimoji="1" lang="ja-JP" altLang="en-US" sz="2000" dirty="0"/>
                    </a:p>
                  </a:txBody>
                  <a:tcPr anchor="ctr"/>
                </a:tc>
                <a:tc>
                  <a:txBody>
                    <a:bodyPr/>
                    <a:lstStyle/>
                    <a:p>
                      <a:r>
                        <a:rPr kumimoji="1" lang="ja-JP" altLang="en-US" sz="1400" dirty="0"/>
                        <a:t>使いやすさ低下</a:t>
                      </a:r>
                    </a:p>
                  </a:txBody>
                  <a:tcPr anchor="ctr"/>
                </a:tc>
                <a:extLst>
                  <a:ext uri="{0D108BD9-81ED-4DB2-BD59-A6C34878D82A}">
                    <a16:rowId xmlns:a16="http://schemas.microsoft.com/office/drawing/2014/main" val="4130948953"/>
                  </a:ext>
                </a:extLst>
              </a:tr>
              <a:tr h="271655">
                <a:tc>
                  <a:txBody>
                    <a:bodyPr/>
                    <a:lstStyle/>
                    <a:p>
                      <a:r>
                        <a:rPr kumimoji="1" lang="ja-JP" altLang="en-US" sz="1400" dirty="0"/>
                        <a:t>軽量化</a:t>
                      </a:r>
                    </a:p>
                  </a:txBody>
                  <a:tcPr anchor="ctr"/>
                </a:tc>
                <a:tc vMerge="1">
                  <a:txBody>
                    <a:bodyPr/>
                    <a:lstStyle/>
                    <a:p>
                      <a:endParaRPr kumimoji="1" lang="ja-JP" altLang="en-US" sz="2000" dirty="0"/>
                    </a:p>
                  </a:txBody>
                  <a:tcPr anchor="ctr"/>
                </a:tc>
                <a:tc>
                  <a:txBody>
                    <a:bodyPr/>
                    <a:lstStyle/>
                    <a:p>
                      <a:r>
                        <a:rPr kumimoji="1" lang="ja-JP" altLang="en-US" sz="1400" dirty="0"/>
                        <a:t>強度低下</a:t>
                      </a:r>
                    </a:p>
                  </a:txBody>
                  <a:tcPr anchor="ctr"/>
                </a:tc>
                <a:extLst>
                  <a:ext uri="{0D108BD9-81ED-4DB2-BD59-A6C34878D82A}">
                    <a16:rowId xmlns:a16="http://schemas.microsoft.com/office/drawing/2014/main" val="837531291"/>
                  </a:ext>
                </a:extLst>
              </a:tr>
              <a:tr h="271655">
                <a:tc>
                  <a:txBody>
                    <a:bodyPr/>
                    <a:lstStyle/>
                    <a:p>
                      <a:r>
                        <a:rPr kumimoji="1" lang="ja-JP" altLang="en-US" sz="1400" dirty="0"/>
                        <a:t>多様なニーズ対応</a:t>
                      </a:r>
                    </a:p>
                  </a:txBody>
                  <a:tcPr anchor="ctr"/>
                </a:tc>
                <a:tc vMerge="1">
                  <a:txBody>
                    <a:bodyPr/>
                    <a:lstStyle/>
                    <a:p>
                      <a:endParaRPr kumimoji="1" lang="ja-JP" altLang="en-US" sz="2000" dirty="0"/>
                    </a:p>
                  </a:txBody>
                  <a:tcPr anchor="ctr"/>
                </a:tc>
                <a:tc>
                  <a:txBody>
                    <a:bodyPr/>
                    <a:lstStyle/>
                    <a:p>
                      <a:r>
                        <a:rPr kumimoji="1" lang="ja-JP" altLang="en-US" sz="1400" dirty="0"/>
                        <a:t>多種少量生産</a:t>
                      </a:r>
                    </a:p>
                  </a:txBody>
                  <a:tcPr anchor="ctr"/>
                </a:tc>
                <a:extLst>
                  <a:ext uri="{0D108BD9-81ED-4DB2-BD59-A6C34878D82A}">
                    <a16:rowId xmlns:a16="http://schemas.microsoft.com/office/drawing/2014/main" val="1177419369"/>
                  </a:ext>
                </a:extLst>
              </a:tr>
              <a:tr h="271655">
                <a:tc>
                  <a:txBody>
                    <a:bodyPr/>
                    <a:lstStyle/>
                    <a:p>
                      <a:r>
                        <a:rPr kumimoji="1" lang="ja-JP" altLang="en-US" sz="1400" dirty="0"/>
                        <a:t>環境負荷低減</a:t>
                      </a:r>
                    </a:p>
                  </a:txBody>
                  <a:tcPr anchor="ctr"/>
                </a:tc>
                <a:tc vMerge="1">
                  <a:txBody>
                    <a:bodyPr/>
                    <a:lstStyle/>
                    <a:p>
                      <a:endParaRPr kumimoji="1" lang="ja-JP" altLang="en-US" sz="2000" dirty="0"/>
                    </a:p>
                  </a:txBody>
                  <a:tcPr anchor="ctr"/>
                </a:tc>
                <a:tc>
                  <a:txBody>
                    <a:bodyPr/>
                    <a:lstStyle/>
                    <a:p>
                      <a:r>
                        <a:rPr kumimoji="1" lang="ja-JP" altLang="en-US" sz="1400" dirty="0"/>
                        <a:t>コスト増加</a:t>
                      </a:r>
                    </a:p>
                  </a:txBody>
                  <a:tcPr anchor="ctr"/>
                </a:tc>
                <a:extLst>
                  <a:ext uri="{0D108BD9-81ED-4DB2-BD59-A6C34878D82A}">
                    <a16:rowId xmlns:a16="http://schemas.microsoft.com/office/drawing/2014/main" val="1403927850"/>
                  </a:ext>
                </a:extLst>
              </a:tr>
              <a:tr h="271655">
                <a:tc>
                  <a:txBody>
                    <a:bodyPr/>
                    <a:lstStyle/>
                    <a:p>
                      <a:r>
                        <a:rPr kumimoji="1" lang="ja-JP" altLang="en-US" sz="1400" dirty="0"/>
                        <a:t>品質向上</a:t>
                      </a:r>
                    </a:p>
                  </a:txBody>
                  <a:tcPr anchor="ctr"/>
                </a:tc>
                <a:tc vMerge="1">
                  <a:txBody>
                    <a:bodyPr/>
                    <a:lstStyle/>
                    <a:p>
                      <a:endParaRPr kumimoji="1" lang="ja-JP" altLang="en-US" sz="2000" dirty="0"/>
                    </a:p>
                  </a:txBody>
                  <a:tcPr anchor="ctr"/>
                </a:tc>
                <a:tc>
                  <a:txBody>
                    <a:bodyPr/>
                    <a:lstStyle/>
                    <a:p>
                      <a:r>
                        <a:rPr kumimoji="1" lang="ja-JP" altLang="en-US" sz="1400" dirty="0"/>
                        <a:t>コスト増加</a:t>
                      </a:r>
                    </a:p>
                  </a:txBody>
                  <a:tcPr anchor="ctr"/>
                </a:tc>
                <a:extLst>
                  <a:ext uri="{0D108BD9-81ED-4DB2-BD59-A6C34878D82A}">
                    <a16:rowId xmlns:a16="http://schemas.microsoft.com/office/drawing/2014/main" val="3609020010"/>
                  </a:ext>
                </a:extLst>
              </a:tr>
              <a:tr h="271655">
                <a:tc>
                  <a:txBody>
                    <a:bodyPr/>
                    <a:lstStyle/>
                    <a:p>
                      <a:r>
                        <a:rPr kumimoji="1" lang="ja-JP" altLang="en-US" sz="1400" dirty="0"/>
                        <a:t>設計完成度向上</a:t>
                      </a:r>
                    </a:p>
                  </a:txBody>
                  <a:tcPr anchor="ctr"/>
                </a:tc>
                <a:tc vMerge="1">
                  <a:txBody>
                    <a:bodyPr/>
                    <a:lstStyle/>
                    <a:p>
                      <a:endParaRPr kumimoji="1" lang="ja-JP" altLang="en-US" sz="2000" dirty="0"/>
                    </a:p>
                  </a:txBody>
                  <a:tcPr anchor="ctr"/>
                </a:tc>
                <a:tc>
                  <a:txBody>
                    <a:bodyPr/>
                    <a:lstStyle/>
                    <a:p>
                      <a:r>
                        <a:rPr kumimoji="1" lang="ja-JP" altLang="en-US" sz="1400" dirty="0"/>
                        <a:t>設計ＬＴ増大</a:t>
                      </a:r>
                    </a:p>
                  </a:txBody>
                  <a:tcPr anchor="ctr"/>
                </a:tc>
                <a:extLst>
                  <a:ext uri="{0D108BD9-81ED-4DB2-BD59-A6C34878D82A}">
                    <a16:rowId xmlns:a16="http://schemas.microsoft.com/office/drawing/2014/main" val="11253777"/>
                  </a:ext>
                </a:extLst>
              </a:tr>
            </a:tbl>
          </a:graphicData>
        </a:graphic>
      </p:graphicFrame>
      <p:sp>
        <p:nvSpPr>
          <p:cNvPr id="16" name="矢印: 右 15">
            <a:extLst>
              <a:ext uri="{FF2B5EF4-FFF2-40B4-BE49-F238E27FC236}">
                <a16:creationId xmlns:a16="http://schemas.microsoft.com/office/drawing/2014/main" id="{288ADB70-2BC0-45B9-826D-14A0E4AA0908}"/>
              </a:ext>
            </a:extLst>
          </p:cNvPr>
          <p:cNvSpPr/>
          <p:nvPr/>
        </p:nvSpPr>
        <p:spPr>
          <a:xfrm>
            <a:off x="7982643" y="4373518"/>
            <a:ext cx="521277" cy="1687013"/>
          </a:xfrm>
          <a:prstGeom prst="rightArrow">
            <a:avLst>
              <a:gd name="adj1" fmla="val 80461"/>
              <a:gd name="adj2" fmla="val 50000"/>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B16BDD88-46CB-4D7E-8A58-F98536ACE6B5}"/>
              </a:ext>
            </a:extLst>
          </p:cNvPr>
          <p:cNvGrpSpPr/>
          <p:nvPr/>
        </p:nvGrpSpPr>
        <p:grpSpPr>
          <a:xfrm>
            <a:off x="1696720" y="4045536"/>
            <a:ext cx="3058160" cy="2310812"/>
            <a:chOff x="664787" y="1419472"/>
            <a:chExt cx="5152119" cy="3948080"/>
          </a:xfrm>
        </p:grpSpPr>
        <p:sp>
          <p:nvSpPr>
            <p:cNvPr id="18" name="円弧 17">
              <a:extLst>
                <a:ext uri="{FF2B5EF4-FFF2-40B4-BE49-F238E27FC236}">
                  <a16:creationId xmlns:a16="http://schemas.microsoft.com/office/drawing/2014/main" id="{6B56EE12-8924-43B9-9518-3E2AC259872D}"/>
                </a:ext>
              </a:extLst>
            </p:cNvPr>
            <p:cNvSpPr/>
            <p:nvPr/>
          </p:nvSpPr>
          <p:spPr>
            <a:xfrm rot="10800000">
              <a:off x="1390749" y="1419472"/>
              <a:ext cx="4426157" cy="3245076"/>
            </a:xfrm>
            <a:prstGeom prst="arc">
              <a:avLst>
                <a:gd name="adj1" fmla="val 16220791"/>
                <a:gd name="adj2" fmla="val 1"/>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19" name="直線矢印コネクタ 18">
              <a:extLst>
                <a:ext uri="{FF2B5EF4-FFF2-40B4-BE49-F238E27FC236}">
                  <a16:creationId xmlns:a16="http://schemas.microsoft.com/office/drawing/2014/main" id="{67CCCAA4-8F6F-4CBE-9DC6-484D5B7AB7C8}"/>
                </a:ext>
              </a:extLst>
            </p:cNvPr>
            <p:cNvCxnSpPr>
              <a:cxnSpLocks/>
            </p:cNvCxnSpPr>
            <p:nvPr/>
          </p:nvCxnSpPr>
          <p:spPr>
            <a:xfrm flipV="1">
              <a:off x="945140" y="2502384"/>
              <a:ext cx="0" cy="26305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D8C8300B-B4DF-4D72-91A7-9286CB36D211}"/>
                </a:ext>
              </a:extLst>
            </p:cNvPr>
            <p:cNvCxnSpPr>
              <a:cxnSpLocks/>
            </p:cNvCxnSpPr>
            <p:nvPr/>
          </p:nvCxnSpPr>
          <p:spPr>
            <a:xfrm flipV="1">
              <a:off x="945140" y="5132964"/>
              <a:ext cx="2867876"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377A75AF-3456-478A-91B4-097991E46FFC}"/>
                </a:ext>
              </a:extLst>
            </p:cNvPr>
            <p:cNvSpPr/>
            <p:nvPr/>
          </p:nvSpPr>
          <p:spPr>
            <a:xfrm>
              <a:off x="664787" y="2100306"/>
              <a:ext cx="1108302" cy="4810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特性Ａ</a:t>
              </a:r>
            </a:p>
          </p:txBody>
        </p:sp>
        <p:sp>
          <p:nvSpPr>
            <p:cNvPr id="22" name="正方形/長方形 21">
              <a:extLst>
                <a:ext uri="{FF2B5EF4-FFF2-40B4-BE49-F238E27FC236}">
                  <a16:creationId xmlns:a16="http://schemas.microsoft.com/office/drawing/2014/main" id="{92E647A8-68E8-49D4-898C-3598EFDD28E4}"/>
                </a:ext>
              </a:extLst>
            </p:cNvPr>
            <p:cNvSpPr/>
            <p:nvPr/>
          </p:nvSpPr>
          <p:spPr>
            <a:xfrm>
              <a:off x="3675278" y="4898373"/>
              <a:ext cx="1153544" cy="469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特性Ｂ</a:t>
              </a:r>
            </a:p>
          </p:txBody>
        </p:sp>
      </p:grpSp>
      <p:sp>
        <p:nvSpPr>
          <p:cNvPr id="23" name="四角形: 角を丸くする 22">
            <a:extLst>
              <a:ext uri="{FF2B5EF4-FFF2-40B4-BE49-F238E27FC236}">
                <a16:creationId xmlns:a16="http://schemas.microsoft.com/office/drawing/2014/main" id="{0E8D89CB-806D-425A-9252-8852C0215911}"/>
              </a:ext>
            </a:extLst>
          </p:cNvPr>
          <p:cNvSpPr/>
          <p:nvPr/>
        </p:nvSpPr>
        <p:spPr>
          <a:xfrm>
            <a:off x="2410513" y="3968364"/>
            <a:ext cx="2146308" cy="47566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トレードオフ曲線</a:t>
            </a:r>
          </a:p>
        </p:txBody>
      </p:sp>
    </p:spTree>
    <p:extLst>
      <p:ext uri="{BB962C8B-B14F-4D97-AF65-F5344CB8AC3E}">
        <p14:creationId xmlns:p14="http://schemas.microsoft.com/office/powerpoint/2010/main" val="308166403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☑組織は、製造工程設計へのインプット要求事項を特定し、</a:t>
            </a:r>
            <a:r>
              <a:rPr lang="ja-JP" altLang="en-US" sz="2000" b="1" dirty="0"/>
              <a:t>文書化</a:t>
            </a:r>
            <a:r>
              <a:rPr lang="ja-JP" altLang="en-US" sz="2000" dirty="0"/>
              <a:t>し、レビューしなければならない。これには次の事項を含めなければならない。しかし、それに限定されない。</a:t>
            </a:r>
            <a:endParaRPr lang="en-US" altLang="ja-JP" sz="2000" dirty="0"/>
          </a:p>
          <a:p>
            <a:pPr marL="800100" lvl="1" indent="-342900">
              <a:lnSpc>
                <a:spcPct val="100000"/>
              </a:lnSpc>
              <a:buFont typeface="+mj-lt"/>
              <a:buAutoNum type="alphaLcPeriod"/>
            </a:pPr>
            <a:r>
              <a:rPr lang="ja-JP" altLang="en-US" sz="2000" u="sng" dirty="0"/>
              <a:t>特殊特性</a:t>
            </a:r>
            <a:r>
              <a:rPr lang="ja-JP" altLang="en-US" sz="2000" dirty="0"/>
              <a:t>を含む、製品設計からのアウトプットデータ</a:t>
            </a:r>
            <a:endParaRPr lang="en-US" altLang="ja-JP" sz="2000" dirty="0"/>
          </a:p>
          <a:p>
            <a:pPr marL="800100" lvl="1" indent="-342900">
              <a:lnSpc>
                <a:spcPct val="100000"/>
              </a:lnSpc>
              <a:buFont typeface="+mj-lt"/>
              <a:buAutoNum type="alphaLcPeriod"/>
            </a:pPr>
            <a:r>
              <a:rPr lang="ja-JP" altLang="en-US" sz="2000" dirty="0"/>
              <a:t>生産性、工程能力、タイミング及びコストに対する</a:t>
            </a:r>
            <a:r>
              <a:rPr lang="ja-JP" altLang="en-US" sz="2000" u="sng" dirty="0"/>
              <a:t>目標</a:t>
            </a:r>
            <a:endParaRPr lang="en-US" altLang="ja-JP" sz="2000" u="sng" dirty="0"/>
          </a:p>
          <a:p>
            <a:pPr marL="800100" lvl="1" indent="-342900">
              <a:lnSpc>
                <a:spcPct val="100000"/>
              </a:lnSpc>
              <a:buFont typeface="+mj-lt"/>
              <a:buAutoNum type="alphaLcPeriod"/>
            </a:pPr>
            <a:r>
              <a:rPr lang="ja-JP" altLang="en-US" sz="2000" u="sng" dirty="0"/>
              <a:t>製造技術の代替案</a:t>
            </a:r>
            <a:endParaRPr lang="en-US" altLang="ja-JP" sz="2000" u="sng" dirty="0"/>
          </a:p>
          <a:p>
            <a:pPr marL="800100" lvl="1" indent="-342900">
              <a:lnSpc>
                <a:spcPct val="100000"/>
              </a:lnSpc>
              <a:buFont typeface="+mj-lt"/>
              <a:buAutoNum type="alphaLcPeriod"/>
            </a:pPr>
            <a:r>
              <a:rPr lang="ja-JP" altLang="en-US" sz="2000" dirty="0"/>
              <a:t>もしあれば、</a:t>
            </a:r>
            <a:r>
              <a:rPr lang="ja-JP" altLang="en-US" sz="2000" u="sng" dirty="0"/>
              <a:t>顧客要求事項</a:t>
            </a:r>
            <a:endParaRPr lang="en-US" altLang="ja-JP" sz="2000" u="sng" dirty="0"/>
          </a:p>
          <a:p>
            <a:pPr marL="800100" lvl="1" indent="-342900">
              <a:lnSpc>
                <a:spcPct val="100000"/>
              </a:lnSpc>
              <a:buFont typeface="+mj-lt"/>
              <a:buAutoNum type="alphaLcPeriod"/>
            </a:pPr>
            <a:r>
              <a:rPr lang="ja-JP" altLang="en-US" sz="2000" dirty="0"/>
              <a:t>過去の開発からの</a:t>
            </a:r>
            <a:r>
              <a:rPr lang="ja-JP" altLang="en-US" sz="2000" u="sng" dirty="0"/>
              <a:t>経験</a:t>
            </a:r>
            <a:endParaRPr lang="en-US" altLang="ja-JP" sz="2000" u="sng" dirty="0"/>
          </a:p>
          <a:p>
            <a:pPr marL="800100" lvl="1" indent="-342900">
              <a:lnSpc>
                <a:spcPct val="100000"/>
              </a:lnSpc>
              <a:buFont typeface="+mj-lt"/>
              <a:buAutoNum type="alphaLcPeriod"/>
            </a:pPr>
            <a:r>
              <a:rPr lang="ja-JP" altLang="en-US" sz="2000" u="sng" dirty="0"/>
              <a:t>新材料</a:t>
            </a:r>
            <a:endParaRPr lang="en-US" altLang="ja-JP" sz="2000" u="sng" dirty="0"/>
          </a:p>
          <a:p>
            <a:pPr marL="800100" lvl="1" indent="-342900">
              <a:lnSpc>
                <a:spcPct val="100000"/>
              </a:lnSpc>
              <a:buFont typeface="+mj-lt"/>
              <a:buAutoNum type="alphaLcPeriod"/>
            </a:pPr>
            <a:r>
              <a:rPr lang="ja-JP" altLang="en-US" sz="2000" dirty="0"/>
              <a:t>製品の取扱い及び</a:t>
            </a:r>
            <a:r>
              <a:rPr lang="ja-JP" altLang="en-US" sz="2000" u="sng" dirty="0"/>
              <a:t>人間工学</a:t>
            </a:r>
            <a:r>
              <a:rPr lang="ja-JP" altLang="en-US" sz="2000" dirty="0"/>
              <a:t>的要求事項</a:t>
            </a:r>
            <a:endParaRPr lang="en-US" altLang="ja-JP" sz="2000" dirty="0"/>
          </a:p>
          <a:p>
            <a:pPr marL="800100" lvl="1" indent="-342900">
              <a:lnSpc>
                <a:spcPct val="100000"/>
              </a:lnSpc>
              <a:buFont typeface="+mj-lt"/>
              <a:buAutoNum type="alphaLcPeriod"/>
            </a:pPr>
            <a:r>
              <a:rPr lang="ja-JP" altLang="en-US" sz="2000" u="sng" dirty="0"/>
              <a:t>製造設計、組立設計</a:t>
            </a:r>
            <a:endParaRPr lang="en-US" altLang="ja-JP" sz="2000" u="sng" dirty="0"/>
          </a:p>
          <a:p>
            <a:pPr marL="0" indent="0">
              <a:lnSpc>
                <a:spcPct val="100000"/>
              </a:lnSpc>
              <a:buNone/>
            </a:pPr>
            <a:r>
              <a:rPr lang="ja-JP" altLang="en-US" sz="2000" dirty="0"/>
              <a:t>☑製造工程設計には、問題の大きさに対して適切な程度で、遭遇するリスクに見合う程度の</a:t>
            </a:r>
            <a:r>
              <a:rPr lang="ja-JP" altLang="en-US" sz="2000" u="sng" dirty="0"/>
              <a:t>ポカヨケ手法の採用を含めなければならない。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8.3.3.2</a:t>
            </a:r>
            <a:r>
              <a:rPr kumimoji="1" lang="ja-JP" altLang="en-US" sz="3000" b="1" dirty="0">
                <a:solidFill>
                  <a:schemeClr val="tx2"/>
                </a:solidFill>
              </a:rPr>
              <a:t>　製造工程設計へのインプット</a:t>
            </a:r>
          </a:p>
        </p:txBody>
      </p:sp>
      <p:sp>
        <p:nvSpPr>
          <p:cNvPr id="2" name="正方形/長方形 1">
            <a:extLst>
              <a:ext uri="{FF2B5EF4-FFF2-40B4-BE49-F238E27FC236}">
                <a16:creationId xmlns:a16="http://schemas.microsoft.com/office/drawing/2014/main" id="{D052CB58-5986-42FC-A2F9-F4AC3A53689F}"/>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2"/>
                </a:solidFill>
              </a:rPr>
              <a:t>工程</a:t>
            </a:r>
            <a:r>
              <a:rPr kumimoji="1" lang="ja-JP" altLang="en-US" dirty="0">
                <a:solidFill>
                  <a:schemeClr val="tx2"/>
                </a:solidFill>
              </a:rPr>
              <a:t>設計</a:t>
            </a:r>
          </a:p>
        </p:txBody>
      </p:sp>
    </p:spTree>
    <p:extLst>
      <p:ext uri="{BB962C8B-B14F-4D97-AF65-F5344CB8AC3E}">
        <p14:creationId xmlns:p14="http://schemas.microsoft.com/office/powerpoint/2010/main" val="3059329981"/>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noFill/>
          </a:ln>
        </p:spPr>
        <p:txBody>
          <a:bodyPr>
            <a:normAutofit/>
          </a:bodyPr>
          <a:lstStyle/>
          <a:p>
            <a:pPr marL="457200" indent="-457200">
              <a:buFont typeface="+mj-lt"/>
              <a:buAutoNum type="arabicPeriod"/>
            </a:pPr>
            <a:r>
              <a:rPr lang="ja-JP" altLang="en-US" sz="2400" dirty="0"/>
              <a:t>インプット項目の要点</a:t>
            </a: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endParaRPr lang="en-US" altLang="ja-JP" sz="2400" dirty="0"/>
          </a:p>
          <a:p>
            <a:pPr marL="457200" indent="-457200">
              <a:buFont typeface="+mj-lt"/>
              <a:buAutoNum type="arabicPeriod"/>
            </a:pPr>
            <a:r>
              <a:rPr lang="ja-JP" altLang="en-US" sz="2400" dirty="0"/>
              <a:t>ポカヨケ設計は重要。</a:t>
            </a:r>
            <a:r>
              <a:rPr lang="ja-JP" altLang="en-US" sz="2000" dirty="0"/>
              <a:t>（</a:t>
            </a:r>
            <a:r>
              <a:rPr lang="en-US" altLang="ja-JP" sz="2000" dirty="0"/>
              <a:t>10.2.4</a:t>
            </a:r>
            <a:r>
              <a:rPr lang="ja-JP" altLang="en-US" sz="2000" dirty="0"/>
              <a:t>にて詳細要求）</a:t>
            </a:r>
            <a:endParaRPr lang="en-US" altLang="ja-JP" sz="2000" dirty="0"/>
          </a:p>
          <a:p>
            <a:pPr lvl="1">
              <a:buFont typeface="Wingdings" panose="05000000000000000000" pitchFamily="2" charset="2"/>
              <a:buChar char="Ø"/>
            </a:pPr>
            <a:r>
              <a:rPr lang="ja-JP" altLang="en-US" dirty="0"/>
              <a:t>リスクとポカヨケ費用の　“天秤”　を適切に判断する。</a:t>
            </a:r>
            <a:endParaRPr lang="en-US" altLang="ja-JP"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8.3.3.2</a:t>
            </a:r>
            <a:r>
              <a:rPr lang="ja-JP" altLang="en-US" sz="3000" b="1" dirty="0">
                <a:solidFill>
                  <a:schemeClr val="bg1"/>
                </a:solidFill>
              </a:rPr>
              <a:t>　製造工程設計へのインプット</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4208D797-0D9A-4EBA-B098-AD6CC8DE73F0}"/>
              </a:ext>
            </a:extLst>
          </p:cNvPr>
          <p:cNvGraphicFramePr>
            <a:graphicFrameLocks noGrp="1"/>
          </p:cNvGraphicFramePr>
          <p:nvPr>
            <p:extLst>
              <p:ext uri="{D42A27DB-BD31-4B8C-83A1-F6EECF244321}">
                <p14:modId xmlns:p14="http://schemas.microsoft.com/office/powerpoint/2010/main" val="2979093461"/>
              </p:ext>
            </p:extLst>
          </p:nvPr>
        </p:nvGraphicFramePr>
        <p:xfrm>
          <a:off x="838200" y="2027103"/>
          <a:ext cx="10515600" cy="2991936"/>
        </p:xfrm>
        <a:graphic>
          <a:graphicData uri="http://schemas.openxmlformats.org/drawingml/2006/table">
            <a:tbl>
              <a:tblPr firstRow="1" bandRow="1">
                <a:tableStyleId>{5940675A-B579-460E-94D1-54222C63F5DA}</a:tableStyleId>
              </a:tblPr>
              <a:tblGrid>
                <a:gridCol w="3287233">
                  <a:extLst>
                    <a:ext uri="{9D8B030D-6E8A-4147-A177-3AD203B41FA5}">
                      <a16:colId xmlns:a16="http://schemas.microsoft.com/office/drawing/2014/main" val="2269981639"/>
                    </a:ext>
                  </a:extLst>
                </a:gridCol>
                <a:gridCol w="7228367">
                  <a:extLst>
                    <a:ext uri="{9D8B030D-6E8A-4147-A177-3AD203B41FA5}">
                      <a16:colId xmlns:a16="http://schemas.microsoft.com/office/drawing/2014/main" val="395248884"/>
                    </a:ext>
                  </a:extLst>
                </a:gridCol>
              </a:tblGrid>
              <a:tr h="498656">
                <a:tc>
                  <a:txBody>
                    <a:bodyPr/>
                    <a:lstStyle/>
                    <a:p>
                      <a:r>
                        <a:rPr kumimoji="1" lang="ja-JP" altLang="en-US" sz="2200" dirty="0"/>
                        <a:t>１．</a:t>
                      </a:r>
                      <a:r>
                        <a:rPr kumimoji="1" lang="en-US" altLang="ja-JP" sz="2200" dirty="0"/>
                        <a:t>b</a:t>
                      </a:r>
                      <a:r>
                        <a:rPr kumimoji="1" lang="ja-JP" altLang="en-US" sz="2200" dirty="0"/>
                        <a:t>）生産性とコスト</a:t>
                      </a:r>
                    </a:p>
                  </a:txBody>
                  <a:tcPr anchor="ctr">
                    <a:solidFill>
                      <a:schemeClr val="tx2">
                        <a:lumMod val="20000"/>
                        <a:lumOff val="80000"/>
                      </a:schemeClr>
                    </a:solidFill>
                  </a:tcPr>
                </a:tc>
                <a:tc>
                  <a:txBody>
                    <a:bodyPr/>
                    <a:lstStyle/>
                    <a:p>
                      <a:r>
                        <a:rPr kumimoji="1" lang="ja-JP" altLang="en-US" sz="2200" dirty="0"/>
                        <a:t>品質要求には一見なじまないが経営的には当然のこと</a:t>
                      </a:r>
                    </a:p>
                  </a:txBody>
                  <a:tcPr anchor="ctr">
                    <a:solidFill>
                      <a:schemeClr val="tx2">
                        <a:lumMod val="20000"/>
                        <a:lumOff val="80000"/>
                      </a:schemeClr>
                    </a:solidFill>
                  </a:tcPr>
                </a:tc>
                <a:extLst>
                  <a:ext uri="{0D108BD9-81ED-4DB2-BD59-A6C34878D82A}">
                    <a16:rowId xmlns:a16="http://schemas.microsoft.com/office/drawing/2014/main" val="3595701709"/>
                  </a:ext>
                </a:extLst>
              </a:tr>
              <a:tr h="498656">
                <a:tc>
                  <a:txBody>
                    <a:bodyPr/>
                    <a:lstStyle/>
                    <a:p>
                      <a:r>
                        <a:rPr kumimoji="1" lang="ja-JP" altLang="en-US" sz="2200" dirty="0"/>
                        <a:t>２．</a:t>
                      </a:r>
                      <a:r>
                        <a:rPr kumimoji="1" lang="en-US" altLang="ja-JP" sz="2200" dirty="0"/>
                        <a:t>b</a:t>
                      </a:r>
                      <a:r>
                        <a:rPr kumimoji="1" lang="ja-JP" altLang="en-US" sz="2200" dirty="0"/>
                        <a:t>）工程能力</a:t>
                      </a:r>
                    </a:p>
                  </a:txBody>
                  <a:tcPr anchor="ctr">
                    <a:solidFill>
                      <a:schemeClr val="tx2">
                        <a:lumMod val="20000"/>
                        <a:lumOff val="80000"/>
                      </a:schemeClr>
                    </a:solidFill>
                  </a:tcPr>
                </a:tc>
                <a:tc>
                  <a:txBody>
                    <a:bodyPr/>
                    <a:lstStyle/>
                    <a:p>
                      <a:r>
                        <a:rPr kumimoji="1" lang="ja-JP" altLang="en-US" sz="2200" dirty="0"/>
                        <a:t>顧客要求がある場合がある。（</a:t>
                      </a:r>
                      <a:r>
                        <a:rPr kumimoji="1" lang="en-US" altLang="ja-JP" sz="2200" dirty="0"/>
                        <a:t>PPAP</a:t>
                      </a:r>
                      <a:r>
                        <a:rPr kumimoji="1" lang="ja-JP" altLang="en-US" sz="2200" dirty="0"/>
                        <a:t>は「</a:t>
                      </a:r>
                      <a:r>
                        <a:rPr kumimoji="1" lang="en-US" altLang="ja-JP" sz="2200" dirty="0"/>
                        <a:t>1.67</a:t>
                      </a:r>
                      <a:r>
                        <a:rPr kumimoji="1" lang="ja-JP" altLang="en-US" sz="2200" dirty="0"/>
                        <a:t>」要求）</a:t>
                      </a:r>
                    </a:p>
                  </a:txBody>
                  <a:tcPr anchor="ctr">
                    <a:solidFill>
                      <a:schemeClr val="tx2">
                        <a:lumMod val="20000"/>
                        <a:lumOff val="80000"/>
                      </a:schemeClr>
                    </a:solidFill>
                  </a:tcPr>
                </a:tc>
                <a:extLst>
                  <a:ext uri="{0D108BD9-81ED-4DB2-BD59-A6C34878D82A}">
                    <a16:rowId xmlns:a16="http://schemas.microsoft.com/office/drawing/2014/main" val="1747855260"/>
                  </a:ext>
                </a:extLst>
              </a:tr>
              <a:tr h="498656">
                <a:tc>
                  <a:txBody>
                    <a:bodyPr/>
                    <a:lstStyle/>
                    <a:p>
                      <a:r>
                        <a:rPr kumimoji="1" lang="ja-JP" altLang="en-US" sz="2200" dirty="0"/>
                        <a:t>３．</a:t>
                      </a:r>
                      <a:r>
                        <a:rPr kumimoji="1" lang="en-US" altLang="ja-JP" sz="2200" dirty="0"/>
                        <a:t>c</a:t>
                      </a:r>
                      <a:r>
                        <a:rPr kumimoji="1" lang="ja-JP" altLang="en-US" sz="2200" dirty="0"/>
                        <a:t>）代替案</a:t>
                      </a:r>
                    </a:p>
                  </a:txBody>
                  <a:tcPr anchor="ctr">
                    <a:solidFill>
                      <a:schemeClr val="tx2">
                        <a:lumMod val="20000"/>
                        <a:lumOff val="80000"/>
                      </a:schemeClr>
                    </a:solidFill>
                  </a:tcPr>
                </a:tc>
                <a:tc>
                  <a:txBody>
                    <a:bodyPr/>
                    <a:lstStyle/>
                    <a:p>
                      <a:r>
                        <a:rPr kumimoji="1" lang="ja-JP" altLang="en-US" sz="2200" dirty="0"/>
                        <a:t>新たな製造技術及び加工技術による提案</a:t>
                      </a:r>
                    </a:p>
                  </a:txBody>
                  <a:tcPr anchor="ctr">
                    <a:solidFill>
                      <a:schemeClr val="tx2">
                        <a:lumMod val="20000"/>
                        <a:lumOff val="80000"/>
                      </a:schemeClr>
                    </a:solidFill>
                  </a:tcPr>
                </a:tc>
                <a:extLst>
                  <a:ext uri="{0D108BD9-81ED-4DB2-BD59-A6C34878D82A}">
                    <a16:rowId xmlns:a16="http://schemas.microsoft.com/office/drawing/2014/main" val="3913860504"/>
                  </a:ext>
                </a:extLst>
              </a:tr>
              <a:tr h="498656">
                <a:tc>
                  <a:txBody>
                    <a:bodyPr/>
                    <a:lstStyle/>
                    <a:p>
                      <a:r>
                        <a:rPr kumimoji="1" lang="ja-JP" altLang="en-US" sz="2200" dirty="0"/>
                        <a:t>４．</a:t>
                      </a:r>
                      <a:r>
                        <a:rPr kumimoji="1" lang="en-US" altLang="ja-JP" sz="2200" dirty="0"/>
                        <a:t>f</a:t>
                      </a:r>
                      <a:r>
                        <a:rPr kumimoji="1" lang="ja-JP" altLang="en-US" sz="2200" dirty="0"/>
                        <a:t>）新材料</a:t>
                      </a:r>
                    </a:p>
                  </a:txBody>
                  <a:tcPr anchor="ctr">
                    <a:solidFill>
                      <a:schemeClr val="tx2">
                        <a:lumMod val="20000"/>
                        <a:lumOff val="80000"/>
                      </a:schemeClr>
                    </a:solidFill>
                  </a:tcPr>
                </a:tc>
                <a:tc>
                  <a:txBody>
                    <a:bodyPr/>
                    <a:lstStyle/>
                    <a:p>
                      <a:r>
                        <a:rPr kumimoji="1" lang="ja-JP" altLang="en-US" sz="2200" dirty="0"/>
                        <a:t>顧客からの要求など（鉄鋼　➠　アルミ</a:t>
                      </a:r>
                      <a:r>
                        <a:rPr kumimoji="1" lang="en-US" altLang="ja-JP" sz="2200" dirty="0"/>
                        <a:t>or</a:t>
                      </a:r>
                      <a:r>
                        <a:rPr kumimoji="1" lang="ja-JP" altLang="en-US" sz="2200" dirty="0"/>
                        <a:t>樹脂化など）</a:t>
                      </a:r>
                    </a:p>
                  </a:txBody>
                  <a:tcPr anchor="ctr">
                    <a:solidFill>
                      <a:schemeClr val="tx2">
                        <a:lumMod val="20000"/>
                        <a:lumOff val="80000"/>
                      </a:schemeClr>
                    </a:solidFill>
                  </a:tcPr>
                </a:tc>
                <a:extLst>
                  <a:ext uri="{0D108BD9-81ED-4DB2-BD59-A6C34878D82A}">
                    <a16:rowId xmlns:a16="http://schemas.microsoft.com/office/drawing/2014/main" val="2992550916"/>
                  </a:ext>
                </a:extLst>
              </a:tr>
              <a:tr h="498656">
                <a:tc>
                  <a:txBody>
                    <a:bodyPr/>
                    <a:lstStyle/>
                    <a:p>
                      <a:r>
                        <a:rPr kumimoji="1" lang="ja-JP" altLang="en-US" sz="2200" dirty="0"/>
                        <a:t>５．</a:t>
                      </a:r>
                      <a:r>
                        <a:rPr kumimoji="1" lang="en-US" altLang="ja-JP" sz="2200" dirty="0"/>
                        <a:t>g</a:t>
                      </a:r>
                      <a:r>
                        <a:rPr kumimoji="1" lang="ja-JP" altLang="en-US" sz="2200" dirty="0"/>
                        <a:t>）人間工学</a:t>
                      </a:r>
                    </a:p>
                  </a:txBody>
                  <a:tcPr anchor="ctr">
                    <a:solidFill>
                      <a:schemeClr val="tx2">
                        <a:lumMod val="20000"/>
                        <a:lumOff val="80000"/>
                      </a:schemeClr>
                    </a:solidFill>
                  </a:tcPr>
                </a:tc>
                <a:tc>
                  <a:txBody>
                    <a:bodyPr/>
                    <a:lstStyle/>
                    <a:p>
                      <a:r>
                        <a:rPr kumimoji="1" lang="en-US" altLang="ja-JP" sz="2200" dirty="0"/>
                        <a:t>IE</a:t>
                      </a:r>
                      <a:r>
                        <a:rPr kumimoji="1" lang="ja-JP" altLang="en-US" sz="2200" dirty="0"/>
                        <a:t>（</a:t>
                      </a:r>
                      <a:r>
                        <a:rPr kumimoji="1" lang="en-US" altLang="ja-JP" sz="2200" dirty="0"/>
                        <a:t>Industrial</a:t>
                      </a:r>
                      <a:r>
                        <a:rPr kumimoji="1" lang="ja-JP" altLang="en-US" sz="2200" dirty="0"/>
                        <a:t>　</a:t>
                      </a:r>
                      <a:r>
                        <a:rPr kumimoji="1" lang="en-US" altLang="ja-JP" sz="2200" dirty="0"/>
                        <a:t>Engineering</a:t>
                      </a:r>
                      <a:r>
                        <a:rPr kumimoji="1" lang="ja-JP" altLang="en-US" sz="2200" dirty="0"/>
                        <a:t>）など</a:t>
                      </a:r>
                    </a:p>
                  </a:txBody>
                  <a:tcPr anchor="ctr">
                    <a:solidFill>
                      <a:schemeClr val="tx2">
                        <a:lumMod val="20000"/>
                        <a:lumOff val="80000"/>
                      </a:schemeClr>
                    </a:solidFill>
                  </a:tcPr>
                </a:tc>
                <a:extLst>
                  <a:ext uri="{0D108BD9-81ED-4DB2-BD59-A6C34878D82A}">
                    <a16:rowId xmlns:a16="http://schemas.microsoft.com/office/drawing/2014/main" val="3165427410"/>
                  </a:ext>
                </a:extLst>
              </a:tr>
              <a:tr h="498656">
                <a:tc>
                  <a:txBody>
                    <a:bodyPr/>
                    <a:lstStyle/>
                    <a:p>
                      <a:r>
                        <a:rPr kumimoji="1" lang="ja-JP" altLang="en-US" sz="2200" dirty="0"/>
                        <a:t>６．</a:t>
                      </a:r>
                      <a:r>
                        <a:rPr kumimoji="1" lang="en-US" altLang="ja-JP" sz="2200" dirty="0"/>
                        <a:t>h</a:t>
                      </a:r>
                      <a:r>
                        <a:rPr kumimoji="1" lang="ja-JP" altLang="en-US" sz="2200" dirty="0"/>
                        <a:t>）</a:t>
                      </a:r>
                      <a:r>
                        <a:rPr kumimoji="1" lang="en-US" altLang="ja-JP" sz="2200" dirty="0"/>
                        <a:t>DFA</a:t>
                      </a:r>
                      <a:r>
                        <a:rPr kumimoji="1" lang="ja-JP" altLang="en-US" sz="2200" dirty="0"/>
                        <a:t>と</a:t>
                      </a:r>
                      <a:r>
                        <a:rPr kumimoji="1" lang="en-US" altLang="ja-JP" sz="2200" dirty="0"/>
                        <a:t>DFM</a:t>
                      </a:r>
                      <a:endParaRPr kumimoji="1" lang="ja-JP" altLang="en-US" sz="2200" dirty="0"/>
                    </a:p>
                  </a:txBody>
                  <a:tcPr anchor="ctr">
                    <a:solidFill>
                      <a:schemeClr val="tx2">
                        <a:lumMod val="20000"/>
                        <a:lumOff val="80000"/>
                      </a:schemeClr>
                    </a:solidFill>
                  </a:tcPr>
                </a:tc>
                <a:tc>
                  <a:txBody>
                    <a:bodyPr/>
                    <a:lstStyle/>
                    <a:p>
                      <a:r>
                        <a:rPr kumimoji="1" lang="en-US" altLang="ja-JP" sz="2200" dirty="0"/>
                        <a:t>DFA</a:t>
                      </a:r>
                      <a:r>
                        <a:rPr kumimoji="1" lang="ja-JP" altLang="en-US" sz="2200" dirty="0"/>
                        <a:t>（組立し易い設計）／</a:t>
                      </a:r>
                      <a:r>
                        <a:rPr kumimoji="1" lang="en-US" altLang="ja-JP" sz="2200" dirty="0"/>
                        <a:t>DFM</a:t>
                      </a:r>
                      <a:r>
                        <a:rPr kumimoji="1" lang="ja-JP" altLang="en-US" sz="2200" dirty="0"/>
                        <a:t>（製造し易い設計）</a:t>
                      </a:r>
                    </a:p>
                  </a:txBody>
                  <a:tcPr anchor="ctr">
                    <a:solidFill>
                      <a:schemeClr val="tx2">
                        <a:lumMod val="20000"/>
                        <a:lumOff val="80000"/>
                      </a:schemeClr>
                    </a:solidFill>
                  </a:tcPr>
                </a:tc>
                <a:extLst>
                  <a:ext uri="{0D108BD9-81ED-4DB2-BD59-A6C34878D82A}">
                    <a16:rowId xmlns:a16="http://schemas.microsoft.com/office/drawing/2014/main" val="644127583"/>
                  </a:ext>
                </a:extLst>
              </a:tr>
            </a:tbl>
          </a:graphicData>
        </a:graphic>
      </p:graphicFrame>
      <p:sp>
        <p:nvSpPr>
          <p:cNvPr id="6" name="吹き出し: 角を丸めた四角形 5">
            <a:extLst>
              <a:ext uri="{FF2B5EF4-FFF2-40B4-BE49-F238E27FC236}">
                <a16:creationId xmlns:a16="http://schemas.microsoft.com/office/drawing/2014/main" id="{C54FE949-8646-43A5-830F-ACDAD8A73E57}"/>
              </a:ext>
            </a:extLst>
          </p:cNvPr>
          <p:cNvSpPr/>
          <p:nvPr/>
        </p:nvSpPr>
        <p:spPr>
          <a:xfrm>
            <a:off x="5974080" y="1158875"/>
            <a:ext cx="5379719" cy="854075"/>
          </a:xfrm>
          <a:prstGeom prst="wedgeRoundRectCallout">
            <a:avLst>
              <a:gd name="adj1" fmla="val -59918"/>
              <a:gd name="adj2" fmla="val 9516"/>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要するに工程</a:t>
            </a:r>
            <a:r>
              <a:rPr lang="en-US" altLang="ja-JP" dirty="0">
                <a:solidFill>
                  <a:schemeClr val="tx1"/>
                </a:solidFill>
              </a:rPr>
              <a:t>FMEA</a:t>
            </a:r>
            <a:r>
              <a:rPr lang="ja-JP" altLang="en-US" dirty="0">
                <a:solidFill>
                  <a:schemeClr val="tx1"/>
                </a:solidFill>
              </a:rPr>
              <a:t>にてリスク分析を行う際のインプット情報を漏れなくすること。</a:t>
            </a:r>
            <a:endParaRPr kumimoji="1" lang="ja-JP" altLang="en-US" dirty="0">
              <a:solidFill>
                <a:schemeClr val="tx1"/>
              </a:solidFill>
            </a:endParaRPr>
          </a:p>
        </p:txBody>
      </p:sp>
    </p:spTree>
    <p:extLst>
      <p:ext uri="{BB962C8B-B14F-4D97-AF65-F5344CB8AC3E}">
        <p14:creationId xmlns:p14="http://schemas.microsoft.com/office/powerpoint/2010/main" val="287247276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☑組織は、顧客によって決定された、また組織によって実施された</a:t>
            </a:r>
            <a:r>
              <a:rPr lang="ja-JP" altLang="en-US" sz="2000" u="sng" dirty="0"/>
              <a:t>リスク分析による特殊特性を特定するプロセスを確立</a:t>
            </a:r>
            <a:r>
              <a:rPr lang="ja-JP" altLang="en-US" sz="2000" dirty="0"/>
              <a:t>し、</a:t>
            </a:r>
            <a:r>
              <a:rPr lang="ja-JP" altLang="en-US" sz="2000" b="1" dirty="0"/>
              <a:t>文書化</a:t>
            </a:r>
            <a:r>
              <a:rPr lang="ja-JP" altLang="en-US" sz="2000" dirty="0"/>
              <a:t>し、実施するために</a:t>
            </a:r>
            <a:r>
              <a:rPr lang="ja-JP" altLang="en-US" sz="2000" b="1" dirty="0"/>
              <a:t>部門横断的アプローチ</a:t>
            </a:r>
            <a:r>
              <a:rPr lang="ja-JP" altLang="en-US" sz="2000" dirty="0"/>
              <a:t>を用いなければならない。</a:t>
            </a:r>
            <a:endParaRPr lang="en-US" altLang="ja-JP" sz="2000" dirty="0"/>
          </a:p>
          <a:p>
            <a:pPr marL="0" indent="0">
              <a:lnSpc>
                <a:spcPct val="100000"/>
              </a:lnSpc>
              <a:buNone/>
            </a:pPr>
            <a:r>
              <a:rPr lang="ja-JP" altLang="en-US" sz="2000" dirty="0"/>
              <a:t>☑それには次の事項を含めなければならない。</a:t>
            </a:r>
            <a:endParaRPr lang="en-US" altLang="ja-JP" sz="2000" dirty="0"/>
          </a:p>
          <a:p>
            <a:pPr marL="800100" lvl="1" indent="-342900">
              <a:lnSpc>
                <a:spcPct val="100000"/>
              </a:lnSpc>
              <a:buFont typeface="+mj-lt"/>
              <a:buAutoNum type="alphaLcPeriod"/>
            </a:pPr>
            <a:r>
              <a:rPr lang="ja-JP" altLang="en-US" sz="2000" dirty="0"/>
              <a:t>製品及び／又は製造のための文書（必要に応じて）、</a:t>
            </a:r>
            <a:r>
              <a:rPr lang="ja-JP" altLang="en-US" sz="2000" u="sng" dirty="0"/>
              <a:t>関連するリスク分析（工程</a:t>
            </a:r>
            <a:r>
              <a:rPr lang="en-US" altLang="ja-JP" sz="2000" u="sng" dirty="0"/>
              <a:t>FMEA</a:t>
            </a:r>
            <a:r>
              <a:rPr lang="ja-JP" altLang="en-US" sz="2000" u="sng" dirty="0"/>
              <a:t>のような）、コントロールプラン及び標準作業／作業者指示書における特殊特性の文書化。</a:t>
            </a:r>
            <a:r>
              <a:rPr lang="ja-JP" altLang="en-US" sz="2000" dirty="0"/>
              <a:t>特殊特性は、固有の記号で識別され、これらの特殊特性のつくり込みの要領又は必要な管理方法を示す製造のための文書の中に文書化される。</a:t>
            </a:r>
            <a:endParaRPr lang="en-US" altLang="ja-JP" sz="2000" dirty="0"/>
          </a:p>
          <a:p>
            <a:pPr marL="800100" lvl="1" indent="-342900">
              <a:lnSpc>
                <a:spcPct val="100000"/>
              </a:lnSpc>
              <a:buFont typeface="+mj-lt"/>
              <a:buAutoNum type="alphaLcPeriod"/>
            </a:pPr>
            <a:r>
              <a:rPr lang="ja-JP" altLang="en-US" sz="2000" dirty="0"/>
              <a:t>製品及び製造工程の</a:t>
            </a:r>
            <a:r>
              <a:rPr lang="ja-JP" altLang="en-US" sz="2000" u="sng" dirty="0"/>
              <a:t>特殊特性に対する管理及び監視戦略の開発</a:t>
            </a:r>
            <a:endParaRPr lang="en-US" altLang="ja-JP" sz="2000" u="sng" dirty="0"/>
          </a:p>
          <a:p>
            <a:pPr marL="800100" lvl="1" indent="-342900">
              <a:lnSpc>
                <a:spcPct val="100000"/>
              </a:lnSpc>
              <a:buFont typeface="+mj-lt"/>
              <a:buAutoNum type="alphaLcPeriod"/>
            </a:pPr>
            <a:r>
              <a:rPr lang="ja-JP" altLang="en-US" sz="2000" dirty="0"/>
              <a:t>要求がある場合、</a:t>
            </a:r>
            <a:r>
              <a:rPr lang="ja-JP" altLang="en-US" sz="2000" u="sng" dirty="0"/>
              <a:t>顧客規定の承認</a:t>
            </a:r>
            <a:endParaRPr lang="en-US" altLang="ja-JP" sz="2000" u="sng" dirty="0"/>
          </a:p>
          <a:p>
            <a:pPr marL="800100" lvl="1" indent="-342900">
              <a:lnSpc>
                <a:spcPct val="100000"/>
              </a:lnSpc>
              <a:buFont typeface="+mj-lt"/>
              <a:buAutoNum type="alphaLcPeriod"/>
            </a:pPr>
            <a:r>
              <a:rPr lang="ja-JP" altLang="en-US" sz="2000" dirty="0"/>
              <a:t>顧客規定の定義及び記号、又は記号変換表に定められた、組織の同等の記号若しくは表記法への適合。記号変換表は、要求されれば顧客に提出しなければならない。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8.3.3.3</a:t>
            </a:r>
            <a:r>
              <a:rPr kumimoji="1" lang="ja-JP" altLang="en-US" sz="3000" b="1" dirty="0">
                <a:solidFill>
                  <a:schemeClr val="tx2"/>
                </a:solidFill>
              </a:rPr>
              <a:t>　特殊特性</a:t>
            </a:r>
          </a:p>
        </p:txBody>
      </p:sp>
      <p:sp>
        <p:nvSpPr>
          <p:cNvPr id="2" name="四角形: 角を丸くする 1">
            <a:extLst>
              <a:ext uri="{FF2B5EF4-FFF2-40B4-BE49-F238E27FC236}">
                <a16:creationId xmlns:a16="http://schemas.microsoft.com/office/drawing/2014/main" id="{69D6EF28-03E8-41F2-8AC1-D30BB304E425}"/>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6</a:t>
            </a:r>
          </a:p>
        </p:txBody>
      </p:sp>
    </p:spTree>
    <p:extLst>
      <p:ext uri="{BB962C8B-B14F-4D97-AF65-F5344CB8AC3E}">
        <p14:creationId xmlns:p14="http://schemas.microsoft.com/office/powerpoint/2010/main" val="3810641756"/>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特殊特性</a:t>
            </a:r>
            <a:endParaRPr lang="en-US" altLang="ja-JP" sz="2400" dirty="0"/>
          </a:p>
          <a:p>
            <a:pPr lvl="1">
              <a:lnSpc>
                <a:spcPct val="100000"/>
              </a:lnSpc>
              <a:buFont typeface="Wingdings" panose="05000000000000000000" pitchFamily="2" charset="2"/>
              <a:buChar char="Ø"/>
            </a:pPr>
            <a:r>
              <a:rPr lang="ja-JP" altLang="en-US" dirty="0"/>
              <a:t>その特性の許容限界を超えると、製品安全、政府規制への適合、組付け性、機能、外観などに影響を与える可能性がある特性。</a:t>
            </a:r>
            <a:endParaRPr lang="en-US" altLang="ja-JP" dirty="0"/>
          </a:p>
          <a:p>
            <a:pPr marL="514350" indent="-514350">
              <a:lnSpc>
                <a:spcPct val="100000"/>
              </a:lnSpc>
              <a:buFont typeface="+mj-lt"/>
              <a:buAutoNum type="arabicPeriod"/>
            </a:pPr>
            <a:r>
              <a:rPr lang="ja-JP" altLang="en-US" sz="2400" dirty="0"/>
              <a:t>決定と管理。</a:t>
            </a: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r>
              <a:rPr lang="ja-JP" altLang="en-US" sz="2400" dirty="0"/>
              <a:t>識別文書を利用する要員に対し、特殊特性の意味と意図を理解させる。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8.3.3.3</a:t>
            </a:r>
            <a:r>
              <a:rPr lang="ja-JP" altLang="en-US" sz="3000" b="1" dirty="0">
                <a:solidFill>
                  <a:schemeClr val="bg1"/>
                </a:solidFill>
              </a:rPr>
              <a:t>　特殊特性</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92BE5ABB-D9CF-4F03-960B-16AD79548066}"/>
              </a:ext>
            </a:extLst>
          </p:cNvPr>
          <p:cNvGraphicFramePr>
            <a:graphicFrameLocks noGrp="1"/>
          </p:cNvGraphicFramePr>
          <p:nvPr>
            <p:extLst>
              <p:ext uri="{D42A27DB-BD31-4B8C-83A1-F6EECF244321}">
                <p14:modId xmlns:p14="http://schemas.microsoft.com/office/powerpoint/2010/main" val="2114086385"/>
              </p:ext>
            </p:extLst>
          </p:nvPr>
        </p:nvGraphicFramePr>
        <p:xfrm>
          <a:off x="838200" y="3145637"/>
          <a:ext cx="10515600" cy="2395847"/>
        </p:xfrm>
        <a:graphic>
          <a:graphicData uri="http://schemas.openxmlformats.org/drawingml/2006/table">
            <a:tbl>
              <a:tblPr firstRow="1" bandRow="1">
                <a:tableStyleId>{5940675A-B579-460E-94D1-54222C63F5DA}</a:tableStyleId>
              </a:tblPr>
              <a:tblGrid>
                <a:gridCol w="1325880">
                  <a:extLst>
                    <a:ext uri="{9D8B030D-6E8A-4147-A177-3AD203B41FA5}">
                      <a16:colId xmlns:a16="http://schemas.microsoft.com/office/drawing/2014/main" val="205641768"/>
                    </a:ext>
                  </a:extLst>
                </a:gridCol>
                <a:gridCol w="3531640">
                  <a:extLst>
                    <a:ext uri="{9D8B030D-6E8A-4147-A177-3AD203B41FA5}">
                      <a16:colId xmlns:a16="http://schemas.microsoft.com/office/drawing/2014/main" val="2049075014"/>
                    </a:ext>
                  </a:extLst>
                </a:gridCol>
                <a:gridCol w="2137273">
                  <a:extLst>
                    <a:ext uri="{9D8B030D-6E8A-4147-A177-3AD203B41FA5}">
                      <a16:colId xmlns:a16="http://schemas.microsoft.com/office/drawing/2014/main" val="989624813"/>
                    </a:ext>
                  </a:extLst>
                </a:gridCol>
                <a:gridCol w="3520807">
                  <a:extLst>
                    <a:ext uri="{9D8B030D-6E8A-4147-A177-3AD203B41FA5}">
                      <a16:colId xmlns:a16="http://schemas.microsoft.com/office/drawing/2014/main" val="3852812619"/>
                    </a:ext>
                  </a:extLst>
                </a:gridCol>
              </a:tblGrid>
              <a:tr h="525348">
                <a:tc>
                  <a:txBody>
                    <a:bodyPr/>
                    <a:lstStyle/>
                    <a:p>
                      <a:pPr algn="ctr"/>
                      <a:r>
                        <a:rPr kumimoji="1" lang="ja-JP" altLang="en-US" sz="2000" dirty="0"/>
                        <a:t>決定者</a:t>
                      </a:r>
                    </a:p>
                  </a:txBody>
                  <a:tcPr anchor="ctr">
                    <a:solidFill>
                      <a:schemeClr val="tx2">
                        <a:lumMod val="40000"/>
                        <a:lumOff val="60000"/>
                      </a:schemeClr>
                    </a:solidFill>
                  </a:tcPr>
                </a:tc>
                <a:tc>
                  <a:txBody>
                    <a:bodyPr/>
                    <a:lstStyle/>
                    <a:p>
                      <a:pPr algn="ctr"/>
                      <a:r>
                        <a:rPr kumimoji="1" lang="ja-JP" altLang="en-US" sz="2000" dirty="0"/>
                        <a:t>決定方法</a:t>
                      </a:r>
                    </a:p>
                  </a:txBody>
                  <a:tcPr anchor="ctr">
                    <a:solidFill>
                      <a:schemeClr val="tx2">
                        <a:lumMod val="40000"/>
                        <a:lumOff val="60000"/>
                      </a:schemeClr>
                    </a:solidFill>
                  </a:tcPr>
                </a:tc>
                <a:tc>
                  <a:txBody>
                    <a:bodyPr/>
                    <a:lstStyle/>
                    <a:p>
                      <a:pPr algn="ctr"/>
                      <a:r>
                        <a:rPr kumimoji="1" lang="ja-JP" altLang="en-US" sz="2000" dirty="0"/>
                        <a:t>管理及び監視</a:t>
                      </a:r>
                    </a:p>
                  </a:txBody>
                  <a:tcPr anchor="ctr">
                    <a:solidFill>
                      <a:schemeClr val="tx2">
                        <a:lumMod val="40000"/>
                        <a:lumOff val="60000"/>
                      </a:schemeClr>
                    </a:solidFill>
                  </a:tcPr>
                </a:tc>
                <a:tc>
                  <a:txBody>
                    <a:bodyPr/>
                    <a:lstStyle/>
                    <a:p>
                      <a:pPr algn="ctr"/>
                      <a:r>
                        <a:rPr kumimoji="1" lang="ja-JP" altLang="en-US" sz="2000" dirty="0"/>
                        <a:t>識別</a:t>
                      </a:r>
                    </a:p>
                  </a:txBody>
                  <a:tcPr anchor="ctr">
                    <a:solidFill>
                      <a:schemeClr val="tx2">
                        <a:lumMod val="40000"/>
                        <a:lumOff val="60000"/>
                      </a:schemeClr>
                    </a:solidFill>
                  </a:tcPr>
                </a:tc>
                <a:extLst>
                  <a:ext uri="{0D108BD9-81ED-4DB2-BD59-A6C34878D82A}">
                    <a16:rowId xmlns:a16="http://schemas.microsoft.com/office/drawing/2014/main" val="172227774"/>
                  </a:ext>
                </a:extLst>
              </a:tr>
              <a:tr h="525348">
                <a:tc gridSpan="2">
                  <a:txBody>
                    <a:bodyPr/>
                    <a:lstStyle/>
                    <a:p>
                      <a:pPr algn="ctr"/>
                      <a:r>
                        <a:rPr kumimoji="1" lang="ja-JP" altLang="en-US" sz="2000" dirty="0"/>
                        <a:t>顧客</a:t>
                      </a:r>
                    </a:p>
                  </a:txBody>
                  <a:tcPr anchor="ctr"/>
                </a:tc>
                <a:tc hMerge="1">
                  <a:txBody>
                    <a:bodyPr/>
                    <a:lstStyle/>
                    <a:p>
                      <a:endParaRPr kumimoji="1" lang="ja-JP" altLang="en-US"/>
                    </a:p>
                  </a:txBody>
                  <a:tcPr/>
                </a:tc>
                <a:tc rowSpan="2">
                  <a:txBody>
                    <a:bodyPr/>
                    <a:lstStyle/>
                    <a:p>
                      <a:r>
                        <a:rPr kumimoji="1" lang="ja-JP" altLang="en-US" sz="2000" dirty="0"/>
                        <a:t>Ｘ－Ｒ管理図</a:t>
                      </a:r>
                      <a:endParaRPr kumimoji="1" lang="en-US" altLang="ja-JP" sz="2000" dirty="0"/>
                    </a:p>
                    <a:p>
                      <a:r>
                        <a:rPr kumimoji="1" lang="en-US" altLang="ja-JP" sz="2000" dirty="0"/>
                        <a:t>Cp</a:t>
                      </a:r>
                      <a:r>
                        <a:rPr kumimoji="1" lang="ja-JP" altLang="en-US" sz="2000" dirty="0"/>
                        <a:t>（</a:t>
                      </a:r>
                      <a:r>
                        <a:rPr kumimoji="1" lang="en-US" altLang="ja-JP" sz="2000" dirty="0" err="1"/>
                        <a:t>Cpk</a:t>
                      </a:r>
                      <a:r>
                        <a:rPr kumimoji="1" lang="ja-JP" altLang="en-US" sz="2000" dirty="0"/>
                        <a:t>）</a:t>
                      </a:r>
                      <a:endParaRPr kumimoji="1" lang="en-US" altLang="ja-JP" sz="2000" dirty="0"/>
                    </a:p>
                    <a:p>
                      <a:r>
                        <a:rPr kumimoji="1" lang="ja-JP" altLang="en-US" sz="2000" dirty="0"/>
                        <a:t>ポカヨケ</a:t>
                      </a:r>
                      <a:endParaRPr kumimoji="1" lang="en-US" altLang="ja-JP" sz="2000" dirty="0"/>
                    </a:p>
                    <a:p>
                      <a:r>
                        <a:rPr kumimoji="1" lang="ja-JP" altLang="en-US" sz="2000" dirty="0"/>
                        <a:t>全数検査など</a:t>
                      </a:r>
                    </a:p>
                  </a:txBody>
                  <a:tcPr anchor="ctr"/>
                </a:tc>
                <a:tc>
                  <a:txBody>
                    <a:bodyPr/>
                    <a:lstStyle/>
                    <a:p>
                      <a:r>
                        <a:rPr kumimoji="1" lang="ja-JP" altLang="en-US" sz="2000" dirty="0"/>
                        <a:t>顧客規定の定義及び記号</a:t>
                      </a:r>
                    </a:p>
                  </a:txBody>
                  <a:tcPr anchor="ctr"/>
                </a:tc>
                <a:extLst>
                  <a:ext uri="{0D108BD9-81ED-4DB2-BD59-A6C34878D82A}">
                    <a16:rowId xmlns:a16="http://schemas.microsoft.com/office/drawing/2014/main" val="1785810408"/>
                  </a:ext>
                </a:extLst>
              </a:tr>
              <a:tr h="1345151">
                <a:tc>
                  <a:txBody>
                    <a:bodyPr/>
                    <a:lstStyle/>
                    <a:p>
                      <a:pPr algn="ctr"/>
                      <a:r>
                        <a:rPr kumimoji="1" lang="ja-JP" altLang="en-US" sz="2000" dirty="0"/>
                        <a:t>組織</a:t>
                      </a:r>
                    </a:p>
                  </a:txBody>
                  <a:tcPr anchor="ctr"/>
                </a:tc>
                <a:tc>
                  <a:txBody>
                    <a:bodyPr/>
                    <a:lstStyle/>
                    <a:p>
                      <a:pPr algn="l"/>
                      <a:r>
                        <a:rPr kumimoji="1" lang="ja-JP" altLang="en-US" sz="2000" dirty="0"/>
                        <a:t>リスク分析の結果</a:t>
                      </a:r>
                      <a:endParaRPr kumimoji="1" lang="en-US" altLang="ja-JP" sz="2000" dirty="0"/>
                    </a:p>
                    <a:p>
                      <a:pPr algn="l"/>
                      <a:r>
                        <a:rPr kumimoji="1" lang="ja-JP" altLang="en-US" sz="2000" dirty="0"/>
                        <a:t>（</a:t>
                      </a:r>
                      <a:r>
                        <a:rPr kumimoji="1" lang="en-US" altLang="ja-JP" sz="2000" dirty="0"/>
                        <a:t>FMEA</a:t>
                      </a:r>
                      <a:r>
                        <a:rPr kumimoji="1" lang="ja-JP" altLang="en-US" sz="2000" dirty="0"/>
                        <a:t>の結果、非常に高い厳しさとなった場合の該当特性が特殊特性となる）</a:t>
                      </a:r>
                    </a:p>
                  </a:txBody>
                  <a:tcPr anchor="ctr"/>
                </a:tc>
                <a:tc vMerge="1">
                  <a:txBody>
                    <a:bodyPr/>
                    <a:lstStyle/>
                    <a:p>
                      <a:endParaRPr kumimoji="1" lang="ja-JP" altLang="en-US" dirty="0"/>
                    </a:p>
                  </a:txBody>
                  <a:tcPr anchor="ctr"/>
                </a:tc>
                <a:tc>
                  <a:txBody>
                    <a:bodyPr/>
                    <a:lstStyle/>
                    <a:p>
                      <a:r>
                        <a:rPr kumimoji="1" lang="ja-JP" altLang="en-US" sz="2000" dirty="0"/>
                        <a:t>組織の識別規定（顧客記号の変換表含む）</a:t>
                      </a:r>
                      <a:endParaRPr kumimoji="1" lang="en-US" altLang="ja-JP" sz="2000" dirty="0"/>
                    </a:p>
                    <a:p>
                      <a:r>
                        <a:rPr kumimoji="1" lang="ja-JP" altLang="en-US" sz="2000" dirty="0"/>
                        <a:t>（図面／</a:t>
                      </a:r>
                      <a:r>
                        <a:rPr kumimoji="1" lang="en-US" altLang="ja-JP" sz="2000" dirty="0"/>
                        <a:t>FMEA</a:t>
                      </a:r>
                      <a:r>
                        <a:rPr kumimoji="1" lang="ja-JP" altLang="en-US" sz="2000" dirty="0"/>
                        <a:t>／</a:t>
                      </a:r>
                      <a:r>
                        <a:rPr kumimoji="1" lang="en-US" altLang="ja-JP" sz="2000" dirty="0"/>
                        <a:t>CP</a:t>
                      </a:r>
                      <a:r>
                        <a:rPr kumimoji="1" lang="ja-JP" altLang="en-US" sz="2000" dirty="0"/>
                        <a:t>／作業指示書など）</a:t>
                      </a:r>
                    </a:p>
                  </a:txBody>
                  <a:tcPr anchor="ctr"/>
                </a:tc>
                <a:extLst>
                  <a:ext uri="{0D108BD9-81ED-4DB2-BD59-A6C34878D82A}">
                    <a16:rowId xmlns:a16="http://schemas.microsoft.com/office/drawing/2014/main" val="895220181"/>
                  </a:ext>
                </a:extLst>
              </a:tr>
            </a:tbl>
          </a:graphicData>
        </a:graphic>
      </p:graphicFrame>
      <p:sp>
        <p:nvSpPr>
          <p:cNvPr id="3" name="正方形/長方形 2">
            <a:extLst>
              <a:ext uri="{FF2B5EF4-FFF2-40B4-BE49-F238E27FC236}">
                <a16:creationId xmlns:a16="http://schemas.microsoft.com/office/drawing/2014/main" id="{9B23CA9F-C517-4A6A-8243-2EB40D9C27B9}"/>
              </a:ext>
            </a:extLst>
          </p:cNvPr>
          <p:cNvSpPr/>
          <p:nvPr/>
        </p:nvSpPr>
        <p:spPr>
          <a:xfrm>
            <a:off x="5730240" y="3926522"/>
            <a:ext cx="365760" cy="132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a:t>
            </a:r>
          </a:p>
        </p:txBody>
      </p:sp>
    </p:spTree>
    <p:extLst>
      <p:ext uri="{BB962C8B-B14F-4D97-AF65-F5344CB8AC3E}">
        <p14:creationId xmlns:p14="http://schemas.microsoft.com/office/powerpoint/2010/main" val="211081283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209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8.3.3.3</a:t>
            </a:r>
            <a:r>
              <a:rPr lang="ja-JP" altLang="en-US" sz="3000" b="1" dirty="0">
                <a:solidFill>
                  <a:schemeClr val="bg1"/>
                </a:solidFill>
              </a:rPr>
              <a:t>　特殊特性</a:t>
            </a:r>
            <a:endParaRPr kumimoji="1" lang="ja-JP" altLang="en-US" sz="3000" b="1" dirty="0">
              <a:solidFill>
                <a:schemeClr val="bg1"/>
              </a:solidFill>
            </a:endParaRPr>
          </a:p>
        </p:txBody>
      </p:sp>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8889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特殊特性の管理。</a:t>
            </a:r>
            <a:endParaRPr lang="en-US" altLang="ja-JP" sz="2400" dirty="0"/>
          </a:p>
        </p:txBody>
      </p:sp>
      <p:graphicFrame>
        <p:nvGraphicFramePr>
          <p:cNvPr id="3" name="表 5">
            <a:extLst>
              <a:ext uri="{FF2B5EF4-FFF2-40B4-BE49-F238E27FC236}">
                <a16:creationId xmlns:a16="http://schemas.microsoft.com/office/drawing/2014/main" id="{845647C7-35B4-4BDE-9DCB-4BA2085FC753}"/>
              </a:ext>
            </a:extLst>
          </p:cNvPr>
          <p:cNvGraphicFramePr>
            <a:graphicFrameLocks noGrp="1"/>
          </p:cNvGraphicFramePr>
          <p:nvPr>
            <p:extLst>
              <p:ext uri="{D42A27DB-BD31-4B8C-83A1-F6EECF244321}">
                <p14:modId xmlns:p14="http://schemas.microsoft.com/office/powerpoint/2010/main" val="3686598901"/>
              </p:ext>
            </p:extLst>
          </p:nvPr>
        </p:nvGraphicFramePr>
        <p:xfrm>
          <a:off x="838200" y="2009550"/>
          <a:ext cx="10515600" cy="3852768"/>
        </p:xfrm>
        <a:graphic>
          <a:graphicData uri="http://schemas.openxmlformats.org/drawingml/2006/table">
            <a:tbl>
              <a:tblPr firstRow="1" bandRow="1">
                <a:tableStyleId>{5940675A-B579-460E-94D1-54222C63F5DA}</a:tableStyleId>
              </a:tblPr>
              <a:tblGrid>
                <a:gridCol w="1559560">
                  <a:extLst>
                    <a:ext uri="{9D8B030D-6E8A-4147-A177-3AD203B41FA5}">
                      <a16:colId xmlns:a16="http://schemas.microsoft.com/office/drawing/2014/main" val="903798010"/>
                    </a:ext>
                  </a:extLst>
                </a:gridCol>
                <a:gridCol w="8956040">
                  <a:extLst>
                    <a:ext uri="{9D8B030D-6E8A-4147-A177-3AD203B41FA5}">
                      <a16:colId xmlns:a16="http://schemas.microsoft.com/office/drawing/2014/main" val="3939787484"/>
                    </a:ext>
                  </a:extLst>
                </a:gridCol>
              </a:tblGrid>
              <a:tr h="538298">
                <a:tc>
                  <a:txBody>
                    <a:bodyPr/>
                    <a:lstStyle/>
                    <a:p>
                      <a:pPr algn="ctr"/>
                      <a:r>
                        <a:rPr kumimoji="1" lang="ja-JP" altLang="en-US" sz="2000" dirty="0">
                          <a:solidFill>
                            <a:schemeClr val="tx1"/>
                          </a:solidFill>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特殊特性の管理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502142161"/>
                  </a:ext>
                </a:extLst>
              </a:tr>
              <a:tr h="538298">
                <a:tc>
                  <a:txBody>
                    <a:bodyPr/>
                    <a:lstStyle/>
                    <a:p>
                      <a:r>
                        <a:rPr kumimoji="1" lang="en-US" altLang="ja-JP" sz="2000" dirty="0"/>
                        <a:t>7.1.5.1.1</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solidFill>
                            <a:srgbClr val="FF0000"/>
                          </a:solidFill>
                          <a:effectLst>
                            <a:outerShdw blurRad="38100" dist="38100" dir="2700000" algn="tl">
                              <a:srgbClr val="000000">
                                <a:alpha val="43137"/>
                              </a:srgbClr>
                            </a:outerShdw>
                          </a:effectLst>
                        </a:rPr>
                        <a:t>測定システム解析の実施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2831040"/>
                  </a:ext>
                </a:extLst>
              </a:tr>
              <a:tr h="1189330">
                <a:tc>
                  <a:txBody>
                    <a:bodyPr/>
                    <a:lstStyle/>
                    <a:p>
                      <a:r>
                        <a:rPr kumimoji="1" lang="en-US" altLang="ja-JP" sz="2000" dirty="0"/>
                        <a:t>8.3.3.3</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特殊特性を特定するプロセスの確立及び文書化</a:t>
                      </a:r>
                      <a:endParaRPr kumimoji="1" lang="en-US" altLang="ja-JP" sz="2000" dirty="0"/>
                    </a:p>
                    <a:p>
                      <a:pPr marL="342900" indent="-342900">
                        <a:buFont typeface="Arial" panose="020B0604020202020204" pitchFamily="34" charset="0"/>
                        <a:buChar char="•"/>
                      </a:pPr>
                      <a:r>
                        <a:rPr kumimoji="1" lang="ja-JP" altLang="en-US" sz="2000" dirty="0"/>
                        <a:t>図面、</a:t>
                      </a:r>
                      <a:r>
                        <a:rPr kumimoji="1" lang="en-US" altLang="ja-JP" sz="2000" dirty="0"/>
                        <a:t>FMEA</a:t>
                      </a:r>
                      <a:r>
                        <a:rPr kumimoji="1" lang="ja-JP" altLang="en-US" sz="2000" dirty="0"/>
                        <a:t>及びコントロールプランなどの文書への識別表示</a:t>
                      </a:r>
                      <a:endParaRPr kumimoji="1" lang="en-US" altLang="ja-JP" sz="2000" dirty="0"/>
                    </a:p>
                    <a:p>
                      <a:pPr marL="342900" indent="-342900">
                        <a:buFont typeface="Arial" panose="020B0604020202020204" pitchFamily="34" charset="0"/>
                        <a:buChar char="•"/>
                      </a:pPr>
                      <a:r>
                        <a:rPr kumimoji="1" lang="ja-JP" altLang="en-US" sz="2000" dirty="0"/>
                        <a:t>特殊特性に対する管理及び監視戦略の開発</a:t>
                      </a:r>
                      <a:endParaRPr kumimoji="1" lang="en-US" altLang="ja-JP"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570519"/>
                  </a:ext>
                </a:extLst>
              </a:tr>
              <a:tr h="538298">
                <a:tc>
                  <a:txBody>
                    <a:bodyPr/>
                    <a:lstStyle/>
                    <a:p>
                      <a:r>
                        <a:rPr kumimoji="1" lang="en-US" altLang="ja-JP" sz="2000" dirty="0"/>
                        <a:t>8.4.3.1</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特殊特性を供給者へ伝達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875105"/>
                  </a:ext>
                </a:extLst>
              </a:tr>
              <a:tr h="510246">
                <a:tc>
                  <a:txBody>
                    <a:bodyPr/>
                    <a:lstStyle/>
                    <a:p>
                      <a:r>
                        <a:rPr kumimoji="1" lang="en-US" altLang="ja-JP" sz="2000" dirty="0"/>
                        <a:t>8.5.1.1</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特殊特性に対して実施する管理の監視方法を</a:t>
                      </a:r>
                      <a:r>
                        <a:rPr kumimoji="1" lang="ja-JP" altLang="en-US" sz="2000" dirty="0">
                          <a:solidFill>
                            <a:srgbClr val="FF0000"/>
                          </a:solidFill>
                          <a:effectLst>
                            <a:outerShdw blurRad="38100" dist="38100" dir="2700000" algn="tl">
                              <a:srgbClr val="000000">
                                <a:alpha val="43137"/>
                              </a:srgbClr>
                            </a:outerShdw>
                          </a:effectLst>
                        </a:rPr>
                        <a:t>コントロールプランへ記載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667042"/>
                  </a:ext>
                </a:extLst>
              </a:tr>
              <a:tr h="538298">
                <a:tc>
                  <a:txBody>
                    <a:bodyPr/>
                    <a:lstStyle/>
                    <a:p>
                      <a:r>
                        <a:rPr kumimoji="1" lang="en-US" altLang="ja-JP" sz="2000" dirty="0"/>
                        <a:t>9.1.1.1</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000" dirty="0"/>
                        <a:t>特殊特性に対する</a:t>
                      </a:r>
                      <a:r>
                        <a:rPr kumimoji="1" lang="ja-JP" altLang="en-US" sz="2000" dirty="0">
                          <a:solidFill>
                            <a:srgbClr val="FF0000"/>
                          </a:solidFill>
                          <a:effectLst>
                            <a:outerShdw blurRad="38100" dist="38100" dir="2700000" algn="tl">
                              <a:srgbClr val="000000">
                                <a:alpha val="43137"/>
                              </a:srgbClr>
                            </a:outerShdw>
                          </a:effectLst>
                        </a:rPr>
                        <a:t>工程能力調査の実施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4621533"/>
                  </a:ext>
                </a:extLst>
              </a:tr>
            </a:tbl>
          </a:graphicData>
        </a:graphic>
      </p:graphicFrame>
    </p:spTree>
    <p:extLst>
      <p:ext uri="{BB962C8B-B14F-4D97-AF65-F5344CB8AC3E}">
        <p14:creationId xmlns:p14="http://schemas.microsoft.com/office/powerpoint/2010/main" val="420296661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矢印: 右 1">
            <a:extLst>
              <a:ext uri="{FF2B5EF4-FFF2-40B4-BE49-F238E27FC236}">
                <a16:creationId xmlns:a16="http://schemas.microsoft.com/office/drawing/2014/main" id="{FD750397-BD0E-4F1F-8C1B-89CEDE2191EA}"/>
              </a:ext>
            </a:extLst>
          </p:cNvPr>
          <p:cNvSpPr/>
          <p:nvPr/>
        </p:nvSpPr>
        <p:spPr>
          <a:xfrm>
            <a:off x="1768228" y="3163600"/>
            <a:ext cx="7845812" cy="687911"/>
          </a:xfrm>
          <a:prstGeom prst="rightArrow">
            <a:avLst>
              <a:gd name="adj1" fmla="val 50000"/>
              <a:gd name="adj2" fmla="val 706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8.3.4</a:t>
            </a:r>
            <a:r>
              <a:rPr lang="ja-JP" altLang="en-US" sz="3000" b="1" dirty="0">
                <a:solidFill>
                  <a:schemeClr val="bg1"/>
                </a:solidFill>
              </a:rPr>
              <a:t>　設計・開発の管理</a:t>
            </a:r>
            <a:endParaRPr kumimoji="1" lang="ja-JP" altLang="en-US" sz="3000" b="1" dirty="0">
              <a:solidFill>
                <a:schemeClr val="bg1"/>
              </a:solidFill>
            </a:endParaRPr>
          </a:p>
        </p:txBody>
      </p:sp>
      <p:sp>
        <p:nvSpPr>
          <p:cNvPr id="3" name="四角形: 角を丸くする 2">
            <a:extLst>
              <a:ext uri="{FF2B5EF4-FFF2-40B4-BE49-F238E27FC236}">
                <a16:creationId xmlns:a16="http://schemas.microsoft.com/office/drawing/2014/main" id="{B97333B8-634F-4358-89DB-793DDFA8290C}"/>
              </a:ext>
            </a:extLst>
          </p:cNvPr>
          <p:cNvSpPr/>
          <p:nvPr/>
        </p:nvSpPr>
        <p:spPr>
          <a:xfrm>
            <a:off x="838200" y="2767987"/>
            <a:ext cx="1619480" cy="1385371"/>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要求事項</a:t>
            </a:r>
          </a:p>
        </p:txBody>
      </p:sp>
      <p:sp>
        <p:nvSpPr>
          <p:cNvPr id="10" name="四角形: 角を丸くする 9">
            <a:extLst>
              <a:ext uri="{FF2B5EF4-FFF2-40B4-BE49-F238E27FC236}">
                <a16:creationId xmlns:a16="http://schemas.microsoft.com/office/drawing/2014/main" id="{F3C86BDE-48F7-4F20-9C73-D8F881BD164A}"/>
              </a:ext>
            </a:extLst>
          </p:cNvPr>
          <p:cNvSpPr/>
          <p:nvPr/>
        </p:nvSpPr>
        <p:spPr>
          <a:xfrm>
            <a:off x="3032160" y="2798283"/>
            <a:ext cx="1619480" cy="1385371"/>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8.3.3</a:t>
            </a:r>
          </a:p>
          <a:p>
            <a:pPr algn="ctr"/>
            <a:r>
              <a:rPr lang="ja-JP" altLang="en-US" dirty="0">
                <a:solidFill>
                  <a:schemeClr val="tx1"/>
                </a:solidFill>
              </a:rPr>
              <a:t>設計・開発へのインプット</a:t>
            </a:r>
            <a:endParaRPr kumimoji="1" lang="ja-JP" altLang="en-US" dirty="0">
              <a:solidFill>
                <a:schemeClr val="tx1"/>
              </a:solidFill>
            </a:endParaRPr>
          </a:p>
        </p:txBody>
      </p:sp>
      <p:sp>
        <p:nvSpPr>
          <p:cNvPr id="11" name="四角形: 角を丸くする 10">
            <a:extLst>
              <a:ext uri="{FF2B5EF4-FFF2-40B4-BE49-F238E27FC236}">
                <a16:creationId xmlns:a16="http://schemas.microsoft.com/office/drawing/2014/main" id="{866BDC6D-888D-4E91-9C1A-3AD74A1C369B}"/>
              </a:ext>
            </a:extLst>
          </p:cNvPr>
          <p:cNvSpPr/>
          <p:nvPr/>
        </p:nvSpPr>
        <p:spPr>
          <a:xfrm>
            <a:off x="5226120" y="2767986"/>
            <a:ext cx="1619480" cy="1385371"/>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設計・開発プロセス</a:t>
            </a:r>
          </a:p>
        </p:txBody>
      </p:sp>
      <p:sp>
        <p:nvSpPr>
          <p:cNvPr id="12" name="四角形: 角を丸くする 11">
            <a:extLst>
              <a:ext uri="{FF2B5EF4-FFF2-40B4-BE49-F238E27FC236}">
                <a16:creationId xmlns:a16="http://schemas.microsoft.com/office/drawing/2014/main" id="{D1B78C4B-464F-4193-A1D0-15C19BF640C2}"/>
              </a:ext>
            </a:extLst>
          </p:cNvPr>
          <p:cNvSpPr/>
          <p:nvPr/>
        </p:nvSpPr>
        <p:spPr>
          <a:xfrm>
            <a:off x="7420080" y="2736314"/>
            <a:ext cx="1619480" cy="1385371"/>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8.3.5</a:t>
            </a:r>
          </a:p>
          <a:p>
            <a:pPr algn="ctr"/>
            <a:r>
              <a:rPr lang="ja-JP" altLang="en-US" dirty="0">
                <a:solidFill>
                  <a:schemeClr val="tx1"/>
                </a:solidFill>
              </a:rPr>
              <a:t>設計・開発からのアウトプット</a:t>
            </a:r>
            <a:endParaRPr kumimoji="1" lang="ja-JP" altLang="en-US" dirty="0">
              <a:solidFill>
                <a:schemeClr val="tx1"/>
              </a:solidFill>
            </a:endParaRPr>
          </a:p>
        </p:txBody>
      </p:sp>
      <p:sp>
        <p:nvSpPr>
          <p:cNvPr id="13" name="四角形: 角を丸くする 12">
            <a:extLst>
              <a:ext uri="{FF2B5EF4-FFF2-40B4-BE49-F238E27FC236}">
                <a16:creationId xmlns:a16="http://schemas.microsoft.com/office/drawing/2014/main" id="{A9A8C25C-A357-444A-B466-9D7A623E33C4}"/>
              </a:ext>
            </a:extLst>
          </p:cNvPr>
          <p:cNvSpPr/>
          <p:nvPr/>
        </p:nvSpPr>
        <p:spPr>
          <a:xfrm>
            <a:off x="9614040" y="2767985"/>
            <a:ext cx="1619480" cy="1385371"/>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製品</a:t>
            </a:r>
            <a:endParaRPr kumimoji="1" lang="en-US" altLang="ja-JP" dirty="0">
              <a:solidFill>
                <a:schemeClr val="tx1"/>
              </a:solidFill>
            </a:endParaRPr>
          </a:p>
          <a:p>
            <a:pPr algn="ctr"/>
            <a:r>
              <a:rPr lang="ja-JP" altLang="en-US" dirty="0">
                <a:solidFill>
                  <a:schemeClr val="tx1"/>
                </a:solidFill>
              </a:rPr>
              <a:t>サービス</a:t>
            </a:r>
            <a:endParaRPr kumimoji="1" lang="ja-JP" altLang="en-US" dirty="0">
              <a:solidFill>
                <a:schemeClr val="tx1"/>
              </a:solidFill>
            </a:endParaRPr>
          </a:p>
        </p:txBody>
      </p:sp>
      <p:sp>
        <p:nvSpPr>
          <p:cNvPr id="14" name="四角形: 角を丸くする 13">
            <a:extLst>
              <a:ext uri="{FF2B5EF4-FFF2-40B4-BE49-F238E27FC236}">
                <a16:creationId xmlns:a16="http://schemas.microsoft.com/office/drawing/2014/main" id="{50F0CDED-CBC4-4664-889F-05737D0C09FC}"/>
              </a:ext>
            </a:extLst>
          </p:cNvPr>
          <p:cNvSpPr/>
          <p:nvPr/>
        </p:nvSpPr>
        <p:spPr>
          <a:xfrm>
            <a:off x="4207060" y="1463472"/>
            <a:ext cx="3657600" cy="768428"/>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8.3.4</a:t>
            </a:r>
          </a:p>
          <a:p>
            <a:pPr algn="ctr"/>
            <a:r>
              <a:rPr lang="ja-JP" altLang="en-US" dirty="0">
                <a:solidFill>
                  <a:schemeClr val="tx1"/>
                </a:solidFill>
              </a:rPr>
              <a:t>設計・開発のレビュー</a:t>
            </a:r>
            <a:endParaRPr kumimoji="1" lang="ja-JP" altLang="en-US" dirty="0">
              <a:solidFill>
                <a:schemeClr val="tx1"/>
              </a:solidFill>
            </a:endParaRPr>
          </a:p>
        </p:txBody>
      </p:sp>
      <p:sp>
        <p:nvSpPr>
          <p:cNvPr id="15" name="四角形: 角を丸くする 14">
            <a:extLst>
              <a:ext uri="{FF2B5EF4-FFF2-40B4-BE49-F238E27FC236}">
                <a16:creationId xmlns:a16="http://schemas.microsoft.com/office/drawing/2014/main" id="{0BEDA33D-D113-4DCF-935D-33912A2923AF}"/>
              </a:ext>
            </a:extLst>
          </p:cNvPr>
          <p:cNvSpPr/>
          <p:nvPr/>
        </p:nvSpPr>
        <p:spPr>
          <a:xfrm>
            <a:off x="4207060" y="4506247"/>
            <a:ext cx="3657600" cy="768428"/>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8.3.4</a:t>
            </a:r>
          </a:p>
          <a:p>
            <a:pPr algn="ctr"/>
            <a:r>
              <a:rPr lang="ja-JP" altLang="en-US" dirty="0">
                <a:solidFill>
                  <a:schemeClr val="tx1"/>
                </a:solidFill>
              </a:rPr>
              <a:t>設計・開発の検証</a:t>
            </a:r>
            <a:endParaRPr kumimoji="1" lang="ja-JP" altLang="en-US" dirty="0">
              <a:solidFill>
                <a:schemeClr val="tx1"/>
              </a:solidFill>
            </a:endParaRPr>
          </a:p>
        </p:txBody>
      </p:sp>
      <p:sp>
        <p:nvSpPr>
          <p:cNvPr id="16" name="四角形: 角を丸くする 15">
            <a:extLst>
              <a:ext uri="{FF2B5EF4-FFF2-40B4-BE49-F238E27FC236}">
                <a16:creationId xmlns:a16="http://schemas.microsoft.com/office/drawing/2014/main" id="{37D0E4E1-2D78-46AB-AA95-F1284EA4ACC7}"/>
              </a:ext>
            </a:extLst>
          </p:cNvPr>
          <p:cNvSpPr/>
          <p:nvPr/>
        </p:nvSpPr>
        <p:spPr>
          <a:xfrm>
            <a:off x="4207060" y="5606818"/>
            <a:ext cx="3657600" cy="768428"/>
          </a:xfrm>
          <a:prstGeom prst="roundRect">
            <a:avLst/>
          </a:prstGeom>
          <a:solidFill>
            <a:schemeClr val="accent5">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8.3.4</a:t>
            </a:r>
          </a:p>
          <a:p>
            <a:pPr algn="ctr"/>
            <a:r>
              <a:rPr lang="ja-JP" altLang="en-US" dirty="0">
                <a:solidFill>
                  <a:schemeClr val="tx1"/>
                </a:solidFill>
              </a:rPr>
              <a:t>設計・開発の妥当性確認</a:t>
            </a:r>
            <a:endParaRPr kumimoji="1" lang="ja-JP" altLang="en-US" dirty="0">
              <a:solidFill>
                <a:schemeClr val="tx1"/>
              </a:solidFill>
            </a:endParaRPr>
          </a:p>
        </p:txBody>
      </p:sp>
      <p:cxnSp>
        <p:nvCxnSpPr>
          <p:cNvPr id="17" name="直線矢印コネクタ 16">
            <a:extLst>
              <a:ext uri="{FF2B5EF4-FFF2-40B4-BE49-F238E27FC236}">
                <a16:creationId xmlns:a16="http://schemas.microsoft.com/office/drawing/2014/main" id="{7B490CF1-A11C-43CB-BEA7-0BA3A3AF4390}"/>
              </a:ext>
            </a:extLst>
          </p:cNvPr>
          <p:cNvCxnSpPr>
            <a:cxnSpLocks/>
            <a:stCxn id="14" idx="2"/>
            <a:endCxn id="3" idx="0"/>
          </p:cNvCxnSpPr>
          <p:nvPr/>
        </p:nvCxnSpPr>
        <p:spPr>
          <a:xfrm flipH="1">
            <a:off x="1647940" y="2231900"/>
            <a:ext cx="4387920" cy="5360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D505FD1F-0B82-4386-8B3D-4DBF905678BE}"/>
              </a:ext>
            </a:extLst>
          </p:cNvPr>
          <p:cNvCxnSpPr>
            <a:cxnSpLocks/>
            <a:stCxn id="14" idx="2"/>
            <a:endCxn id="10" idx="0"/>
          </p:cNvCxnSpPr>
          <p:nvPr/>
        </p:nvCxnSpPr>
        <p:spPr>
          <a:xfrm flipH="1">
            <a:off x="3841900" y="2231900"/>
            <a:ext cx="2193960" cy="5663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B16F5375-9D6F-4707-9545-42EBB3F8F755}"/>
              </a:ext>
            </a:extLst>
          </p:cNvPr>
          <p:cNvCxnSpPr>
            <a:cxnSpLocks/>
            <a:stCxn id="14" idx="2"/>
            <a:endCxn id="11" idx="0"/>
          </p:cNvCxnSpPr>
          <p:nvPr/>
        </p:nvCxnSpPr>
        <p:spPr>
          <a:xfrm>
            <a:off x="6035860" y="2231900"/>
            <a:ext cx="0" cy="5360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2FC876BB-3B1E-430C-95DB-932F52413922}"/>
              </a:ext>
            </a:extLst>
          </p:cNvPr>
          <p:cNvCxnSpPr>
            <a:cxnSpLocks/>
            <a:stCxn id="14" idx="2"/>
            <a:endCxn id="12" idx="0"/>
          </p:cNvCxnSpPr>
          <p:nvPr/>
        </p:nvCxnSpPr>
        <p:spPr>
          <a:xfrm>
            <a:off x="6035860" y="2231900"/>
            <a:ext cx="2193960" cy="5044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E47AD51-C6F2-4C4D-B478-1A1D032F26E4}"/>
              </a:ext>
            </a:extLst>
          </p:cNvPr>
          <p:cNvCxnSpPr>
            <a:cxnSpLocks/>
            <a:stCxn id="14" idx="2"/>
            <a:endCxn id="13" idx="0"/>
          </p:cNvCxnSpPr>
          <p:nvPr/>
        </p:nvCxnSpPr>
        <p:spPr>
          <a:xfrm>
            <a:off x="6035860" y="2231900"/>
            <a:ext cx="4387920" cy="5360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481CAF4C-52AF-4979-808C-7AE284B947A1}"/>
              </a:ext>
            </a:extLst>
          </p:cNvPr>
          <p:cNvCxnSpPr>
            <a:cxnSpLocks/>
            <a:stCxn id="12" idx="2"/>
          </p:cNvCxnSpPr>
          <p:nvPr/>
        </p:nvCxnSpPr>
        <p:spPr>
          <a:xfrm>
            <a:off x="8229820" y="4121685"/>
            <a:ext cx="0" cy="7666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3E3118B0-FC57-4966-9E1F-0BE3D48EA795}"/>
              </a:ext>
            </a:extLst>
          </p:cNvPr>
          <p:cNvCxnSpPr>
            <a:endCxn id="15" idx="3"/>
          </p:cNvCxnSpPr>
          <p:nvPr/>
        </p:nvCxnSpPr>
        <p:spPr>
          <a:xfrm flipH="1">
            <a:off x="7864660" y="4890461"/>
            <a:ext cx="36516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5E5B5C6D-C5BB-473C-87DD-EBD65015B89A}"/>
              </a:ext>
            </a:extLst>
          </p:cNvPr>
          <p:cNvCxnSpPr>
            <a:cxnSpLocks/>
          </p:cNvCxnSpPr>
          <p:nvPr/>
        </p:nvCxnSpPr>
        <p:spPr>
          <a:xfrm>
            <a:off x="10471370" y="4153356"/>
            <a:ext cx="0" cy="183767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ADEAF0B5-0196-43C9-AA69-03659A8E822A}"/>
              </a:ext>
            </a:extLst>
          </p:cNvPr>
          <p:cNvCxnSpPr>
            <a:cxnSpLocks/>
            <a:endCxn id="16" idx="3"/>
          </p:cNvCxnSpPr>
          <p:nvPr/>
        </p:nvCxnSpPr>
        <p:spPr>
          <a:xfrm flipH="1">
            <a:off x="7864660" y="5991032"/>
            <a:ext cx="260671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F888F40B-C8F2-48A0-8EEB-7FB4BFD5C1FB}"/>
              </a:ext>
            </a:extLst>
          </p:cNvPr>
          <p:cNvCxnSpPr>
            <a:cxnSpLocks/>
            <a:stCxn id="15" idx="1"/>
          </p:cNvCxnSpPr>
          <p:nvPr/>
        </p:nvCxnSpPr>
        <p:spPr>
          <a:xfrm flipH="1" flipV="1">
            <a:off x="3841900" y="4888377"/>
            <a:ext cx="365160" cy="208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E5A66325-5AC4-4822-8F45-262902A8CEAF}"/>
              </a:ext>
            </a:extLst>
          </p:cNvPr>
          <p:cNvCxnSpPr>
            <a:cxnSpLocks/>
            <a:endCxn id="10" idx="2"/>
          </p:cNvCxnSpPr>
          <p:nvPr/>
        </p:nvCxnSpPr>
        <p:spPr>
          <a:xfrm flipV="1">
            <a:off x="3841900" y="4183654"/>
            <a:ext cx="0" cy="70472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BF269068-9ED9-4F2B-A82E-937EA755DFC6}"/>
              </a:ext>
            </a:extLst>
          </p:cNvPr>
          <p:cNvCxnSpPr>
            <a:cxnSpLocks/>
            <a:stCxn id="16" idx="1"/>
          </p:cNvCxnSpPr>
          <p:nvPr/>
        </p:nvCxnSpPr>
        <p:spPr>
          <a:xfrm flipH="1" flipV="1">
            <a:off x="1647940" y="5977056"/>
            <a:ext cx="2559120" cy="1397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488D80F0-ED8B-40CD-B322-D32278CD1AC1}"/>
              </a:ext>
            </a:extLst>
          </p:cNvPr>
          <p:cNvCxnSpPr>
            <a:cxnSpLocks/>
            <a:endCxn id="3" idx="2"/>
          </p:cNvCxnSpPr>
          <p:nvPr/>
        </p:nvCxnSpPr>
        <p:spPr>
          <a:xfrm flipV="1">
            <a:off x="1647940" y="4153358"/>
            <a:ext cx="0" cy="18236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吹き出し: 線 66">
            <a:extLst>
              <a:ext uri="{FF2B5EF4-FFF2-40B4-BE49-F238E27FC236}">
                <a16:creationId xmlns:a16="http://schemas.microsoft.com/office/drawing/2014/main" id="{F99B1B53-0529-48C7-A5A1-950883BC3BE8}"/>
              </a:ext>
            </a:extLst>
          </p:cNvPr>
          <p:cNvSpPr/>
          <p:nvPr/>
        </p:nvSpPr>
        <p:spPr>
          <a:xfrm>
            <a:off x="8317738" y="4406747"/>
            <a:ext cx="2106035" cy="947424"/>
          </a:xfrm>
          <a:prstGeom prst="borderCallout1">
            <a:avLst>
              <a:gd name="adj1" fmla="val 16424"/>
              <a:gd name="adj2" fmla="val 37"/>
              <a:gd name="adj3" fmla="val 35754"/>
              <a:gd name="adj4" fmla="val -31533"/>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solidFill>
              </a:rPr>
              <a:t>アウトプットがインプット</a:t>
            </a:r>
            <a:r>
              <a:rPr lang="ja-JP" altLang="en-US" dirty="0">
                <a:solidFill>
                  <a:schemeClr val="tx1"/>
                </a:solidFill>
              </a:rPr>
              <a:t>を満たしているか</a:t>
            </a:r>
            <a:endParaRPr kumimoji="1" lang="ja-JP" altLang="en-US" dirty="0">
              <a:solidFill>
                <a:schemeClr val="tx1"/>
              </a:solidFill>
            </a:endParaRPr>
          </a:p>
        </p:txBody>
      </p:sp>
      <p:sp>
        <p:nvSpPr>
          <p:cNvPr id="68" name="吹き出し: 線 67">
            <a:extLst>
              <a:ext uri="{FF2B5EF4-FFF2-40B4-BE49-F238E27FC236}">
                <a16:creationId xmlns:a16="http://schemas.microsoft.com/office/drawing/2014/main" id="{6937DCF9-67F7-4385-9C97-A58FA4EFA072}"/>
              </a:ext>
            </a:extLst>
          </p:cNvPr>
          <p:cNvSpPr/>
          <p:nvPr/>
        </p:nvSpPr>
        <p:spPr>
          <a:xfrm>
            <a:off x="1768228" y="4957962"/>
            <a:ext cx="2106035" cy="947424"/>
          </a:xfrm>
          <a:prstGeom prst="borderCallout1">
            <a:avLst>
              <a:gd name="adj1" fmla="val 43169"/>
              <a:gd name="adj2" fmla="val 103090"/>
              <a:gd name="adj3" fmla="val 81104"/>
              <a:gd name="adj4" fmla="val 123831"/>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solidFill>
              </a:rPr>
              <a:t>製品が要求事項</a:t>
            </a:r>
            <a:r>
              <a:rPr lang="ja-JP" altLang="en-US" dirty="0">
                <a:solidFill>
                  <a:schemeClr val="tx1"/>
                </a:solidFill>
              </a:rPr>
              <a:t>を満たしているか</a:t>
            </a:r>
            <a:endParaRPr kumimoji="1" lang="ja-JP" altLang="en-US" dirty="0">
              <a:solidFill>
                <a:schemeClr val="tx1"/>
              </a:solidFill>
            </a:endParaRPr>
          </a:p>
        </p:txBody>
      </p:sp>
    </p:spTree>
    <p:extLst>
      <p:ext uri="{BB962C8B-B14F-4D97-AF65-F5344CB8AC3E}">
        <p14:creationId xmlns:p14="http://schemas.microsoft.com/office/powerpoint/2010/main" val="3227767486"/>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☑製品及び工程の設計・開発中の規定された段階での測定項目を、定め、分析し、そして、その要約した結果を</a:t>
            </a:r>
            <a:r>
              <a:rPr lang="ja-JP" altLang="en-US" sz="2000" u="sng" dirty="0"/>
              <a:t>マネジメントレビューへのインプットとして報告しなければならない（</a:t>
            </a:r>
            <a:r>
              <a:rPr lang="en-US" altLang="ja-JP" sz="2000" u="sng" dirty="0"/>
              <a:t>9.3.2.1</a:t>
            </a:r>
            <a:r>
              <a:rPr lang="ja-JP" altLang="en-US" sz="2000" u="sng" dirty="0"/>
              <a:t>参照）。</a:t>
            </a:r>
            <a:endParaRPr lang="en-US" altLang="ja-JP" sz="2000" u="sng" dirty="0"/>
          </a:p>
          <a:p>
            <a:pPr marL="0" indent="0">
              <a:lnSpc>
                <a:spcPct val="100000"/>
              </a:lnSpc>
              <a:buNone/>
            </a:pPr>
            <a:r>
              <a:rPr lang="ja-JP" altLang="en-US" sz="2000" dirty="0"/>
              <a:t>☑</a:t>
            </a:r>
            <a:r>
              <a:rPr lang="ja-JP" altLang="en-US" sz="2000" u="sng" dirty="0"/>
              <a:t>顧客に要求される場合</a:t>
            </a:r>
            <a:r>
              <a:rPr lang="ja-JP" altLang="en-US" sz="2000" dirty="0"/>
              <a:t>、製品及び工程の開発活動の測定項目は、</a:t>
            </a:r>
            <a:r>
              <a:rPr lang="ja-JP" altLang="en-US" sz="2000" u="sng" dirty="0"/>
              <a:t>規定された段階で顧客に報告する</a:t>
            </a:r>
            <a:r>
              <a:rPr lang="ja-JP" altLang="en-US" sz="2000" dirty="0"/>
              <a:t>、又は顧客に合意されなければならない。</a:t>
            </a:r>
          </a:p>
          <a:p>
            <a:pPr marL="0" indent="0">
              <a:lnSpc>
                <a:spcPct val="100000"/>
              </a:lnSpc>
              <a:buNone/>
            </a:pPr>
            <a:r>
              <a:rPr lang="ja-JP" altLang="en-US" sz="2000" dirty="0"/>
              <a:t>注記　必要に応じて、測定項目には、品質リスク、コスト、リードタイム、クリティカルパス、などの測定項目を含めてもよい。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8.3.4.1</a:t>
            </a:r>
            <a:r>
              <a:rPr kumimoji="1" lang="ja-JP" altLang="en-US" sz="3000" b="1" dirty="0">
                <a:solidFill>
                  <a:schemeClr val="tx2"/>
                </a:solidFill>
              </a:rPr>
              <a:t>　監視</a:t>
            </a:r>
          </a:p>
        </p:txBody>
      </p:sp>
    </p:spTree>
    <p:extLst>
      <p:ext uri="{BB962C8B-B14F-4D97-AF65-F5344CB8AC3E}">
        <p14:creationId xmlns:p14="http://schemas.microsoft.com/office/powerpoint/2010/main" val="163052332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設計・開発の進捗状況に対し、経営者が関与するための場。</a:t>
            </a:r>
            <a:endParaRPr lang="en-US" altLang="ja-JP" sz="2400" dirty="0"/>
          </a:p>
          <a:p>
            <a:pPr lvl="1">
              <a:lnSpc>
                <a:spcPct val="100000"/>
              </a:lnSpc>
              <a:buFont typeface="Wingdings" panose="05000000000000000000" pitchFamily="2" charset="2"/>
              <a:buChar char="Ø"/>
            </a:pPr>
            <a:r>
              <a:rPr lang="en-US" altLang="ja-JP" dirty="0"/>
              <a:t>APQP</a:t>
            </a:r>
            <a:r>
              <a:rPr lang="ja-JP" altLang="en-US" dirty="0"/>
              <a:t>の場合：「製品企画終了時」「製品の設計・開発終了時」「工程設計終了時」「量産試作終了～量産開始前」の</a:t>
            </a:r>
            <a:r>
              <a:rPr lang="en-US" altLang="ja-JP" dirty="0"/>
              <a:t>4</a:t>
            </a:r>
            <a:r>
              <a:rPr lang="ja-JP" altLang="en-US" dirty="0"/>
              <a:t>段階</a:t>
            </a:r>
            <a:endParaRPr lang="en-US" altLang="ja-JP" dirty="0"/>
          </a:p>
          <a:p>
            <a:pPr marL="514350" indent="-514350">
              <a:lnSpc>
                <a:spcPct val="100000"/>
              </a:lnSpc>
              <a:buFont typeface="+mj-lt"/>
              <a:buAutoNum type="arabicPeriod"/>
            </a:pPr>
            <a:r>
              <a:rPr lang="ja-JP" altLang="en-US" sz="2400" dirty="0"/>
              <a:t>関与事項の例。</a:t>
            </a:r>
            <a:endParaRPr lang="en-US" altLang="ja-JP" sz="2400" dirty="0"/>
          </a:p>
          <a:p>
            <a:pPr lvl="1">
              <a:lnSpc>
                <a:spcPct val="100000"/>
              </a:lnSpc>
              <a:buFont typeface="Wingdings" panose="05000000000000000000" pitchFamily="2" charset="2"/>
              <a:buChar char="Ø"/>
            </a:pPr>
            <a:r>
              <a:rPr lang="ja-JP" altLang="en-US" dirty="0"/>
              <a:t>重要品質問題（リコールにつながるような）が発生していないか。</a:t>
            </a:r>
            <a:endParaRPr lang="en-US" altLang="ja-JP" dirty="0"/>
          </a:p>
          <a:p>
            <a:pPr lvl="1">
              <a:lnSpc>
                <a:spcPct val="100000"/>
              </a:lnSpc>
              <a:buFont typeface="Wingdings" panose="05000000000000000000" pitchFamily="2" charset="2"/>
              <a:buChar char="Ø"/>
            </a:pPr>
            <a:r>
              <a:rPr lang="ja-JP" altLang="en-US" dirty="0"/>
              <a:t>設定した目標（コスト／機能／性能／耐久性など）は達成しているか。</a:t>
            </a:r>
            <a:endParaRPr lang="en-US" altLang="ja-JP" dirty="0"/>
          </a:p>
          <a:p>
            <a:pPr lvl="1">
              <a:lnSpc>
                <a:spcPct val="100000"/>
              </a:lnSpc>
              <a:buFont typeface="Wingdings" panose="05000000000000000000" pitchFamily="2" charset="2"/>
              <a:buChar char="Ø"/>
            </a:pPr>
            <a:r>
              <a:rPr lang="ja-JP" altLang="en-US" dirty="0"/>
              <a:t>問題に対してリカバリー策はあるか。</a:t>
            </a:r>
            <a:endParaRPr lang="en-US" altLang="ja-JP" dirty="0"/>
          </a:p>
          <a:p>
            <a:pPr lvl="1">
              <a:lnSpc>
                <a:spcPct val="100000"/>
              </a:lnSpc>
              <a:buFont typeface="Wingdings" panose="05000000000000000000" pitchFamily="2" charset="2"/>
              <a:buChar char="Ø"/>
            </a:pPr>
            <a:r>
              <a:rPr lang="ja-JP" altLang="en-US" dirty="0"/>
              <a:t>スケジュール通りに進捗しているか。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8.3.4.1</a:t>
            </a:r>
            <a:r>
              <a:rPr lang="ja-JP" altLang="en-US" sz="3000" b="1" dirty="0">
                <a:solidFill>
                  <a:schemeClr val="bg1"/>
                </a:solidFill>
              </a:rPr>
              <a:t>　監視</a:t>
            </a:r>
            <a:endParaRPr kumimoji="1" lang="ja-JP" altLang="en-US" sz="3000" b="1" dirty="0">
              <a:solidFill>
                <a:schemeClr val="bg1"/>
              </a:solidFill>
            </a:endParaRPr>
          </a:p>
        </p:txBody>
      </p:sp>
      <p:sp>
        <p:nvSpPr>
          <p:cNvPr id="6" name="矢印: ストライプ 5">
            <a:extLst>
              <a:ext uri="{FF2B5EF4-FFF2-40B4-BE49-F238E27FC236}">
                <a16:creationId xmlns:a16="http://schemas.microsoft.com/office/drawing/2014/main" id="{E608676E-1D98-49BB-8E9A-43C6DC419E63}"/>
              </a:ext>
            </a:extLst>
          </p:cNvPr>
          <p:cNvSpPr/>
          <p:nvPr/>
        </p:nvSpPr>
        <p:spPr>
          <a:xfrm>
            <a:off x="1145755" y="5354005"/>
            <a:ext cx="853166" cy="605928"/>
          </a:xfrm>
          <a:prstGeom prst="stripedRightArrow">
            <a:avLst>
              <a:gd name="adj1" fmla="val 79091"/>
              <a:gd name="adj2" fmla="val 50000"/>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四角形: 角を丸くする 7">
            <a:extLst>
              <a:ext uri="{FF2B5EF4-FFF2-40B4-BE49-F238E27FC236}">
                <a16:creationId xmlns:a16="http://schemas.microsoft.com/office/drawing/2014/main" id="{D820621C-9A87-4315-BBAE-614B946FCB5D}"/>
              </a:ext>
            </a:extLst>
          </p:cNvPr>
          <p:cNvSpPr/>
          <p:nvPr/>
        </p:nvSpPr>
        <p:spPr>
          <a:xfrm>
            <a:off x="2214391" y="4957590"/>
            <a:ext cx="8626208" cy="1398759"/>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ja-JP" altLang="en-US" sz="2200" dirty="0">
                <a:solidFill>
                  <a:schemeClr val="tx1"/>
                </a:solidFill>
              </a:rPr>
              <a:t>経営判断の遅れによる設計・開発計画への影響を防止する。設計・開発の新規性及び規模が大きくなればなるほど経営者の関与は欠かせない。</a:t>
            </a:r>
          </a:p>
        </p:txBody>
      </p:sp>
    </p:spTree>
    <p:extLst>
      <p:ext uri="{BB962C8B-B14F-4D97-AF65-F5344CB8AC3E}">
        <p14:creationId xmlns:p14="http://schemas.microsoft.com/office/powerpoint/2010/main" val="150760774"/>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☑設計・開発の妥当性確認は、該当する産業規格及び政府機関の発行する規制基準を含む、</a:t>
            </a:r>
            <a:r>
              <a:rPr lang="ja-JP" altLang="en-US" sz="2000" u="sng" dirty="0"/>
              <a:t>顧客要求事項に従って実行しなければならない。</a:t>
            </a:r>
            <a:endParaRPr lang="en-US" altLang="ja-JP" sz="2000" u="sng" dirty="0"/>
          </a:p>
          <a:p>
            <a:pPr marL="0" indent="0">
              <a:lnSpc>
                <a:spcPct val="100000"/>
              </a:lnSpc>
              <a:buNone/>
            </a:pPr>
            <a:r>
              <a:rPr lang="ja-JP" altLang="en-US" sz="2000" dirty="0"/>
              <a:t>☑設計・開発の妥当性確認のタイミングは、該当する場合には、必ず、</a:t>
            </a:r>
            <a:r>
              <a:rPr lang="ja-JP" altLang="en-US" sz="2000" u="sng" dirty="0"/>
              <a:t>顧客規定のタイミングに合わせて計画しなければならない。</a:t>
            </a:r>
            <a:endParaRPr lang="en-US" altLang="ja-JP" sz="2000" u="sng" dirty="0"/>
          </a:p>
          <a:p>
            <a:pPr marL="0" indent="0">
              <a:lnSpc>
                <a:spcPct val="100000"/>
              </a:lnSpc>
              <a:buNone/>
            </a:pPr>
            <a:r>
              <a:rPr lang="ja-JP" altLang="en-US" sz="2000" dirty="0"/>
              <a:t>☑顧客との契約上の合意がある場合、設計・開発の妥当性確認には、顧客の最終製品のシステム内において、組込みソフトウェアを含めて、組織の製品の相互作用の評価を含めなければならない。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8.3.4.2</a:t>
            </a:r>
            <a:r>
              <a:rPr kumimoji="1" lang="ja-JP" altLang="en-US" sz="3000" b="1" dirty="0">
                <a:solidFill>
                  <a:schemeClr val="tx2"/>
                </a:solidFill>
              </a:rPr>
              <a:t>　設計・開発の妥当性確認</a:t>
            </a:r>
          </a:p>
        </p:txBody>
      </p:sp>
    </p:spTree>
    <p:extLst>
      <p:ext uri="{BB962C8B-B14F-4D97-AF65-F5344CB8AC3E}">
        <p14:creationId xmlns:p14="http://schemas.microsoft.com/office/powerpoint/2010/main" val="2585262045"/>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　</a:t>
            </a:r>
            <a:r>
              <a:rPr lang="en-US" altLang="ja-JP" sz="2400" dirty="0"/>
              <a:t>8.3.4d</a:t>
            </a:r>
            <a:r>
              <a:rPr lang="ja-JP" altLang="en-US" sz="2400" dirty="0"/>
              <a:t>）に対する追加要求事項。</a:t>
            </a:r>
            <a:endParaRPr lang="en-US" altLang="ja-JP" sz="2400" dirty="0"/>
          </a:p>
          <a:p>
            <a:pPr marL="457200" indent="-457200">
              <a:lnSpc>
                <a:spcPct val="100000"/>
              </a:lnSpc>
              <a:buFont typeface="+mj-lt"/>
              <a:buAutoNum type="arabicPeriod"/>
            </a:pPr>
            <a:r>
              <a:rPr lang="ja-JP" altLang="en-US" sz="2400" dirty="0"/>
              <a:t>妥当性確認は図面通りかどうかではなく、</a:t>
            </a:r>
            <a:r>
              <a:rPr lang="ja-JP" altLang="en-US" sz="2400" dirty="0">
                <a:solidFill>
                  <a:srgbClr val="FF0000"/>
                </a:solidFill>
                <a:effectLst>
                  <a:outerShdw blurRad="38100" dist="38100" dir="2700000" algn="tl">
                    <a:srgbClr val="000000">
                      <a:alpha val="43137"/>
                    </a:srgbClr>
                  </a:outerShdw>
                </a:effectLst>
              </a:rPr>
              <a:t>使用者（顧客要求）のニーズに合っているか否か</a:t>
            </a:r>
            <a:r>
              <a:rPr lang="ja-JP" altLang="en-US" sz="2400" dirty="0"/>
              <a:t>の確認である。</a:t>
            </a:r>
            <a:endParaRPr lang="en-US" altLang="ja-JP" sz="2400" dirty="0"/>
          </a:p>
          <a:p>
            <a:pPr marL="457200" indent="-457200">
              <a:lnSpc>
                <a:spcPct val="100000"/>
              </a:lnSpc>
              <a:buFont typeface="+mj-lt"/>
              <a:buAutoNum type="arabicPeriod"/>
            </a:pPr>
            <a:r>
              <a:rPr lang="ja-JP" altLang="en-US" sz="2400" dirty="0"/>
              <a:t>自動車部品の場合、</a:t>
            </a:r>
            <a:r>
              <a:rPr lang="en-US" altLang="ja-JP" sz="2400" dirty="0"/>
              <a:t>OEM</a:t>
            </a:r>
            <a:r>
              <a:rPr lang="ja-JP" altLang="en-US" sz="2400" dirty="0"/>
              <a:t>の新規開発プロジェクトに基づき展開されるため、使用者（顧客要求）のニーズに合っているかだけではなく　</a:t>
            </a:r>
            <a:r>
              <a:rPr lang="ja-JP" altLang="en-US" sz="2400" dirty="0">
                <a:solidFill>
                  <a:srgbClr val="FF0000"/>
                </a:solidFill>
                <a:effectLst>
                  <a:outerShdw blurRad="38100" dist="38100" dir="2700000" algn="tl">
                    <a:srgbClr val="000000">
                      <a:alpha val="43137"/>
                    </a:srgbClr>
                  </a:outerShdw>
                </a:effectLst>
              </a:rPr>
              <a:t>“実施のタイミング”</a:t>
            </a:r>
            <a:r>
              <a:rPr lang="ja-JP" altLang="en-US" sz="2400" dirty="0"/>
              <a:t>　も重要となる。</a:t>
            </a:r>
            <a:endParaRPr lang="en-US" altLang="ja-JP" sz="2400" dirty="0"/>
          </a:p>
          <a:p>
            <a:pPr lvl="1">
              <a:lnSpc>
                <a:spcPct val="100000"/>
              </a:lnSpc>
              <a:buFont typeface="Wingdings" panose="05000000000000000000" pitchFamily="2" charset="2"/>
              <a:buChar char="Ø"/>
            </a:pPr>
            <a:r>
              <a:rPr lang="ja-JP" altLang="en-US" dirty="0"/>
              <a:t>「先行製品品質計画書」「設計計画書」などによる管理。</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8.3.4.2</a:t>
            </a:r>
            <a:r>
              <a:rPr lang="ja-JP" altLang="en-US" sz="3000" b="1" dirty="0">
                <a:solidFill>
                  <a:schemeClr val="bg1"/>
                </a:solidFill>
              </a:rPr>
              <a:t>　設計・開発の妥当性確認</a:t>
            </a:r>
            <a:endParaRPr kumimoji="1" lang="ja-JP" altLang="en-US" sz="3000" b="1" dirty="0">
              <a:solidFill>
                <a:schemeClr val="bg1"/>
              </a:solidFill>
            </a:endParaRPr>
          </a:p>
        </p:txBody>
      </p:sp>
    </p:spTree>
    <p:extLst>
      <p:ext uri="{BB962C8B-B14F-4D97-AF65-F5344CB8AC3E}">
        <p14:creationId xmlns:p14="http://schemas.microsoft.com/office/powerpoint/2010/main" val="3815916885"/>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顧客から要求される場合</a:t>
            </a:r>
            <a:r>
              <a:rPr lang="ja-JP" altLang="en-US" sz="2000" dirty="0"/>
              <a:t>、組織は、</a:t>
            </a:r>
            <a:r>
              <a:rPr lang="ja-JP" altLang="en-US" sz="2000" u="sng" dirty="0"/>
              <a:t>試作プログラム及び試作コントロールプランをもたなければならない。</a:t>
            </a:r>
            <a:endParaRPr lang="en-US" altLang="ja-JP" sz="2000" u="sng" dirty="0"/>
          </a:p>
          <a:p>
            <a:pPr marL="0" indent="0">
              <a:lnSpc>
                <a:spcPct val="100000"/>
              </a:lnSpc>
              <a:buNone/>
            </a:pPr>
            <a:r>
              <a:rPr lang="ja-JP" altLang="en-US" sz="2000" dirty="0"/>
              <a:t>☑組織は、</a:t>
            </a:r>
            <a:r>
              <a:rPr lang="ja-JP" altLang="en-US" sz="2000" u="sng" dirty="0"/>
              <a:t>可能な限り、量産で採用する同一の供給者、治工具及び製造工程を使用しなければならない。</a:t>
            </a:r>
            <a:endParaRPr lang="en-US" altLang="ja-JP" sz="2000" u="sng" dirty="0"/>
          </a:p>
          <a:p>
            <a:pPr marL="0" indent="0">
              <a:lnSpc>
                <a:spcPct val="100000"/>
              </a:lnSpc>
              <a:buNone/>
            </a:pPr>
            <a:r>
              <a:rPr lang="ja-JP" altLang="en-US" sz="2000" dirty="0"/>
              <a:t>☑タイムリーな完了及び要求事項への適合のために、</a:t>
            </a:r>
            <a:r>
              <a:rPr lang="ja-JP" altLang="en-US" sz="2000" u="sng" dirty="0"/>
              <a:t>全ての性能試験活動を監視しなければならない。</a:t>
            </a:r>
            <a:endParaRPr lang="en-US" altLang="ja-JP" sz="2000" u="sng" dirty="0"/>
          </a:p>
          <a:p>
            <a:pPr marL="0" indent="0">
              <a:lnSpc>
                <a:spcPct val="100000"/>
              </a:lnSpc>
              <a:buNone/>
            </a:pPr>
            <a:r>
              <a:rPr lang="ja-JP" altLang="en-US" sz="2000" dirty="0"/>
              <a:t>☑これらの業務をアウトソースする場合、組織は、アウトソースしたサービスが要求事項に適合することを確実にするために、管理の方式及び程度を品質マネジメントシステムの適用範囲に含めなければならない（</a:t>
            </a:r>
            <a:r>
              <a:rPr lang="en-US" altLang="ja-JP" sz="2000" dirty="0"/>
              <a:t>ISO9001</a:t>
            </a:r>
            <a:r>
              <a:rPr lang="ja-JP" altLang="en-US" sz="2000" dirty="0"/>
              <a:t>の</a:t>
            </a:r>
            <a:r>
              <a:rPr lang="en-US" altLang="ja-JP" sz="2000" dirty="0"/>
              <a:t>8.4</a:t>
            </a:r>
            <a:r>
              <a:rPr lang="ja-JP" altLang="en-US" sz="2000" dirty="0"/>
              <a:t>参照）。</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8.3.4.3</a:t>
            </a:r>
            <a:r>
              <a:rPr kumimoji="1" lang="ja-JP" altLang="en-US" sz="3000" b="1" dirty="0">
                <a:solidFill>
                  <a:schemeClr val="tx2"/>
                </a:solidFill>
              </a:rPr>
              <a:t>　試作プログラム</a:t>
            </a:r>
          </a:p>
        </p:txBody>
      </p:sp>
    </p:spTree>
    <p:extLst>
      <p:ext uri="{BB962C8B-B14F-4D97-AF65-F5344CB8AC3E}">
        <p14:creationId xmlns:p14="http://schemas.microsoft.com/office/powerpoint/2010/main" val="260742445"/>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試作プログラムとは。</a:t>
            </a:r>
            <a:endParaRPr lang="en-US" altLang="ja-JP" sz="2400" dirty="0"/>
          </a:p>
          <a:p>
            <a:pPr lvl="1">
              <a:lnSpc>
                <a:spcPct val="100000"/>
              </a:lnSpc>
              <a:buFont typeface="Wingdings" panose="05000000000000000000" pitchFamily="2" charset="2"/>
              <a:buChar char="Ø"/>
            </a:pPr>
            <a:r>
              <a:rPr lang="ja-JP" altLang="en-US" dirty="0"/>
              <a:t>顧客の開発スケジュールに基づき策定される、組織の試作スケジュール及び規模などを定めた計画文書。（試作計画書／試作指示書など）</a:t>
            </a:r>
            <a:endParaRPr lang="en-US" altLang="ja-JP" dirty="0"/>
          </a:p>
          <a:p>
            <a:pPr marL="514350" indent="-514350">
              <a:lnSpc>
                <a:spcPct val="100000"/>
              </a:lnSpc>
              <a:buFont typeface="+mj-lt"/>
              <a:buAutoNum type="arabicPeriod"/>
            </a:pPr>
            <a:r>
              <a:rPr lang="ja-JP" altLang="en-US" sz="2400" dirty="0"/>
              <a:t>試作コントロールプランとは。</a:t>
            </a:r>
            <a:endParaRPr lang="en-US" altLang="ja-JP" sz="2400" dirty="0"/>
          </a:p>
          <a:p>
            <a:pPr lvl="1">
              <a:lnSpc>
                <a:spcPct val="100000"/>
              </a:lnSpc>
              <a:buFont typeface="Wingdings" panose="05000000000000000000" pitchFamily="2" charset="2"/>
              <a:buChar char="Ø"/>
            </a:pPr>
            <a:r>
              <a:rPr lang="ja-JP" altLang="en-US" dirty="0"/>
              <a:t>試作で行う寸法測定、材料及び性能試験などについて記載したもの。（附属書</a:t>
            </a:r>
            <a:r>
              <a:rPr lang="en-US" altLang="ja-JP" dirty="0"/>
              <a:t>A</a:t>
            </a:r>
            <a:r>
              <a:rPr lang="ja-JP" altLang="en-US" dirty="0"/>
              <a:t>）</a:t>
            </a:r>
            <a:endParaRPr lang="en-US" altLang="ja-JP" dirty="0"/>
          </a:p>
          <a:p>
            <a:pPr lvl="1">
              <a:lnSpc>
                <a:spcPct val="100000"/>
              </a:lnSpc>
              <a:buFont typeface="Wingdings" panose="05000000000000000000" pitchFamily="2" charset="2"/>
              <a:buChar char="Ø"/>
            </a:pPr>
            <a:r>
              <a:rPr lang="ja-JP" altLang="en-US" dirty="0"/>
              <a:t>“可能な限り量産と同じ工程”　➠　現実的に困難な場合もあるが、</a:t>
            </a:r>
            <a:r>
              <a:rPr lang="ja-JP" altLang="en-US" dirty="0">
                <a:solidFill>
                  <a:srgbClr val="FF0000"/>
                </a:solidFill>
                <a:effectLst>
                  <a:outerShdw blurRad="38100" dist="38100" dir="2700000" algn="tl">
                    <a:srgbClr val="000000">
                      <a:alpha val="43137"/>
                    </a:srgbClr>
                  </a:outerShdw>
                </a:effectLst>
              </a:rPr>
              <a:t>評価を行う上で欠かせない</a:t>
            </a:r>
            <a:r>
              <a:rPr lang="ja-JP" altLang="en-US" dirty="0"/>
              <a:t>、例えば「型」などは当然「量産の型」を使用するべき。</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8.3.4.3</a:t>
            </a:r>
            <a:r>
              <a:rPr lang="ja-JP" altLang="en-US" sz="3000" b="1" dirty="0">
                <a:solidFill>
                  <a:schemeClr val="bg1"/>
                </a:solidFill>
              </a:rPr>
              <a:t>　試作プログラム</a:t>
            </a:r>
            <a:endParaRPr kumimoji="1" lang="ja-JP" altLang="en-US" sz="3000" b="1" dirty="0">
              <a:solidFill>
                <a:schemeClr val="bg1"/>
              </a:solidFill>
            </a:endParaRPr>
          </a:p>
        </p:txBody>
      </p:sp>
    </p:spTree>
    <p:extLst>
      <p:ext uri="{BB962C8B-B14F-4D97-AF65-F5344CB8AC3E}">
        <p14:creationId xmlns:p14="http://schemas.microsoft.com/office/powerpoint/2010/main" val="1300949341"/>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☑組織は、顧客に定められた要求事項に適合する、</a:t>
            </a:r>
            <a:r>
              <a:rPr lang="ja-JP" altLang="en-US" sz="2000" u="sng" dirty="0"/>
              <a:t>製品及び製造の承認プロセスを、確立し、実施し、維持しなければならない。</a:t>
            </a:r>
            <a:endParaRPr lang="en-US" altLang="ja-JP" sz="2000" u="sng" dirty="0"/>
          </a:p>
          <a:p>
            <a:pPr marL="0" indent="0">
              <a:lnSpc>
                <a:spcPct val="100000"/>
              </a:lnSpc>
              <a:buNone/>
            </a:pPr>
            <a:r>
              <a:rPr lang="ja-JP" altLang="en-US" sz="2000" dirty="0"/>
              <a:t>☑組織は、自らの部品承認を顧客に提出するのに先立って、外部から提供される製品及びサービスを</a:t>
            </a:r>
            <a:r>
              <a:rPr lang="en-US" altLang="ja-JP" sz="2000" dirty="0"/>
              <a:t>ISO9001</a:t>
            </a:r>
            <a:r>
              <a:rPr lang="ja-JP" altLang="en-US" sz="2000" dirty="0"/>
              <a:t>の</a:t>
            </a:r>
            <a:r>
              <a:rPr lang="en-US" altLang="ja-JP" sz="2000" dirty="0"/>
              <a:t>8.4.3</a:t>
            </a:r>
            <a:r>
              <a:rPr lang="ja-JP" altLang="en-US" sz="2000" dirty="0"/>
              <a:t>によって承認しなければならない。</a:t>
            </a:r>
            <a:endParaRPr lang="en-US" altLang="ja-JP" sz="2000" dirty="0"/>
          </a:p>
          <a:p>
            <a:pPr marL="0" indent="0">
              <a:lnSpc>
                <a:spcPct val="100000"/>
              </a:lnSpc>
              <a:buNone/>
            </a:pPr>
            <a:r>
              <a:rPr lang="ja-JP" altLang="en-US" sz="2000" dirty="0"/>
              <a:t>☑組織は、顧客に要求される場合、</a:t>
            </a:r>
            <a:r>
              <a:rPr lang="ja-JP" altLang="en-US" sz="2000" u="sng" dirty="0"/>
              <a:t>出荷に先立って、文書化した顧客の製品承認を取得しなければならない。</a:t>
            </a:r>
            <a:endParaRPr lang="en-US" altLang="ja-JP" sz="2000" u="sng" dirty="0"/>
          </a:p>
          <a:p>
            <a:pPr marL="0" indent="0">
              <a:lnSpc>
                <a:spcPct val="100000"/>
              </a:lnSpc>
              <a:buNone/>
            </a:pPr>
            <a:r>
              <a:rPr lang="ja-JP" altLang="en-US" sz="2000" dirty="0"/>
              <a:t>☑そのような承認の</a:t>
            </a:r>
            <a:r>
              <a:rPr lang="ja-JP" altLang="en-US" sz="2000" b="1" dirty="0"/>
              <a:t>記録は、保持</a:t>
            </a:r>
            <a:r>
              <a:rPr lang="ja-JP" altLang="en-US" sz="2000" dirty="0"/>
              <a:t>しなければならない。</a:t>
            </a:r>
          </a:p>
          <a:p>
            <a:pPr marL="0" indent="0">
              <a:lnSpc>
                <a:spcPct val="100000"/>
              </a:lnSpc>
              <a:buNone/>
            </a:pPr>
            <a:r>
              <a:rPr lang="ja-JP" altLang="en-US" sz="2000" dirty="0"/>
              <a:t>注記　製品承認は、製造工程が検証された後で実施することが望ましい。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8.3.4.4</a:t>
            </a:r>
            <a:r>
              <a:rPr kumimoji="1" lang="ja-JP" altLang="en-US" sz="3000" b="1" dirty="0">
                <a:solidFill>
                  <a:schemeClr val="tx2"/>
                </a:solidFill>
              </a:rPr>
              <a:t>　製品承認プロセス</a:t>
            </a:r>
          </a:p>
        </p:txBody>
      </p:sp>
    </p:spTree>
    <p:extLst>
      <p:ext uri="{BB962C8B-B14F-4D97-AF65-F5344CB8AC3E}">
        <p14:creationId xmlns:p14="http://schemas.microsoft.com/office/powerpoint/2010/main" val="4221821695"/>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213778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製品承認プロセスは、顧客固有要求事項として明確になっていることが多い。</a:t>
            </a:r>
            <a:r>
              <a:rPr lang="ja-JP" altLang="en-US" sz="2000" dirty="0"/>
              <a:t>（顧客固有要求　</a:t>
            </a:r>
            <a:r>
              <a:rPr lang="en-US" altLang="ja-JP" sz="2000" dirty="0"/>
              <a:t>or</a:t>
            </a:r>
            <a:r>
              <a:rPr lang="ja-JP" altLang="en-US" sz="2000" dirty="0"/>
              <a:t>　</a:t>
            </a:r>
            <a:r>
              <a:rPr lang="en-US" altLang="ja-JP" sz="2000" dirty="0"/>
              <a:t>PPAP</a:t>
            </a:r>
            <a:r>
              <a:rPr lang="ja-JP" altLang="en-US" sz="2000" dirty="0"/>
              <a:t>参照　</a:t>
            </a:r>
            <a:r>
              <a:rPr lang="en-US" altLang="ja-JP" sz="2000" dirty="0"/>
              <a:t>or</a:t>
            </a:r>
            <a:r>
              <a:rPr lang="ja-JP" altLang="en-US" sz="2000" dirty="0"/>
              <a:t>　</a:t>
            </a:r>
            <a:r>
              <a:rPr lang="ja-JP" altLang="en-US" sz="2000" dirty="0">
                <a:solidFill>
                  <a:srgbClr val="FF0000"/>
                </a:solidFill>
                <a:effectLst>
                  <a:outerShdw blurRad="38100" dist="38100" dir="2700000" algn="tl">
                    <a:srgbClr val="000000">
                      <a:alpha val="43137"/>
                    </a:srgbClr>
                  </a:outerShdw>
                </a:effectLst>
              </a:rPr>
              <a:t>顧客固有要求＋</a:t>
            </a:r>
            <a:r>
              <a:rPr lang="en-US" altLang="ja-JP" sz="2000" dirty="0">
                <a:solidFill>
                  <a:srgbClr val="FF0000"/>
                </a:solidFill>
                <a:effectLst>
                  <a:outerShdw blurRad="38100" dist="38100" dir="2700000" algn="tl">
                    <a:srgbClr val="000000">
                      <a:alpha val="43137"/>
                    </a:srgbClr>
                  </a:outerShdw>
                </a:effectLst>
              </a:rPr>
              <a:t>PPAP</a:t>
            </a:r>
            <a:r>
              <a:rPr lang="ja-JP" altLang="en-US" sz="2000" dirty="0"/>
              <a:t>）</a:t>
            </a:r>
            <a:endParaRPr lang="en-US" altLang="ja-JP" sz="2000" dirty="0"/>
          </a:p>
          <a:p>
            <a:pPr lvl="1">
              <a:lnSpc>
                <a:spcPct val="100000"/>
              </a:lnSpc>
              <a:buFont typeface="Wingdings" panose="05000000000000000000" pitchFamily="2" charset="2"/>
              <a:buChar char="Ø"/>
            </a:pPr>
            <a:r>
              <a:rPr lang="ja-JP" altLang="en-US" dirty="0"/>
              <a:t>製造を外部委託した場合についても同様。供給者への要求文書にて、製品承認における組織の要求を明確にしておく。）</a:t>
            </a:r>
            <a:endParaRPr lang="en-US" altLang="ja-JP" dirty="0"/>
          </a:p>
          <a:p>
            <a:pPr marL="514350" indent="-514350">
              <a:lnSpc>
                <a:spcPct val="100000"/>
              </a:lnSpc>
              <a:buFont typeface="+mj-lt"/>
              <a:buAutoNum type="arabicPeriod"/>
            </a:pPr>
            <a:r>
              <a:rPr lang="en-US" altLang="ja-JP" sz="2400" dirty="0"/>
              <a:t>PPAP</a:t>
            </a:r>
            <a:r>
              <a:rPr lang="ja-JP" altLang="en-US" sz="2400" dirty="0"/>
              <a:t>における保管／提出の要求事項</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8.3.4.4</a:t>
            </a:r>
            <a:r>
              <a:rPr lang="ja-JP" altLang="en-US" sz="3000" b="1" dirty="0">
                <a:solidFill>
                  <a:schemeClr val="bg1"/>
                </a:solidFill>
              </a:rPr>
              <a:t>　製品承認プロセス</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526C70D0-82D2-47B4-A769-EAFD423C0849}"/>
              </a:ext>
            </a:extLst>
          </p:cNvPr>
          <p:cNvGraphicFramePr>
            <a:graphicFrameLocks noGrp="1"/>
          </p:cNvGraphicFramePr>
          <p:nvPr>
            <p:extLst>
              <p:ext uri="{D42A27DB-BD31-4B8C-83A1-F6EECF244321}">
                <p14:modId xmlns:p14="http://schemas.microsoft.com/office/powerpoint/2010/main" val="2971837779"/>
              </p:ext>
            </p:extLst>
          </p:nvPr>
        </p:nvGraphicFramePr>
        <p:xfrm>
          <a:off x="838200" y="3558446"/>
          <a:ext cx="10515600" cy="2750545"/>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823661333"/>
                    </a:ext>
                  </a:extLst>
                </a:gridCol>
                <a:gridCol w="3505200">
                  <a:extLst>
                    <a:ext uri="{9D8B030D-6E8A-4147-A177-3AD203B41FA5}">
                      <a16:colId xmlns:a16="http://schemas.microsoft.com/office/drawing/2014/main" val="273507121"/>
                    </a:ext>
                  </a:extLst>
                </a:gridCol>
                <a:gridCol w="3505200">
                  <a:extLst>
                    <a:ext uri="{9D8B030D-6E8A-4147-A177-3AD203B41FA5}">
                      <a16:colId xmlns:a16="http://schemas.microsoft.com/office/drawing/2014/main" val="2185157656"/>
                    </a:ext>
                  </a:extLst>
                </a:gridCol>
              </a:tblGrid>
              <a:tr h="392935">
                <a:tc>
                  <a:txBody>
                    <a:bodyPr/>
                    <a:lstStyle/>
                    <a:p>
                      <a:r>
                        <a:rPr kumimoji="1" lang="ja-JP" altLang="en-US" dirty="0"/>
                        <a:t>①製品設計文書</a:t>
                      </a:r>
                    </a:p>
                  </a:txBody>
                  <a:tcPr anchor="ctr">
                    <a:solidFill>
                      <a:schemeClr val="tx2">
                        <a:lumMod val="20000"/>
                        <a:lumOff val="80000"/>
                      </a:schemeClr>
                    </a:solidFill>
                  </a:tcPr>
                </a:tc>
                <a:tc>
                  <a:txBody>
                    <a:bodyPr/>
                    <a:lstStyle/>
                    <a:p>
                      <a:r>
                        <a:rPr kumimoji="1" lang="ja-JP" altLang="en-US" dirty="0"/>
                        <a:t>⑦コントロールプラン</a:t>
                      </a:r>
                    </a:p>
                  </a:txBody>
                  <a:tcPr anchor="ctr">
                    <a:solidFill>
                      <a:schemeClr val="tx2">
                        <a:lumMod val="20000"/>
                        <a:lumOff val="80000"/>
                      </a:schemeClr>
                    </a:solidFill>
                  </a:tcPr>
                </a:tc>
                <a:tc>
                  <a:txBody>
                    <a:bodyPr/>
                    <a:lstStyle/>
                    <a:p>
                      <a:r>
                        <a:rPr kumimoji="1" lang="ja-JP" altLang="en-US" dirty="0"/>
                        <a:t>⑬外観承認報告書（</a:t>
                      </a:r>
                      <a:r>
                        <a:rPr kumimoji="1" lang="en-US" altLang="ja-JP" dirty="0"/>
                        <a:t>AAR</a:t>
                      </a:r>
                      <a:r>
                        <a:rPr kumimoji="1" lang="ja-JP" altLang="en-US" dirty="0"/>
                        <a:t>）</a:t>
                      </a:r>
                    </a:p>
                  </a:txBody>
                  <a:tcPr anchor="ctr">
                    <a:solidFill>
                      <a:schemeClr val="tx2">
                        <a:lumMod val="20000"/>
                        <a:lumOff val="80000"/>
                      </a:schemeClr>
                    </a:solidFill>
                  </a:tcPr>
                </a:tc>
                <a:extLst>
                  <a:ext uri="{0D108BD9-81ED-4DB2-BD59-A6C34878D82A}">
                    <a16:rowId xmlns:a16="http://schemas.microsoft.com/office/drawing/2014/main" val="883886758"/>
                  </a:ext>
                </a:extLst>
              </a:tr>
              <a:tr h="392935">
                <a:tc>
                  <a:txBody>
                    <a:bodyPr/>
                    <a:lstStyle/>
                    <a:p>
                      <a:r>
                        <a:rPr kumimoji="1" lang="ja-JP" altLang="en-US" dirty="0"/>
                        <a:t>②承認された技術変更文書</a:t>
                      </a:r>
                    </a:p>
                  </a:txBody>
                  <a:tcPr anchor="ctr">
                    <a:solidFill>
                      <a:schemeClr val="tx2">
                        <a:lumMod val="20000"/>
                        <a:lumOff val="80000"/>
                      </a:schemeClr>
                    </a:solidFill>
                  </a:tcPr>
                </a:tc>
                <a:tc>
                  <a:txBody>
                    <a:bodyPr/>
                    <a:lstStyle/>
                    <a:p>
                      <a:r>
                        <a:rPr kumimoji="1" lang="ja-JP" altLang="en-US" dirty="0"/>
                        <a:t>⑧測定システム解析（</a:t>
                      </a:r>
                      <a:r>
                        <a:rPr kumimoji="1" lang="en-US" altLang="ja-JP" dirty="0"/>
                        <a:t>MSA</a:t>
                      </a:r>
                      <a:r>
                        <a:rPr kumimoji="1" lang="ja-JP" altLang="en-US" dirty="0"/>
                        <a:t>）</a:t>
                      </a:r>
                    </a:p>
                  </a:txBody>
                  <a:tcPr anchor="ctr">
                    <a:solidFill>
                      <a:schemeClr val="tx2">
                        <a:lumMod val="20000"/>
                        <a:lumOff val="80000"/>
                      </a:schemeClr>
                    </a:solidFill>
                  </a:tcPr>
                </a:tc>
                <a:tc>
                  <a:txBody>
                    <a:bodyPr/>
                    <a:lstStyle/>
                    <a:p>
                      <a:r>
                        <a:rPr kumimoji="1" lang="ja-JP" altLang="en-US" dirty="0"/>
                        <a:t>⑭製品サンプル</a:t>
                      </a:r>
                    </a:p>
                  </a:txBody>
                  <a:tcPr anchor="ctr">
                    <a:solidFill>
                      <a:schemeClr val="tx2">
                        <a:lumMod val="20000"/>
                        <a:lumOff val="80000"/>
                      </a:schemeClr>
                    </a:solidFill>
                  </a:tcPr>
                </a:tc>
                <a:extLst>
                  <a:ext uri="{0D108BD9-81ED-4DB2-BD59-A6C34878D82A}">
                    <a16:rowId xmlns:a16="http://schemas.microsoft.com/office/drawing/2014/main" val="3607284074"/>
                  </a:ext>
                </a:extLst>
              </a:tr>
              <a:tr h="392935">
                <a:tc>
                  <a:txBody>
                    <a:bodyPr/>
                    <a:lstStyle/>
                    <a:p>
                      <a:r>
                        <a:rPr kumimoji="1" lang="ja-JP" altLang="en-US" dirty="0"/>
                        <a:t>③顧客技術部門承認</a:t>
                      </a:r>
                    </a:p>
                  </a:txBody>
                  <a:tcPr anchor="ctr">
                    <a:solidFill>
                      <a:schemeClr val="tx2">
                        <a:lumMod val="20000"/>
                        <a:lumOff val="80000"/>
                      </a:schemeClr>
                    </a:solidFill>
                  </a:tcPr>
                </a:tc>
                <a:tc>
                  <a:txBody>
                    <a:bodyPr/>
                    <a:lstStyle/>
                    <a:p>
                      <a:r>
                        <a:rPr kumimoji="1" lang="ja-JP" altLang="en-US" dirty="0"/>
                        <a:t>⑨寸法測定結果</a:t>
                      </a:r>
                    </a:p>
                  </a:txBody>
                  <a:tcPr anchor="ctr">
                    <a:solidFill>
                      <a:schemeClr val="tx2">
                        <a:lumMod val="20000"/>
                        <a:lumOff val="80000"/>
                      </a:schemeClr>
                    </a:solidFill>
                  </a:tcPr>
                </a:tc>
                <a:tc>
                  <a:txBody>
                    <a:bodyPr/>
                    <a:lstStyle/>
                    <a:p>
                      <a:r>
                        <a:rPr kumimoji="1" lang="ja-JP" altLang="en-US" dirty="0"/>
                        <a:t>⑮マスターサンプル</a:t>
                      </a:r>
                    </a:p>
                  </a:txBody>
                  <a:tcPr anchor="ctr">
                    <a:solidFill>
                      <a:schemeClr val="tx2">
                        <a:lumMod val="20000"/>
                        <a:lumOff val="80000"/>
                      </a:schemeClr>
                    </a:solidFill>
                  </a:tcPr>
                </a:tc>
                <a:extLst>
                  <a:ext uri="{0D108BD9-81ED-4DB2-BD59-A6C34878D82A}">
                    <a16:rowId xmlns:a16="http://schemas.microsoft.com/office/drawing/2014/main" val="2784065169"/>
                  </a:ext>
                </a:extLst>
              </a:tr>
              <a:tr h="392935">
                <a:tc>
                  <a:txBody>
                    <a:bodyPr/>
                    <a:lstStyle/>
                    <a:p>
                      <a:r>
                        <a:rPr kumimoji="1" lang="ja-JP" altLang="en-US" dirty="0"/>
                        <a:t>④設計</a:t>
                      </a:r>
                      <a:r>
                        <a:rPr kumimoji="1" lang="en-US" altLang="ja-JP" dirty="0"/>
                        <a:t>FMEA</a:t>
                      </a:r>
                      <a:endParaRPr kumimoji="1" lang="ja-JP" altLang="en-US" dirty="0"/>
                    </a:p>
                  </a:txBody>
                  <a:tcPr anchor="ctr">
                    <a:solidFill>
                      <a:schemeClr val="tx2">
                        <a:lumMod val="20000"/>
                        <a:lumOff val="80000"/>
                      </a:schemeClr>
                    </a:solidFill>
                  </a:tcPr>
                </a:tc>
                <a:tc>
                  <a:txBody>
                    <a:bodyPr/>
                    <a:lstStyle/>
                    <a:p>
                      <a:r>
                        <a:rPr kumimoji="1" lang="ja-JP" altLang="en-US" dirty="0"/>
                        <a:t>⑩材料・製造試験結果</a:t>
                      </a:r>
                    </a:p>
                  </a:txBody>
                  <a:tcPr anchor="ctr">
                    <a:solidFill>
                      <a:schemeClr val="tx2">
                        <a:lumMod val="20000"/>
                        <a:lumOff val="80000"/>
                      </a:schemeClr>
                    </a:solidFill>
                  </a:tcPr>
                </a:tc>
                <a:tc>
                  <a:txBody>
                    <a:bodyPr/>
                    <a:lstStyle/>
                    <a:p>
                      <a:r>
                        <a:rPr kumimoji="1" lang="ja-JP" altLang="en-US" dirty="0"/>
                        <a:t>⑯検査補助具</a:t>
                      </a:r>
                    </a:p>
                  </a:txBody>
                  <a:tcPr anchor="ctr">
                    <a:solidFill>
                      <a:schemeClr val="tx2">
                        <a:lumMod val="20000"/>
                        <a:lumOff val="80000"/>
                      </a:schemeClr>
                    </a:solidFill>
                  </a:tcPr>
                </a:tc>
                <a:extLst>
                  <a:ext uri="{0D108BD9-81ED-4DB2-BD59-A6C34878D82A}">
                    <a16:rowId xmlns:a16="http://schemas.microsoft.com/office/drawing/2014/main" val="3368279497"/>
                  </a:ext>
                </a:extLst>
              </a:tr>
              <a:tr h="392935">
                <a:tc>
                  <a:txBody>
                    <a:bodyPr/>
                    <a:lstStyle/>
                    <a:p>
                      <a:r>
                        <a:rPr kumimoji="1" lang="ja-JP" altLang="en-US" dirty="0"/>
                        <a:t>⑤プロセスフロー図</a:t>
                      </a:r>
                    </a:p>
                  </a:txBody>
                  <a:tcPr anchor="ctr">
                    <a:solidFill>
                      <a:schemeClr val="tx2">
                        <a:lumMod val="20000"/>
                        <a:lumOff val="80000"/>
                      </a:schemeClr>
                    </a:solidFill>
                  </a:tcPr>
                </a:tc>
                <a:tc>
                  <a:txBody>
                    <a:bodyPr/>
                    <a:lstStyle/>
                    <a:p>
                      <a:r>
                        <a:rPr kumimoji="1" lang="ja-JP" altLang="en-US" dirty="0"/>
                        <a:t>⑪初期工程調査結果</a:t>
                      </a:r>
                    </a:p>
                  </a:txBody>
                  <a:tcPr anchor="ctr">
                    <a:solidFill>
                      <a:schemeClr val="tx2">
                        <a:lumMod val="20000"/>
                        <a:lumOff val="80000"/>
                      </a:schemeClr>
                    </a:solidFill>
                  </a:tcPr>
                </a:tc>
                <a:tc>
                  <a:txBody>
                    <a:bodyPr/>
                    <a:lstStyle/>
                    <a:p>
                      <a:r>
                        <a:rPr kumimoji="1" lang="ja-JP" altLang="en-US" dirty="0"/>
                        <a:t>⑰顧客固有要求事項適合記録</a:t>
                      </a:r>
                    </a:p>
                  </a:txBody>
                  <a:tcPr anchor="ctr">
                    <a:solidFill>
                      <a:schemeClr val="tx2">
                        <a:lumMod val="20000"/>
                        <a:lumOff val="80000"/>
                      </a:schemeClr>
                    </a:solidFill>
                  </a:tcPr>
                </a:tc>
                <a:extLst>
                  <a:ext uri="{0D108BD9-81ED-4DB2-BD59-A6C34878D82A}">
                    <a16:rowId xmlns:a16="http://schemas.microsoft.com/office/drawing/2014/main" val="4225942683"/>
                  </a:ext>
                </a:extLst>
              </a:tr>
              <a:tr h="392935">
                <a:tc>
                  <a:txBody>
                    <a:bodyPr/>
                    <a:lstStyle/>
                    <a:p>
                      <a:r>
                        <a:rPr kumimoji="1" lang="ja-JP" altLang="en-US" dirty="0"/>
                        <a:t>⑥工程ＦＭＥＡ</a:t>
                      </a:r>
                    </a:p>
                  </a:txBody>
                  <a:tcPr anchor="ctr">
                    <a:solidFill>
                      <a:schemeClr val="tx2">
                        <a:lumMod val="20000"/>
                        <a:lumOff val="80000"/>
                      </a:schemeClr>
                    </a:solidFill>
                  </a:tcPr>
                </a:tc>
                <a:tc>
                  <a:txBody>
                    <a:bodyPr/>
                    <a:lstStyle/>
                    <a:p>
                      <a:r>
                        <a:rPr kumimoji="1" lang="ja-JP" altLang="en-US" dirty="0"/>
                        <a:t>⑫有資格試験所文書</a:t>
                      </a:r>
                    </a:p>
                  </a:txBody>
                  <a:tcPr anchor="ctr">
                    <a:solidFill>
                      <a:schemeClr val="tx2">
                        <a:lumMod val="20000"/>
                        <a:lumOff val="80000"/>
                      </a:schemeClr>
                    </a:solidFill>
                  </a:tcPr>
                </a:tc>
                <a:tc>
                  <a:txBody>
                    <a:bodyPr/>
                    <a:lstStyle/>
                    <a:p>
                      <a:r>
                        <a:rPr kumimoji="1" lang="ja-JP" altLang="en-US" dirty="0"/>
                        <a:t>⑱部品提出保証書</a:t>
                      </a:r>
                    </a:p>
                  </a:txBody>
                  <a:tcPr anchor="ctr">
                    <a:solidFill>
                      <a:schemeClr val="tx2">
                        <a:lumMod val="20000"/>
                        <a:lumOff val="80000"/>
                      </a:schemeClr>
                    </a:solidFill>
                  </a:tcPr>
                </a:tc>
                <a:extLst>
                  <a:ext uri="{0D108BD9-81ED-4DB2-BD59-A6C34878D82A}">
                    <a16:rowId xmlns:a16="http://schemas.microsoft.com/office/drawing/2014/main" val="2258675585"/>
                  </a:ext>
                </a:extLst>
              </a:tr>
              <a:tr h="392935">
                <a:tc>
                  <a:txBody>
                    <a:bodyPr/>
                    <a:lstStyle/>
                    <a:p>
                      <a:endParaRPr kumimoji="1" lang="ja-JP" altLang="en-US" dirty="0"/>
                    </a:p>
                  </a:txBody>
                  <a:tcPr anchor="ctr">
                    <a:solidFill>
                      <a:schemeClr val="tx2">
                        <a:lumMod val="20000"/>
                        <a:lumOff val="80000"/>
                      </a:schemeClr>
                    </a:solidFill>
                  </a:tcPr>
                </a:tc>
                <a:tc>
                  <a:txBody>
                    <a:bodyPr/>
                    <a:lstStyle/>
                    <a:p>
                      <a:endParaRPr kumimoji="1" lang="ja-JP" altLang="en-US" dirty="0"/>
                    </a:p>
                  </a:txBody>
                  <a:tcPr anchor="ctr">
                    <a:solidFill>
                      <a:schemeClr val="tx2">
                        <a:lumMod val="20000"/>
                        <a:lumOff val="80000"/>
                      </a:schemeClr>
                    </a:solidFill>
                  </a:tcPr>
                </a:tc>
                <a:tc>
                  <a:txBody>
                    <a:bodyPr/>
                    <a:lstStyle/>
                    <a:p>
                      <a:r>
                        <a:rPr kumimoji="1" lang="ja-JP" altLang="en-US" dirty="0"/>
                        <a:t>バルク材料チェックリスト</a:t>
                      </a:r>
                    </a:p>
                  </a:txBody>
                  <a:tcPr anchor="ctr">
                    <a:solidFill>
                      <a:schemeClr val="tx2">
                        <a:lumMod val="20000"/>
                        <a:lumOff val="80000"/>
                      </a:schemeClr>
                    </a:solidFill>
                  </a:tcPr>
                </a:tc>
                <a:extLst>
                  <a:ext uri="{0D108BD9-81ED-4DB2-BD59-A6C34878D82A}">
                    <a16:rowId xmlns:a16="http://schemas.microsoft.com/office/drawing/2014/main" val="2481675044"/>
                  </a:ext>
                </a:extLst>
              </a:tr>
            </a:tbl>
          </a:graphicData>
        </a:graphic>
      </p:graphicFrame>
      <p:sp>
        <p:nvSpPr>
          <p:cNvPr id="3" name="吹き出し: 角を丸めた四角形 2">
            <a:extLst>
              <a:ext uri="{FF2B5EF4-FFF2-40B4-BE49-F238E27FC236}">
                <a16:creationId xmlns:a16="http://schemas.microsoft.com/office/drawing/2014/main" id="{6F03DCC8-7415-4B6A-A76E-348C7563E776}"/>
              </a:ext>
            </a:extLst>
          </p:cNvPr>
          <p:cNvSpPr/>
          <p:nvPr/>
        </p:nvSpPr>
        <p:spPr>
          <a:xfrm>
            <a:off x="6634481" y="465856"/>
            <a:ext cx="4719319" cy="854075"/>
          </a:xfrm>
          <a:prstGeom prst="wedgeRoundRectCallout">
            <a:avLst>
              <a:gd name="adj1" fmla="val -39681"/>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Tier 3~4</a:t>
            </a:r>
            <a:r>
              <a:rPr kumimoji="1" lang="ja-JP" altLang="en-US" dirty="0">
                <a:solidFill>
                  <a:schemeClr val="tx1"/>
                </a:solidFill>
              </a:rPr>
              <a:t>レベルの組織の場合、ほとんどが</a:t>
            </a:r>
            <a:r>
              <a:rPr kumimoji="1" lang="en-US" altLang="ja-JP" dirty="0">
                <a:solidFill>
                  <a:schemeClr val="tx1"/>
                </a:solidFill>
              </a:rPr>
              <a:t>『CSR</a:t>
            </a:r>
            <a:r>
              <a:rPr kumimoji="1" lang="ja-JP" altLang="en-US" dirty="0">
                <a:solidFill>
                  <a:schemeClr val="tx1"/>
                </a:solidFill>
              </a:rPr>
              <a:t>　＋　</a:t>
            </a:r>
            <a:r>
              <a:rPr kumimoji="1" lang="en-US" altLang="ja-JP" dirty="0">
                <a:solidFill>
                  <a:schemeClr val="tx1"/>
                </a:solidFill>
              </a:rPr>
              <a:t>PPAP』</a:t>
            </a:r>
            <a:endParaRPr kumimoji="1" lang="ja-JP" altLang="en-US" dirty="0">
              <a:solidFill>
                <a:schemeClr val="tx1"/>
              </a:solidFill>
            </a:endParaRPr>
          </a:p>
        </p:txBody>
      </p:sp>
    </p:spTree>
    <p:extLst>
      <p:ext uri="{BB962C8B-B14F-4D97-AF65-F5344CB8AC3E}">
        <p14:creationId xmlns:p14="http://schemas.microsoft.com/office/powerpoint/2010/main" val="1182304637"/>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219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☑製品設計からのアウトプットは、製品設計へのインプット要求事項と対比した検証及び妥当性確認ができるように表現しなければならない。</a:t>
            </a:r>
            <a:endParaRPr lang="en-US" altLang="ja-JP" sz="2000" dirty="0"/>
          </a:p>
          <a:p>
            <a:pPr marL="0" indent="0">
              <a:lnSpc>
                <a:spcPct val="100000"/>
              </a:lnSpc>
              <a:buNone/>
            </a:pPr>
            <a:r>
              <a:rPr lang="ja-JP" altLang="en-US" sz="2000" dirty="0"/>
              <a:t>☑製品設計からのアウトプットには、該当する場合には、必ず、次の事項を含めなければならない。しかし、それに限定されない。</a:t>
            </a:r>
            <a:endParaRPr lang="en-US" altLang="ja-JP" sz="2000" dirty="0"/>
          </a:p>
          <a:p>
            <a:pPr marL="800100" lvl="1" indent="-342900">
              <a:lnSpc>
                <a:spcPct val="100000"/>
              </a:lnSpc>
              <a:buFont typeface="+mj-lt"/>
              <a:buAutoNum type="alphaLcPeriod"/>
            </a:pPr>
            <a:r>
              <a:rPr lang="ja-JP" altLang="en-US" sz="2000" u="sng" dirty="0"/>
              <a:t>設計リスク分析（</a:t>
            </a:r>
            <a:r>
              <a:rPr lang="en-US" altLang="ja-JP" sz="2000" u="sng" dirty="0"/>
              <a:t>FMEA</a:t>
            </a:r>
            <a:r>
              <a:rPr lang="ja-JP" altLang="en-US" sz="2000" u="sng" dirty="0"/>
              <a:t>）</a:t>
            </a:r>
            <a:endParaRPr lang="en-US" altLang="ja-JP" sz="2000" u="sng" dirty="0"/>
          </a:p>
          <a:p>
            <a:pPr marL="800100" lvl="1" indent="-342900">
              <a:lnSpc>
                <a:spcPct val="100000"/>
              </a:lnSpc>
              <a:buFont typeface="+mj-lt"/>
              <a:buAutoNum type="alphaLcPeriod"/>
            </a:pPr>
            <a:r>
              <a:rPr lang="ja-JP" altLang="en-US" sz="2000" u="sng" dirty="0"/>
              <a:t>信頼性調査の結果</a:t>
            </a:r>
            <a:endParaRPr lang="en-US" altLang="ja-JP" sz="2000" u="sng" dirty="0"/>
          </a:p>
          <a:p>
            <a:pPr marL="800100" lvl="1" indent="-342900">
              <a:lnSpc>
                <a:spcPct val="100000"/>
              </a:lnSpc>
              <a:buFont typeface="+mj-lt"/>
              <a:buAutoNum type="alphaLcPeriod"/>
            </a:pPr>
            <a:r>
              <a:rPr lang="ja-JP" altLang="en-US" sz="2000" u="sng" dirty="0"/>
              <a:t>製品の特殊特性</a:t>
            </a:r>
            <a:endParaRPr lang="en-US" altLang="ja-JP" sz="2000" u="sng" dirty="0"/>
          </a:p>
          <a:p>
            <a:pPr marL="800100" lvl="1" indent="-342900">
              <a:lnSpc>
                <a:spcPct val="100000"/>
              </a:lnSpc>
              <a:buFont typeface="+mj-lt"/>
              <a:buAutoNum type="alphaLcPeriod"/>
            </a:pPr>
            <a:r>
              <a:rPr lang="en-US" altLang="ja-JP" sz="2000" dirty="0"/>
              <a:t>DFSS</a:t>
            </a:r>
            <a:r>
              <a:rPr lang="ja-JP" altLang="en-US" sz="2000" dirty="0" err="1"/>
              <a:t>、</a:t>
            </a:r>
            <a:r>
              <a:rPr lang="en-US" altLang="ja-JP" sz="2000" dirty="0"/>
              <a:t>DFMA</a:t>
            </a:r>
            <a:r>
              <a:rPr lang="ja-JP" altLang="en-US" sz="2000" dirty="0"/>
              <a:t>及び</a:t>
            </a:r>
            <a:r>
              <a:rPr lang="en-US" altLang="ja-JP" sz="2000" dirty="0"/>
              <a:t>FTA</a:t>
            </a:r>
            <a:r>
              <a:rPr lang="ja-JP" altLang="en-US" sz="2000" dirty="0"/>
              <a:t>のような、</a:t>
            </a:r>
            <a:r>
              <a:rPr lang="ja-JP" altLang="en-US" sz="2000" u="sng" dirty="0"/>
              <a:t>製品設計のポカヨケの結果</a:t>
            </a:r>
            <a:endParaRPr lang="en-US" altLang="ja-JP" sz="2000" u="sng" dirty="0"/>
          </a:p>
          <a:p>
            <a:pPr marL="800100" lvl="1" indent="-342900">
              <a:lnSpc>
                <a:spcPct val="100000"/>
              </a:lnSpc>
              <a:buFont typeface="+mj-lt"/>
              <a:buAutoNum type="alphaLcPeriod"/>
            </a:pPr>
            <a:r>
              <a:rPr lang="en-US" altLang="ja-JP" sz="2000" dirty="0"/>
              <a:t>3D</a:t>
            </a:r>
            <a:r>
              <a:rPr lang="ja-JP" altLang="en-US" sz="2000" dirty="0"/>
              <a:t>モデル、技術データパッケージ、製品製造の情報及び幾何寸法と公差（</a:t>
            </a:r>
            <a:r>
              <a:rPr lang="en-US" altLang="ja-JP" sz="2000" dirty="0"/>
              <a:t>GD&amp;T</a:t>
            </a:r>
            <a:r>
              <a:rPr lang="ja-JP" altLang="en-US" sz="2000" dirty="0"/>
              <a:t>）を含む、</a:t>
            </a:r>
            <a:r>
              <a:rPr lang="ja-JP" altLang="en-US" sz="2000" u="sng" dirty="0"/>
              <a:t>製品の定義</a:t>
            </a:r>
            <a:endParaRPr lang="en-US" altLang="ja-JP" sz="2000" u="sng" dirty="0"/>
          </a:p>
          <a:p>
            <a:pPr marL="800100" lvl="1" indent="-342900">
              <a:lnSpc>
                <a:spcPct val="100000"/>
              </a:lnSpc>
              <a:buFont typeface="+mj-lt"/>
              <a:buAutoNum type="alphaLcPeriod"/>
            </a:pPr>
            <a:r>
              <a:rPr lang="en-US" altLang="ja-JP" sz="2000" dirty="0"/>
              <a:t>2D</a:t>
            </a:r>
            <a:r>
              <a:rPr lang="ja-JP" altLang="en-US" sz="2000" dirty="0"/>
              <a:t>図、製品製造の情報及び幾何寸法と公差（</a:t>
            </a:r>
            <a:r>
              <a:rPr lang="en-US" altLang="ja-JP" sz="2000" dirty="0"/>
              <a:t>GD&amp;T</a:t>
            </a:r>
            <a:r>
              <a:rPr lang="ja-JP" altLang="en-US" sz="2000" dirty="0"/>
              <a:t>）</a:t>
            </a:r>
            <a:endParaRPr lang="en-US" altLang="ja-JP" sz="2000" dirty="0"/>
          </a:p>
          <a:p>
            <a:pPr marL="800100" lvl="1" indent="-342900">
              <a:lnSpc>
                <a:spcPct val="100000"/>
              </a:lnSpc>
              <a:buFont typeface="+mj-lt"/>
              <a:buAutoNum type="alphaLcPeriod"/>
            </a:pPr>
            <a:r>
              <a:rPr lang="ja-JP" altLang="en-US" sz="2000" u="sng" dirty="0"/>
              <a:t>製品デザインレビューの結果</a:t>
            </a:r>
            <a:endParaRPr lang="en-US" altLang="ja-JP" sz="2000" u="sng"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8.3.5.1</a:t>
            </a:r>
            <a:r>
              <a:rPr kumimoji="1" lang="ja-JP" altLang="en-US" sz="3000" b="1" dirty="0">
                <a:solidFill>
                  <a:schemeClr val="tx2"/>
                </a:solidFill>
              </a:rPr>
              <a:t>　設計・開発からのアウトプット－補足</a:t>
            </a:r>
          </a:p>
        </p:txBody>
      </p:sp>
      <p:sp>
        <p:nvSpPr>
          <p:cNvPr id="2" name="正方形/長方形 1">
            <a:extLst>
              <a:ext uri="{FF2B5EF4-FFF2-40B4-BE49-F238E27FC236}">
                <a16:creationId xmlns:a16="http://schemas.microsoft.com/office/drawing/2014/main" id="{56107A7F-6DD6-432F-A75A-6C4C79E2EFC4}"/>
              </a:ext>
            </a:extLst>
          </p:cNvPr>
          <p:cNvSpPr/>
          <p:nvPr/>
        </p:nvSpPr>
        <p:spPr>
          <a:xfrm>
            <a:off x="10086110" y="378592"/>
            <a:ext cx="1267690" cy="379019"/>
          </a:xfrm>
          <a:prstGeom prst="rect">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82520809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00000"/>
              </a:lnSpc>
              <a:buFont typeface="+mj-lt"/>
              <a:buAutoNum type="alphaLcPeriod" startAt="8"/>
            </a:pPr>
            <a:r>
              <a:rPr lang="ja-JP" altLang="en-US" sz="2000" dirty="0"/>
              <a:t>サービス故障診断の指針並びに修理及びサービス可能性の指示書</a:t>
            </a:r>
            <a:endParaRPr lang="en-US" altLang="ja-JP" sz="2000" dirty="0"/>
          </a:p>
          <a:p>
            <a:pPr marL="800100" lvl="1" indent="-342900">
              <a:lnSpc>
                <a:spcPct val="100000"/>
              </a:lnSpc>
              <a:buFont typeface="+mj-lt"/>
              <a:buAutoNum type="alphaLcPeriod" startAt="8"/>
            </a:pPr>
            <a:r>
              <a:rPr lang="ja-JP" altLang="en-US" sz="2000" dirty="0"/>
              <a:t>サービス部品要求事項</a:t>
            </a:r>
            <a:endParaRPr lang="en-US" altLang="ja-JP" sz="2000" dirty="0"/>
          </a:p>
          <a:p>
            <a:pPr marL="800100" lvl="1" indent="-342900">
              <a:lnSpc>
                <a:spcPct val="100000"/>
              </a:lnSpc>
              <a:buFont typeface="+mj-lt"/>
              <a:buAutoNum type="alphaLcPeriod" startAt="8"/>
            </a:pPr>
            <a:r>
              <a:rPr lang="ja-JP" altLang="en-US" sz="2000" dirty="0"/>
              <a:t>出荷のための</a:t>
            </a:r>
            <a:r>
              <a:rPr lang="ja-JP" altLang="en-US" sz="2000" u="sng" dirty="0"/>
              <a:t>包装及びラベリング要求事項</a:t>
            </a:r>
          </a:p>
          <a:p>
            <a:pPr marL="0" indent="0">
              <a:lnSpc>
                <a:spcPct val="100000"/>
              </a:lnSpc>
              <a:buNone/>
            </a:pPr>
            <a:r>
              <a:rPr lang="ja-JP" altLang="en-US" sz="2000" dirty="0"/>
              <a:t>注記　暫定設計のアウトプットには、トレードオフプロセスを通じて解決された技術題を含めることが望ましい。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8.3.5.1</a:t>
            </a:r>
            <a:r>
              <a:rPr kumimoji="1" lang="ja-JP" altLang="en-US" sz="3000" b="1" dirty="0">
                <a:solidFill>
                  <a:schemeClr val="tx2"/>
                </a:solidFill>
              </a:rPr>
              <a:t>　設計・開発からのアウトプット－補足</a:t>
            </a:r>
          </a:p>
        </p:txBody>
      </p:sp>
      <p:sp>
        <p:nvSpPr>
          <p:cNvPr id="2" name="正方形/長方形 1">
            <a:extLst>
              <a:ext uri="{FF2B5EF4-FFF2-40B4-BE49-F238E27FC236}">
                <a16:creationId xmlns:a16="http://schemas.microsoft.com/office/drawing/2014/main" id="{0CBF24C6-A1F3-4683-8F15-C650F7B862D8}"/>
              </a:ext>
            </a:extLst>
          </p:cNvPr>
          <p:cNvSpPr/>
          <p:nvPr/>
        </p:nvSpPr>
        <p:spPr>
          <a:xfrm>
            <a:off x="10086110" y="378592"/>
            <a:ext cx="1267690" cy="379019"/>
          </a:xfrm>
          <a:prstGeom prst="rect">
            <a:avLst/>
          </a:prstGeom>
          <a:solidFill>
            <a:srgbClr val="FFFF00"/>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2"/>
                </a:solidFill>
              </a:rPr>
              <a:t>製品設計</a:t>
            </a:r>
          </a:p>
        </p:txBody>
      </p:sp>
    </p:spTree>
    <p:extLst>
      <p:ext uri="{BB962C8B-B14F-4D97-AF65-F5344CB8AC3E}">
        <p14:creationId xmlns:p14="http://schemas.microsoft.com/office/powerpoint/2010/main" val="1876380675"/>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本箇条は「製品設計・開発からのアウトプット」を意図している。</a:t>
            </a:r>
            <a:endParaRPr lang="en-US" altLang="ja-JP" sz="2400" dirty="0"/>
          </a:p>
          <a:p>
            <a:pPr marL="457200" indent="-457200">
              <a:lnSpc>
                <a:spcPct val="100000"/>
              </a:lnSpc>
              <a:buFont typeface="+mj-lt"/>
              <a:buAutoNum type="arabicPeriod"/>
            </a:pPr>
            <a:r>
              <a:rPr lang="en-US" altLang="ja-JP" sz="2400" dirty="0"/>
              <a:t>8.3.3.1</a:t>
            </a:r>
            <a:r>
              <a:rPr lang="ja-JP" altLang="en-US" sz="2400" dirty="0"/>
              <a:t>製品設計・開発へのインプットと対比していること。</a:t>
            </a:r>
            <a:endParaRPr lang="en-US" altLang="ja-JP" sz="2400" dirty="0"/>
          </a:p>
          <a:p>
            <a:pPr marL="457200" indent="-457200">
              <a:lnSpc>
                <a:spcPct val="100000"/>
              </a:lnSpc>
              <a:buFont typeface="+mj-lt"/>
              <a:buAutoNum type="arabicPeriod"/>
            </a:pPr>
            <a:r>
              <a:rPr lang="en-US" altLang="ja-JP" sz="2400" dirty="0"/>
              <a:t>ISO9001</a:t>
            </a:r>
            <a:r>
              <a:rPr lang="ja-JP" altLang="en-US" sz="2400" dirty="0"/>
              <a:t>要求事項に対し、より具体的な要求事項が追加となった。</a:t>
            </a:r>
            <a:endParaRPr lang="en-US" altLang="ja-JP" sz="2400" dirty="0"/>
          </a:p>
          <a:p>
            <a:pPr lvl="1">
              <a:lnSpc>
                <a:spcPct val="100000"/>
              </a:lnSpc>
              <a:buFont typeface="Wingdings" panose="05000000000000000000" pitchFamily="2" charset="2"/>
              <a:buChar char="Ø"/>
            </a:pPr>
            <a:r>
              <a:rPr lang="en-US" altLang="ja-JP" dirty="0"/>
              <a:t>b</a:t>
            </a:r>
            <a:r>
              <a:rPr lang="ja-JP" altLang="en-US" dirty="0"/>
              <a:t>）</a:t>
            </a:r>
            <a:r>
              <a:rPr lang="en-US" altLang="ja-JP" dirty="0"/>
              <a:t>8.3.3.1f</a:t>
            </a:r>
            <a:r>
              <a:rPr lang="ja-JP" altLang="en-US" dirty="0"/>
              <a:t>）の信頼性のインプットに対する結果。</a:t>
            </a:r>
            <a:endParaRPr lang="en-US" altLang="ja-JP" dirty="0"/>
          </a:p>
          <a:p>
            <a:pPr lvl="1">
              <a:lnSpc>
                <a:spcPct val="100000"/>
              </a:lnSpc>
              <a:buFont typeface="Wingdings" panose="05000000000000000000" pitchFamily="2" charset="2"/>
              <a:buChar char="Ø"/>
            </a:pPr>
            <a:r>
              <a:rPr lang="en-US" altLang="ja-JP" dirty="0"/>
              <a:t>c</a:t>
            </a:r>
            <a:r>
              <a:rPr lang="ja-JP" altLang="en-US" dirty="0"/>
              <a:t>）顧客及び組織が決定した特殊特性。（製品設計の場合は図面への表記）</a:t>
            </a:r>
            <a:endParaRPr lang="en-US" altLang="ja-JP" dirty="0"/>
          </a:p>
          <a:p>
            <a:pPr lvl="1">
              <a:lnSpc>
                <a:spcPct val="100000"/>
              </a:lnSpc>
              <a:buFont typeface="Wingdings" panose="05000000000000000000" pitchFamily="2" charset="2"/>
              <a:buChar char="Ø"/>
            </a:pPr>
            <a:r>
              <a:rPr lang="en-US" altLang="ja-JP" dirty="0"/>
              <a:t>d</a:t>
            </a:r>
            <a:r>
              <a:rPr lang="ja-JP" altLang="en-US" dirty="0"/>
              <a:t>）作りやすさ／不良を作らない設計配慮などの結果。</a:t>
            </a:r>
            <a:endParaRPr lang="en-US" altLang="ja-JP" dirty="0"/>
          </a:p>
          <a:p>
            <a:pPr marL="914400" lvl="2" indent="0">
              <a:lnSpc>
                <a:spcPct val="100000"/>
              </a:lnSpc>
              <a:buNone/>
            </a:pPr>
            <a:r>
              <a:rPr lang="ja-JP" altLang="en-US" dirty="0"/>
              <a:t>　</a:t>
            </a:r>
            <a:r>
              <a:rPr lang="en-US" altLang="ja-JP" dirty="0"/>
              <a:t>DFSS</a:t>
            </a:r>
            <a:r>
              <a:rPr lang="ja-JP" altLang="en-US" dirty="0"/>
              <a:t>：</a:t>
            </a:r>
            <a:r>
              <a:rPr lang="en-US" altLang="ja-JP" dirty="0" err="1"/>
              <a:t>desing</a:t>
            </a:r>
            <a:r>
              <a:rPr lang="en-US" altLang="ja-JP" dirty="0"/>
              <a:t> for six sigma</a:t>
            </a:r>
            <a:r>
              <a:rPr lang="ja-JP" altLang="en-US" dirty="0"/>
              <a:t>（究極的なバラつき抑制を目的とした考え方）</a:t>
            </a:r>
            <a:endParaRPr lang="en-US" altLang="ja-JP" dirty="0"/>
          </a:p>
          <a:p>
            <a:pPr lvl="1">
              <a:lnSpc>
                <a:spcPct val="100000"/>
              </a:lnSpc>
              <a:buFont typeface="Wingdings" panose="05000000000000000000" pitchFamily="2" charset="2"/>
              <a:buChar char="Ø"/>
            </a:pPr>
            <a:r>
              <a:rPr lang="en-US" altLang="ja-JP" dirty="0"/>
              <a:t>e</a:t>
            </a:r>
            <a:r>
              <a:rPr lang="ja-JP" altLang="en-US" dirty="0"/>
              <a:t>）</a:t>
            </a:r>
            <a:r>
              <a:rPr lang="en-US" altLang="ja-JP" dirty="0"/>
              <a:t>f</a:t>
            </a:r>
            <a:r>
              <a:rPr lang="ja-JP" altLang="en-US" dirty="0"/>
              <a:t>）詳細な製品仕様（</a:t>
            </a:r>
            <a:r>
              <a:rPr lang="en-US" altLang="ja-JP" dirty="0"/>
              <a:t>3D</a:t>
            </a:r>
            <a:r>
              <a:rPr lang="ja-JP" altLang="en-US" dirty="0"/>
              <a:t>、幾何寸法、公差など）</a:t>
            </a:r>
            <a:endParaRPr lang="en-US" altLang="ja-JP" dirty="0"/>
          </a:p>
          <a:p>
            <a:pPr lvl="1">
              <a:lnSpc>
                <a:spcPct val="100000"/>
              </a:lnSpc>
              <a:buFont typeface="Wingdings" panose="05000000000000000000" pitchFamily="2" charset="2"/>
              <a:buChar char="Ø"/>
            </a:pPr>
            <a:r>
              <a:rPr lang="en-US" altLang="ja-JP" dirty="0"/>
              <a:t>h</a:t>
            </a:r>
            <a:r>
              <a:rPr lang="ja-JP" altLang="en-US" dirty="0"/>
              <a:t>）サービス時の情報。（故障診断の方法／修理方法など）</a:t>
            </a:r>
            <a:r>
              <a:rPr lang="en-US" altLang="ja-JP" dirty="0"/>
              <a:t>OEM</a:t>
            </a:r>
            <a:r>
              <a:rPr lang="ja-JP" altLang="en-US" dirty="0"/>
              <a:t>が顧客の場合必要となる。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8.3.5.1</a:t>
            </a:r>
            <a:r>
              <a:rPr lang="ja-JP" altLang="en-US" sz="3000" b="1" dirty="0">
                <a:solidFill>
                  <a:schemeClr val="bg1"/>
                </a:solidFill>
              </a:rPr>
              <a:t>　設計・開発からのアウトプット－補足</a:t>
            </a:r>
            <a:endParaRPr kumimoji="1" lang="ja-JP" altLang="en-US" sz="3000" b="1" dirty="0">
              <a:solidFill>
                <a:schemeClr val="bg1"/>
              </a:solidFill>
            </a:endParaRPr>
          </a:p>
        </p:txBody>
      </p:sp>
    </p:spTree>
    <p:extLst>
      <p:ext uri="{BB962C8B-B14F-4D97-AF65-F5344CB8AC3E}">
        <p14:creationId xmlns:p14="http://schemas.microsoft.com/office/powerpoint/2010/main" val="919110234"/>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92500" lnSpcReduction="10000"/>
          </a:bodyPr>
          <a:lstStyle/>
          <a:p>
            <a:pPr marL="0" indent="0">
              <a:lnSpc>
                <a:spcPct val="100000"/>
              </a:lnSpc>
              <a:buNone/>
            </a:pPr>
            <a:r>
              <a:rPr lang="ja-JP" altLang="en-US" sz="2200" dirty="0"/>
              <a:t>☑組織は、製造工程設計からのアウトプットを、製造工程設計へのインプットと対比した検証ができるように</a:t>
            </a:r>
            <a:r>
              <a:rPr lang="ja-JP" altLang="en-US" sz="2200" b="1" dirty="0"/>
              <a:t>文書化</a:t>
            </a:r>
            <a:r>
              <a:rPr lang="ja-JP" altLang="en-US" sz="2200" dirty="0"/>
              <a:t>しなければならない。</a:t>
            </a:r>
            <a:endParaRPr lang="en-US" altLang="ja-JP" sz="2200" dirty="0"/>
          </a:p>
          <a:p>
            <a:pPr marL="0" indent="0">
              <a:lnSpc>
                <a:spcPct val="100000"/>
              </a:lnSpc>
              <a:buNone/>
            </a:pPr>
            <a:r>
              <a:rPr lang="ja-JP" altLang="en-US" sz="2200" dirty="0"/>
              <a:t>☑組織は、そのアウトプットを、製造工程設計へのインプット要求事項と対比して検証しなければならない。</a:t>
            </a:r>
            <a:endParaRPr lang="en-US" altLang="ja-JP" sz="2200" dirty="0"/>
          </a:p>
          <a:p>
            <a:pPr marL="0" indent="0">
              <a:lnSpc>
                <a:spcPct val="100000"/>
              </a:lnSpc>
              <a:buNone/>
            </a:pPr>
            <a:r>
              <a:rPr lang="ja-JP" altLang="en-US" sz="2200" dirty="0"/>
              <a:t>☑製造工程設計からのアウトプットには、次の事項を含めなければならない。しかし、それに限定されない。</a:t>
            </a:r>
            <a:endParaRPr lang="en-US" altLang="ja-JP" sz="2200" dirty="0"/>
          </a:p>
          <a:p>
            <a:pPr marL="800100" lvl="1" indent="-342900">
              <a:lnSpc>
                <a:spcPct val="100000"/>
              </a:lnSpc>
              <a:buFont typeface="+mj-lt"/>
              <a:buAutoNum type="alphaLcPeriod"/>
            </a:pPr>
            <a:r>
              <a:rPr lang="ja-JP" altLang="en-US" sz="2200" dirty="0"/>
              <a:t>仕様書及び図面</a:t>
            </a:r>
            <a:endParaRPr lang="en-US" altLang="ja-JP" sz="2200" dirty="0"/>
          </a:p>
          <a:p>
            <a:pPr marL="800100" lvl="1" indent="-342900">
              <a:lnSpc>
                <a:spcPct val="100000"/>
              </a:lnSpc>
              <a:buFont typeface="+mj-lt"/>
              <a:buAutoNum type="alphaLcPeriod"/>
            </a:pPr>
            <a:r>
              <a:rPr lang="ja-JP" altLang="en-US" sz="2200" dirty="0"/>
              <a:t>製品及び</a:t>
            </a:r>
            <a:r>
              <a:rPr lang="ja-JP" altLang="en-US" sz="2200" u="sng" dirty="0"/>
              <a:t>製造工程の特殊特性</a:t>
            </a:r>
            <a:endParaRPr lang="en-US" altLang="ja-JP" sz="2200" u="sng" dirty="0"/>
          </a:p>
          <a:p>
            <a:pPr marL="800100" lvl="1" indent="-342900">
              <a:lnSpc>
                <a:spcPct val="100000"/>
              </a:lnSpc>
              <a:buFont typeface="+mj-lt"/>
              <a:buAutoNum type="alphaLcPeriod"/>
            </a:pPr>
            <a:r>
              <a:rPr lang="ja-JP" altLang="en-US" sz="2200" dirty="0"/>
              <a:t>特性に影響を与える、</a:t>
            </a:r>
            <a:r>
              <a:rPr lang="ja-JP" altLang="en-US" sz="2200" u="sng" dirty="0"/>
              <a:t>工程インプット変数の特定</a:t>
            </a:r>
            <a:endParaRPr lang="en-US" altLang="ja-JP" sz="2200" u="sng" dirty="0"/>
          </a:p>
          <a:p>
            <a:pPr marL="800100" lvl="1" indent="-342900">
              <a:lnSpc>
                <a:spcPct val="100000"/>
              </a:lnSpc>
              <a:buFont typeface="+mj-lt"/>
              <a:buAutoNum type="alphaLcPeriod"/>
            </a:pPr>
            <a:r>
              <a:rPr lang="ja-JP" altLang="en-US" sz="2200" dirty="0"/>
              <a:t>設備及び工程の能力調査を含む、</a:t>
            </a:r>
            <a:r>
              <a:rPr lang="ja-JP" altLang="en-US" sz="2200" u="sng" dirty="0"/>
              <a:t>生産及び管理のための治工具及び設備</a:t>
            </a:r>
            <a:endParaRPr lang="en-US" altLang="ja-JP" sz="2200" u="sng" dirty="0"/>
          </a:p>
          <a:p>
            <a:pPr marL="800100" lvl="1" indent="-342900">
              <a:lnSpc>
                <a:spcPct val="100000"/>
              </a:lnSpc>
              <a:buFont typeface="+mj-lt"/>
              <a:buAutoNum type="alphaLcPeriod"/>
            </a:pPr>
            <a:r>
              <a:rPr lang="ja-JP" altLang="en-US" sz="2200" dirty="0"/>
              <a:t>製品、工程及び治工具のつながりを含む、</a:t>
            </a:r>
            <a:r>
              <a:rPr lang="ja-JP" altLang="en-US" sz="2200" u="sng" dirty="0"/>
              <a:t>製造工程フローチャート／レイアウト</a:t>
            </a:r>
            <a:endParaRPr lang="en-US" altLang="ja-JP" sz="2200" u="sng" dirty="0"/>
          </a:p>
          <a:p>
            <a:pPr marL="800100" lvl="1" indent="-342900">
              <a:lnSpc>
                <a:spcPct val="100000"/>
              </a:lnSpc>
              <a:buFont typeface="+mj-lt"/>
              <a:buAutoNum type="alphaLcPeriod"/>
            </a:pPr>
            <a:r>
              <a:rPr lang="ja-JP" altLang="en-US" sz="2200" u="sng" dirty="0"/>
              <a:t>生産能力の分析</a:t>
            </a:r>
            <a:endParaRPr lang="en-US" altLang="ja-JP" sz="2200" u="sng" dirty="0"/>
          </a:p>
          <a:p>
            <a:pPr marL="800100" lvl="1" indent="-342900">
              <a:lnSpc>
                <a:spcPct val="100000"/>
              </a:lnSpc>
              <a:buFont typeface="+mj-lt"/>
              <a:buAutoNum type="alphaLcPeriod"/>
            </a:pPr>
            <a:r>
              <a:rPr lang="ja-JP" altLang="en-US" sz="2200" u="sng" dirty="0"/>
              <a:t>製造工程</a:t>
            </a:r>
            <a:r>
              <a:rPr lang="en-US" altLang="ja-JP" sz="2200" u="sng" dirty="0"/>
              <a:t>FMEA</a:t>
            </a:r>
          </a:p>
          <a:p>
            <a:pPr marL="800100" lvl="1" indent="-342900">
              <a:lnSpc>
                <a:spcPct val="100000"/>
              </a:lnSpc>
              <a:buFont typeface="+mj-lt"/>
              <a:buAutoNum type="alphaLcPeriod"/>
            </a:pPr>
            <a:r>
              <a:rPr lang="ja-JP" altLang="en-US" sz="2200" u="sng" dirty="0"/>
              <a:t>保全計画</a:t>
            </a:r>
            <a:r>
              <a:rPr lang="ja-JP" altLang="en-US" sz="2200" dirty="0"/>
              <a:t>及び指示書</a:t>
            </a:r>
          </a:p>
          <a:p>
            <a:pPr marL="800100" lvl="1" indent="-342900">
              <a:lnSpc>
                <a:spcPct val="100000"/>
              </a:lnSpc>
              <a:buFont typeface="+mj-lt"/>
              <a:buAutoNum type="alphaLcPeriod"/>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8.3.5.2</a:t>
            </a:r>
            <a:r>
              <a:rPr kumimoji="1" lang="ja-JP" altLang="en-US" sz="3000" b="1" dirty="0">
                <a:solidFill>
                  <a:schemeClr val="tx2"/>
                </a:solidFill>
              </a:rPr>
              <a:t>　製造工程設計・開発からのアウトプット</a:t>
            </a:r>
          </a:p>
        </p:txBody>
      </p:sp>
      <p:sp>
        <p:nvSpPr>
          <p:cNvPr id="2" name="正方形/長方形 1">
            <a:extLst>
              <a:ext uri="{FF2B5EF4-FFF2-40B4-BE49-F238E27FC236}">
                <a16:creationId xmlns:a16="http://schemas.microsoft.com/office/drawing/2014/main" id="{2BCA003D-57B8-417A-8C44-D3E222F65C16}"/>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2"/>
                </a:solidFill>
              </a:rPr>
              <a:t>工程</a:t>
            </a:r>
            <a:r>
              <a:rPr kumimoji="1" lang="ja-JP" altLang="en-US" dirty="0">
                <a:solidFill>
                  <a:schemeClr val="tx2"/>
                </a:solidFill>
              </a:rPr>
              <a:t>設計</a:t>
            </a:r>
          </a:p>
        </p:txBody>
      </p:sp>
    </p:spTree>
    <p:extLst>
      <p:ext uri="{BB962C8B-B14F-4D97-AF65-F5344CB8AC3E}">
        <p14:creationId xmlns:p14="http://schemas.microsoft.com/office/powerpoint/2010/main" val="2733446995"/>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00000"/>
              </a:lnSpc>
              <a:buFont typeface="+mj-lt"/>
              <a:buAutoNum type="alphaLcPeriod" startAt="9"/>
            </a:pPr>
            <a:r>
              <a:rPr lang="ja-JP" altLang="en-US" sz="2000" u="sng" dirty="0"/>
              <a:t>コントロールプラン（付属書</a:t>
            </a:r>
            <a:r>
              <a:rPr lang="en-US" altLang="ja-JP" sz="2000" u="sng" dirty="0"/>
              <a:t>A</a:t>
            </a:r>
            <a:r>
              <a:rPr lang="ja-JP" altLang="en-US" sz="2000" u="sng" dirty="0"/>
              <a:t>参照）</a:t>
            </a:r>
            <a:endParaRPr lang="en-US" altLang="ja-JP" sz="2000" u="sng" dirty="0"/>
          </a:p>
          <a:p>
            <a:pPr marL="800100" lvl="1" indent="-342900">
              <a:lnSpc>
                <a:spcPct val="100000"/>
              </a:lnSpc>
              <a:buFont typeface="+mj-lt"/>
              <a:buAutoNum type="alphaLcPeriod" startAt="9"/>
            </a:pPr>
            <a:r>
              <a:rPr lang="ja-JP" altLang="en-US" sz="2000" u="sng" dirty="0"/>
              <a:t>標準作業及び作業指示書</a:t>
            </a:r>
            <a:endParaRPr lang="en-US" altLang="ja-JP" sz="2000" u="sng" dirty="0"/>
          </a:p>
          <a:p>
            <a:pPr marL="800100" lvl="1" indent="-342900">
              <a:lnSpc>
                <a:spcPct val="100000"/>
              </a:lnSpc>
              <a:buFont typeface="+mj-lt"/>
              <a:buAutoNum type="alphaLcPeriod" startAt="9"/>
            </a:pPr>
            <a:r>
              <a:rPr lang="ja-JP" altLang="en-US" sz="2000" u="sng" dirty="0"/>
              <a:t>工程承認の合否判定基準</a:t>
            </a:r>
            <a:endParaRPr lang="en-US" altLang="ja-JP" sz="2000" u="sng" dirty="0"/>
          </a:p>
          <a:p>
            <a:pPr marL="800100" lvl="1" indent="-342900">
              <a:lnSpc>
                <a:spcPct val="100000"/>
              </a:lnSpc>
              <a:buFont typeface="+mj-lt"/>
              <a:buAutoNum type="alphaLcPeriod" startAt="9"/>
            </a:pPr>
            <a:r>
              <a:rPr lang="ja-JP" altLang="en-US" sz="2000" dirty="0"/>
              <a:t>品質、信頼性、保全性及び測定性に対する</a:t>
            </a:r>
            <a:r>
              <a:rPr lang="ja-JP" altLang="en-US" sz="2000" u="sng" dirty="0"/>
              <a:t>データ</a:t>
            </a:r>
            <a:endParaRPr lang="en-US" altLang="ja-JP" sz="2000" u="sng" dirty="0"/>
          </a:p>
          <a:p>
            <a:pPr marL="800100" lvl="1" indent="-342900">
              <a:lnSpc>
                <a:spcPct val="100000"/>
              </a:lnSpc>
              <a:buFont typeface="+mj-lt"/>
              <a:buAutoNum type="alphaLcPeriod" startAt="9"/>
            </a:pPr>
            <a:r>
              <a:rPr lang="ja-JP" altLang="en-US" sz="2000" dirty="0"/>
              <a:t>必要に応じて、</a:t>
            </a:r>
            <a:r>
              <a:rPr lang="ja-JP" altLang="en-US" sz="2000" u="sng" dirty="0"/>
              <a:t>ポカヨケの特定及び検証の結果</a:t>
            </a:r>
            <a:endParaRPr lang="en-US" altLang="ja-JP" sz="2000" u="sng" dirty="0"/>
          </a:p>
          <a:p>
            <a:pPr marL="800100" lvl="1" indent="-342900">
              <a:lnSpc>
                <a:spcPct val="100000"/>
              </a:lnSpc>
              <a:buFont typeface="+mj-lt"/>
              <a:buAutoNum type="alphaLcPeriod" startAt="9"/>
            </a:pPr>
            <a:r>
              <a:rPr lang="ja-JP" altLang="en-US" sz="2000" u="sng" dirty="0"/>
              <a:t>製品／製造工程の不適合の迅速な検出、フィードバック及び修正の方法</a:t>
            </a:r>
          </a:p>
          <a:p>
            <a:pPr marL="800100" lvl="1" indent="-342900">
              <a:lnSpc>
                <a:spcPct val="100000"/>
              </a:lnSpc>
              <a:buFont typeface="+mj-lt"/>
              <a:buAutoNum type="alphaLcPeriod" startAt="9"/>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8.3.5.2</a:t>
            </a:r>
            <a:r>
              <a:rPr kumimoji="1" lang="ja-JP" altLang="en-US" sz="3000" b="1" dirty="0">
                <a:solidFill>
                  <a:schemeClr val="tx2"/>
                </a:solidFill>
              </a:rPr>
              <a:t>　製造工程設計・開発からのアウトプット</a:t>
            </a:r>
          </a:p>
        </p:txBody>
      </p:sp>
      <p:sp>
        <p:nvSpPr>
          <p:cNvPr id="2" name="正方形/長方形 1">
            <a:extLst>
              <a:ext uri="{FF2B5EF4-FFF2-40B4-BE49-F238E27FC236}">
                <a16:creationId xmlns:a16="http://schemas.microsoft.com/office/drawing/2014/main" id="{2A5C533E-DDA1-4AD6-B2E3-F2C7EEDAD043}"/>
              </a:ext>
            </a:extLst>
          </p:cNvPr>
          <p:cNvSpPr/>
          <p:nvPr/>
        </p:nvSpPr>
        <p:spPr>
          <a:xfrm>
            <a:off x="10086110" y="378592"/>
            <a:ext cx="1267690" cy="37901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2"/>
                </a:solidFill>
              </a:rPr>
              <a:t>工程</a:t>
            </a:r>
            <a:r>
              <a:rPr kumimoji="1" lang="ja-JP" altLang="en-US" dirty="0">
                <a:solidFill>
                  <a:schemeClr val="tx2"/>
                </a:solidFill>
              </a:rPr>
              <a:t>設計</a:t>
            </a:r>
          </a:p>
        </p:txBody>
      </p:sp>
    </p:spTree>
    <p:extLst>
      <p:ext uri="{BB962C8B-B14F-4D97-AF65-F5344CB8AC3E}">
        <p14:creationId xmlns:p14="http://schemas.microsoft.com/office/powerpoint/2010/main" val="944356181"/>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8.3.3.2</a:t>
            </a:r>
            <a:r>
              <a:rPr lang="ja-JP" altLang="en-US" sz="2400" dirty="0"/>
              <a:t>製造工程設計へのインプットと対比していること。</a:t>
            </a:r>
            <a:endParaRPr lang="en-US" altLang="ja-JP" sz="2400" dirty="0"/>
          </a:p>
          <a:p>
            <a:pPr marL="457200" indent="-457200">
              <a:lnSpc>
                <a:spcPct val="100000"/>
              </a:lnSpc>
              <a:buFont typeface="+mj-lt"/>
              <a:buAutoNum type="arabicPeriod"/>
            </a:pPr>
            <a:r>
              <a:rPr lang="en-US" altLang="ja-JP" sz="2400" dirty="0"/>
              <a:t>8.3.5.1</a:t>
            </a:r>
            <a:r>
              <a:rPr lang="ja-JP" altLang="en-US" sz="2400" dirty="0"/>
              <a:t>は　“該当する場合”　</a:t>
            </a:r>
            <a:r>
              <a:rPr lang="en-US" altLang="ja-JP" sz="2400" dirty="0">
                <a:solidFill>
                  <a:srgbClr val="FF0000"/>
                </a:solidFill>
                <a:effectLst>
                  <a:outerShdw blurRad="38100" dist="38100" dir="2700000" algn="tl">
                    <a:srgbClr val="000000">
                      <a:alpha val="43137"/>
                    </a:srgbClr>
                  </a:outerShdw>
                </a:effectLst>
              </a:rPr>
              <a:t>8.3.5.2</a:t>
            </a:r>
            <a:r>
              <a:rPr lang="ja-JP" altLang="en-US" sz="2400" dirty="0">
                <a:solidFill>
                  <a:srgbClr val="FF0000"/>
                </a:solidFill>
                <a:effectLst>
                  <a:outerShdw blurRad="38100" dist="38100" dir="2700000" algn="tl">
                    <a:srgbClr val="000000">
                      <a:alpha val="43137"/>
                    </a:srgbClr>
                  </a:outerShdw>
                </a:effectLst>
              </a:rPr>
              <a:t>は　“必ず”　</a:t>
            </a:r>
            <a:r>
              <a:rPr lang="ja-JP" altLang="en-US" sz="2400" dirty="0"/>
              <a:t>の違いに注意。</a:t>
            </a:r>
            <a:endParaRPr lang="en-US" altLang="ja-JP" sz="2400" dirty="0"/>
          </a:p>
          <a:p>
            <a:pPr marL="457200" indent="-457200">
              <a:lnSpc>
                <a:spcPct val="100000"/>
              </a:lnSpc>
              <a:buFont typeface="+mj-lt"/>
              <a:buAutoNum type="arabicPeriod"/>
            </a:pPr>
            <a:r>
              <a:rPr lang="ja-JP" altLang="en-US" sz="2400" dirty="0"/>
              <a:t>アウトプット項目の要点。</a:t>
            </a:r>
            <a:endParaRPr lang="en-US" altLang="ja-JP" sz="2400" dirty="0"/>
          </a:p>
          <a:p>
            <a:pPr lvl="1">
              <a:lnSpc>
                <a:spcPct val="100000"/>
              </a:lnSpc>
              <a:buFont typeface="Wingdings" panose="05000000000000000000" pitchFamily="2" charset="2"/>
              <a:buChar char="Ø"/>
            </a:pPr>
            <a:r>
              <a:rPr lang="en-US" altLang="ja-JP" sz="2200" dirty="0"/>
              <a:t>a</a:t>
            </a:r>
            <a:r>
              <a:rPr lang="ja-JP" altLang="en-US" sz="2200" dirty="0"/>
              <a:t>）</a:t>
            </a:r>
            <a:r>
              <a:rPr lang="ja-JP" altLang="en-US" dirty="0"/>
              <a:t>金型図面、治工具仕様書など。</a:t>
            </a:r>
            <a:endParaRPr lang="en-US" altLang="ja-JP" dirty="0"/>
          </a:p>
          <a:p>
            <a:pPr lvl="1">
              <a:lnSpc>
                <a:spcPct val="100000"/>
              </a:lnSpc>
              <a:buFont typeface="Wingdings" panose="05000000000000000000" pitchFamily="2" charset="2"/>
              <a:buChar char="Ø"/>
            </a:pPr>
            <a:r>
              <a:rPr lang="en-US" altLang="ja-JP" dirty="0"/>
              <a:t>b</a:t>
            </a:r>
            <a:r>
              <a:rPr lang="ja-JP" altLang="en-US" dirty="0"/>
              <a:t>）製品の特殊特性及びそれを受けて決定した製造工程の特殊特性。</a:t>
            </a:r>
            <a:endParaRPr lang="en-US" altLang="ja-JP" dirty="0"/>
          </a:p>
          <a:p>
            <a:pPr lvl="1">
              <a:lnSpc>
                <a:spcPct val="100000"/>
              </a:lnSpc>
              <a:buFont typeface="Wingdings" panose="05000000000000000000" pitchFamily="2" charset="2"/>
              <a:buChar char="Ø"/>
            </a:pPr>
            <a:r>
              <a:rPr lang="en-US" altLang="ja-JP" dirty="0"/>
              <a:t>c</a:t>
            </a:r>
            <a:r>
              <a:rPr lang="ja-JP" altLang="en-US" dirty="0"/>
              <a:t>）工程パラメータ。（製造条件）　</a:t>
            </a:r>
            <a:endParaRPr lang="en-US" altLang="ja-JP" dirty="0"/>
          </a:p>
          <a:p>
            <a:pPr lvl="1">
              <a:lnSpc>
                <a:spcPct val="100000"/>
              </a:lnSpc>
              <a:buFont typeface="Wingdings" panose="05000000000000000000" pitchFamily="2" charset="2"/>
              <a:buChar char="Ø"/>
            </a:pPr>
            <a:r>
              <a:rPr lang="en-US" altLang="ja-JP" dirty="0"/>
              <a:t>f</a:t>
            </a:r>
            <a:r>
              <a:rPr lang="ja-JP" altLang="en-US" dirty="0"/>
              <a:t>）製造フィージビリティの結果と整合しているもの。</a:t>
            </a:r>
            <a:endParaRPr lang="en-US" altLang="ja-JP" dirty="0"/>
          </a:p>
          <a:p>
            <a:pPr lvl="1">
              <a:lnSpc>
                <a:spcPct val="100000"/>
              </a:lnSpc>
              <a:buFont typeface="Wingdings" panose="05000000000000000000" pitchFamily="2" charset="2"/>
              <a:buChar char="Ø"/>
            </a:pPr>
            <a:r>
              <a:rPr lang="en-US" altLang="ja-JP" dirty="0"/>
              <a:t>h</a:t>
            </a:r>
            <a:r>
              <a:rPr lang="ja-JP" altLang="en-US" dirty="0"/>
              <a:t>）</a:t>
            </a:r>
            <a:r>
              <a:rPr lang="en-US" altLang="ja-JP" dirty="0"/>
              <a:t>8.5.1.5</a:t>
            </a:r>
            <a:r>
              <a:rPr lang="ja-JP" altLang="en-US" dirty="0"/>
              <a:t>（</a:t>
            </a:r>
            <a:r>
              <a:rPr lang="en-US" altLang="ja-JP" dirty="0"/>
              <a:t>TPM</a:t>
            </a:r>
            <a:r>
              <a:rPr lang="ja-JP" altLang="en-US" dirty="0"/>
              <a:t>）で規定されている事項。</a:t>
            </a:r>
            <a:endParaRPr lang="en-US" altLang="ja-JP" dirty="0"/>
          </a:p>
          <a:p>
            <a:pPr lvl="1">
              <a:lnSpc>
                <a:spcPct val="100000"/>
              </a:lnSpc>
              <a:buFont typeface="Wingdings" panose="05000000000000000000" pitchFamily="2" charset="2"/>
              <a:buChar char="Ø"/>
            </a:pPr>
            <a:r>
              <a:rPr lang="en-US" altLang="ja-JP" dirty="0" err="1"/>
              <a:t>i</a:t>
            </a:r>
            <a:r>
              <a:rPr lang="ja-JP" altLang="en-US" dirty="0"/>
              <a:t>）量産試作段階のもの。（量産で使用するコントロールプランでも可）</a:t>
            </a:r>
            <a:endParaRPr lang="en-US" altLang="ja-JP" dirty="0"/>
          </a:p>
          <a:p>
            <a:pPr lvl="1">
              <a:lnSpc>
                <a:spcPct val="100000"/>
              </a:lnSpc>
              <a:buFont typeface="Wingdings" panose="05000000000000000000" pitchFamily="2" charset="2"/>
              <a:buChar char="Ø"/>
            </a:pPr>
            <a:r>
              <a:rPr lang="en-US" altLang="ja-JP" dirty="0"/>
              <a:t>k</a:t>
            </a:r>
            <a:r>
              <a:rPr lang="ja-JP" altLang="en-US" dirty="0"/>
              <a:t>）顧客の工程能力指数、</a:t>
            </a:r>
            <a:r>
              <a:rPr lang="en-US" altLang="ja-JP" dirty="0"/>
              <a:t>8.5.1f)</a:t>
            </a:r>
            <a:r>
              <a:rPr lang="ja-JP" altLang="en-US" dirty="0"/>
              <a:t>特殊工程承認基準など。</a:t>
            </a:r>
          </a:p>
          <a:p>
            <a:pPr marL="457200" indent="-45720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8.3.5.2</a:t>
            </a:r>
            <a:r>
              <a:rPr lang="ja-JP" altLang="en-US" sz="3000" b="1" dirty="0">
                <a:solidFill>
                  <a:schemeClr val="bg1"/>
                </a:solidFill>
              </a:rPr>
              <a:t>　製造工程設計・開発からのアウトプット</a:t>
            </a:r>
            <a:endParaRPr kumimoji="1" lang="ja-JP" altLang="en-US" sz="3000" b="1" dirty="0">
              <a:solidFill>
                <a:schemeClr val="bg1"/>
              </a:solidFill>
            </a:endParaRPr>
          </a:p>
        </p:txBody>
      </p:sp>
    </p:spTree>
    <p:extLst>
      <p:ext uri="{BB962C8B-B14F-4D97-AF65-F5344CB8AC3E}">
        <p14:creationId xmlns:p14="http://schemas.microsoft.com/office/powerpoint/2010/main" val="99707883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1">
              <a:lnSpc>
                <a:spcPct val="100000"/>
              </a:lnSpc>
              <a:buFont typeface="Wingdings" panose="05000000000000000000" pitchFamily="2" charset="2"/>
              <a:buChar char="Ø"/>
            </a:pPr>
            <a:r>
              <a:rPr lang="en-US" altLang="ja-JP" sz="2200" dirty="0"/>
              <a:t>l</a:t>
            </a:r>
            <a:r>
              <a:rPr lang="ja-JP" altLang="en-US" sz="2200" dirty="0"/>
              <a:t>）製品の品質データ採取及び設備保全データ採取の方法など。</a:t>
            </a:r>
            <a:endParaRPr lang="en-US" altLang="ja-JP" sz="2200" dirty="0"/>
          </a:p>
          <a:p>
            <a:pPr lvl="1">
              <a:lnSpc>
                <a:spcPct val="100000"/>
              </a:lnSpc>
              <a:buFont typeface="Wingdings" panose="05000000000000000000" pitchFamily="2" charset="2"/>
              <a:buChar char="Ø"/>
            </a:pPr>
            <a:r>
              <a:rPr lang="en-US" altLang="ja-JP" sz="2200" dirty="0"/>
              <a:t>m</a:t>
            </a:r>
            <a:r>
              <a:rPr lang="ja-JP" altLang="en-US" sz="2200" dirty="0"/>
              <a:t>）工程</a:t>
            </a:r>
            <a:r>
              <a:rPr lang="en-US" altLang="ja-JP" sz="2200" dirty="0"/>
              <a:t>FMEA</a:t>
            </a:r>
            <a:r>
              <a:rPr lang="ja-JP" altLang="en-US" sz="2200" dirty="0"/>
              <a:t>結果から決定したポカヨケとその効果の検証結果</a:t>
            </a:r>
            <a:endParaRPr lang="en-US" altLang="ja-JP" sz="2200" dirty="0"/>
          </a:p>
          <a:p>
            <a:pPr lvl="1">
              <a:lnSpc>
                <a:spcPct val="100000"/>
              </a:lnSpc>
              <a:buFont typeface="Wingdings" panose="05000000000000000000" pitchFamily="2" charset="2"/>
              <a:buChar char="Ø"/>
            </a:pPr>
            <a:r>
              <a:rPr lang="en-US" altLang="ja-JP" sz="2200" dirty="0"/>
              <a:t>n</a:t>
            </a:r>
            <a:r>
              <a:rPr lang="ja-JP" altLang="en-US" sz="2200" dirty="0"/>
              <a:t>）多くはコントロールプランに　“不適合時の対応”　という形で明記される。</a:t>
            </a:r>
            <a:endParaRPr lang="en-US" altLang="ja-JP" sz="2200" dirty="0"/>
          </a:p>
          <a:p>
            <a:pPr marL="457200" indent="-457200">
              <a:lnSpc>
                <a:spcPct val="100000"/>
              </a:lnSpc>
              <a:buFont typeface="+mj-lt"/>
              <a:buAutoNum type="arabicPeriod" startAt="4"/>
            </a:pPr>
            <a:r>
              <a:rPr lang="ja-JP" altLang="en-US" sz="2400" dirty="0"/>
              <a:t>主要文書の関係。</a:t>
            </a:r>
            <a:r>
              <a:rPr lang="ja-JP" altLang="en-US" dirty="0"/>
              <a:t>　</a:t>
            </a:r>
          </a:p>
          <a:p>
            <a:pPr marL="457200" indent="-457200">
              <a:lnSpc>
                <a:spcPct val="100000"/>
              </a:lnSpc>
              <a:buFont typeface="+mj-lt"/>
              <a:buAutoNum type="arabicPeriod" startAt="4"/>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8.3.5.2</a:t>
            </a:r>
            <a:r>
              <a:rPr lang="ja-JP" altLang="en-US" sz="3000" b="1" dirty="0">
                <a:solidFill>
                  <a:schemeClr val="bg1"/>
                </a:solidFill>
              </a:rPr>
              <a:t>　製造工程設計・開発からのアウトプット</a:t>
            </a:r>
            <a:endParaRPr kumimoji="1" lang="ja-JP" altLang="en-US" sz="3000" b="1" dirty="0">
              <a:solidFill>
                <a:schemeClr val="bg1"/>
              </a:solidFill>
            </a:endParaRPr>
          </a:p>
        </p:txBody>
      </p:sp>
      <p:graphicFrame>
        <p:nvGraphicFramePr>
          <p:cNvPr id="2" name="図表 1">
            <a:extLst>
              <a:ext uri="{FF2B5EF4-FFF2-40B4-BE49-F238E27FC236}">
                <a16:creationId xmlns:a16="http://schemas.microsoft.com/office/drawing/2014/main" id="{0CD91239-453D-446D-BF65-DD89994F1F2F}"/>
              </a:ext>
            </a:extLst>
          </p:cNvPr>
          <p:cNvGraphicFramePr/>
          <p:nvPr>
            <p:extLst>
              <p:ext uri="{D42A27DB-BD31-4B8C-83A1-F6EECF244321}">
                <p14:modId xmlns:p14="http://schemas.microsoft.com/office/powerpoint/2010/main" val="1684458923"/>
              </p:ext>
            </p:extLst>
          </p:nvPr>
        </p:nvGraphicFramePr>
        <p:xfrm>
          <a:off x="2570480" y="3149600"/>
          <a:ext cx="7213600" cy="2988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34034"/>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☑組織は、組織又はその供給者から提案されたものを含めて、</a:t>
            </a:r>
            <a:r>
              <a:rPr lang="ja-JP" altLang="en-US" sz="2000" u="sng" dirty="0"/>
              <a:t>初回の製品承認の後の全ての設計変更を</a:t>
            </a:r>
            <a:r>
              <a:rPr lang="ja-JP" altLang="en-US" sz="2000" dirty="0"/>
              <a:t>、取付時の合い、形状、機能、性能及び／又は耐久性に関する潜在的な影響に対して</a:t>
            </a:r>
            <a:r>
              <a:rPr lang="ja-JP" altLang="en-US" sz="2000" u="sng" dirty="0"/>
              <a:t>評価しなければならない。</a:t>
            </a:r>
            <a:endParaRPr lang="en-US" altLang="ja-JP" sz="2000" u="sng" dirty="0"/>
          </a:p>
          <a:p>
            <a:pPr marL="0" indent="0">
              <a:lnSpc>
                <a:spcPct val="100000"/>
              </a:lnSpc>
              <a:buNone/>
            </a:pPr>
            <a:r>
              <a:rPr lang="ja-JP" altLang="en-US" sz="2000" dirty="0"/>
              <a:t>☑これらの変更は、生産で実施する前に、顧客要求事項に対する妥当性確認を実施して、</a:t>
            </a:r>
            <a:r>
              <a:rPr lang="ja-JP" altLang="en-US" sz="2000" u="sng" dirty="0"/>
              <a:t>内部で承認しなければならない。</a:t>
            </a:r>
            <a:endParaRPr lang="en-US" altLang="ja-JP" sz="2000" u="sng" dirty="0"/>
          </a:p>
          <a:p>
            <a:pPr marL="0" indent="0">
              <a:lnSpc>
                <a:spcPct val="100000"/>
              </a:lnSpc>
              <a:buNone/>
            </a:pPr>
            <a:r>
              <a:rPr lang="ja-JP" altLang="en-US" sz="2000" dirty="0"/>
              <a:t>☑顧客から要求される場合、組織は、</a:t>
            </a:r>
            <a:r>
              <a:rPr lang="ja-JP" altLang="en-US" sz="2000" u="sng" dirty="0"/>
              <a:t>文書化した承認、又は文書化した免除申請を、生産で実施する前に顧客から得なければならない。</a:t>
            </a:r>
            <a:endParaRPr lang="en-US" altLang="ja-JP" sz="2000" u="sng" dirty="0"/>
          </a:p>
          <a:p>
            <a:pPr marL="0" indent="0">
              <a:lnSpc>
                <a:spcPct val="100000"/>
              </a:lnSpc>
              <a:buNone/>
            </a:pPr>
            <a:r>
              <a:rPr lang="ja-JP" altLang="en-US" sz="2000" dirty="0"/>
              <a:t>☑組込みソフトウェアをもつ製品に対して、組織は、ソフトウェア及びハードウェアの改訂レベルを変更記録の一部として文書化しなければならない。</a:t>
            </a:r>
          </a:p>
          <a:p>
            <a:pPr marL="800100" lvl="1" indent="-342900">
              <a:lnSpc>
                <a:spcPct val="100000"/>
              </a:lnSpc>
              <a:buFont typeface="+mj-lt"/>
              <a:buAutoNum type="alphaLcPeriod" startAt="9"/>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8.3.6.1</a:t>
            </a:r>
            <a:r>
              <a:rPr kumimoji="1" lang="ja-JP" altLang="en-US" sz="3000" b="1" dirty="0">
                <a:solidFill>
                  <a:schemeClr val="tx2"/>
                </a:solidFill>
              </a:rPr>
              <a:t>　設計・開発の変更－補足</a:t>
            </a:r>
          </a:p>
        </p:txBody>
      </p:sp>
    </p:spTree>
    <p:extLst>
      <p:ext uri="{BB962C8B-B14F-4D97-AF65-F5344CB8AC3E}">
        <p14:creationId xmlns:p14="http://schemas.microsoft.com/office/powerpoint/2010/main" val="3035738462"/>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に対する追加要求（</a:t>
            </a:r>
            <a:r>
              <a:rPr lang="en-US" altLang="ja-JP" sz="2400" dirty="0"/>
              <a:t>4</a:t>
            </a:r>
            <a:r>
              <a:rPr lang="ja-JP" altLang="en-US" sz="2400" dirty="0"/>
              <a:t>点）。</a:t>
            </a:r>
            <a:endParaRPr lang="en-US" altLang="ja-JP" sz="2400" dirty="0"/>
          </a:p>
          <a:p>
            <a:pPr marL="914400" lvl="1" indent="-457200">
              <a:lnSpc>
                <a:spcPct val="100000"/>
              </a:lnSpc>
              <a:buFont typeface="+mj-ea"/>
              <a:buAutoNum type="circleNumDbPlain"/>
            </a:pPr>
            <a:r>
              <a:rPr lang="ja-JP" altLang="en-US" dirty="0"/>
              <a:t>ポイントとなる変更対象事象。</a:t>
            </a:r>
            <a:endParaRPr lang="en-US" altLang="ja-JP" dirty="0"/>
          </a:p>
          <a:p>
            <a:pPr marL="914400" lvl="1" indent="-457200">
              <a:lnSpc>
                <a:spcPct val="100000"/>
              </a:lnSpc>
              <a:buFont typeface="+mj-ea"/>
              <a:buAutoNum type="circleNumDbPlain"/>
            </a:pPr>
            <a:r>
              <a:rPr lang="ja-JP" altLang="en-US" dirty="0"/>
              <a:t>生産前の内部承認。</a:t>
            </a:r>
            <a:endParaRPr lang="en-US" altLang="ja-JP" dirty="0"/>
          </a:p>
          <a:p>
            <a:pPr marL="914400" lvl="1" indent="-457200">
              <a:lnSpc>
                <a:spcPct val="100000"/>
              </a:lnSpc>
              <a:buFont typeface="+mj-ea"/>
              <a:buAutoNum type="circleNumDbPlain"/>
            </a:pPr>
            <a:r>
              <a:rPr lang="ja-JP" altLang="en-US" dirty="0"/>
              <a:t>生産前の顧客承認。（免除の文書化含め）</a:t>
            </a:r>
            <a:endParaRPr lang="en-US" altLang="ja-JP" dirty="0"/>
          </a:p>
          <a:p>
            <a:pPr marL="914400" lvl="1" indent="-457200">
              <a:lnSpc>
                <a:spcPct val="100000"/>
              </a:lnSpc>
              <a:buFont typeface="+mj-ea"/>
              <a:buAutoNum type="circleNumDbPlain"/>
            </a:pPr>
            <a:r>
              <a:rPr lang="ja-JP" altLang="en-US" dirty="0"/>
              <a:t>組込みソフトウェアの変更記録。</a:t>
            </a:r>
            <a:endParaRPr lang="en-US" altLang="ja-JP" dirty="0"/>
          </a:p>
          <a:p>
            <a:pPr marL="457200" indent="-457200">
              <a:lnSpc>
                <a:spcPct val="100000"/>
              </a:lnSpc>
              <a:buFont typeface="+mj-ea"/>
              <a:buAutoNum type="arabicPeriod"/>
            </a:pPr>
            <a:r>
              <a:rPr lang="ja-JP" altLang="en-US" sz="2400" dirty="0"/>
              <a:t>重要な設計変更時の具体的な対応事項の例。</a:t>
            </a:r>
            <a:endParaRPr lang="en-US" altLang="ja-JP" sz="2400" dirty="0"/>
          </a:p>
          <a:p>
            <a:pPr marL="971550" lvl="1" indent="-514350">
              <a:lnSpc>
                <a:spcPct val="100000"/>
              </a:lnSpc>
              <a:buFont typeface="+mj-lt"/>
              <a:buAutoNum type="romanLcPeriod"/>
            </a:pPr>
            <a:r>
              <a:rPr lang="ja-JP" altLang="en-US" sz="2200" dirty="0"/>
              <a:t>変更管理に関するフロー及び基準の決定。（工程設計変更は</a:t>
            </a:r>
            <a:r>
              <a:rPr lang="en-US" altLang="ja-JP" sz="2200" dirty="0"/>
              <a:t>8.5.6.1</a:t>
            </a:r>
            <a:r>
              <a:rPr lang="ja-JP" altLang="en-US" sz="2200" dirty="0"/>
              <a:t>と関連）</a:t>
            </a:r>
            <a:endParaRPr lang="en-US" altLang="ja-JP" sz="2200" dirty="0"/>
          </a:p>
          <a:p>
            <a:pPr marL="971550" lvl="1" indent="-514350">
              <a:lnSpc>
                <a:spcPct val="100000"/>
              </a:lnSpc>
              <a:buFont typeface="+mj-lt"/>
              <a:buAutoNum type="romanLcPeriod"/>
            </a:pPr>
            <a:r>
              <a:rPr lang="ja-JP" altLang="en-US" sz="2200" dirty="0"/>
              <a:t>変更内容の社内共有化。</a:t>
            </a:r>
            <a:endParaRPr lang="en-US" altLang="ja-JP" sz="2200" dirty="0"/>
          </a:p>
          <a:p>
            <a:pPr marL="971550" lvl="1" indent="-514350">
              <a:lnSpc>
                <a:spcPct val="100000"/>
              </a:lnSpc>
              <a:buFont typeface="+mj-lt"/>
              <a:buAutoNum type="romanLcPeriod"/>
            </a:pPr>
            <a:r>
              <a:rPr lang="ja-JP" altLang="en-US" sz="2200" dirty="0"/>
              <a:t>変更前後の実力把握。（製品品質及び工程能力）</a:t>
            </a:r>
            <a:endParaRPr lang="en-US" altLang="ja-JP" sz="2200" dirty="0"/>
          </a:p>
          <a:p>
            <a:pPr marL="971550" lvl="1" indent="-514350">
              <a:lnSpc>
                <a:spcPct val="100000"/>
              </a:lnSpc>
              <a:buFont typeface="+mj-lt"/>
              <a:buAutoNum type="romanLcPeriod"/>
            </a:pPr>
            <a:r>
              <a:rPr lang="ja-JP" altLang="en-US" sz="2200" dirty="0"/>
              <a:t>変更規模により、</a:t>
            </a:r>
            <a:r>
              <a:rPr lang="en-US" altLang="ja-JP" sz="2200" dirty="0">
                <a:solidFill>
                  <a:srgbClr val="FF0000"/>
                </a:solidFill>
                <a:effectLst>
                  <a:outerShdw blurRad="38100" dist="38100" dir="2700000" algn="tl">
                    <a:srgbClr val="000000">
                      <a:alpha val="43137"/>
                    </a:srgbClr>
                  </a:outerShdw>
                </a:effectLst>
              </a:rPr>
              <a:t>DR</a:t>
            </a:r>
            <a:r>
              <a:rPr lang="ja-JP" altLang="en-US" sz="2200" dirty="0" err="1">
                <a:solidFill>
                  <a:srgbClr val="FF0000"/>
                </a:solidFill>
                <a:effectLst>
                  <a:outerShdw blurRad="38100" dist="38100" dir="2700000" algn="tl">
                    <a:srgbClr val="000000">
                      <a:alpha val="43137"/>
                    </a:srgbClr>
                  </a:outerShdw>
                </a:effectLst>
              </a:rPr>
              <a:t>、</a:t>
            </a:r>
            <a:r>
              <a:rPr lang="en-US" altLang="ja-JP" sz="2200" dirty="0">
                <a:solidFill>
                  <a:srgbClr val="FF0000"/>
                </a:solidFill>
                <a:effectLst>
                  <a:outerShdw blurRad="38100" dist="38100" dir="2700000" algn="tl">
                    <a:srgbClr val="000000">
                      <a:alpha val="43137"/>
                    </a:srgbClr>
                  </a:outerShdw>
                </a:effectLst>
              </a:rPr>
              <a:t>FMEA</a:t>
            </a:r>
            <a:r>
              <a:rPr lang="ja-JP" altLang="en-US" sz="2200" dirty="0" err="1">
                <a:solidFill>
                  <a:srgbClr val="FF0000"/>
                </a:solidFill>
                <a:effectLst>
                  <a:outerShdw blurRad="38100" dist="38100" dir="2700000" algn="tl">
                    <a:srgbClr val="000000">
                      <a:alpha val="43137"/>
                    </a:srgbClr>
                  </a:outerShdw>
                </a:effectLst>
              </a:rPr>
              <a:t>、</a:t>
            </a:r>
            <a:r>
              <a:rPr lang="en-US" altLang="ja-JP" sz="2200" dirty="0">
                <a:solidFill>
                  <a:srgbClr val="FF0000"/>
                </a:solidFill>
                <a:effectLst>
                  <a:outerShdw blurRad="38100" dist="38100" dir="2700000" algn="tl">
                    <a:srgbClr val="000000">
                      <a:alpha val="43137"/>
                    </a:srgbClr>
                  </a:outerShdw>
                </a:effectLst>
              </a:rPr>
              <a:t>CP</a:t>
            </a:r>
            <a:r>
              <a:rPr lang="ja-JP" altLang="en-US" sz="2200" dirty="0">
                <a:solidFill>
                  <a:srgbClr val="FF0000"/>
                </a:solidFill>
                <a:effectLst>
                  <a:outerShdw blurRad="38100" dist="38100" dir="2700000" algn="tl">
                    <a:srgbClr val="000000">
                      <a:alpha val="43137"/>
                    </a:srgbClr>
                  </a:outerShdw>
                </a:effectLst>
              </a:rPr>
              <a:t>及び作業指示書の見直し。</a:t>
            </a:r>
          </a:p>
          <a:p>
            <a:pPr marL="457200" indent="-45720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8.3.6.1</a:t>
            </a:r>
            <a:r>
              <a:rPr lang="ja-JP" altLang="en-US" sz="3000" b="1" dirty="0">
                <a:solidFill>
                  <a:schemeClr val="bg1"/>
                </a:solidFill>
              </a:rPr>
              <a:t>　設計・開発の変更－補足</a:t>
            </a:r>
            <a:endParaRPr kumimoji="1" lang="ja-JP" altLang="en-US" sz="3000" b="1" dirty="0">
              <a:solidFill>
                <a:schemeClr val="bg1"/>
              </a:solidFill>
            </a:endParaRPr>
          </a:p>
        </p:txBody>
      </p:sp>
      <p:sp>
        <p:nvSpPr>
          <p:cNvPr id="2" name="吹き出し: 角を丸めた四角形 1">
            <a:extLst>
              <a:ext uri="{FF2B5EF4-FFF2-40B4-BE49-F238E27FC236}">
                <a16:creationId xmlns:a16="http://schemas.microsoft.com/office/drawing/2014/main" id="{802EEDE0-C5D3-4AEC-9628-C63699C62D0A}"/>
              </a:ext>
            </a:extLst>
          </p:cNvPr>
          <p:cNvSpPr/>
          <p:nvPr/>
        </p:nvSpPr>
        <p:spPr>
          <a:xfrm>
            <a:off x="8026400" y="4585001"/>
            <a:ext cx="3327400" cy="854075"/>
          </a:xfrm>
          <a:prstGeom prst="wedgeRoundRectCallout">
            <a:avLst>
              <a:gd name="adj1" fmla="val -39681"/>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工程</a:t>
            </a:r>
            <a:r>
              <a:rPr lang="en-US" altLang="ja-JP" dirty="0">
                <a:solidFill>
                  <a:schemeClr val="tx1"/>
                </a:solidFill>
              </a:rPr>
              <a:t>FMEA</a:t>
            </a:r>
            <a:r>
              <a:rPr lang="ja-JP" altLang="en-US" dirty="0">
                <a:solidFill>
                  <a:schemeClr val="tx1"/>
                </a:solidFill>
              </a:rPr>
              <a:t>主要アウトプット文書の見直し。</a:t>
            </a:r>
            <a:endParaRPr kumimoji="1" lang="ja-JP" altLang="en-US" dirty="0">
              <a:solidFill>
                <a:schemeClr val="tx1"/>
              </a:solidFill>
            </a:endParaRPr>
          </a:p>
        </p:txBody>
      </p:sp>
      <p:graphicFrame>
        <p:nvGraphicFramePr>
          <p:cNvPr id="8" name="表 9">
            <a:extLst>
              <a:ext uri="{FF2B5EF4-FFF2-40B4-BE49-F238E27FC236}">
                <a16:creationId xmlns:a16="http://schemas.microsoft.com/office/drawing/2014/main" id="{BCDACF47-53E5-43E0-94D1-7D5F747BE0DE}"/>
              </a:ext>
            </a:extLst>
          </p:cNvPr>
          <p:cNvGraphicFramePr>
            <a:graphicFrameLocks noGrp="1"/>
          </p:cNvGraphicFramePr>
          <p:nvPr>
            <p:extLst>
              <p:ext uri="{D42A27DB-BD31-4B8C-83A1-F6EECF244321}">
                <p14:modId xmlns:p14="http://schemas.microsoft.com/office/powerpoint/2010/main" val="103159656"/>
              </p:ext>
            </p:extLst>
          </p:nvPr>
        </p:nvGraphicFramePr>
        <p:xfrm>
          <a:off x="6634480" y="1418924"/>
          <a:ext cx="4719320" cy="1324275"/>
        </p:xfrm>
        <a:graphic>
          <a:graphicData uri="http://schemas.openxmlformats.org/drawingml/2006/table">
            <a:tbl>
              <a:tblPr firstRow="1" bandRow="1">
                <a:tableStyleId>{5940675A-B579-460E-94D1-54222C63F5DA}</a:tableStyleId>
              </a:tblPr>
              <a:tblGrid>
                <a:gridCol w="414885">
                  <a:extLst>
                    <a:ext uri="{9D8B030D-6E8A-4147-A177-3AD203B41FA5}">
                      <a16:colId xmlns:a16="http://schemas.microsoft.com/office/drawing/2014/main" val="4128553593"/>
                    </a:ext>
                  </a:extLst>
                </a:gridCol>
                <a:gridCol w="4304435">
                  <a:extLst>
                    <a:ext uri="{9D8B030D-6E8A-4147-A177-3AD203B41FA5}">
                      <a16:colId xmlns:a16="http://schemas.microsoft.com/office/drawing/2014/main" val="1395094101"/>
                    </a:ext>
                  </a:extLst>
                </a:gridCol>
              </a:tblGrid>
              <a:tr h="441425">
                <a:tc>
                  <a:txBody>
                    <a:bodyPr/>
                    <a:lstStyle/>
                    <a:p>
                      <a:pPr algn="ctr"/>
                      <a:r>
                        <a:rPr kumimoji="1" lang="ja-JP" altLang="en-US" dirty="0"/>
                        <a:t>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en-US" altLang="ja-JP" dirty="0"/>
                        <a:t>PPAP</a:t>
                      </a:r>
                      <a:r>
                        <a:rPr kumimoji="1" lang="ja-JP" altLang="en-US" dirty="0"/>
                        <a:t>承認をとっている部品の変更時に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814317483"/>
                  </a:ext>
                </a:extLst>
              </a:tr>
              <a:tr h="441425">
                <a:tc>
                  <a:txBody>
                    <a:bodyPr/>
                    <a:lstStyle/>
                    <a:p>
                      <a:pPr algn="ctr"/>
                      <a:r>
                        <a:rPr kumimoji="1" lang="ja-JP" altLang="en-US" dirty="0"/>
                        <a:t>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ja-JP" altLang="en-US" dirty="0"/>
                        <a:t>社内で要求事項に対する承認をし、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580128093"/>
                  </a:ext>
                </a:extLst>
              </a:tr>
              <a:tr h="441425">
                <a:tc>
                  <a:txBody>
                    <a:bodyPr/>
                    <a:lstStyle/>
                    <a:p>
                      <a:pPr algn="ctr"/>
                      <a:r>
                        <a:rPr kumimoji="1" lang="ja-JP" altLang="en-US" dirty="0"/>
                        <a:t>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kumimoji="1" lang="en-US" altLang="ja-JP" dirty="0"/>
                        <a:t>PPAP</a:t>
                      </a:r>
                      <a:r>
                        <a:rPr kumimoji="1" lang="ja-JP" altLang="en-US" dirty="0"/>
                        <a:t>再承認をとる。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9245419"/>
                  </a:ext>
                </a:extLst>
              </a:tr>
            </a:tbl>
          </a:graphicData>
        </a:graphic>
      </p:graphicFrame>
      <p:sp>
        <p:nvSpPr>
          <p:cNvPr id="10" name="矢印: 右 9">
            <a:extLst>
              <a:ext uri="{FF2B5EF4-FFF2-40B4-BE49-F238E27FC236}">
                <a16:creationId xmlns:a16="http://schemas.microsoft.com/office/drawing/2014/main" id="{CD6EB4E4-E9BE-4420-9E83-B0702A487EC9}"/>
              </a:ext>
            </a:extLst>
          </p:cNvPr>
          <p:cNvSpPr/>
          <p:nvPr/>
        </p:nvSpPr>
        <p:spPr>
          <a:xfrm>
            <a:off x="6451600" y="1605280"/>
            <a:ext cx="182880" cy="11379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04030981"/>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メモ 11">
            <a:extLst>
              <a:ext uri="{FF2B5EF4-FFF2-40B4-BE49-F238E27FC236}">
                <a16:creationId xmlns:a16="http://schemas.microsoft.com/office/drawing/2014/main" id="{98213EBB-542A-4018-894A-BC7E7EE0A2C6}"/>
              </a:ext>
            </a:extLst>
          </p:cNvPr>
          <p:cNvSpPr/>
          <p:nvPr/>
        </p:nvSpPr>
        <p:spPr>
          <a:xfrm>
            <a:off x="4455294" y="1822747"/>
            <a:ext cx="3281412" cy="4357715"/>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pPr>
              <a:lnSpc>
                <a:spcPts val="1600"/>
              </a:lnSpc>
            </a:pPr>
            <a:endParaRPr kumimoji="1" lang="en-US" altLang="ja-JP" sz="1600" dirty="0"/>
          </a:p>
          <a:p>
            <a:endParaRPr lang="en-US" altLang="ja-JP" dirty="0"/>
          </a:p>
          <a:p>
            <a:r>
              <a:rPr lang="en-US" altLang="ja-JP" dirty="0"/>
              <a:t>8.4.2.1</a:t>
            </a:r>
            <a:r>
              <a:rPr lang="ja-JP" altLang="en-US" dirty="0"/>
              <a:t>　管理の方式及び程度－補足</a:t>
            </a:r>
            <a:endParaRPr lang="en-US" altLang="ja-JP" dirty="0"/>
          </a:p>
          <a:p>
            <a:r>
              <a:rPr kumimoji="1" lang="en-US" altLang="ja-JP" dirty="0"/>
              <a:t>8.4.2.2</a:t>
            </a:r>
            <a:r>
              <a:rPr kumimoji="1" lang="ja-JP" altLang="en-US" dirty="0"/>
              <a:t>　法令・規制要求事項</a:t>
            </a:r>
            <a:endParaRPr kumimoji="1" lang="en-US" altLang="ja-JP" dirty="0"/>
          </a:p>
          <a:p>
            <a:r>
              <a:rPr lang="en-US" altLang="ja-JP" dirty="0"/>
              <a:t>8.4.2.3</a:t>
            </a:r>
            <a:r>
              <a:rPr lang="ja-JP" altLang="en-US" dirty="0"/>
              <a:t>　供給者の品質マネジメントシステム開発</a:t>
            </a:r>
            <a:endParaRPr lang="en-US" altLang="ja-JP" dirty="0"/>
          </a:p>
          <a:p>
            <a:r>
              <a:rPr kumimoji="1" lang="en-US" altLang="ja-JP" dirty="0"/>
              <a:t>8.4.2.3.1</a:t>
            </a:r>
            <a:r>
              <a:rPr kumimoji="1" lang="ja-JP" altLang="en-US" dirty="0"/>
              <a:t>　自動車製品に関係するソフトウェア又は組込みソフトウェアを持つ製品</a:t>
            </a:r>
            <a:endParaRPr kumimoji="1" lang="en-US" altLang="ja-JP" dirty="0"/>
          </a:p>
          <a:p>
            <a:r>
              <a:rPr lang="en-US" altLang="ja-JP" dirty="0"/>
              <a:t>8.4.2.4</a:t>
            </a:r>
            <a:r>
              <a:rPr lang="ja-JP" altLang="en-US" dirty="0"/>
              <a:t>　供給者の監視</a:t>
            </a:r>
            <a:endParaRPr lang="en-US" altLang="ja-JP" dirty="0"/>
          </a:p>
          <a:p>
            <a:r>
              <a:rPr kumimoji="1" lang="en-US" altLang="ja-JP" dirty="0"/>
              <a:t>8.4.2.4.1</a:t>
            </a:r>
            <a:r>
              <a:rPr kumimoji="1" lang="ja-JP" altLang="en-US" dirty="0"/>
              <a:t>　第二者監査</a:t>
            </a:r>
            <a:endParaRPr kumimoji="1" lang="en-US" altLang="ja-JP" dirty="0"/>
          </a:p>
          <a:p>
            <a:r>
              <a:rPr lang="en-US" altLang="ja-JP" dirty="0"/>
              <a:t>8.4.2.5</a:t>
            </a:r>
            <a:r>
              <a:rPr lang="ja-JP" altLang="en-US" dirty="0"/>
              <a:t>　供給者の開発</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963260"/>
          </a:xfrm>
          <a:solidFill>
            <a:schemeClr val="tx2"/>
          </a:solidFill>
        </p:spPr>
        <p:txBody>
          <a:bodyPr>
            <a:normAutofit fontScale="90000"/>
          </a:bodyPr>
          <a:lstStyle/>
          <a:p>
            <a:r>
              <a:rPr kumimoji="1" lang="en-US" altLang="ja-JP" sz="3600" dirty="0">
                <a:solidFill>
                  <a:schemeClr val="bg1"/>
                </a:solidFill>
              </a:rPr>
              <a:t>8.4</a:t>
            </a:r>
            <a:r>
              <a:rPr kumimoji="1" lang="ja-JP" altLang="en-US" sz="3600" dirty="0">
                <a:solidFill>
                  <a:schemeClr val="bg1"/>
                </a:solidFill>
              </a:rPr>
              <a:t>　外部から提供されるプロセス、製品及びサービスの管理</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822747"/>
            <a:ext cx="3281413" cy="832318"/>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8.4.2</a:t>
            </a:r>
            <a:r>
              <a:rPr lang="ja-JP" altLang="en-US" sz="2000" b="1" dirty="0">
                <a:solidFill>
                  <a:schemeClr val="tx1"/>
                </a:solidFill>
              </a:rPr>
              <a:t>　管理の方式及び程度</a:t>
            </a:r>
            <a:endParaRPr lang="en-US" altLang="ja-JP" sz="2000" b="1" dirty="0">
              <a:solidFill>
                <a:schemeClr val="tx1"/>
              </a:solidFill>
            </a:endParaRPr>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1822747"/>
            <a:ext cx="3281412" cy="3311113"/>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2000" dirty="0"/>
          </a:p>
          <a:p>
            <a:endParaRPr kumimoji="1" lang="en-US" altLang="ja-JP" dirty="0"/>
          </a:p>
          <a:p>
            <a:endParaRPr lang="en-US" altLang="ja-JP" dirty="0"/>
          </a:p>
          <a:p>
            <a:endParaRPr kumimoji="1" lang="en-US" altLang="ja-JP" dirty="0"/>
          </a:p>
          <a:p>
            <a:r>
              <a:rPr kumimoji="1" lang="en-US" altLang="ja-JP" dirty="0"/>
              <a:t>8.4.1.1</a:t>
            </a:r>
            <a:r>
              <a:rPr kumimoji="1" lang="ja-JP" altLang="en-US" dirty="0"/>
              <a:t>　一般－補足</a:t>
            </a:r>
            <a:endParaRPr kumimoji="1" lang="en-US" altLang="ja-JP" dirty="0"/>
          </a:p>
          <a:p>
            <a:r>
              <a:rPr lang="en-US" altLang="ja-JP" dirty="0"/>
              <a:t>8.4.1.2</a:t>
            </a:r>
            <a:r>
              <a:rPr lang="ja-JP" altLang="en-US" dirty="0"/>
              <a:t>　供給者選定プロセス</a:t>
            </a:r>
            <a:endParaRPr lang="en-US" altLang="ja-JP" dirty="0"/>
          </a:p>
          <a:p>
            <a:r>
              <a:rPr kumimoji="1" lang="en-US" altLang="ja-JP" dirty="0"/>
              <a:t>8.4.1.3</a:t>
            </a:r>
            <a:r>
              <a:rPr kumimoji="1" lang="ja-JP" altLang="en-US" dirty="0"/>
              <a:t>　顧客指定の供給者（“指定購買”としても知られる</a:t>
            </a:r>
            <a:r>
              <a:rPr kumimoji="1" lang="ja-JP" altLang="en-US" sz="1600" dirty="0"/>
              <a:t>）</a:t>
            </a:r>
            <a:endParaRPr kumimoji="1" lang="en-US" altLang="ja-JP" sz="1600" dirty="0"/>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822748"/>
            <a:ext cx="3281413" cy="123994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8.4.1</a:t>
            </a:r>
            <a:r>
              <a:rPr kumimoji="1" lang="ja-JP" altLang="en-US" sz="2000" b="1" dirty="0">
                <a:solidFill>
                  <a:schemeClr val="tx1"/>
                </a:solidFill>
              </a:rPr>
              <a:t>　一般</a:t>
            </a:r>
            <a:r>
              <a:rPr kumimoji="1" lang="ja-JP" altLang="en-US" sz="1600" dirty="0">
                <a:solidFill>
                  <a:schemeClr val="tx1"/>
                </a:solidFill>
              </a:rPr>
              <a:t>　</a:t>
            </a:r>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1822747"/>
            <a:ext cx="3281412" cy="281461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sz="2000" dirty="0"/>
          </a:p>
          <a:p>
            <a:endParaRPr lang="en-US" altLang="ja-JP" sz="1600" dirty="0"/>
          </a:p>
          <a:p>
            <a:endParaRPr lang="en-US" altLang="ja-JP" dirty="0"/>
          </a:p>
          <a:p>
            <a:endParaRPr lang="en-US" altLang="ja-JP" dirty="0"/>
          </a:p>
          <a:p>
            <a:endParaRPr lang="en-US" altLang="ja-JP" dirty="0"/>
          </a:p>
          <a:p>
            <a:r>
              <a:rPr lang="en-US" altLang="ja-JP" dirty="0"/>
              <a:t>8.4.3.1</a:t>
            </a:r>
            <a:r>
              <a:rPr lang="ja-JP" altLang="en-US" dirty="0"/>
              <a:t>　外部提供者に対する情報－補足</a:t>
            </a:r>
            <a:endParaRPr lang="en-US" altLang="ja-JP" dirty="0"/>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1822748"/>
            <a:ext cx="3281413" cy="1239942"/>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8.4.3</a:t>
            </a:r>
            <a:r>
              <a:rPr lang="ja-JP" altLang="en-US" sz="2000" b="1" dirty="0">
                <a:solidFill>
                  <a:schemeClr val="tx1"/>
                </a:solidFill>
              </a:rPr>
              <a:t>　外部提供者に対する情報</a:t>
            </a:r>
            <a:endParaRPr lang="en-US" altLang="ja-JP" sz="2000" b="1" dirty="0">
              <a:solidFill>
                <a:schemeClr val="tx1"/>
              </a:solidFill>
            </a:endParaRPr>
          </a:p>
        </p:txBody>
      </p:sp>
    </p:spTree>
    <p:extLst>
      <p:ext uri="{BB962C8B-B14F-4D97-AF65-F5344CB8AC3E}">
        <p14:creationId xmlns:p14="http://schemas.microsoft.com/office/powerpoint/2010/main" val="1264977365"/>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229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00000"/>
              </a:lnSpc>
              <a:buNone/>
            </a:pPr>
            <a:r>
              <a:rPr lang="en-US" altLang="ja-JP" sz="2000" dirty="0" smtClean="0"/>
              <a:t>8.4.1</a:t>
            </a:r>
            <a:r>
              <a:rPr lang="ja-JP" altLang="en-US" sz="2000" dirty="0" smtClean="0"/>
              <a:t>一般</a:t>
            </a:r>
            <a:endParaRPr lang="en-US" altLang="ja-JP" sz="2000" dirty="0" smtClean="0"/>
          </a:p>
          <a:p>
            <a:pPr marL="0" indent="0">
              <a:lnSpc>
                <a:spcPct val="100000"/>
              </a:lnSpc>
              <a:buNone/>
            </a:pPr>
            <a:r>
              <a:rPr lang="ja-JP" altLang="en-US" sz="2000" dirty="0" smtClean="0"/>
              <a:t>①外部から提供されるプロセス・製品・サービスが、要求事項に適合していることを確実にする。</a:t>
            </a:r>
            <a:endParaRPr lang="en-US" altLang="ja-JP" sz="2000" dirty="0"/>
          </a:p>
          <a:p>
            <a:pPr marL="0" indent="0">
              <a:lnSpc>
                <a:spcPct val="100000"/>
              </a:lnSpc>
              <a:buNone/>
            </a:pPr>
            <a:r>
              <a:rPr lang="ja-JP" altLang="en-US" sz="2000" dirty="0" smtClean="0"/>
              <a:t>②次の事項に該当する場合には、外部から提供されるプロセス・製品・サービスに適用する管理を決定する。</a:t>
            </a:r>
            <a:endParaRPr lang="en-US" altLang="ja-JP" sz="2000" dirty="0" smtClean="0"/>
          </a:p>
          <a:p>
            <a:pPr marL="0" indent="0">
              <a:lnSpc>
                <a:spcPct val="100000"/>
              </a:lnSpc>
              <a:buNone/>
            </a:pPr>
            <a:r>
              <a:rPr lang="en-US" altLang="ja-JP" sz="2000" dirty="0" smtClean="0"/>
              <a:t>a)</a:t>
            </a:r>
            <a:r>
              <a:rPr lang="ja-JP" altLang="en-US" sz="2000" dirty="0" smtClean="0"/>
              <a:t>外部提供者からの製品・サービスが、組織の製品・サービスに組み込むことを意図したものである場合</a:t>
            </a:r>
            <a:endParaRPr lang="en-US" altLang="ja-JP" sz="2000" dirty="0" smtClean="0"/>
          </a:p>
          <a:p>
            <a:pPr marL="0" indent="0">
              <a:lnSpc>
                <a:spcPct val="100000"/>
              </a:lnSpc>
              <a:buNone/>
            </a:pPr>
            <a:r>
              <a:rPr lang="en-US" altLang="ja-JP" sz="2000" dirty="0" smtClean="0"/>
              <a:t>b)</a:t>
            </a:r>
            <a:r>
              <a:rPr lang="ja-JP" altLang="en-US" sz="2000" dirty="0" smtClean="0"/>
              <a:t>製品・サービスが外部提供者から直接顧客に提供される場合</a:t>
            </a:r>
            <a:endParaRPr lang="en-US" altLang="ja-JP" sz="2000" dirty="0" smtClean="0"/>
          </a:p>
          <a:p>
            <a:pPr marL="0" indent="0">
              <a:lnSpc>
                <a:spcPct val="100000"/>
              </a:lnSpc>
              <a:buNone/>
            </a:pPr>
            <a:r>
              <a:rPr lang="en-US" altLang="ja-JP" sz="2000" dirty="0" smtClean="0"/>
              <a:t>c)</a:t>
            </a:r>
            <a:r>
              <a:rPr lang="ja-JP" altLang="en-US" sz="2000" dirty="0" smtClean="0"/>
              <a:t>プロセスが外部提供者から提供される場合</a:t>
            </a:r>
            <a:endParaRPr lang="en-US" altLang="ja-JP" sz="2000" dirty="0" smtClean="0"/>
          </a:p>
          <a:p>
            <a:pPr marL="0" indent="0">
              <a:lnSpc>
                <a:spcPct val="100000"/>
              </a:lnSpc>
              <a:buNone/>
            </a:pPr>
            <a:r>
              <a:rPr lang="ja-JP" altLang="en-US" sz="2000" dirty="0" smtClean="0"/>
              <a:t>③プロセス・製品・サービスを提供する外部提供者の能力に基づいて、外部提供者の評価・選択・パフォーマンスの監視・再評価を行うための基準を決定し、適用する。</a:t>
            </a:r>
            <a:endParaRPr lang="en-US" altLang="ja-JP" sz="2000" dirty="0" smtClean="0"/>
          </a:p>
          <a:p>
            <a:pPr marL="0" indent="0">
              <a:lnSpc>
                <a:spcPct val="100000"/>
              </a:lnSpc>
              <a:buNone/>
            </a:pPr>
            <a:r>
              <a:rPr lang="ja-JP" altLang="en-US" sz="2000" dirty="0" smtClean="0"/>
              <a:t>④これらの活動およびその評価によって生じる必要な処置について、文書化した情報を保持する（記録）</a:t>
            </a:r>
            <a:endParaRPr lang="en-US" altLang="ja-JP" sz="20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8.4.1</a:t>
            </a:r>
            <a:r>
              <a:rPr kumimoji="1" lang="ja-JP" altLang="en-US" sz="3000" b="1" dirty="0">
                <a:solidFill>
                  <a:schemeClr val="tx2"/>
                </a:solidFill>
              </a:rPr>
              <a:t>　</a:t>
            </a:r>
            <a:r>
              <a:rPr lang="ja-JP" altLang="en-US" sz="3000" b="1" dirty="0" smtClean="0">
                <a:solidFill>
                  <a:schemeClr val="tx2"/>
                </a:solidFill>
              </a:rPr>
              <a:t>一般　（岩波氏）</a:t>
            </a:r>
            <a:endParaRPr kumimoji="1" lang="ja-JP" altLang="en-US" sz="3000" b="1" dirty="0">
              <a:solidFill>
                <a:schemeClr val="tx2"/>
              </a:solidFill>
            </a:endParaRPr>
          </a:p>
        </p:txBody>
      </p:sp>
    </p:spTree>
    <p:extLst>
      <p:ext uri="{BB962C8B-B14F-4D97-AF65-F5344CB8AC3E}">
        <p14:creationId xmlns:p14="http://schemas.microsoft.com/office/powerpoint/2010/main" val="1016961607"/>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153099"/>
          </a:xfrm>
          <a:ln w="12700">
            <a:solidFill>
              <a:schemeClr val="tx2"/>
            </a:solidFill>
          </a:ln>
        </p:spPr>
        <p:txBody>
          <a:bodyPr>
            <a:normAutofit/>
          </a:bodyPr>
          <a:lstStyle/>
          <a:p>
            <a:pPr marL="0" indent="0">
              <a:lnSpc>
                <a:spcPct val="100000"/>
              </a:lnSpc>
              <a:buNone/>
            </a:pPr>
            <a:r>
              <a:rPr lang="ja-JP" altLang="en-US" sz="2000" dirty="0"/>
              <a:t>☑組織は、サブアセンブリ、整列、選別、手直し及び校正サービスのような、顧客要求事項に影響する全ての製品及びサービスを、外部から提供される製品、プロセス及びサービスの定義の範囲に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8.4.1.1</a:t>
            </a:r>
            <a:r>
              <a:rPr kumimoji="1" lang="ja-JP" altLang="en-US" sz="3000" b="1" dirty="0">
                <a:solidFill>
                  <a:schemeClr val="tx2"/>
                </a:solidFill>
              </a:rPr>
              <a:t>　一般－補足</a:t>
            </a: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923142"/>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8.4.1.1</a:t>
            </a:r>
            <a:r>
              <a:rPr lang="ja-JP" altLang="en-US" sz="3000" b="1" dirty="0">
                <a:solidFill>
                  <a:schemeClr val="bg1"/>
                </a:solidFill>
              </a:rPr>
              <a:t>　一般－補足</a:t>
            </a:r>
          </a:p>
        </p:txBody>
      </p:sp>
      <p:sp>
        <p:nvSpPr>
          <p:cNvPr id="8" name="コンテンツ プレースホルダー 2">
            <a:extLst>
              <a:ext uri="{FF2B5EF4-FFF2-40B4-BE49-F238E27FC236}">
                <a16:creationId xmlns:a16="http://schemas.microsoft.com/office/drawing/2014/main" id="{C14607FE-8CF6-4079-8F20-26CF9576F96C}"/>
              </a:ext>
            </a:extLst>
          </p:cNvPr>
          <p:cNvSpPr txBox="1">
            <a:spLocks/>
          </p:cNvSpPr>
          <p:nvPr/>
        </p:nvSpPr>
        <p:spPr>
          <a:xfrm>
            <a:off x="838200" y="4023259"/>
            <a:ext cx="10515600" cy="233309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いわゆる加工外注先、サービス委託先などで、顧客要求事項に影響する外部提供者を含める。</a:t>
            </a:r>
            <a:endParaRPr lang="en-US" altLang="ja-JP" sz="2400" dirty="0"/>
          </a:p>
          <a:p>
            <a:pPr marL="457200" indent="-457200">
              <a:lnSpc>
                <a:spcPct val="100000"/>
              </a:lnSpc>
              <a:buFont typeface="+mj-lt"/>
              <a:buAutoNum type="arabicPeriod"/>
            </a:pPr>
            <a:r>
              <a:rPr lang="en-US" altLang="ja-JP" sz="2400" dirty="0"/>
              <a:t>ISO9001</a:t>
            </a:r>
            <a:r>
              <a:rPr lang="ja-JP" altLang="en-US" sz="2400" dirty="0"/>
              <a:t>の“グレーゾーン”は要注意。</a:t>
            </a:r>
            <a:r>
              <a:rPr lang="ja-JP" altLang="en-US" sz="2200" dirty="0"/>
              <a:t>（</a:t>
            </a:r>
            <a:r>
              <a:rPr lang="ja-JP" altLang="en-US" sz="2200" dirty="0">
                <a:solidFill>
                  <a:srgbClr val="FF0000"/>
                </a:solidFill>
                <a:effectLst>
                  <a:outerShdw blurRad="38100" dist="38100" dir="2700000" algn="tl">
                    <a:srgbClr val="000000">
                      <a:alpha val="43137"/>
                    </a:srgbClr>
                  </a:outerShdw>
                </a:effectLst>
              </a:rPr>
              <a:t>顧客要求事項に影響する全て</a:t>
            </a:r>
            <a:r>
              <a:rPr lang="ja-JP" altLang="en-US" sz="2200" dirty="0"/>
              <a:t>）</a:t>
            </a:r>
            <a:endParaRPr lang="en-US" altLang="ja-JP" sz="2200" dirty="0"/>
          </a:p>
          <a:p>
            <a:pPr lvl="1">
              <a:lnSpc>
                <a:spcPct val="100000"/>
              </a:lnSpc>
              <a:buFont typeface="Wingdings" panose="05000000000000000000" pitchFamily="2" charset="2"/>
              <a:buChar char="Ø"/>
            </a:pPr>
            <a:r>
              <a:rPr lang="en-US" altLang="ja-JP" sz="2200" dirty="0"/>
              <a:t>9001</a:t>
            </a:r>
            <a:r>
              <a:rPr lang="ja-JP" altLang="en-US" sz="2200" dirty="0"/>
              <a:t>では管理対象から外す場面も見られる相手は要注意。</a:t>
            </a:r>
            <a:endParaRPr lang="en-US" altLang="ja-JP" sz="2200" dirty="0"/>
          </a:p>
          <a:p>
            <a:pPr lvl="1">
              <a:lnSpc>
                <a:spcPct val="100000"/>
              </a:lnSpc>
              <a:buFont typeface="Wingdings" panose="05000000000000000000" pitchFamily="2" charset="2"/>
              <a:buChar char="Ø"/>
            </a:pPr>
            <a:r>
              <a:rPr lang="ja-JP" altLang="en-US" sz="2200" dirty="0"/>
              <a:t>例えば、生産設備のオーバーホール委託先、金型メンテナンス外注など。</a:t>
            </a:r>
          </a:p>
        </p:txBody>
      </p:sp>
    </p:spTree>
    <p:extLst>
      <p:ext uri="{BB962C8B-B14F-4D97-AF65-F5344CB8AC3E}">
        <p14:creationId xmlns:p14="http://schemas.microsoft.com/office/powerpoint/2010/main" val="333361738"/>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00000"/>
              </a:lnSpc>
              <a:buNone/>
            </a:pPr>
            <a:r>
              <a:rPr lang="ja-JP" altLang="en-US" sz="2000" dirty="0"/>
              <a:t>☑組織は、</a:t>
            </a:r>
            <a:r>
              <a:rPr lang="ja-JP" altLang="en-US" sz="2000" b="1" dirty="0"/>
              <a:t>文書化した供給者選定プロセス</a:t>
            </a:r>
            <a:r>
              <a:rPr lang="ja-JP" altLang="en-US" sz="2000" dirty="0"/>
              <a:t>をもたなければならない。</a:t>
            </a:r>
            <a:endParaRPr lang="en-US" altLang="ja-JP" sz="2000" dirty="0"/>
          </a:p>
          <a:p>
            <a:pPr marL="0" indent="0">
              <a:lnSpc>
                <a:spcPct val="100000"/>
              </a:lnSpc>
              <a:buNone/>
            </a:pPr>
            <a:r>
              <a:rPr lang="ja-JP" altLang="en-US" sz="2000" dirty="0"/>
              <a:t>☑選定プロセスには、次の事項を含めなければならない。</a:t>
            </a:r>
            <a:endParaRPr lang="en-US" altLang="ja-JP" sz="2000" dirty="0"/>
          </a:p>
          <a:p>
            <a:pPr marL="800100" lvl="1" indent="-342900">
              <a:lnSpc>
                <a:spcPct val="100000"/>
              </a:lnSpc>
              <a:buFont typeface="+mj-lt"/>
              <a:buAutoNum type="alphaLcPeriod"/>
            </a:pPr>
            <a:r>
              <a:rPr lang="ja-JP" altLang="en-US" sz="2000" dirty="0"/>
              <a:t>選定される供給者の製品適合性及び顧客に対する組織の</a:t>
            </a:r>
            <a:r>
              <a:rPr lang="ja-JP" altLang="en-US" sz="2000" u="sng" dirty="0"/>
              <a:t>製品の途切れない供給に対するリスクの評価</a:t>
            </a:r>
            <a:endParaRPr lang="en-US" altLang="ja-JP" sz="2000" u="sng" dirty="0"/>
          </a:p>
          <a:p>
            <a:pPr marL="800100" lvl="1" indent="-342900">
              <a:lnSpc>
                <a:spcPct val="100000"/>
              </a:lnSpc>
              <a:buFont typeface="+mj-lt"/>
              <a:buAutoNum type="alphaLcPeriod"/>
            </a:pPr>
            <a:r>
              <a:rPr lang="ja-JP" altLang="en-US" sz="2000" dirty="0"/>
              <a:t>関連する</a:t>
            </a:r>
            <a:r>
              <a:rPr lang="ja-JP" altLang="en-US" sz="2000" u="sng" dirty="0"/>
              <a:t>品質及び納入パフォーマンス</a:t>
            </a:r>
            <a:endParaRPr lang="en-US" altLang="ja-JP" sz="2000" u="sng" dirty="0"/>
          </a:p>
          <a:p>
            <a:pPr marL="800100" lvl="1" indent="-342900">
              <a:lnSpc>
                <a:spcPct val="100000"/>
              </a:lnSpc>
              <a:buFont typeface="+mj-lt"/>
              <a:buAutoNum type="alphaLcPeriod"/>
            </a:pPr>
            <a:r>
              <a:rPr lang="ja-JP" altLang="en-US" sz="2000" dirty="0"/>
              <a:t>供給者の</a:t>
            </a:r>
            <a:r>
              <a:rPr lang="ja-JP" altLang="en-US" sz="2000" u="sng" dirty="0"/>
              <a:t>品質マネジメントシステムの評価</a:t>
            </a:r>
            <a:endParaRPr lang="en-US" altLang="ja-JP" sz="2000" u="sng" dirty="0"/>
          </a:p>
          <a:p>
            <a:pPr marL="800100" lvl="1" indent="-342900">
              <a:lnSpc>
                <a:spcPct val="100000"/>
              </a:lnSpc>
              <a:buFont typeface="+mj-lt"/>
              <a:buAutoNum type="alphaLcPeriod"/>
            </a:pPr>
            <a:r>
              <a:rPr lang="ja-JP" altLang="en-US" sz="2000" b="1" dirty="0"/>
              <a:t>部門横断的意思決定</a:t>
            </a:r>
            <a:endParaRPr lang="en-US" altLang="ja-JP" sz="2000" b="1" dirty="0"/>
          </a:p>
          <a:p>
            <a:pPr marL="800100" lvl="1" indent="-342900">
              <a:lnSpc>
                <a:spcPct val="100000"/>
              </a:lnSpc>
              <a:buFont typeface="+mj-lt"/>
              <a:buAutoNum type="alphaLcPeriod"/>
            </a:pPr>
            <a:r>
              <a:rPr lang="ja-JP" altLang="en-US" sz="2000" dirty="0"/>
              <a:t>該当する場合には、必ず、ソフトウェア開発能力の評価</a:t>
            </a:r>
          </a:p>
          <a:p>
            <a:pPr marL="0" indent="0">
              <a:lnSpc>
                <a:spcPct val="100000"/>
              </a:lnSpc>
              <a:buNone/>
            </a:pPr>
            <a:r>
              <a:rPr lang="ja-JP" altLang="en-US" sz="2000" dirty="0"/>
              <a:t>　ほかにも供給者の選定基準には、次の事項を</a:t>
            </a:r>
            <a:r>
              <a:rPr lang="ja-JP" altLang="en-US" sz="2000" u="sng" dirty="0"/>
              <a:t>考慮することが望ましい。</a:t>
            </a:r>
            <a:endParaRPr lang="en-US" altLang="ja-JP" sz="2000" u="sng" dirty="0"/>
          </a:p>
          <a:p>
            <a:pPr lvl="1">
              <a:lnSpc>
                <a:spcPct val="100000"/>
              </a:lnSpc>
            </a:pPr>
            <a:r>
              <a:rPr lang="ja-JP" altLang="en-US" sz="2000" dirty="0"/>
              <a:t>自動車事業の規模（絶対値及び事業全体における割合）</a:t>
            </a:r>
            <a:endParaRPr lang="en-US" altLang="ja-JP" sz="2000" dirty="0"/>
          </a:p>
          <a:p>
            <a:pPr lvl="1">
              <a:lnSpc>
                <a:spcPct val="100000"/>
              </a:lnSpc>
            </a:pPr>
            <a:r>
              <a:rPr lang="ja-JP" altLang="en-US" sz="2000" dirty="0"/>
              <a:t>財務的安定性</a:t>
            </a:r>
            <a:endParaRPr lang="en-US" altLang="ja-JP" sz="2000" dirty="0"/>
          </a:p>
          <a:p>
            <a:pPr lvl="1">
              <a:lnSpc>
                <a:spcPct val="100000"/>
              </a:lnSpc>
            </a:pPr>
            <a:r>
              <a:rPr lang="ja-JP" altLang="en-US" sz="2000" dirty="0"/>
              <a:t>購入された製品、材料、又はサービスの複雑さ</a:t>
            </a:r>
            <a:endParaRPr lang="en-US" altLang="ja-JP" sz="2000" dirty="0"/>
          </a:p>
          <a:p>
            <a:pPr lvl="1">
              <a:lnSpc>
                <a:spcPct val="100000"/>
              </a:lnSpc>
            </a:pPr>
            <a:r>
              <a:rPr lang="ja-JP" altLang="en-US" sz="2000" dirty="0"/>
              <a:t>必要な技術（製品又はプロセス）</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8.4.1.2</a:t>
            </a:r>
            <a:r>
              <a:rPr kumimoji="1" lang="ja-JP" altLang="en-US" sz="3000" b="1" dirty="0">
                <a:solidFill>
                  <a:schemeClr val="tx2"/>
                </a:solidFill>
              </a:rPr>
              <a:t>　供給者選定プロセス</a:t>
            </a:r>
          </a:p>
        </p:txBody>
      </p:sp>
    </p:spTree>
    <p:extLst>
      <p:ext uri="{BB962C8B-B14F-4D97-AF65-F5344CB8AC3E}">
        <p14:creationId xmlns:p14="http://schemas.microsoft.com/office/powerpoint/2010/main" val="2165154702"/>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lvl="1">
              <a:lnSpc>
                <a:spcPct val="100000"/>
              </a:lnSpc>
            </a:pPr>
            <a:r>
              <a:rPr lang="ja-JP" altLang="en-US" sz="2000" dirty="0"/>
              <a:t>利用可能な資源（例　人材、インフラストラクチャ）の適切性</a:t>
            </a:r>
            <a:endParaRPr lang="en-US" altLang="ja-JP" sz="2000" dirty="0"/>
          </a:p>
          <a:p>
            <a:pPr lvl="1">
              <a:lnSpc>
                <a:spcPct val="100000"/>
              </a:lnSpc>
            </a:pPr>
            <a:r>
              <a:rPr lang="ja-JP" altLang="en-US" sz="2000" dirty="0"/>
              <a:t>設計・開発の能力（プロジェクトマネジメントを含む。）</a:t>
            </a:r>
            <a:endParaRPr lang="en-US" altLang="ja-JP" sz="2000" dirty="0"/>
          </a:p>
          <a:p>
            <a:pPr lvl="1">
              <a:lnSpc>
                <a:spcPct val="100000"/>
              </a:lnSpc>
            </a:pPr>
            <a:r>
              <a:rPr lang="ja-JP" altLang="en-US" sz="2000" dirty="0"/>
              <a:t>製造の能力</a:t>
            </a:r>
            <a:endParaRPr lang="en-US" altLang="ja-JP" sz="2000" dirty="0"/>
          </a:p>
          <a:p>
            <a:pPr lvl="1">
              <a:lnSpc>
                <a:spcPct val="100000"/>
              </a:lnSpc>
            </a:pPr>
            <a:r>
              <a:rPr lang="ja-JP" altLang="en-US" sz="2000" dirty="0"/>
              <a:t>変更管理プロセス</a:t>
            </a:r>
            <a:endParaRPr lang="en-US" altLang="ja-JP" sz="2000" dirty="0"/>
          </a:p>
          <a:p>
            <a:pPr lvl="1">
              <a:lnSpc>
                <a:spcPct val="100000"/>
              </a:lnSpc>
            </a:pPr>
            <a:r>
              <a:rPr lang="ja-JP" altLang="en-US" sz="2000" dirty="0"/>
              <a:t>事業継続計画（例　災害への準備、緊急事態対応計画）</a:t>
            </a:r>
            <a:endParaRPr lang="en-US" altLang="ja-JP" sz="2000" dirty="0"/>
          </a:p>
          <a:p>
            <a:pPr lvl="1">
              <a:lnSpc>
                <a:spcPct val="100000"/>
              </a:lnSpc>
            </a:pPr>
            <a:r>
              <a:rPr lang="ja-JP" altLang="en-US" sz="2000" dirty="0"/>
              <a:t>物流プロセス</a:t>
            </a:r>
            <a:endParaRPr lang="en-US" altLang="ja-JP" sz="2000" dirty="0"/>
          </a:p>
          <a:p>
            <a:pPr lvl="1">
              <a:lnSpc>
                <a:spcPct val="100000"/>
              </a:lnSpc>
            </a:pPr>
            <a:r>
              <a:rPr lang="ja-JP" altLang="en-US" sz="2000" dirty="0"/>
              <a:t>顧客サービス</a:t>
            </a:r>
          </a:p>
          <a:p>
            <a:pPr marL="800100" lvl="1" indent="-342900">
              <a:lnSpc>
                <a:spcPct val="100000"/>
              </a:lnSpc>
              <a:buFont typeface="+mj-lt"/>
              <a:buAutoNum type="alphaLcPeriod" startAt="9"/>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8.4.1.2</a:t>
            </a:r>
            <a:r>
              <a:rPr kumimoji="1" lang="ja-JP" altLang="en-US" sz="3000" b="1" dirty="0">
                <a:solidFill>
                  <a:schemeClr val="tx2"/>
                </a:solidFill>
              </a:rPr>
              <a:t>　供給者選定プロセス</a:t>
            </a:r>
          </a:p>
        </p:txBody>
      </p:sp>
    </p:spTree>
    <p:extLst>
      <p:ext uri="{BB962C8B-B14F-4D97-AF65-F5344CB8AC3E}">
        <p14:creationId xmlns:p14="http://schemas.microsoft.com/office/powerpoint/2010/main" val="1665735132"/>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ISO9001</a:t>
            </a:r>
            <a:r>
              <a:rPr lang="ja-JP" altLang="en-US" sz="2400" dirty="0"/>
              <a:t>の供給者選定の要求レベルを超えて、より具体化した。</a:t>
            </a:r>
            <a:endParaRPr lang="en-US" altLang="ja-JP" sz="2400" dirty="0"/>
          </a:p>
          <a:p>
            <a:pPr marL="914400" lvl="1" indent="-457200">
              <a:lnSpc>
                <a:spcPct val="100000"/>
              </a:lnSpc>
              <a:buFont typeface="+mj-lt"/>
              <a:buAutoNum type="alphaLcPeriod"/>
            </a:pPr>
            <a:r>
              <a:rPr lang="ja-JP" altLang="en-US" dirty="0"/>
              <a:t>事業継続におけるリスク分析。</a:t>
            </a:r>
            <a:endParaRPr lang="en-US" altLang="ja-JP" dirty="0"/>
          </a:p>
          <a:p>
            <a:pPr marL="914400" lvl="1" indent="-457200">
              <a:lnSpc>
                <a:spcPct val="100000"/>
              </a:lnSpc>
              <a:buFont typeface="+mj-lt"/>
              <a:buAutoNum type="alphaLcPeriod"/>
            </a:pPr>
            <a:r>
              <a:rPr lang="ja-JP" altLang="en-US" dirty="0"/>
              <a:t>供給者の実績に関する情報。</a:t>
            </a:r>
            <a:endParaRPr lang="en-US" altLang="ja-JP" dirty="0"/>
          </a:p>
          <a:p>
            <a:pPr marL="914400" lvl="1" indent="-457200">
              <a:lnSpc>
                <a:spcPct val="100000"/>
              </a:lnSpc>
              <a:buFont typeface="+mj-lt"/>
              <a:buAutoNum type="alphaLcPeriod"/>
            </a:pPr>
            <a:r>
              <a:rPr lang="en-US" altLang="ja-JP" dirty="0"/>
              <a:t>ISO9001</a:t>
            </a:r>
            <a:r>
              <a:rPr lang="ja-JP" altLang="en-US" dirty="0"/>
              <a:t>　</a:t>
            </a:r>
            <a:r>
              <a:rPr lang="en-US" altLang="ja-JP" dirty="0"/>
              <a:t>or</a:t>
            </a:r>
            <a:r>
              <a:rPr lang="ja-JP" altLang="en-US" dirty="0"/>
              <a:t>　</a:t>
            </a:r>
            <a:r>
              <a:rPr lang="en-US" altLang="ja-JP" dirty="0"/>
              <a:t>IATF16949</a:t>
            </a:r>
            <a:r>
              <a:rPr lang="ja-JP" altLang="en-US" dirty="0"/>
              <a:t>が前提。</a:t>
            </a:r>
            <a:endParaRPr lang="en-US" altLang="ja-JP" dirty="0"/>
          </a:p>
          <a:p>
            <a:pPr marL="914400" lvl="1" indent="-457200">
              <a:lnSpc>
                <a:spcPct val="100000"/>
              </a:lnSpc>
              <a:buFont typeface="+mj-lt"/>
              <a:buAutoNum type="alphaLcPeriod"/>
            </a:pPr>
            <a:r>
              <a:rPr lang="ja-JP" altLang="en-US" dirty="0"/>
              <a:t>購買部門のみの意思決定ではなく、全関連部門の意思決定。</a:t>
            </a:r>
            <a:endParaRPr lang="en-US" altLang="ja-JP" dirty="0"/>
          </a:p>
          <a:p>
            <a:pPr marL="914400" lvl="1" indent="-457200">
              <a:lnSpc>
                <a:spcPct val="100000"/>
              </a:lnSpc>
              <a:buFont typeface="+mj-lt"/>
              <a:buAutoNum type="alphaLcPeriod"/>
            </a:pPr>
            <a:r>
              <a:rPr lang="ja-JP" altLang="en-US" dirty="0"/>
              <a:t>ソフトウェア開発を要求する場合。</a:t>
            </a:r>
            <a:endParaRPr lang="en-US" altLang="ja-JP" dirty="0"/>
          </a:p>
          <a:p>
            <a:pPr marL="457200" indent="-457200">
              <a:lnSpc>
                <a:spcPct val="100000"/>
              </a:lnSpc>
              <a:buFont typeface="+mj-lt"/>
              <a:buAutoNum type="arabicPeriod"/>
            </a:pPr>
            <a:r>
              <a:rPr lang="ja-JP" altLang="en-US" sz="2400" dirty="0"/>
              <a:t>規格の要求の意図は「初回選定」の際の要求であるが、都度「</a:t>
            </a:r>
            <a:r>
              <a:rPr lang="en-US" altLang="ja-JP" sz="2400" dirty="0"/>
              <a:t>2</a:t>
            </a:r>
            <a:r>
              <a:rPr lang="ja-JP" altLang="en-US" sz="2400" dirty="0"/>
              <a:t>社購買」の際の選定に活用することも有効である。</a:t>
            </a:r>
            <a:endParaRPr lang="en-US" altLang="ja-JP" sz="2400" dirty="0"/>
          </a:p>
          <a:p>
            <a:pPr marL="457200" indent="-457200">
              <a:lnSpc>
                <a:spcPct val="100000"/>
              </a:lnSpc>
              <a:buFont typeface="+mj-lt"/>
              <a:buAutoNum type="arabicPeriod"/>
            </a:pPr>
            <a:r>
              <a:rPr lang="ja-JP" altLang="en-US" sz="2400" dirty="0"/>
              <a:t>“望ましい</a:t>
            </a:r>
            <a:r>
              <a:rPr lang="en-US" altLang="ja-JP" sz="2400" dirty="0"/>
              <a:t>11</a:t>
            </a:r>
            <a:r>
              <a:rPr lang="ja-JP" altLang="en-US" sz="2400" dirty="0"/>
              <a:t>項目”　は、取引上必然的に評価する場合がほとんど。</a:t>
            </a:r>
            <a:endParaRPr lang="en-US" altLang="ja-JP" sz="2400" dirty="0"/>
          </a:p>
          <a:p>
            <a:pPr lvl="1">
              <a:lnSpc>
                <a:spcPct val="100000"/>
              </a:lnSpc>
              <a:buFont typeface="Wingdings" panose="05000000000000000000" pitchFamily="2" charset="2"/>
              <a:buChar char="Ø"/>
            </a:pPr>
            <a:r>
              <a:rPr lang="ja-JP" altLang="en-US" sz="2000" dirty="0"/>
              <a:t>経営状態は？　　この精度の加工ができるか？　　予定月産数は可能か？</a:t>
            </a:r>
            <a:endParaRPr lang="en-US" altLang="ja-JP" sz="2000" dirty="0"/>
          </a:p>
          <a:p>
            <a:pPr lvl="1">
              <a:lnSpc>
                <a:spcPct val="100000"/>
              </a:lnSpc>
              <a:buFont typeface="Wingdings" panose="05000000000000000000" pitchFamily="2" charset="2"/>
              <a:buChar char="Ø"/>
            </a:pPr>
            <a:r>
              <a:rPr lang="ja-JP" altLang="en-US" sz="2000" dirty="0"/>
              <a:t>人材？　　</a:t>
            </a:r>
            <a:r>
              <a:rPr lang="en-US" altLang="ja-JP" sz="2000" dirty="0"/>
              <a:t>BCM</a:t>
            </a:r>
            <a:r>
              <a:rPr lang="ja-JP" altLang="en-US" sz="2000" dirty="0"/>
              <a:t>の観点？　　物流条件（立地条件）？</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8.4.1.2</a:t>
            </a:r>
            <a:r>
              <a:rPr lang="ja-JP" altLang="en-US" sz="3000" b="1" dirty="0">
                <a:solidFill>
                  <a:schemeClr val="bg1"/>
                </a:solidFill>
              </a:rPr>
              <a:t>　供給者選定プロセス</a:t>
            </a:r>
            <a:endParaRPr kumimoji="1" lang="ja-JP" altLang="en-US" sz="3000" b="1" dirty="0">
              <a:solidFill>
                <a:schemeClr val="bg1"/>
              </a:solidFill>
            </a:endParaRPr>
          </a:p>
        </p:txBody>
      </p:sp>
    </p:spTree>
    <p:extLst>
      <p:ext uri="{BB962C8B-B14F-4D97-AF65-F5344CB8AC3E}">
        <p14:creationId xmlns:p14="http://schemas.microsoft.com/office/powerpoint/2010/main" val="580864542"/>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850834"/>
          </a:xfrm>
          <a:ln w="12700">
            <a:solidFill>
              <a:schemeClr val="tx2"/>
            </a:solidFill>
          </a:ln>
        </p:spPr>
        <p:txBody>
          <a:bodyPr>
            <a:normAutofit/>
          </a:bodyPr>
          <a:lstStyle/>
          <a:p>
            <a:pPr marL="0" indent="0">
              <a:lnSpc>
                <a:spcPct val="100000"/>
              </a:lnSpc>
              <a:buNone/>
            </a:pPr>
            <a:r>
              <a:rPr lang="ja-JP" altLang="en-US" sz="2000" dirty="0"/>
              <a:t>☑顧客に規定された場合、組織は、製品、材料、又はサービスを顧客指定の供給者から購買しなければならない。</a:t>
            </a:r>
          </a:p>
          <a:p>
            <a:pPr marL="0" indent="0">
              <a:lnSpc>
                <a:spcPct val="100000"/>
              </a:lnSpc>
              <a:buNone/>
            </a:pPr>
            <a:r>
              <a:rPr lang="en-US" altLang="ja-JP" sz="2000" u="sng" dirty="0"/>
              <a:t>8.4</a:t>
            </a:r>
            <a:r>
              <a:rPr lang="ja-JP" altLang="en-US" sz="2000" u="sng" dirty="0"/>
              <a:t>の全ての要求事項（</a:t>
            </a:r>
            <a:r>
              <a:rPr lang="en-US" altLang="ja-JP" sz="2000" u="sng" dirty="0"/>
              <a:t>IATF16949</a:t>
            </a:r>
            <a:r>
              <a:rPr lang="ja-JP" altLang="en-US" sz="2000" u="sng" dirty="0"/>
              <a:t>の</a:t>
            </a:r>
            <a:r>
              <a:rPr lang="en-US" altLang="ja-JP" sz="2000" u="sng" dirty="0"/>
              <a:t>8.4.1.2</a:t>
            </a:r>
            <a:r>
              <a:rPr lang="ja-JP" altLang="en-US" sz="2000" u="sng" dirty="0"/>
              <a:t>の要求事項を除く）は</a:t>
            </a:r>
            <a:r>
              <a:rPr lang="ja-JP" altLang="en-US" sz="2000" dirty="0"/>
              <a:t>、組織と顧客との間で契約によって定められた特定の合意がない限り、組織の顧客指定の供給者の管理に対して、</a:t>
            </a:r>
            <a:r>
              <a:rPr lang="ja-JP" altLang="en-US" sz="2000" u="sng" dirty="0"/>
              <a:t>適用される。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8.4.1.3</a:t>
            </a:r>
            <a:r>
              <a:rPr lang="ja-JP" altLang="en-US" sz="3000" b="1" dirty="0">
                <a:solidFill>
                  <a:schemeClr val="tx2"/>
                </a:solidFill>
              </a:rPr>
              <a:t>　顧客指定の供給者（指定購買）</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57497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8.4.1.3</a:t>
            </a:r>
            <a:r>
              <a:rPr lang="ja-JP" altLang="en-US" sz="3000" b="1" dirty="0">
                <a:solidFill>
                  <a:schemeClr val="bg1"/>
                </a:solidFill>
              </a:rPr>
              <a:t>　顧客指定の供給者（指定購買）</a:t>
            </a:r>
          </a:p>
        </p:txBody>
      </p:sp>
      <p:sp>
        <p:nvSpPr>
          <p:cNvPr id="7" name="コンテンツ プレースホルダー 2">
            <a:extLst>
              <a:ext uri="{FF2B5EF4-FFF2-40B4-BE49-F238E27FC236}">
                <a16:creationId xmlns:a16="http://schemas.microsoft.com/office/drawing/2014/main" id="{27F1674E-BB84-4CE6-973B-2C3046EDEED3}"/>
              </a:ext>
            </a:extLst>
          </p:cNvPr>
          <p:cNvSpPr txBox="1">
            <a:spLocks/>
          </p:cNvSpPr>
          <p:nvPr/>
        </p:nvSpPr>
        <p:spPr>
          <a:xfrm>
            <a:off x="838200" y="4673140"/>
            <a:ext cx="10515600" cy="168321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顧客指定の供給者を使うが、供給者に対する管理は組織が</a:t>
            </a:r>
            <a:r>
              <a:rPr lang="en-US" altLang="ja-JP" sz="2400" dirty="0"/>
              <a:t>8.4</a:t>
            </a:r>
            <a:r>
              <a:rPr lang="ja-JP" altLang="en-US" sz="2400" dirty="0"/>
              <a:t>項（</a:t>
            </a:r>
            <a:r>
              <a:rPr lang="en-US" altLang="ja-JP" sz="2400" dirty="0"/>
              <a:t>8.4.1.2</a:t>
            </a:r>
            <a:r>
              <a:rPr lang="ja-JP" altLang="en-US" sz="2400" dirty="0"/>
              <a:t>除く）に従い実施する。（</a:t>
            </a:r>
            <a:r>
              <a:rPr lang="ja-JP" altLang="en-US" sz="2400" dirty="0">
                <a:solidFill>
                  <a:srgbClr val="FF0000"/>
                </a:solidFill>
                <a:effectLst>
                  <a:outerShdw blurRad="38100" dist="38100" dir="2700000" algn="tl">
                    <a:srgbClr val="000000">
                      <a:alpha val="43137"/>
                    </a:srgbClr>
                  </a:outerShdw>
                </a:effectLst>
              </a:rPr>
              <a:t>組織が責任を持つ</a:t>
            </a:r>
            <a:r>
              <a:rPr lang="ja-JP" altLang="en-US" sz="2400" dirty="0"/>
              <a:t>）</a:t>
            </a:r>
            <a:endParaRPr lang="en-US" altLang="ja-JP" sz="2400" dirty="0"/>
          </a:p>
          <a:p>
            <a:pPr lvl="1">
              <a:lnSpc>
                <a:spcPct val="100000"/>
              </a:lnSpc>
              <a:buFont typeface="Wingdings" panose="05000000000000000000" pitchFamily="2" charset="2"/>
              <a:buChar char="Ø"/>
            </a:pPr>
            <a:r>
              <a:rPr lang="ja-JP" altLang="en-US" sz="2200" dirty="0"/>
              <a:t>例えば、購買先評価、第二者監査など、顧客指定であっても実施する旨留意。</a:t>
            </a:r>
            <a:endParaRPr lang="en-US" altLang="ja-JP" sz="2200" dirty="0"/>
          </a:p>
          <a:p>
            <a:pPr lvl="1">
              <a:lnSpc>
                <a:spcPct val="100000"/>
              </a:lnSpc>
              <a:buFont typeface="Wingdings" panose="05000000000000000000" pitchFamily="2" charset="2"/>
              <a:buChar char="Ø"/>
            </a:pPr>
            <a:r>
              <a:rPr lang="ja-JP" altLang="en-US" sz="2200" dirty="0"/>
              <a:t>「顧客指定」と「顧客調達」の違いに注意。</a:t>
            </a:r>
          </a:p>
        </p:txBody>
      </p:sp>
    </p:spTree>
    <p:extLst>
      <p:ext uri="{BB962C8B-B14F-4D97-AF65-F5344CB8AC3E}">
        <p14:creationId xmlns:p14="http://schemas.microsoft.com/office/powerpoint/2010/main" val="2570606146"/>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smtClean="0"/>
              <a:t>①外部から提供されるプロセス・製品・サービスが、顧客に一貫して適合した製品・適合サービスを引き渡すという、組織の能力に悪影響を及ぼさないことを確実にする。</a:t>
            </a:r>
            <a:endParaRPr lang="en-US" altLang="ja-JP" sz="2000" dirty="0" smtClean="0"/>
          </a:p>
          <a:p>
            <a:pPr marL="0" indent="0">
              <a:lnSpc>
                <a:spcPct val="100000"/>
              </a:lnSpc>
              <a:buNone/>
            </a:pPr>
            <a:r>
              <a:rPr lang="ja-JP" altLang="en-US" sz="2000" dirty="0" smtClean="0"/>
              <a:t>②そのために、次の事項を行う。</a:t>
            </a:r>
            <a:endParaRPr lang="en-US" altLang="ja-JP" sz="2000" dirty="0" smtClean="0"/>
          </a:p>
          <a:p>
            <a:pPr marL="0" indent="0">
              <a:lnSpc>
                <a:spcPct val="100000"/>
              </a:lnSpc>
              <a:buNone/>
            </a:pPr>
            <a:r>
              <a:rPr lang="en-US" altLang="ja-JP" sz="2000" dirty="0" smtClean="0"/>
              <a:t>a)</a:t>
            </a:r>
            <a:r>
              <a:rPr lang="ja-JP" altLang="en-US" sz="2000" dirty="0" smtClean="0"/>
              <a:t>外部から提供されるプロセスを、品質マネジメントシステムの管理下にとどめることを、確実にする</a:t>
            </a:r>
            <a:endParaRPr lang="en-US" altLang="ja-JP" sz="2000" dirty="0" smtClean="0"/>
          </a:p>
          <a:p>
            <a:pPr marL="0" indent="0">
              <a:lnSpc>
                <a:spcPct val="100000"/>
              </a:lnSpc>
              <a:buNone/>
            </a:pPr>
            <a:r>
              <a:rPr lang="en-US" altLang="ja-JP" sz="2000" dirty="0" smtClean="0"/>
              <a:t>b)</a:t>
            </a:r>
            <a:r>
              <a:rPr lang="ja-JP" altLang="en-US" sz="2000" dirty="0" smtClean="0"/>
              <a:t>外部提供およびそのアウトプットの管理を定める。</a:t>
            </a:r>
            <a:endParaRPr lang="en-US" altLang="ja-JP" sz="2000" dirty="0" smtClean="0"/>
          </a:p>
          <a:p>
            <a:pPr marL="0" indent="0">
              <a:lnSpc>
                <a:spcPct val="100000"/>
              </a:lnSpc>
              <a:buNone/>
            </a:pPr>
            <a:r>
              <a:rPr lang="en-US" altLang="ja-JP" sz="2000" dirty="0" smtClean="0"/>
              <a:t>c)</a:t>
            </a:r>
            <a:r>
              <a:rPr lang="ja-JP" altLang="en-US" sz="2000" dirty="0" smtClean="0"/>
              <a:t>次の事項を考慮に入れる。</a:t>
            </a:r>
            <a:endParaRPr lang="en-US" altLang="ja-JP" sz="2000" dirty="0" smtClean="0"/>
          </a:p>
          <a:p>
            <a:pPr marL="0" indent="0">
              <a:lnSpc>
                <a:spcPct val="100000"/>
              </a:lnSpc>
              <a:buNone/>
            </a:pPr>
            <a:r>
              <a:rPr lang="en-US" altLang="ja-JP" sz="2000" dirty="0" smtClean="0"/>
              <a:t>1)</a:t>
            </a:r>
            <a:r>
              <a:rPr lang="ja-JP" altLang="en-US" sz="2000" dirty="0" smtClean="0"/>
              <a:t>外部から提供されるプロセス・製品・サービスが、顧客要求事項および適用される法令・規制要求事項を一貫して満たす組織の能力に与える潜在的な影響</a:t>
            </a:r>
            <a:endParaRPr lang="en-US" altLang="ja-JP" sz="2000" dirty="0" smtClean="0"/>
          </a:p>
          <a:p>
            <a:pPr marL="0" indent="0">
              <a:lnSpc>
                <a:spcPct val="100000"/>
              </a:lnSpc>
              <a:buNone/>
            </a:pPr>
            <a:r>
              <a:rPr lang="en-US" altLang="ja-JP" sz="2000" dirty="0" smtClean="0"/>
              <a:t>2)</a:t>
            </a:r>
            <a:r>
              <a:rPr lang="ja-JP" altLang="en-US" sz="2000" dirty="0" smtClean="0"/>
              <a:t>外部提供者によって適用される管理の有効性</a:t>
            </a:r>
            <a:endParaRPr lang="en-US" altLang="ja-JP" sz="2000" dirty="0" smtClean="0"/>
          </a:p>
          <a:p>
            <a:pPr marL="0" indent="0">
              <a:lnSpc>
                <a:spcPct val="100000"/>
              </a:lnSpc>
              <a:buNone/>
            </a:pPr>
            <a:r>
              <a:rPr lang="en-US" altLang="ja-JP" sz="2000" dirty="0" smtClean="0"/>
              <a:t>d)</a:t>
            </a:r>
            <a:r>
              <a:rPr lang="ja-JP" altLang="en-US" sz="2000" smtClean="0"/>
              <a:t>外部から提供されるプロセス・製品・サービスに対する検証またはその他の活動を明確にする。</a:t>
            </a: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8.4.2</a:t>
            </a:r>
            <a:r>
              <a:rPr kumimoji="1" lang="ja-JP" altLang="en-US" sz="3000" b="1" dirty="0" smtClean="0">
                <a:solidFill>
                  <a:schemeClr val="tx2"/>
                </a:solidFill>
              </a:rPr>
              <a:t>　管理の</a:t>
            </a:r>
            <a:r>
              <a:rPr lang="ja-JP" altLang="en-US" sz="3000" b="1" dirty="0" smtClean="0">
                <a:solidFill>
                  <a:schemeClr val="tx2"/>
                </a:solidFill>
              </a:rPr>
              <a:t>程度（岩波氏）</a:t>
            </a:r>
            <a:endParaRPr kumimoji="1" lang="ja-JP" altLang="en-US" sz="3000" b="1" dirty="0">
              <a:solidFill>
                <a:schemeClr val="tx2"/>
              </a:solidFill>
            </a:endParaRPr>
          </a:p>
        </p:txBody>
      </p:sp>
      <p:sp>
        <p:nvSpPr>
          <p:cNvPr id="2" name="四角形: 角を丸くする 1">
            <a:extLst>
              <a:ext uri="{FF2B5EF4-FFF2-40B4-BE49-F238E27FC236}">
                <a16:creationId xmlns:a16="http://schemas.microsoft.com/office/drawing/2014/main" id="{DB4A92B1-5884-4193-B00F-B8932936F9A3}"/>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7</a:t>
            </a:r>
          </a:p>
        </p:txBody>
      </p:sp>
    </p:spTree>
    <p:extLst>
      <p:ext uri="{BB962C8B-B14F-4D97-AF65-F5344CB8AC3E}">
        <p14:creationId xmlns:p14="http://schemas.microsoft.com/office/powerpoint/2010/main" val="64670066"/>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アウトソースしたプロセスを特定する、並びに、外部から供給される製品、プロセス及びサービスに対し、内部（組織）及び外部顧客の要求事項への適合を検証するために用いる管理の方式及び程度を選定する、</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☑そのプロセスには、</a:t>
            </a:r>
            <a:r>
              <a:rPr lang="ja-JP" altLang="en-US" sz="2000" u="sng" dirty="0"/>
              <a:t>管理の方式及び程度を拡大する又は縮小する判断基準及び処置</a:t>
            </a:r>
            <a:r>
              <a:rPr lang="ja-JP" altLang="en-US" sz="2000" dirty="0"/>
              <a:t>、並びに供給者のパフォーマンス、及び製品、材料又はサービスのリスクの評価に基づく</a:t>
            </a:r>
            <a:r>
              <a:rPr lang="ja-JP" altLang="en-US" sz="2000" u="sng" dirty="0"/>
              <a:t>開発活動を含めなければならない。</a:t>
            </a:r>
            <a:endParaRPr lang="en-US" altLang="ja-JP" sz="2000" u="sng" dirty="0"/>
          </a:p>
          <a:p>
            <a:pPr marL="0" indent="0">
              <a:lnSpc>
                <a:spcPct val="100000"/>
              </a:lnSpc>
              <a:buNone/>
            </a:pPr>
            <a:r>
              <a:rPr lang="ja-JP" altLang="en-US" sz="2000" dirty="0"/>
              <a:t>☑特性又は構成製品が組織の品質マネジメントシステムを、妥当性確認又は管理なしで“パススルー”する場合、組織は製造の時点で適切な管理が行われることを確実にしなければならない。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8.4.2.1</a:t>
            </a:r>
            <a:r>
              <a:rPr kumimoji="1" lang="ja-JP" altLang="en-US" sz="3000" b="1" dirty="0">
                <a:solidFill>
                  <a:schemeClr val="tx2"/>
                </a:solidFill>
              </a:rPr>
              <a:t>　管理の方式及び程度－補足</a:t>
            </a:r>
          </a:p>
        </p:txBody>
      </p:sp>
      <p:sp>
        <p:nvSpPr>
          <p:cNvPr id="2" name="四角形: 角を丸くする 1">
            <a:extLst>
              <a:ext uri="{FF2B5EF4-FFF2-40B4-BE49-F238E27FC236}">
                <a16:creationId xmlns:a16="http://schemas.microsoft.com/office/drawing/2014/main" id="{DB4A92B1-5884-4193-B00F-B8932936F9A3}"/>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7</a:t>
            </a:r>
          </a:p>
        </p:txBody>
      </p:sp>
    </p:spTree>
    <p:extLst>
      <p:ext uri="{BB962C8B-B14F-4D97-AF65-F5344CB8AC3E}">
        <p14:creationId xmlns:p14="http://schemas.microsoft.com/office/powerpoint/2010/main" val="578515618"/>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“管理の方式及び程度を拡大する又は縮小する・・・”</a:t>
            </a:r>
            <a:endParaRPr lang="en-US" altLang="ja-JP" sz="2400" dirty="0"/>
          </a:p>
          <a:p>
            <a:pPr lvl="1">
              <a:lnSpc>
                <a:spcPct val="100000"/>
              </a:lnSpc>
              <a:buFont typeface="Wingdings" panose="05000000000000000000" pitchFamily="2" charset="2"/>
              <a:buChar char="Ø"/>
            </a:pPr>
            <a:r>
              <a:rPr lang="ja-JP" altLang="en-US" dirty="0"/>
              <a:t>供給者に対する管理の方式及び程度は、供給者のパフォーマンス及び製品のリスク評価により変化（拡大及び縮小）する。</a:t>
            </a:r>
            <a:endParaRPr lang="en-US" altLang="ja-JP" dirty="0"/>
          </a:p>
          <a:p>
            <a:pPr marL="914400" lvl="2" indent="0">
              <a:lnSpc>
                <a:spcPct val="100000"/>
              </a:lnSpc>
              <a:buNone/>
            </a:pPr>
            <a:r>
              <a:rPr lang="ja-JP" altLang="en-US" sz="2400" dirty="0"/>
              <a:t>例えば、</a:t>
            </a:r>
            <a:endParaRPr lang="en-US" altLang="ja-JP" sz="2400" dirty="0"/>
          </a:p>
          <a:p>
            <a:pPr marL="914400" lvl="2" indent="0">
              <a:lnSpc>
                <a:spcPct val="100000"/>
              </a:lnSpc>
              <a:buNone/>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r>
              <a:rPr lang="ja-JP" altLang="en-US" sz="2400" dirty="0"/>
              <a:t>供給者の管理は固定的なものではなく、経時的（供給者の状況）に常に変化する（させるべき）もの。</a:t>
            </a:r>
            <a:endParaRPr lang="en-US" altLang="ja-JP" sz="2400" dirty="0"/>
          </a:p>
          <a:p>
            <a:pPr lvl="1">
              <a:lnSpc>
                <a:spcPct val="100000"/>
              </a:lnSpc>
              <a:buFont typeface="Wingdings" panose="05000000000000000000" pitchFamily="2" charset="2"/>
              <a:buChar char="Ø"/>
            </a:pPr>
            <a:r>
              <a:rPr lang="en-US" altLang="ja-JP" dirty="0">
                <a:solidFill>
                  <a:srgbClr val="FF0000"/>
                </a:solidFill>
                <a:effectLst>
                  <a:outerShdw blurRad="38100" dist="38100" dir="2700000" algn="tl">
                    <a:srgbClr val="000000">
                      <a:alpha val="43137"/>
                    </a:srgbClr>
                  </a:outerShdw>
                </a:effectLst>
              </a:rPr>
              <a:t>8.6.4</a:t>
            </a:r>
            <a:r>
              <a:rPr lang="ja-JP" altLang="en-US" dirty="0">
                <a:solidFill>
                  <a:srgbClr val="FF0000"/>
                </a:solidFill>
                <a:effectLst>
                  <a:outerShdw blurRad="38100" dist="38100" dir="2700000" algn="tl">
                    <a:srgbClr val="000000">
                      <a:alpha val="43137"/>
                    </a:srgbClr>
                  </a:outerShdw>
                </a:effectLst>
              </a:rPr>
              <a:t>で要求された検証及び受入れ事項のどれを選択するか</a:t>
            </a:r>
            <a:r>
              <a:rPr lang="ja-JP" altLang="en-US" dirty="0"/>
              <a:t>ということ。</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8.4.2.1</a:t>
            </a:r>
            <a:r>
              <a:rPr lang="ja-JP" altLang="en-US" sz="3000" b="1" dirty="0">
                <a:solidFill>
                  <a:schemeClr val="bg1"/>
                </a:solidFill>
              </a:rPr>
              <a:t>　管理の方式及び程度－補足</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7E867974-A624-47AD-A7A8-8D7B631C81B8}"/>
              </a:ext>
            </a:extLst>
          </p:cNvPr>
          <p:cNvGraphicFramePr>
            <a:graphicFrameLocks noGrp="1"/>
          </p:cNvGraphicFramePr>
          <p:nvPr>
            <p:extLst>
              <p:ext uri="{D42A27DB-BD31-4B8C-83A1-F6EECF244321}">
                <p14:modId xmlns:p14="http://schemas.microsoft.com/office/powerpoint/2010/main" val="1953383821"/>
              </p:ext>
            </p:extLst>
          </p:nvPr>
        </p:nvGraphicFramePr>
        <p:xfrm>
          <a:off x="1843182" y="3126506"/>
          <a:ext cx="9184701" cy="1753966"/>
        </p:xfrm>
        <a:graphic>
          <a:graphicData uri="http://schemas.openxmlformats.org/drawingml/2006/table">
            <a:tbl>
              <a:tblPr firstRow="1" bandRow="1">
                <a:tableStyleId>{5940675A-B579-460E-94D1-54222C63F5DA}</a:tableStyleId>
              </a:tblPr>
              <a:tblGrid>
                <a:gridCol w="2607632">
                  <a:extLst>
                    <a:ext uri="{9D8B030D-6E8A-4147-A177-3AD203B41FA5}">
                      <a16:colId xmlns:a16="http://schemas.microsoft.com/office/drawing/2014/main" val="898274721"/>
                    </a:ext>
                  </a:extLst>
                </a:gridCol>
                <a:gridCol w="6577069">
                  <a:extLst>
                    <a:ext uri="{9D8B030D-6E8A-4147-A177-3AD203B41FA5}">
                      <a16:colId xmlns:a16="http://schemas.microsoft.com/office/drawing/2014/main" val="643075857"/>
                    </a:ext>
                  </a:extLst>
                </a:gridCol>
              </a:tblGrid>
              <a:tr h="876983">
                <a:tc>
                  <a:txBody>
                    <a:bodyPr/>
                    <a:lstStyle/>
                    <a:p>
                      <a:r>
                        <a:rPr kumimoji="1" lang="ja-JP" altLang="en-US" sz="2200" dirty="0"/>
                        <a:t>品質レベル低下</a:t>
                      </a:r>
                    </a:p>
                  </a:txBody>
                  <a:tcPr anchor="ctr">
                    <a:solidFill>
                      <a:schemeClr val="tx2">
                        <a:lumMod val="20000"/>
                        <a:lumOff val="80000"/>
                      </a:schemeClr>
                    </a:solidFill>
                  </a:tcPr>
                </a:tc>
                <a:tc>
                  <a:txBody>
                    <a:bodyPr/>
                    <a:lstStyle/>
                    <a:p>
                      <a:r>
                        <a:rPr kumimoji="1" lang="ja-JP" altLang="en-US" sz="2200" dirty="0"/>
                        <a:t>・第</a:t>
                      </a:r>
                      <a:r>
                        <a:rPr kumimoji="1" lang="en-US" altLang="ja-JP" sz="2200" dirty="0"/>
                        <a:t>2</a:t>
                      </a:r>
                      <a:r>
                        <a:rPr kumimoji="1" lang="ja-JP" altLang="en-US" sz="2200" dirty="0"/>
                        <a:t>社監査の実施</a:t>
                      </a:r>
                      <a:endParaRPr kumimoji="1" lang="en-US" altLang="ja-JP" sz="2200" dirty="0"/>
                    </a:p>
                    <a:p>
                      <a:r>
                        <a:rPr kumimoji="1" lang="ja-JP" altLang="en-US" sz="2200" dirty="0"/>
                        <a:t>・全数検査の実施要求</a:t>
                      </a:r>
                    </a:p>
                  </a:txBody>
                  <a:tcPr anchor="ctr">
                    <a:solidFill>
                      <a:schemeClr val="tx2">
                        <a:lumMod val="20000"/>
                        <a:lumOff val="80000"/>
                      </a:schemeClr>
                    </a:solidFill>
                  </a:tcPr>
                </a:tc>
                <a:extLst>
                  <a:ext uri="{0D108BD9-81ED-4DB2-BD59-A6C34878D82A}">
                    <a16:rowId xmlns:a16="http://schemas.microsoft.com/office/drawing/2014/main" val="3704472114"/>
                  </a:ext>
                </a:extLst>
              </a:tr>
              <a:tr h="876983">
                <a:tc>
                  <a:txBody>
                    <a:bodyPr/>
                    <a:lstStyle/>
                    <a:p>
                      <a:r>
                        <a:rPr kumimoji="1" lang="ja-JP" altLang="en-US" sz="2200" dirty="0"/>
                        <a:t>品質レベル向上</a:t>
                      </a:r>
                    </a:p>
                  </a:txBody>
                  <a:tcPr anchor="ctr">
                    <a:solidFill>
                      <a:schemeClr val="tx2">
                        <a:lumMod val="20000"/>
                        <a:lumOff val="80000"/>
                      </a:schemeClr>
                    </a:solidFill>
                  </a:tcPr>
                </a:tc>
                <a:tc>
                  <a:txBody>
                    <a:bodyPr/>
                    <a:lstStyle/>
                    <a:p>
                      <a:r>
                        <a:rPr kumimoji="1" lang="ja-JP" altLang="en-US" sz="2200" dirty="0"/>
                        <a:t>・第</a:t>
                      </a:r>
                      <a:r>
                        <a:rPr kumimoji="1" lang="en-US" altLang="ja-JP" sz="2200" dirty="0"/>
                        <a:t>2</a:t>
                      </a:r>
                      <a:r>
                        <a:rPr kumimoji="1" lang="ja-JP" altLang="en-US" sz="2200" dirty="0"/>
                        <a:t>社監査の簡略化（自己診断）</a:t>
                      </a:r>
                      <a:endParaRPr kumimoji="1" lang="en-US" altLang="ja-JP" sz="2200" dirty="0"/>
                    </a:p>
                    <a:p>
                      <a:r>
                        <a:rPr kumimoji="1" lang="ja-JP" altLang="en-US" sz="2200" dirty="0"/>
                        <a:t>・供給者の統計データ受領のみ</a:t>
                      </a:r>
                    </a:p>
                  </a:txBody>
                  <a:tcPr anchor="ctr">
                    <a:solidFill>
                      <a:schemeClr val="tx2">
                        <a:lumMod val="20000"/>
                        <a:lumOff val="80000"/>
                      </a:schemeClr>
                    </a:solidFill>
                  </a:tcPr>
                </a:tc>
                <a:extLst>
                  <a:ext uri="{0D108BD9-81ED-4DB2-BD59-A6C34878D82A}">
                    <a16:rowId xmlns:a16="http://schemas.microsoft.com/office/drawing/2014/main" val="1477024405"/>
                  </a:ext>
                </a:extLst>
              </a:tr>
            </a:tbl>
          </a:graphicData>
        </a:graphic>
      </p:graphicFrame>
      <p:sp>
        <p:nvSpPr>
          <p:cNvPr id="3" name="吹き出し: 角を丸めた四角形 2">
            <a:extLst>
              <a:ext uri="{FF2B5EF4-FFF2-40B4-BE49-F238E27FC236}">
                <a16:creationId xmlns:a16="http://schemas.microsoft.com/office/drawing/2014/main" id="{0B3E338D-ABA0-417D-A49B-B9BE6428B7D6}"/>
              </a:ext>
            </a:extLst>
          </p:cNvPr>
          <p:cNvSpPr/>
          <p:nvPr/>
        </p:nvSpPr>
        <p:spPr>
          <a:xfrm>
            <a:off x="8026400" y="465856"/>
            <a:ext cx="3327400" cy="854075"/>
          </a:xfrm>
          <a:prstGeom prst="wedgeRoundRectCallout">
            <a:avLst>
              <a:gd name="adj1" fmla="val -39681"/>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ISO9001</a:t>
            </a:r>
            <a:r>
              <a:rPr kumimoji="1" lang="ja-JP" altLang="en-US" dirty="0">
                <a:solidFill>
                  <a:schemeClr val="tx1"/>
                </a:solidFill>
              </a:rPr>
              <a:t>要求事項の延長で当然実施すること。</a:t>
            </a:r>
          </a:p>
        </p:txBody>
      </p:sp>
    </p:spTree>
    <p:extLst>
      <p:ext uri="{BB962C8B-B14F-4D97-AF65-F5344CB8AC3E}">
        <p14:creationId xmlns:p14="http://schemas.microsoft.com/office/powerpoint/2010/main" val="3316172498"/>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77108"/>
            <a:ext cx="10515600" cy="2051892"/>
          </a:xfrm>
          <a:ln w="12700">
            <a:solidFill>
              <a:schemeClr val="tx2"/>
            </a:solidFill>
          </a:ln>
        </p:spPr>
        <p:txBody>
          <a:bodyPr>
            <a:normAutofit/>
          </a:bodyPr>
          <a:lstStyle/>
          <a:p>
            <a:pPr marL="0" indent="0">
              <a:lnSpc>
                <a:spcPct val="100000"/>
              </a:lnSpc>
              <a:buNone/>
            </a:pPr>
            <a:r>
              <a:rPr lang="ja-JP" altLang="en-US" sz="2000" dirty="0"/>
              <a:t>☑組織は、購入した製品、プロセス及びサービスが、</a:t>
            </a:r>
            <a:r>
              <a:rPr lang="ja-JP" altLang="en-US" sz="2000" u="sng" dirty="0"/>
              <a:t>受入国、出荷国及び顧客に特定された仕向国の現在該当する法令・規制要求事項が提供されれば、その要求事項に適合することを確実にする</a:t>
            </a:r>
            <a:r>
              <a:rPr lang="ja-JP" altLang="en-US" sz="2000" b="1" dirty="0"/>
              <a:t>プロセスを文書化</a:t>
            </a:r>
            <a:r>
              <a:rPr lang="ja-JP" altLang="en-US" sz="2000" dirty="0"/>
              <a:t>しなければならない。</a:t>
            </a:r>
            <a:endParaRPr lang="en-US" altLang="ja-JP" sz="2000" dirty="0"/>
          </a:p>
          <a:p>
            <a:pPr marL="0" indent="0">
              <a:lnSpc>
                <a:spcPct val="100000"/>
              </a:lnSpc>
              <a:buNone/>
            </a:pPr>
            <a:r>
              <a:rPr lang="ja-JP" altLang="en-US" sz="2000" dirty="0"/>
              <a:t>☑</a:t>
            </a:r>
            <a:r>
              <a:rPr lang="ja-JP" altLang="en-US" sz="2000" u="sng" dirty="0"/>
              <a:t>顧客が、法令・規制要求事項をもつ製品に対して特別管理を定めているならば</a:t>
            </a:r>
            <a:r>
              <a:rPr lang="ja-JP" altLang="en-US" sz="2000" dirty="0"/>
              <a:t>、組織は、供給者で管理する場合を含めて、</a:t>
            </a:r>
            <a:r>
              <a:rPr lang="ja-JP" altLang="en-US" sz="2000" u="sng" dirty="0"/>
              <a:t>定められたとおりに実施し、維持する</a:t>
            </a:r>
            <a:r>
              <a:rPr lang="ja-JP" altLang="en-US" sz="2000" dirty="0"/>
              <a:t>ことを確実にしなければならない。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8.4.2.2</a:t>
            </a:r>
            <a:r>
              <a:rPr kumimoji="1" lang="ja-JP" altLang="en-US" sz="3000" b="1" dirty="0">
                <a:solidFill>
                  <a:schemeClr val="tx2"/>
                </a:solidFill>
              </a:rPr>
              <a:t>　法令・規制要求事項</a:t>
            </a:r>
          </a:p>
        </p:txBody>
      </p:sp>
      <p:sp>
        <p:nvSpPr>
          <p:cNvPr id="6" name="タイトル 1">
            <a:extLst>
              <a:ext uri="{FF2B5EF4-FFF2-40B4-BE49-F238E27FC236}">
                <a16:creationId xmlns:a16="http://schemas.microsoft.com/office/drawing/2014/main" id="{D4E7A25C-7D37-4A2F-B85E-368ACF1BF358}"/>
              </a:ext>
            </a:extLst>
          </p:cNvPr>
          <p:cNvSpPr txBox="1">
            <a:spLocks/>
          </p:cNvSpPr>
          <p:nvPr/>
        </p:nvSpPr>
        <p:spPr>
          <a:xfrm>
            <a:off x="838200" y="3586908"/>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8.4.2.2</a:t>
            </a:r>
            <a:r>
              <a:rPr lang="ja-JP" altLang="en-US" sz="3000" b="1" dirty="0">
                <a:solidFill>
                  <a:schemeClr val="bg1"/>
                </a:solidFill>
              </a:rPr>
              <a:t>　法令・規制要求事項</a:t>
            </a:r>
          </a:p>
        </p:txBody>
      </p:sp>
      <p:sp>
        <p:nvSpPr>
          <p:cNvPr id="7" name="コンテンツ プレースホルダー 2">
            <a:extLst>
              <a:ext uri="{FF2B5EF4-FFF2-40B4-BE49-F238E27FC236}">
                <a16:creationId xmlns:a16="http://schemas.microsoft.com/office/drawing/2014/main" id="{AEE844C3-6161-466D-A97B-CE63B03148EF}"/>
              </a:ext>
            </a:extLst>
          </p:cNvPr>
          <p:cNvSpPr txBox="1">
            <a:spLocks/>
          </p:cNvSpPr>
          <p:nvPr/>
        </p:nvSpPr>
        <p:spPr>
          <a:xfrm>
            <a:off x="838200" y="4598890"/>
            <a:ext cx="10515600" cy="1757460"/>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製品が関わる全ての国と地域の法令等への対応が必要となる。</a:t>
            </a:r>
            <a:endParaRPr lang="en-US" altLang="ja-JP" sz="2400" dirty="0"/>
          </a:p>
          <a:p>
            <a:pPr marL="457200" indent="-457200">
              <a:lnSpc>
                <a:spcPct val="100000"/>
              </a:lnSpc>
              <a:buFont typeface="+mj-lt"/>
              <a:buAutoNum type="arabicPeriod"/>
            </a:pPr>
            <a:r>
              <a:rPr lang="ja-JP" altLang="en-US" sz="2400" dirty="0"/>
              <a:t>現実的には、次の方法での情報入手が基本。</a:t>
            </a:r>
            <a:endParaRPr lang="en-US" altLang="ja-JP" sz="2400" dirty="0"/>
          </a:p>
          <a:p>
            <a:pPr marL="914400" lvl="1" indent="-45720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顧客固有要求事項による</a:t>
            </a:r>
            <a:r>
              <a:rPr lang="ja-JP" altLang="en-US" dirty="0"/>
              <a:t>。（顧客の要求文書への記載）</a:t>
            </a:r>
            <a:endParaRPr lang="en-US" altLang="ja-JP" dirty="0"/>
          </a:p>
          <a:p>
            <a:pPr marL="914400" lvl="1" indent="-457200">
              <a:lnSpc>
                <a:spcPct val="100000"/>
              </a:lnSpc>
              <a:buFont typeface="+mj-ea"/>
              <a:buAutoNum type="circleNumDbPlain"/>
            </a:pPr>
            <a:r>
              <a:rPr lang="ja-JP" altLang="en-US" dirty="0"/>
              <a:t>顧客担当者（技術部門など）への確認。</a:t>
            </a:r>
            <a:endParaRPr lang="en-US" altLang="ja-JP" dirty="0"/>
          </a:p>
        </p:txBody>
      </p:sp>
      <p:sp>
        <p:nvSpPr>
          <p:cNvPr id="2" name="吹き出し: 角を丸めた四角形 1">
            <a:extLst>
              <a:ext uri="{FF2B5EF4-FFF2-40B4-BE49-F238E27FC236}">
                <a16:creationId xmlns:a16="http://schemas.microsoft.com/office/drawing/2014/main" id="{A8BCD649-23BB-4EB1-9C18-3C2B2A94F4DB}"/>
              </a:ext>
            </a:extLst>
          </p:cNvPr>
          <p:cNvSpPr/>
          <p:nvPr/>
        </p:nvSpPr>
        <p:spPr>
          <a:xfrm>
            <a:off x="6939280" y="3653375"/>
            <a:ext cx="4114800" cy="854075"/>
          </a:xfrm>
          <a:prstGeom prst="wedgeRoundRectCallout">
            <a:avLst>
              <a:gd name="adj1" fmla="val -39681"/>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rPr>
              <a:t>Tier3~4</a:t>
            </a:r>
            <a:r>
              <a:rPr lang="ja-JP" altLang="en-US" dirty="0">
                <a:solidFill>
                  <a:schemeClr val="tx1"/>
                </a:solidFill>
              </a:rPr>
              <a:t>レベルの組織は、全て</a:t>
            </a:r>
            <a:r>
              <a:rPr lang="en-US" altLang="ja-JP" dirty="0">
                <a:solidFill>
                  <a:schemeClr val="tx1"/>
                </a:solidFill>
              </a:rPr>
              <a:t>CSR</a:t>
            </a:r>
            <a:r>
              <a:rPr lang="ja-JP" altLang="en-US" dirty="0">
                <a:solidFill>
                  <a:schemeClr val="tx1"/>
                </a:solidFill>
              </a:rPr>
              <a:t>による対応で問題ないはず。</a:t>
            </a:r>
            <a:endParaRPr kumimoji="1" lang="ja-JP" altLang="en-US" dirty="0">
              <a:solidFill>
                <a:schemeClr val="tx1"/>
              </a:solidFill>
            </a:endParaRPr>
          </a:p>
        </p:txBody>
      </p:sp>
    </p:spTree>
    <p:extLst>
      <p:ext uri="{BB962C8B-B14F-4D97-AF65-F5344CB8AC3E}">
        <p14:creationId xmlns:p14="http://schemas.microsoft.com/office/powerpoint/2010/main" val="612976218"/>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安全その他の法規制と特殊特性対象部品との関係</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239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8.4.2.2</a:t>
            </a:r>
            <a:r>
              <a:rPr lang="ja-JP" altLang="en-US" sz="3000" b="1" dirty="0">
                <a:solidFill>
                  <a:schemeClr val="bg1"/>
                </a:solidFill>
              </a:rPr>
              <a:t>　法令・規制要求事項</a:t>
            </a:r>
          </a:p>
        </p:txBody>
      </p:sp>
      <p:graphicFrame>
        <p:nvGraphicFramePr>
          <p:cNvPr id="2" name="表 1">
            <a:extLst>
              <a:ext uri="{FF2B5EF4-FFF2-40B4-BE49-F238E27FC236}">
                <a16:creationId xmlns:a16="http://schemas.microsoft.com/office/drawing/2014/main" id="{D38D0087-8DE5-4A9E-B3DE-F98A5E2822C9}"/>
              </a:ext>
            </a:extLst>
          </p:cNvPr>
          <p:cNvGraphicFramePr>
            <a:graphicFrameLocks noGrp="1"/>
          </p:cNvGraphicFramePr>
          <p:nvPr>
            <p:extLst>
              <p:ext uri="{D42A27DB-BD31-4B8C-83A1-F6EECF244321}">
                <p14:modId xmlns:p14="http://schemas.microsoft.com/office/powerpoint/2010/main" val="3906522457"/>
              </p:ext>
            </p:extLst>
          </p:nvPr>
        </p:nvGraphicFramePr>
        <p:xfrm>
          <a:off x="838199" y="1961002"/>
          <a:ext cx="10515600" cy="4395339"/>
        </p:xfrm>
        <a:graphic>
          <a:graphicData uri="http://schemas.openxmlformats.org/drawingml/2006/table">
            <a:tbl>
              <a:tblPr firstRow="1" bandRow="1">
                <a:tableStyleId>{5940675A-B579-460E-94D1-54222C63F5DA}</a:tableStyleId>
              </a:tblPr>
              <a:tblGrid>
                <a:gridCol w="5243112">
                  <a:extLst>
                    <a:ext uri="{9D8B030D-6E8A-4147-A177-3AD203B41FA5}">
                      <a16:colId xmlns:a16="http://schemas.microsoft.com/office/drawing/2014/main" val="3347566294"/>
                    </a:ext>
                  </a:extLst>
                </a:gridCol>
                <a:gridCol w="1355075">
                  <a:extLst>
                    <a:ext uri="{9D8B030D-6E8A-4147-A177-3AD203B41FA5}">
                      <a16:colId xmlns:a16="http://schemas.microsoft.com/office/drawing/2014/main" val="3547777496"/>
                    </a:ext>
                  </a:extLst>
                </a:gridCol>
                <a:gridCol w="1322024">
                  <a:extLst>
                    <a:ext uri="{9D8B030D-6E8A-4147-A177-3AD203B41FA5}">
                      <a16:colId xmlns:a16="http://schemas.microsoft.com/office/drawing/2014/main" val="2298356989"/>
                    </a:ext>
                  </a:extLst>
                </a:gridCol>
                <a:gridCol w="1322024">
                  <a:extLst>
                    <a:ext uri="{9D8B030D-6E8A-4147-A177-3AD203B41FA5}">
                      <a16:colId xmlns:a16="http://schemas.microsoft.com/office/drawing/2014/main" val="2407033941"/>
                    </a:ext>
                  </a:extLst>
                </a:gridCol>
                <a:gridCol w="1273365">
                  <a:extLst>
                    <a:ext uri="{9D8B030D-6E8A-4147-A177-3AD203B41FA5}">
                      <a16:colId xmlns:a16="http://schemas.microsoft.com/office/drawing/2014/main" val="1234909192"/>
                    </a:ext>
                  </a:extLst>
                </a:gridCol>
              </a:tblGrid>
              <a:tr h="488371">
                <a:tc>
                  <a:txBody>
                    <a:bodyPr/>
                    <a:lstStyle/>
                    <a:p>
                      <a:pPr algn="ctr"/>
                      <a:r>
                        <a:rPr kumimoji="1" lang="ja-JP" altLang="en-US" sz="2200" dirty="0"/>
                        <a:t>対象部品</a:t>
                      </a:r>
                    </a:p>
                  </a:txBody>
                  <a:tcPr anchor="ctr">
                    <a:solidFill>
                      <a:schemeClr val="tx2">
                        <a:lumMod val="20000"/>
                        <a:lumOff val="80000"/>
                      </a:schemeClr>
                    </a:solidFill>
                  </a:tcPr>
                </a:tc>
                <a:tc>
                  <a:txBody>
                    <a:bodyPr/>
                    <a:lstStyle/>
                    <a:p>
                      <a:pPr algn="ctr"/>
                      <a:r>
                        <a:rPr kumimoji="1" lang="ja-JP" altLang="en-US" sz="2200" dirty="0"/>
                        <a:t>安全</a:t>
                      </a:r>
                    </a:p>
                  </a:txBody>
                  <a:tcPr anchor="ctr">
                    <a:solidFill>
                      <a:schemeClr val="tx2">
                        <a:lumMod val="20000"/>
                        <a:lumOff val="80000"/>
                      </a:schemeClr>
                    </a:solidFill>
                  </a:tcPr>
                </a:tc>
                <a:tc>
                  <a:txBody>
                    <a:bodyPr/>
                    <a:lstStyle/>
                    <a:p>
                      <a:pPr algn="ctr"/>
                      <a:r>
                        <a:rPr kumimoji="1" lang="ja-JP" altLang="en-US" sz="2200" dirty="0"/>
                        <a:t>火災</a:t>
                      </a:r>
                    </a:p>
                  </a:txBody>
                  <a:tcPr anchor="ctr">
                    <a:solidFill>
                      <a:schemeClr val="tx2">
                        <a:lumMod val="20000"/>
                        <a:lumOff val="80000"/>
                      </a:schemeClr>
                    </a:solidFill>
                  </a:tcPr>
                </a:tc>
                <a:tc>
                  <a:txBody>
                    <a:bodyPr/>
                    <a:lstStyle/>
                    <a:p>
                      <a:pPr algn="ctr"/>
                      <a:r>
                        <a:rPr kumimoji="1" lang="ja-JP" altLang="en-US" sz="2200" dirty="0"/>
                        <a:t>環境</a:t>
                      </a:r>
                    </a:p>
                  </a:txBody>
                  <a:tcPr anchor="ctr">
                    <a:solidFill>
                      <a:schemeClr val="tx2">
                        <a:lumMod val="20000"/>
                        <a:lumOff val="80000"/>
                      </a:schemeClr>
                    </a:solidFill>
                  </a:tcPr>
                </a:tc>
                <a:tc>
                  <a:txBody>
                    <a:bodyPr/>
                    <a:lstStyle/>
                    <a:p>
                      <a:pPr algn="ctr"/>
                      <a:r>
                        <a:rPr kumimoji="1" lang="ja-JP" altLang="en-US" sz="2200" dirty="0"/>
                        <a:t>電磁波</a:t>
                      </a:r>
                    </a:p>
                  </a:txBody>
                  <a:tcPr anchor="ctr">
                    <a:solidFill>
                      <a:schemeClr val="tx2">
                        <a:lumMod val="20000"/>
                        <a:lumOff val="80000"/>
                      </a:schemeClr>
                    </a:solidFill>
                  </a:tcPr>
                </a:tc>
                <a:extLst>
                  <a:ext uri="{0D108BD9-81ED-4DB2-BD59-A6C34878D82A}">
                    <a16:rowId xmlns:a16="http://schemas.microsoft.com/office/drawing/2014/main" val="2445408667"/>
                  </a:ext>
                </a:extLst>
              </a:tr>
              <a:tr h="488371">
                <a:tc>
                  <a:txBody>
                    <a:bodyPr/>
                    <a:lstStyle/>
                    <a:p>
                      <a:r>
                        <a:rPr kumimoji="1" lang="ja-JP" altLang="en-US" sz="2200" dirty="0"/>
                        <a:t>燃料・エンジン系</a:t>
                      </a:r>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extLst>
                  <a:ext uri="{0D108BD9-81ED-4DB2-BD59-A6C34878D82A}">
                    <a16:rowId xmlns:a16="http://schemas.microsoft.com/office/drawing/2014/main" val="4293970885"/>
                  </a:ext>
                </a:extLst>
              </a:tr>
              <a:tr h="488371">
                <a:tc>
                  <a:txBody>
                    <a:bodyPr/>
                    <a:lstStyle/>
                    <a:p>
                      <a:r>
                        <a:rPr kumimoji="1" lang="ja-JP" altLang="en-US" sz="2200" dirty="0"/>
                        <a:t>制動系</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1944482745"/>
                  </a:ext>
                </a:extLst>
              </a:tr>
              <a:tr h="488371">
                <a:tc>
                  <a:txBody>
                    <a:bodyPr/>
                    <a:lstStyle/>
                    <a:p>
                      <a:r>
                        <a:rPr kumimoji="1" lang="ja-JP" altLang="en-US" sz="2200" dirty="0"/>
                        <a:t>ステアリング系</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2124352662"/>
                  </a:ext>
                </a:extLst>
              </a:tr>
              <a:tr h="488371">
                <a:tc>
                  <a:txBody>
                    <a:bodyPr/>
                    <a:lstStyle/>
                    <a:p>
                      <a:r>
                        <a:rPr kumimoji="1" lang="ja-JP" altLang="en-US" sz="2200" dirty="0"/>
                        <a:t>電子制御系</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extLst>
                  <a:ext uri="{0D108BD9-81ED-4DB2-BD59-A6C34878D82A}">
                    <a16:rowId xmlns:a16="http://schemas.microsoft.com/office/drawing/2014/main" val="3648028432"/>
                  </a:ext>
                </a:extLst>
              </a:tr>
              <a:tr h="488371">
                <a:tc>
                  <a:txBody>
                    <a:bodyPr/>
                    <a:lstStyle/>
                    <a:p>
                      <a:r>
                        <a:rPr kumimoji="1" lang="ja-JP" altLang="en-US" sz="2200" dirty="0"/>
                        <a:t>シートベルト・エアーバック</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1513362454"/>
                  </a:ext>
                </a:extLst>
              </a:tr>
              <a:tr h="488371">
                <a:tc>
                  <a:txBody>
                    <a:bodyPr/>
                    <a:lstStyle/>
                    <a:p>
                      <a:r>
                        <a:rPr kumimoji="1" lang="ja-JP" altLang="en-US" sz="2200" dirty="0"/>
                        <a:t>排気系</a:t>
                      </a:r>
                    </a:p>
                  </a:txBody>
                  <a:tcPr anchor="ctr"/>
                </a:tc>
                <a:tc>
                  <a:txBody>
                    <a:bodyPr/>
                    <a:lstStyle/>
                    <a:p>
                      <a:pPr algn="ctr"/>
                      <a:endParaRPr kumimoji="1" lang="ja-JP" altLang="en-US" sz="2200" dirty="0"/>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3439097712"/>
                  </a:ext>
                </a:extLst>
              </a:tr>
              <a:tr h="488371">
                <a:tc>
                  <a:txBody>
                    <a:bodyPr/>
                    <a:lstStyle/>
                    <a:p>
                      <a:r>
                        <a:rPr kumimoji="1" lang="ja-JP" altLang="en-US" sz="2200" dirty="0"/>
                        <a:t>視認系（ライト／ランプ等）</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endParaRPr kumimoji="1" lang="ja-JP" altLang="en-US" sz="2200"/>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128868617"/>
                  </a:ext>
                </a:extLst>
              </a:tr>
              <a:tr h="488371">
                <a:tc>
                  <a:txBody>
                    <a:bodyPr/>
                    <a:lstStyle/>
                    <a:p>
                      <a:r>
                        <a:rPr kumimoji="1" lang="ja-JP" altLang="en-US" sz="2200" dirty="0"/>
                        <a:t>内装部品（燃焼性／突起等）</a:t>
                      </a:r>
                    </a:p>
                  </a:txBody>
                  <a:tcPr anchor="ctr"/>
                </a:tc>
                <a:tc>
                  <a:txBody>
                    <a:bodyPr/>
                    <a:lstStyle/>
                    <a:p>
                      <a:pPr algn="ctr"/>
                      <a:r>
                        <a:rPr kumimoji="1" lang="ja-JP" altLang="en-US" sz="2200" dirty="0"/>
                        <a:t>●</a:t>
                      </a:r>
                    </a:p>
                  </a:txBody>
                  <a:tcPr anchor="ctr"/>
                </a:tc>
                <a:tc>
                  <a:txBody>
                    <a:bodyPr/>
                    <a:lstStyle/>
                    <a:p>
                      <a:pPr algn="ctr"/>
                      <a:r>
                        <a:rPr kumimoji="1" lang="ja-JP" altLang="en-US" sz="2200" dirty="0"/>
                        <a:t>●</a:t>
                      </a:r>
                    </a:p>
                  </a:txBody>
                  <a:tcPr anchor="ctr"/>
                </a:tc>
                <a:tc>
                  <a:txBody>
                    <a:bodyPr/>
                    <a:lstStyle/>
                    <a:p>
                      <a:pPr algn="ctr"/>
                      <a:endParaRPr kumimoji="1" lang="ja-JP" altLang="en-US" sz="2200" dirty="0"/>
                    </a:p>
                  </a:txBody>
                  <a:tcPr anchor="ctr"/>
                </a:tc>
                <a:tc>
                  <a:txBody>
                    <a:bodyPr/>
                    <a:lstStyle/>
                    <a:p>
                      <a:pPr algn="ctr"/>
                      <a:endParaRPr kumimoji="1" lang="ja-JP" altLang="en-US" sz="2200" dirty="0"/>
                    </a:p>
                  </a:txBody>
                  <a:tcPr anchor="ctr"/>
                </a:tc>
                <a:extLst>
                  <a:ext uri="{0D108BD9-81ED-4DB2-BD59-A6C34878D82A}">
                    <a16:rowId xmlns:a16="http://schemas.microsoft.com/office/drawing/2014/main" val="1466366346"/>
                  </a:ext>
                </a:extLst>
              </a:tr>
            </a:tbl>
          </a:graphicData>
        </a:graphic>
      </p:graphicFrame>
    </p:spTree>
    <p:extLst>
      <p:ext uri="{BB962C8B-B14F-4D97-AF65-F5344CB8AC3E}">
        <p14:creationId xmlns:p14="http://schemas.microsoft.com/office/powerpoint/2010/main" val="4274356329"/>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☑組織は、自動車の製品及びサービス供給者に、</a:t>
            </a:r>
            <a:r>
              <a:rPr lang="ja-JP" altLang="en-US" sz="2000" u="sng" dirty="0"/>
              <a:t>適格な組織がこの自動車産業</a:t>
            </a:r>
            <a:r>
              <a:rPr lang="en-US" altLang="ja-JP" sz="2000" u="sng" dirty="0"/>
              <a:t>QMS</a:t>
            </a:r>
            <a:r>
              <a:rPr lang="ja-JP" altLang="en-US" sz="2000" u="sng" dirty="0"/>
              <a:t>規格への認証取得を最終的な目標として</a:t>
            </a:r>
            <a:r>
              <a:rPr lang="ja-JP" altLang="en-US" sz="2000" dirty="0"/>
              <a:t>品質マネジメントシステム（</a:t>
            </a:r>
            <a:r>
              <a:rPr lang="en-US" altLang="ja-JP" sz="2000" dirty="0"/>
              <a:t>QMS</a:t>
            </a:r>
            <a:r>
              <a:rPr lang="ja-JP" altLang="en-US" sz="2000" dirty="0"/>
              <a:t>）の開発、実施及び改善を要求しなければならない。</a:t>
            </a:r>
            <a:endParaRPr lang="en-US" altLang="ja-JP" sz="2000" dirty="0"/>
          </a:p>
          <a:p>
            <a:pPr marL="0" indent="0">
              <a:lnSpc>
                <a:spcPct val="100000"/>
              </a:lnSpc>
              <a:buNone/>
            </a:pPr>
            <a:r>
              <a:rPr lang="ja-JP" altLang="en-US" sz="2000" dirty="0"/>
              <a:t>☑組織は、リスクに基づくモデルを用いて、</a:t>
            </a:r>
            <a:r>
              <a:rPr lang="ja-JP" altLang="en-US" sz="2000" u="sng" dirty="0"/>
              <a:t>各供給者に対する</a:t>
            </a:r>
            <a:r>
              <a:rPr lang="en-US" altLang="ja-JP" sz="2000" u="sng" dirty="0"/>
              <a:t>QMS</a:t>
            </a:r>
            <a:r>
              <a:rPr lang="ja-JP" altLang="en-US" sz="2000" u="sng" dirty="0"/>
              <a:t>開発の最低許容レベル及び</a:t>
            </a:r>
            <a:r>
              <a:rPr lang="en-US" altLang="ja-JP" sz="2000" u="sng" dirty="0"/>
              <a:t>QMS</a:t>
            </a:r>
            <a:r>
              <a:rPr lang="ja-JP" altLang="en-US" sz="2000" u="sng" dirty="0"/>
              <a:t>開発の目標レベルを規定しなければならない。</a:t>
            </a:r>
            <a:endParaRPr lang="en-US" altLang="ja-JP" sz="2000" u="sng" dirty="0"/>
          </a:p>
          <a:p>
            <a:pPr marL="0" indent="0">
              <a:lnSpc>
                <a:spcPct val="100000"/>
              </a:lnSpc>
              <a:buNone/>
            </a:pPr>
            <a:r>
              <a:rPr lang="ja-JP" altLang="en-US" sz="2000" dirty="0"/>
              <a:t>顧客による他の許可がない限り、</a:t>
            </a:r>
            <a:r>
              <a:rPr lang="en-US" altLang="ja-JP" sz="2000" dirty="0"/>
              <a:t>ISO9001</a:t>
            </a:r>
            <a:r>
              <a:rPr lang="ja-JP" altLang="en-US" sz="2000" dirty="0"/>
              <a:t>に認証された</a:t>
            </a:r>
            <a:r>
              <a:rPr lang="en-US" altLang="ja-JP" sz="2000" dirty="0"/>
              <a:t>QMS</a:t>
            </a:r>
            <a:r>
              <a:rPr lang="ja-JP" altLang="en-US" sz="2000" dirty="0"/>
              <a:t>は、開発初期の最低許容レベルである。現在のパフォーマンス及び顧客に対する潜在的なリスクに基づいて、</a:t>
            </a:r>
            <a:r>
              <a:rPr lang="ja-JP" altLang="en-US" sz="2000" u="sng" dirty="0"/>
              <a:t>以下の段階的な</a:t>
            </a:r>
            <a:r>
              <a:rPr lang="en-US" altLang="ja-JP" sz="2000" u="sng" dirty="0"/>
              <a:t>QMS</a:t>
            </a:r>
            <a:r>
              <a:rPr lang="ja-JP" altLang="en-US" sz="2000" u="sng" dirty="0"/>
              <a:t>開発に沿って、供給者の目標レベルを上げていくことが目的である。</a:t>
            </a:r>
          </a:p>
          <a:p>
            <a:pPr marL="800100" lvl="1" indent="-342900">
              <a:lnSpc>
                <a:spcPct val="100000"/>
              </a:lnSpc>
              <a:buFont typeface="+mj-lt"/>
              <a:buAutoNum type="alphaLcPeriod"/>
            </a:pPr>
            <a:r>
              <a:rPr lang="ja-JP" altLang="en-US" sz="2000" dirty="0"/>
              <a:t>第三者審査を通じた</a:t>
            </a:r>
            <a:r>
              <a:rPr lang="en-US" altLang="ja-JP" sz="2000" dirty="0"/>
              <a:t>ISO9001</a:t>
            </a:r>
            <a:r>
              <a:rPr lang="ja-JP" altLang="en-US" sz="2000" dirty="0"/>
              <a:t>に対する認証。顧客による他の規定がない限り、組織への供給者は</a:t>
            </a:r>
            <a:r>
              <a:rPr lang="en-US" altLang="ja-JP" sz="2000" dirty="0"/>
              <a:t>ISO9001</a:t>
            </a:r>
            <a:r>
              <a:rPr lang="ja-JP" altLang="en-US" sz="2000" dirty="0"/>
              <a:t>に対する認証を実証しなければならない。実証するには認定機関の主要適用範囲が</a:t>
            </a:r>
            <a:r>
              <a:rPr lang="en-US" altLang="ja-JP" sz="2000" dirty="0"/>
              <a:t>ISO/IEC17021</a:t>
            </a:r>
            <a:r>
              <a:rPr lang="ja-JP" altLang="en-US" sz="2000" dirty="0" err="1"/>
              <a:t>への</a:t>
            </a:r>
            <a:r>
              <a:rPr lang="ja-JP" altLang="en-US" sz="2000" dirty="0"/>
              <a:t>マネジメントシステム認証を含む場合の、承認された</a:t>
            </a:r>
            <a:r>
              <a:rPr lang="en-US" altLang="ja-JP" sz="2000" dirty="0"/>
              <a:t>IAF MLA</a:t>
            </a:r>
            <a:r>
              <a:rPr lang="ja-JP" altLang="en-US" sz="2000" dirty="0"/>
              <a:t>（</a:t>
            </a:r>
            <a:r>
              <a:rPr lang="en-US" altLang="ja-JP" sz="2000" dirty="0"/>
              <a:t>International Accreditation Forum Multilateral Recognition Arrangement</a:t>
            </a:r>
            <a:r>
              <a:rPr lang="ja-JP" altLang="en-US" sz="2000" dirty="0"/>
              <a:t>）メンバーの認定マークをもつ認証機関が発行する第三者認証を維持する。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8.4.2.3</a:t>
            </a:r>
            <a:r>
              <a:rPr kumimoji="1" lang="ja-JP" altLang="en-US" sz="3000" b="1" dirty="0">
                <a:solidFill>
                  <a:schemeClr val="tx2"/>
                </a:solidFill>
              </a:rPr>
              <a:t>　供給者の品質マネジメントシステム開発</a:t>
            </a:r>
          </a:p>
        </p:txBody>
      </p:sp>
      <p:sp>
        <p:nvSpPr>
          <p:cNvPr id="2" name="四角形: 角を丸くする 1">
            <a:extLst>
              <a:ext uri="{FF2B5EF4-FFF2-40B4-BE49-F238E27FC236}">
                <a16:creationId xmlns:a16="http://schemas.microsoft.com/office/drawing/2014/main" id="{B557E83A-644D-4A84-A0F1-EA13125F4A18}"/>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8</a:t>
            </a:r>
          </a:p>
        </p:txBody>
      </p:sp>
    </p:spTree>
    <p:extLst>
      <p:ext uri="{BB962C8B-B14F-4D97-AF65-F5344CB8AC3E}">
        <p14:creationId xmlns:p14="http://schemas.microsoft.com/office/powerpoint/2010/main" val="3159858339"/>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00000"/>
              </a:lnSpc>
              <a:buFont typeface="+mj-lt"/>
              <a:buAutoNum type="alphaLcPeriod" startAt="2"/>
            </a:pPr>
            <a:r>
              <a:rPr lang="ja-JP" altLang="en-US" sz="2000" dirty="0"/>
              <a:t>第二者監査を通じた、顧客が定めた他の</a:t>
            </a:r>
            <a:r>
              <a:rPr lang="en-US" altLang="ja-JP" sz="2000" dirty="0"/>
              <a:t>QMS</a:t>
            </a:r>
            <a:r>
              <a:rPr lang="ja-JP" altLang="en-US" sz="2000" dirty="0"/>
              <a:t>要求事項（例えば</a:t>
            </a:r>
            <a:r>
              <a:rPr lang="en-US" altLang="ja-JP" sz="2000" dirty="0"/>
              <a:t>Minimum Automotive Quality Management System Requirements for Sub-Tier </a:t>
            </a:r>
            <a:r>
              <a:rPr lang="en-US" altLang="ja-JP" sz="2000" dirty="0" err="1"/>
              <a:t>Suppliers〔MAQMSR</a:t>
            </a:r>
            <a:r>
              <a:rPr lang="en-US" altLang="ja-JP" sz="2000" dirty="0"/>
              <a:t>〕</a:t>
            </a:r>
            <a:r>
              <a:rPr lang="ja-JP" altLang="en-US" sz="2000" dirty="0"/>
              <a:t>又はそれに相当するもの）への適合を伴う</a:t>
            </a:r>
            <a:r>
              <a:rPr lang="en-US" altLang="ja-JP" sz="2000" dirty="0"/>
              <a:t>ISO9001</a:t>
            </a:r>
            <a:r>
              <a:rPr lang="ja-JP" altLang="en-US" sz="2000" dirty="0"/>
              <a:t>に対する認証</a:t>
            </a:r>
            <a:endParaRPr lang="en-US" altLang="ja-JP" sz="2000" dirty="0"/>
          </a:p>
          <a:p>
            <a:pPr marL="914400" lvl="1" indent="-457200">
              <a:lnSpc>
                <a:spcPct val="100000"/>
              </a:lnSpc>
              <a:buFont typeface="+mj-lt"/>
              <a:buAutoNum type="alphaLcPeriod" startAt="2"/>
            </a:pPr>
            <a:r>
              <a:rPr lang="ja-JP" altLang="en-US" sz="2000" dirty="0"/>
              <a:t>第二者監査を通じた</a:t>
            </a:r>
            <a:r>
              <a:rPr lang="en-US" altLang="ja-JP" sz="2000" dirty="0"/>
              <a:t>IATF16949</a:t>
            </a:r>
            <a:r>
              <a:rPr lang="ja-JP" altLang="en-US" sz="2000" dirty="0"/>
              <a:t>に対する適合を伴う</a:t>
            </a:r>
            <a:r>
              <a:rPr lang="en-US" altLang="ja-JP" sz="2000" dirty="0"/>
              <a:t>ISO9001</a:t>
            </a:r>
            <a:r>
              <a:rPr lang="ja-JP" altLang="en-US" sz="2000" dirty="0" err="1"/>
              <a:t>への</a:t>
            </a:r>
            <a:r>
              <a:rPr lang="ja-JP" altLang="en-US" sz="2000" dirty="0"/>
              <a:t>認証</a:t>
            </a:r>
            <a:endParaRPr lang="en-US" altLang="ja-JP" sz="2000" dirty="0"/>
          </a:p>
          <a:p>
            <a:pPr marL="914400" lvl="1" indent="-457200">
              <a:lnSpc>
                <a:spcPct val="100000"/>
              </a:lnSpc>
              <a:buFont typeface="+mj-lt"/>
              <a:buAutoNum type="alphaLcPeriod" startAt="2"/>
            </a:pPr>
            <a:r>
              <a:rPr lang="ja-JP" altLang="en-US" sz="2000" dirty="0"/>
              <a:t>第三者審査を通じた</a:t>
            </a:r>
            <a:r>
              <a:rPr lang="en-US" altLang="ja-JP" sz="2000" dirty="0"/>
              <a:t>IATF16949</a:t>
            </a:r>
            <a:r>
              <a:rPr lang="ja-JP" altLang="en-US" sz="2000" dirty="0"/>
              <a:t>に対する認証（</a:t>
            </a:r>
            <a:r>
              <a:rPr lang="en-US" altLang="ja-JP" sz="2000" dirty="0"/>
              <a:t>IATF</a:t>
            </a:r>
            <a:r>
              <a:rPr lang="ja-JP" altLang="en-US" sz="2000" dirty="0"/>
              <a:t>が認めた認証機関による、</a:t>
            </a:r>
            <a:r>
              <a:rPr lang="en-US" altLang="ja-JP" sz="2000" dirty="0"/>
              <a:t>IATF16949</a:t>
            </a:r>
            <a:r>
              <a:rPr lang="ja-JP" altLang="en-US" sz="2000" dirty="0" err="1"/>
              <a:t>への</a:t>
            </a:r>
            <a:r>
              <a:rPr lang="ja-JP" altLang="en-US" sz="2000" dirty="0"/>
              <a:t>供給者の有効な第三者認証）</a:t>
            </a:r>
            <a:endParaRPr lang="en-US" altLang="ja-JP" sz="2000" dirty="0"/>
          </a:p>
          <a:p>
            <a:pPr marL="457200" lvl="1" indent="0">
              <a:lnSpc>
                <a:spcPct val="100000"/>
              </a:lnSpc>
              <a:buNone/>
            </a:pPr>
            <a:r>
              <a:rPr lang="ja-JP" altLang="en-US" sz="2000" dirty="0"/>
              <a:t>注記　</a:t>
            </a:r>
            <a:r>
              <a:rPr lang="en-US" altLang="ja-JP" sz="2000" u="sng" dirty="0"/>
              <a:t>QMS</a:t>
            </a:r>
            <a:r>
              <a:rPr lang="ja-JP" altLang="en-US" sz="2000" u="sng" dirty="0"/>
              <a:t>開発の最低限のレベルは、顧客によって正式承認されれば、第二者監査による</a:t>
            </a:r>
            <a:r>
              <a:rPr lang="en-US" altLang="ja-JP" sz="2000" u="sng" dirty="0"/>
              <a:t>ISO9001</a:t>
            </a:r>
            <a:r>
              <a:rPr lang="ja-JP" altLang="en-US" sz="2000" u="sng" dirty="0" err="1"/>
              <a:t>への</a:t>
            </a:r>
            <a:r>
              <a:rPr lang="ja-JP" altLang="en-US" sz="2000" u="sng" dirty="0"/>
              <a:t>適合となろう。</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8.4.2.3</a:t>
            </a:r>
            <a:r>
              <a:rPr kumimoji="1" lang="ja-JP" altLang="en-US" sz="3000" b="1" dirty="0">
                <a:solidFill>
                  <a:schemeClr val="tx2"/>
                </a:solidFill>
              </a:rPr>
              <a:t>　供給者の品質マネジメントシステム開発</a:t>
            </a:r>
          </a:p>
        </p:txBody>
      </p:sp>
    </p:spTree>
    <p:extLst>
      <p:ext uri="{BB962C8B-B14F-4D97-AF65-F5344CB8AC3E}">
        <p14:creationId xmlns:p14="http://schemas.microsoft.com/office/powerpoint/2010/main" val="4272017352"/>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供給者の</a:t>
            </a:r>
            <a:r>
              <a:rPr lang="en-US" altLang="ja-JP" sz="2400" dirty="0"/>
              <a:t>QMS</a:t>
            </a:r>
            <a:r>
              <a:rPr lang="ja-JP" altLang="en-US" sz="2400" dirty="0"/>
              <a:t>開発の前提は</a:t>
            </a:r>
            <a:r>
              <a:rPr lang="ja-JP" altLang="en-US" sz="2400" dirty="0">
                <a:solidFill>
                  <a:srgbClr val="FF0000"/>
                </a:solidFill>
                <a:effectLst>
                  <a:outerShdw blurRad="38100" dist="38100" dir="2700000" algn="tl">
                    <a:srgbClr val="000000">
                      <a:alpha val="43137"/>
                    </a:srgbClr>
                  </a:outerShdw>
                </a:effectLst>
              </a:rPr>
              <a:t>「</a:t>
            </a:r>
            <a:r>
              <a:rPr lang="en-US" altLang="ja-JP" sz="2400" dirty="0">
                <a:solidFill>
                  <a:srgbClr val="FF0000"/>
                </a:solidFill>
                <a:effectLst>
                  <a:outerShdw blurRad="38100" dist="38100" dir="2700000" algn="tl">
                    <a:srgbClr val="000000">
                      <a:alpha val="43137"/>
                    </a:srgbClr>
                  </a:outerShdw>
                </a:effectLst>
              </a:rPr>
              <a:t>IATF16949</a:t>
            </a:r>
            <a:r>
              <a:rPr lang="ja-JP" altLang="en-US" sz="2400" dirty="0">
                <a:solidFill>
                  <a:srgbClr val="FF0000"/>
                </a:solidFill>
                <a:effectLst>
                  <a:outerShdw blurRad="38100" dist="38100" dir="2700000" algn="tl">
                    <a:srgbClr val="000000">
                      <a:alpha val="43137"/>
                    </a:srgbClr>
                  </a:outerShdw>
                </a:effectLst>
              </a:rPr>
              <a:t>認証取得」</a:t>
            </a:r>
            <a:r>
              <a:rPr lang="ja-JP" altLang="en-US" sz="2400" dirty="0"/>
              <a:t>である。</a:t>
            </a:r>
            <a:endParaRPr lang="en-US" altLang="ja-JP" sz="2400" dirty="0"/>
          </a:p>
          <a:p>
            <a:pPr marL="457200" indent="-457200">
              <a:lnSpc>
                <a:spcPct val="100000"/>
              </a:lnSpc>
              <a:buFont typeface="+mj-lt"/>
              <a:buAutoNum type="arabicPeriod"/>
            </a:pPr>
            <a:r>
              <a:rPr lang="ja-JP" altLang="en-US" sz="2400" dirty="0"/>
              <a:t>そのための段階的開発計画であり、“選択肢”ではない。</a:t>
            </a:r>
            <a:endParaRPr lang="en-US" altLang="ja-JP" sz="2400" dirty="0"/>
          </a:p>
          <a:p>
            <a:pPr lvl="1">
              <a:lnSpc>
                <a:spcPct val="100000"/>
              </a:lnSpc>
              <a:buFont typeface="Wingdings" panose="05000000000000000000" pitchFamily="2" charset="2"/>
              <a:buChar char="Ø"/>
            </a:pPr>
            <a:r>
              <a:rPr lang="ja-JP" altLang="en-US" dirty="0"/>
              <a:t>向こう</a:t>
            </a:r>
            <a:r>
              <a:rPr lang="en-US" altLang="ja-JP" dirty="0"/>
              <a:t>3</a:t>
            </a:r>
            <a:r>
              <a:rPr lang="ja-JP" altLang="en-US" dirty="0"/>
              <a:t>～</a:t>
            </a:r>
            <a:r>
              <a:rPr lang="en-US" altLang="ja-JP" dirty="0"/>
              <a:t>5</a:t>
            </a:r>
            <a:r>
              <a:rPr lang="ja-JP" altLang="en-US" dirty="0"/>
              <a:t>年程度の中期計画にてロードマップ化する。</a:t>
            </a:r>
            <a:endParaRPr lang="en-US" altLang="ja-JP" dirty="0"/>
          </a:p>
          <a:p>
            <a:pPr marL="457200" indent="-457200">
              <a:lnSpc>
                <a:spcPct val="100000"/>
              </a:lnSpc>
              <a:buFont typeface="+mj-lt"/>
              <a:buAutoNum type="arabicPeriod"/>
            </a:pPr>
            <a:r>
              <a:rPr lang="ja-JP" altLang="en-US" sz="2400" dirty="0"/>
              <a:t>対象となる供給者は、</a:t>
            </a:r>
            <a:r>
              <a:rPr lang="ja-JP" altLang="en-US" sz="2400" dirty="0">
                <a:solidFill>
                  <a:srgbClr val="FF0000"/>
                </a:solidFill>
                <a:effectLst>
                  <a:outerShdw blurRad="38100" dist="38100" dir="2700000" algn="tl">
                    <a:srgbClr val="000000">
                      <a:alpha val="43137"/>
                    </a:srgbClr>
                  </a:outerShdw>
                </a:effectLst>
              </a:rPr>
              <a:t>自動車部品の製造工程</a:t>
            </a:r>
            <a:r>
              <a:rPr lang="ja-JP" altLang="en-US" sz="2400" dirty="0"/>
              <a:t>を持つ供給者。（材料メーカー及び加工外注先など：</a:t>
            </a:r>
            <a:r>
              <a:rPr lang="en-US" altLang="ja-JP" sz="2400" dirty="0"/>
              <a:t>3</a:t>
            </a:r>
            <a:r>
              <a:rPr lang="ja-JP" altLang="en-US" sz="2400" dirty="0"/>
              <a:t>章「製造」の</a:t>
            </a:r>
            <a:r>
              <a:rPr lang="en-US" altLang="ja-JP" sz="2400" dirty="0"/>
              <a:t>4</a:t>
            </a:r>
            <a:r>
              <a:rPr lang="ja-JP" altLang="en-US" sz="2400" dirty="0"/>
              <a:t>項目）</a:t>
            </a:r>
            <a:endParaRPr lang="en-US" altLang="ja-JP" sz="2400" dirty="0"/>
          </a:p>
          <a:p>
            <a:pPr lvl="1">
              <a:lnSpc>
                <a:spcPct val="100000"/>
              </a:lnSpc>
              <a:buFont typeface="Wingdings" panose="05000000000000000000" pitchFamily="2" charset="2"/>
              <a:buChar char="Ø"/>
            </a:pPr>
            <a:r>
              <a:rPr lang="ja-JP" altLang="en-US" sz="2000" dirty="0">
                <a:solidFill>
                  <a:srgbClr val="FF0000"/>
                </a:solidFill>
                <a:effectLst>
                  <a:outerShdw blurRad="38100" dist="38100" dir="2700000" algn="tl">
                    <a:srgbClr val="000000">
                      <a:alpha val="43137"/>
                    </a:srgbClr>
                  </a:outerShdw>
                </a:effectLst>
              </a:rPr>
              <a:t>注意：部品を商社から調達している場合に、部品製造メーカーの工場に対する</a:t>
            </a:r>
            <a:r>
              <a:rPr lang="en-US" altLang="ja-JP" sz="2000" dirty="0">
                <a:solidFill>
                  <a:srgbClr val="FF0000"/>
                </a:solidFill>
                <a:effectLst>
                  <a:outerShdw blurRad="38100" dist="38100" dir="2700000" algn="tl">
                    <a:srgbClr val="000000">
                      <a:alpha val="43137"/>
                    </a:srgbClr>
                  </a:outerShdw>
                </a:effectLst>
              </a:rPr>
              <a:t>8.4.2.3</a:t>
            </a:r>
            <a:r>
              <a:rPr lang="ja-JP" altLang="en-US" sz="2000" dirty="0">
                <a:solidFill>
                  <a:srgbClr val="FF0000"/>
                </a:solidFill>
                <a:effectLst>
                  <a:outerShdw blurRad="38100" dist="38100" dir="2700000" algn="tl">
                    <a:srgbClr val="000000">
                      <a:alpha val="43137"/>
                    </a:srgbClr>
                  </a:outerShdw>
                </a:effectLst>
              </a:rPr>
              <a:t>を要求する見解がある。</a:t>
            </a:r>
            <a:endParaRPr lang="en-US" altLang="ja-JP" sz="2000" dirty="0">
              <a:solidFill>
                <a:srgbClr val="FF0000"/>
              </a:solidFill>
              <a:effectLst>
                <a:outerShdw blurRad="38100" dist="38100" dir="2700000" algn="tl">
                  <a:srgbClr val="000000">
                    <a:alpha val="43137"/>
                  </a:srgbClr>
                </a:outerShdw>
              </a:effectLst>
            </a:endParaRPr>
          </a:p>
          <a:p>
            <a:pPr marL="457200" indent="-457200">
              <a:lnSpc>
                <a:spcPct val="100000"/>
              </a:lnSpc>
              <a:buFont typeface="+mj-lt"/>
              <a:buAutoNum type="arabicPeriod"/>
            </a:pPr>
            <a:r>
              <a:rPr lang="en-US" altLang="ja-JP" sz="2400" dirty="0"/>
              <a:t>IATF</a:t>
            </a:r>
            <a:r>
              <a:rPr lang="ja-JP" altLang="en-US" sz="2400" dirty="0"/>
              <a:t>運用開始時点の実際。</a:t>
            </a:r>
            <a:endParaRPr lang="en-US" altLang="ja-JP" sz="2400" dirty="0"/>
          </a:p>
          <a:p>
            <a:pPr marL="914400" lvl="1" indent="-457200">
              <a:lnSpc>
                <a:spcPct val="100000"/>
              </a:lnSpc>
              <a:buFont typeface="+mj-ea"/>
              <a:buAutoNum type="circleNumDbPlain"/>
            </a:pPr>
            <a:r>
              <a:rPr lang="ja-JP" altLang="en-US" sz="2000" dirty="0"/>
              <a:t>全ての対象先に対し</a:t>
            </a:r>
            <a:r>
              <a:rPr lang="en-US" altLang="ja-JP" sz="2000" dirty="0"/>
              <a:t>ISO9001</a:t>
            </a:r>
            <a:r>
              <a:rPr lang="ja-JP" altLang="en-US" sz="2000" dirty="0"/>
              <a:t>の第二者監査を実施（計画）以上の管理を行っている。</a:t>
            </a:r>
            <a:endParaRPr lang="en-US" altLang="ja-JP" sz="2000" dirty="0"/>
          </a:p>
          <a:p>
            <a:pPr marL="914400" lvl="1" indent="-457200">
              <a:lnSpc>
                <a:spcPct val="100000"/>
              </a:lnSpc>
              <a:buFont typeface="+mj-ea"/>
              <a:buAutoNum type="circleNumDbPlain"/>
            </a:pPr>
            <a:r>
              <a:rPr lang="ja-JP" altLang="en-US" sz="2000" dirty="0"/>
              <a:t>該当する供給者に</a:t>
            </a:r>
            <a:r>
              <a:rPr lang="en-US" altLang="ja-JP" sz="2000" dirty="0"/>
              <a:t>ISO9001</a:t>
            </a:r>
            <a:r>
              <a:rPr lang="ja-JP" altLang="en-US" sz="2000" dirty="0"/>
              <a:t>認証ロードマップがある。</a:t>
            </a:r>
            <a:endParaRPr lang="en-US" altLang="ja-JP" sz="2000" dirty="0"/>
          </a:p>
          <a:p>
            <a:pPr marL="914400" lvl="1" indent="-457200">
              <a:lnSpc>
                <a:spcPct val="100000"/>
              </a:lnSpc>
              <a:buFont typeface="+mj-ea"/>
              <a:buAutoNum type="circleNumDbPlain"/>
            </a:pPr>
            <a:r>
              <a:rPr lang="ja-JP" altLang="en-US" sz="2000" dirty="0"/>
              <a:t>該当する供給者に</a:t>
            </a:r>
            <a:r>
              <a:rPr lang="en-US" altLang="ja-JP" sz="2000" dirty="0"/>
              <a:t>IATF16949</a:t>
            </a:r>
            <a:r>
              <a:rPr lang="ja-JP" altLang="en-US" sz="2000" dirty="0"/>
              <a:t>認証ロードマップがある。</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8.4.2.3</a:t>
            </a:r>
            <a:r>
              <a:rPr lang="ja-JP" altLang="en-US" sz="3000" b="1" dirty="0">
                <a:solidFill>
                  <a:schemeClr val="bg1"/>
                </a:solidFill>
              </a:rPr>
              <a:t>　供給者の品質マネジメントシステム開発</a:t>
            </a:r>
            <a:endParaRPr kumimoji="1" lang="ja-JP" altLang="en-US" sz="3000" b="1" dirty="0">
              <a:solidFill>
                <a:schemeClr val="bg1"/>
              </a:solidFill>
            </a:endParaRPr>
          </a:p>
        </p:txBody>
      </p:sp>
    </p:spTree>
    <p:extLst>
      <p:ext uri="{BB962C8B-B14F-4D97-AF65-F5344CB8AC3E}">
        <p14:creationId xmlns:p14="http://schemas.microsoft.com/office/powerpoint/2010/main" val="873947568"/>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8.4.2.3</a:t>
            </a:r>
            <a:r>
              <a:rPr lang="ja-JP" altLang="en-US" sz="3000" b="1" dirty="0">
                <a:solidFill>
                  <a:schemeClr val="bg1"/>
                </a:solidFill>
              </a:rPr>
              <a:t>　供給者の品質マネジメントシステム開発</a:t>
            </a:r>
            <a:endParaRPr kumimoji="1" lang="ja-JP" altLang="en-US" sz="3000" b="1" dirty="0">
              <a:solidFill>
                <a:schemeClr val="bg1"/>
              </a:solidFill>
            </a:endParaRPr>
          </a:p>
        </p:txBody>
      </p:sp>
      <p:graphicFrame>
        <p:nvGraphicFramePr>
          <p:cNvPr id="2" name="図表 1">
            <a:extLst>
              <a:ext uri="{FF2B5EF4-FFF2-40B4-BE49-F238E27FC236}">
                <a16:creationId xmlns:a16="http://schemas.microsoft.com/office/drawing/2014/main" id="{81CDEFE8-6EB0-463A-9E73-E13F2E3ADCD6}"/>
              </a:ext>
            </a:extLst>
          </p:cNvPr>
          <p:cNvGraphicFramePr/>
          <p:nvPr>
            <p:extLst>
              <p:ext uri="{D42A27DB-BD31-4B8C-83A1-F6EECF244321}">
                <p14:modId xmlns:p14="http://schemas.microsoft.com/office/powerpoint/2010/main" val="348014348"/>
              </p:ext>
            </p:extLst>
          </p:nvPr>
        </p:nvGraphicFramePr>
        <p:xfrm>
          <a:off x="838201" y="1219200"/>
          <a:ext cx="10515600" cy="5137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吹き出し: 線 2">
            <a:extLst>
              <a:ext uri="{FF2B5EF4-FFF2-40B4-BE49-F238E27FC236}">
                <a16:creationId xmlns:a16="http://schemas.microsoft.com/office/drawing/2014/main" id="{ACF1D0CB-27B3-4E53-BD4D-847A3C54F834}"/>
              </a:ext>
            </a:extLst>
          </p:cNvPr>
          <p:cNvSpPr/>
          <p:nvPr/>
        </p:nvSpPr>
        <p:spPr>
          <a:xfrm>
            <a:off x="5625030" y="1619480"/>
            <a:ext cx="2743199" cy="572877"/>
          </a:xfrm>
          <a:prstGeom prst="borderCallout1">
            <a:avLst>
              <a:gd name="adj1" fmla="val 45673"/>
              <a:gd name="adj2" fmla="val -5923"/>
              <a:gd name="adj3" fmla="val 79492"/>
              <a:gd name="adj4" fmla="val -47088"/>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顧客が認めた場合</a:t>
            </a:r>
          </a:p>
        </p:txBody>
      </p:sp>
      <p:sp>
        <p:nvSpPr>
          <p:cNvPr id="7" name="吹き出し: 線 6">
            <a:extLst>
              <a:ext uri="{FF2B5EF4-FFF2-40B4-BE49-F238E27FC236}">
                <a16:creationId xmlns:a16="http://schemas.microsoft.com/office/drawing/2014/main" id="{C5F38CDD-1112-4A7A-B5A7-CFB5F6E8F79E}"/>
              </a:ext>
            </a:extLst>
          </p:cNvPr>
          <p:cNvSpPr/>
          <p:nvPr/>
        </p:nvSpPr>
        <p:spPr>
          <a:xfrm>
            <a:off x="8368230" y="3311237"/>
            <a:ext cx="2985570" cy="959446"/>
          </a:xfrm>
          <a:prstGeom prst="borderCallout1">
            <a:avLst>
              <a:gd name="adj1" fmla="val 120673"/>
              <a:gd name="adj2" fmla="val 58736"/>
              <a:gd name="adj3" fmla="val 201529"/>
              <a:gd name="adj4" fmla="val 49173"/>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最終目標</a:t>
            </a:r>
            <a:endParaRPr kumimoji="1" lang="en-US" altLang="ja-JP" dirty="0">
              <a:solidFill>
                <a:schemeClr val="tx1"/>
              </a:solidFill>
            </a:endParaRPr>
          </a:p>
          <a:p>
            <a:pPr algn="ctr"/>
            <a:r>
              <a:rPr lang="en-US" altLang="ja-JP" sz="1600" dirty="0">
                <a:solidFill>
                  <a:schemeClr val="tx1"/>
                </a:solidFill>
              </a:rPr>
              <a:t>※</a:t>
            </a:r>
            <a:r>
              <a:rPr lang="ja-JP" altLang="en-US" sz="1600" dirty="0">
                <a:solidFill>
                  <a:schemeClr val="tx1"/>
                </a:solidFill>
              </a:rPr>
              <a:t>製品製造サイトの場合のみ</a:t>
            </a:r>
            <a:endParaRPr kumimoji="1" lang="ja-JP" altLang="en-US" sz="1600" dirty="0">
              <a:solidFill>
                <a:schemeClr val="tx1"/>
              </a:solidFill>
            </a:endParaRPr>
          </a:p>
        </p:txBody>
      </p:sp>
    </p:spTree>
    <p:extLst>
      <p:ext uri="{BB962C8B-B14F-4D97-AF65-F5344CB8AC3E}">
        <p14:creationId xmlns:p14="http://schemas.microsoft.com/office/powerpoint/2010/main" val="537763367"/>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8.4.2.3</a:t>
            </a:r>
            <a:r>
              <a:rPr lang="ja-JP" altLang="en-US" sz="3000" b="1" dirty="0">
                <a:solidFill>
                  <a:schemeClr val="bg1"/>
                </a:solidFill>
              </a:rPr>
              <a:t>　供給者の品質マネジメントシステム開発</a:t>
            </a:r>
            <a:endParaRPr kumimoji="1" lang="ja-JP" altLang="en-US" sz="3000" b="1" dirty="0">
              <a:solidFill>
                <a:schemeClr val="bg1"/>
              </a:solidFill>
            </a:endParaRPr>
          </a:p>
        </p:txBody>
      </p:sp>
      <p:pic>
        <p:nvPicPr>
          <p:cNvPr id="6" name="図 5">
            <a:extLst>
              <a:ext uri="{FF2B5EF4-FFF2-40B4-BE49-F238E27FC236}">
                <a16:creationId xmlns:a16="http://schemas.microsoft.com/office/drawing/2014/main" id="{247A9F1C-50E4-4941-98F7-0CED41902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51280"/>
            <a:ext cx="10515600" cy="5005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082309"/>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88126"/>
            <a:ext cx="10515600" cy="2544896"/>
          </a:xfrm>
          <a:ln w="12700">
            <a:solidFill>
              <a:schemeClr val="tx2"/>
            </a:solidFill>
          </a:ln>
        </p:spPr>
        <p:txBody>
          <a:bodyPr>
            <a:normAutofit/>
          </a:bodyPr>
          <a:lstStyle/>
          <a:p>
            <a:pPr marL="0" indent="0">
              <a:lnSpc>
                <a:spcPct val="100000"/>
              </a:lnSpc>
              <a:buNone/>
            </a:pPr>
            <a:r>
              <a:rPr lang="ja-JP" altLang="en-US" sz="2000" dirty="0"/>
              <a:t>☑組織は、自動車製品に関係するソフトウェアの供給者、又は組込みソフトウェアをもつ自動車製品の供給者に、その製品に対する</a:t>
            </a:r>
            <a:r>
              <a:rPr lang="ja-JP" altLang="en-US" sz="2000" u="sng" dirty="0"/>
              <a:t>ソフトウェア品質保証のためのプロセスを実施し維持することを要求しなければならない。</a:t>
            </a:r>
            <a:endParaRPr lang="en-US" altLang="ja-JP" sz="2000" u="sng" dirty="0"/>
          </a:p>
          <a:p>
            <a:pPr marL="0" indent="0">
              <a:lnSpc>
                <a:spcPct val="100000"/>
              </a:lnSpc>
              <a:buNone/>
            </a:pPr>
            <a:r>
              <a:rPr lang="ja-JP" altLang="en-US" sz="2000" dirty="0"/>
              <a:t>☑</a:t>
            </a:r>
            <a:r>
              <a:rPr lang="ja-JP" altLang="en-US" sz="2000" u="sng" dirty="0"/>
              <a:t>ソフトウェア開発評価の方法論は、供給者のソフトウェア開発を評価するために活用しなければならない。</a:t>
            </a:r>
            <a:endParaRPr lang="en-US" altLang="ja-JP" sz="2000" u="sng" dirty="0"/>
          </a:p>
          <a:p>
            <a:pPr marL="0" indent="0">
              <a:lnSpc>
                <a:spcPct val="100000"/>
              </a:lnSpc>
              <a:buNone/>
            </a:pPr>
            <a:r>
              <a:rPr lang="ja-JP" altLang="en-US" sz="2000" dirty="0"/>
              <a:t>☑リスク及び顧客へ及ぼす潜在的影響に基づく優先順位付けを用いて、組織は、</a:t>
            </a:r>
            <a:r>
              <a:rPr lang="ja-JP" altLang="en-US" sz="2000" u="sng" dirty="0"/>
              <a:t>供給者にソフトウェア開発能力の自己評価の</a:t>
            </a:r>
            <a:r>
              <a:rPr lang="ja-JP" altLang="en-US" sz="2000" b="1" u="sng" dirty="0"/>
              <a:t>文書化した情報を保持</a:t>
            </a:r>
            <a:r>
              <a:rPr lang="ja-JP" altLang="en-US" sz="2000" u="sng" dirty="0"/>
              <a:t>するよう要求なければならない。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fontScale="90000"/>
          </a:bodyPr>
          <a:lstStyle/>
          <a:p>
            <a:r>
              <a:rPr kumimoji="1" lang="en-US" altLang="ja-JP" sz="3000" b="1" dirty="0">
                <a:solidFill>
                  <a:schemeClr val="tx2"/>
                </a:solidFill>
              </a:rPr>
              <a:t>8.4.2.3.1</a:t>
            </a:r>
            <a:r>
              <a:rPr kumimoji="1" lang="ja-JP" altLang="en-US" sz="3000" b="1" dirty="0">
                <a:solidFill>
                  <a:schemeClr val="tx2"/>
                </a:solidFill>
              </a:rPr>
              <a:t>　自動車製品に関係するソフトウェア又は組込みソフトウェアをもつ製品</a:t>
            </a:r>
          </a:p>
        </p:txBody>
      </p:sp>
      <p:sp>
        <p:nvSpPr>
          <p:cNvPr id="6" name="タイトル 1">
            <a:extLst>
              <a:ext uri="{FF2B5EF4-FFF2-40B4-BE49-F238E27FC236}">
                <a16:creationId xmlns:a16="http://schemas.microsoft.com/office/drawing/2014/main" id="{DD288533-33B1-487A-8761-EF1E80484834}"/>
              </a:ext>
            </a:extLst>
          </p:cNvPr>
          <p:cNvSpPr txBox="1">
            <a:spLocks/>
          </p:cNvSpPr>
          <p:nvPr/>
        </p:nvSpPr>
        <p:spPr>
          <a:xfrm>
            <a:off x="838200" y="4101948"/>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700" b="1" dirty="0">
                <a:solidFill>
                  <a:schemeClr val="bg1"/>
                </a:solidFill>
              </a:rPr>
              <a:t>8.4.2.3.1</a:t>
            </a:r>
            <a:r>
              <a:rPr lang="ja-JP" altLang="en-US" sz="2700" b="1" dirty="0">
                <a:solidFill>
                  <a:schemeClr val="bg1"/>
                </a:solidFill>
              </a:rPr>
              <a:t>　自動車製品に関係するソフトウェア又は組込みソフトウェアをもつ製品</a:t>
            </a:r>
          </a:p>
        </p:txBody>
      </p:sp>
      <p:sp>
        <p:nvSpPr>
          <p:cNvPr id="7" name="コンテンツ プレースホルダー 2">
            <a:extLst>
              <a:ext uri="{FF2B5EF4-FFF2-40B4-BE49-F238E27FC236}">
                <a16:creationId xmlns:a16="http://schemas.microsoft.com/office/drawing/2014/main" id="{7292224E-43FE-4E74-904A-71B6069D152D}"/>
              </a:ext>
            </a:extLst>
          </p:cNvPr>
          <p:cNvSpPr txBox="1">
            <a:spLocks/>
          </p:cNvSpPr>
          <p:nvPr/>
        </p:nvSpPr>
        <p:spPr>
          <a:xfrm>
            <a:off x="838200" y="5124948"/>
            <a:ext cx="10515600" cy="123140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組込み（車載される）ソフトウェア開発供給者に対し、</a:t>
            </a:r>
            <a:r>
              <a:rPr lang="en-US" altLang="ja-JP" sz="2400" dirty="0"/>
              <a:t>8.3.2.3</a:t>
            </a:r>
            <a:r>
              <a:rPr lang="ja-JP" altLang="en-US" sz="2400" dirty="0"/>
              <a:t>項の組織に対する要求事項をそのまま要求するということ。</a:t>
            </a:r>
            <a:endParaRPr lang="en-US" altLang="ja-JP" sz="2400" dirty="0"/>
          </a:p>
        </p:txBody>
      </p:sp>
    </p:spTree>
    <p:extLst>
      <p:ext uri="{BB962C8B-B14F-4D97-AF65-F5344CB8AC3E}">
        <p14:creationId xmlns:p14="http://schemas.microsoft.com/office/powerpoint/2010/main" val="3796262743"/>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☑組織は、外部から提供される製品、プロセス及びサービスの内部及び外部顧客の要求事項への適合を確実にするために、</a:t>
            </a:r>
            <a:r>
              <a:rPr lang="ja-JP" altLang="en-US" sz="2000" u="sng" dirty="0"/>
              <a:t>供給者のパフォーマンスを評価する、</a:t>
            </a:r>
            <a:r>
              <a:rPr lang="ja-JP" altLang="en-US" sz="2000" b="1" u="sng" dirty="0"/>
              <a:t>文書化したプロセス</a:t>
            </a:r>
            <a:r>
              <a:rPr lang="ja-JP" altLang="en-US" sz="2000" u="sng" dirty="0"/>
              <a:t>及び判断基準をもたなければならない。</a:t>
            </a:r>
            <a:endParaRPr lang="en-US" altLang="ja-JP" sz="2000" u="sng" dirty="0"/>
          </a:p>
          <a:p>
            <a:pPr marL="0" indent="0">
              <a:lnSpc>
                <a:spcPct val="100000"/>
              </a:lnSpc>
              <a:buNone/>
            </a:pPr>
            <a:r>
              <a:rPr lang="ja-JP" altLang="en-US" sz="2000" dirty="0"/>
              <a:t>☑最低限、次の供給者のパフォーマンス指標を監視しなければならない。</a:t>
            </a:r>
            <a:endParaRPr lang="en-US" altLang="ja-JP" sz="2000" dirty="0"/>
          </a:p>
          <a:p>
            <a:pPr marL="800100" lvl="1" indent="-342900">
              <a:lnSpc>
                <a:spcPct val="100000"/>
              </a:lnSpc>
              <a:buFont typeface="+mj-lt"/>
              <a:buAutoNum type="alphaLcPeriod"/>
            </a:pPr>
            <a:r>
              <a:rPr lang="ja-JP" altLang="en-US" sz="2000" dirty="0"/>
              <a:t>納入された</a:t>
            </a:r>
            <a:r>
              <a:rPr lang="ja-JP" altLang="en-US" sz="2000" u="sng" dirty="0"/>
              <a:t>製品の要求事項への適合</a:t>
            </a:r>
            <a:endParaRPr lang="en-US" altLang="ja-JP" sz="2000" u="sng" dirty="0"/>
          </a:p>
          <a:p>
            <a:pPr marL="800100" lvl="1" indent="-342900">
              <a:lnSpc>
                <a:spcPct val="100000"/>
              </a:lnSpc>
              <a:buFont typeface="+mj-lt"/>
              <a:buAutoNum type="alphaLcPeriod"/>
            </a:pPr>
            <a:r>
              <a:rPr lang="ja-JP" altLang="en-US" sz="2000" u="sng" dirty="0"/>
              <a:t>構内保留及び出荷停止を含む、受入工場において顧客が被った迷惑</a:t>
            </a:r>
            <a:endParaRPr lang="en-US" altLang="ja-JP" sz="2000" u="sng" dirty="0"/>
          </a:p>
          <a:p>
            <a:pPr marL="800100" lvl="1" indent="-342900">
              <a:lnSpc>
                <a:spcPct val="100000"/>
              </a:lnSpc>
              <a:buFont typeface="+mj-lt"/>
              <a:buAutoNum type="alphaLcPeriod"/>
            </a:pPr>
            <a:r>
              <a:rPr lang="ja-JP" altLang="en-US" sz="2000" u="sng" dirty="0"/>
              <a:t>納期パフォーマンス</a:t>
            </a:r>
            <a:endParaRPr lang="en-US" altLang="ja-JP" sz="2000" u="sng" dirty="0"/>
          </a:p>
          <a:p>
            <a:pPr marL="0" indent="0">
              <a:lnSpc>
                <a:spcPct val="100000"/>
              </a:lnSpc>
              <a:buNone/>
            </a:pPr>
            <a:r>
              <a:rPr lang="ja-JP" altLang="en-US" sz="2000" dirty="0"/>
              <a:t>☑もし顧客から提供されれば、組織は、必要限度、次の事項も供給者パフォーマンスの監視に含めなければならない。</a:t>
            </a:r>
            <a:endParaRPr lang="en-US" altLang="ja-JP" sz="2000" dirty="0"/>
          </a:p>
          <a:p>
            <a:pPr marL="914400" lvl="1" indent="-457200">
              <a:lnSpc>
                <a:spcPct val="100000"/>
              </a:lnSpc>
              <a:buFont typeface="+mj-lt"/>
              <a:buAutoNum type="alphaLcPeriod" startAt="5"/>
            </a:pPr>
            <a:r>
              <a:rPr lang="ja-JP" altLang="en-US" sz="2000" dirty="0"/>
              <a:t>品質問題又は納期問題に関係する、特別状態の顧客からの通知</a:t>
            </a:r>
            <a:endParaRPr lang="en-US" altLang="ja-JP" sz="2000" dirty="0"/>
          </a:p>
          <a:p>
            <a:pPr marL="914400" lvl="1" indent="-457200">
              <a:lnSpc>
                <a:spcPct val="100000"/>
              </a:lnSpc>
              <a:buFont typeface="+mj-lt"/>
              <a:buAutoNum type="alphaLcPeriod" startAt="5"/>
            </a:pPr>
            <a:r>
              <a:rPr lang="ja-JP" altLang="en-US" sz="2000" dirty="0"/>
              <a:t>ディーラーからの返却、補償、市場処置及びリコール</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8.4.2.4</a:t>
            </a:r>
            <a:r>
              <a:rPr kumimoji="1" lang="ja-JP" altLang="en-US" sz="3000" b="1" dirty="0">
                <a:solidFill>
                  <a:schemeClr val="tx2"/>
                </a:solidFill>
              </a:rPr>
              <a:t>　供給者の監視</a:t>
            </a:r>
          </a:p>
        </p:txBody>
      </p:sp>
      <p:sp>
        <p:nvSpPr>
          <p:cNvPr id="2" name="四角形: 角を丸くする 1">
            <a:extLst>
              <a:ext uri="{FF2B5EF4-FFF2-40B4-BE49-F238E27FC236}">
                <a16:creationId xmlns:a16="http://schemas.microsoft.com/office/drawing/2014/main" id="{E0597318-4957-4C3C-81BD-9F3EDC872552}"/>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19</a:t>
            </a:r>
          </a:p>
        </p:txBody>
      </p:sp>
    </p:spTree>
    <p:extLst>
      <p:ext uri="{BB962C8B-B14F-4D97-AF65-F5344CB8AC3E}">
        <p14:creationId xmlns:p14="http://schemas.microsoft.com/office/powerpoint/2010/main" val="1361451933"/>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供給者のパフォーマンスを（必須</a:t>
            </a:r>
            <a:r>
              <a:rPr lang="en-US" altLang="ja-JP" sz="2400" dirty="0"/>
              <a:t>3</a:t>
            </a:r>
            <a:r>
              <a:rPr lang="ja-JP" altLang="en-US" sz="2400" dirty="0"/>
              <a:t>つ＋</a:t>
            </a:r>
            <a:r>
              <a:rPr lang="en-US" altLang="ja-JP" sz="2400" dirty="0"/>
              <a:t>2</a:t>
            </a:r>
            <a:r>
              <a:rPr lang="ja-JP" altLang="en-US" sz="2400" dirty="0"/>
              <a:t>つ）の指標で監視する。</a:t>
            </a:r>
            <a:endParaRPr lang="en-US" altLang="ja-JP" sz="2400" dirty="0"/>
          </a:p>
          <a:p>
            <a:pPr marL="914400" lvl="1" indent="-457200">
              <a:lnSpc>
                <a:spcPct val="100000"/>
              </a:lnSpc>
              <a:buFont typeface="+mj-lt"/>
              <a:buAutoNum type="alphaLcPeriod"/>
            </a:pPr>
            <a:r>
              <a:rPr lang="ja-JP" altLang="en-US" sz="2200" dirty="0"/>
              <a:t>納入不良率（</a:t>
            </a:r>
            <a:r>
              <a:rPr lang="en-US" altLang="ja-JP" sz="2200" dirty="0"/>
              <a:t>ppm</a:t>
            </a:r>
            <a:r>
              <a:rPr lang="ja-JP" altLang="en-US" sz="2200" dirty="0"/>
              <a:t>）、納入不良件数、特別採用件数など。</a:t>
            </a:r>
            <a:endParaRPr lang="en-US" altLang="ja-JP" sz="2200" dirty="0"/>
          </a:p>
          <a:p>
            <a:pPr marL="914400" lvl="1" indent="-457200">
              <a:lnSpc>
                <a:spcPct val="100000"/>
              </a:lnSpc>
              <a:buFont typeface="+mj-lt"/>
              <a:buAutoNum type="alphaLcPeriod"/>
            </a:pPr>
            <a:r>
              <a:rPr lang="ja-JP" altLang="en-US" sz="2200" dirty="0"/>
              <a:t>顧客が被った迷惑。</a:t>
            </a:r>
            <a:endParaRPr lang="en-US" altLang="ja-JP" sz="2200" dirty="0"/>
          </a:p>
          <a:p>
            <a:pPr lvl="2">
              <a:lnSpc>
                <a:spcPct val="100000"/>
              </a:lnSpc>
            </a:pPr>
            <a:r>
              <a:rPr lang="ja-JP" altLang="en-US" dirty="0"/>
              <a:t>構内保留：顧客構内における品質問題等での一時保留。</a:t>
            </a:r>
            <a:endParaRPr lang="en-US" altLang="ja-JP" dirty="0"/>
          </a:p>
          <a:p>
            <a:pPr lvl="2">
              <a:lnSpc>
                <a:spcPct val="100000"/>
              </a:lnSpc>
            </a:pPr>
            <a:r>
              <a:rPr lang="ja-JP" altLang="en-US" dirty="0"/>
              <a:t>出荷停止：顧客の最終製品が品質問題等で出荷できないこと。</a:t>
            </a:r>
            <a:endParaRPr lang="en-US" altLang="ja-JP" dirty="0"/>
          </a:p>
          <a:p>
            <a:pPr marL="914400" lvl="1" indent="-457200">
              <a:lnSpc>
                <a:spcPct val="100000"/>
              </a:lnSpc>
              <a:buFont typeface="+mj-lt"/>
              <a:buAutoNum type="alphaLcPeriod"/>
            </a:pPr>
            <a:r>
              <a:rPr lang="ja-JP" altLang="en-US" sz="2200" dirty="0"/>
              <a:t>納期遅延件数、納期順守率など。</a:t>
            </a:r>
            <a:endParaRPr lang="en-US" altLang="ja-JP" sz="2200" dirty="0"/>
          </a:p>
          <a:p>
            <a:pPr marL="457200" lvl="1" indent="0">
              <a:lnSpc>
                <a:spcPct val="100000"/>
              </a:lnSpc>
              <a:buNone/>
            </a:pPr>
            <a:r>
              <a:rPr lang="en-US" altLang="ja-JP" sz="2200" dirty="0"/>
              <a:t>e.   </a:t>
            </a:r>
            <a:r>
              <a:rPr lang="ja-JP" altLang="en-US" sz="2200" dirty="0"/>
              <a:t>認定取り消しなど。</a:t>
            </a:r>
            <a:endParaRPr lang="en-US" altLang="ja-JP" sz="2200" dirty="0"/>
          </a:p>
          <a:p>
            <a:pPr marL="457200" lvl="1" indent="0">
              <a:lnSpc>
                <a:spcPct val="100000"/>
              </a:lnSpc>
              <a:buNone/>
            </a:pPr>
            <a:r>
              <a:rPr lang="en-US" altLang="ja-JP" sz="2200" dirty="0"/>
              <a:t>f.   OEM</a:t>
            </a:r>
            <a:r>
              <a:rPr lang="ja-JP" altLang="en-US" sz="2200" dirty="0"/>
              <a:t>からのリコール、補償、市場回収など。</a:t>
            </a:r>
            <a:endParaRPr lang="en-US" altLang="ja-JP" sz="22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8.4.2.4</a:t>
            </a:r>
            <a:r>
              <a:rPr lang="ja-JP" altLang="en-US" sz="3000" b="1" dirty="0">
                <a:solidFill>
                  <a:schemeClr val="bg1"/>
                </a:solidFill>
              </a:rPr>
              <a:t>　供給者の監視</a:t>
            </a:r>
            <a:endParaRPr kumimoji="1" lang="ja-JP" altLang="en-US" sz="3000" b="1" dirty="0">
              <a:solidFill>
                <a:schemeClr val="bg1"/>
              </a:solidFill>
            </a:endParaRPr>
          </a:p>
        </p:txBody>
      </p:sp>
      <p:sp>
        <p:nvSpPr>
          <p:cNvPr id="2" name="四角形: 角を丸くする 1">
            <a:extLst>
              <a:ext uri="{FF2B5EF4-FFF2-40B4-BE49-F238E27FC236}">
                <a16:creationId xmlns:a16="http://schemas.microsoft.com/office/drawing/2014/main" id="{1F54C2AA-6E12-499F-8013-68BA8C5D9877}"/>
              </a:ext>
            </a:extLst>
          </p:cNvPr>
          <p:cNvSpPr/>
          <p:nvPr/>
        </p:nvSpPr>
        <p:spPr>
          <a:xfrm>
            <a:off x="990604" y="5188945"/>
            <a:ext cx="1122802" cy="102456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tx1"/>
                </a:solidFill>
              </a:rPr>
              <a:t>顧客</a:t>
            </a:r>
          </a:p>
        </p:txBody>
      </p:sp>
      <p:sp>
        <p:nvSpPr>
          <p:cNvPr id="8" name="四角形: 角を丸くする 7">
            <a:extLst>
              <a:ext uri="{FF2B5EF4-FFF2-40B4-BE49-F238E27FC236}">
                <a16:creationId xmlns:a16="http://schemas.microsoft.com/office/drawing/2014/main" id="{497664CA-D6F8-4DBD-A532-F87F12CB38D4}"/>
              </a:ext>
            </a:extLst>
          </p:cNvPr>
          <p:cNvSpPr/>
          <p:nvPr/>
        </p:nvSpPr>
        <p:spPr>
          <a:xfrm>
            <a:off x="5534599" y="5188945"/>
            <a:ext cx="1122802" cy="102456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bg1"/>
                </a:solidFill>
              </a:rPr>
              <a:t>組織</a:t>
            </a:r>
          </a:p>
        </p:txBody>
      </p:sp>
      <p:sp>
        <p:nvSpPr>
          <p:cNvPr id="10" name="四角形: 角を丸くする 9">
            <a:extLst>
              <a:ext uri="{FF2B5EF4-FFF2-40B4-BE49-F238E27FC236}">
                <a16:creationId xmlns:a16="http://schemas.microsoft.com/office/drawing/2014/main" id="{18232270-9AC7-46F5-86EA-05842901325E}"/>
              </a:ext>
            </a:extLst>
          </p:cNvPr>
          <p:cNvSpPr/>
          <p:nvPr/>
        </p:nvSpPr>
        <p:spPr>
          <a:xfrm>
            <a:off x="10078594" y="5188945"/>
            <a:ext cx="1122802" cy="102456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tx1"/>
                </a:solidFill>
              </a:rPr>
              <a:t>供給者</a:t>
            </a:r>
          </a:p>
        </p:txBody>
      </p:sp>
      <p:sp>
        <p:nvSpPr>
          <p:cNvPr id="3" name="矢印: 左右 2">
            <a:extLst>
              <a:ext uri="{FF2B5EF4-FFF2-40B4-BE49-F238E27FC236}">
                <a16:creationId xmlns:a16="http://schemas.microsoft.com/office/drawing/2014/main" id="{EFBB9761-F07D-4418-B654-9D67169C39A0}"/>
              </a:ext>
            </a:extLst>
          </p:cNvPr>
          <p:cNvSpPr/>
          <p:nvPr/>
        </p:nvSpPr>
        <p:spPr>
          <a:xfrm>
            <a:off x="2011495" y="5188945"/>
            <a:ext cx="3618124" cy="1024568"/>
          </a:xfrm>
          <a:prstGeom prst="leftRightArrow">
            <a:avLst>
              <a:gd name="adj1" fmla="val 86559"/>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rPr>
              <a:t>9.1.2.1</a:t>
            </a:r>
          </a:p>
          <a:p>
            <a:pPr algn="ctr"/>
            <a:r>
              <a:rPr lang="ja-JP" altLang="en-US" sz="2000" b="1" dirty="0">
                <a:solidFill>
                  <a:schemeClr val="tx1"/>
                </a:solidFill>
              </a:rPr>
              <a:t>顧客満足（の監視）</a:t>
            </a:r>
            <a:endParaRPr kumimoji="1" lang="ja-JP" altLang="en-US" sz="2000" b="1" dirty="0">
              <a:solidFill>
                <a:schemeClr val="tx1"/>
              </a:solidFill>
            </a:endParaRPr>
          </a:p>
        </p:txBody>
      </p:sp>
      <p:sp>
        <p:nvSpPr>
          <p:cNvPr id="11" name="矢印: 左右 10">
            <a:extLst>
              <a:ext uri="{FF2B5EF4-FFF2-40B4-BE49-F238E27FC236}">
                <a16:creationId xmlns:a16="http://schemas.microsoft.com/office/drawing/2014/main" id="{F29643FD-1BDE-4DAF-9A98-7B81AF131BFC}"/>
              </a:ext>
            </a:extLst>
          </p:cNvPr>
          <p:cNvSpPr/>
          <p:nvPr/>
        </p:nvSpPr>
        <p:spPr>
          <a:xfrm>
            <a:off x="6556414" y="5196421"/>
            <a:ext cx="3618124" cy="1024568"/>
          </a:xfrm>
          <a:prstGeom prst="leftRightArrow">
            <a:avLst>
              <a:gd name="adj1" fmla="val 86559"/>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rPr>
              <a:t>8.4.2.4</a:t>
            </a:r>
          </a:p>
          <a:p>
            <a:pPr algn="ctr"/>
            <a:r>
              <a:rPr lang="ja-JP" altLang="en-US" sz="2000" b="1" dirty="0">
                <a:solidFill>
                  <a:schemeClr val="tx1"/>
                </a:solidFill>
              </a:rPr>
              <a:t>供給者の監視</a:t>
            </a:r>
            <a:endParaRPr kumimoji="1" lang="ja-JP" altLang="en-US" sz="2000" b="1" dirty="0">
              <a:solidFill>
                <a:schemeClr val="tx1"/>
              </a:solidFill>
            </a:endParaRPr>
          </a:p>
        </p:txBody>
      </p:sp>
      <p:sp>
        <p:nvSpPr>
          <p:cNvPr id="6" name="正方形/長方形 5">
            <a:extLst>
              <a:ext uri="{FF2B5EF4-FFF2-40B4-BE49-F238E27FC236}">
                <a16:creationId xmlns:a16="http://schemas.microsoft.com/office/drawing/2014/main" id="{FD147883-2109-4AA2-BE14-25829520E7C8}"/>
              </a:ext>
            </a:extLst>
          </p:cNvPr>
          <p:cNvSpPr/>
          <p:nvPr/>
        </p:nvSpPr>
        <p:spPr>
          <a:xfrm>
            <a:off x="7546554" y="4142342"/>
            <a:ext cx="3618124" cy="84514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9.1</a:t>
            </a:r>
            <a:r>
              <a:rPr kumimoji="1" lang="ja-JP" altLang="en-US" sz="2000" dirty="0">
                <a:solidFill>
                  <a:schemeClr val="tx1"/>
                </a:solidFill>
              </a:rPr>
              <a:t>監視、測定、分析及び評価の重要項目となる。</a:t>
            </a:r>
          </a:p>
        </p:txBody>
      </p:sp>
      <p:cxnSp>
        <p:nvCxnSpPr>
          <p:cNvPr id="13" name="直線矢印コネクタ 12">
            <a:extLst>
              <a:ext uri="{FF2B5EF4-FFF2-40B4-BE49-F238E27FC236}">
                <a16:creationId xmlns:a16="http://schemas.microsoft.com/office/drawing/2014/main" id="{44704997-5D95-4BBB-9C60-AE6174DD5DE3}"/>
              </a:ext>
            </a:extLst>
          </p:cNvPr>
          <p:cNvCxnSpPr>
            <a:stCxn id="3" idx="1"/>
            <a:endCxn id="6" idx="1"/>
          </p:cNvCxnSpPr>
          <p:nvPr/>
        </p:nvCxnSpPr>
        <p:spPr>
          <a:xfrm flipV="1">
            <a:off x="3820557" y="4564913"/>
            <a:ext cx="3725997" cy="6928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56AFA1C0-AA79-40D3-B4DE-4A9E66375F96}"/>
              </a:ext>
            </a:extLst>
          </p:cNvPr>
          <p:cNvCxnSpPr>
            <a:cxnSpLocks/>
            <a:stCxn id="11" idx="1"/>
            <a:endCxn id="6" idx="2"/>
          </p:cNvCxnSpPr>
          <p:nvPr/>
        </p:nvCxnSpPr>
        <p:spPr>
          <a:xfrm flipV="1">
            <a:off x="8365476" y="4987483"/>
            <a:ext cx="990140" cy="2777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吹き出し: 角を丸めた四角形 11">
            <a:extLst>
              <a:ext uri="{FF2B5EF4-FFF2-40B4-BE49-F238E27FC236}">
                <a16:creationId xmlns:a16="http://schemas.microsoft.com/office/drawing/2014/main" id="{24FE2A58-29D9-49E0-BD62-69CF141AED2E}"/>
              </a:ext>
            </a:extLst>
          </p:cNvPr>
          <p:cNvSpPr/>
          <p:nvPr/>
        </p:nvSpPr>
        <p:spPr>
          <a:xfrm>
            <a:off x="7846274" y="3321317"/>
            <a:ext cx="3507526" cy="716556"/>
          </a:xfrm>
          <a:prstGeom prst="wedgeRoundRectCallout">
            <a:avLst>
              <a:gd name="adj1" fmla="val -39681"/>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2020</a:t>
            </a:r>
            <a:r>
              <a:rPr kumimoji="1" lang="ja-JP" altLang="en-US" dirty="0">
                <a:solidFill>
                  <a:schemeClr val="tx1"/>
                </a:solidFill>
              </a:rPr>
              <a:t>年</a:t>
            </a:r>
            <a:r>
              <a:rPr kumimoji="1" lang="en-US" altLang="ja-JP" dirty="0">
                <a:solidFill>
                  <a:schemeClr val="tx1"/>
                </a:solidFill>
              </a:rPr>
              <a:t>9</a:t>
            </a:r>
            <a:r>
              <a:rPr kumimoji="1" lang="ja-JP" altLang="en-US" dirty="0">
                <a:solidFill>
                  <a:schemeClr val="tx1"/>
                </a:solidFill>
              </a:rPr>
              <a:t>月に</a:t>
            </a:r>
            <a:r>
              <a:rPr kumimoji="1" lang="en-US" altLang="ja-JP" dirty="0">
                <a:solidFill>
                  <a:schemeClr val="tx1"/>
                </a:solidFill>
              </a:rPr>
              <a:t>SI19</a:t>
            </a:r>
            <a:r>
              <a:rPr kumimoji="1" lang="ja-JP" altLang="en-US" dirty="0">
                <a:solidFill>
                  <a:schemeClr val="tx1"/>
                </a:solidFill>
              </a:rPr>
              <a:t>により「特別輸送費削除」</a:t>
            </a:r>
          </a:p>
        </p:txBody>
      </p:sp>
    </p:spTree>
    <p:extLst>
      <p:ext uri="{BB962C8B-B14F-4D97-AF65-F5344CB8AC3E}">
        <p14:creationId xmlns:p14="http://schemas.microsoft.com/office/powerpoint/2010/main" val="1563545424"/>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92500" lnSpcReduction="10000"/>
          </a:bodyPr>
          <a:lstStyle/>
          <a:p>
            <a:pPr marL="0" indent="0">
              <a:lnSpc>
                <a:spcPct val="100000"/>
              </a:lnSpc>
              <a:buNone/>
            </a:pPr>
            <a:r>
              <a:rPr lang="ja-JP" altLang="en-US" sz="2000" dirty="0"/>
              <a:t>☑組織は、</a:t>
            </a:r>
            <a:r>
              <a:rPr lang="ja-JP" altLang="en-US" sz="2000" u="sng" dirty="0"/>
              <a:t>供給者の管理方法に第二者監査プロセスを含めなければならない。</a:t>
            </a:r>
            <a:r>
              <a:rPr lang="ja-JP" altLang="en-US" sz="2000" dirty="0"/>
              <a:t>第二者監査は、次の事項に対して使用してもよい。</a:t>
            </a:r>
            <a:endParaRPr lang="en-US" altLang="ja-JP" sz="2000" dirty="0"/>
          </a:p>
          <a:p>
            <a:pPr marL="800100" lvl="1" indent="-342900">
              <a:lnSpc>
                <a:spcPct val="100000"/>
              </a:lnSpc>
              <a:buFont typeface="+mj-lt"/>
              <a:buAutoNum type="alphaLcPeriod"/>
            </a:pPr>
            <a:r>
              <a:rPr lang="ja-JP" altLang="en-US" sz="2000" dirty="0"/>
              <a:t>供給者のリスク評価</a:t>
            </a:r>
            <a:endParaRPr lang="en-US" altLang="ja-JP" sz="2000" dirty="0"/>
          </a:p>
          <a:p>
            <a:pPr marL="800100" lvl="1" indent="-342900">
              <a:lnSpc>
                <a:spcPct val="100000"/>
              </a:lnSpc>
              <a:buFont typeface="+mj-lt"/>
              <a:buAutoNum type="alphaLcPeriod"/>
            </a:pPr>
            <a:r>
              <a:rPr lang="ja-JP" altLang="en-US" sz="2000" dirty="0"/>
              <a:t>供給者の監視</a:t>
            </a:r>
            <a:endParaRPr lang="en-US" altLang="ja-JP" sz="2000" dirty="0"/>
          </a:p>
          <a:p>
            <a:pPr marL="800100" lvl="1" indent="-342900">
              <a:lnSpc>
                <a:spcPct val="100000"/>
              </a:lnSpc>
              <a:buFont typeface="+mj-lt"/>
              <a:buAutoNum type="alphaLcPeriod"/>
            </a:pPr>
            <a:r>
              <a:rPr lang="ja-JP" altLang="en-US" sz="2000" dirty="0"/>
              <a:t>供給者の</a:t>
            </a:r>
            <a:r>
              <a:rPr lang="en-US" altLang="ja-JP" sz="2000" dirty="0"/>
              <a:t>QMS</a:t>
            </a:r>
            <a:r>
              <a:rPr lang="ja-JP" altLang="en-US" sz="2000" dirty="0"/>
              <a:t>開発</a:t>
            </a:r>
            <a:endParaRPr lang="en-US" altLang="ja-JP" sz="2000" dirty="0"/>
          </a:p>
          <a:p>
            <a:pPr marL="800100" lvl="1" indent="-342900">
              <a:lnSpc>
                <a:spcPct val="100000"/>
              </a:lnSpc>
              <a:buFont typeface="+mj-lt"/>
              <a:buAutoNum type="alphaLcPeriod"/>
            </a:pPr>
            <a:r>
              <a:rPr lang="ja-JP" altLang="en-US" sz="2000" dirty="0"/>
              <a:t>製品監査</a:t>
            </a:r>
            <a:endParaRPr lang="en-US" altLang="ja-JP" sz="2000" dirty="0"/>
          </a:p>
          <a:p>
            <a:pPr marL="800100" lvl="1" indent="-342900">
              <a:lnSpc>
                <a:spcPct val="100000"/>
              </a:lnSpc>
              <a:buFont typeface="+mj-lt"/>
              <a:buAutoNum type="alphaLcPeriod"/>
            </a:pPr>
            <a:r>
              <a:rPr lang="ja-JP" altLang="en-US" sz="2000" dirty="0"/>
              <a:t>工程監査</a:t>
            </a:r>
            <a:endParaRPr lang="en-US" altLang="ja-JP" sz="2000" dirty="0"/>
          </a:p>
          <a:p>
            <a:pPr marL="0" indent="0">
              <a:lnSpc>
                <a:spcPct val="100000"/>
              </a:lnSpc>
              <a:buNone/>
            </a:pPr>
            <a:r>
              <a:rPr lang="ja-JP" altLang="en-US" sz="2000" dirty="0"/>
              <a:t>☑最低限、製品安全／規制要求事項、供給者のパフォーマンス及び</a:t>
            </a:r>
            <a:r>
              <a:rPr lang="en-US" altLang="ja-JP" sz="2000" dirty="0"/>
              <a:t>QMS</a:t>
            </a:r>
            <a:r>
              <a:rPr lang="ja-JP" altLang="en-US" sz="2000" dirty="0"/>
              <a:t>認証レベルを含む、リスク分析に基づいて、組織は、</a:t>
            </a:r>
            <a:r>
              <a:rPr lang="ja-JP" altLang="en-US" sz="2000" u="sng" dirty="0"/>
              <a:t>第二者監査の必要性、方式、頻度及び範囲を決定するための基準を</a:t>
            </a:r>
            <a:r>
              <a:rPr lang="ja-JP" altLang="en-US" sz="2000" b="1" u="sng" dirty="0"/>
              <a:t>文書化</a:t>
            </a:r>
            <a:r>
              <a:rPr lang="ja-JP" altLang="en-US" sz="2000" u="sng" dirty="0"/>
              <a:t>しなければならない。</a:t>
            </a:r>
            <a:endParaRPr lang="en-US" altLang="ja-JP" sz="2000" u="sng" dirty="0"/>
          </a:p>
          <a:p>
            <a:pPr marL="0" indent="0">
              <a:lnSpc>
                <a:spcPct val="100000"/>
              </a:lnSpc>
              <a:buNone/>
            </a:pPr>
            <a:r>
              <a:rPr lang="ja-JP" altLang="en-US" sz="2000" dirty="0"/>
              <a:t>☑組織は、第二者監査報告書の</a:t>
            </a:r>
            <a:r>
              <a:rPr lang="ja-JP" altLang="en-US" sz="2000" b="1" dirty="0"/>
              <a:t>記録を保持</a:t>
            </a:r>
            <a:r>
              <a:rPr lang="ja-JP" altLang="en-US" sz="2000" dirty="0"/>
              <a:t>しなければならない。</a:t>
            </a:r>
            <a:endParaRPr lang="en-US" altLang="ja-JP" sz="2000" dirty="0"/>
          </a:p>
          <a:p>
            <a:pPr marL="0" indent="0">
              <a:lnSpc>
                <a:spcPct val="100000"/>
              </a:lnSpc>
              <a:buNone/>
            </a:pPr>
            <a:r>
              <a:rPr lang="ja-JP" altLang="en-US" sz="2000" dirty="0"/>
              <a:t>☑第二者監査の範囲が供給者の品質マネジメントシステムを評価する場合、その方法は自動車産業プロセスアプローチと整合性がとれていなければならない。</a:t>
            </a:r>
          </a:p>
          <a:p>
            <a:pPr marL="0" indent="0">
              <a:lnSpc>
                <a:spcPct val="100000"/>
              </a:lnSpc>
              <a:buNone/>
            </a:pPr>
            <a:r>
              <a:rPr lang="ja-JP" altLang="en-US" sz="2000" dirty="0"/>
              <a:t>注記　手引は、</a:t>
            </a:r>
            <a:r>
              <a:rPr lang="en-US" altLang="ja-JP" sz="2000" dirty="0"/>
              <a:t>IATF</a:t>
            </a:r>
            <a:r>
              <a:rPr lang="ja-JP" altLang="en-US" sz="2000" dirty="0"/>
              <a:t>審査員ガイド及び</a:t>
            </a:r>
            <a:r>
              <a:rPr lang="en-US" altLang="ja-JP" sz="2000" dirty="0"/>
              <a:t>ISO19011</a:t>
            </a:r>
            <a:r>
              <a:rPr lang="ja-JP" altLang="en-US" sz="2000" dirty="0"/>
              <a:t>に見いだすことができる。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8.4.2.4.1</a:t>
            </a:r>
            <a:r>
              <a:rPr kumimoji="1" lang="ja-JP" altLang="en-US" sz="3000" b="1" dirty="0">
                <a:solidFill>
                  <a:schemeClr val="tx2"/>
                </a:solidFill>
              </a:rPr>
              <a:t>　第二者監査</a:t>
            </a:r>
          </a:p>
        </p:txBody>
      </p:sp>
    </p:spTree>
    <p:extLst>
      <p:ext uri="{BB962C8B-B14F-4D97-AF65-F5344CB8AC3E}">
        <p14:creationId xmlns:p14="http://schemas.microsoft.com/office/powerpoint/2010/main" val="4224486297"/>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5699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第二者監査員の力量は、</a:t>
            </a:r>
            <a:r>
              <a:rPr lang="en-US" altLang="ja-JP" sz="2400" dirty="0"/>
              <a:t>7.2.4</a:t>
            </a:r>
            <a:r>
              <a:rPr lang="ja-JP" altLang="en-US" sz="2400" dirty="0"/>
              <a:t>項を満足すること。</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249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8.4.2.4.1</a:t>
            </a:r>
            <a:r>
              <a:rPr lang="ja-JP" altLang="en-US" sz="3000" b="1" dirty="0">
                <a:solidFill>
                  <a:schemeClr val="bg1"/>
                </a:solidFill>
              </a:rPr>
              <a:t>　第二者監査</a:t>
            </a:r>
            <a:endParaRPr kumimoji="1" lang="ja-JP" altLang="en-US" sz="3000" b="1" dirty="0">
              <a:solidFill>
                <a:schemeClr val="bg1"/>
              </a:solidFill>
            </a:endParaRPr>
          </a:p>
        </p:txBody>
      </p:sp>
      <p:graphicFrame>
        <p:nvGraphicFramePr>
          <p:cNvPr id="2" name="表 2">
            <a:extLst>
              <a:ext uri="{FF2B5EF4-FFF2-40B4-BE49-F238E27FC236}">
                <a16:creationId xmlns:a16="http://schemas.microsoft.com/office/drawing/2014/main" id="{24012E8B-2231-48C0-AC7A-C1727C285728}"/>
              </a:ext>
            </a:extLst>
          </p:cNvPr>
          <p:cNvGraphicFramePr>
            <a:graphicFrameLocks noGrp="1"/>
          </p:cNvGraphicFramePr>
          <p:nvPr>
            <p:extLst>
              <p:ext uri="{D42A27DB-BD31-4B8C-83A1-F6EECF244321}">
                <p14:modId xmlns:p14="http://schemas.microsoft.com/office/powerpoint/2010/main" val="1217219888"/>
              </p:ext>
            </p:extLst>
          </p:nvPr>
        </p:nvGraphicFramePr>
        <p:xfrm>
          <a:off x="838200" y="1977656"/>
          <a:ext cx="10515600" cy="4297680"/>
        </p:xfrm>
        <a:graphic>
          <a:graphicData uri="http://schemas.openxmlformats.org/drawingml/2006/table">
            <a:tbl>
              <a:tblPr firstRow="1" bandRow="1">
                <a:tableStyleId>{5940675A-B579-460E-94D1-54222C63F5DA}</a:tableStyleId>
              </a:tblPr>
              <a:tblGrid>
                <a:gridCol w="4499344">
                  <a:extLst>
                    <a:ext uri="{9D8B030D-6E8A-4147-A177-3AD203B41FA5}">
                      <a16:colId xmlns:a16="http://schemas.microsoft.com/office/drawing/2014/main" val="1239745212"/>
                    </a:ext>
                  </a:extLst>
                </a:gridCol>
                <a:gridCol w="786809">
                  <a:extLst>
                    <a:ext uri="{9D8B030D-6E8A-4147-A177-3AD203B41FA5}">
                      <a16:colId xmlns:a16="http://schemas.microsoft.com/office/drawing/2014/main" val="2232558707"/>
                    </a:ext>
                  </a:extLst>
                </a:gridCol>
                <a:gridCol w="5229447">
                  <a:extLst>
                    <a:ext uri="{9D8B030D-6E8A-4147-A177-3AD203B41FA5}">
                      <a16:colId xmlns:a16="http://schemas.microsoft.com/office/drawing/2014/main" val="435994490"/>
                    </a:ext>
                  </a:extLst>
                </a:gridCol>
              </a:tblGrid>
              <a:tr h="370840">
                <a:tc>
                  <a:txBody>
                    <a:bodyPr/>
                    <a:lstStyle/>
                    <a:p>
                      <a:pPr algn="ctr"/>
                      <a:r>
                        <a:rPr kumimoji="1" lang="ja-JP" altLang="en-US" sz="2000" dirty="0"/>
                        <a:t>力量（</a:t>
                      </a:r>
                      <a:r>
                        <a:rPr kumimoji="1" lang="en-US" altLang="ja-JP" sz="2000" dirty="0"/>
                        <a:t>7.2.4</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rowSpan="7">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2000" dirty="0"/>
                        <a:t>実施事項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860147674"/>
                  </a:ext>
                </a:extLst>
              </a:tr>
              <a:tr h="370840">
                <a:tc>
                  <a:txBody>
                    <a:bodyPr/>
                    <a:lstStyle/>
                    <a:p>
                      <a:pPr marL="457200" indent="-457200">
                        <a:buFont typeface="+mj-lt"/>
                        <a:buAutoNum type="alphaLcPeriod"/>
                      </a:pPr>
                      <a:r>
                        <a:rPr kumimoji="1" lang="ja-JP" altLang="en-US" sz="2000" dirty="0"/>
                        <a:t>自動車産業プロセスアプローチ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「プロセス管理図」を要求し、プロセスアプローチにて監査を行う。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2373202"/>
                  </a:ext>
                </a:extLst>
              </a:tr>
              <a:tr h="370840">
                <a:tc>
                  <a:txBody>
                    <a:bodyPr/>
                    <a:lstStyle/>
                    <a:p>
                      <a:pPr marL="457200" indent="-457200">
                        <a:buFont typeface="+mj-lt"/>
                        <a:buAutoNum type="alphaLcPeriod" startAt="2"/>
                      </a:pPr>
                      <a:r>
                        <a:rPr kumimoji="1" lang="ja-JP" altLang="en-US" sz="2000" dirty="0"/>
                        <a:t>顧客・組織の固有要求事項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sz="2000" dirty="0"/>
                        <a:t>該当する要求事項が実施されているか。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781856"/>
                  </a:ext>
                </a:extLst>
              </a:tr>
              <a:tr h="370840">
                <a:tc>
                  <a:txBody>
                    <a:bodyPr/>
                    <a:lstStyle/>
                    <a:p>
                      <a:pPr marL="457200" indent="-457200">
                        <a:buFont typeface="+mj-lt"/>
                        <a:buAutoNum type="alphaLcPeriod" startAt="3"/>
                      </a:pPr>
                      <a:r>
                        <a:rPr kumimoji="1" lang="ja-JP" altLang="en-US" sz="2000" dirty="0"/>
                        <a:t>規格要求事項（</a:t>
                      </a:r>
                      <a:r>
                        <a:rPr kumimoji="1" lang="en-US" altLang="ja-JP" sz="2000" dirty="0"/>
                        <a:t>ISO9001</a:t>
                      </a:r>
                      <a:r>
                        <a:rPr kumimoji="1" lang="ja-JP" altLang="en-US" sz="2000" dirty="0"/>
                        <a:t>・</a:t>
                      </a:r>
                      <a:r>
                        <a:rPr kumimoji="1" lang="en-US" altLang="ja-JP" sz="2000" dirty="0"/>
                        <a:t>IATF16949</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7200357"/>
                  </a:ext>
                </a:extLst>
              </a:tr>
              <a:tr h="370840">
                <a:tc>
                  <a:txBody>
                    <a:bodyPr/>
                    <a:lstStyle/>
                    <a:p>
                      <a:pPr marL="457200" indent="-457200">
                        <a:buFont typeface="+mj-lt"/>
                        <a:buAutoNum type="alphaLcPeriod" startAt="4"/>
                      </a:pPr>
                      <a:r>
                        <a:rPr kumimoji="1" lang="ja-JP" altLang="en-US" sz="2000" dirty="0"/>
                        <a:t>監査対象の製造工程（</a:t>
                      </a:r>
                      <a:r>
                        <a:rPr kumimoji="1" lang="en-US" altLang="ja-JP" sz="2000" dirty="0"/>
                        <a:t>PFMEA</a:t>
                      </a:r>
                      <a:r>
                        <a:rPr kumimoji="1" lang="ja-JP" altLang="en-US" sz="2000" dirty="0"/>
                        <a:t>・</a:t>
                      </a:r>
                      <a:r>
                        <a:rPr kumimoji="1" lang="en-US" altLang="ja-JP" sz="2000" dirty="0"/>
                        <a:t>CP</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a:t>
                      </a:r>
                      <a:r>
                        <a:rPr kumimoji="1" lang="en-US" altLang="ja-JP" sz="2000" dirty="0"/>
                        <a:t>CP</a:t>
                      </a:r>
                      <a:r>
                        <a:rPr kumimoji="1" lang="ja-JP" altLang="en-US" sz="2000" dirty="0"/>
                        <a:t>」に基づき製造工程を監査する。（</a:t>
                      </a:r>
                      <a:r>
                        <a:rPr kumimoji="1" lang="en-US" altLang="ja-JP" sz="2000" dirty="0"/>
                        <a:t>PFMEA</a:t>
                      </a:r>
                      <a:r>
                        <a:rPr kumimoji="1" lang="ja-JP" altLang="en-US" sz="2000" dirty="0"/>
                        <a:t>の適切性及び関連する標準類など）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5977304"/>
                  </a:ext>
                </a:extLst>
              </a:tr>
              <a:tr h="370840">
                <a:tc>
                  <a:txBody>
                    <a:bodyPr/>
                    <a:lstStyle/>
                    <a:p>
                      <a:pPr marL="457200" indent="-457200">
                        <a:buFont typeface="+mj-lt"/>
                        <a:buAutoNum type="alphaLcPeriod" startAt="5"/>
                      </a:pPr>
                      <a:r>
                        <a:rPr kumimoji="1" lang="ja-JP" altLang="en-US" sz="2000" dirty="0"/>
                        <a:t>該当するコアツール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該当するツールが活用されているか。（</a:t>
                      </a:r>
                      <a:r>
                        <a:rPr kumimoji="1" lang="en-US" altLang="ja-JP" sz="2000" dirty="0"/>
                        <a:t>PFMEA</a:t>
                      </a:r>
                      <a:r>
                        <a:rPr kumimoji="1" lang="ja-JP" altLang="en-US" sz="2000" dirty="0"/>
                        <a:t>・</a:t>
                      </a:r>
                      <a:r>
                        <a:rPr kumimoji="1" lang="en-US" altLang="ja-JP" sz="2000" dirty="0"/>
                        <a:t>SPC</a:t>
                      </a:r>
                      <a:r>
                        <a:rPr kumimoji="1" lang="ja-JP" altLang="en-US" sz="2000" dirty="0"/>
                        <a:t>・</a:t>
                      </a:r>
                      <a:r>
                        <a:rPr kumimoji="1" lang="en-US" altLang="ja-JP" sz="2000" dirty="0"/>
                        <a:t>MSA</a:t>
                      </a:r>
                      <a:r>
                        <a:rPr kumimoji="1" lang="ja-JP" altLang="en-US" sz="2000" dirty="0"/>
                        <a:t>が中心）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671939"/>
                  </a:ext>
                </a:extLst>
              </a:tr>
              <a:tr h="370840">
                <a:tc>
                  <a:txBody>
                    <a:bodyPr/>
                    <a:lstStyle/>
                    <a:p>
                      <a:pPr marL="457200" indent="-457200">
                        <a:buFont typeface="+mj-lt"/>
                        <a:buAutoNum type="alphaLcPeriod" startAt="6"/>
                      </a:pPr>
                      <a:r>
                        <a:rPr kumimoji="1" lang="ja-JP" altLang="en-US" sz="2000" dirty="0"/>
                        <a:t>監査の実施の仕方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計画書、報告書、所見及び是正指示など。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780320"/>
                  </a:ext>
                </a:extLst>
              </a:tr>
            </a:tbl>
          </a:graphicData>
        </a:graphic>
      </p:graphicFrame>
      <p:sp>
        <p:nvSpPr>
          <p:cNvPr id="6" name="矢印: 右 5">
            <a:extLst>
              <a:ext uri="{FF2B5EF4-FFF2-40B4-BE49-F238E27FC236}">
                <a16:creationId xmlns:a16="http://schemas.microsoft.com/office/drawing/2014/main" id="{550D70AE-9931-4B3E-ABBC-8AD56ED4D798}"/>
              </a:ext>
            </a:extLst>
          </p:cNvPr>
          <p:cNvSpPr/>
          <p:nvPr/>
        </p:nvSpPr>
        <p:spPr>
          <a:xfrm>
            <a:off x="5528930" y="3785191"/>
            <a:ext cx="435935" cy="1116418"/>
          </a:xfrm>
          <a:prstGeom prst="rightArrow">
            <a:avLst>
              <a:gd name="adj1" fmla="val 69572"/>
              <a:gd name="adj2" fmla="val 47561"/>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45411830"/>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52352"/>
            <a:ext cx="10515600" cy="480399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供給者管理の多くの情報（</a:t>
            </a:r>
            <a:r>
              <a:rPr lang="en-US" altLang="ja-JP" sz="2400" dirty="0"/>
              <a:t>a</a:t>
            </a:r>
            <a:r>
              <a:rPr lang="ja-JP" altLang="en-US" sz="2400" dirty="0"/>
              <a:t>～</a:t>
            </a:r>
            <a:r>
              <a:rPr lang="en-US" altLang="ja-JP" sz="2400" dirty="0"/>
              <a:t>e</a:t>
            </a:r>
            <a:r>
              <a:rPr lang="ja-JP" altLang="en-US" sz="2400" dirty="0"/>
              <a:t>）は第二者監査によってもたらされる。</a:t>
            </a:r>
            <a:endParaRPr lang="en-US" altLang="ja-JP" sz="2400" dirty="0"/>
          </a:p>
          <a:p>
            <a:pPr marL="914400" lvl="1" indent="-457200">
              <a:lnSpc>
                <a:spcPct val="100000"/>
              </a:lnSpc>
              <a:buFont typeface="+mj-lt"/>
              <a:buAutoNum type="alphaLcPeriod"/>
            </a:pPr>
            <a:r>
              <a:rPr lang="en-US" altLang="ja-JP" sz="2200" dirty="0"/>
              <a:t>8.4.1.2</a:t>
            </a:r>
            <a:r>
              <a:rPr lang="ja-JP" altLang="en-US" sz="2200" dirty="0"/>
              <a:t>に関連し、供給者の選定が目的である。</a:t>
            </a:r>
            <a:endParaRPr lang="en-US" altLang="ja-JP" sz="2200" dirty="0"/>
          </a:p>
          <a:p>
            <a:pPr marL="914400" lvl="1" indent="-457200">
              <a:lnSpc>
                <a:spcPct val="100000"/>
              </a:lnSpc>
              <a:buFont typeface="+mj-lt"/>
              <a:buAutoNum type="alphaLcPeriod"/>
            </a:pPr>
            <a:r>
              <a:rPr lang="en-US" altLang="ja-JP" sz="2200" dirty="0"/>
              <a:t>8.4.2.5</a:t>
            </a:r>
            <a:r>
              <a:rPr lang="ja-JP" altLang="en-US" sz="2200" dirty="0"/>
              <a:t>に関連し、供給者開発のためのインプットとなる。</a:t>
            </a:r>
            <a:endParaRPr lang="en-US" altLang="ja-JP" sz="2200" dirty="0"/>
          </a:p>
          <a:p>
            <a:pPr marL="914400" lvl="1" indent="-457200">
              <a:lnSpc>
                <a:spcPct val="100000"/>
              </a:lnSpc>
              <a:buFont typeface="+mj-lt"/>
              <a:buAutoNum type="alphaLcPeriod"/>
            </a:pPr>
            <a:r>
              <a:rPr lang="en-US" altLang="ja-JP" sz="2200" dirty="0"/>
              <a:t>8.4.2.3</a:t>
            </a:r>
            <a:r>
              <a:rPr lang="ja-JP" altLang="en-US" sz="2200" dirty="0"/>
              <a:t>に関連し、第二者監査により</a:t>
            </a:r>
            <a:r>
              <a:rPr lang="en-US" altLang="ja-JP" sz="2200" dirty="0"/>
              <a:t>ISO9001</a:t>
            </a:r>
            <a:r>
              <a:rPr lang="ja-JP" altLang="en-US" sz="2200" dirty="0"/>
              <a:t>及び</a:t>
            </a:r>
            <a:r>
              <a:rPr lang="en-US" altLang="ja-JP" sz="2200" dirty="0"/>
              <a:t>IATF16949</a:t>
            </a:r>
            <a:r>
              <a:rPr lang="ja-JP" altLang="en-US" sz="2200" dirty="0" err="1"/>
              <a:t>への</a:t>
            </a:r>
            <a:r>
              <a:rPr lang="ja-JP" altLang="en-US" sz="2200" dirty="0"/>
              <a:t>適合を実証する。</a:t>
            </a:r>
            <a:endParaRPr lang="en-US" altLang="ja-JP" sz="2200" dirty="0"/>
          </a:p>
          <a:p>
            <a:pPr marL="914400" lvl="1" indent="-457200">
              <a:lnSpc>
                <a:spcPct val="100000"/>
              </a:lnSpc>
              <a:buFont typeface="+mj-lt"/>
              <a:buAutoNum type="alphaLcPeriod"/>
            </a:pPr>
            <a:r>
              <a:rPr lang="ja-JP" altLang="en-US" sz="2200" dirty="0"/>
              <a:t>供給者のサイトにおける製品監査（</a:t>
            </a:r>
            <a:r>
              <a:rPr lang="en-US" altLang="ja-JP" sz="2200" dirty="0"/>
              <a:t>9.2.2.4</a:t>
            </a:r>
            <a:r>
              <a:rPr lang="ja-JP" altLang="en-US" sz="2200" dirty="0"/>
              <a:t>関連）</a:t>
            </a:r>
            <a:endParaRPr lang="en-US" altLang="ja-JP" sz="2200" dirty="0"/>
          </a:p>
          <a:p>
            <a:pPr marL="914400" lvl="1" indent="-457200">
              <a:lnSpc>
                <a:spcPct val="100000"/>
              </a:lnSpc>
              <a:buFont typeface="+mj-lt"/>
              <a:buAutoNum type="alphaLcPeriod"/>
            </a:pPr>
            <a:r>
              <a:rPr lang="ja-JP" altLang="en-US" sz="2200" dirty="0"/>
              <a:t>供給者のサイトにおける工程監査（</a:t>
            </a:r>
            <a:r>
              <a:rPr lang="en-US" altLang="ja-JP" sz="2200" dirty="0"/>
              <a:t>9.2.2.3</a:t>
            </a:r>
            <a:r>
              <a:rPr lang="ja-JP" altLang="en-US" sz="2200" dirty="0"/>
              <a:t>関連）</a:t>
            </a:r>
            <a:endParaRPr lang="en-US" altLang="ja-JP" sz="2200" dirty="0"/>
          </a:p>
          <a:p>
            <a:pPr marL="514350" indent="-514350">
              <a:lnSpc>
                <a:spcPct val="100000"/>
              </a:lnSpc>
              <a:buFont typeface="+mj-lt"/>
              <a:buAutoNum type="arabicPeriod" startAt="2"/>
            </a:pPr>
            <a:r>
              <a:rPr lang="ja-JP" altLang="en-US" sz="2400" dirty="0">
                <a:solidFill>
                  <a:srgbClr val="FF0000"/>
                </a:solidFill>
                <a:effectLst>
                  <a:outerShdw blurRad="38100" dist="38100" dir="2700000" algn="tl">
                    <a:srgbClr val="000000">
                      <a:alpha val="43137"/>
                    </a:srgbClr>
                  </a:outerShdw>
                </a:effectLst>
              </a:rPr>
              <a:t>リスク分析により第二者監査の必要性</a:t>
            </a:r>
            <a:r>
              <a:rPr lang="ja-JP" altLang="en-US" sz="2400" dirty="0"/>
              <a:t>（頻度及び範囲等含め）を判断する基準を設ける。（</a:t>
            </a:r>
            <a:r>
              <a:rPr lang="en-US" altLang="ja-JP" sz="2400" dirty="0"/>
              <a:t>FAQ16</a:t>
            </a:r>
            <a:r>
              <a:rPr lang="ja-JP" altLang="en-US" sz="2400" dirty="0"/>
              <a:t>）</a:t>
            </a:r>
            <a:endParaRPr lang="en-US" altLang="ja-JP" sz="2400" dirty="0"/>
          </a:p>
          <a:p>
            <a:pPr lvl="1">
              <a:lnSpc>
                <a:spcPct val="100000"/>
              </a:lnSpc>
              <a:buFont typeface="Wingdings" panose="05000000000000000000" pitchFamily="2" charset="2"/>
              <a:buChar char="Ø"/>
            </a:pPr>
            <a:r>
              <a:rPr lang="ja-JP" altLang="en-US" sz="2200" dirty="0"/>
              <a:t>第二者監査の実施対象か否かは、「製品安全に対するリスク」「供給者自身のパフォーマンス」「認証状況」で判断される。</a:t>
            </a:r>
            <a:endParaRPr lang="en-US" altLang="ja-JP" sz="2200" dirty="0"/>
          </a:p>
          <a:p>
            <a:pPr lvl="1">
              <a:lnSpc>
                <a:spcPct val="100000"/>
              </a:lnSpc>
              <a:buFont typeface="Wingdings" panose="05000000000000000000" pitchFamily="2" charset="2"/>
              <a:buChar char="Ø"/>
            </a:pPr>
            <a:r>
              <a:rPr lang="ja-JP" altLang="en-US" sz="2200" dirty="0"/>
              <a:t>供給者の会社の規模などによる判断は認められない。</a:t>
            </a:r>
            <a:endParaRPr lang="en-US" altLang="ja-JP" sz="22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8.4.2.4.1</a:t>
            </a:r>
            <a:r>
              <a:rPr lang="ja-JP" altLang="en-US" sz="3000" b="1" dirty="0">
                <a:solidFill>
                  <a:schemeClr val="bg1"/>
                </a:solidFill>
              </a:rPr>
              <a:t>　第二者監査</a:t>
            </a:r>
            <a:endParaRPr kumimoji="1" lang="ja-JP" altLang="en-US" sz="3000" b="1" dirty="0">
              <a:solidFill>
                <a:schemeClr val="bg1"/>
              </a:solidFill>
            </a:endParaRPr>
          </a:p>
        </p:txBody>
      </p:sp>
    </p:spTree>
    <p:extLst>
      <p:ext uri="{BB962C8B-B14F-4D97-AF65-F5344CB8AC3E}">
        <p14:creationId xmlns:p14="http://schemas.microsoft.com/office/powerpoint/2010/main" val="732278993"/>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☑組織は、現行の供給者に対し、必要な</a:t>
            </a:r>
            <a:r>
              <a:rPr lang="ja-JP" altLang="en-US" sz="2000" u="sng" dirty="0"/>
              <a:t>供給者開発の優先順位、方式、程度及びタイミングを決定しなければならない。</a:t>
            </a:r>
            <a:endParaRPr lang="en-US" altLang="ja-JP" sz="2000" u="sng" dirty="0"/>
          </a:p>
          <a:p>
            <a:pPr marL="0" indent="0">
              <a:lnSpc>
                <a:spcPct val="100000"/>
              </a:lnSpc>
              <a:buNone/>
            </a:pPr>
            <a:r>
              <a:rPr lang="ja-JP" altLang="en-US" sz="2000" dirty="0"/>
              <a:t>☑決定をするためのインプットには次の事項を含めなければならない。しかし、それに限定されない。</a:t>
            </a:r>
            <a:endParaRPr lang="en-US" altLang="ja-JP" sz="2000" dirty="0"/>
          </a:p>
          <a:p>
            <a:pPr marL="800100" lvl="1" indent="-342900">
              <a:lnSpc>
                <a:spcPct val="100000"/>
              </a:lnSpc>
              <a:buFont typeface="+mj-lt"/>
              <a:buAutoNum type="alphaLcPeriod"/>
            </a:pPr>
            <a:r>
              <a:rPr lang="ja-JP" altLang="en-US" sz="2000" dirty="0"/>
              <a:t>供給者の監視（</a:t>
            </a:r>
            <a:r>
              <a:rPr lang="en-US" altLang="ja-JP" sz="2000" dirty="0"/>
              <a:t>8.4.2.4</a:t>
            </a:r>
            <a:r>
              <a:rPr lang="ja-JP" altLang="en-US" sz="2000" dirty="0"/>
              <a:t>参照）を通じて</a:t>
            </a:r>
            <a:r>
              <a:rPr lang="ja-JP" altLang="en-US" sz="2000" u="sng" dirty="0"/>
              <a:t>特定されたパフォーマンス問題</a:t>
            </a:r>
            <a:endParaRPr lang="en-US" altLang="ja-JP" sz="2000" u="sng" dirty="0"/>
          </a:p>
          <a:p>
            <a:pPr marL="800100" lvl="1" indent="-342900">
              <a:lnSpc>
                <a:spcPct val="100000"/>
              </a:lnSpc>
              <a:buFont typeface="+mj-lt"/>
              <a:buAutoNum type="alphaLcPeriod"/>
            </a:pPr>
            <a:r>
              <a:rPr lang="ja-JP" altLang="en-US" sz="2000" u="sng" dirty="0"/>
              <a:t>第二者監査の所見</a:t>
            </a:r>
            <a:r>
              <a:rPr lang="ja-JP" altLang="en-US" sz="2000" dirty="0"/>
              <a:t>（</a:t>
            </a:r>
            <a:r>
              <a:rPr lang="en-US" altLang="ja-JP" sz="2000" dirty="0"/>
              <a:t>8.4.2.4.1</a:t>
            </a:r>
            <a:r>
              <a:rPr lang="ja-JP" altLang="en-US" sz="2000" dirty="0"/>
              <a:t>参照）</a:t>
            </a:r>
            <a:endParaRPr lang="en-US" altLang="ja-JP" sz="2000" dirty="0"/>
          </a:p>
          <a:p>
            <a:pPr marL="800100" lvl="1" indent="-342900">
              <a:lnSpc>
                <a:spcPct val="100000"/>
              </a:lnSpc>
              <a:buFont typeface="+mj-lt"/>
              <a:buAutoNum type="alphaLcPeriod"/>
            </a:pPr>
            <a:r>
              <a:rPr lang="ja-JP" altLang="en-US" sz="2000" u="sng" dirty="0"/>
              <a:t>第三者品質マネジメントシステム認証の状態</a:t>
            </a:r>
            <a:endParaRPr lang="en-US" altLang="ja-JP" sz="2000" u="sng" dirty="0"/>
          </a:p>
          <a:p>
            <a:pPr marL="800100" lvl="1" indent="-342900">
              <a:lnSpc>
                <a:spcPct val="100000"/>
              </a:lnSpc>
              <a:buFont typeface="+mj-lt"/>
              <a:buAutoNum type="alphaLcPeriod"/>
            </a:pPr>
            <a:r>
              <a:rPr lang="ja-JP" altLang="en-US" sz="2000" u="sng" dirty="0"/>
              <a:t>リスク分析</a:t>
            </a:r>
            <a:endParaRPr lang="en-US" altLang="ja-JP" sz="2000" u="sng" dirty="0"/>
          </a:p>
          <a:p>
            <a:pPr marL="0" indent="0">
              <a:lnSpc>
                <a:spcPct val="100000"/>
              </a:lnSpc>
              <a:buNone/>
            </a:pPr>
            <a:r>
              <a:rPr lang="ja-JP" altLang="en-US" sz="2000" dirty="0"/>
              <a:t>☑組織は、未解決（未達）のパフォーマンス問題を解決するため及び継続的改善に対する機会を追求するために必要な処置を実施しなければならない。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8.4.2.5</a:t>
            </a:r>
            <a:r>
              <a:rPr kumimoji="1" lang="ja-JP" altLang="en-US" sz="3000" b="1" dirty="0">
                <a:solidFill>
                  <a:schemeClr val="tx2"/>
                </a:solidFill>
              </a:rPr>
              <a:t>　供給者の開発</a:t>
            </a:r>
          </a:p>
        </p:txBody>
      </p:sp>
    </p:spTree>
    <p:extLst>
      <p:ext uri="{BB962C8B-B14F-4D97-AF65-F5344CB8AC3E}">
        <p14:creationId xmlns:p14="http://schemas.microsoft.com/office/powerpoint/2010/main" val="3598516376"/>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供給者のレベルを継続的に向上させることを意図している。</a:t>
            </a:r>
            <a:endParaRPr lang="en-US" altLang="ja-JP" sz="2400" dirty="0"/>
          </a:p>
          <a:p>
            <a:pPr marL="457200" indent="-457200">
              <a:lnSpc>
                <a:spcPct val="100000"/>
              </a:lnSpc>
              <a:buFont typeface="+mj-lt"/>
              <a:buAutoNum type="arabicPeriod"/>
            </a:pPr>
            <a:r>
              <a:rPr lang="ja-JP" altLang="en-US" sz="2400" dirty="0"/>
              <a:t>供給者開発の進め方。（フローの例）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8.4.2.5</a:t>
            </a:r>
            <a:r>
              <a:rPr lang="ja-JP" altLang="en-US" sz="3000" b="1" dirty="0">
                <a:solidFill>
                  <a:schemeClr val="bg1"/>
                </a:solidFill>
              </a:rPr>
              <a:t>　供給者の開発</a:t>
            </a:r>
            <a:endParaRPr kumimoji="1" lang="ja-JP" altLang="en-US" sz="3000" b="1" dirty="0">
              <a:solidFill>
                <a:schemeClr val="bg1"/>
              </a:solidFill>
            </a:endParaRPr>
          </a:p>
        </p:txBody>
      </p:sp>
      <p:graphicFrame>
        <p:nvGraphicFramePr>
          <p:cNvPr id="2" name="図表 1">
            <a:extLst>
              <a:ext uri="{FF2B5EF4-FFF2-40B4-BE49-F238E27FC236}">
                <a16:creationId xmlns:a16="http://schemas.microsoft.com/office/drawing/2014/main" id="{0D360BF3-877B-43FD-A148-11999BCE65E9}"/>
              </a:ext>
            </a:extLst>
          </p:cNvPr>
          <p:cNvGraphicFramePr/>
          <p:nvPr>
            <p:extLst>
              <p:ext uri="{D42A27DB-BD31-4B8C-83A1-F6EECF244321}">
                <p14:modId xmlns:p14="http://schemas.microsoft.com/office/powerpoint/2010/main" val="1874343786"/>
              </p:ext>
            </p:extLst>
          </p:nvPr>
        </p:nvGraphicFramePr>
        <p:xfrm>
          <a:off x="838200" y="2377440"/>
          <a:ext cx="9027160" cy="3978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吹き出し: 角を丸めた四角形 2">
            <a:extLst>
              <a:ext uri="{FF2B5EF4-FFF2-40B4-BE49-F238E27FC236}">
                <a16:creationId xmlns:a16="http://schemas.microsoft.com/office/drawing/2014/main" id="{6373FA92-F96C-49DC-A3A9-8F5BA9528640}"/>
              </a:ext>
            </a:extLst>
          </p:cNvPr>
          <p:cNvSpPr/>
          <p:nvPr/>
        </p:nvSpPr>
        <p:spPr>
          <a:xfrm>
            <a:off x="8007927" y="1768566"/>
            <a:ext cx="3345873" cy="2152269"/>
          </a:xfrm>
          <a:prstGeom prst="wedgeRoundRectCallout">
            <a:avLst>
              <a:gd name="adj1" fmla="val -59565"/>
              <a:gd name="adj2" fmla="val -38680"/>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必ずしも全ての供給者に対し実施するわけではない。「選定」と「優先順位」の判断が重要。</a:t>
            </a:r>
            <a:endParaRPr kumimoji="1" lang="en-US" altLang="ja-JP" dirty="0">
              <a:solidFill>
                <a:schemeClr val="tx1"/>
              </a:solidFill>
            </a:endParaRPr>
          </a:p>
          <a:p>
            <a:r>
              <a:rPr lang="en-US" altLang="ja-JP" dirty="0">
                <a:solidFill>
                  <a:schemeClr val="tx1"/>
                </a:solidFill>
              </a:rPr>
              <a:t>※8.4.2.3</a:t>
            </a:r>
            <a:r>
              <a:rPr lang="ja-JP" altLang="en-US" dirty="0">
                <a:solidFill>
                  <a:schemeClr val="tx1"/>
                </a:solidFill>
              </a:rPr>
              <a:t>「供給者管理計画／実績表」参照。</a:t>
            </a:r>
            <a:endParaRPr kumimoji="1" lang="ja-JP" altLang="en-US" dirty="0">
              <a:solidFill>
                <a:schemeClr val="tx1"/>
              </a:solidFill>
            </a:endParaRPr>
          </a:p>
        </p:txBody>
      </p:sp>
    </p:spTree>
    <p:extLst>
      <p:ext uri="{BB962C8B-B14F-4D97-AF65-F5344CB8AC3E}">
        <p14:creationId xmlns:p14="http://schemas.microsoft.com/office/powerpoint/2010/main" val="4164530491"/>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smtClean="0"/>
              <a:t>①外部提供者に情報を伝達する前に、要求事項が妥当であることを確実にする。</a:t>
            </a:r>
            <a:endParaRPr lang="en-US" altLang="ja-JP" sz="2000" dirty="0" smtClean="0"/>
          </a:p>
          <a:p>
            <a:pPr marL="0" indent="0">
              <a:lnSpc>
                <a:spcPct val="100000"/>
              </a:lnSpc>
              <a:buNone/>
            </a:pPr>
            <a:r>
              <a:rPr lang="ja-JP" altLang="en-US" sz="2000" dirty="0" smtClean="0"/>
              <a:t>②次の事項に関する要求事項を、外部提供者に伝達する。</a:t>
            </a:r>
            <a:endParaRPr lang="en-US" altLang="ja-JP" sz="2000" dirty="0" smtClean="0"/>
          </a:p>
          <a:p>
            <a:pPr marL="0" indent="0">
              <a:lnSpc>
                <a:spcPct val="100000"/>
              </a:lnSpc>
              <a:buNone/>
            </a:pPr>
            <a:r>
              <a:rPr lang="en-US" altLang="ja-JP" sz="2000" dirty="0" smtClean="0"/>
              <a:t>a)</a:t>
            </a:r>
            <a:r>
              <a:rPr lang="ja-JP" altLang="en-US" sz="2000" dirty="0" smtClean="0"/>
              <a:t>提供されるプロセス・製品・サービス</a:t>
            </a:r>
            <a:endParaRPr lang="en-US" altLang="ja-JP" sz="2000" dirty="0" smtClean="0"/>
          </a:p>
          <a:p>
            <a:pPr marL="0" indent="0">
              <a:lnSpc>
                <a:spcPct val="100000"/>
              </a:lnSpc>
              <a:buNone/>
            </a:pPr>
            <a:r>
              <a:rPr lang="en-US" altLang="ja-JP" sz="2000" dirty="0" smtClean="0"/>
              <a:t>b)</a:t>
            </a:r>
            <a:r>
              <a:rPr lang="ja-JP" altLang="en-US" sz="2000" dirty="0" smtClean="0"/>
              <a:t>次の事項についての承認</a:t>
            </a:r>
            <a:endParaRPr lang="en-US" altLang="ja-JP" sz="2000" dirty="0" smtClean="0"/>
          </a:p>
          <a:p>
            <a:pPr marL="0" indent="0">
              <a:lnSpc>
                <a:spcPct val="100000"/>
              </a:lnSpc>
              <a:buNone/>
            </a:pPr>
            <a:r>
              <a:rPr lang="en-US" altLang="ja-JP" sz="2000" dirty="0" smtClean="0"/>
              <a:t>1)</a:t>
            </a:r>
            <a:r>
              <a:rPr lang="ja-JP" altLang="en-US" sz="2000" dirty="0" smtClean="0"/>
              <a:t>製品・サービス</a:t>
            </a:r>
            <a:endParaRPr lang="en-US" altLang="ja-JP" sz="2000" dirty="0" smtClean="0"/>
          </a:p>
          <a:p>
            <a:pPr marL="0" indent="0">
              <a:lnSpc>
                <a:spcPct val="100000"/>
              </a:lnSpc>
              <a:buNone/>
            </a:pPr>
            <a:r>
              <a:rPr lang="en-US" altLang="ja-JP" sz="2000" dirty="0" smtClean="0"/>
              <a:t>2)</a:t>
            </a:r>
            <a:r>
              <a:rPr lang="ja-JP" altLang="en-US" sz="2000" dirty="0" smtClean="0"/>
              <a:t>方法・プロセス・設備</a:t>
            </a:r>
            <a:endParaRPr lang="en-US" altLang="ja-JP" sz="2000" dirty="0" smtClean="0"/>
          </a:p>
          <a:p>
            <a:pPr marL="0" indent="0">
              <a:lnSpc>
                <a:spcPct val="100000"/>
              </a:lnSpc>
              <a:buNone/>
            </a:pPr>
            <a:r>
              <a:rPr lang="en-US" altLang="ja-JP" sz="2000" dirty="0" smtClean="0"/>
              <a:t>3)</a:t>
            </a:r>
            <a:r>
              <a:rPr lang="ja-JP" altLang="en-US" sz="2000" dirty="0" smtClean="0"/>
              <a:t>製品・サービスのリリース</a:t>
            </a:r>
            <a:endParaRPr lang="en-US" altLang="ja-JP" sz="2000" dirty="0" smtClean="0"/>
          </a:p>
          <a:p>
            <a:pPr marL="0" indent="0">
              <a:lnSpc>
                <a:spcPct val="100000"/>
              </a:lnSpc>
              <a:buNone/>
            </a:pPr>
            <a:r>
              <a:rPr lang="en-US" altLang="ja-JP" sz="2000" dirty="0" smtClean="0"/>
              <a:t>c)</a:t>
            </a:r>
            <a:r>
              <a:rPr lang="ja-JP" altLang="en-US" sz="2000" dirty="0" smtClean="0"/>
              <a:t>必要な力量（必要な適格性を含む）</a:t>
            </a:r>
            <a:endParaRPr lang="en-US" altLang="ja-JP" sz="2000" dirty="0" smtClean="0"/>
          </a:p>
          <a:p>
            <a:pPr marL="0" indent="0">
              <a:lnSpc>
                <a:spcPct val="100000"/>
              </a:lnSpc>
              <a:buNone/>
            </a:pPr>
            <a:r>
              <a:rPr lang="en-US" altLang="ja-JP" sz="2000" dirty="0" smtClean="0"/>
              <a:t>d)</a:t>
            </a:r>
            <a:r>
              <a:rPr lang="ja-JP" altLang="en-US" sz="2000" dirty="0" smtClean="0"/>
              <a:t>組織と外部提供者との相互作用</a:t>
            </a:r>
            <a:endParaRPr lang="en-US" altLang="ja-JP" sz="2000" dirty="0" smtClean="0"/>
          </a:p>
          <a:p>
            <a:pPr marL="0" indent="0">
              <a:lnSpc>
                <a:spcPct val="100000"/>
              </a:lnSpc>
              <a:buNone/>
            </a:pPr>
            <a:r>
              <a:rPr lang="en-US" altLang="ja-JP" sz="2000" dirty="0" smtClean="0"/>
              <a:t>e)</a:t>
            </a:r>
            <a:r>
              <a:rPr lang="ja-JP" altLang="en-US" sz="2000" dirty="0" smtClean="0"/>
              <a:t>組織が行う、外部提供者のパフォーマンスの管理・監視</a:t>
            </a:r>
            <a:endParaRPr lang="en-US" altLang="ja-JP" sz="2000" dirty="0" smtClean="0"/>
          </a:p>
          <a:p>
            <a:pPr marL="0" indent="0">
              <a:lnSpc>
                <a:spcPct val="100000"/>
              </a:lnSpc>
              <a:buNone/>
            </a:pPr>
            <a:r>
              <a:rPr lang="en-US" altLang="ja-JP" sz="2000" dirty="0" smtClean="0"/>
              <a:t>f)</a:t>
            </a:r>
            <a:r>
              <a:rPr lang="ja-JP" altLang="en-US" sz="2000" dirty="0" smtClean="0"/>
              <a:t>組織・顧客が、外部提供者先での実施する検証・妥当性確認活動</a:t>
            </a: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8.4.3</a:t>
            </a:r>
            <a:r>
              <a:rPr kumimoji="1" lang="ja-JP" altLang="en-US" sz="3000" b="1" dirty="0">
                <a:solidFill>
                  <a:schemeClr val="tx2"/>
                </a:solidFill>
              </a:rPr>
              <a:t>　</a:t>
            </a:r>
            <a:r>
              <a:rPr lang="ja-JP" altLang="en-US" sz="3000" b="1" dirty="0" smtClean="0">
                <a:solidFill>
                  <a:schemeClr val="tx2"/>
                </a:solidFill>
              </a:rPr>
              <a:t>外部提供者に</a:t>
            </a:r>
            <a:r>
              <a:rPr lang="ja-JP" altLang="en-US" sz="3000" b="1" smtClean="0">
                <a:solidFill>
                  <a:schemeClr val="tx2"/>
                </a:solidFill>
              </a:rPr>
              <a:t>対する情報（岩波氏）</a:t>
            </a:r>
            <a:endParaRPr kumimoji="1" lang="ja-JP" altLang="en-US" sz="3000" b="1" dirty="0">
              <a:solidFill>
                <a:schemeClr val="tx2"/>
              </a:solidFill>
            </a:endParaRPr>
          </a:p>
        </p:txBody>
      </p:sp>
    </p:spTree>
    <p:extLst>
      <p:ext uri="{BB962C8B-B14F-4D97-AF65-F5344CB8AC3E}">
        <p14:creationId xmlns:p14="http://schemas.microsoft.com/office/powerpoint/2010/main" val="3447117806"/>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366090"/>
          </a:xfrm>
          <a:ln w="12700">
            <a:solidFill>
              <a:schemeClr val="tx2"/>
            </a:solidFill>
          </a:ln>
        </p:spPr>
        <p:txBody>
          <a:bodyPr>
            <a:normAutofit/>
          </a:bodyPr>
          <a:lstStyle/>
          <a:p>
            <a:pPr marL="0" indent="0">
              <a:lnSpc>
                <a:spcPct val="100000"/>
              </a:lnSpc>
              <a:buNone/>
            </a:pPr>
            <a:r>
              <a:rPr lang="ja-JP" altLang="en-US" sz="2000" dirty="0"/>
              <a:t>☑組織は、全ての該当する法令・規制要求事項、並びに製品及び工程の特殊特性を供給者に引き渡し、サプライチェーンをたどって、製造現場にまで、</a:t>
            </a:r>
            <a:r>
              <a:rPr lang="ja-JP" altLang="en-US" sz="2000" u="sng" dirty="0"/>
              <a:t>全ての該当する要求事項を展開するよう、供給者に要求しなければならない。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8.4.3.1</a:t>
            </a:r>
            <a:r>
              <a:rPr lang="ja-JP" altLang="en-US" sz="3000" b="1" dirty="0">
                <a:solidFill>
                  <a:schemeClr val="tx2"/>
                </a:solidFill>
              </a:rPr>
              <a:t>　外部提供者に対する情報－補足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102549"/>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8.4.3.1</a:t>
            </a:r>
            <a:r>
              <a:rPr lang="ja-JP" altLang="en-US" sz="3000" b="1" dirty="0">
                <a:solidFill>
                  <a:schemeClr val="bg1"/>
                </a:solidFill>
              </a:rPr>
              <a:t>　外部提供者に対する情報－補足</a:t>
            </a:r>
          </a:p>
        </p:txBody>
      </p:sp>
      <p:sp>
        <p:nvSpPr>
          <p:cNvPr id="7" name="コンテンツ プレースホルダー 2">
            <a:extLst>
              <a:ext uri="{FF2B5EF4-FFF2-40B4-BE49-F238E27FC236}">
                <a16:creationId xmlns:a16="http://schemas.microsoft.com/office/drawing/2014/main" id="{1F98FB82-83DD-4517-9DC7-3EE05DEBC5FB}"/>
              </a:ext>
            </a:extLst>
          </p:cNvPr>
          <p:cNvSpPr txBox="1">
            <a:spLocks/>
          </p:cNvSpPr>
          <p:nvPr/>
        </p:nvSpPr>
        <p:spPr>
          <a:xfrm>
            <a:off x="838200" y="4151524"/>
            <a:ext cx="10515600" cy="22048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顧客が組織に対し要求する文書（品質保証基準書など）と同様の文書により、組織が供給者の全範囲に対し展開させる（要求する）。</a:t>
            </a:r>
            <a:endParaRPr lang="en-US" altLang="ja-JP" sz="2400" dirty="0"/>
          </a:p>
        </p:txBody>
      </p:sp>
      <p:sp>
        <p:nvSpPr>
          <p:cNvPr id="8" name="四角形: 角を丸くする 7">
            <a:extLst>
              <a:ext uri="{FF2B5EF4-FFF2-40B4-BE49-F238E27FC236}">
                <a16:creationId xmlns:a16="http://schemas.microsoft.com/office/drawing/2014/main" id="{A615FBA8-F530-477F-BCF4-D4F62A19E3F0}"/>
              </a:ext>
            </a:extLst>
          </p:cNvPr>
          <p:cNvSpPr/>
          <p:nvPr/>
        </p:nvSpPr>
        <p:spPr>
          <a:xfrm>
            <a:off x="990604" y="5188945"/>
            <a:ext cx="1122802" cy="102456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tx1"/>
                </a:solidFill>
              </a:rPr>
              <a:t>顧客</a:t>
            </a:r>
          </a:p>
        </p:txBody>
      </p:sp>
      <p:sp>
        <p:nvSpPr>
          <p:cNvPr id="10" name="四角形: 角を丸くする 9">
            <a:extLst>
              <a:ext uri="{FF2B5EF4-FFF2-40B4-BE49-F238E27FC236}">
                <a16:creationId xmlns:a16="http://schemas.microsoft.com/office/drawing/2014/main" id="{3B017019-F5C3-474F-BFA1-5E83F14D1CE7}"/>
              </a:ext>
            </a:extLst>
          </p:cNvPr>
          <p:cNvSpPr/>
          <p:nvPr/>
        </p:nvSpPr>
        <p:spPr>
          <a:xfrm>
            <a:off x="5534599" y="5188945"/>
            <a:ext cx="1122802" cy="1024568"/>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bg1"/>
                </a:solidFill>
              </a:rPr>
              <a:t>組織</a:t>
            </a:r>
          </a:p>
        </p:txBody>
      </p:sp>
      <p:sp>
        <p:nvSpPr>
          <p:cNvPr id="11" name="四角形: 角を丸くする 10">
            <a:extLst>
              <a:ext uri="{FF2B5EF4-FFF2-40B4-BE49-F238E27FC236}">
                <a16:creationId xmlns:a16="http://schemas.microsoft.com/office/drawing/2014/main" id="{B168EB4E-9B06-4E8A-A0D2-054C89EF147E}"/>
              </a:ext>
            </a:extLst>
          </p:cNvPr>
          <p:cNvSpPr/>
          <p:nvPr/>
        </p:nvSpPr>
        <p:spPr>
          <a:xfrm>
            <a:off x="10078594" y="5188945"/>
            <a:ext cx="1122802" cy="102456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b="1" dirty="0">
                <a:solidFill>
                  <a:schemeClr val="tx1"/>
                </a:solidFill>
              </a:rPr>
              <a:t>供給者</a:t>
            </a:r>
          </a:p>
        </p:txBody>
      </p:sp>
      <p:sp>
        <p:nvSpPr>
          <p:cNvPr id="2" name="矢印: 右 1">
            <a:extLst>
              <a:ext uri="{FF2B5EF4-FFF2-40B4-BE49-F238E27FC236}">
                <a16:creationId xmlns:a16="http://schemas.microsoft.com/office/drawing/2014/main" id="{7C8563C4-516A-46CC-AA5D-D23F6DDB5A14}"/>
              </a:ext>
            </a:extLst>
          </p:cNvPr>
          <p:cNvSpPr/>
          <p:nvPr/>
        </p:nvSpPr>
        <p:spPr>
          <a:xfrm>
            <a:off x="2160107" y="5188945"/>
            <a:ext cx="3317576" cy="1024568"/>
          </a:xfrm>
          <a:prstGeom prst="rightArrow">
            <a:avLst>
              <a:gd name="adj1" fmla="val 82258"/>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rPr>
              <a:t>該当する事項の文書による要求（</a:t>
            </a:r>
            <a:r>
              <a:rPr lang="en-US" altLang="ja-JP" sz="2000" b="1" dirty="0">
                <a:solidFill>
                  <a:schemeClr val="tx1"/>
                </a:solidFill>
              </a:rPr>
              <a:t>CSR</a:t>
            </a:r>
            <a:r>
              <a:rPr lang="ja-JP" altLang="en-US" sz="2000" b="1" dirty="0">
                <a:solidFill>
                  <a:schemeClr val="tx1"/>
                </a:solidFill>
              </a:rPr>
              <a:t>）</a:t>
            </a:r>
            <a:endParaRPr kumimoji="1" lang="ja-JP" altLang="en-US" sz="2000" b="1" dirty="0">
              <a:solidFill>
                <a:schemeClr val="tx1"/>
              </a:solidFill>
            </a:endParaRPr>
          </a:p>
        </p:txBody>
      </p:sp>
      <p:sp>
        <p:nvSpPr>
          <p:cNvPr id="12" name="矢印: 右 11">
            <a:extLst>
              <a:ext uri="{FF2B5EF4-FFF2-40B4-BE49-F238E27FC236}">
                <a16:creationId xmlns:a16="http://schemas.microsoft.com/office/drawing/2014/main" id="{47818D43-8E93-4CB9-9E5C-A252D1F0A39C}"/>
              </a:ext>
            </a:extLst>
          </p:cNvPr>
          <p:cNvSpPr/>
          <p:nvPr/>
        </p:nvSpPr>
        <p:spPr>
          <a:xfrm>
            <a:off x="6761018" y="5188945"/>
            <a:ext cx="3317576" cy="1024568"/>
          </a:xfrm>
          <a:prstGeom prst="rightArrow">
            <a:avLst>
              <a:gd name="adj1" fmla="val 82258"/>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rPr>
              <a:t>該当する事項の文書による要求</a:t>
            </a:r>
            <a:endParaRPr kumimoji="1" lang="ja-JP" altLang="en-US" sz="2000" b="1" dirty="0">
              <a:solidFill>
                <a:schemeClr val="tx1"/>
              </a:solidFill>
            </a:endParaRPr>
          </a:p>
        </p:txBody>
      </p:sp>
    </p:spTree>
    <p:extLst>
      <p:ext uri="{BB962C8B-B14F-4D97-AF65-F5344CB8AC3E}">
        <p14:creationId xmlns:p14="http://schemas.microsoft.com/office/powerpoint/2010/main" val="229627075"/>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四角形: メモ 17">
            <a:extLst>
              <a:ext uri="{FF2B5EF4-FFF2-40B4-BE49-F238E27FC236}">
                <a16:creationId xmlns:a16="http://schemas.microsoft.com/office/drawing/2014/main" id="{A920ABE5-D0D0-4979-84C5-1D8AA60A631F}"/>
              </a:ext>
            </a:extLst>
          </p:cNvPr>
          <p:cNvSpPr/>
          <p:nvPr/>
        </p:nvSpPr>
        <p:spPr>
          <a:xfrm>
            <a:off x="8072382" y="4032173"/>
            <a:ext cx="3281412" cy="2323667"/>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r>
              <a:rPr lang="en-US" altLang="ja-JP" dirty="0"/>
              <a:t>8.5.6.1</a:t>
            </a:r>
            <a:r>
              <a:rPr lang="ja-JP" altLang="en-US" dirty="0"/>
              <a:t>　サービスからの情報のフィードバック</a:t>
            </a:r>
            <a:endParaRPr lang="en-US" altLang="ja-JP" dirty="0"/>
          </a:p>
          <a:p>
            <a:r>
              <a:rPr lang="en-US" altLang="ja-JP" dirty="0"/>
              <a:t>8.5.6.1.1</a:t>
            </a:r>
            <a:r>
              <a:rPr lang="ja-JP" altLang="en-US" dirty="0"/>
              <a:t>　工程管理の一時的変更</a:t>
            </a:r>
            <a:endParaRPr lang="en-US" altLang="ja-JP" dirty="0"/>
          </a:p>
        </p:txBody>
      </p:sp>
      <p:sp>
        <p:nvSpPr>
          <p:cNvPr id="8" name="四角形: メモ 7">
            <a:extLst>
              <a:ext uri="{FF2B5EF4-FFF2-40B4-BE49-F238E27FC236}">
                <a16:creationId xmlns:a16="http://schemas.microsoft.com/office/drawing/2014/main" id="{587A77C3-48F8-4CD9-A00C-389D21826757}"/>
              </a:ext>
            </a:extLst>
          </p:cNvPr>
          <p:cNvSpPr/>
          <p:nvPr/>
        </p:nvSpPr>
        <p:spPr>
          <a:xfrm>
            <a:off x="838202" y="1553379"/>
            <a:ext cx="3281412" cy="4802969"/>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r>
              <a:rPr lang="en-US" altLang="ja-JP" dirty="0"/>
              <a:t>8.5.1.1</a:t>
            </a:r>
            <a:r>
              <a:rPr lang="ja-JP" altLang="en-US" dirty="0"/>
              <a:t>　コントロールプラン</a:t>
            </a:r>
            <a:endParaRPr lang="en-US" altLang="ja-JP" dirty="0"/>
          </a:p>
          <a:p>
            <a:r>
              <a:rPr lang="en-US" altLang="ja-JP" dirty="0"/>
              <a:t>8.5.1.2</a:t>
            </a:r>
            <a:r>
              <a:rPr lang="ja-JP" altLang="en-US" dirty="0"/>
              <a:t>　標準作業－作業者指示書及び目視標準</a:t>
            </a:r>
            <a:endParaRPr lang="en-US" altLang="ja-JP" dirty="0"/>
          </a:p>
          <a:p>
            <a:r>
              <a:rPr lang="en-US" altLang="ja-JP" dirty="0"/>
              <a:t>8.5.1.3</a:t>
            </a:r>
            <a:r>
              <a:rPr lang="ja-JP" altLang="en-US" dirty="0"/>
              <a:t>　作業の段取り替え検証</a:t>
            </a:r>
            <a:endParaRPr lang="en-US" altLang="ja-JP" dirty="0"/>
          </a:p>
          <a:p>
            <a:r>
              <a:rPr lang="en-US" altLang="ja-JP" dirty="0"/>
              <a:t>8.5.1.4</a:t>
            </a:r>
            <a:r>
              <a:rPr lang="ja-JP" altLang="en-US" dirty="0"/>
              <a:t>　シャットダウン後の検証</a:t>
            </a:r>
            <a:endParaRPr lang="en-US" altLang="ja-JP" dirty="0"/>
          </a:p>
          <a:p>
            <a:r>
              <a:rPr lang="en-US" altLang="ja-JP" dirty="0"/>
              <a:t>8.5.1.5</a:t>
            </a:r>
            <a:r>
              <a:rPr lang="ja-JP" altLang="en-US" dirty="0"/>
              <a:t>　ＴＰＭ（</a:t>
            </a:r>
            <a:r>
              <a:rPr lang="en-US" altLang="ja-JP" dirty="0"/>
              <a:t>Total</a:t>
            </a:r>
            <a:r>
              <a:rPr lang="ja-JP" altLang="en-US" dirty="0"/>
              <a:t>　</a:t>
            </a:r>
            <a:r>
              <a:rPr lang="en-US" altLang="ja-JP" dirty="0"/>
              <a:t>productive</a:t>
            </a:r>
            <a:r>
              <a:rPr lang="ja-JP" altLang="en-US" dirty="0"/>
              <a:t>　</a:t>
            </a:r>
            <a:r>
              <a:rPr lang="en-US" altLang="ja-JP" dirty="0"/>
              <a:t>maintenance</a:t>
            </a:r>
            <a:r>
              <a:rPr lang="ja-JP" altLang="en-US" dirty="0"/>
              <a:t>）</a:t>
            </a:r>
            <a:endParaRPr lang="en-US" altLang="ja-JP" dirty="0"/>
          </a:p>
          <a:p>
            <a:r>
              <a:rPr lang="en-US" altLang="ja-JP" dirty="0"/>
              <a:t>8.5.1.6</a:t>
            </a:r>
            <a:r>
              <a:rPr lang="ja-JP" altLang="en-US" dirty="0"/>
              <a:t>　生産治工具並びに製造、試験、検査の治工具及び設備の運用管理</a:t>
            </a:r>
            <a:endParaRPr lang="en-US" altLang="ja-JP" dirty="0"/>
          </a:p>
          <a:p>
            <a:r>
              <a:rPr lang="en-US" altLang="ja-JP" dirty="0"/>
              <a:t>8.5.1.7</a:t>
            </a:r>
            <a:r>
              <a:rPr lang="ja-JP" altLang="en-US" dirty="0"/>
              <a:t>　生産計画</a:t>
            </a:r>
            <a:endParaRPr lang="en-US" altLang="ja-JP" dirty="0"/>
          </a:p>
        </p:txBody>
      </p:sp>
      <p:sp>
        <p:nvSpPr>
          <p:cNvPr id="12" name="四角形: メモ 11">
            <a:extLst>
              <a:ext uri="{FF2B5EF4-FFF2-40B4-BE49-F238E27FC236}">
                <a16:creationId xmlns:a16="http://schemas.microsoft.com/office/drawing/2014/main" id="{98213EBB-542A-4018-894A-BC7E7EE0A2C6}"/>
              </a:ext>
            </a:extLst>
          </p:cNvPr>
          <p:cNvSpPr/>
          <p:nvPr/>
        </p:nvSpPr>
        <p:spPr>
          <a:xfrm>
            <a:off x="4455294" y="1553379"/>
            <a:ext cx="3281412" cy="1733877"/>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r>
              <a:rPr lang="en-US" altLang="ja-JP" dirty="0"/>
              <a:t>8.5.2.1</a:t>
            </a:r>
            <a:r>
              <a:rPr lang="ja-JP" altLang="en-US" dirty="0"/>
              <a:t>　識別及びトレーサビリティ－補足</a:t>
            </a:r>
            <a:r>
              <a:rPr kumimoji="1" lang="ja-JP" altLang="en-US" dirty="0"/>
              <a:t>　</a:t>
            </a:r>
            <a:endParaRPr kumimoji="1" lang="en-US" altLang="ja-JP" dirty="0"/>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1553381"/>
            <a:ext cx="3281412" cy="2203372"/>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kumimoji="1" lang="en-US" altLang="ja-JP" dirty="0"/>
          </a:p>
          <a:p>
            <a:endParaRPr kumimoji="1" lang="en-US" altLang="ja-JP" dirty="0"/>
          </a:p>
          <a:p>
            <a:r>
              <a:rPr kumimoji="1" lang="en-US" altLang="ja-JP" dirty="0"/>
              <a:t>8.5.5.1</a:t>
            </a:r>
            <a:r>
              <a:rPr kumimoji="1" lang="ja-JP" altLang="en-US" dirty="0"/>
              <a:t>　サービスからの情報のフィードバック</a:t>
            </a:r>
            <a:endParaRPr kumimoji="1" lang="en-US" altLang="ja-JP" dirty="0"/>
          </a:p>
          <a:p>
            <a:r>
              <a:rPr lang="en-US" altLang="ja-JP" dirty="0"/>
              <a:t>8.5.5.2</a:t>
            </a:r>
            <a:r>
              <a:rPr lang="ja-JP" altLang="en-US" dirty="0"/>
              <a:t>　顧客とのサービス契約</a:t>
            </a:r>
            <a:endParaRPr kumimoji="1" lang="en-US" altLang="ja-JP" dirty="0"/>
          </a:p>
        </p:txBody>
      </p:sp>
      <p:sp>
        <p:nvSpPr>
          <p:cNvPr id="10" name="四角形: メモ 9">
            <a:extLst>
              <a:ext uri="{FF2B5EF4-FFF2-40B4-BE49-F238E27FC236}">
                <a16:creationId xmlns:a16="http://schemas.microsoft.com/office/drawing/2014/main" id="{2F3E368F-3CA3-47D0-B689-F62F9F1B48E9}"/>
              </a:ext>
            </a:extLst>
          </p:cNvPr>
          <p:cNvSpPr/>
          <p:nvPr/>
        </p:nvSpPr>
        <p:spPr>
          <a:xfrm>
            <a:off x="4455293" y="4725762"/>
            <a:ext cx="3281412" cy="1630078"/>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kumimoji="1" lang="en-US" altLang="ja-JP" dirty="0"/>
          </a:p>
          <a:p>
            <a:endParaRPr lang="en-US" altLang="ja-JP" dirty="0"/>
          </a:p>
          <a:p>
            <a:endParaRPr kumimoji="1" lang="en-US" altLang="ja-JP" dirty="0"/>
          </a:p>
          <a:p>
            <a:r>
              <a:rPr kumimoji="1" lang="en-US" altLang="ja-JP" dirty="0"/>
              <a:t>8.5.4.1</a:t>
            </a:r>
            <a:r>
              <a:rPr kumimoji="1" lang="ja-JP" altLang="en-US" dirty="0"/>
              <a:t>　保存－補足</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255</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8.5</a:t>
            </a:r>
            <a:r>
              <a:rPr kumimoji="1" lang="ja-JP" altLang="en-US" sz="3600" dirty="0">
                <a:solidFill>
                  <a:schemeClr val="bg1"/>
                </a:solidFill>
              </a:rPr>
              <a:t>　製造及びサービス提供</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553379"/>
            <a:ext cx="3281413" cy="854075"/>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8.5.2</a:t>
            </a:r>
            <a:r>
              <a:rPr lang="ja-JP" altLang="en-US" sz="2000" b="1" dirty="0">
                <a:solidFill>
                  <a:schemeClr val="tx1"/>
                </a:solidFill>
              </a:rPr>
              <a:t>　識別及びトレーサビリティ</a:t>
            </a:r>
            <a:endParaRPr lang="en-US" altLang="ja-JP" sz="2000" b="1" dirty="0">
              <a:solidFill>
                <a:schemeClr val="tx1"/>
              </a:solidFill>
            </a:endParaRP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553380"/>
            <a:ext cx="3281413" cy="85407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8.5.1</a:t>
            </a:r>
            <a:r>
              <a:rPr kumimoji="1" lang="ja-JP" altLang="en-US" sz="2000" b="1" dirty="0">
                <a:solidFill>
                  <a:schemeClr val="tx1"/>
                </a:solidFill>
              </a:rPr>
              <a:t>　製造及びサービス提供の管理</a:t>
            </a:r>
            <a:r>
              <a:rPr kumimoji="1" lang="ja-JP" altLang="en-US" sz="1600" dirty="0">
                <a:solidFill>
                  <a:schemeClr val="tx1"/>
                </a:solidFill>
              </a:rPr>
              <a:t>　</a:t>
            </a:r>
          </a:p>
        </p:txBody>
      </p:sp>
      <p:sp>
        <p:nvSpPr>
          <p:cNvPr id="14" name="フローチャート: 書類 13">
            <a:extLst>
              <a:ext uri="{FF2B5EF4-FFF2-40B4-BE49-F238E27FC236}">
                <a16:creationId xmlns:a16="http://schemas.microsoft.com/office/drawing/2014/main" id="{090CA56F-0131-49ED-BCA6-A13C45405990}"/>
              </a:ext>
            </a:extLst>
          </p:cNvPr>
          <p:cNvSpPr/>
          <p:nvPr/>
        </p:nvSpPr>
        <p:spPr>
          <a:xfrm>
            <a:off x="4455292" y="3570745"/>
            <a:ext cx="3281413" cy="85407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8.5.3</a:t>
            </a:r>
            <a:r>
              <a:rPr lang="ja-JP" altLang="en-US" sz="2000" b="1" dirty="0">
                <a:solidFill>
                  <a:schemeClr val="tx1"/>
                </a:solidFill>
              </a:rPr>
              <a:t>　顧客又は外部影響者の所有物</a:t>
            </a:r>
            <a:endParaRPr lang="en-US" altLang="ja-JP" sz="2000" b="1" dirty="0">
              <a:solidFill>
                <a:schemeClr val="tx1"/>
              </a:solidFill>
            </a:endParaRPr>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1553380"/>
            <a:ext cx="3281413" cy="85407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8.5.5</a:t>
            </a:r>
            <a:r>
              <a:rPr lang="ja-JP" altLang="en-US" sz="2000" b="1" dirty="0">
                <a:solidFill>
                  <a:schemeClr val="tx1"/>
                </a:solidFill>
              </a:rPr>
              <a:t>　引渡し後の活動</a:t>
            </a:r>
            <a:endParaRPr lang="en-US" altLang="ja-JP" sz="2000" b="1" dirty="0">
              <a:solidFill>
                <a:schemeClr val="tx1"/>
              </a:solidFill>
            </a:endParaRPr>
          </a:p>
        </p:txBody>
      </p:sp>
      <p:sp>
        <p:nvSpPr>
          <p:cNvPr id="17" name="フローチャート: 書類 16">
            <a:extLst>
              <a:ext uri="{FF2B5EF4-FFF2-40B4-BE49-F238E27FC236}">
                <a16:creationId xmlns:a16="http://schemas.microsoft.com/office/drawing/2014/main" id="{20B83B42-C791-4FCF-8267-85D304D36611}"/>
              </a:ext>
            </a:extLst>
          </p:cNvPr>
          <p:cNvSpPr/>
          <p:nvPr/>
        </p:nvSpPr>
        <p:spPr>
          <a:xfrm>
            <a:off x="4455292" y="4724744"/>
            <a:ext cx="3281413" cy="744183"/>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8.5.4</a:t>
            </a:r>
            <a:r>
              <a:rPr lang="ja-JP" altLang="en-US" sz="2000" b="1" dirty="0">
                <a:solidFill>
                  <a:schemeClr val="tx1"/>
                </a:solidFill>
              </a:rPr>
              <a:t>　保存</a:t>
            </a:r>
            <a:endParaRPr lang="en-US" altLang="ja-JP" sz="2000" b="1" dirty="0">
              <a:solidFill>
                <a:schemeClr val="tx1"/>
              </a:solidFill>
            </a:endParaRPr>
          </a:p>
        </p:txBody>
      </p:sp>
      <p:sp>
        <p:nvSpPr>
          <p:cNvPr id="19" name="フローチャート: 書類 18">
            <a:extLst>
              <a:ext uri="{FF2B5EF4-FFF2-40B4-BE49-F238E27FC236}">
                <a16:creationId xmlns:a16="http://schemas.microsoft.com/office/drawing/2014/main" id="{4551F965-AD28-4444-83DD-8E2BA5CA9C70}"/>
              </a:ext>
            </a:extLst>
          </p:cNvPr>
          <p:cNvSpPr/>
          <p:nvPr/>
        </p:nvSpPr>
        <p:spPr>
          <a:xfrm>
            <a:off x="8072381" y="4008110"/>
            <a:ext cx="3281413" cy="85407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8.5.6</a:t>
            </a:r>
            <a:r>
              <a:rPr lang="ja-JP" altLang="en-US" sz="2000" b="1" dirty="0">
                <a:solidFill>
                  <a:schemeClr val="tx1"/>
                </a:solidFill>
              </a:rPr>
              <a:t>　変更の管理</a:t>
            </a:r>
            <a:endParaRPr lang="en-US" altLang="ja-JP" sz="2000" b="1" dirty="0">
              <a:solidFill>
                <a:schemeClr val="tx1"/>
              </a:solidFill>
            </a:endParaRPr>
          </a:p>
        </p:txBody>
      </p:sp>
    </p:spTree>
    <p:extLst>
      <p:ext uri="{BB962C8B-B14F-4D97-AF65-F5344CB8AC3E}">
        <p14:creationId xmlns:p14="http://schemas.microsoft.com/office/powerpoint/2010/main" val="1841966925"/>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1361440"/>
          </a:xfrm>
          <a:ln w="12700">
            <a:solidFill>
              <a:schemeClr val="tx2"/>
            </a:solidFill>
          </a:ln>
        </p:spPr>
        <p:txBody>
          <a:bodyPr>
            <a:normAutofit/>
          </a:bodyPr>
          <a:lstStyle/>
          <a:p>
            <a:pPr marL="0" indent="0">
              <a:lnSpc>
                <a:spcPct val="110000"/>
              </a:lnSpc>
              <a:buNone/>
            </a:pPr>
            <a:r>
              <a:rPr lang="ja-JP" altLang="en-US" sz="2000" dirty="0"/>
              <a:t>適切なインフラストラクチャは、製品の適合を確実にするために必要な、適切な製造設備を含む。監視及び測定のための資源は、製造工程の効果的な管理を確実にするために必要な、適切な監視及び測定設備を含む。</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a:t>
            </a:r>
            <a:r>
              <a:rPr kumimoji="1" lang="ja-JP" altLang="en-US" sz="3000" b="1" dirty="0">
                <a:solidFill>
                  <a:schemeClr val="tx2"/>
                </a:solidFill>
              </a:rPr>
              <a:t>　（注記）</a:t>
            </a:r>
          </a:p>
        </p:txBody>
      </p:sp>
      <p:sp>
        <p:nvSpPr>
          <p:cNvPr id="2" name="タイトル 1">
            <a:extLst>
              <a:ext uri="{FF2B5EF4-FFF2-40B4-BE49-F238E27FC236}">
                <a16:creationId xmlns:a16="http://schemas.microsoft.com/office/drawing/2014/main" id="{407BF04C-F112-4DEE-85AE-825D65E7CF4C}"/>
              </a:ext>
            </a:extLst>
          </p:cNvPr>
          <p:cNvSpPr txBox="1">
            <a:spLocks/>
          </p:cNvSpPr>
          <p:nvPr/>
        </p:nvSpPr>
        <p:spPr>
          <a:xfrm>
            <a:off x="838200" y="3102549"/>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8.5.1</a:t>
            </a:r>
            <a:r>
              <a:rPr lang="ja-JP" altLang="en-US" sz="3000" b="1" dirty="0">
                <a:solidFill>
                  <a:schemeClr val="bg1"/>
                </a:solidFill>
              </a:rPr>
              <a:t>　（注記）</a:t>
            </a:r>
          </a:p>
        </p:txBody>
      </p:sp>
      <p:sp>
        <p:nvSpPr>
          <p:cNvPr id="7" name="コンテンツ プレースホルダー 2">
            <a:extLst>
              <a:ext uri="{FF2B5EF4-FFF2-40B4-BE49-F238E27FC236}">
                <a16:creationId xmlns:a16="http://schemas.microsoft.com/office/drawing/2014/main" id="{CB70FB25-DA5C-423A-B8BF-98F0094C53EC}"/>
              </a:ext>
            </a:extLst>
          </p:cNvPr>
          <p:cNvSpPr txBox="1">
            <a:spLocks/>
          </p:cNvSpPr>
          <p:nvPr/>
        </p:nvSpPr>
        <p:spPr>
          <a:xfrm>
            <a:off x="838200" y="4151524"/>
            <a:ext cx="10515600" cy="22048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念のための確認（明確化）。➠</a:t>
            </a:r>
            <a:r>
              <a:rPr lang="en-US" altLang="ja-JP" sz="2400" dirty="0"/>
              <a:t>9001</a:t>
            </a:r>
            <a:r>
              <a:rPr lang="ja-JP" altLang="en-US" sz="2400" dirty="0"/>
              <a:t>の理解で十分対応しているはず。</a:t>
            </a:r>
            <a:endParaRPr lang="en-US" altLang="ja-JP" sz="2400" dirty="0"/>
          </a:p>
          <a:p>
            <a:pPr lvl="1">
              <a:lnSpc>
                <a:spcPct val="100000"/>
              </a:lnSpc>
              <a:buFont typeface="Wingdings" panose="05000000000000000000" pitchFamily="2" charset="2"/>
              <a:buChar char="Ø"/>
            </a:pPr>
            <a:r>
              <a:rPr lang="ja-JP" altLang="en-US" dirty="0"/>
              <a:t>インフラストラクチャ：製造設備を含む。</a:t>
            </a:r>
            <a:endParaRPr lang="en-US" altLang="ja-JP" dirty="0"/>
          </a:p>
          <a:p>
            <a:pPr lvl="1">
              <a:lnSpc>
                <a:spcPct val="100000"/>
              </a:lnSpc>
              <a:buFont typeface="Wingdings" panose="05000000000000000000" pitchFamily="2" charset="2"/>
              <a:buChar char="Ø"/>
            </a:pPr>
            <a:r>
              <a:rPr lang="ja-JP" altLang="en-US" dirty="0"/>
              <a:t>監視測定資源：製造工程の監視測定設備（例えば、画像検査機）を含む。</a:t>
            </a:r>
            <a:endParaRPr lang="en-US" altLang="ja-JP" dirty="0"/>
          </a:p>
        </p:txBody>
      </p:sp>
    </p:spTree>
    <p:extLst>
      <p:ext uri="{BB962C8B-B14F-4D97-AF65-F5344CB8AC3E}">
        <p14:creationId xmlns:p14="http://schemas.microsoft.com/office/powerpoint/2010/main" val="160409815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該当する製造サイト及び全ての供給する製品に対して、コントロールプラン（附属書</a:t>
            </a:r>
            <a:r>
              <a:rPr lang="en-US" altLang="ja-JP" sz="2000" u="sng" dirty="0"/>
              <a:t>A</a:t>
            </a:r>
            <a:r>
              <a:rPr lang="ja-JP" altLang="en-US" sz="2000" u="sng" dirty="0"/>
              <a:t>に従って）を</a:t>
            </a:r>
            <a:r>
              <a:rPr lang="ja-JP" altLang="en-US" sz="2000" dirty="0"/>
              <a:t>、システム、サブシステム、構成部品及び／又は材料のレベルで、部品だけではなくバルク材料を含めて、</a:t>
            </a:r>
            <a:r>
              <a:rPr lang="ja-JP" altLang="en-US" sz="2000" u="sng" dirty="0"/>
              <a:t>策定しなければならない。</a:t>
            </a:r>
            <a:r>
              <a:rPr lang="ja-JP" altLang="en-US" sz="2000" dirty="0"/>
              <a:t>ファミリーコントロールプランは、バルク材料及び共通の製造工程を使う類似の部品に対して容認される。</a:t>
            </a:r>
            <a:endParaRPr lang="en-US" altLang="ja-JP" sz="2000" dirty="0"/>
          </a:p>
          <a:p>
            <a:pPr marL="0" indent="0">
              <a:lnSpc>
                <a:spcPct val="100000"/>
              </a:lnSpc>
              <a:buNone/>
            </a:pPr>
            <a:r>
              <a:rPr lang="ja-JP" altLang="en-US" sz="2000" dirty="0"/>
              <a:t>☑組織は、量産試作及び量産に対して、どのようにつながっているかを示し（もし顧客から提供されれば）</a:t>
            </a:r>
            <a:r>
              <a:rPr lang="ja-JP" altLang="en-US" sz="2000" u="sng" dirty="0"/>
              <a:t>設計リスク分析からの情報や、工程フロー図及び製造工程のリスク分析のアウトプット（</a:t>
            </a:r>
            <a:r>
              <a:rPr lang="en-US" altLang="ja-JP" sz="2000" u="sng" dirty="0"/>
              <a:t>FMEA</a:t>
            </a:r>
            <a:r>
              <a:rPr lang="ja-JP" altLang="en-US" sz="2000" u="sng" dirty="0"/>
              <a:t>のような）からの情報を反映する、コントロールプランをもたなければならない。</a:t>
            </a:r>
            <a:endParaRPr lang="en-US" altLang="ja-JP" sz="2000" u="sng" dirty="0"/>
          </a:p>
          <a:p>
            <a:pPr marL="0" indent="0">
              <a:lnSpc>
                <a:spcPct val="100000"/>
              </a:lnSpc>
              <a:buNone/>
            </a:pPr>
            <a:r>
              <a:rPr lang="ja-JP" altLang="en-US" sz="2000" dirty="0"/>
              <a:t>☑組織は、顧客から要求される場合、量産試作又は量産コントロールプランを実行したときに集めた測定及び適合データを顧客に提供しなければならない。組織は、次の事項をコントロールプランに含めなければならない。</a:t>
            </a:r>
            <a:endParaRPr lang="en-US" altLang="ja-JP" sz="2000" dirty="0"/>
          </a:p>
          <a:p>
            <a:pPr marL="800100" lvl="1" indent="-342900">
              <a:lnSpc>
                <a:spcPct val="100000"/>
              </a:lnSpc>
              <a:buFont typeface="+mj-lt"/>
              <a:buAutoNum type="alphaLcPeriod"/>
            </a:pPr>
            <a:r>
              <a:rPr lang="ja-JP" altLang="en-US" sz="2200" dirty="0"/>
              <a:t>作業</a:t>
            </a:r>
            <a:r>
              <a:rPr lang="ja-JP" altLang="en-US" sz="2000" dirty="0"/>
              <a:t>の段取り替え検証を含む、</a:t>
            </a:r>
            <a:r>
              <a:rPr lang="ja-JP" altLang="en-US" sz="2000" u="sng" dirty="0"/>
              <a:t>製造工程の管理に使用された管理手段</a:t>
            </a:r>
            <a:endParaRPr lang="en-US" altLang="ja-JP" sz="2000" u="sng" dirty="0"/>
          </a:p>
          <a:p>
            <a:pPr marL="800100" lvl="1" indent="-342900">
              <a:lnSpc>
                <a:spcPct val="100000"/>
              </a:lnSpc>
              <a:buFont typeface="+mj-lt"/>
              <a:buAutoNum type="alphaLcPeriod"/>
            </a:pPr>
            <a:r>
              <a:rPr lang="ja-JP" altLang="en-US" sz="2000" dirty="0"/>
              <a:t>該当する場合には、必ず、</a:t>
            </a:r>
            <a:r>
              <a:rPr lang="ja-JP" altLang="en-US" sz="2000" u="sng" dirty="0"/>
              <a:t>初品／終品の妥当性確認</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8.5.1.1</a:t>
            </a:r>
            <a:r>
              <a:rPr kumimoji="1" lang="ja-JP" altLang="en-US" sz="3000" b="1" dirty="0">
                <a:solidFill>
                  <a:schemeClr val="tx2"/>
                </a:solidFill>
              </a:rPr>
              <a:t>　コントロールプラン</a:t>
            </a:r>
          </a:p>
        </p:txBody>
      </p:sp>
    </p:spTree>
    <p:extLst>
      <p:ext uri="{BB962C8B-B14F-4D97-AF65-F5344CB8AC3E}">
        <p14:creationId xmlns:p14="http://schemas.microsoft.com/office/powerpoint/2010/main" val="2742825290"/>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92500" lnSpcReduction="10000"/>
          </a:bodyPr>
          <a:lstStyle/>
          <a:p>
            <a:pPr marL="914400" lvl="1" indent="-457200">
              <a:lnSpc>
                <a:spcPct val="100000"/>
              </a:lnSpc>
              <a:buFont typeface="+mj-lt"/>
              <a:buAutoNum type="alphaLcPeriod" startAt="3"/>
            </a:pPr>
            <a:r>
              <a:rPr lang="ja-JP" altLang="en-US" sz="2200" dirty="0"/>
              <a:t>顧客及び組織の双方で定められた、</a:t>
            </a:r>
            <a:r>
              <a:rPr lang="ja-JP" altLang="en-US" sz="2200" u="sng" dirty="0"/>
              <a:t>特殊特性に施された管理の監視方法</a:t>
            </a:r>
            <a:r>
              <a:rPr lang="ja-JP" altLang="en-US" sz="2200" dirty="0"/>
              <a:t>（附属書</a:t>
            </a:r>
            <a:r>
              <a:rPr lang="en-US" altLang="ja-JP" sz="2200" dirty="0"/>
              <a:t>A</a:t>
            </a:r>
            <a:r>
              <a:rPr lang="ja-JP" altLang="en-US" sz="2200" dirty="0"/>
              <a:t>参照）</a:t>
            </a:r>
          </a:p>
          <a:p>
            <a:pPr marL="914400" lvl="1" indent="-457200">
              <a:lnSpc>
                <a:spcPct val="100000"/>
              </a:lnSpc>
              <a:buFont typeface="+mj-lt"/>
              <a:buAutoNum type="alphaLcPeriod" startAt="3"/>
            </a:pPr>
            <a:r>
              <a:rPr lang="ja-JP" altLang="en-US" sz="2200" dirty="0"/>
              <a:t>もしあれば、顧客から要求される情報</a:t>
            </a:r>
          </a:p>
          <a:p>
            <a:pPr marL="914400" lvl="1" indent="-457200">
              <a:lnSpc>
                <a:spcPct val="100000"/>
              </a:lnSpc>
              <a:buFont typeface="+mj-lt"/>
              <a:buAutoNum type="alphaLcPeriod" startAt="3"/>
            </a:pPr>
            <a:r>
              <a:rPr lang="ja-JP" altLang="en-US" sz="2200" u="sng" dirty="0"/>
              <a:t>不適合製品が検出された場合、工程が統計的に不安定又は統計的に能力不足になった場合の、規定された対応計画（附属書</a:t>
            </a:r>
            <a:r>
              <a:rPr lang="en-US" altLang="ja-JP" sz="2200" u="sng" dirty="0"/>
              <a:t>A</a:t>
            </a:r>
            <a:r>
              <a:rPr lang="ja-JP" altLang="en-US" sz="2200" u="sng" dirty="0"/>
              <a:t>参照）。</a:t>
            </a:r>
          </a:p>
          <a:p>
            <a:pPr marL="0" indent="0">
              <a:lnSpc>
                <a:spcPct val="100000"/>
              </a:lnSpc>
              <a:buNone/>
            </a:pPr>
            <a:r>
              <a:rPr lang="ja-JP" altLang="en-US" sz="2200" dirty="0"/>
              <a:t>☑組織は、次の事項が発生した場合、</a:t>
            </a:r>
            <a:r>
              <a:rPr lang="ja-JP" altLang="en-US" sz="2200" u="sng" dirty="0"/>
              <a:t>コントロールプランをレビューし、必要に応じて更新しなければならない。</a:t>
            </a:r>
          </a:p>
          <a:p>
            <a:pPr marL="914400" lvl="1" indent="-457200">
              <a:lnSpc>
                <a:spcPct val="100000"/>
              </a:lnSpc>
              <a:buFont typeface="+mj-lt"/>
              <a:buAutoNum type="alphaLcPeriod" startAt="6"/>
            </a:pPr>
            <a:r>
              <a:rPr lang="ja-JP" altLang="en-US" sz="2200" dirty="0"/>
              <a:t>不適合製品を顧客に出荷したと組織が判断した場合</a:t>
            </a:r>
          </a:p>
          <a:p>
            <a:pPr marL="914400" lvl="1" indent="-457200">
              <a:lnSpc>
                <a:spcPct val="100000"/>
              </a:lnSpc>
              <a:buFont typeface="+mj-lt"/>
              <a:buAutoNum type="alphaLcPeriod" startAt="6"/>
            </a:pPr>
            <a:r>
              <a:rPr lang="ja-JP" altLang="en-US" sz="2200" dirty="0"/>
              <a:t>製品、製造工程、測定、物流、供給元、生産量変更、又はリスク分析（</a:t>
            </a:r>
            <a:r>
              <a:rPr lang="en-US" altLang="ja-JP" sz="2200" dirty="0"/>
              <a:t>FMEA</a:t>
            </a:r>
            <a:r>
              <a:rPr lang="ja-JP" altLang="en-US" sz="2200" dirty="0"/>
              <a:t>）に影響する、変更が発生した場合（附属書</a:t>
            </a:r>
            <a:r>
              <a:rPr lang="en-US" altLang="ja-JP" sz="2200" dirty="0"/>
              <a:t>A</a:t>
            </a:r>
            <a:r>
              <a:rPr lang="ja-JP" altLang="en-US" sz="2200" dirty="0"/>
              <a:t>参照）</a:t>
            </a:r>
          </a:p>
          <a:p>
            <a:pPr marL="914400" lvl="1" indent="-457200">
              <a:lnSpc>
                <a:spcPct val="100000"/>
              </a:lnSpc>
              <a:buFont typeface="+mj-lt"/>
              <a:buAutoNum type="alphaLcPeriod" startAt="6"/>
            </a:pPr>
            <a:r>
              <a:rPr lang="ja-JP" altLang="en-US" sz="2200" dirty="0"/>
              <a:t>該当する場合には、必ず、顧客苦情および関連する是正処置が実施された後</a:t>
            </a:r>
          </a:p>
          <a:p>
            <a:pPr marL="914400" lvl="1" indent="-457200">
              <a:lnSpc>
                <a:spcPct val="100000"/>
              </a:lnSpc>
              <a:buFont typeface="+mj-lt"/>
              <a:buAutoNum type="alphaLcPeriod" startAt="6"/>
            </a:pPr>
            <a:r>
              <a:rPr lang="ja-JP" altLang="en-US" sz="2200" dirty="0"/>
              <a:t>リスク分析に基づく、設定された頻度で</a:t>
            </a:r>
          </a:p>
          <a:p>
            <a:pPr marL="0" indent="0">
              <a:lnSpc>
                <a:spcPct val="100000"/>
              </a:lnSpc>
              <a:buNone/>
            </a:pPr>
            <a:r>
              <a:rPr lang="ja-JP" altLang="en-US" sz="2200" dirty="0"/>
              <a:t>☑顧客に要求されれば、組織は、コントロールプランのレビュー又は改訂の後で、顧客の承認を得なければならない。</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8.5.1.1</a:t>
            </a:r>
            <a:r>
              <a:rPr kumimoji="1" lang="ja-JP" altLang="en-US" sz="3000" b="1" dirty="0">
                <a:solidFill>
                  <a:schemeClr val="tx2"/>
                </a:solidFill>
              </a:rPr>
              <a:t>　コントロールプラン</a:t>
            </a:r>
          </a:p>
        </p:txBody>
      </p:sp>
    </p:spTree>
    <p:extLst>
      <p:ext uri="{BB962C8B-B14F-4D97-AF65-F5344CB8AC3E}">
        <p14:creationId xmlns:p14="http://schemas.microsoft.com/office/powerpoint/2010/main" val="3108463280"/>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対象と段階。</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コントロールプランは　“生きた文書”。（</a:t>
            </a:r>
            <a:r>
              <a:rPr lang="en-US" altLang="ja-JP" sz="2400" dirty="0"/>
              <a:t>f</a:t>
            </a:r>
            <a:r>
              <a:rPr lang="ja-JP" altLang="en-US" sz="2400" dirty="0"/>
              <a:t>～</a:t>
            </a:r>
            <a:r>
              <a:rPr lang="en-US" altLang="ja-JP" sz="2400" dirty="0" err="1"/>
              <a:t>i</a:t>
            </a:r>
            <a:r>
              <a:rPr lang="ja-JP" altLang="en-US" sz="2400" dirty="0"/>
              <a:t>）</a:t>
            </a:r>
            <a:endParaRPr lang="en-US" altLang="ja-JP" sz="2400" dirty="0"/>
          </a:p>
          <a:p>
            <a:pPr lvl="1">
              <a:lnSpc>
                <a:spcPct val="100000"/>
              </a:lnSpc>
              <a:buFont typeface="Wingdings" panose="05000000000000000000" pitchFamily="2" charset="2"/>
              <a:buChar char="Ø"/>
            </a:pPr>
            <a:r>
              <a:rPr lang="ja-JP" altLang="en-US" sz="2200" dirty="0"/>
              <a:t>見直しの必要性。（不適合出荷／工程変更／クレーム／定期）</a:t>
            </a:r>
            <a:endParaRPr lang="en-US" altLang="ja-JP" sz="2200" dirty="0"/>
          </a:p>
          <a:p>
            <a:pPr lvl="1">
              <a:lnSpc>
                <a:spcPct val="100000"/>
              </a:lnSpc>
              <a:buFont typeface="Wingdings" panose="05000000000000000000" pitchFamily="2" charset="2"/>
              <a:buChar char="Ø"/>
            </a:pPr>
            <a:r>
              <a:rPr lang="ja-JP" altLang="en-US" sz="2200" dirty="0"/>
              <a:t>前後の関係。（工程フロー　➠　ＦＭＥＡ　➠　コントロールプラン）</a:t>
            </a:r>
            <a:endParaRPr lang="en-US" altLang="ja-JP" sz="22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259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8.5.1.1</a:t>
            </a:r>
            <a:r>
              <a:rPr lang="ja-JP" altLang="en-US" sz="3000" b="1" dirty="0">
                <a:solidFill>
                  <a:schemeClr val="bg1"/>
                </a:solidFill>
              </a:rPr>
              <a:t>　コントロールプラン</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D43D1E15-5C29-40EE-8302-6BFA5E81D264}"/>
              </a:ext>
            </a:extLst>
          </p:cNvPr>
          <p:cNvGraphicFramePr>
            <a:graphicFrameLocks noGrp="1"/>
          </p:cNvGraphicFramePr>
          <p:nvPr>
            <p:extLst>
              <p:ext uri="{D42A27DB-BD31-4B8C-83A1-F6EECF244321}">
                <p14:modId xmlns:p14="http://schemas.microsoft.com/office/powerpoint/2010/main" val="498892450"/>
              </p:ext>
            </p:extLst>
          </p:nvPr>
        </p:nvGraphicFramePr>
        <p:xfrm>
          <a:off x="838200" y="1854403"/>
          <a:ext cx="10515600" cy="2987040"/>
        </p:xfrm>
        <a:graphic>
          <a:graphicData uri="http://schemas.openxmlformats.org/drawingml/2006/table">
            <a:tbl>
              <a:tblPr firstRow="1" bandRow="1">
                <a:tableStyleId>{5940675A-B579-460E-94D1-54222C63F5DA}</a:tableStyleId>
              </a:tblPr>
              <a:tblGrid>
                <a:gridCol w="770263">
                  <a:extLst>
                    <a:ext uri="{9D8B030D-6E8A-4147-A177-3AD203B41FA5}">
                      <a16:colId xmlns:a16="http://schemas.microsoft.com/office/drawing/2014/main" val="960098451"/>
                    </a:ext>
                  </a:extLst>
                </a:gridCol>
                <a:gridCol w="1850833">
                  <a:extLst>
                    <a:ext uri="{9D8B030D-6E8A-4147-A177-3AD203B41FA5}">
                      <a16:colId xmlns:a16="http://schemas.microsoft.com/office/drawing/2014/main" val="2512779384"/>
                    </a:ext>
                  </a:extLst>
                </a:gridCol>
                <a:gridCol w="7894504">
                  <a:extLst>
                    <a:ext uri="{9D8B030D-6E8A-4147-A177-3AD203B41FA5}">
                      <a16:colId xmlns:a16="http://schemas.microsoft.com/office/drawing/2014/main" val="845309677"/>
                    </a:ext>
                  </a:extLst>
                </a:gridCol>
              </a:tblGrid>
              <a:tr h="370840">
                <a:tc rowSpan="3">
                  <a:txBody>
                    <a:bodyPr/>
                    <a:lstStyle/>
                    <a:p>
                      <a:r>
                        <a:rPr kumimoji="1" lang="ja-JP" altLang="en-US" sz="2000" dirty="0"/>
                        <a:t>対象</a:t>
                      </a:r>
                    </a:p>
                  </a:txBody>
                  <a:tcPr anchor="ctr">
                    <a:solidFill>
                      <a:schemeClr val="tx2">
                        <a:lumMod val="20000"/>
                        <a:lumOff val="80000"/>
                      </a:schemeClr>
                    </a:solidFill>
                  </a:tcPr>
                </a:tc>
                <a:tc>
                  <a:txBody>
                    <a:bodyPr/>
                    <a:lstStyle/>
                    <a:p>
                      <a:r>
                        <a:rPr kumimoji="1" lang="ja-JP" altLang="en-US" sz="2000" dirty="0"/>
                        <a:t>システム</a:t>
                      </a:r>
                    </a:p>
                  </a:txBody>
                  <a:tcPr anchor="ctr">
                    <a:solidFill>
                      <a:schemeClr val="tx2">
                        <a:lumMod val="20000"/>
                        <a:lumOff val="80000"/>
                      </a:schemeClr>
                    </a:solidFill>
                  </a:tcPr>
                </a:tc>
                <a:tc>
                  <a:txBody>
                    <a:bodyPr/>
                    <a:lstStyle/>
                    <a:p>
                      <a:r>
                        <a:rPr kumimoji="1" lang="ja-JP" altLang="en-US" sz="2000" dirty="0"/>
                        <a:t>特定の機能を持つ構成要素および装置の組合せ。（制動システムなど）</a:t>
                      </a:r>
                    </a:p>
                  </a:txBody>
                  <a:tcPr anchor="ctr">
                    <a:solidFill>
                      <a:schemeClr val="tx2">
                        <a:lumMod val="20000"/>
                        <a:lumOff val="80000"/>
                      </a:schemeClr>
                    </a:solidFill>
                  </a:tcPr>
                </a:tc>
                <a:extLst>
                  <a:ext uri="{0D108BD9-81ED-4DB2-BD59-A6C34878D82A}">
                    <a16:rowId xmlns:a16="http://schemas.microsoft.com/office/drawing/2014/main" val="923007962"/>
                  </a:ext>
                </a:extLst>
              </a:tr>
              <a:tr h="370840">
                <a:tc vMerge="1">
                  <a:txBody>
                    <a:bodyPr/>
                    <a:lstStyle/>
                    <a:p>
                      <a:endParaRPr kumimoji="1" lang="ja-JP" altLang="en-US" sz="2000" dirty="0"/>
                    </a:p>
                  </a:txBody>
                  <a:tcPr anchor="ctr"/>
                </a:tc>
                <a:tc>
                  <a:txBody>
                    <a:bodyPr/>
                    <a:lstStyle/>
                    <a:p>
                      <a:r>
                        <a:rPr kumimoji="1" lang="ja-JP" altLang="en-US" sz="2000" dirty="0"/>
                        <a:t>サブシステム</a:t>
                      </a:r>
                    </a:p>
                  </a:txBody>
                  <a:tcPr anchor="ctr">
                    <a:solidFill>
                      <a:schemeClr val="tx2">
                        <a:lumMod val="20000"/>
                        <a:lumOff val="80000"/>
                      </a:schemeClr>
                    </a:solidFill>
                  </a:tcPr>
                </a:tc>
                <a:tc>
                  <a:txBody>
                    <a:bodyPr/>
                    <a:lstStyle/>
                    <a:p>
                      <a:r>
                        <a:rPr kumimoji="1" lang="ja-JP" altLang="en-US" sz="2000" dirty="0"/>
                        <a:t>システム特性の主要部分。（制動システムのブレーキなど）</a:t>
                      </a:r>
                    </a:p>
                  </a:txBody>
                  <a:tcPr anchor="ctr">
                    <a:solidFill>
                      <a:schemeClr val="tx2">
                        <a:lumMod val="20000"/>
                        <a:lumOff val="80000"/>
                      </a:schemeClr>
                    </a:solidFill>
                  </a:tcPr>
                </a:tc>
                <a:extLst>
                  <a:ext uri="{0D108BD9-81ED-4DB2-BD59-A6C34878D82A}">
                    <a16:rowId xmlns:a16="http://schemas.microsoft.com/office/drawing/2014/main" val="2375194160"/>
                  </a:ext>
                </a:extLst>
              </a:tr>
              <a:tr h="370840">
                <a:tc vMerge="1">
                  <a:txBody>
                    <a:bodyPr/>
                    <a:lstStyle/>
                    <a:p>
                      <a:endParaRPr kumimoji="1" lang="ja-JP" altLang="en-US" sz="2000" dirty="0"/>
                    </a:p>
                  </a:txBody>
                  <a:tcPr anchor="ctr"/>
                </a:tc>
                <a:tc>
                  <a:txBody>
                    <a:bodyPr/>
                    <a:lstStyle/>
                    <a:p>
                      <a:r>
                        <a:rPr kumimoji="1" lang="ja-JP" altLang="en-US" sz="2000" dirty="0"/>
                        <a:t>部品／材料</a:t>
                      </a:r>
                    </a:p>
                  </a:txBody>
                  <a:tcPr anchor="ctr">
                    <a:solidFill>
                      <a:schemeClr val="tx2">
                        <a:lumMod val="20000"/>
                        <a:lumOff val="80000"/>
                      </a:schemeClr>
                    </a:solidFill>
                  </a:tcPr>
                </a:tc>
                <a:tc>
                  <a:txBody>
                    <a:bodyPr/>
                    <a:lstStyle/>
                    <a:p>
                      <a:r>
                        <a:rPr kumimoji="1" lang="ja-JP" altLang="en-US" sz="2000" dirty="0"/>
                        <a:t>金属材料、樹脂材料及び電子部品など。</a:t>
                      </a:r>
                    </a:p>
                  </a:txBody>
                  <a:tcPr anchor="ctr">
                    <a:solidFill>
                      <a:schemeClr val="tx2">
                        <a:lumMod val="20000"/>
                        <a:lumOff val="80000"/>
                      </a:schemeClr>
                    </a:solidFill>
                  </a:tcPr>
                </a:tc>
                <a:extLst>
                  <a:ext uri="{0D108BD9-81ED-4DB2-BD59-A6C34878D82A}">
                    <a16:rowId xmlns:a16="http://schemas.microsoft.com/office/drawing/2014/main" val="3213982733"/>
                  </a:ext>
                </a:extLst>
              </a:tr>
              <a:tr h="370840">
                <a:tc rowSpan="3">
                  <a:txBody>
                    <a:bodyPr/>
                    <a:lstStyle/>
                    <a:p>
                      <a:r>
                        <a:rPr kumimoji="1" lang="ja-JP" altLang="en-US" sz="2000" dirty="0"/>
                        <a:t>段階</a:t>
                      </a:r>
                    </a:p>
                  </a:txBody>
                  <a:tcPr anchor="ctr">
                    <a:solidFill>
                      <a:schemeClr val="tx2">
                        <a:lumMod val="20000"/>
                        <a:lumOff val="80000"/>
                      </a:schemeClr>
                    </a:solidFill>
                  </a:tcPr>
                </a:tc>
                <a:tc>
                  <a:txBody>
                    <a:bodyPr/>
                    <a:lstStyle/>
                    <a:p>
                      <a:r>
                        <a:rPr kumimoji="1" lang="ja-JP" altLang="en-US" sz="2000" dirty="0"/>
                        <a:t>試作</a:t>
                      </a:r>
                    </a:p>
                  </a:txBody>
                  <a:tcPr anchor="ctr">
                    <a:solidFill>
                      <a:schemeClr val="tx2">
                        <a:lumMod val="20000"/>
                        <a:lumOff val="80000"/>
                      </a:schemeClr>
                    </a:solidFill>
                  </a:tcPr>
                </a:tc>
                <a:tc>
                  <a:txBody>
                    <a:bodyPr/>
                    <a:lstStyle/>
                    <a:p>
                      <a:r>
                        <a:rPr kumimoji="1" lang="en-US" altLang="ja-JP" sz="2000" dirty="0"/>
                        <a:t>※</a:t>
                      </a:r>
                      <a:r>
                        <a:rPr kumimoji="1" lang="ja-JP" altLang="en-US" sz="2000" dirty="0"/>
                        <a:t>顧客が要求する場合。</a:t>
                      </a:r>
                      <a:endParaRPr kumimoji="1" lang="en-US" altLang="ja-JP" sz="2000" dirty="0"/>
                    </a:p>
                    <a:p>
                      <a:r>
                        <a:rPr kumimoji="1" lang="ja-JP" altLang="en-US" sz="2000" dirty="0"/>
                        <a:t>試作における寸法測定及び性能試験など。</a:t>
                      </a:r>
                    </a:p>
                  </a:txBody>
                  <a:tcPr anchor="ctr">
                    <a:solidFill>
                      <a:schemeClr val="tx2">
                        <a:lumMod val="20000"/>
                        <a:lumOff val="80000"/>
                      </a:schemeClr>
                    </a:solidFill>
                  </a:tcPr>
                </a:tc>
                <a:extLst>
                  <a:ext uri="{0D108BD9-81ED-4DB2-BD59-A6C34878D82A}">
                    <a16:rowId xmlns:a16="http://schemas.microsoft.com/office/drawing/2014/main" val="3432713185"/>
                  </a:ext>
                </a:extLst>
              </a:tr>
              <a:tr h="370840">
                <a:tc vMerge="1">
                  <a:txBody>
                    <a:bodyPr/>
                    <a:lstStyle/>
                    <a:p>
                      <a:endParaRPr kumimoji="1" lang="ja-JP" altLang="en-US" sz="2000" dirty="0"/>
                    </a:p>
                  </a:txBody>
                  <a:tcPr anchor="ctr"/>
                </a:tc>
                <a:tc>
                  <a:txBody>
                    <a:bodyPr/>
                    <a:lstStyle/>
                    <a:p>
                      <a:r>
                        <a:rPr kumimoji="1" lang="ja-JP" altLang="en-US" sz="2000" dirty="0"/>
                        <a:t>量産試作</a:t>
                      </a:r>
                    </a:p>
                  </a:txBody>
                  <a:tcPr anchor="ctr">
                    <a:solidFill>
                      <a:schemeClr val="tx2">
                        <a:lumMod val="20000"/>
                        <a:lumOff val="80000"/>
                      </a:schemeClr>
                    </a:solidFill>
                  </a:tcPr>
                </a:tc>
                <a:tc>
                  <a:txBody>
                    <a:bodyPr/>
                    <a:lstStyle/>
                    <a:p>
                      <a:r>
                        <a:rPr kumimoji="1" lang="ja-JP" altLang="en-US" sz="2000" dirty="0"/>
                        <a:t>量産試作における寸法測定及び性能試験など。</a:t>
                      </a:r>
                    </a:p>
                  </a:txBody>
                  <a:tcPr anchor="ctr">
                    <a:solidFill>
                      <a:schemeClr val="tx2">
                        <a:lumMod val="20000"/>
                        <a:lumOff val="80000"/>
                      </a:schemeClr>
                    </a:solidFill>
                  </a:tcPr>
                </a:tc>
                <a:extLst>
                  <a:ext uri="{0D108BD9-81ED-4DB2-BD59-A6C34878D82A}">
                    <a16:rowId xmlns:a16="http://schemas.microsoft.com/office/drawing/2014/main" val="1887212410"/>
                  </a:ext>
                </a:extLst>
              </a:tr>
              <a:tr h="370840">
                <a:tc vMerge="1">
                  <a:txBody>
                    <a:bodyPr/>
                    <a:lstStyle/>
                    <a:p>
                      <a:endParaRPr kumimoji="1" lang="ja-JP" altLang="en-US" sz="2000" dirty="0"/>
                    </a:p>
                  </a:txBody>
                  <a:tcPr anchor="ctr"/>
                </a:tc>
                <a:tc>
                  <a:txBody>
                    <a:bodyPr/>
                    <a:lstStyle/>
                    <a:p>
                      <a:r>
                        <a:rPr kumimoji="1" lang="ja-JP" altLang="en-US" sz="2000" dirty="0"/>
                        <a:t>量産</a:t>
                      </a:r>
                    </a:p>
                  </a:txBody>
                  <a:tcPr anchor="ctr">
                    <a:solidFill>
                      <a:schemeClr val="tx2">
                        <a:lumMod val="20000"/>
                        <a:lumOff val="80000"/>
                      </a:schemeClr>
                    </a:solidFill>
                  </a:tcPr>
                </a:tc>
                <a:tc>
                  <a:txBody>
                    <a:bodyPr/>
                    <a:lstStyle/>
                    <a:p>
                      <a:r>
                        <a:rPr kumimoji="1" lang="ja-JP" altLang="en-US" sz="2000" dirty="0"/>
                        <a:t>量産における製品及び工程特性、工程管理、試験及び測定方法など。</a:t>
                      </a:r>
                    </a:p>
                  </a:txBody>
                  <a:tcPr anchor="ctr">
                    <a:solidFill>
                      <a:schemeClr val="tx2">
                        <a:lumMod val="20000"/>
                        <a:lumOff val="80000"/>
                      </a:schemeClr>
                    </a:solidFill>
                  </a:tcPr>
                </a:tc>
                <a:extLst>
                  <a:ext uri="{0D108BD9-81ED-4DB2-BD59-A6C34878D82A}">
                    <a16:rowId xmlns:a16="http://schemas.microsoft.com/office/drawing/2014/main" val="2409231237"/>
                  </a:ext>
                </a:extLst>
              </a:tr>
            </a:tbl>
          </a:graphicData>
        </a:graphic>
      </p:graphicFrame>
    </p:spTree>
    <p:extLst>
      <p:ext uri="{BB962C8B-B14F-4D97-AF65-F5344CB8AC3E}">
        <p14:creationId xmlns:p14="http://schemas.microsoft.com/office/powerpoint/2010/main" val="1792932077"/>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コントロールプランの項目は「</a:t>
            </a:r>
            <a:r>
              <a:rPr lang="en-US" altLang="ja-JP" sz="2400" dirty="0"/>
              <a:t>IATF16949</a:t>
            </a:r>
            <a:r>
              <a:rPr lang="ja-JP" altLang="en-US" sz="2400" dirty="0"/>
              <a:t>規格附属書</a:t>
            </a:r>
            <a:r>
              <a:rPr lang="en-US" altLang="ja-JP" sz="2400" dirty="0"/>
              <a:t>A</a:t>
            </a:r>
            <a:r>
              <a:rPr lang="ja-JP" altLang="en-US" sz="2400" dirty="0"/>
              <a:t>」にて定められている。</a:t>
            </a:r>
            <a:endParaRPr lang="en-US" altLang="ja-JP" sz="2400" dirty="0"/>
          </a:p>
          <a:p>
            <a:pPr lvl="1">
              <a:lnSpc>
                <a:spcPct val="100000"/>
              </a:lnSpc>
              <a:buFont typeface="Wingdings" panose="05000000000000000000" pitchFamily="2" charset="2"/>
              <a:buChar char="Ø"/>
            </a:pPr>
            <a:r>
              <a:rPr lang="ja-JP" altLang="en-US" dirty="0"/>
              <a:t>付属書</a:t>
            </a:r>
            <a:r>
              <a:rPr lang="en-US" altLang="ja-JP" dirty="0"/>
              <a:t>A</a:t>
            </a:r>
            <a:r>
              <a:rPr lang="ja-JP" altLang="en-US" dirty="0"/>
              <a:t>　＋　</a:t>
            </a:r>
            <a:r>
              <a:rPr lang="en-US" altLang="ja-JP" dirty="0"/>
              <a:t>8.5.1.1</a:t>
            </a:r>
            <a:r>
              <a:rPr lang="ja-JP" altLang="en-US" dirty="0"/>
              <a:t>（</a:t>
            </a:r>
            <a:r>
              <a:rPr lang="en-US" altLang="ja-JP" dirty="0"/>
              <a:t>a</a:t>
            </a:r>
            <a:r>
              <a:rPr lang="ja-JP" altLang="en-US" dirty="0"/>
              <a:t>、</a:t>
            </a:r>
            <a:r>
              <a:rPr lang="en-US" altLang="ja-JP" dirty="0"/>
              <a:t>b</a:t>
            </a:r>
            <a:r>
              <a:rPr lang="ja-JP" altLang="en-US" dirty="0"/>
              <a:t>、</a:t>
            </a:r>
            <a:r>
              <a:rPr lang="en-US" altLang="ja-JP" dirty="0"/>
              <a:t>d</a:t>
            </a:r>
            <a:r>
              <a:rPr lang="ja-JP" altLang="en-US" dirty="0"/>
              <a:t>）が基本。</a:t>
            </a:r>
            <a:endParaRPr lang="en-US" altLang="ja-JP" dirty="0"/>
          </a:p>
          <a:p>
            <a:pPr marL="457200" indent="-457200">
              <a:lnSpc>
                <a:spcPct val="100000"/>
              </a:lnSpc>
              <a:buFont typeface="+mj-lt"/>
              <a:buAutoNum type="arabicPeriod" startAt="4"/>
            </a:pPr>
            <a:r>
              <a:rPr lang="ja-JP" altLang="en-US" sz="2400" dirty="0"/>
              <a:t>コントロールプランのレビューは重要。</a:t>
            </a:r>
            <a:endParaRPr lang="en-US" altLang="ja-JP" sz="2400" dirty="0"/>
          </a:p>
          <a:p>
            <a:pPr lvl="1">
              <a:lnSpc>
                <a:spcPct val="100000"/>
              </a:lnSpc>
              <a:buFont typeface="Wingdings" panose="05000000000000000000" pitchFamily="2" charset="2"/>
              <a:buChar char="Ø"/>
            </a:pPr>
            <a:r>
              <a:rPr lang="ja-JP" altLang="en-US" dirty="0"/>
              <a:t>コントロールプランと製造工程の相違は重大な不適合。</a:t>
            </a:r>
            <a:endParaRPr lang="en-US" altLang="ja-JP" dirty="0"/>
          </a:p>
          <a:p>
            <a:pPr lvl="1">
              <a:lnSpc>
                <a:spcPct val="100000"/>
              </a:lnSpc>
              <a:buFont typeface="Wingdings" panose="05000000000000000000" pitchFamily="2" charset="2"/>
              <a:buChar char="Ø"/>
            </a:pPr>
            <a:r>
              <a:rPr lang="ja-JP" altLang="en-US" dirty="0"/>
              <a:t>定期見直しではなく、</a:t>
            </a:r>
            <a:r>
              <a:rPr lang="ja-JP" altLang="en-US" dirty="0">
                <a:solidFill>
                  <a:srgbClr val="FF0000"/>
                </a:solidFill>
                <a:effectLst>
                  <a:outerShdw blurRad="38100" dist="38100" dir="2700000" algn="tl">
                    <a:srgbClr val="000000">
                      <a:alpha val="43137"/>
                    </a:srgbClr>
                  </a:outerShdw>
                </a:effectLst>
              </a:rPr>
              <a:t>見直すべく事象側のプロセスにポカヨケ機能</a:t>
            </a:r>
            <a:r>
              <a:rPr lang="ja-JP" altLang="en-US" dirty="0"/>
              <a:t>を設けるべき。</a:t>
            </a:r>
            <a:endParaRPr lang="en-US" altLang="ja-JP" dirty="0"/>
          </a:p>
          <a:p>
            <a:pPr marL="914400" lvl="2" indent="0">
              <a:lnSpc>
                <a:spcPct val="100000"/>
              </a:lnSpc>
              <a:buNone/>
            </a:pPr>
            <a:r>
              <a:rPr lang="ja-JP" altLang="en-US" sz="2400" dirty="0"/>
              <a:t>➠　不適合対策書様式、工程変更申請書様式への記載など。</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8.5.1.1</a:t>
            </a:r>
            <a:r>
              <a:rPr lang="ja-JP" altLang="en-US" sz="3000" b="1" dirty="0">
                <a:solidFill>
                  <a:schemeClr val="bg1"/>
                </a:solidFill>
              </a:rPr>
              <a:t>　コントロールプラン</a:t>
            </a:r>
            <a:endParaRPr kumimoji="1" lang="ja-JP" altLang="en-US" sz="3000" b="1" dirty="0">
              <a:solidFill>
                <a:schemeClr val="bg1"/>
              </a:solidFill>
            </a:endParaRPr>
          </a:p>
        </p:txBody>
      </p:sp>
    </p:spTree>
    <p:extLst>
      <p:ext uri="{BB962C8B-B14F-4D97-AF65-F5344CB8AC3E}">
        <p14:creationId xmlns:p14="http://schemas.microsoft.com/office/powerpoint/2010/main" val="16011786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1830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作成例（附属書Ａ参照）～ヘッダー～</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8.5.1.1</a:t>
            </a:r>
            <a:r>
              <a:rPr lang="ja-JP" altLang="en-US" sz="3000" b="1" dirty="0">
                <a:solidFill>
                  <a:schemeClr val="bg1"/>
                </a:solidFill>
              </a:rPr>
              <a:t>　コントロールプラン</a:t>
            </a:r>
            <a:endParaRPr kumimoji="1" lang="ja-JP" altLang="en-US" sz="3000" b="1" dirty="0">
              <a:solidFill>
                <a:schemeClr val="bg1"/>
              </a:solidFill>
            </a:endParaRPr>
          </a:p>
        </p:txBody>
      </p:sp>
      <p:graphicFrame>
        <p:nvGraphicFramePr>
          <p:cNvPr id="3" name="表 2">
            <a:extLst>
              <a:ext uri="{FF2B5EF4-FFF2-40B4-BE49-F238E27FC236}">
                <a16:creationId xmlns:a16="http://schemas.microsoft.com/office/drawing/2014/main" id="{B7FCECBB-8519-4F3D-B5E9-927ECA0CA99F}"/>
              </a:ext>
            </a:extLst>
          </p:cNvPr>
          <p:cNvGraphicFramePr>
            <a:graphicFrameLocks noGrp="1"/>
          </p:cNvGraphicFramePr>
          <p:nvPr>
            <p:extLst>
              <p:ext uri="{D42A27DB-BD31-4B8C-83A1-F6EECF244321}">
                <p14:modId xmlns:p14="http://schemas.microsoft.com/office/powerpoint/2010/main" val="989713129"/>
              </p:ext>
            </p:extLst>
          </p:nvPr>
        </p:nvGraphicFramePr>
        <p:xfrm>
          <a:off x="838199" y="2140431"/>
          <a:ext cx="10515600" cy="3610376"/>
        </p:xfrm>
        <a:graphic>
          <a:graphicData uri="http://schemas.openxmlformats.org/drawingml/2006/table">
            <a:tbl>
              <a:tblPr firstRow="1" bandRow="1">
                <a:tableStyleId>{5940675A-B579-460E-94D1-54222C63F5DA}</a:tableStyleId>
              </a:tblPr>
              <a:tblGrid>
                <a:gridCol w="3777868">
                  <a:extLst>
                    <a:ext uri="{9D8B030D-6E8A-4147-A177-3AD203B41FA5}">
                      <a16:colId xmlns:a16="http://schemas.microsoft.com/office/drawing/2014/main" val="1661874044"/>
                    </a:ext>
                  </a:extLst>
                </a:gridCol>
                <a:gridCol w="3404213">
                  <a:extLst>
                    <a:ext uri="{9D8B030D-6E8A-4147-A177-3AD203B41FA5}">
                      <a16:colId xmlns:a16="http://schemas.microsoft.com/office/drawing/2014/main" val="914275431"/>
                    </a:ext>
                  </a:extLst>
                </a:gridCol>
                <a:gridCol w="1674563">
                  <a:extLst>
                    <a:ext uri="{9D8B030D-6E8A-4147-A177-3AD203B41FA5}">
                      <a16:colId xmlns:a16="http://schemas.microsoft.com/office/drawing/2014/main" val="2393566242"/>
                    </a:ext>
                  </a:extLst>
                </a:gridCol>
                <a:gridCol w="1658956">
                  <a:extLst>
                    <a:ext uri="{9D8B030D-6E8A-4147-A177-3AD203B41FA5}">
                      <a16:colId xmlns:a16="http://schemas.microsoft.com/office/drawing/2014/main" val="3364848283"/>
                    </a:ext>
                  </a:extLst>
                </a:gridCol>
              </a:tblGrid>
              <a:tr h="902594">
                <a:tc>
                  <a:txBody>
                    <a:bodyPr/>
                    <a:lstStyle/>
                    <a:p>
                      <a:r>
                        <a:rPr kumimoji="1" lang="ja-JP" altLang="en-US" b="1" dirty="0"/>
                        <a:t>製品名</a:t>
                      </a:r>
                      <a:endParaRPr kumimoji="1" lang="en-US" altLang="ja-JP" b="1" dirty="0"/>
                    </a:p>
                    <a:p>
                      <a:r>
                        <a:rPr kumimoji="1" lang="ja-JP" altLang="en-US" dirty="0"/>
                        <a:t>　●●用●●品</a:t>
                      </a:r>
                    </a:p>
                  </a:txBody>
                  <a:tcPr/>
                </a:tc>
                <a:tc>
                  <a:txBody>
                    <a:bodyPr/>
                    <a:lstStyle/>
                    <a:p>
                      <a:r>
                        <a:rPr kumimoji="1" lang="ja-JP" altLang="en-US" b="1" dirty="0"/>
                        <a:t>組織名</a:t>
                      </a:r>
                      <a:endParaRPr kumimoji="1" lang="en-US" altLang="ja-JP" b="1" dirty="0"/>
                    </a:p>
                    <a:p>
                      <a:r>
                        <a:rPr kumimoji="1" lang="ja-JP" altLang="en-US" dirty="0"/>
                        <a:t>　㈱●●●●</a:t>
                      </a:r>
                    </a:p>
                  </a:txBody>
                  <a:tcPr/>
                </a:tc>
                <a:tc gridSpan="2">
                  <a:txBody>
                    <a:bodyPr/>
                    <a:lstStyle/>
                    <a:p>
                      <a:r>
                        <a:rPr kumimoji="1" lang="ja-JP" altLang="en-US" b="1" dirty="0"/>
                        <a:t>ＣＰ№</a:t>
                      </a:r>
                      <a:endParaRPr kumimoji="1" lang="en-US" altLang="ja-JP" b="1" dirty="0"/>
                    </a:p>
                    <a:p>
                      <a:r>
                        <a:rPr kumimoji="1" lang="ja-JP" altLang="en-US" dirty="0"/>
                        <a:t>　ＣＰ－●●●●</a:t>
                      </a:r>
                    </a:p>
                  </a:txBody>
                  <a:tcPr/>
                </a:tc>
                <a:tc hMerge="1">
                  <a:txBody>
                    <a:bodyPr/>
                    <a:lstStyle/>
                    <a:p>
                      <a:endParaRPr kumimoji="1" lang="ja-JP" altLang="en-US" dirty="0"/>
                    </a:p>
                  </a:txBody>
                  <a:tcPr/>
                </a:tc>
                <a:extLst>
                  <a:ext uri="{0D108BD9-81ED-4DB2-BD59-A6C34878D82A}">
                    <a16:rowId xmlns:a16="http://schemas.microsoft.com/office/drawing/2014/main" val="1060669346"/>
                  </a:ext>
                </a:extLst>
              </a:tr>
              <a:tr h="902594">
                <a:tc>
                  <a:txBody>
                    <a:bodyPr/>
                    <a:lstStyle/>
                    <a:p>
                      <a:r>
                        <a:rPr kumimoji="1" lang="ja-JP" altLang="en-US" b="1" dirty="0"/>
                        <a:t>製品番号</a:t>
                      </a:r>
                      <a:endParaRPr kumimoji="1" lang="en-US" altLang="ja-JP" b="1" dirty="0"/>
                    </a:p>
                    <a:p>
                      <a:r>
                        <a:rPr kumimoji="1" lang="ja-JP" altLang="en-US" dirty="0"/>
                        <a:t>　●●●●</a:t>
                      </a:r>
                    </a:p>
                  </a:txBody>
                  <a:tcPr/>
                </a:tc>
                <a:tc>
                  <a:txBody>
                    <a:bodyPr/>
                    <a:lstStyle/>
                    <a:p>
                      <a:r>
                        <a:rPr kumimoji="1" lang="ja-JP" altLang="en-US" b="1" dirty="0"/>
                        <a:t>工場名／コード</a:t>
                      </a:r>
                      <a:endParaRPr kumimoji="1" lang="en-US" altLang="ja-JP" b="1" dirty="0"/>
                    </a:p>
                    <a:p>
                      <a:r>
                        <a:rPr kumimoji="1" lang="ja-JP" altLang="en-US" dirty="0"/>
                        <a:t>　●●工場／●●●●</a:t>
                      </a:r>
                    </a:p>
                  </a:txBody>
                  <a:tcPr/>
                </a:tc>
                <a:tc>
                  <a:txBody>
                    <a:bodyPr/>
                    <a:lstStyle/>
                    <a:p>
                      <a:r>
                        <a:rPr kumimoji="1" lang="ja-JP" altLang="en-US" b="1" dirty="0"/>
                        <a:t>発行日</a:t>
                      </a:r>
                      <a:endParaRPr kumimoji="1" lang="en-US" altLang="ja-JP" b="1" dirty="0"/>
                    </a:p>
                    <a:p>
                      <a:r>
                        <a:rPr kumimoji="1" lang="ja-JP" altLang="en-US" dirty="0"/>
                        <a:t>　</a:t>
                      </a:r>
                      <a:r>
                        <a:rPr kumimoji="1" lang="en-US" altLang="ja-JP" dirty="0"/>
                        <a:t>20190101</a:t>
                      </a:r>
                      <a:endParaRPr kumimoji="1" lang="ja-JP" altLang="en-US" dirty="0"/>
                    </a:p>
                  </a:txBody>
                  <a:tcPr/>
                </a:tc>
                <a:tc>
                  <a:txBody>
                    <a:bodyPr/>
                    <a:lstStyle/>
                    <a:p>
                      <a:r>
                        <a:rPr kumimoji="1" lang="ja-JP" altLang="en-US" b="1" dirty="0"/>
                        <a:t>改定日</a:t>
                      </a:r>
                      <a:endParaRPr kumimoji="1" lang="en-US" altLang="ja-JP" b="1" dirty="0"/>
                    </a:p>
                    <a:p>
                      <a:r>
                        <a:rPr kumimoji="1" lang="ja-JP" altLang="en-US" dirty="0"/>
                        <a:t>　</a:t>
                      </a:r>
                      <a:r>
                        <a:rPr kumimoji="1" lang="en-US" altLang="ja-JP" dirty="0"/>
                        <a:t>20200101</a:t>
                      </a:r>
                      <a:endParaRPr kumimoji="1" lang="ja-JP" altLang="en-US" dirty="0"/>
                    </a:p>
                  </a:txBody>
                  <a:tcPr/>
                </a:tc>
                <a:extLst>
                  <a:ext uri="{0D108BD9-81ED-4DB2-BD59-A6C34878D82A}">
                    <a16:rowId xmlns:a16="http://schemas.microsoft.com/office/drawing/2014/main" val="2494458355"/>
                  </a:ext>
                </a:extLst>
              </a:tr>
              <a:tr h="902594">
                <a:tc>
                  <a:txBody>
                    <a:bodyPr/>
                    <a:lstStyle/>
                    <a:p>
                      <a:r>
                        <a:rPr kumimoji="1" lang="ja-JP" altLang="en-US" b="1" dirty="0"/>
                        <a:t>顧客名／顧客要求事項</a:t>
                      </a:r>
                      <a:endParaRPr kumimoji="1" lang="en-US" altLang="ja-JP" b="1" dirty="0"/>
                    </a:p>
                    <a:p>
                      <a:r>
                        <a:rPr kumimoji="1" lang="ja-JP" altLang="en-US" dirty="0"/>
                        <a:t>　㈱●●●●／仕様書●●</a:t>
                      </a:r>
                    </a:p>
                  </a:txBody>
                  <a:tcPr/>
                </a:tc>
                <a:tc>
                  <a:txBody>
                    <a:bodyPr/>
                    <a:lstStyle/>
                    <a:p>
                      <a:r>
                        <a:rPr kumimoji="1" lang="ja-JP" altLang="en-US" b="1" dirty="0"/>
                        <a:t>顧客承認／日付</a:t>
                      </a:r>
                      <a:endParaRPr kumimoji="1" lang="en-US" altLang="ja-JP" b="1" dirty="0"/>
                    </a:p>
                    <a:p>
                      <a:r>
                        <a:rPr kumimoji="1" lang="ja-JP" altLang="en-US" dirty="0"/>
                        <a:t>　品質保証部●●／</a:t>
                      </a:r>
                      <a:r>
                        <a:rPr kumimoji="1" lang="en-US" altLang="ja-JP" dirty="0"/>
                        <a:t>20200101</a:t>
                      </a:r>
                      <a:endParaRPr kumimoji="1" lang="ja-JP" altLang="en-US" dirty="0"/>
                    </a:p>
                  </a:txBody>
                  <a:tcPr/>
                </a:tc>
                <a:tc gridSpan="2">
                  <a:txBody>
                    <a:bodyPr/>
                    <a:lstStyle/>
                    <a:p>
                      <a:r>
                        <a:rPr kumimoji="1" lang="ja-JP" altLang="en-US" b="1" dirty="0"/>
                        <a:t>主要連絡先</a:t>
                      </a:r>
                      <a:endParaRPr kumimoji="1" lang="en-US" altLang="ja-JP" b="1" dirty="0"/>
                    </a:p>
                    <a:p>
                      <a:r>
                        <a:rPr kumimoji="1" lang="ja-JP" altLang="en-US" dirty="0"/>
                        <a:t>　●●部●●課●●●●</a:t>
                      </a:r>
                    </a:p>
                  </a:txBody>
                  <a:tcPr/>
                </a:tc>
                <a:tc hMerge="1">
                  <a:txBody>
                    <a:bodyPr/>
                    <a:lstStyle/>
                    <a:p>
                      <a:endParaRPr kumimoji="1" lang="ja-JP" altLang="en-US" dirty="0"/>
                    </a:p>
                  </a:txBody>
                  <a:tcPr/>
                </a:tc>
                <a:extLst>
                  <a:ext uri="{0D108BD9-81ED-4DB2-BD59-A6C34878D82A}">
                    <a16:rowId xmlns:a16="http://schemas.microsoft.com/office/drawing/2014/main" val="3328647861"/>
                  </a:ext>
                </a:extLst>
              </a:tr>
              <a:tr h="902594">
                <a:tc>
                  <a:txBody>
                    <a:bodyPr/>
                    <a:lstStyle/>
                    <a:p>
                      <a:r>
                        <a:rPr kumimoji="1" lang="ja-JP" altLang="en-US" b="1" dirty="0"/>
                        <a:t>最新版レベル（仕様書№・日付）</a:t>
                      </a:r>
                      <a:endParaRPr kumimoji="1" lang="en-US" altLang="ja-JP" b="1" dirty="0"/>
                    </a:p>
                    <a:p>
                      <a:r>
                        <a:rPr kumimoji="1" lang="ja-JP" altLang="en-US" dirty="0"/>
                        <a:t>　●●●●／</a:t>
                      </a:r>
                      <a:r>
                        <a:rPr kumimoji="1" lang="en-US" altLang="ja-JP" dirty="0"/>
                        <a:t>20191001</a:t>
                      </a:r>
                      <a:endParaRPr kumimoji="1" lang="ja-JP" altLang="en-US" dirty="0"/>
                    </a:p>
                  </a:txBody>
                  <a:tcPr/>
                </a:tc>
                <a:tc>
                  <a:txBody>
                    <a:bodyPr/>
                    <a:lstStyle/>
                    <a:p>
                      <a:r>
                        <a:rPr kumimoji="1" lang="en-US" altLang="ja-JP" b="1" dirty="0"/>
                        <a:t>APQP</a:t>
                      </a:r>
                      <a:r>
                        <a:rPr kumimoji="1" lang="ja-JP" altLang="en-US" b="1" dirty="0"/>
                        <a:t>チーム</a:t>
                      </a:r>
                      <a:endParaRPr kumimoji="1" lang="en-US" altLang="ja-JP" b="1" dirty="0"/>
                    </a:p>
                    <a:p>
                      <a:r>
                        <a:rPr kumimoji="1" lang="ja-JP" altLang="en-US" dirty="0"/>
                        <a:t>　●●●●／●●●●</a:t>
                      </a:r>
                    </a:p>
                  </a:txBody>
                  <a:tcPr/>
                </a:tc>
                <a:tc gridSpan="2">
                  <a:txBody>
                    <a:bodyPr/>
                    <a:lstStyle/>
                    <a:p>
                      <a:r>
                        <a:rPr kumimoji="1" lang="ja-JP" altLang="en-US" b="1" dirty="0"/>
                        <a:t>サイト（工場）長承認・日付</a:t>
                      </a:r>
                      <a:endParaRPr kumimoji="1" lang="en-US" altLang="ja-JP" b="1" dirty="0"/>
                    </a:p>
                    <a:p>
                      <a:r>
                        <a:rPr kumimoji="1" lang="ja-JP" altLang="en-US" dirty="0"/>
                        <a:t>　●●●印</a:t>
                      </a:r>
                      <a:r>
                        <a:rPr kumimoji="1" lang="en-US" altLang="ja-JP" dirty="0"/>
                        <a:t>/20200101</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3634545835"/>
                  </a:ext>
                </a:extLst>
              </a:tr>
            </a:tbl>
          </a:graphicData>
        </a:graphic>
      </p:graphicFrame>
    </p:spTree>
    <p:extLst>
      <p:ext uri="{BB962C8B-B14F-4D97-AF65-F5344CB8AC3E}">
        <p14:creationId xmlns:p14="http://schemas.microsoft.com/office/powerpoint/2010/main" val="1737416091"/>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1830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作成例（附属書Ａ参照）～管理欄～</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8.5.1.1</a:t>
            </a:r>
            <a:r>
              <a:rPr lang="ja-JP" altLang="en-US" sz="3000" b="1" dirty="0">
                <a:solidFill>
                  <a:schemeClr val="bg1"/>
                </a:solidFill>
              </a:rPr>
              <a:t>　コントロールプラン</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DECFA428-0782-451A-A9BD-B469C83B099C}"/>
              </a:ext>
            </a:extLst>
          </p:cNvPr>
          <p:cNvGraphicFramePr>
            <a:graphicFrameLocks noGrp="1"/>
          </p:cNvGraphicFramePr>
          <p:nvPr>
            <p:extLst>
              <p:ext uri="{D42A27DB-BD31-4B8C-83A1-F6EECF244321}">
                <p14:modId xmlns:p14="http://schemas.microsoft.com/office/powerpoint/2010/main" val="429908069"/>
              </p:ext>
            </p:extLst>
          </p:nvPr>
        </p:nvGraphicFramePr>
        <p:xfrm>
          <a:off x="838199" y="2129950"/>
          <a:ext cx="10515600" cy="4138645"/>
        </p:xfrm>
        <a:graphic>
          <a:graphicData uri="http://schemas.openxmlformats.org/drawingml/2006/table">
            <a:tbl>
              <a:tblPr firstRow="1" bandRow="1">
                <a:tableStyleId>{5940675A-B579-460E-94D1-54222C63F5DA}</a:tableStyleId>
              </a:tblPr>
              <a:tblGrid>
                <a:gridCol w="505859">
                  <a:extLst>
                    <a:ext uri="{9D8B030D-6E8A-4147-A177-3AD203B41FA5}">
                      <a16:colId xmlns:a16="http://schemas.microsoft.com/office/drawing/2014/main" val="2967085528"/>
                    </a:ext>
                  </a:extLst>
                </a:gridCol>
                <a:gridCol w="793214">
                  <a:extLst>
                    <a:ext uri="{9D8B030D-6E8A-4147-A177-3AD203B41FA5}">
                      <a16:colId xmlns:a16="http://schemas.microsoft.com/office/drawing/2014/main" val="3664827947"/>
                    </a:ext>
                  </a:extLst>
                </a:gridCol>
                <a:gridCol w="826265">
                  <a:extLst>
                    <a:ext uri="{9D8B030D-6E8A-4147-A177-3AD203B41FA5}">
                      <a16:colId xmlns:a16="http://schemas.microsoft.com/office/drawing/2014/main" val="868551015"/>
                    </a:ext>
                  </a:extLst>
                </a:gridCol>
                <a:gridCol w="892367">
                  <a:extLst>
                    <a:ext uri="{9D8B030D-6E8A-4147-A177-3AD203B41FA5}">
                      <a16:colId xmlns:a16="http://schemas.microsoft.com/office/drawing/2014/main" val="3586858523"/>
                    </a:ext>
                  </a:extLst>
                </a:gridCol>
                <a:gridCol w="1002535">
                  <a:extLst>
                    <a:ext uri="{9D8B030D-6E8A-4147-A177-3AD203B41FA5}">
                      <a16:colId xmlns:a16="http://schemas.microsoft.com/office/drawing/2014/main" val="3163794597"/>
                    </a:ext>
                  </a:extLst>
                </a:gridCol>
                <a:gridCol w="694062">
                  <a:extLst>
                    <a:ext uri="{9D8B030D-6E8A-4147-A177-3AD203B41FA5}">
                      <a16:colId xmlns:a16="http://schemas.microsoft.com/office/drawing/2014/main" val="1624545917"/>
                    </a:ext>
                  </a:extLst>
                </a:gridCol>
                <a:gridCol w="1134738">
                  <a:extLst>
                    <a:ext uri="{9D8B030D-6E8A-4147-A177-3AD203B41FA5}">
                      <a16:colId xmlns:a16="http://schemas.microsoft.com/office/drawing/2014/main" val="1949823251"/>
                    </a:ext>
                  </a:extLst>
                </a:gridCol>
                <a:gridCol w="958467">
                  <a:extLst>
                    <a:ext uri="{9D8B030D-6E8A-4147-A177-3AD203B41FA5}">
                      <a16:colId xmlns:a16="http://schemas.microsoft.com/office/drawing/2014/main" val="1273352604"/>
                    </a:ext>
                  </a:extLst>
                </a:gridCol>
                <a:gridCol w="661012">
                  <a:extLst>
                    <a:ext uri="{9D8B030D-6E8A-4147-A177-3AD203B41FA5}">
                      <a16:colId xmlns:a16="http://schemas.microsoft.com/office/drawing/2014/main" val="741703516"/>
                    </a:ext>
                  </a:extLst>
                </a:gridCol>
                <a:gridCol w="947451">
                  <a:extLst>
                    <a:ext uri="{9D8B030D-6E8A-4147-A177-3AD203B41FA5}">
                      <a16:colId xmlns:a16="http://schemas.microsoft.com/office/drawing/2014/main" val="3334152077"/>
                    </a:ext>
                  </a:extLst>
                </a:gridCol>
                <a:gridCol w="1013551">
                  <a:extLst>
                    <a:ext uri="{9D8B030D-6E8A-4147-A177-3AD203B41FA5}">
                      <a16:colId xmlns:a16="http://schemas.microsoft.com/office/drawing/2014/main" val="3433749718"/>
                    </a:ext>
                  </a:extLst>
                </a:gridCol>
                <a:gridCol w="1086079">
                  <a:extLst>
                    <a:ext uri="{9D8B030D-6E8A-4147-A177-3AD203B41FA5}">
                      <a16:colId xmlns:a16="http://schemas.microsoft.com/office/drawing/2014/main" val="4227792197"/>
                    </a:ext>
                  </a:extLst>
                </a:gridCol>
              </a:tblGrid>
              <a:tr h="591235">
                <a:tc rowSpan="2">
                  <a:txBody>
                    <a:bodyPr/>
                    <a:lstStyle/>
                    <a:p>
                      <a:r>
                        <a:rPr kumimoji="1" lang="ja-JP" altLang="en-US" sz="1600" dirty="0"/>
                        <a:t>№</a:t>
                      </a:r>
                    </a:p>
                  </a:txBody>
                  <a:tcPr anchor="ctr" anchorCtr="1">
                    <a:solidFill>
                      <a:schemeClr val="tx2">
                        <a:lumMod val="40000"/>
                        <a:lumOff val="60000"/>
                      </a:schemeClr>
                    </a:solidFill>
                  </a:tcPr>
                </a:tc>
                <a:tc rowSpan="2">
                  <a:txBody>
                    <a:bodyPr/>
                    <a:lstStyle/>
                    <a:p>
                      <a:r>
                        <a:rPr kumimoji="1" lang="ja-JP" altLang="en-US" sz="1600" dirty="0"/>
                        <a:t>工程名</a:t>
                      </a:r>
                    </a:p>
                  </a:txBody>
                  <a:tcPr anchor="ctr" anchorCtr="1">
                    <a:solidFill>
                      <a:schemeClr val="tx2">
                        <a:lumMod val="40000"/>
                        <a:lumOff val="60000"/>
                      </a:schemeClr>
                    </a:solidFill>
                  </a:tcPr>
                </a:tc>
                <a:tc rowSpan="2">
                  <a:txBody>
                    <a:bodyPr/>
                    <a:lstStyle/>
                    <a:p>
                      <a:r>
                        <a:rPr kumimoji="1" lang="ja-JP" altLang="en-US" sz="1600" dirty="0"/>
                        <a:t>装置</a:t>
                      </a:r>
                      <a:endParaRPr kumimoji="1" lang="en-US" altLang="ja-JP" sz="1600" dirty="0"/>
                    </a:p>
                    <a:p>
                      <a:r>
                        <a:rPr kumimoji="1" lang="ja-JP" altLang="en-US" sz="1600" dirty="0"/>
                        <a:t>治工具</a:t>
                      </a:r>
                    </a:p>
                  </a:txBody>
                  <a:tcPr anchor="ctr" anchorCtr="1">
                    <a:solidFill>
                      <a:schemeClr val="tx2">
                        <a:lumMod val="40000"/>
                        <a:lumOff val="60000"/>
                      </a:schemeClr>
                    </a:solidFill>
                  </a:tcPr>
                </a:tc>
                <a:tc gridSpan="2">
                  <a:txBody>
                    <a:bodyPr/>
                    <a:lstStyle/>
                    <a:p>
                      <a:r>
                        <a:rPr kumimoji="1" lang="ja-JP" altLang="en-US" sz="1600" dirty="0"/>
                        <a:t>特性</a:t>
                      </a:r>
                    </a:p>
                  </a:txBody>
                  <a:tcPr anchor="ctr" anchorCtr="1">
                    <a:solidFill>
                      <a:schemeClr val="tx2">
                        <a:lumMod val="40000"/>
                        <a:lumOff val="60000"/>
                      </a:schemeClr>
                    </a:solidFill>
                  </a:tcPr>
                </a:tc>
                <a:tc hMerge="1">
                  <a:txBody>
                    <a:bodyPr/>
                    <a:lstStyle/>
                    <a:p>
                      <a:endParaRPr kumimoji="1" lang="ja-JP" altLang="en-US" sz="1200" dirty="0"/>
                    </a:p>
                  </a:txBody>
                  <a:tcPr/>
                </a:tc>
                <a:tc rowSpan="2">
                  <a:txBody>
                    <a:bodyPr/>
                    <a:lstStyle/>
                    <a:p>
                      <a:r>
                        <a:rPr kumimoji="1" lang="ja-JP" altLang="en-US" sz="1600" dirty="0"/>
                        <a:t>分類</a:t>
                      </a:r>
                    </a:p>
                  </a:txBody>
                  <a:tcPr anchor="ctr" anchorCtr="1">
                    <a:solidFill>
                      <a:schemeClr val="tx2">
                        <a:lumMod val="40000"/>
                        <a:lumOff val="60000"/>
                      </a:schemeClr>
                    </a:solidFill>
                  </a:tcPr>
                </a:tc>
                <a:tc gridSpan="5">
                  <a:txBody>
                    <a:bodyPr/>
                    <a:lstStyle/>
                    <a:p>
                      <a:r>
                        <a:rPr kumimoji="1" lang="ja-JP" altLang="en-US" sz="1600" dirty="0"/>
                        <a:t>管理方法</a:t>
                      </a:r>
                    </a:p>
                  </a:txBody>
                  <a:tcPr anchor="ctr" anchorCtr="1">
                    <a:solidFill>
                      <a:schemeClr val="tx2">
                        <a:lumMod val="40000"/>
                        <a:lumOff val="60000"/>
                      </a:schemeClr>
                    </a:solidFill>
                  </a:tcPr>
                </a:tc>
                <a:tc hMerge="1">
                  <a:txBody>
                    <a:bodyPr/>
                    <a:lstStyle/>
                    <a:p>
                      <a:endParaRPr kumimoji="1" lang="ja-JP" altLang="en-US" sz="1200" dirty="0"/>
                    </a:p>
                  </a:txBody>
                  <a:tcPr/>
                </a:tc>
                <a:tc hMerge="1">
                  <a:txBody>
                    <a:bodyPr/>
                    <a:lstStyle/>
                    <a:p>
                      <a:endParaRPr kumimoji="1" lang="ja-JP" altLang="en-US" sz="1200" dirty="0"/>
                    </a:p>
                  </a:txBody>
                  <a:tcPr/>
                </a:tc>
                <a:tc hMerge="1">
                  <a:txBody>
                    <a:bodyPr/>
                    <a:lstStyle/>
                    <a:p>
                      <a:endParaRPr kumimoji="1" lang="ja-JP" altLang="en-US" sz="1200" dirty="0"/>
                    </a:p>
                  </a:txBody>
                  <a:tcPr/>
                </a:tc>
                <a:tc hMerge="1">
                  <a:txBody>
                    <a:bodyPr/>
                    <a:lstStyle/>
                    <a:p>
                      <a:endParaRPr kumimoji="1" lang="ja-JP" altLang="en-US" sz="1200" dirty="0"/>
                    </a:p>
                  </a:txBody>
                  <a:tcPr/>
                </a:tc>
                <a:tc rowSpan="2">
                  <a:txBody>
                    <a:bodyPr/>
                    <a:lstStyle/>
                    <a:p>
                      <a:r>
                        <a:rPr kumimoji="1" lang="ja-JP" altLang="en-US" sz="1600" dirty="0"/>
                        <a:t>対応計画</a:t>
                      </a:r>
                    </a:p>
                  </a:txBody>
                  <a:tcPr anchor="ctr" anchorCtr="1">
                    <a:solidFill>
                      <a:schemeClr val="tx2">
                        <a:lumMod val="40000"/>
                        <a:lumOff val="60000"/>
                      </a:schemeClr>
                    </a:solidFill>
                  </a:tcPr>
                </a:tc>
                <a:extLst>
                  <a:ext uri="{0D108BD9-81ED-4DB2-BD59-A6C34878D82A}">
                    <a16:rowId xmlns:a16="http://schemas.microsoft.com/office/drawing/2014/main" val="2922811592"/>
                  </a:ext>
                </a:extLst>
              </a:tr>
              <a:tr h="591235">
                <a:tc vMerge="1">
                  <a:txBody>
                    <a:bodyPr/>
                    <a:lstStyle/>
                    <a:p>
                      <a:endParaRPr kumimoji="1" lang="ja-JP" altLang="en-US" sz="1200" dirty="0"/>
                    </a:p>
                  </a:txBody>
                  <a:tcPr/>
                </a:tc>
                <a:tc vMerge="1">
                  <a:txBody>
                    <a:bodyPr/>
                    <a:lstStyle/>
                    <a:p>
                      <a:endParaRPr kumimoji="1" lang="ja-JP" altLang="en-US" sz="1200" dirty="0"/>
                    </a:p>
                  </a:txBody>
                  <a:tcPr/>
                </a:tc>
                <a:tc vMerge="1">
                  <a:txBody>
                    <a:bodyPr/>
                    <a:lstStyle/>
                    <a:p>
                      <a:endParaRPr kumimoji="1" lang="ja-JP" altLang="en-US" sz="1200" dirty="0"/>
                    </a:p>
                  </a:txBody>
                  <a:tcPr/>
                </a:tc>
                <a:tc>
                  <a:txBody>
                    <a:bodyPr/>
                    <a:lstStyle/>
                    <a:p>
                      <a:r>
                        <a:rPr kumimoji="1" lang="ja-JP" altLang="en-US" sz="1600" dirty="0"/>
                        <a:t>製品</a:t>
                      </a:r>
                    </a:p>
                  </a:txBody>
                  <a:tcPr anchor="ctr" anchorCtr="1">
                    <a:solidFill>
                      <a:schemeClr val="tx2">
                        <a:lumMod val="40000"/>
                        <a:lumOff val="60000"/>
                      </a:schemeClr>
                    </a:solidFill>
                  </a:tcPr>
                </a:tc>
                <a:tc>
                  <a:txBody>
                    <a:bodyPr/>
                    <a:lstStyle/>
                    <a:p>
                      <a:r>
                        <a:rPr kumimoji="1" lang="ja-JP" altLang="en-US" sz="1600" dirty="0"/>
                        <a:t>工程</a:t>
                      </a:r>
                    </a:p>
                  </a:txBody>
                  <a:tcPr anchor="ctr" anchorCtr="1">
                    <a:solidFill>
                      <a:schemeClr val="tx2">
                        <a:lumMod val="40000"/>
                        <a:lumOff val="60000"/>
                      </a:schemeClr>
                    </a:solidFill>
                  </a:tcPr>
                </a:tc>
                <a:tc vMerge="1">
                  <a:txBody>
                    <a:bodyPr/>
                    <a:lstStyle/>
                    <a:p>
                      <a:endParaRPr kumimoji="1" lang="ja-JP" altLang="en-US" sz="1200" dirty="0"/>
                    </a:p>
                  </a:txBody>
                  <a:tcPr/>
                </a:tc>
                <a:tc>
                  <a:txBody>
                    <a:bodyPr/>
                    <a:lstStyle/>
                    <a:p>
                      <a:r>
                        <a:rPr kumimoji="1" lang="ja-JP" altLang="en-US" sz="1600" dirty="0"/>
                        <a:t>仕様</a:t>
                      </a:r>
                      <a:endParaRPr kumimoji="1" lang="en-US" altLang="ja-JP" sz="1600" dirty="0"/>
                    </a:p>
                    <a:p>
                      <a:r>
                        <a:rPr kumimoji="1" lang="ja-JP" altLang="en-US" sz="1600" dirty="0"/>
                        <a:t>公差</a:t>
                      </a:r>
                    </a:p>
                  </a:txBody>
                  <a:tcPr anchor="ctr" anchorCtr="1">
                    <a:solidFill>
                      <a:schemeClr val="tx2">
                        <a:lumMod val="40000"/>
                        <a:lumOff val="60000"/>
                      </a:schemeClr>
                    </a:solidFill>
                  </a:tcPr>
                </a:tc>
                <a:tc>
                  <a:txBody>
                    <a:bodyPr/>
                    <a:lstStyle/>
                    <a:p>
                      <a:r>
                        <a:rPr kumimoji="1" lang="ja-JP" altLang="en-US" sz="1600" dirty="0"/>
                        <a:t>測定方法</a:t>
                      </a:r>
                    </a:p>
                  </a:txBody>
                  <a:tcPr anchor="ctr" anchorCtr="1">
                    <a:solidFill>
                      <a:schemeClr val="tx2">
                        <a:lumMod val="40000"/>
                        <a:lumOff val="60000"/>
                      </a:schemeClr>
                    </a:solidFill>
                  </a:tcPr>
                </a:tc>
                <a:tc>
                  <a:txBody>
                    <a:bodyPr/>
                    <a:lstStyle/>
                    <a:p>
                      <a:r>
                        <a:rPr kumimoji="1" lang="ja-JP" altLang="en-US" sz="1600" dirty="0"/>
                        <a:t>数量</a:t>
                      </a:r>
                    </a:p>
                  </a:txBody>
                  <a:tcPr anchor="ctr" anchorCtr="1">
                    <a:solidFill>
                      <a:schemeClr val="tx2">
                        <a:lumMod val="40000"/>
                        <a:lumOff val="60000"/>
                      </a:schemeClr>
                    </a:solidFill>
                  </a:tcPr>
                </a:tc>
                <a:tc>
                  <a:txBody>
                    <a:bodyPr/>
                    <a:lstStyle/>
                    <a:p>
                      <a:r>
                        <a:rPr kumimoji="1" lang="ja-JP" altLang="en-US" sz="1600" dirty="0"/>
                        <a:t>頻度</a:t>
                      </a:r>
                    </a:p>
                  </a:txBody>
                  <a:tcPr anchor="ctr" anchorCtr="1">
                    <a:solidFill>
                      <a:schemeClr val="tx2">
                        <a:lumMod val="40000"/>
                        <a:lumOff val="60000"/>
                      </a:schemeClr>
                    </a:solidFill>
                  </a:tcPr>
                </a:tc>
                <a:tc>
                  <a:txBody>
                    <a:bodyPr/>
                    <a:lstStyle/>
                    <a:p>
                      <a:r>
                        <a:rPr kumimoji="1" lang="ja-JP" altLang="en-US" sz="1600" dirty="0"/>
                        <a:t>管理方法</a:t>
                      </a:r>
                    </a:p>
                  </a:txBody>
                  <a:tcPr anchor="ctr" anchorCtr="1">
                    <a:solidFill>
                      <a:schemeClr val="tx2">
                        <a:lumMod val="40000"/>
                        <a:lumOff val="60000"/>
                      </a:schemeClr>
                    </a:solidFill>
                  </a:tcPr>
                </a:tc>
                <a:tc vMerge="1">
                  <a:txBody>
                    <a:bodyPr/>
                    <a:lstStyle/>
                    <a:p>
                      <a:endParaRPr kumimoji="1" lang="ja-JP" altLang="en-US" sz="1200" dirty="0"/>
                    </a:p>
                  </a:txBody>
                  <a:tcPr/>
                </a:tc>
                <a:extLst>
                  <a:ext uri="{0D108BD9-81ED-4DB2-BD59-A6C34878D82A}">
                    <a16:rowId xmlns:a16="http://schemas.microsoft.com/office/drawing/2014/main" val="2306007825"/>
                  </a:ext>
                </a:extLst>
              </a:tr>
              <a:tr h="591235">
                <a:tc>
                  <a:txBody>
                    <a:bodyPr/>
                    <a:lstStyle/>
                    <a:p>
                      <a:pPr algn="ctr"/>
                      <a:r>
                        <a:rPr kumimoji="1" lang="ja-JP" altLang="en-US" sz="1500" dirty="0"/>
                        <a:t>５</a:t>
                      </a:r>
                    </a:p>
                  </a:txBody>
                  <a:tcPr/>
                </a:tc>
                <a:tc>
                  <a:txBody>
                    <a:bodyPr/>
                    <a:lstStyle/>
                    <a:p>
                      <a:r>
                        <a:rPr kumimoji="1" lang="ja-JP" altLang="en-US" sz="1500" dirty="0"/>
                        <a:t>研削</a:t>
                      </a:r>
                    </a:p>
                  </a:txBody>
                  <a:tcPr/>
                </a:tc>
                <a:tc>
                  <a:txBody>
                    <a:bodyPr/>
                    <a:lstStyle/>
                    <a:p>
                      <a:r>
                        <a:rPr kumimoji="1" lang="ja-JP" altLang="en-US" sz="1500" dirty="0"/>
                        <a:t>旋盤</a:t>
                      </a:r>
                    </a:p>
                  </a:txBody>
                  <a:tcPr/>
                </a:tc>
                <a:tc>
                  <a:txBody>
                    <a:bodyPr/>
                    <a:lstStyle/>
                    <a:p>
                      <a:r>
                        <a:rPr kumimoji="1" lang="ja-JP" altLang="en-US" sz="1500" dirty="0"/>
                        <a:t>寸法１</a:t>
                      </a:r>
                    </a:p>
                  </a:txBody>
                  <a:tcPr/>
                </a:tc>
                <a:tc>
                  <a:txBody>
                    <a:bodyPr/>
                    <a:lstStyle/>
                    <a:p>
                      <a:endParaRPr kumimoji="1" lang="ja-JP" altLang="en-US" sz="1500" dirty="0"/>
                    </a:p>
                  </a:txBody>
                  <a:tcPr/>
                </a:tc>
                <a:tc>
                  <a:txBody>
                    <a:bodyPr/>
                    <a:lstStyle/>
                    <a:p>
                      <a:endParaRPr kumimoji="1" lang="ja-JP" altLang="en-US" sz="1500" dirty="0"/>
                    </a:p>
                  </a:txBody>
                  <a:tcPr/>
                </a:tc>
                <a:tc>
                  <a:txBody>
                    <a:bodyPr/>
                    <a:lstStyle/>
                    <a:p>
                      <a:r>
                        <a:rPr kumimoji="1" lang="en-US" altLang="ja-JP" sz="1500" dirty="0"/>
                        <a:t>10±0.5</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図面</a:t>
                      </a:r>
                      <a:r>
                        <a:rPr kumimoji="1" lang="en-US" altLang="ja-JP" sz="1500" dirty="0"/>
                        <a:t>A</a:t>
                      </a:r>
                      <a:endParaRPr kumimoji="1" lang="ja-JP" altLang="en-US" sz="1500" dirty="0"/>
                    </a:p>
                  </a:txBody>
                  <a:tcPr/>
                </a:tc>
                <a:tc>
                  <a:txBody>
                    <a:bodyPr/>
                    <a:lstStyle/>
                    <a:p>
                      <a:r>
                        <a:rPr kumimoji="1" lang="ja-JP" altLang="en-US" sz="1500" dirty="0"/>
                        <a:t>調整、再測定</a:t>
                      </a:r>
                    </a:p>
                  </a:txBody>
                  <a:tcPr/>
                </a:tc>
                <a:extLst>
                  <a:ext uri="{0D108BD9-81ED-4DB2-BD59-A6C34878D82A}">
                    <a16:rowId xmlns:a16="http://schemas.microsoft.com/office/drawing/2014/main" val="3087788770"/>
                  </a:ext>
                </a:extLst>
              </a:tr>
              <a:tr h="591235">
                <a:tc rowSpan="2">
                  <a:txBody>
                    <a:bodyPr/>
                    <a:lstStyle/>
                    <a:p>
                      <a:pPr algn="ctr"/>
                      <a:r>
                        <a:rPr kumimoji="1" lang="ja-JP" altLang="en-US" sz="1500" dirty="0"/>
                        <a:t>６</a:t>
                      </a:r>
                    </a:p>
                  </a:txBody>
                  <a:tcPr/>
                </a:tc>
                <a:tc rowSpan="2">
                  <a:txBody>
                    <a:bodyPr/>
                    <a:lstStyle/>
                    <a:p>
                      <a:r>
                        <a:rPr kumimoji="1" lang="ja-JP" altLang="en-US" sz="1500" dirty="0"/>
                        <a:t>焼入れ</a:t>
                      </a:r>
                    </a:p>
                  </a:txBody>
                  <a:tcPr/>
                </a:tc>
                <a:tc rowSpan="2">
                  <a:txBody>
                    <a:bodyPr/>
                    <a:lstStyle/>
                    <a:p>
                      <a:r>
                        <a:rPr kumimoji="1" lang="ja-JP" altLang="en-US" sz="1500" dirty="0"/>
                        <a:t>熱処理炉</a:t>
                      </a:r>
                    </a:p>
                  </a:txBody>
                  <a:tcPr/>
                </a:tc>
                <a:tc>
                  <a:txBody>
                    <a:bodyPr/>
                    <a:lstStyle/>
                    <a:p>
                      <a:endParaRPr kumimoji="1" lang="ja-JP" altLang="en-US" sz="1500" dirty="0"/>
                    </a:p>
                  </a:txBody>
                  <a:tcPr/>
                </a:tc>
                <a:tc>
                  <a:txBody>
                    <a:bodyPr/>
                    <a:lstStyle/>
                    <a:p>
                      <a:r>
                        <a:rPr kumimoji="1" lang="ja-JP" altLang="en-US" sz="1500" dirty="0"/>
                        <a:t>処理温度</a:t>
                      </a:r>
                      <a:endParaRPr kumimoji="1" lang="en-US" altLang="ja-JP" sz="1500" dirty="0"/>
                    </a:p>
                    <a:p>
                      <a:r>
                        <a:rPr kumimoji="1" lang="ja-JP" altLang="en-US" sz="1500" dirty="0"/>
                        <a:t>処理時間</a:t>
                      </a:r>
                    </a:p>
                  </a:txBody>
                  <a:tcPr/>
                </a:tc>
                <a:tc>
                  <a:txBody>
                    <a:bodyPr/>
                    <a:lstStyle/>
                    <a:p>
                      <a:r>
                        <a:rPr kumimoji="1" lang="ja-JP" altLang="en-US" sz="1500" dirty="0"/>
                        <a:t>特殊</a:t>
                      </a:r>
                    </a:p>
                  </a:txBody>
                  <a:tcPr/>
                </a:tc>
                <a:tc>
                  <a:txBody>
                    <a:bodyPr/>
                    <a:lstStyle/>
                    <a:p>
                      <a:r>
                        <a:rPr kumimoji="1" lang="en-US" altLang="ja-JP" sz="1500" dirty="0"/>
                        <a:t>1000±2</a:t>
                      </a:r>
                    </a:p>
                    <a:p>
                      <a:r>
                        <a:rPr kumimoji="1" lang="en-US" altLang="ja-JP" sz="1500" dirty="0"/>
                        <a:t>10±0.1</a:t>
                      </a:r>
                      <a:endParaRPr kumimoji="1" lang="ja-JP" altLang="en-US" sz="1500" dirty="0"/>
                    </a:p>
                  </a:txBody>
                  <a:tcPr/>
                </a:tc>
                <a:tc>
                  <a:txBody>
                    <a:bodyPr/>
                    <a:lstStyle/>
                    <a:p>
                      <a:r>
                        <a:rPr kumimoji="1" lang="ja-JP" altLang="en-US" sz="1500" dirty="0"/>
                        <a:t>温度計</a:t>
                      </a:r>
                      <a:endParaRPr kumimoji="1" lang="en-US" altLang="ja-JP" sz="1500" dirty="0"/>
                    </a:p>
                    <a:p>
                      <a:r>
                        <a:rPr kumimoji="1" lang="ja-JP" altLang="en-US" sz="1500" dirty="0"/>
                        <a:t>タイマー</a:t>
                      </a:r>
                    </a:p>
                  </a:txBody>
                  <a:tcPr/>
                </a:tc>
                <a:tc>
                  <a:txBody>
                    <a:bodyPr/>
                    <a:lstStyle/>
                    <a:p>
                      <a:r>
                        <a:rPr kumimoji="1" lang="ja-JP" altLang="en-US" sz="1500" dirty="0"/>
                        <a:t>連続</a:t>
                      </a:r>
                    </a:p>
                  </a:txBody>
                  <a:tcPr/>
                </a:tc>
                <a:tc>
                  <a:txBody>
                    <a:bodyPr/>
                    <a:lstStyle/>
                    <a:p>
                      <a:r>
                        <a:rPr kumimoji="1" lang="ja-JP" altLang="en-US" sz="1500" dirty="0"/>
                        <a:t>ロット</a:t>
                      </a:r>
                    </a:p>
                  </a:txBody>
                  <a:tcPr/>
                </a:tc>
                <a:tc>
                  <a:txBody>
                    <a:bodyPr/>
                    <a:lstStyle/>
                    <a:p>
                      <a:r>
                        <a:rPr kumimoji="1" lang="ja-JP" altLang="en-US" sz="1500" dirty="0"/>
                        <a:t>＊＊手順書</a:t>
                      </a:r>
                    </a:p>
                  </a:txBody>
                  <a:tcPr/>
                </a:tc>
                <a:tc>
                  <a:txBody>
                    <a:bodyPr/>
                    <a:lstStyle/>
                    <a:p>
                      <a:r>
                        <a:rPr kumimoji="1" lang="ja-JP" altLang="en-US" sz="1500" dirty="0"/>
                        <a:t>＊＊手順書</a:t>
                      </a:r>
                    </a:p>
                  </a:txBody>
                  <a:tcPr/>
                </a:tc>
                <a:extLst>
                  <a:ext uri="{0D108BD9-81ED-4DB2-BD59-A6C34878D82A}">
                    <a16:rowId xmlns:a16="http://schemas.microsoft.com/office/drawing/2014/main" val="1891195984"/>
                  </a:ext>
                </a:extLst>
              </a:tr>
              <a:tr h="591235">
                <a:tc vMerge="1">
                  <a:txBody>
                    <a:bodyPr/>
                    <a:lstStyle/>
                    <a:p>
                      <a:endParaRPr kumimoji="1" lang="ja-JP" altLang="en-US" sz="1200" dirty="0"/>
                    </a:p>
                  </a:txBody>
                  <a:tcPr/>
                </a:tc>
                <a:tc vMerge="1">
                  <a:txBody>
                    <a:bodyPr/>
                    <a:lstStyle/>
                    <a:p>
                      <a:endParaRPr kumimoji="1" lang="ja-JP" altLang="en-US" sz="1500" dirty="0"/>
                    </a:p>
                  </a:txBody>
                  <a:tcPr/>
                </a:tc>
                <a:tc vMerge="1">
                  <a:txBody>
                    <a:bodyPr/>
                    <a:lstStyle/>
                    <a:p>
                      <a:endParaRPr kumimoji="1" lang="ja-JP" altLang="en-US" sz="1500" dirty="0"/>
                    </a:p>
                  </a:txBody>
                  <a:tcPr/>
                </a:tc>
                <a:tc>
                  <a:txBody>
                    <a:bodyPr/>
                    <a:lstStyle/>
                    <a:p>
                      <a:r>
                        <a:rPr kumimoji="1" lang="ja-JP" altLang="en-US" sz="1500" dirty="0"/>
                        <a:t>硬度</a:t>
                      </a:r>
                    </a:p>
                  </a:txBody>
                  <a:tcPr/>
                </a:tc>
                <a:tc>
                  <a:txBody>
                    <a:bodyPr/>
                    <a:lstStyle/>
                    <a:p>
                      <a:endParaRPr kumimoji="1" lang="ja-JP" altLang="en-US" sz="1500" dirty="0"/>
                    </a:p>
                  </a:txBody>
                  <a:tcPr/>
                </a:tc>
                <a:tc>
                  <a:txBody>
                    <a:bodyPr/>
                    <a:lstStyle/>
                    <a:p>
                      <a:r>
                        <a:rPr kumimoji="1" lang="ja-JP" altLang="en-US" sz="1500" dirty="0"/>
                        <a:t>特殊</a:t>
                      </a:r>
                    </a:p>
                  </a:txBody>
                  <a:tcPr/>
                </a:tc>
                <a:tc>
                  <a:txBody>
                    <a:bodyPr/>
                    <a:lstStyle/>
                    <a:p>
                      <a:r>
                        <a:rPr kumimoji="1" lang="en-US" altLang="ja-JP" sz="1500" dirty="0"/>
                        <a:t>25±2</a:t>
                      </a:r>
                      <a:endParaRPr kumimoji="1" lang="ja-JP" altLang="en-US" sz="1500" dirty="0"/>
                    </a:p>
                  </a:txBody>
                  <a:tcPr/>
                </a:tc>
                <a:tc>
                  <a:txBody>
                    <a:bodyPr/>
                    <a:lstStyle/>
                    <a:p>
                      <a:r>
                        <a:rPr kumimoji="1" lang="ja-JP" altLang="en-US" sz="1500" dirty="0"/>
                        <a:t>硬度計</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＊＊手順書</a:t>
                      </a:r>
                    </a:p>
                  </a:txBody>
                  <a:tcPr/>
                </a:tc>
                <a:tc>
                  <a:txBody>
                    <a:bodyPr/>
                    <a:lstStyle/>
                    <a:p>
                      <a:r>
                        <a:rPr kumimoji="1" lang="ja-JP" altLang="en-US" sz="1500" dirty="0"/>
                        <a:t>＊＊手順書</a:t>
                      </a:r>
                    </a:p>
                  </a:txBody>
                  <a:tcPr/>
                </a:tc>
                <a:extLst>
                  <a:ext uri="{0D108BD9-81ED-4DB2-BD59-A6C34878D82A}">
                    <a16:rowId xmlns:a16="http://schemas.microsoft.com/office/drawing/2014/main" val="67482103"/>
                  </a:ext>
                </a:extLst>
              </a:tr>
              <a:tr h="591235">
                <a:tc rowSpan="2">
                  <a:txBody>
                    <a:bodyPr/>
                    <a:lstStyle/>
                    <a:p>
                      <a:pPr algn="ctr"/>
                      <a:r>
                        <a:rPr kumimoji="1" lang="ja-JP" altLang="en-US" sz="1500" dirty="0"/>
                        <a:t>７</a:t>
                      </a:r>
                    </a:p>
                  </a:txBody>
                  <a:tcPr/>
                </a:tc>
                <a:tc rowSpan="2">
                  <a:txBody>
                    <a:bodyPr/>
                    <a:lstStyle/>
                    <a:p>
                      <a:r>
                        <a:rPr kumimoji="1" lang="ja-JP" altLang="en-US" sz="1500" dirty="0"/>
                        <a:t>研磨</a:t>
                      </a:r>
                    </a:p>
                  </a:txBody>
                  <a:tcPr/>
                </a:tc>
                <a:tc rowSpan="2">
                  <a:txBody>
                    <a:bodyPr/>
                    <a:lstStyle/>
                    <a:p>
                      <a:r>
                        <a:rPr kumimoji="1" lang="ja-JP" altLang="en-US" sz="1500" dirty="0"/>
                        <a:t>研磨機</a:t>
                      </a:r>
                    </a:p>
                  </a:txBody>
                  <a:tcPr/>
                </a:tc>
                <a:tc>
                  <a:txBody>
                    <a:bodyPr/>
                    <a:lstStyle/>
                    <a:p>
                      <a:r>
                        <a:rPr kumimoji="1" lang="ja-JP" altLang="en-US" sz="1500" dirty="0"/>
                        <a:t>寸法２</a:t>
                      </a:r>
                    </a:p>
                  </a:txBody>
                  <a:tcPr/>
                </a:tc>
                <a:tc>
                  <a:txBody>
                    <a:bodyPr/>
                    <a:lstStyle/>
                    <a:p>
                      <a:endParaRPr kumimoji="1" lang="ja-JP" altLang="en-US" sz="1500"/>
                    </a:p>
                  </a:txBody>
                  <a:tcPr/>
                </a:tc>
                <a:tc>
                  <a:txBody>
                    <a:bodyPr/>
                    <a:lstStyle/>
                    <a:p>
                      <a:r>
                        <a:rPr kumimoji="1" lang="ja-JP" altLang="en-US" sz="1500" dirty="0"/>
                        <a:t>特殊</a:t>
                      </a:r>
                    </a:p>
                  </a:txBody>
                  <a:tcPr/>
                </a:tc>
                <a:tc>
                  <a:txBody>
                    <a:bodyPr/>
                    <a:lstStyle/>
                    <a:p>
                      <a:r>
                        <a:rPr kumimoji="1" lang="en-US" altLang="ja-JP" sz="1500" dirty="0"/>
                        <a:t>100±0.2</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図面Ａ</a:t>
                      </a:r>
                    </a:p>
                  </a:txBody>
                  <a:tcPr/>
                </a:tc>
                <a:tc>
                  <a:txBody>
                    <a:bodyPr/>
                    <a:lstStyle/>
                    <a:p>
                      <a:r>
                        <a:rPr kumimoji="1" lang="ja-JP" altLang="en-US" sz="1500" dirty="0"/>
                        <a:t>調整、再測定</a:t>
                      </a:r>
                    </a:p>
                  </a:txBody>
                  <a:tcPr/>
                </a:tc>
                <a:extLst>
                  <a:ext uri="{0D108BD9-81ED-4DB2-BD59-A6C34878D82A}">
                    <a16:rowId xmlns:a16="http://schemas.microsoft.com/office/drawing/2014/main" val="1989180794"/>
                  </a:ext>
                </a:extLst>
              </a:tr>
              <a:tr h="591235">
                <a:tc vMerge="1">
                  <a:txBody>
                    <a:bodyPr/>
                    <a:lstStyle/>
                    <a:p>
                      <a:endParaRPr kumimoji="1" lang="ja-JP" altLang="en-US" sz="1200" dirty="0"/>
                    </a:p>
                  </a:txBody>
                  <a:tcPr/>
                </a:tc>
                <a:tc vMerge="1">
                  <a:txBody>
                    <a:bodyPr/>
                    <a:lstStyle/>
                    <a:p>
                      <a:endParaRPr kumimoji="1" lang="ja-JP" altLang="en-US" sz="1500" dirty="0"/>
                    </a:p>
                  </a:txBody>
                  <a:tcPr/>
                </a:tc>
                <a:tc vMerge="1">
                  <a:txBody>
                    <a:bodyPr/>
                    <a:lstStyle/>
                    <a:p>
                      <a:endParaRPr kumimoji="1" lang="ja-JP" altLang="en-US" sz="1500" dirty="0"/>
                    </a:p>
                  </a:txBody>
                  <a:tcPr/>
                </a:tc>
                <a:tc>
                  <a:txBody>
                    <a:bodyPr/>
                    <a:lstStyle/>
                    <a:p>
                      <a:endParaRPr kumimoji="1" lang="ja-JP" altLang="en-US" sz="1500"/>
                    </a:p>
                  </a:txBody>
                  <a:tcPr/>
                </a:tc>
                <a:tc>
                  <a:txBody>
                    <a:bodyPr/>
                    <a:lstStyle/>
                    <a:p>
                      <a:r>
                        <a:rPr kumimoji="1" lang="ja-JP" altLang="en-US" sz="1500" dirty="0"/>
                        <a:t>寸法２</a:t>
                      </a:r>
                      <a:endParaRPr kumimoji="1" lang="en-US" altLang="ja-JP" sz="1500" dirty="0"/>
                    </a:p>
                    <a:p>
                      <a:r>
                        <a:rPr kumimoji="1" lang="ja-JP" altLang="en-US" sz="1500" dirty="0"/>
                        <a:t>工程能力</a:t>
                      </a:r>
                    </a:p>
                  </a:txBody>
                  <a:tcPr/>
                </a:tc>
                <a:tc>
                  <a:txBody>
                    <a:bodyPr/>
                    <a:lstStyle/>
                    <a:p>
                      <a:r>
                        <a:rPr kumimoji="1" lang="ja-JP" altLang="en-US" sz="1500" dirty="0"/>
                        <a:t>特殊</a:t>
                      </a:r>
                    </a:p>
                  </a:txBody>
                  <a:tcPr/>
                </a:tc>
                <a:tc>
                  <a:txBody>
                    <a:bodyPr/>
                    <a:lstStyle/>
                    <a:p>
                      <a:r>
                        <a:rPr kumimoji="1" lang="en-US" altLang="ja-JP" sz="1500" dirty="0" err="1"/>
                        <a:t>Cpk</a:t>
                      </a:r>
                      <a:r>
                        <a:rPr kumimoji="1" lang="ja-JP" altLang="en-US" sz="1500" dirty="0"/>
                        <a:t>≧</a:t>
                      </a:r>
                      <a:r>
                        <a:rPr kumimoji="1" lang="en-US" altLang="ja-JP" sz="1500" dirty="0"/>
                        <a:t>1.67</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３０</a:t>
                      </a:r>
                    </a:p>
                  </a:txBody>
                  <a:tcPr/>
                </a:tc>
                <a:tc>
                  <a:txBody>
                    <a:bodyPr/>
                    <a:lstStyle/>
                    <a:p>
                      <a:r>
                        <a:rPr kumimoji="1" lang="en-US" altLang="ja-JP" sz="1500" dirty="0"/>
                        <a:t>1</a:t>
                      </a:r>
                      <a:r>
                        <a:rPr kumimoji="1" lang="ja-JP" altLang="en-US" sz="1500" dirty="0"/>
                        <a:t>週間ごと</a:t>
                      </a:r>
                    </a:p>
                  </a:txBody>
                  <a:tcPr/>
                </a:tc>
                <a:tc>
                  <a:txBody>
                    <a:bodyPr/>
                    <a:lstStyle/>
                    <a:p>
                      <a:r>
                        <a:rPr kumimoji="1" lang="ja-JP" altLang="en-US" sz="1500" dirty="0"/>
                        <a:t>管理図</a:t>
                      </a:r>
                    </a:p>
                  </a:txBody>
                  <a:tcPr/>
                </a:tc>
                <a:tc>
                  <a:txBody>
                    <a:bodyPr/>
                    <a:lstStyle/>
                    <a:p>
                      <a:r>
                        <a:rPr kumimoji="1" lang="ja-JP" altLang="en-US" sz="1500" dirty="0"/>
                        <a:t>＊＊手順書</a:t>
                      </a:r>
                    </a:p>
                  </a:txBody>
                  <a:tcPr/>
                </a:tc>
                <a:extLst>
                  <a:ext uri="{0D108BD9-81ED-4DB2-BD59-A6C34878D82A}">
                    <a16:rowId xmlns:a16="http://schemas.microsoft.com/office/drawing/2014/main" val="1913262610"/>
                  </a:ext>
                </a:extLst>
              </a:tr>
            </a:tbl>
          </a:graphicData>
        </a:graphic>
      </p:graphicFrame>
    </p:spTree>
    <p:extLst>
      <p:ext uri="{BB962C8B-B14F-4D97-AF65-F5344CB8AC3E}">
        <p14:creationId xmlns:p14="http://schemas.microsoft.com/office/powerpoint/2010/main" val="2958651910"/>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☑組織は、標準作業文書が次のとおりであることを確実にしなければならない。</a:t>
            </a:r>
            <a:endParaRPr lang="en-US" altLang="ja-JP" sz="2000" dirty="0"/>
          </a:p>
          <a:p>
            <a:pPr marL="800100" lvl="1" indent="-342900">
              <a:lnSpc>
                <a:spcPct val="100000"/>
              </a:lnSpc>
              <a:buFont typeface="+mj-lt"/>
              <a:buAutoNum type="alphaLcPeriod"/>
            </a:pPr>
            <a:r>
              <a:rPr lang="ja-JP" altLang="en-US" sz="2000" dirty="0"/>
              <a:t>作業を行う責任をもつ従業員に伝達され、</a:t>
            </a:r>
            <a:r>
              <a:rPr lang="ja-JP" altLang="en-US" sz="2000" u="sng" dirty="0"/>
              <a:t>理解される。</a:t>
            </a:r>
            <a:endParaRPr lang="en-US" altLang="ja-JP" sz="2000" u="sng" dirty="0"/>
          </a:p>
          <a:p>
            <a:pPr marL="800100" lvl="1" indent="-342900">
              <a:lnSpc>
                <a:spcPct val="100000"/>
              </a:lnSpc>
              <a:buFont typeface="+mj-lt"/>
              <a:buAutoNum type="alphaLcPeriod"/>
            </a:pPr>
            <a:r>
              <a:rPr lang="ja-JP" altLang="en-US" sz="2000" u="sng" dirty="0"/>
              <a:t>読みやすい。</a:t>
            </a:r>
            <a:endParaRPr lang="en-US" altLang="ja-JP" sz="2000" u="sng" dirty="0"/>
          </a:p>
          <a:p>
            <a:pPr marL="800100" lvl="1" indent="-342900">
              <a:lnSpc>
                <a:spcPct val="100000"/>
              </a:lnSpc>
              <a:buFont typeface="+mj-lt"/>
              <a:buAutoNum type="alphaLcPeriod"/>
            </a:pPr>
            <a:r>
              <a:rPr lang="ja-JP" altLang="en-US" sz="2000" dirty="0"/>
              <a:t>それに従う責任のある</a:t>
            </a:r>
            <a:r>
              <a:rPr lang="ja-JP" altLang="en-US" sz="2000" u="sng" dirty="0"/>
              <a:t>要員に理解される言語</a:t>
            </a:r>
            <a:r>
              <a:rPr lang="ja-JP" altLang="en-US" sz="2000" dirty="0"/>
              <a:t>で提供する。</a:t>
            </a:r>
            <a:endParaRPr lang="en-US" altLang="ja-JP" sz="2000" dirty="0"/>
          </a:p>
          <a:p>
            <a:pPr marL="800100" lvl="1" indent="-342900">
              <a:lnSpc>
                <a:spcPct val="100000"/>
              </a:lnSpc>
              <a:buFont typeface="+mj-lt"/>
              <a:buAutoNum type="alphaLcPeriod"/>
            </a:pPr>
            <a:r>
              <a:rPr lang="ja-JP" altLang="en-US" sz="2000" dirty="0"/>
              <a:t>指定された作業現場で</a:t>
            </a:r>
            <a:r>
              <a:rPr lang="ja-JP" altLang="en-US" sz="2000" u="sng" dirty="0"/>
              <a:t>利用可能である。</a:t>
            </a:r>
            <a:endParaRPr lang="en-US" altLang="ja-JP" sz="2000" u="sng" dirty="0"/>
          </a:p>
          <a:p>
            <a:pPr marL="0" indent="0">
              <a:lnSpc>
                <a:spcPct val="100000"/>
              </a:lnSpc>
              <a:buNone/>
            </a:pPr>
            <a:r>
              <a:rPr lang="ja-JP" altLang="en-US" sz="2000" dirty="0"/>
              <a:t>☑標準作業文書には、</a:t>
            </a:r>
            <a:r>
              <a:rPr lang="ja-JP" altLang="en-US" sz="2000" u="sng" dirty="0"/>
              <a:t>作業者の安全に対する規則も、含めなければならない。</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8.5.1.2</a:t>
            </a:r>
            <a:r>
              <a:rPr kumimoji="1" lang="ja-JP" altLang="en-US" sz="3000" b="1" dirty="0">
                <a:solidFill>
                  <a:schemeClr val="tx2"/>
                </a:solidFill>
              </a:rPr>
              <a:t>　標準作業－作業者指示書及び目視標準</a:t>
            </a:r>
          </a:p>
        </p:txBody>
      </p:sp>
    </p:spTree>
    <p:extLst>
      <p:ext uri="{BB962C8B-B14F-4D97-AF65-F5344CB8AC3E}">
        <p14:creationId xmlns:p14="http://schemas.microsoft.com/office/powerpoint/2010/main" val="3330340212"/>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様々な呼称（作業手順書／作業指示書／作業標準書など）で存在するが、いずれも　</a:t>
            </a:r>
            <a:r>
              <a:rPr lang="ja-JP" altLang="en-US" sz="2400" dirty="0">
                <a:solidFill>
                  <a:srgbClr val="FF0000"/>
                </a:solidFill>
                <a:effectLst>
                  <a:outerShdw blurRad="38100" dist="38100" dir="2700000" algn="tl">
                    <a:srgbClr val="000000">
                      <a:alpha val="43137"/>
                    </a:srgbClr>
                  </a:outerShdw>
                </a:effectLst>
              </a:rPr>
              <a:t>“作業者のために作られ”　“作業者が理解し”　“作業者がすぐに使える”</a:t>
            </a:r>
            <a:r>
              <a:rPr lang="ja-JP" altLang="en-US" sz="2400" dirty="0"/>
              <a:t>　ことが重要。</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“利用可能である”　ために</a:t>
            </a:r>
            <a:r>
              <a:rPr lang="ja-JP" altLang="en-US" sz="2400" dirty="0">
                <a:solidFill>
                  <a:srgbClr val="FF0000"/>
                </a:solidFill>
                <a:effectLst>
                  <a:outerShdw blurRad="38100" dist="38100" dir="2700000" algn="tl">
                    <a:srgbClr val="000000">
                      <a:alpha val="43137"/>
                    </a:srgbClr>
                  </a:outerShdw>
                </a:effectLst>
              </a:rPr>
              <a:t>「置く場所」と「置き方」</a:t>
            </a:r>
            <a:r>
              <a:rPr lang="ja-JP" altLang="en-US" sz="2400" dirty="0"/>
              <a:t>に留意する。</a:t>
            </a:r>
            <a:endParaRPr lang="en-US" altLang="ja-JP" sz="2400" dirty="0"/>
          </a:p>
          <a:p>
            <a:pPr marL="457200" indent="-457200">
              <a:lnSpc>
                <a:spcPct val="100000"/>
              </a:lnSpc>
              <a:buFont typeface="+mj-lt"/>
              <a:buAutoNum type="arabicPeriod"/>
            </a:pPr>
            <a:r>
              <a:rPr lang="ja-JP" altLang="en-US" sz="2400" dirty="0"/>
              <a:t>目視標準とは。</a:t>
            </a:r>
            <a:endParaRPr lang="en-US" altLang="ja-JP" sz="2400" dirty="0"/>
          </a:p>
          <a:p>
            <a:pPr lvl="1">
              <a:lnSpc>
                <a:spcPct val="100000"/>
              </a:lnSpc>
              <a:buFont typeface="Wingdings" panose="05000000000000000000" pitchFamily="2" charset="2"/>
              <a:buChar char="Ø"/>
            </a:pPr>
            <a:r>
              <a:rPr lang="ja-JP" altLang="en-US" dirty="0"/>
              <a:t>言語以外で指示するもの。（図／写真／限度見本など）</a:t>
            </a:r>
            <a:endParaRPr lang="en-US" altLang="ja-JP" dirty="0"/>
          </a:p>
          <a:p>
            <a:pPr marL="514350" indent="-514350">
              <a:lnSpc>
                <a:spcPct val="100000"/>
              </a:lnSpc>
              <a:buFont typeface="+mj-lt"/>
              <a:buAutoNum type="arabicPeriod"/>
            </a:pPr>
            <a:r>
              <a:rPr lang="ja-JP" altLang="en-US" sz="2400" dirty="0"/>
              <a:t>言語について。</a:t>
            </a:r>
            <a:endParaRPr lang="en-US" altLang="ja-JP" sz="2400" dirty="0"/>
          </a:p>
          <a:p>
            <a:pPr lvl="1">
              <a:lnSpc>
                <a:spcPct val="100000"/>
              </a:lnSpc>
              <a:buFont typeface="Wingdings" panose="05000000000000000000" pitchFamily="2" charset="2"/>
              <a:buChar char="Ø"/>
            </a:pPr>
            <a:r>
              <a:rPr lang="ja-JP" altLang="en-US" dirty="0"/>
              <a:t>自動車産業界では、外国人で日本語がわからない作業者は珍しくない。</a:t>
            </a:r>
            <a:endParaRPr lang="en-US" altLang="ja-JP" dirty="0"/>
          </a:p>
          <a:p>
            <a:pPr lvl="1">
              <a:lnSpc>
                <a:spcPct val="100000"/>
              </a:lnSpc>
              <a:buFont typeface="Wingdings" panose="05000000000000000000" pitchFamily="2" charset="2"/>
              <a:buChar char="Ø"/>
            </a:pPr>
            <a:r>
              <a:rPr lang="ja-JP" altLang="en-US" dirty="0"/>
              <a:t>通訳を介する対応は、原則ＮＧ。</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8.5.1.2</a:t>
            </a:r>
            <a:r>
              <a:rPr lang="ja-JP" altLang="en-US" sz="3000" b="1" dirty="0">
                <a:solidFill>
                  <a:schemeClr val="bg1"/>
                </a:solidFill>
              </a:rPr>
              <a:t>　標準作業－作業者指示書及び目視標準</a:t>
            </a:r>
            <a:endParaRPr kumimoji="1" lang="ja-JP" altLang="en-US" sz="3000" b="1" dirty="0">
              <a:solidFill>
                <a:schemeClr val="bg1"/>
              </a:solidFill>
            </a:endParaRPr>
          </a:p>
        </p:txBody>
      </p:sp>
      <p:graphicFrame>
        <p:nvGraphicFramePr>
          <p:cNvPr id="2" name="表 2">
            <a:extLst>
              <a:ext uri="{FF2B5EF4-FFF2-40B4-BE49-F238E27FC236}">
                <a16:creationId xmlns:a16="http://schemas.microsoft.com/office/drawing/2014/main" id="{1A65657E-0B53-4C9D-98A9-D5F20C74F75C}"/>
              </a:ext>
            </a:extLst>
          </p:cNvPr>
          <p:cNvGraphicFramePr>
            <a:graphicFrameLocks noGrp="1"/>
          </p:cNvGraphicFramePr>
          <p:nvPr>
            <p:extLst>
              <p:ext uri="{D42A27DB-BD31-4B8C-83A1-F6EECF244321}">
                <p14:modId xmlns:p14="http://schemas.microsoft.com/office/powerpoint/2010/main" val="3771632498"/>
              </p:ext>
            </p:extLst>
          </p:nvPr>
        </p:nvGraphicFramePr>
        <p:xfrm>
          <a:off x="1422400" y="2467186"/>
          <a:ext cx="8128000" cy="85344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532528411"/>
                    </a:ext>
                  </a:extLst>
                </a:gridCol>
                <a:gridCol w="4064000">
                  <a:extLst>
                    <a:ext uri="{9D8B030D-6E8A-4147-A177-3AD203B41FA5}">
                      <a16:colId xmlns:a16="http://schemas.microsoft.com/office/drawing/2014/main" val="2781695651"/>
                    </a:ext>
                  </a:extLst>
                </a:gridCol>
              </a:tblGrid>
              <a:tr h="370840">
                <a:tc>
                  <a:txBody>
                    <a:bodyPr/>
                    <a:lstStyle/>
                    <a:p>
                      <a:r>
                        <a:rPr kumimoji="1" lang="ja-JP" altLang="en-US" sz="2200" dirty="0"/>
                        <a:t>コントロールプラン</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kumimoji="1" lang="ja-JP" altLang="en-US" sz="2200" dirty="0"/>
                        <a:t>作業標準</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2704449"/>
                  </a:ext>
                </a:extLst>
              </a:tr>
              <a:tr h="370840">
                <a:tc>
                  <a:txBody>
                    <a:bodyPr/>
                    <a:lstStyle/>
                    <a:p>
                      <a:r>
                        <a:rPr kumimoji="1" lang="ja-JP" altLang="en-US" sz="2200" dirty="0"/>
                        <a:t>現場の管理者が利用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kumimoji="1" lang="ja-JP" altLang="en-US" sz="2200" dirty="0"/>
                        <a:t>現場の作業者が利用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8781752"/>
                  </a:ext>
                </a:extLst>
              </a:tr>
            </a:tbl>
          </a:graphicData>
        </a:graphic>
      </p:graphicFrame>
    </p:spTree>
    <p:extLst>
      <p:ext uri="{BB962C8B-B14F-4D97-AF65-F5344CB8AC3E}">
        <p14:creationId xmlns:p14="http://schemas.microsoft.com/office/powerpoint/2010/main" val="289029742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☑組織は、次の事項を実施しなければならない。</a:t>
            </a:r>
            <a:endParaRPr lang="en-US" altLang="ja-JP" sz="2000" dirty="0"/>
          </a:p>
          <a:p>
            <a:pPr marL="800100" lvl="1" indent="-342900">
              <a:lnSpc>
                <a:spcPct val="100000"/>
              </a:lnSpc>
              <a:buFont typeface="+mj-lt"/>
              <a:buAutoNum type="alphaLcPeriod"/>
            </a:pPr>
            <a:r>
              <a:rPr lang="ja-JP" altLang="en-US" sz="2000" dirty="0"/>
              <a:t>作業の立上げ、材料切替え、又は作業変更のような新しい段取り替えが実行される場合は、</a:t>
            </a:r>
            <a:r>
              <a:rPr lang="ja-JP" altLang="en-US" sz="2000" u="sng" dirty="0"/>
              <a:t>作業の段取り替えを検証する。</a:t>
            </a:r>
            <a:endParaRPr lang="en-US" altLang="ja-JP" sz="2000" u="sng" dirty="0"/>
          </a:p>
          <a:p>
            <a:pPr marL="800100" lvl="1" indent="-342900">
              <a:lnSpc>
                <a:spcPct val="100000"/>
              </a:lnSpc>
              <a:buFont typeface="+mj-lt"/>
              <a:buAutoNum type="alphaLcPeriod"/>
            </a:pPr>
            <a:r>
              <a:rPr lang="ja-JP" altLang="en-US" sz="2000" dirty="0"/>
              <a:t>段取り替え要員のために</a:t>
            </a:r>
            <a:r>
              <a:rPr lang="ja-JP" altLang="en-US" sz="2000" b="1" u="sng" dirty="0"/>
              <a:t>文書化した情報を維持</a:t>
            </a:r>
            <a:r>
              <a:rPr lang="ja-JP" altLang="en-US" sz="2000" u="sng" dirty="0"/>
              <a:t>する。</a:t>
            </a:r>
            <a:endParaRPr lang="en-US" altLang="ja-JP" sz="2000" u="sng" dirty="0"/>
          </a:p>
          <a:p>
            <a:pPr marL="800100" lvl="1" indent="-342900">
              <a:lnSpc>
                <a:spcPct val="100000"/>
              </a:lnSpc>
              <a:buFont typeface="+mj-lt"/>
              <a:buAutoNum type="alphaLcPeriod"/>
            </a:pPr>
            <a:r>
              <a:rPr lang="ja-JP" altLang="en-US" sz="2000" dirty="0"/>
              <a:t>該当する場合は、必ず、検証に統計的方法を使用する。</a:t>
            </a:r>
            <a:endParaRPr lang="en-US" altLang="ja-JP" sz="2000" dirty="0"/>
          </a:p>
          <a:p>
            <a:pPr marL="800100" lvl="1" indent="-342900">
              <a:lnSpc>
                <a:spcPct val="100000"/>
              </a:lnSpc>
              <a:buFont typeface="+mj-lt"/>
              <a:buAutoNum type="alphaLcPeriod"/>
            </a:pPr>
            <a:r>
              <a:rPr lang="ja-JP" altLang="en-US" sz="2000" dirty="0"/>
              <a:t>該当する場合には、必ず、初品／終品の妥当性確認を実施する。必要に応じて、初品は終品との比較のために保持し、終品は次の工程稼働まで保持することが望ましい。</a:t>
            </a:r>
            <a:endParaRPr lang="en-US" altLang="ja-JP" sz="2000" dirty="0"/>
          </a:p>
          <a:p>
            <a:pPr marL="800100" lvl="1" indent="-342900">
              <a:lnSpc>
                <a:spcPct val="100000"/>
              </a:lnSpc>
              <a:buFont typeface="+mj-lt"/>
              <a:buAutoNum type="alphaLcPeriod"/>
            </a:pPr>
            <a:r>
              <a:rPr lang="ja-JP" altLang="en-US" sz="2000" dirty="0"/>
              <a:t>段取り替え及び初品／終品の妥当性確認後の工程及び製品承認の</a:t>
            </a:r>
            <a:r>
              <a:rPr lang="ja-JP" altLang="en-US" sz="2000" u="sng" dirty="0"/>
              <a:t>記録を保持する。</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8.5.1.3</a:t>
            </a:r>
            <a:r>
              <a:rPr kumimoji="1" lang="ja-JP" altLang="en-US" sz="3000" b="1" dirty="0">
                <a:solidFill>
                  <a:schemeClr val="tx2"/>
                </a:solidFill>
              </a:rPr>
              <a:t>　作業の段取り替え検証</a:t>
            </a:r>
          </a:p>
        </p:txBody>
      </p:sp>
    </p:spTree>
    <p:extLst>
      <p:ext uri="{BB962C8B-B14F-4D97-AF65-F5344CB8AC3E}">
        <p14:creationId xmlns:p14="http://schemas.microsoft.com/office/powerpoint/2010/main" val="1917141961"/>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段取り替え検証の対象事象を明確にする。</a:t>
            </a:r>
            <a:endParaRPr lang="en-US" altLang="ja-JP" sz="2400" dirty="0"/>
          </a:p>
          <a:p>
            <a:pPr lvl="1">
              <a:lnSpc>
                <a:spcPct val="100000"/>
              </a:lnSpc>
              <a:buFont typeface="Wingdings" panose="05000000000000000000" pitchFamily="2" charset="2"/>
              <a:buChar char="Ø"/>
            </a:pPr>
            <a:r>
              <a:rPr lang="ja-JP" altLang="en-US" dirty="0"/>
              <a:t>作業の立上げ／始業時／材料ロット変更時／金型交換時など。</a:t>
            </a:r>
            <a:endParaRPr lang="en-US" altLang="ja-JP" dirty="0"/>
          </a:p>
          <a:p>
            <a:pPr marL="514350" indent="-514350">
              <a:lnSpc>
                <a:spcPct val="100000"/>
              </a:lnSpc>
              <a:buFont typeface="+mj-lt"/>
              <a:buAutoNum type="arabicPeriod"/>
            </a:pPr>
            <a:r>
              <a:rPr lang="ja-JP" altLang="en-US" sz="2400" dirty="0"/>
              <a:t>統計的方法による検証の推奨。</a:t>
            </a:r>
            <a:endParaRPr lang="en-US" altLang="ja-JP" sz="2400" dirty="0"/>
          </a:p>
          <a:p>
            <a:pPr lvl="1">
              <a:lnSpc>
                <a:spcPct val="100000"/>
              </a:lnSpc>
              <a:buFont typeface="Wingdings" panose="05000000000000000000" pitchFamily="2" charset="2"/>
              <a:buChar char="Ø"/>
            </a:pPr>
            <a:r>
              <a:rPr lang="ja-JP" altLang="en-US" dirty="0"/>
              <a:t>例えば、段取替え直後の製品特性が、</a:t>
            </a:r>
            <a:endParaRPr lang="en-US" altLang="ja-JP" dirty="0"/>
          </a:p>
          <a:p>
            <a:pPr marL="914400" lvl="2" indent="0">
              <a:lnSpc>
                <a:spcPct val="100000"/>
              </a:lnSpc>
              <a:buNone/>
            </a:pPr>
            <a:r>
              <a:rPr lang="ja-JP" altLang="en-US" sz="2400" dirty="0"/>
              <a:t>○：規格内に入っているか</a:t>
            </a:r>
            <a:endParaRPr lang="en-US" altLang="ja-JP" sz="2400" dirty="0"/>
          </a:p>
          <a:p>
            <a:pPr marL="914400" lvl="2" indent="0">
              <a:lnSpc>
                <a:spcPct val="100000"/>
              </a:lnSpc>
              <a:buNone/>
            </a:pPr>
            <a:r>
              <a:rPr lang="ja-JP" altLang="en-US" sz="2400" dirty="0"/>
              <a:t>◎：</a:t>
            </a:r>
            <a:r>
              <a:rPr lang="en-US" altLang="ja-JP" sz="2400" dirty="0"/>
              <a:t>±</a:t>
            </a:r>
            <a:r>
              <a:rPr lang="ja-JP" altLang="en-US" sz="2400" dirty="0"/>
              <a:t>１</a:t>
            </a:r>
            <a:r>
              <a:rPr lang="en-US" altLang="ja-JP" sz="2400" dirty="0"/>
              <a:t>σ</a:t>
            </a:r>
            <a:r>
              <a:rPr lang="ja-JP" altLang="en-US" sz="2400" dirty="0"/>
              <a:t>以内に入っているか</a:t>
            </a:r>
            <a:endParaRPr lang="en-US" altLang="ja-JP" sz="2400" dirty="0"/>
          </a:p>
          <a:p>
            <a:pPr lvl="1">
              <a:lnSpc>
                <a:spcPct val="100000"/>
              </a:lnSpc>
              <a:buFont typeface="Wingdings" panose="05000000000000000000" pitchFamily="2" charset="2"/>
              <a:buChar char="Ø"/>
            </a:pPr>
            <a:r>
              <a:rPr lang="ja-JP" altLang="en-US" dirty="0"/>
              <a:t>規格との比較ではなく　</a:t>
            </a:r>
            <a:r>
              <a:rPr lang="ja-JP" altLang="en-US" dirty="0">
                <a:solidFill>
                  <a:srgbClr val="FF0000"/>
                </a:solidFill>
                <a:effectLst>
                  <a:outerShdw blurRad="38100" dist="38100" dir="2700000" algn="tl">
                    <a:srgbClr val="000000">
                      <a:alpha val="43137"/>
                    </a:srgbClr>
                  </a:outerShdw>
                </a:effectLst>
              </a:rPr>
              <a:t>“段取り前の安定した工程”</a:t>
            </a:r>
            <a:r>
              <a:rPr lang="ja-JP" altLang="en-US" dirty="0"/>
              <a:t>　との比較。</a:t>
            </a:r>
            <a:endParaRPr lang="en-US" altLang="ja-JP" dirty="0"/>
          </a:p>
          <a:p>
            <a:pPr marL="514350" indent="-514350">
              <a:lnSpc>
                <a:spcPct val="100000"/>
              </a:lnSpc>
              <a:buFont typeface="+mj-lt"/>
              <a:buAutoNum type="arabicPeriod"/>
            </a:pPr>
            <a:r>
              <a:rPr lang="ja-JP" altLang="en-US" sz="2400" dirty="0"/>
              <a:t>初品と終品の妥当性確認。</a:t>
            </a:r>
            <a:endParaRPr lang="en-US" altLang="ja-JP" sz="2400" dirty="0"/>
          </a:p>
          <a:p>
            <a:pPr lvl="1">
              <a:lnSpc>
                <a:spcPct val="100000"/>
              </a:lnSpc>
              <a:buFont typeface="Wingdings" panose="05000000000000000000" pitchFamily="2" charset="2"/>
              <a:buChar char="Ø"/>
            </a:pPr>
            <a:r>
              <a:rPr lang="ja-JP" altLang="en-US" dirty="0"/>
              <a:t>前ロット終品　　　　　　段取り替えロット初品　➠　再調整</a:t>
            </a:r>
            <a:endParaRPr lang="en-US" altLang="ja-JP" dirty="0"/>
          </a:p>
          <a:p>
            <a:pPr lvl="1">
              <a:lnSpc>
                <a:spcPct val="100000"/>
              </a:lnSpc>
              <a:buFont typeface="Wingdings" panose="05000000000000000000" pitchFamily="2" charset="2"/>
              <a:buChar char="Ø"/>
            </a:pPr>
            <a:r>
              <a:rPr lang="ja-JP" altLang="en-US" dirty="0"/>
              <a:t>同一ロット初品　　　　　終品　➠　疑わしいロット／全数検査</a:t>
            </a:r>
            <a:endParaRPr lang="en-US" altLang="ja-JP"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8.5.1.3</a:t>
            </a:r>
            <a:r>
              <a:rPr lang="ja-JP" altLang="en-US" sz="3000" b="1" dirty="0">
                <a:solidFill>
                  <a:schemeClr val="bg1"/>
                </a:solidFill>
              </a:rPr>
              <a:t>　作業の段取り替え検証</a:t>
            </a:r>
            <a:endParaRPr kumimoji="1" lang="ja-JP" altLang="en-US" sz="3000" b="1" dirty="0">
              <a:solidFill>
                <a:schemeClr val="bg1"/>
              </a:solidFill>
            </a:endParaRPr>
          </a:p>
        </p:txBody>
      </p:sp>
      <p:sp>
        <p:nvSpPr>
          <p:cNvPr id="2" name="矢印: 左右 1">
            <a:extLst>
              <a:ext uri="{FF2B5EF4-FFF2-40B4-BE49-F238E27FC236}">
                <a16:creationId xmlns:a16="http://schemas.microsoft.com/office/drawing/2014/main" id="{4558B058-1AAE-4F81-8C16-3454D5FEC47F}"/>
              </a:ext>
            </a:extLst>
          </p:cNvPr>
          <p:cNvSpPr/>
          <p:nvPr/>
        </p:nvSpPr>
        <p:spPr>
          <a:xfrm>
            <a:off x="4038599" y="5053313"/>
            <a:ext cx="1024569" cy="365125"/>
          </a:xfrm>
          <a:prstGeom prst="leftRightArrow">
            <a:avLst>
              <a:gd name="adj1" fmla="val 80173"/>
              <a:gd name="adj2" fmla="val 50000"/>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左右 7">
            <a:extLst>
              <a:ext uri="{FF2B5EF4-FFF2-40B4-BE49-F238E27FC236}">
                <a16:creationId xmlns:a16="http://schemas.microsoft.com/office/drawing/2014/main" id="{295D7B12-C50D-4BBD-B0A6-DD61F0361929}"/>
              </a:ext>
            </a:extLst>
          </p:cNvPr>
          <p:cNvSpPr/>
          <p:nvPr/>
        </p:nvSpPr>
        <p:spPr>
          <a:xfrm>
            <a:off x="4038600" y="5437338"/>
            <a:ext cx="1024569" cy="365125"/>
          </a:xfrm>
          <a:prstGeom prst="leftRightArrow">
            <a:avLst>
              <a:gd name="adj1" fmla="val 80173"/>
              <a:gd name="adj2" fmla="val 50000"/>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10722495"/>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079652"/>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計画的又は非計画的シャットダウン後に、製品が要求事項に適合する</a:t>
            </a:r>
            <a:r>
              <a:rPr lang="ja-JP" altLang="en-US" sz="2000" dirty="0"/>
              <a:t>ことを確実にするのに必要な処置を定め、実施しなければならない。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8.5.1.4</a:t>
            </a:r>
            <a:r>
              <a:rPr lang="ja-JP" altLang="en-US" sz="3000" b="1" dirty="0">
                <a:solidFill>
                  <a:schemeClr val="tx2"/>
                </a:solidFill>
              </a:rPr>
              <a:t>　シャットダウン後の検証</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817679"/>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8.5.1.4</a:t>
            </a:r>
            <a:r>
              <a:rPr lang="ja-JP" altLang="en-US" sz="3000" b="1" dirty="0">
                <a:solidFill>
                  <a:schemeClr val="bg1"/>
                </a:solidFill>
              </a:rPr>
              <a:t>　シャットダウン後の検証</a:t>
            </a:r>
          </a:p>
        </p:txBody>
      </p:sp>
      <p:sp>
        <p:nvSpPr>
          <p:cNvPr id="7" name="コンテンツ プレースホルダー 2">
            <a:extLst>
              <a:ext uri="{FF2B5EF4-FFF2-40B4-BE49-F238E27FC236}">
                <a16:creationId xmlns:a16="http://schemas.microsoft.com/office/drawing/2014/main" id="{E0669E0B-01B1-4234-B6F2-E237897E3714}"/>
              </a:ext>
            </a:extLst>
          </p:cNvPr>
          <p:cNvSpPr txBox="1">
            <a:spLocks/>
          </p:cNvSpPr>
          <p:nvPr/>
        </p:nvSpPr>
        <p:spPr>
          <a:xfrm>
            <a:off x="838200" y="3903796"/>
            <a:ext cx="10515600" cy="2452553"/>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シャットダウン　➠　工場や設備が停止すること。</a:t>
            </a:r>
            <a:r>
              <a:rPr lang="ja-JP" altLang="en-US" sz="1600" dirty="0"/>
              <a:t>（数時間でも、数カ月でも）</a:t>
            </a:r>
            <a:endParaRPr lang="en-US" altLang="ja-JP" sz="1600" dirty="0"/>
          </a:p>
          <a:p>
            <a:pPr marL="457200" indent="-457200">
              <a:lnSpc>
                <a:spcPct val="100000"/>
              </a:lnSpc>
              <a:buFont typeface="+mj-lt"/>
              <a:buAutoNum type="arabicPeriod"/>
            </a:pPr>
            <a:r>
              <a:rPr lang="ja-JP" altLang="en-US" sz="2400" dirty="0"/>
              <a:t>必要な処置。</a:t>
            </a:r>
            <a:endParaRPr lang="en-US" altLang="ja-JP" sz="2400" dirty="0"/>
          </a:p>
          <a:p>
            <a:pPr marL="914400" lvl="1" indent="-457200">
              <a:lnSpc>
                <a:spcPct val="100000"/>
              </a:lnSpc>
              <a:buFont typeface="+mj-ea"/>
              <a:buAutoNum type="circleNumDbPlain"/>
            </a:pPr>
            <a:r>
              <a:rPr lang="ja-JP" altLang="en-US" dirty="0"/>
              <a:t>計画的シャットダウン時の「停止」と「立上げ」の手順。</a:t>
            </a:r>
            <a:endParaRPr lang="en-US" altLang="ja-JP" dirty="0"/>
          </a:p>
          <a:p>
            <a:pPr marL="914400" lvl="1" indent="-457200">
              <a:lnSpc>
                <a:spcPct val="100000"/>
              </a:lnSpc>
              <a:buFont typeface="+mj-ea"/>
              <a:buAutoNum type="circleNumDbPlain"/>
            </a:pPr>
            <a:r>
              <a:rPr lang="ja-JP" altLang="en-US" dirty="0"/>
              <a:t>非計画的シャットダウン時の「緊急処置」と「立上げ」の手順。</a:t>
            </a:r>
          </a:p>
        </p:txBody>
      </p:sp>
    </p:spTree>
    <p:extLst>
      <p:ext uri="{BB962C8B-B14F-4D97-AF65-F5344CB8AC3E}">
        <p14:creationId xmlns:p14="http://schemas.microsoft.com/office/powerpoint/2010/main" val="757089475"/>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目的は</a:t>
            </a:r>
            <a:r>
              <a:rPr lang="en-US" altLang="ja-JP" sz="2400" dirty="0"/>
              <a:t>『</a:t>
            </a:r>
            <a:r>
              <a:rPr lang="ja-JP" altLang="en-US" sz="2400" dirty="0">
                <a:solidFill>
                  <a:srgbClr val="FF0000"/>
                </a:solidFill>
                <a:effectLst>
                  <a:outerShdw blurRad="38100" dist="38100" dir="2700000" algn="tl">
                    <a:srgbClr val="000000">
                      <a:alpha val="43137"/>
                    </a:srgbClr>
                  </a:outerShdw>
                </a:effectLst>
              </a:rPr>
              <a:t>再稼働時の製品要求事項の維持</a:t>
            </a:r>
            <a:r>
              <a:rPr lang="en-US" altLang="ja-JP" sz="2400" dirty="0"/>
              <a:t>』</a:t>
            </a:r>
            <a:r>
              <a:rPr lang="ja-JP" altLang="en-US" sz="2400" dirty="0"/>
              <a:t>。</a:t>
            </a:r>
            <a:endParaRPr lang="en-US" altLang="ja-JP" sz="2400" dirty="0"/>
          </a:p>
          <a:p>
            <a:pPr marL="457200" indent="-457200">
              <a:lnSpc>
                <a:spcPct val="100000"/>
              </a:lnSpc>
              <a:buFont typeface="+mj-lt"/>
              <a:buAutoNum type="arabicPeriod" startAt="3"/>
            </a:pPr>
            <a:r>
              <a:rPr lang="ja-JP" altLang="en-US" sz="2400" dirty="0"/>
              <a:t>全体の体系。</a:t>
            </a:r>
            <a:endParaRPr lang="en-US" altLang="ja-JP"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8.5.1.4</a:t>
            </a:r>
            <a:r>
              <a:rPr lang="ja-JP" altLang="en-US" sz="3000" b="1" dirty="0">
                <a:solidFill>
                  <a:schemeClr val="bg1"/>
                </a:solidFill>
              </a:rPr>
              <a:t>　シャットダウン後の検証</a:t>
            </a:r>
          </a:p>
        </p:txBody>
      </p:sp>
      <p:sp>
        <p:nvSpPr>
          <p:cNvPr id="3" name="正方形/長方形 2">
            <a:extLst>
              <a:ext uri="{FF2B5EF4-FFF2-40B4-BE49-F238E27FC236}">
                <a16:creationId xmlns:a16="http://schemas.microsoft.com/office/drawing/2014/main" id="{63F342BF-6CAE-4B2B-BFAD-6EB0D32D3AF3}"/>
              </a:ext>
            </a:extLst>
          </p:cNvPr>
          <p:cNvSpPr/>
          <p:nvPr/>
        </p:nvSpPr>
        <p:spPr>
          <a:xfrm>
            <a:off x="1310640" y="2394884"/>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緊急事態・不測の事態</a:t>
            </a:r>
            <a:endParaRPr kumimoji="1" lang="en-US" altLang="ja-JP" sz="2000" b="1" dirty="0">
              <a:solidFill>
                <a:schemeClr val="tx1"/>
              </a:solidFill>
            </a:endParaRPr>
          </a:p>
          <a:p>
            <a:pPr algn="ctr"/>
            <a:r>
              <a:rPr kumimoji="1" lang="ja-JP" altLang="en-US" dirty="0">
                <a:solidFill>
                  <a:schemeClr val="tx1"/>
                </a:solidFill>
              </a:rPr>
              <a:t>（</a:t>
            </a:r>
            <a:r>
              <a:rPr kumimoji="1" lang="en-US" altLang="ja-JP" dirty="0">
                <a:solidFill>
                  <a:schemeClr val="tx1"/>
                </a:solidFill>
              </a:rPr>
              <a:t>6.1.2.3</a:t>
            </a:r>
            <a:r>
              <a:rPr kumimoji="1" lang="ja-JP" altLang="en-US" dirty="0">
                <a:solidFill>
                  <a:schemeClr val="tx1"/>
                </a:solidFill>
              </a:rPr>
              <a:t>による管理）</a:t>
            </a:r>
          </a:p>
        </p:txBody>
      </p:sp>
      <p:sp>
        <p:nvSpPr>
          <p:cNvPr id="6" name="正方形/長方形 5">
            <a:extLst>
              <a:ext uri="{FF2B5EF4-FFF2-40B4-BE49-F238E27FC236}">
                <a16:creationId xmlns:a16="http://schemas.microsoft.com/office/drawing/2014/main" id="{BF707D4C-AA07-4890-B1A4-CF204FB6DD8A}"/>
              </a:ext>
            </a:extLst>
          </p:cNvPr>
          <p:cNvSpPr/>
          <p:nvPr/>
        </p:nvSpPr>
        <p:spPr>
          <a:xfrm>
            <a:off x="6192520" y="2394884"/>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計画された事象の発生</a:t>
            </a:r>
            <a:endParaRPr kumimoji="1" lang="en-US" altLang="ja-JP" sz="2000" b="1" dirty="0">
              <a:solidFill>
                <a:schemeClr val="tx1"/>
              </a:solidFill>
            </a:endParaRPr>
          </a:p>
          <a:p>
            <a:pPr algn="ctr"/>
            <a:r>
              <a:rPr kumimoji="1" lang="ja-JP" altLang="en-US" dirty="0">
                <a:solidFill>
                  <a:schemeClr val="tx1"/>
                </a:solidFill>
              </a:rPr>
              <a:t>（日次終業／ＧＷなど）</a:t>
            </a:r>
          </a:p>
        </p:txBody>
      </p:sp>
      <p:sp>
        <p:nvSpPr>
          <p:cNvPr id="12" name="正方形/長方形 11">
            <a:extLst>
              <a:ext uri="{FF2B5EF4-FFF2-40B4-BE49-F238E27FC236}">
                <a16:creationId xmlns:a16="http://schemas.microsoft.com/office/drawing/2014/main" id="{909EDB08-0BE4-4B15-8C64-63D1431CD22F}"/>
              </a:ext>
            </a:extLst>
          </p:cNvPr>
          <p:cNvSpPr/>
          <p:nvPr/>
        </p:nvSpPr>
        <p:spPr>
          <a:xfrm>
            <a:off x="1310640" y="3462085"/>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シャットダウン</a:t>
            </a:r>
            <a:endParaRPr kumimoji="1" lang="en-US" altLang="ja-JP" sz="2000" b="1" dirty="0">
              <a:solidFill>
                <a:schemeClr val="tx1"/>
              </a:solidFill>
            </a:endParaRPr>
          </a:p>
          <a:p>
            <a:pPr algn="ctr"/>
            <a:r>
              <a:rPr kumimoji="1" lang="ja-JP" altLang="en-US" dirty="0">
                <a:solidFill>
                  <a:schemeClr val="tx1"/>
                </a:solidFill>
              </a:rPr>
              <a:t>（緊急事態対応手順）</a:t>
            </a:r>
          </a:p>
        </p:txBody>
      </p:sp>
      <p:sp>
        <p:nvSpPr>
          <p:cNvPr id="14" name="正方形/長方形 13">
            <a:extLst>
              <a:ext uri="{FF2B5EF4-FFF2-40B4-BE49-F238E27FC236}">
                <a16:creationId xmlns:a16="http://schemas.microsoft.com/office/drawing/2014/main" id="{63BCBC22-3B8C-4F2D-B206-9DAB9807D973}"/>
              </a:ext>
            </a:extLst>
          </p:cNvPr>
          <p:cNvSpPr/>
          <p:nvPr/>
        </p:nvSpPr>
        <p:spPr>
          <a:xfrm>
            <a:off x="6192520" y="3462085"/>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シャットダウン</a:t>
            </a:r>
            <a:endParaRPr kumimoji="1" lang="en-US" altLang="ja-JP" sz="2000" b="1" dirty="0">
              <a:solidFill>
                <a:schemeClr val="tx1"/>
              </a:solidFill>
            </a:endParaRPr>
          </a:p>
          <a:p>
            <a:pPr algn="ctr"/>
            <a:r>
              <a:rPr kumimoji="1" lang="ja-JP" altLang="en-US" dirty="0">
                <a:solidFill>
                  <a:schemeClr val="tx1"/>
                </a:solidFill>
              </a:rPr>
              <a:t>（通常作業手順）</a:t>
            </a:r>
          </a:p>
        </p:txBody>
      </p:sp>
      <p:sp>
        <p:nvSpPr>
          <p:cNvPr id="16" name="正方形/長方形 15">
            <a:extLst>
              <a:ext uri="{FF2B5EF4-FFF2-40B4-BE49-F238E27FC236}">
                <a16:creationId xmlns:a16="http://schemas.microsoft.com/office/drawing/2014/main" id="{640DDC3A-2DDF-4F0B-A076-CEDA7C3DD2DB}"/>
              </a:ext>
            </a:extLst>
          </p:cNvPr>
          <p:cNvSpPr/>
          <p:nvPr/>
        </p:nvSpPr>
        <p:spPr>
          <a:xfrm>
            <a:off x="1310640" y="4543256"/>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検証</a:t>
            </a:r>
            <a:r>
              <a:rPr kumimoji="1" lang="ja-JP" altLang="en-US" dirty="0">
                <a:solidFill>
                  <a:schemeClr val="tx1"/>
                </a:solidFill>
              </a:rPr>
              <a:t>（インフラ・製品適合性に関する詳細検証）</a:t>
            </a:r>
          </a:p>
        </p:txBody>
      </p:sp>
      <p:sp>
        <p:nvSpPr>
          <p:cNvPr id="18" name="正方形/長方形 17">
            <a:extLst>
              <a:ext uri="{FF2B5EF4-FFF2-40B4-BE49-F238E27FC236}">
                <a16:creationId xmlns:a16="http://schemas.microsoft.com/office/drawing/2014/main" id="{03232DC2-7A7B-48E2-B65C-DAC351644F4D}"/>
              </a:ext>
            </a:extLst>
          </p:cNvPr>
          <p:cNvSpPr/>
          <p:nvPr/>
        </p:nvSpPr>
        <p:spPr>
          <a:xfrm>
            <a:off x="6192520" y="4543256"/>
            <a:ext cx="423672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検証</a:t>
            </a:r>
            <a:r>
              <a:rPr kumimoji="1" lang="ja-JP" altLang="en-US" dirty="0">
                <a:solidFill>
                  <a:schemeClr val="tx1"/>
                </a:solidFill>
              </a:rPr>
              <a:t>（インフラ・製品適合性に関する通常検証）</a:t>
            </a:r>
            <a:r>
              <a:rPr kumimoji="1" lang="en-US" altLang="ja-JP" dirty="0">
                <a:solidFill>
                  <a:schemeClr val="tx1"/>
                </a:solidFill>
              </a:rPr>
              <a:t>※8.5.1.3</a:t>
            </a:r>
            <a:r>
              <a:rPr kumimoji="1" lang="ja-JP" altLang="en-US" dirty="0">
                <a:solidFill>
                  <a:schemeClr val="tx1"/>
                </a:solidFill>
              </a:rPr>
              <a:t>関連</a:t>
            </a:r>
          </a:p>
        </p:txBody>
      </p:sp>
      <p:sp>
        <p:nvSpPr>
          <p:cNvPr id="20" name="正方形/長方形 19">
            <a:extLst>
              <a:ext uri="{FF2B5EF4-FFF2-40B4-BE49-F238E27FC236}">
                <a16:creationId xmlns:a16="http://schemas.microsoft.com/office/drawing/2014/main" id="{6DB23717-D59C-46FB-A8EF-A18408D3370F}"/>
              </a:ext>
            </a:extLst>
          </p:cNvPr>
          <p:cNvSpPr/>
          <p:nvPr/>
        </p:nvSpPr>
        <p:spPr>
          <a:xfrm>
            <a:off x="1310640" y="5560995"/>
            <a:ext cx="9118600" cy="766613"/>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通常生産の再開</a:t>
            </a:r>
          </a:p>
        </p:txBody>
      </p:sp>
      <p:sp>
        <p:nvSpPr>
          <p:cNvPr id="23" name="矢印: 下 22">
            <a:extLst>
              <a:ext uri="{FF2B5EF4-FFF2-40B4-BE49-F238E27FC236}">
                <a16:creationId xmlns:a16="http://schemas.microsoft.com/office/drawing/2014/main" id="{709FA7E5-F9EF-4DF6-8A99-E8BD75373CE2}"/>
              </a:ext>
            </a:extLst>
          </p:cNvPr>
          <p:cNvSpPr/>
          <p:nvPr/>
        </p:nvSpPr>
        <p:spPr>
          <a:xfrm>
            <a:off x="3103880" y="3161497"/>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下 24">
            <a:extLst>
              <a:ext uri="{FF2B5EF4-FFF2-40B4-BE49-F238E27FC236}">
                <a16:creationId xmlns:a16="http://schemas.microsoft.com/office/drawing/2014/main" id="{ACBE6949-6962-40D9-889A-382AD04B835A}"/>
              </a:ext>
            </a:extLst>
          </p:cNvPr>
          <p:cNvSpPr/>
          <p:nvPr/>
        </p:nvSpPr>
        <p:spPr>
          <a:xfrm>
            <a:off x="7985760" y="5336607"/>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下 26">
            <a:extLst>
              <a:ext uri="{FF2B5EF4-FFF2-40B4-BE49-F238E27FC236}">
                <a16:creationId xmlns:a16="http://schemas.microsoft.com/office/drawing/2014/main" id="{6AEF6D1C-C05A-407C-8DA8-0C6C8634A9D2}"/>
              </a:ext>
            </a:extLst>
          </p:cNvPr>
          <p:cNvSpPr/>
          <p:nvPr/>
        </p:nvSpPr>
        <p:spPr>
          <a:xfrm>
            <a:off x="3103880" y="5336607"/>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下 28">
            <a:extLst>
              <a:ext uri="{FF2B5EF4-FFF2-40B4-BE49-F238E27FC236}">
                <a16:creationId xmlns:a16="http://schemas.microsoft.com/office/drawing/2014/main" id="{3DA888B8-EECC-455C-9BE9-EBB98A737558}"/>
              </a:ext>
            </a:extLst>
          </p:cNvPr>
          <p:cNvSpPr/>
          <p:nvPr/>
        </p:nvSpPr>
        <p:spPr>
          <a:xfrm>
            <a:off x="3108960" y="4278362"/>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下 30">
            <a:extLst>
              <a:ext uri="{FF2B5EF4-FFF2-40B4-BE49-F238E27FC236}">
                <a16:creationId xmlns:a16="http://schemas.microsoft.com/office/drawing/2014/main" id="{BFCE2823-F516-4850-8A73-B288D430779B}"/>
              </a:ext>
            </a:extLst>
          </p:cNvPr>
          <p:cNvSpPr/>
          <p:nvPr/>
        </p:nvSpPr>
        <p:spPr>
          <a:xfrm>
            <a:off x="7985760" y="4251055"/>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矢印: 下 32">
            <a:extLst>
              <a:ext uri="{FF2B5EF4-FFF2-40B4-BE49-F238E27FC236}">
                <a16:creationId xmlns:a16="http://schemas.microsoft.com/office/drawing/2014/main" id="{972AB8A1-11C8-4FEB-9CAA-A60BC8C6985C}"/>
              </a:ext>
            </a:extLst>
          </p:cNvPr>
          <p:cNvSpPr/>
          <p:nvPr/>
        </p:nvSpPr>
        <p:spPr>
          <a:xfrm>
            <a:off x="7985760" y="3186329"/>
            <a:ext cx="650240" cy="2014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五方向 7">
            <a:extLst>
              <a:ext uri="{FF2B5EF4-FFF2-40B4-BE49-F238E27FC236}">
                <a16:creationId xmlns:a16="http://schemas.microsoft.com/office/drawing/2014/main" id="{B04BD5F8-A71B-4C73-9A90-267E0F801E70}"/>
              </a:ext>
            </a:extLst>
          </p:cNvPr>
          <p:cNvSpPr/>
          <p:nvPr/>
        </p:nvSpPr>
        <p:spPr>
          <a:xfrm>
            <a:off x="3519056" y="1839047"/>
            <a:ext cx="4701768" cy="555837"/>
          </a:xfrm>
          <a:prstGeom prst="homePlate">
            <a:avLst/>
          </a:prstGeom>
          <a:gradFill flip="none" rotWithShape="1">
            <a:gsLst>
              <a:gs pos="0">
                <a:schemeClr val="accent1">
                  <a:lumMod val="5000"/>
                  <a:lumOff val="95000"/>
                </a:schemeClr>
              </a:gs>
              <a:gs pos="0">
                <a:schemeClr val="accent2"/>
              </a:gs>
              <a:gs pos="58000">
                <a:schemeClr val="accent2">
                  <a:lumMod val="40000"/>
                  <a:lumOff val="60000"/>
                </a:schemeClr>
              </a:gs>
              <a:gs pos="100000">
                <a:schemeClr val="accent2">
                  <a:lumMod val="20000"/>
                  <a:lumOff val="8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可能な限り「不測」から「予測」へ</a:t>
            </a:r>
          </a:p>
        </p:txBody>
      </p:sp>
    </p:spTree>
    <p:extLst>
      <p:ext uri="{BB962C8B-B14F-4D97-AF65-F5344CB8AC3E}">
        <p14:creationId xmlns:p14="http://schemas.microsoft.com/office/powerpoint/2010/main" val="3760519777"/>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269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200" dirty="0"/>
              <a:t>☑</a:t>
            </a:r>
            <a:r>
              <a:rPr lang="ja-JP" altLang="en-US" sz="2000" dirty="0"/>
              <a:t>組織は、</a:t>
            </a:r>
            <a:r>
              <a:rPr lang="ja-JP" altLang="en-US" sz="2000" b="1" dirty="0">
                <a:effectLst>
                  <a:outerShdw blurRad="38100" dist="38100" dir="2700000" algn="tl">
                    <a:srgbClr val="000000">
                      <a:alpha val="43137"/>
                    </a:srgbClr>
                  </a:outerShdw>
                </a:effectLst>
              </a:rPr>
              <a:t>文書化した</a:t>
            </a:r>
            <a:r>
              <a:rPr lang="en-US" altLang="ja-JP" sz="2000" b="1" dirty="0">
                <a:effectLst>
                  <a:outerShdw blurRad="38100" dist="38100" dir="2700000" algn="tl">
                    <a:srgbClr val="000000">
                      <a:alpha val="43137"/>
                    </a:srgbClr>
                  </a:outerShdw>
                </a:effectLst>
              </a:rPr>
              <a:t>TPM</a:t>
            </a:r>
            <a:r>
              <a:rPr lang="ja-JP" altLang="en-US" sz="2000" b="1" dirty="0">
                <a:effectLst>
                  <a:outerShdw blurRad="38100" dist="38100" dir="2700000" algn="tl">
                    <a:srgbClr val="000000">
                      <a:alpha val="43137"/>
                    </a:srgbClr>
                  </a:outerShdw>
                </a:effectLst>
              </a:rPr>
              <a:t>システム</a:t>
            </a:r>
            <a:r>
              <a:rPr lang="ja-JP" altLang="en-US" sz="2000" dirty="0"/>
              <a:t>を構築し、実施し、維持しなければならない。そのシステムには、最低限、次の事項を含めなければならない。</a:t>
            </a:r>
            <a:endParaRPr lang="en-US" altLang="ja-JP" sz="2000" dirty="0"/>
          </a:p>
          <a:p>
            <a:pPr marL="800100" lvl="1" indent="-342900">
              <a:lnSpc>
                <a:spcPct val="100000"/>
              </a:lnSpc>
              <a:buFont typeface="+mj-lt"/>
              <a:buAutoNum type="alphaLcPeriod"/>
            </a:pPr>
            <a:r>
              <a:rPr lang="ja-JP" altLang="en-US" sz="2000" dirty="0"/>
              <a:t>要求された量の適合製品を生産するために必要な</a:t>
            </a:r>
            <a:r>
              <a:rPr lang="ja-JP" altLang="en-US" sz="2000" u="sng" dirty="0"/>
              <a:t>工程設備の特定</a:t>
            </a:r>
            <a:endParaRPr lang="en-US" altLang="ja-JP" sz="2000" u="sng" dirty="0"/>
          </a:p>
          <a:p>
            <a:pPr marL="800100" lvl="1" indent="-342900">
              <a:lnSpc>
                <a:spcPct val="100000"/>
              </a:lnSpc>
              <a:buFont typeface="+mj-lt"/>
              <a:buAutoNum type="alphaLcPeriod"/>
            </a:pPr>
            <a:r>
              <a:rPr lang="ja-JP" altLang="en-US" sz="2000" dirty="0"/>
              <a:t>ａ）で特定された設備に対する</a:t>
            </a:r>
            <a:r>
              <a:rPr lang="ja-JP" altLang="en-US" sz="2000" u="sng" dirty="0"/>
              <a:t>交換部品の入手性</a:t>
            </a:r>
            <a:endParaRPr lang="en-US" altLang="ja-JP" sz="2000" u="sng" dirty="0"/>
          </a:p>
          <a:p>
            <a:pPr marL="800100" lvl="1" indent="-342900">
              <a:lnSpc>
                <a:spcPct val="100000"/>
              </a:lnSpc>
              <a:buFont typeface="+mj-lt"/>
              <a:buAutoNum type="alphaLcPeriod"/>
            </a:pPr>
            <a:r>
              <a:rPr lang="ja-JP" altLang="en-US" sz="2000" dirty="0"/>
              <a:t>機械、設備及び施設の保全のための</a:t>
            </a:r>
            <a:r>
              <a:rPr lang="ja-JP" altLang="en-US" sz="2000" u="sng" dirty="0"/>
              <a:t>資源の提供</a:t>
            </a:r>
            <a:endParaRPr lang="en-US" altLang="ja-JP" sz="2000" u="sng" dirty="0"/>
          </a:p>
          <a:p>
            <a:pPr marL="800100" lvl="1" indent="-342900">
              <a:lnSpc>
                <a:spcPct val="100000"/>
              </a:lnSpc>
              <a:buFont typeface="+mj-lt"/>
              <a:buAutoNum type="alphaLcPeriod"/>
            </a:pPr>
            <a:r>
              <a:rPr lang="ja-JP" altLang="en-US" sz="2000" dirty="0"/>
              <a:t>設備、治工具及びゲージの</a:t>
            </a:r>
            <a:r>
              <a:rPr lang="ja-JP" altLang="en-US" sz="2000" u="sng" dirty="0"/>
              <a:t>包装及び保存</a:t>
            </a:r>
            <a:endParaRPr lang="en-US" altLang="ja-JP" sz="2000" u="sng" dirty="0"/>
          </a:p>
          <a:p>
            <a:pPr marL="800100" lvl="1" indent="-342900">
              <a:lnSpc>
                <a:spcPct val="100000"/>
              </a:lnSpc>
              <a:buFont typeface="+mj-lt"/>
              <a:buAutoNum type="alphaLcPeriod"/>
            </a:pPr>
            <a:r>
              <a:rPr lang="ja-JP" altLang="en-US" sz="2000" dirty="0"/>
              <a:t>該当する顧客固有要求事項</a:t>
            </a:r>
            <a:endParaRPr lang="en-US" altLang="ja-JP" sz="2000" dirty="0"/>
          </a:p>
          <a:p>
            <a:pPr marL="800100" lvl="1" indent="-342900">
              <a:lnSpc>
                <a:spcPct val="100000"/>
              </a:lnSpc>
              <a:buFont typeface="+mj-lt"/>
              <a:buAutoNum type="alphaLcPeriod"/>
            </a:pPr>
            <a:r>
              <a:rPr lang="ja-JP" altLang="en-US" sz="2000" u="sng" dirty="0"/>
              <a:t>文書化した保全目標</a:t>
            </a:r>
            <a:r>
              <a:rPr lang="ja-JP" altLang="en-US" sz="2000" dirty="0"/>
              <a:t>、例えば、</a:t>
            </a:r>
            <a:r>
              <a:rPr lang="en-US" altLang="ja-JP" sz="2000" dirty="0"/>
              <a:t>OEE</a:t>
            </a:r>
            <a:r>
              <a:rPr lang="ja-JP" altLang="en-US" sz="2000" dirty="0"/>
              <a:t>（総合設備効率）、</a:t>
            </a:r>
            <a:r>
              <a:rPr lang="en-US" altLang="ja-JP" sz="2000" dirty="0"/>
              <a:t>MTBF</a:t>
            </a:r>
            <a:r>
              <a:rPr lang="ja-JP" altLang="en-US" sz="2000" dirty="0"/>
              <a:t>（平均故障間隔）及び</a:t>
            </a:r>
            <a:r>
              <a:rPr lang="en-US" altLang="ja-JP" sz="2000" dirty="0"/>
              <a:t>MTTR</a:t>
            </a:r>
            <a:r>
              <a:rPr lang="ja-JP" altLang="en-US" sz="2000" dirty="0"/>
              <a:t>（平均修理時間）、並びに予防保全の順守指標。保全目標に対するパフォーマンスは、マネジメントレビュー（</a:t>
            </a:r>
            <a:r>
              <a:rPr lang="en-US" altLang="ja-JP" sz="2000" dirty="0"/>
              <a:t>ISO9001</a:t>
            </a:r>
            <a:r>
              <a:rPr lang="ja-JP" altLang="en-US" sz="2000" dirty="0"/>
              <a:t>の</a:t>
            </a:r>
            <a:r>
              <a:rPr lang="en-US" altLang="ja-JP" sz="2000" dirty="0"/>
              <a:t>9.3</a:t>
            </a:r>
            <a:r>
              <a:rPr lang="ja-JP" altLang="en-US" sz="2000" dirty="0"/>
              <a:t>参照）へのインプットとしなければならない。</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8.5.1.5</a:t>
            </a:r>
            <a:r>
              <a:rPr kumimoji="1" lang="ja-JP" altLang="en-US" sz="3000" b="1" dirty="0">
                <a:solidFill>
                  <a:schemeClr val="tx2"/>
                </a:solidFill>
              </a:rPr>
              <a:t>　ＴＰＭ（</a:t>
            </a:r>
            <a:r>
              <a:rPr kumimoji="1" lang="en-US" altLang="ja-JP" sz="3000" b="1" dirty="0">
                <a:solidFill>
                  <a:schemeClr val="tx2"/>
                </a:solidFill>
              </a:rPr>
              <a:t>Total</a:t>
            </a:r>
            <a:r>
              <a:rPr kumimoji="1" lang="ja-JP" altLang="en-US" sz="3000" b="1" dirty="0">
                <a:solidFill>
                  <a:schemeClr val="tx2"/>
                </a:solidFill>
              </a:rPr>
              <a:t>　</a:t>
            </a:r>
            <a:r>
              <a:rPr kumimoji="1" lang="en-US" altLang="ja-JP" sz="3000" b="1" dirty="0">
                <a:solidFill>
                  <a:schemeClr val="tx2"/>
                </a:solidFill>
              </a:rPr>
              <a:t>productive</a:t>
            </a:r>
            <a:r>
              <a:rPr kumimoji="1" lang="ja-JP" altLang="en-US" sz="3000" b="1" dirty="0">
                <a:solidFill>
                  <a:schemeClr val="tx2"/>
                </a:solidFill>
              </a:rPr>
              <a:t>　</a:t>
            </a:r>
            <a:r>
              <a:rPr kumimoji="1" lang="en-US" altLang="ja-JP" sz="3000" b="1" dirty="0">
                <a:solidFill>
                  <a:schemeClr val="tx2"/>
                </a:solidFill>
              </a:rPr>
              <a:t>maintenance</a:t>
            </a:r>
            <a:r>
              <a:rPr kumimoji="1" lang="ja-JP" altLang="en-US" sz="3000" b="1" dirty="0">
                <a:solidFill>
                  <a:schemeClr val="tx2"/>
                </a:solidFill>
              </a:rPr>
              <a:t>）</a:t>
            </a:r>
          </a:p>
        </p:txBody>
      </p:sp>
    </p:spTree>
    <p:extLst>
      <p:ext uri="{BB962C8B-B14F-4D97-AF65-F5344CB8AC3E}">
        <p14:creationId xmlns:p14="http://schemas.microsoft.com/office/powerpoint/2010/main" val="80772650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00000"/>
              </a:lnSpc>
              <a:buFont typeface="+mj-lt"/>
              <a:buAutoNum type="alphaLcPeriod" startAt="7"/>
            </a:pPr>
            <a:r>
              <a:rPr lang="ja-JP" altLang="en-US" sz="2000" dirty="0"/>
              <a:t>目標が未達であった場合の、保全計画及び目標、並びに是正処置に取り組む文書化した処置計画に関する</a:t>
            </a:r>
            <a:r>
              <a:rPr lang="ja-JP" altLang="en-US" sz="2000" u="sng" dirty="0"/>
              <a:t>定期的レビュー</a:t>
            </a:r>
            <a:endParaRPr lang="en-US" altLang="ja-JP" sz="2000" u="sng" dirty="0"/>
          </a:p>
          <a:p>
            <a:pPr marL="800100" lvl="1" indent="-342900">
              <a:lnSpc>
                <a:spcPct val="100000"/>
              </a:lnSpc>
              <a:buFont typeface="+mj-lt"/>
              <a:buAutoNum type="alphaLcPeriod" startAt="7"/>
            </a:pPr>
            <a:r>
              <a:rPr lang="ja-JP" altLang="en-US" sz="2000" u="sng" dirty="0"/>
              <a:t>予防保全の方法の使用</a:t>
            </a:r>
            <a:endParaRPr lang="en-US" altLang="ja-JP" sz="2000" u="sng" dirty="0"/>
          </a:p>
          <a:p>
            <a:pPr marL="800100" lvl="1" indent="-342900">
              <a:lnSpc>
                <a:spcPct val="100000"/>
              </a:lnSpc>
              <a:buFont typeface="+mj-lt"/>
              <a:buAutoNum type="alphaLcPeriod" startAt="7"/>
            </a:pPr>
            <a:r>
              <a:rPr lang="ja-JP" altLang="en-US" sz="2000" dirty="0"/>
              <a:t>該当する場合には、必ず、</a:t>
            </a:r>
            <a:r>
              <a:rPr lang="ja-JP" altLang="en-US" sz="2000" u="sng" dirty="0"/>
              <a:t>予知保全の方法の使用</a:t>
            </a:r>
            <a:endParaRPr lang="en-US" altLang="ja-JP" sz="2000" u="sng" dirty="0"/>
          </a:p>
          <a:p>
            <a:pPr marL="800100" lvl="1" indent="-342900">
              <a:lnSpc>
                <a:spcPct val="100000"/>
              </a:lnSpc>
              <a:buFont typeface="+mj-lt"/>
              <a:buAutoNum type="alphaLcPeriod" startAt="7"/>
            </a:pPr>
            <a:r>
              <a:rPr lang="ja-JP" altLang="en-US" sz="2000" dirty="0"/>
              <a:t>定期的</a:t>
            </a:r>
            <a:r>
              <a:rPr lang="ja-JP" altLang="en-US" sz="2000" u="sng" dirty="0"/>
              <a:t>オーバーホール</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8.5.1.5</a:t>
            </a:r>
            <a:r>
              <a:rPr kumimoji="1" lang="ja-JP" altLang="en-US" sz="3000" b="1" dirty="0">
                <a:solidFill>
                  <a:schemeClr val="tx2"/>
                </a:solidFill>
              </a:rPr>
              <a:t>　ＴＰＭ（</a:t>
            </a:r>
            <a:r>
              <a:rPr kumimoji="1" lang="en-US" altLang="ja-JP" sz="3000" b="1" dirty="0">
                <a:solidFill>
                  <a:schemeClr val="tx2"/>
                </a:solidFill>
              </a:rPr>
              <a:t>Total</a:t>
            </a:r>
            <a:r>
              <a:rPr kumimoji="1" lang="ja-JP" altLang="en-US" sz="3000" b="1" dirty="0">
                <a:solidFill>
                  <a:schemeClr val="tx2"/>
                </a:solidFill>
              </a:rPr>
              <a:t>　</a:t>
            </a:r>
            <a:r>
              <a:rPr kumimoji="1" lang="en-US" altLang="ja-JP" sz="3000" b="1" dirty="0">
                <a:solidFill>
                  <a:schemeClr val="tx2"/>
                </a:solidFill>
              </a:rPr>
              <a:t>productive</a:t>
            </a:r>
            <a:r>
              <a:rPr kumimoji="1" lang="ja-JP" altLang="en-US" sz="3000" b="1" dirty="0">
                <a:solidFill>
                  <a:schemeClr val="tx2"/>
                </a:solidFill>
              </a:rPr>
              <a:t>　</a:t>
            </a:r>
            <a:r>
              <a:rPr kumimoji="1" lang="en-US" altLang="ja-JP" sz="3000" b="1" dirty="0">
                <a:solidFill>
                  <a:schemeClr val="tx2"/>
                </a:solidFill>
              </a:rPr>
              <a:t>maintenance</a:t>
            </a:r>
            <a:r>
              <a:rPr kumimoji="1" lang="ja-JP" altLang="en-US" sz="3000" b="1" dirty="0">
                <a:solidFill>
                  <a:schemeClr val="tx2"/>
                </a:solidFill>
              </a:rPr>
              <a:t>）</a:t>
            </a:r>
          </a:p>
        </p:txBody>
      </p:sp>
    </p:spTree>
    <p:extLst>
      <p:ext uri="{BB962C8B-B14F-4D97-AF65-F5344CB8AC3E}">
        <p14:creationId xmlns:p14="http://schemas.microsoft.com/office/powerpoint/2010/main" val="2988116091"/>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en-US" altLang="ja-JP" sz="2400" dirty="0"/>
              <a:t>TPM</a:t>
            </a:r>
            <a:r>
              <a:rPr lang="ja-JP" altLang="en-US" sz="2400" dirty="0"/>
              <a:t>システムに求められること。</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fr-FR" altLang="ja-JP" sz="3000" b="1" dirty="0">
                <a:solidFill>
                  <a:schemeClr val="bg1"/>
                </a:solidFill>
              </a:rPr>
              <a:t>8.5.1.5</a:t>
            </a:r>
            <a:r>
              <a:rPr lang="ja-JP" altLang="fr-FR" sz="3000" b="1" dirty="0">
                <a:solidFill>
                  <a:schemeClr val="bg1"/>
                </a:solidFill>
              </a:rPr>
              <a:t>　ＴＰＭ（</a:t>
            </a:r>
            <a:r>
              <a:rPr lang="fr-FR" altLang="ja-JP" sz="3000" b="1" dirty="0">
                <a:solidFill>
                  <a:schemeClr val="bg1"/>
                </a:solidFill>
              </a:rPr>
              <a:t>Total</a:t>
            </a:r>
            <a:r>
              <a:rPr lang="ja-JP" altLang="fr-FR" sz="3000" b="1" dirty="0">
                <a:solidFill>
                  <a:schemeClr val="bg1"/>
                </a:solidFill>
              </a:rPr>
              <a:t>　</a:t>
            </a:r>
            <a:r>
              <a:rPr lang="fr-FR" altLang="ja-JP" sz="3000" b="1" dirty="0">
                <a:solidFill>
                  <a:schemeClr val="bg1"/>
                </a:solidFill>
              </a:rPr>
              <a:t>productive</a:t>
            </a:r>
            <a:r>
              <a:rPr lang="ja-JP" altLang="fr-FR" sz="3000" b="1" dirty="0">
                <a:solidFill>
                  <a:schemeClr val="bg1"/>
                </a:solidFill>
              </a:rPr>
              <a:t>　</a:t>
            </a:r>
            <a:r>
              <a:rPr lang="fr-FR" altLang="ja-JP" sz="3000" b="1" dirty="0">
                <a:solidFill>
                  <a:schemeClr val="bg1"/>
                </a:solidFill>
              </a:rPr>
              <a:t>maintenance</a:t>
            </a:r>
            <a:r>
              <a:rPr lang="ja-JP" altLang="fr-FR" sz="3000" b="1" dirty="0">
                <a:solidFill>
                  <a:schemeClr val="bg1"/>
                </a:solidFill>
              </a:rPr>
              <a:t>）</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53233569-D8E0-47EA-B47D-28BC74EC34C1}"/>
              </a:ext>
            </a:extLst>
          </p:cNvPr>
          <p:cNvGraphicFramePr>
            <a:graphicFrameLocks noGrp="1"/>
          </p:cNvGraphicFramePr>
          <p:nvPr>
            <p:extLst>
              <p:ext uri="{D42A27DB-BD31-4B8C-83A1-F6EECF244321}">
                <p14:modId xmlns:p14="http://schemas.microsoft.com/office/powerpoint/2010/main" val="194987812"/>
              </p:ext>
            </p:extLst>
          </p:nvPr>
        </p:nvGraphicFramePr>
        <p:xfrm>
          <a:off x="838199" y="1843384"/>
          <a:ext cx="10515600" cy="4512970"/>
        </p:xfrm>
        <a:graphic>
          <a:graphicData uri="http://schemas.openxmlformats.org/drawingml/2006/table">
            <a:tbl>
              <a:tblPr firstRow="1" bandRow="1">
                <a:tableStyleId>{5940675A-B579-460E-94D1-54222C63F5DA}</a:tableStyleId>
              </a:tblPr>
              <a:tblGrid>
                <a:gridCol w="891449">
                  <a:extLst>
                    <a:ext uri="{9D8B030D-6E8A-4147-A177-3AD203B41FA5}">
                      <a16:colId xmlns:a16="http://schemas.microsoft.com/office/drawing/2014/main" val="3217955334"/>
                    </a:ext>
                  </a:extLst>
                </a:gridCol>
                <a:gridCol w="9624151">
                  <a:extLst>
                    <a:ext uri="{9D8B030D-6E8A-4147-A177-3AD203B41FA5}">
                      <a16:colId xmlns:a16="http://schemas.microsoft.com/office/drawing/2014/main" val="1757180340"/>
                    </a:ext>
                  </a:extLst>
                </a:gridCol>
              </a:tblGrid>
              <a:tr h="451297">
                <a:tc>
                  <a:txBody>
                    <a:bodyPr/>
                    <a:lstStyle/>
                    <a:p>
                      <a:pPr algn="ctr"/>
                      <a:r>
                        <a:rPr kumimoji="1" lang="ja-JP" altLang="en-US" sz="2000" dirty="0"/>
                        <a:t>ａ）</a:t>
                      </a:r>
                    </a:p>
                  </a:txBody>
                  <a:tcPr anchor="ctr"/>
                </a:tc>
                <a:tc>
                  <a:txBody>
                    <a:bodyPr/>
                    <a:lstStyle/>
                    <a:p>
                      <a:r>
                        <a:rPr kumimoji="1" lang="ja-JP" altLang="en-US" sz="2000" dirty="0"/>
                        <a:t>通常存在する「設備リスト」から判断する。</a:t>
                      </a:r>
                    </a:p>
                  </a:txBody>
                  <a:tcPr anchor="ctr"/>
                </a:tc>
                <a:extLst>
                  <a:ext uri="{0D108BD9-81ED-4DB2-BD59-A6C34878D82A}">
                    <a16:rowId xmlns:a16="http://schemas.microsoft.com/office/drawing/2014/main" val="2726890439"/>
                  </a:ext>
                </a:extLst>
              </a:tr>
              <a:tr h="451297">
                <a:tc>
                  <a:txBody>
                    <a:bodyPr/>
                    <a:lstStyle/>
                    <a:p>
                      <a:pPr algn="ctr"/>
                      <a:r>
                        <a:rPr kumimoji="1" lang="ja-JP" altLang="en-US" sz="2000" dirty="0">
                          <a:solidFill>
                            <a:srgbClr val="FF0000"/>
                          </a:solidFill>
                        </a:rPr>
                        <a:t>ｂ）</a:t>
                      </a:r>
                    </a:p>
                  </a:txBody>
                  <a:tcPr anchor="ctr"/>
                </a:tc>
                <a:tc>
                  <a:txBody>
                    <a:bodyPr/>
                    <a:lstStyle/>
                    <a:p>
                      <a:r>
                        <a:rPr kumimoji="1" lang="ja-JP" altLang="en-US" sz="2000" dirty="0">
                          <a:solidFill>
                            <a:srgbClr val="FF0000"/>
                          </a:solidFill>
                        </a:rPr>
                        <a:t>消耗品などの準備。（在庫の必要性、入手時の</a:t>
                      </a:r>
                      <a:r>
                        <a:rPr kumimoji="1" lang="en-US" altLang="ja-JP" sz="2000" dirty="0">
                          <a:solidFill>
                            <a:srgbClr val="FF0000"/>
                          </a:solidFill>
                        </a:rPr>
                        <a:t>LT</a:t>
                      </a:r>
                      <a:r>
                        <a:rPr kumimoji="1" lang="ja-JP" altLang="en-US" sz="2000" dirty="0">
                          <a:solidFill>
                            <a:srgbClr val="FF0000"/>
                          </a:solidFill>
                        </a:rPr>
                        <a:t>などから判断）</a:t>
                      </a:r>
                    </a:p>
                  </a:txBody>
                  <a:tcPr anchor="ctr"/>
                </a:tc>
                <a:extLst>
                  <a:ext uri="{0D108BD9-81ED-4DB2-BD59-A6C34878D82A}">
                    <a16:rowId xmlns:a16="http://schemas.microsoft.com/office/drawing/2014/main" val="1926062146"/>
                  </a:ext>
                </a:extLst>
              </a:tr>
              <a:tr h="451297">
                <a:tc>
                  <a:txBody>
                    <a:bodyPr/>
                    <a:lstStyle/>
                    <a:p>
                      <a:pPr algn="ctr"/>
                      <a:r>
                        <a:rPr kumimoji="1" lang="ja-JP" altLang="en-US" sz="2000" dirty="0"/>
                        <a:t>ｃ）</a:t>
                      </a:r>
                    </a:p>
                  </a:txBody>
                  <a:tcPr anchor="ctr"/>
                </a:tc>
                <a:tc>
                  <a:txBody>
                    <a:bodyPr/>
                    <a:lstStyle/>
                    <a:p>
                      <a:r>
                        <a:rPr kumimoji="1" lang="ja-JP" altLang="en-US" sz="2000" dirty="0"/>
                        <a:t>担当人員及び保全予算の確保。</a:t>
                      </a:r>
                    </a:p>
                  </a:txBody>
                  <a:tcPr anchor="ctr"/>
                </a:tc>
                <a:extLst>
                  <a:ext uri="{0D108BD9-81ED-4DB2-BD59-A6C34878D82A}">
                    <a16:rowId xmlns:a16="http://schemas.microsoft.com/office/drawing/2014/main" val="2806015072"/>
                  </a:ext>
                </a:extLst>
              </a:tr>
              <a:tr h="451297">
                <a:tc>
                  <a:txBody>
                    <a:bodyPr/>
                    <a:lstStyle/>
                    <a:p>
                      <a:pPr algn="ctr"/>
                      <a:r>
                        <a:rPr kumimoji="1" lang="ja-JP" altLang="en-US" sz="2000" dirty="0"/>
                        <a:t>ｄ）</a:t>
                      </a:r>
                    </a:p>
                  </a:txBody>
                  <a:tcPr anchor="ctr"/>
                </a:tc>
                <a:tc>
                  <a:txBody>
                    <a:bodyPr/>
                    <a:lstStyle/>
                    <a:p>
                      <a:r>
                        <a:rPr kumimoji="1" lang="ja-JP" altLang="en-US" sz="2000" dirty="0"/>
                        <a:t>常に使用可能な状態にすること。（保管、包装方法及び保管場所など）</a:t>
                      </a:r>
                    </a:p>
                  </a:txBody>
                  <a:tcPr anchor="ctr"/>
                </a:tc>
                <a:extLst>
                  <a:ext uri="{0D108BD9-81ED-4DB2-BD59-A6C34878D82A}">
                    <a16:rowId xmlns:a16="http://schemas.microsoft.com/office/drawing/2014/main" val="1387764041"/>
                  </a:ext>
                </a:extLst>
              </a:tr>
              <a:tr h="451297">
                <a:tc>
                  <a:txBody>
                    <a:bodyPr/>
                    <a:lstStyle/>
                    <a:p>
                      <a:pPr algn="ctr"/>
                      <a:r>
                        <a:rPr kumimoji="1" lang="ja-JP" altLang="en-US" sz="2000" dirty="0"/>
                        <a:t>ｅ）</a:t>
                      </a:r>
                    </a:p>
                  </a:txBody>
                  <a:tcPr anchor="ctr"/>
                </a:tc>
                <a:tc>
                  <a:txBody>
                    <a:bodyPr/>
                    <a:lstStyle/>
                    <a:p>
                      <a:r>
                        <a:rPr kumimoji="1" lang="ja-JP" altLang="en-US" sz="2000" dirty="0"/>
                        <a:t>保全に関する顧客固有要求事項がある場合。</a:t>
                      </a:r>
                    </a:p>
                  </a:txBody>
                  <a:tcPr anchor="ctr"/>
                </a:tc>
                <a:extLst>
                  <a:ext uri="{0D108BD9-81ED-4DB2-BD59-A6C34878D82A}">
                    <a16:rowId xmlns:a16="http://schemas.microsoft.com/office/drawing/2014/main" val="1220390810"/>
                  </a:ext>
                </a:extLst>
              </a:tr>
              <a:tr h="451297">
                <a:tc>
                  <a:txBody>
                    <a:bodyPr/>
                    <a:lstStyle/>
                    <a:p>
                      <a:pPr algn="ctr"/>
                      <a:r>
                        <a:rPr kumimoji="1" lang="ja-JP" altLang="en-US" sz="2000" dirty="0">
                          <a:solidFill>
                            <a:srgbClr val="FF0000"/>
                          </a:solidFill>
                        </a:rPr>
                        <a:t>ｆ）</a:t>
                      </a:r>
                    </a:p>
                  </a:txBody>
                  <a:tcPr anchor="ctr"/>
                </a:tc>
                <a:tc>
                  <a:txBody>
                    <a:bodyPr/>
                    <a:lstStyle/>
                    <a:p>
                      <a:r>
                        <a:rPr kumimoji="1" lang="ja-JP" altLang="en-US" sz="2000" dirty="0">
                          <a:solidFill>
                            <a:srgbClr val="FF0000"/>
                          </a:solidFill>
                        </a:rPr>
                        <a:t>保全目標を設定する。　</a:t>
                      </a:r>
                      <a:r>
                        <a:rPr kumimoji="1" lang="en-US" altLang="ja-JP" sz="2000" dirty="0">
                          <a:solidFill>
                            <a:srgbClr val="FF0000"/>
                          </a:solidFill>
                        </a:rPr>
                        <a:t>※</a:t>
                      </a:r>
                      <a:r>
                        <a:rPr kumimoji="1" lang="ja-JP" altLang="en-US" sz="2000" dirty="0">
                          <a:solidFill>
                            <a:srgbClr val="FF0000"/>
                          </a:solidFill>
                        </a:rPr>
                        <a:t>例示されているものに固執する必要はない。</a:t>
                      </a:r>
                    </a:p>
                  </a:txBody>
                  <a:tcPr anchor="ctr"/>
                </a:tc>
                <a:extLst>
                  <a:ext uri="{0D108BD9-81ED-4DB2-BD59-A6C34878D82A}">
                    <a16:rowId xmlns:a16="http://schemas.microsoft.com/office/drawing/2014/main" val="1286337127"/>
                  </a:ext>
                </a:extLst>
              </a:tr>
              <a:tr h="451297">
                <a:tc>
                  <a:txBody>
                    <a:bodyPr/>
                    <a:lstStyle/>
                    <a:p>
                      <a:pPr algn="ctr"/>
                      <a:r>
                        <a:rPr kumimoji="1" lang="ja-JP" altLang="en-US" sz="2000" dirty="0">
                          <a:solidFill>
                            <a:srgbClr val="FF0000"/>
                          </a:solidFill>
                        </a:rPr>
                        <a:t>ｇ）</a:t>
                      </a:r>
                    </a:p>
                  </a:txBody>
                  <a:tcPr anchor="ctr"/>
                </a:tc>
                <a:tc>
                  <a:txBody>
                    <a:bodyPr/>
                    <a:lstStyle/>
                    <a:p>
                      <a:r>
                        <a:rPr kumimoji="1" lang="ja-JP" altLang="en-US" sz="2000" dirty="0">
                          <a:solidFill>
                            <a:srgbClr val="FF0000"/>
                          </a:solidFill>
                        </a:rPr>
                        <a:t>保全目標未達成時の対応（是正処置など）を確実にする。</a:t>
                      </a:r>
                    </a:p>
                  </a:txBody>
                  <a:tcPr anchor="ctr"/>
                </a:tc>
                <a:extLst>
                  <a:ext uri="{0D108BD9-81ED-4DB2-BD59-A6C34878D82A}">
                    <a16:rowId xmlns:a16="http://schemas.microsoft.com/office/drawing/2014/main" val="1398117161"/>
                  </a:ext>
                </a:extLst>
              </a:tr>
              <a:tr h="451297">
                <a:tc>
                  <a:txBody>
                    <a:bodyPr/>
                    <a:lstStyle/>
                    <a:p>
                      <a:pPr algn="ctr"/>
                      <a:r>
                        <a:rPr kumimoji="1" lang="ja-JP" altLang="en-US" sz="2000" dirty="0"/>
                        <a:t>ｈ）</a:t>
                      </a:r>
                    </a:p>
                  </a:txBody>
                  <a:tcPr anchor="ctr"/>
                </a:tc>
                <a:tc>
                  <a:txBody>
                    <a:bodyPr/>
                    <a:lstStyle/>
                    <a:p>
                      <a:r>
                        <a:rPr kumimoji="1" lang="ja-JP" altLang="en-US" sz="2000" dirty="0"/>
                        <a:t>年次保全計画など。</a:t>
                      </a:r>
                    </a:p>
                  </a:txBody>
                  <a:tcPr anchor="ctr"/>
                </a:tc>
                <a:extLst>
                  <a:ext uri="{0D108BD9-81ED-4DB2-BD59-A6C34878D82A}">
                    <a16:rowId xmlns:a16="http://schemas.microsoft.com/office/drawing/2014/main" val="914303333"/>
                  </a:ext>
                </a:extLst>
              </a:tr>
              <a:tr h="451297">
                <a:tc>
                  <a:txBody>
                    <a:bodyPr/>
                    <a:lstStyle/>
                    <a:p>
                      <a:pPr algn="ctr"/>
                      <a:r>
                        <a:rPr kumimoji="1" lang="ja-JP" altLang="en-US" sz="2000" dirty="0">
                          <a:solidFill>
                            <a:srgbClr val="FF0000"/>
                          </a:solidFill>
                        </a:rPr>
                        <a:t>ｉ）</a:t>
                      </a:r>
                    </a:p>
                  </a:txBody>
                  <a:tcPr anchor="ctr"/>
                </a:tc>
                <a:tc>
                  <a:txBody>
                    <a:bodyPr/>
                    <a:lstStyle/>
                    <a:p>
                      <a:r>
                        <a:rPr kumimoji="1" lang="ja-JP" altLang="en-US" sz="2000" dirty="0">
                          <a:solidFill>
                            <a:srgbClr val="FF0000"/>
                          </a:solidFill>
                        </a:rPr>
                        <a:t>設備条件のモニタリング結果から、最適な保全のタイミングを見極める。</a:t>
                      </a:r>
                    </a:p>
                  </a:txBody>
                  <a:tcPr anchor="ctr"/>
                </a:tc>
                <a:extLst>
                  <a:ext uri="{0D108BD9-81ED-4DB2-BD59-A6C34878D82A}">
                    <a16:rowId xmlns:a16="http://schemas.microsoft.com/office/drawing/2014/main" val="1124684666"/>
                  </a:ext>
                </a:extLst>
              </a:tr>
              <a:tr h="451297">
                <a:tc>
                  <a:txBody>
                    <a:bodyPr/>
                    <a:lstStyle/>
                    <a:p>
                      <a:pPr algn="ctr"/>
                      <a:r>
                        <a:rPr kumimoji="1" lang="ja-JP" altLang="en-US" sz="2000" dirty="0"/>
                        <a:t>ｊ）</a:t>
                      </a:r>
                    </a:p>
                  </a:txBody>
                  <a:tcPr anchor="ctr"/>
                </a:tc>
                <a:tc>
                  <a:txBody>
                    <a:bodyPr/>
                    <a:lstStyle/>
                    <a:p>
                      <a:r>
                        <a:rPr kumimoji="1" lang="ja-JP" altLang="en-US" sz="2000" dirty="0"/>
                        <a:t>法廷検査を含むメーカー推奨整備など。➡　年次保全計画と関連。</a:t>
                      </a:r>
                    </a:p>
                  </a:txBody>
                  <a:tcPr anchor="ctr"/>
                </a:tc>
                <a:extLst>
                  <a:ext uri="{0D108BD9-81ED-4DB2-BD59-A6C34878D82A}">
                    <a16:rowId xmlns:a16="http://schemas.microsoft.com/office/drawing/2014/main" val="2093673162"/>
                  </a:ext>
                </a:extLst>
              </a:tr>
            </a:tbl>
          </a:graphicData>
        </a:graphic>
      </p:graphicFrame>
    </p:spTree>
    <p:extLst>
      <p:ext uri="{BB962C8B-B14F-4D97-AF65-F5344CB8AC3E}">
        <p14:creationId xmlns:p14="http://schemas.microsoft.com/office/powerpoint/2010/main" val="3578131163"/>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ja-JP" altLang="en-US" sz="2400" dirty="0"/>
              <a:t>保全活動の成熟ステップ。</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fr-FR" altLang="ja-JP" sz="3000" b="1" dirty="0">
                <a:solidFill>
                  <a:schemeClr val="bg1"/>
                </a:solidFill>
              </a:rPr>
              <a:t>8.5.1.5</a:t>
            </a:r>
            <a:r>
              <a:rPr lang="ja-JP" altLang="fr-FR" sz="3000" b="1" dirty="0">
                <a:solidFill>
                  <a:schemeClr val="bg1"/>
                </a:solidFill>
              </a:rPr>
              <a:t>　ＴＰＭ（</a:t>
            </a:r>
            <a:r>
              <a:rPr lang="fr-FR" altLang="ja-JP" sz="3000" b="1" dirty="0">
                <a:solidFill>
                  <a:schemeClr val="bg1"/>
                </a:solidFill>
              </a:rPr>
              <a:t>Total</a:t>
            </a:r>
            <a:r>
              <a:rPr lang="ja-JP" altLang="fr-FR" sz="3000" b="1" dirty="0">
                <a:solidFill>
                  <a:schemeClr val="bg1"/>
                </a:solidFill>
              </a:rPr>
              <a:t>　</a:t>
            </a:r>
            <a:r>
              <a:rPr lang="fr-FR" altLang="ja-JP" sz="3000" b="1" dirty="0">
                <a:solidFill>
                  <a:schemeClr val="bg1"/>
                </a:solidFill>
              </a:rPr>
              <a:t>productive</a:t>
            </a:r>
            <a:r>
              <a:rPr lang="ja-JP" altLang="fr-FR" sz="3000" b="1" dirty="0">
                <a:solidFill>
                  <a:schemeClr val="bg1"/>
                </a:solidFill>
              </a:rPr>
              <a:t>　</a:t>
            </a:r>
            <a:r>
              <a:rPr lang="fr-FR" altLang="ja-JP" sz="3000" b="1" dirty="0">
                <a:solidFill>
                  <a:schemeClr val="bg1"/>
                </a:solidFill>
              </a:rPr>
              <a:t>maintenance</a:t>
            </a:r>
            <a:r>
              <a:rPr lang="ja-JP" altLang="fr-FR" sz="3000" b="1" dirty="0">
                <a:solidFill>
                  <a:schemeClr val="bg1"/>
                </a:solidFill>
              </a:rPr>
              <a:t>）</a:t>
            </a:r>
            <a:endParaRPr kumimoji="1" lang="ja-JP" altLang="en-US" sz="3000" b="1" dirty="0">
              <a:solidFill>
                <a:schemeClr val="bg1"/>
              </a:solidFill>
            </a:endParaRPr>
          </a:p>
        </p:txBody>
      </p:sp>
      <p:graphicFrame>
        <p:nvGraphicFramePr>
          <p:cNvPr id="3" name="表 2">
            <a:extLst>
              <a:ext uri="{FF2B5EF4-FFF2-40B4-BE49-F238E27FC236}">
                <a16:creationId xmlns:a16="http://schemas.microsoft.com/office/drawing/2014/main" id="{9C6FC321-2AC9-43A2-9936-8A3BC65516A7}"/>
              </a:ext>
            </a:extLst>
          </p:cNvPr>
          <p:cNvGraphicFramePr>
            <a:graphicFrameLocks noGrp="1"/>
          </p:cNvGraphicFramePr>
          <p:nvPr>
            <p:extLst>
              <p:ext uri="{D42A27DB-BD31-4B8C-83A1-F6EECF244321}">
                <p14:modId xmlns:p14="http://schemas.microsoft.com/office/powerpoint/2010/main" val="3807248201"/>
              </p:ext>
            </p:extLst>
          </p:nvPr>
        </p:nvGraphicFramePr>
        <p:xfrm>
          <a:off x="838200" y="1865420"/>
          <a:ext cx="10515600" cy="4490931"/>
        </p:xfrm>
        <a:graphic>
          <a:graphicData uri="http://schemas.openxmlformats.org/drawingml/2006/table">
            <a:tbl>
              <a:tblPr firstRow="1" bandRow="1">
                <a:tableStyleId>{5940675A-B579-460E-94D1-54222C63F5DA}</a:tableStyleId>
              </a:tblPr>
              <a:tblGrid>
                <a:gridCol w="1299072">
                  <a:extLst>
                    <a:ext uri="{9D8B030D-6E8A-4147-A177-3AD203B41FA5}">
                      <a16:colId xmlns:a16="http://schemas.microsoft.com/office/drawing/2014/main" val="872544622"/>
                    </a:ext>
                  </a:extLst>
                </a:gridCol>
                <a:gridCol w="1916935">
                  <a:extLst>
                    <a:ext uri="{9D8B030D-6E8A-4147-A177-3AD203B41FA5}">
                      <a16:colId xmlns:a16="http://schemas.microsoft.com/office/drawing/2014/main" val="2164791860"/>
                    </a:ext>
                  </a:extLst>
                </a:gridCol>
                <a:gridCol w="7299593">
                  <a:extLst>
                    <a:ext uri="{9D8B030D-6E8A-4147-A177-3AD203B41FA5}">
                      <a16:colId xmlns:a16="http://schemas.microsoft.com/office/drawing/2014/main" val="3356774099"/>
                    </a:ext>
                  </a:extLst>
                </a:gridCol>
              </a:tblGrid>
              <a:tr h="466341">
                <a:tc>
                  <a:txBody>
                    <a:bodyPr/>
                    <a:lstStyle/>
                    <a:p>
                      <a:pPr algn="ctr"/>
                      <a:r>
                        <a:rPr kumimoji="1" lang="ja-JP" altLang="en-US" sz="1900" dirty="0"/>
                        <a:t>ステップ</a:t>
                      </a:r>
                    </a:p>
                  </a:txBody>
                  <a:tcPr anchor="ctr">
                    <a:solidFill>
                      <a:schemeClr val="tx2">
                        <a:lumMod val="40000"/>
                        <a:lumOff val="60000"/>
                      </a:schemeClr>
                    </a:solidFill>
                  </a:tcPr>
                </a:tc>
                <a:tc>
                  <a:txBody>
                    <a:bodyPr/>
                    <a:lstStyle/>
                    <a:p>
                      <a:pPr algn="ctr"/>
                      <a:r>
                        <a:rPr kumimoji="1" lang="ja-JP" altLang="en-US" sz="1900" dirty="0"/>
                        <a:t>活動</a:t>
                      </a:r>
                    </a:p>
                  </a:txBody>
                  <a:tcPr anchor="ctr">
                    <a:solidFill>
                      <a:schemeClr val="tx2">
                        <a:lumMod val="40000"/>
                        <a:lumOff val="60000"/>
                      </a:schemeClr>
                    </a:solidFill>
                  </a:tcPr>
                </a:tc>
                <a:tc>
                  <a:txBody>
                    <a:bodyPr/>
                    <a:lstStyle/>
                    <a:p>
                      <a:pPr algn="ctr"/>
                      <a:r>
                        <a:rPr kumimoji="1" lang="ja-JP" altLang="en-US" sz="1900" dirty="0"/>
                        <a:t>内容</a:t>
                      </a:r>
                    </a:p>
                  </a:txBody>
                  <a:tcPr anchor="ctr">
                    <a:solidFill>
                      <a:schemeClr val="tx2">
                        <a:lumMod val="40000"/>
                        <a:lumOff val="60000"/>
                      </a:schemeClr>
                    </a:solidFill>
                  </a:tcPr>
                </a:tc>
                <a:extLst>
                  <a:ext uri="{0D108BD9-81ED-4DB2-BD59-A6C34878D82A}">
                    <a16:rowId xmlns:a16="http://schemas.microsoft.com/office/drawing/2014/main" val="2319279518"/>
                  </a:ext>
                </a:extLst>
              </a:tr>
              <a:tr h="804918">
                <a:tc>
                  <a:txBody>
                    <a:bodyPr/>
                    <a:lstStyle/>
                    <a:p>
                      <a:pPr algn="l"/>
                      <a:r>
                        <a:rPr kumimoji="1" lang="ja-JP" altLang="en-US" sz="1900" dirty="0"/>
                        <a:t>１</a:t>
                      </a:r>
                    </a:p>
                  </a:txBody>
                  <a:tcPr>
                    <a:solidFill>
                      <a:schemeClr val="accent4">
                        <a:lumMod val="20000"/>
                        <a:lumOff val="80000"/>
                      </a:schemeClr>
                    </a:solidFill>
                  </a:tcPr>
                </a:tc>
                <a:tc>
                  <a:txBody>
                    <a:bodyPr/>
                    <a:lstStyle/>
                    <a:p>
                      <a:r>
                        <a:rPr kumimoji="1" lang="ja-JP" altLang="en-US" sz="1900" dirty="0"/>
                        <a:t>設備総点検</a:t>
                      </a:r>
                    </a:p>
                  </a:txBody>
                  <a:tcPr>
                    <a:solidFill>
                      <a:schemeClr val="accent4">
                        <a:lumMod val="20000"/>
                        <a:lumOff val="80000"/>
                      </a:schemeClr>
                    </a:solidFill>
                  </a:tcPr>
                </a:tc>
                <a:tc>
                  <a:txBody>
                    <a:bodyPr/>
                    <a:lstStyle/>
                    <a:p>
                      <a:r>
                        <a:rPr kumimoji="1" lang="ja-JP" altLang="en-US" sz="1900" dirty="0"/>
                        <a:t>設備保全管理項目と活動の目標値を設定。</a:t>
                      </a:r>
                      <a:endParaRPr kumimoji="1" lang="en-US" altLang="ja-JP" sz="1900" dirty="0"/>
                    </a:p>
                    <a:p>
                      <a:r>
                        <a:rPr kumimoji="1" lang="ja-JP" altLang="en-US" sz="1900" dirty="0"/>
                        <a:t>・設備管理のランク付け　　・故障の定義づけ</a:t>
                      </a:r>
                    </a:p>
                  </a:txBody>
                  <a:tcPr>
                    <a:solidFill>
                      <a:schemeClr val="accent4">
                        <a:lumMod val="20000"/>
                        <a:lumOff val="80000"/>
                      </a:schemeClr>
                    </a:solidFill>
                  </a:tcPr>
                </a:tc>
                <a:extLst>
                  <a:ext uri="{0D108BD9-81ED-4DB2-BD59-A6C34878D82A}">
                    <a16:rowId xmlns:a16="http://schemas.microsoft.com/office/drawing/2014/main" val="3619578725"/>
                  </a:ext>
                </a:extLst>
              </a:tr>
              <a:tr h="804918">
                <a:tc>
                  <a:txBody>
                    <a:bodyPr/>
                    <a:lstStyle/>
                    <a:p>
                      <a:pPr algn="l"/>
                      <a:r>
                        <a:rPr kumimoji="1" lang="ja-JP" altLang="en-US" sz="1900" dirty="0"/>
                        <a:t>２</a:t>
                      </a:r>
                    </a:p>
                  </a:txBody>
                  <a:tcPr>
                    <a:solidFill>
                      <a:schemeClr val="accent4">
                        <a:lumMod val="20000"/>
                        <a:lumOff val="80000"/>
                      </a:schemeClr>
                    </a:solidFill>
                  </a:tcPr>
                </a:tc>
                <a:tc>
                  <a:txBody>
                    <a:bodyPr/>
                    <a:lstStyle/>
                    <a:p>
                      <a:r>
                        <a:rPr kumimoji="1" lang="ja-JP" altLang="en-US" sz="1900" dirty="0"/>
                        <a:t>故障解析と再発防止策</a:t>
                      </a:r>
                    </a:p>
                  </a:txBody>
                  <a:tcPr>
                    <a:solidFill>
                      <a:schemeClr val="accent4">
                        <a:lumMod val="20000"/>
                        <a:lumOff val="80000"/>
                      </a:schemeClr>
                    </a:solidFill>
                  </a:tcPr>
                </a:tc>
                <a:tc>
                  <a:txBody>
                    <a:bodyPr/>
                    <a:lstStyle/>
                    <a:p>
                      <a:r>
                        <a:rPr kumimoji="1" lang="ja-JP" altLang="en-US" sz="1900" dirty="0"/>
                        <a:t>過去一年間の故障履歴を整理して、故障件数／設備停止時間／現象／処置／原因などを整理する。</a:t>
                      </a:r>
                    </a:p>
                  </a:txBody>
                  <a:tcPr>
                    <a:solidFill>
                      <a:schemeClr val="accent4">
                        <a:lumMod val="20000"/>
                        <a:lumOff val="80000"/>
                      </a:schemeClr>
                    </a:solidFill>
                  </a:tcPr>
                </a:tc>
                <a:extLst>
                  <a:ext uri="{0D108BD9-81ED-4DB2-BD59-A6C34878D82A}">
                    <a16:rowId xmlns:a16="http://schemas.microsoft.com/office/drawing/2014/main" val="2886837423"/>
                  </a:ext>
                </a:extLst>
              </a:tr>
              <a:tr h="804918">
                <a:tc>
                  <a:txBody>
                    <a:bodyPr/>
                    <a:lstStyle/>
                    <a:p>
                      <a:pPr algn="l"/>
                      <a:r>
                        <a:rPr kumimoji="1" lang="ja-JP" altLang="en-US" sz="1900" dirty="0"/>
                        <a:t>３</a:t>
                      </a:r>
                    </a:p>
                  </a:txBody>
                  <a:tcPr>
                    <a:solidFill>
                      <a:schemeClr val="accent4">
                        <a:lumMod val="20000"/>
                        <a:lumOff val="80000"/>
                      </a:schemeClr>
                    </a:solidFill>
                  </a:tcPr>
                </a:tc>
                <a:tc>
                  <a:txBody>
                    <a:bodyPr/>
                    <a:lstStyle/>
                    <a:p>
                      <a:r>
                        <a:rPr kumimoji="1" lang="ja-JP" altLang="en-US" sz="1900" dirty="0"/>
                        <a:t>点検整備基準の作成、実施</a:t>
                      </a:r>
                    </a:p>
                  </a:txBody>
                  <a:tcPr>
                    <a:solidFill>
                      <a:schemeClr val="accent4">
                        <a:lumMod val="20000"/>
                        <a:lumOff val="80000"/>
                      </a:schemeClr>
                    </a:solidFill>
                  </a:tcPr>
                </a:tc>
                <a:tc>
                  <a:txBody>
                    <a:bodyPr/>
                    <a:lstStyle/>
                    <a:p>
                      <a:r>
                        <a:rPr kumimoji="1" lang="ja-JP" altLang="en-US" sz="1900" dirty="0"/>
                        <a:t>ステップ１、２から、専門保全の「点検整備基準」などを作成する。「点検整備基準」に基づき、年間カレンダーなどを作成する。</a:t>
                      </a:r>
                    </a:p>
                  </a:txBody>
                  <a:tcPr>
                    <a:solidFill>
                      <a:schemeClr val="accent4">
                        <a:lumMod val="20000"/>
                        <a:lumOff val="80000"/>
                      </a:schemeClr>
                    </a:solidFill>
                  </a:tcPr>
                </a:tc>
                <a:extLst>
                  <a:ext uri="{0D108BD9-81ED-4DB2-BD59-A6C34878D82A}">
                    <a16:rowId xmlns:a16="http://schemas.microsoft.com/office/drawing/2014/main" val="384817776"/>
                  </a:ext>
                </a:extLst>
              </a:tr>
              <a:tr h="804918">
                <a:tc>
                  <a:txBody>
                    <a:bodyPr/>
                    <a:lstStyle/>
                    <a:p>
                      <a:pPr algn="l"/>
                      <a:r>
                        <a:rPr kumimoji="1" lang="ja-JP" altLang="en-US" sz="1900" dirty="0"/>
                        <a:t>４</a:t>
                      </a:r>
                    </a:p>
                  </a:txBody>
                  <a:tcPr>
                    <a:solidFill>
                      <a:schemeClr val="accent2">
                        <a:lumMod val="20000"/>
                        <a:lumOff val="80000"/>
                      </a:schemeClr>
                    </a:solidFill>
                  </a:tcPr>
                </a:tc>
                <a:tc>
                  <a:txBody>
                    <a:bodyPr/>
                    <a:lstStyle/>
                    <a:p>
                      <a:r>
                        <a:rPr kumimoji="1" lang="ja-JP" altLang="en-US" sz="1900" dirty="0"/>
                        <a:t>予備品管理</a:t>
                      </a:r>
                      <a:endParaRPr kumimoji="1" lang="en-US" altLang="ja-JP" sz="1900" dirty="0"/>
                    </a:p>
                    <a:p>
                      <a:r>
                        <a:rPr kumimoji="1" lang="ja-JP" altLang="en-US" sz="1900" dirty="0"/>
                        <a:t>保全情報管理</a:t>
                      </a:r>
                    </a:p>
                  </a:txBody>
                  <a:tcPr>
                    <a:solidFill>
                      <a:schemeClr val="accent2">
                        <a:lumMod val="20000"/>
                        <a:lumOff val="80000"/>
                      </a:schemeClr>
                    </a:solidFill>
                  </a:tcPr>
                </a:tc>
                <a:tc>
                  <a:txBody>
                    <a:bodyPr/>
                    <a:lstStyle/>
                    <a:p>
                      <a:r>
                        <a:rPr kumimoji="1" lang="ja-JP" altLang="en-US" sz="1900" dirty="0"/>
                        <a:t>既存の予備品を整理整頓し、予備品リストを作成する。予備品の発注方法（頻度、</a:t>
                      </a:r>
                      <a:r>
                        <a:rPr kumimoji="1" lang="en-US" altLang="ja-JP" sz="1900" dirty="0"/>
                        <a:t>LT</a:t>
                      </a:r>
                      <a:r>
                        <a:rPr kumimoji="1" lang="ja-JP" altLang="en-US" sz="1900" dirty="0" err="1"/>
                        <a:t>、</a:t>
                      </a:r>
                      <a:r>
                        <a:rPr kumimoji="1" lang="ja-JP" altLang="en-US" sz="1900" dirty="0"/>
                        <a:t>発注単位など）見直す。</a:t>
                      </a:r>
                    </a:p>
                  </a:txBody>
                  <a:tcPr>
                    <a:solidFill>
                      <a:schemeClr val="accent2">
                        <a:lumMod val="20000"/>
                        <a:lumOff val="80000"/>
                      </a:schemeClr>
                    </a:solidFill>
                  </a:tcPr>
                </a:tc>
                <a:extLst>
                  <a:ext uri="{0D108BD9-81ED-4DB2-BD59-A6C34878D82A}">
                    <a16:rowId xmlns:a16="http://schemas.microsoft.com/office/drawing/2014/main" val="3298466354"/>
                  </a:ext>
                </a:extLst>
              </a:tr>
              <a:tr h="804918">
                <a:tc>
                  <a:txBody>
                    <a:bodyPr/>
                    <a:lstStyle/>
                    <a:p>
                      <a:pPr algn="l"/>
                      <a:r>
                        <a:rPr kumimoji="1" lang="ja-JP" altLang="en-US" sz="1900" dirty="0"/>
                        <a:t>５</a:t>
                      </a:r>
                    </a:p>
                  </a:txBody>
                  <a:tcPr>
                    <a:solidFill>
                      <a:schemeClr val="accent2">
                        <a:lumMod val="20000"/>
                        <a:lumOff val="80000"/>
                      </a:schemeClr>
                    </a:solidFill>
                  </a:tcPr>
                </a:tc>
                <a:tc>
                  <a:txBody>
                    <a:bodyPr/>
                    <a:lstStyle/>
                    <a:p>
                      <a:r>
                        <a:rPr kumimoji="1" lang="ja-JP" altLang="en-US" sz="1900" dirty="0"/>
                        <a:t>設備診断技術の導入</a:t>
                      </a:r>
                    </a:p>
                  </a:txBody>
                  <a:tcPr>
                    <a:solidFill>
                      <a:schemeClr val="accent2">
                        <a:lumMod val="20000"/>
                        <a:lumOff val="80000"/>
                      </a:schemeClr>
                    </a:solidFill>
                  </a:tcPr>
                </a:tc>
                <a:tc>
                  <a:txBody>
                    <a:bodyPr/>
                    <a:lstStyle/>
                    <a:p>
                      <a:r>
                        <a:rPr kumimoji="1" lang="ja-JP" altLang="en-US" sz="1900" dirty="0"/>
                        <a:t>設備診断技術の研究と診断装置の導入を行う。（振動／有効電力／油／</a:t>
                      </a:r>
                      <a:r>
                        <a:rPr kumimoji="1" lang="en-US" altLang="ja-JP" sz="1900" dirty="0"/>
                        <a:t>SPC</a:t>
                      </a:r>
                      <a:r>
                        <a:rPr kumimoji="1" lang="ja-JP" altLang="en-US" sz="1900" dirty="0"/>
                        <a:t>など）</a:t>
                      </a:r>
                    </a:p>
                  </a:txBody>
                  <a:tcPr>
                    <a:solidFill>
                      <a:schemeClr val="accent2">
                        <a:lumMod val="20000"/>
                        <a:lumOff val="80000"/>
                      </a:schemeClr>
                    </a:solidFill>
                  </a:tcPr>
                </a:tc>
                <a:extLst>
                  <a:ext uri="{0D108BD9-81ED-4DB2-BD59-A6C34878D82A}">
                    <a16:rowId xmlns:a16="http://schemas.microsoft.com/office/drawing/2014/main" val="2103197420"/>
                  </a:ext>
                </a:extLst>
              </a:tr>
            </a:tbl>
          </a:graphicData>
        </a:graphic>
      </p:graphicFrame>
      <p:sp>
        <p:nvSpPr>
          <p:cNvPr id="6" name="四角形: 角を丸くする 5">
            <a:extLst>
              <a:ext uri="{FF2B5EF4-FFF2-40B4-BE49-F238E27FC236}">
                <a16:creationId xmlns:a16="http://schemas.microsoft.com/office/drawing/2014/main" id="{9260D24A-D979-4CA3-961F-B41A17C059CA}"/>
              </a:ext>
            </a:extLst>
          </p:cNvPr>
          <p:cNvSpPr/>
          <p:nvPr/>
        </p:nvSpPr>
        <p:spPr>
          <a:xfrm>
            <a:off x="1476261" y="2349346"/>
            <a:ext cx="638978" cy="2376889"/>
          </a:xfrm>
          <a:prstGeom prst="roundRect">
            <a:avLst/>
          </a:prstGeom>
          <a:solidFill>
            <a:schemeClr val="accent4">
              <a:lumMod val="20000"/>
              <a:lumOff val="8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rgbClr val="FF0000"/>
                </a:solidFill>
              </a:rPr>
              <a:t>最低ライン</a:t>
            </a:r>
          </a:p>
        </p:txBody>
      </p:sp>
      <p:sp>
        <p:nvSpPr>
          <p:cNvPr id="10" name="四角形: 角を丸くする 9">
            <a:extLst>
              <a:ext uri="{FF2B5EF4-FFF2-40B4-BE49-F238E27FC236}">
                <a16:creationId xmlns:a16="http://schemas.microsoft.com/office/drawing/2014/main" id="{93152929-89A9-4804-9679-5D3A035F9273}"/>
              </a:ext>
            </a:extLst>
          </p:cNvPr>
          <p:cNvSpPr/>
          <p:nvPr/>
        </p:nvSpPr>
        <p:spPr>
          <a:xfrm>
            <a:off x="1476261" y="4726235"/>
            <a:ext cx="638978" cy="1630115"/>
          </a:xfrm>
          <a:prstGeom prst="roundRect">
            <a:avLst/>
          </a:prstGeom>
          <a:solidFill>
            <a:schemeClr val="accent2">
              <a:lumMod val="20000"/>
              <a:lumOff val="8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rgbClr val="FF0000"/>
                </a:solidFill>
              </a:rPr>
              <a:t>推奨</a:t>
            </a:r>
            <a:r>
              <a:rPr kumimoji="1" lang="ja-JP" altLang="en-US" b="1" dirty="0">
                <a:solidFill>
                  <a:srgbClr val="FF0000"/>
                </a:solidFill>
              </a:rPr>
              <a:t>ライン</a:t>
            </a:r>
          </a:p>
        </p:txBody>
      </p:sp>
      <p:sp>
        <p:nvSpPr>
          <p:cNvPr id="2" name="楕円 1">
            <a:extLst>
              <a:ext uri="{FF2B5EF4-FFF2-40B4-BE49-F238E27FC236}">
                <a16:creationId xmlns:a16="http://schemas.microsoft.com/office/drawing/2014/main" id="{21CEC853-5C55-447D-9769-6775B03D1E24}"/>
              </a:ext>
            </a:extLst>
          </p:cNvPr>
          <p:cNvSpPr/>
          <p:nvPr/>
        </p:nvSpPr>
        <p:spPr>
          <a:xfrm rot="20700000">
            <a:off x="639071" y="4253794"/>
            <a:ext cx="1036320" cy="472440"/>
          </a:xfrm>
          <a:prstGeom prst="ellipse">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予防</a:t>
            </a:r>
          </a:p>
        </p:txBody>
      </p:sp>
      <p:sp>
        <p:nvSpPr>
          <p:cNvPr id="8" name="楕円 7">
            <a:extLst>
              <a:ext uri="{FF2B5EF4-FFF2-40B4-BE49-F238E27FC236}">
                <a16:creationId xmlns:a16="http://schemas.microsoft.com/office/drawing/2014/main" id="{43118917-F2DE-477A-8C79-4F45A3380B00}"/>
              </a:ext>
            </a:extLst>
          </p:cNvPr>
          <p:cNvSpPr/>
          <p:nvPr/>
        </p:nvSpPr>
        <p:spPr>
          <a:xfrm rot="20700000">
            <a:off x="767913" y="5894373"/>
            <a:ext cx="1036320" cy="472440"/>
          </a:xfrm>
          <a:prstGeom prst="ellipse">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予知</a:t>
            </a:r>
          </a:p>
        </p:txBody>
      </p:sp>
    </p:spTree>
    <p:extLst>
      <p:ext uri="{BB962C8B-B14F-4D97-AF65-F5344CB8AC3E}">
        <p14:creationId xmlns:p14="http://schemas.microsoft.com/office/powerpoint/2010/main" val="374489504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262252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b="1" dirty="0"/>
              <a:t>総合設備稼働率＝時間稼働率</a:t>
            </a:r>
            <a:r>
              <a:rPr lang="en-US" altLang="ja-JP" sz="2400" b="1" dirty="0"/>
              <a:t>×</a:t>
            </a:r>
            <a:r>
              <a:rPr lang="ja-JP" altLang="en-US" sz="2400" b="1" dirty="0"/>
              <a:t>速度稼働率</a:t>
            </a:r>
            <a:r>
              <a:rPr lang="en-US" altLang="ja-JP" sz="2400" b="1" dirty="0"/>
              <a:t>×</a:t>
            </a:r>
            <a:r>
              <a:rPr lang="ja-JP" altLang="en-US" sz="2400" b="1" dirty="0"/>
              <a:t>良品率</a:t>
            </a:r>
            <a:endParaRPr lang="en-US" altLang="ja-JP" sz="2400" b="1" dirty="0"/>
          </a:p>
          <a:p>
            <a:pPr lvl="1">
              <a:lnSpc>
                <a:spcPct val="100000"/>
              </a:lnSpc>
            </a:pPr>
            <a:r>
              <a:rPr lang="ja-JP" altLang="en-US" sz="2200" dirty="0"/>
              <a:t>時間稼働率＝（稼働時間－停止時間）</a:t>
            </a:r>
            <a:r>
              <a:rPr lang="en-US" altLang="ja-JP" sz="2200" dirty="0"/>
              <a:t>×100</a:t>
            </a:r>
            <a:r>
              <a:rPr lang="ja-JP" altLang="en-US" sz="2200" dirty="0"/>
              <a:t>／稼働時間</a:t>
            </a:r>
            <a:endParaRPr lang="en-US" altLang="ja-JP" sz="2200" dirty="0"/>
          </a:p>
          <a:p>
            <a:pPr lvl="1">
              <a:lnSpc>
                <a:spcPct val="100000"/>
              </a:lnSpc>
            </a:pPr>
            <a:r>
              <a:rPr lang="ja-JP" altLang="en-US" sz="2200" dirty="0"/>
              <a:t>速度稼働率＝理論サイクルタイム</a:t>
            </a:r>
            <a:r>
              <a:rPr lang="en-US" altLang="ja-JP" sz="2200" dirty="0"/>
              <a:t>×</a:t>
            </a:r>
            <a:r>
              <a:rPr lang="ja-JP" altLang="en-US" sz="2200" dirty="0"/>
              <a:t>出来高</a:t>
            </a:r>
            <a:r>
              <a:rPr lang="en-US" altLang="ja-JP" sz="2200" dirty="0"/>
              <a:t>×100</a:t>
            </a:r>
            <a:r>
              <a:rPr lang="ja-JP" altLang="en-US" sz="2200" dirty="0"/>
              <a:t>／稼働時間</a:t>
            </a:r>
            <a:endParaRPr lang="en-US" altLang="ja-JP" sz="2200" dirty="0"/>
          </a:p>
          <a:p>
            <a:pPr lvl="1">
              <a:lnSpc>
                <a:spcPct val="100000"/>
              </a:lnSpc>
            </a:pPr>
            <a:r>
              <a:rPr lang="ja-JP" altLang="en-US" sz="2200" dirty="0"/>
              <a:t>良品率＝（加工数－不良数）</a:t>
            </a:r>
            <a:r>
              <a:rPr lang="en-US" altLang="ja-JP" sz="2200" dirty="0"/>
              <a:t>×100</a:t>
            </a:r>
            <a:r>
              <a:rPr lang="ja-JP" altLang="en-US" sz="2200" dirty="0"/>
              <a:t>／加工数</a:t>
            </a:r>
            <a:endParaRPr lang="en-US" altLang="ja-JP" sz="2200" dirty="0"/>
          </a:p>
          <a:p>
            <a:pPr marL="0" indent="0">
              <a:lnSpc>
                <a:spcPct val="100000"/>
              </a:lnSpc>
              <a:buNone/>
            </a:pPr>
            <a:r>
              <a:rPr lang="ja-JP" altLang="en-US" sz="2400" b="1" dirty="0"/>
              <a:t>平均故障間隔＝運転時間（期間）／故障回数</a:t>
            </a:r>
            <a:endParaRPr lang="en-US" altLang="ja-JP" sz="2400" b="1" dirty="0"/>
          </a:p>
          <a:p>
            <a:pPr lvl="1">
              <a:lnSpc>
                <a:spcPct val="100000"/>
              </a:lnSpc>
            </a:pPr>
            <a:r>
              <a:rPr lang="en-US" altLang="ja-JP" sz="2200" dirty="0"/>
              <a:t>1</a:t>
            </a:r>
            <a:r>
              <a:rPr lang="ja-JP" altLang="en-US" sz="2200" dirty="0"/>
              <a:t>年（</a:t>
            </a:r>
            <a:r>
              <a:rPr lang="en-US" altLang="ja-JP" sz="2200" dirty="0"/>
              <a:t>12</a:t>
            </a:r>
            <a:r>
              <a:rPr lang="ja-JP" altLang="en-US" sz="2200" dirty="0"/>
              <a:t>ヶ月）で</a:t>
            </a:r>
            <a:r>
              <a:rPr lang="en-US" altLang="ja-JP" sz="2200" dirty="0"/>
              <a:t>5</a:t>
            </a:r>
            <a:r>
              <a:rPr lang="ja-JP" altLang="en-US" sz="2200" dirty="0"/>
              <a:t>回故障すれば　➠　</a:t>
            </a:r>
            <a:r>
              <a:rPr lang="en-US" altLang="ja-JP" sz="2200" dirty="0"/>
              <a:t>12</a:t>
            </a:r>
            <a:r>
              <a:rPr lang="ja-JP" altLang="en-US" sz="2200" dirty="0"/>
              <a:t>／</a:t>
            </a:r>
            <a:r>
              <a:rPr lang="en-US" altLang="ja-JP" sz="2200" dirty="0"/>
              <a:t>5</a:t>
            </a:r>
            <a:r>
              <a:rPr lang="ja-JP" altLang="en-US" sz="2200" dirty="0"/>
              <a:t>＝</a:t>
            </a:r>
            <a:r>
              <a:rPr lang="en-US" altLang="ja-JP" sz="2200" dirty="0"/>
              <a:t>2.4</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fr-FR" altLang="ja-JP" sz="3000" b="1" dirty="0">
                <a:solidFill>
                  <a:schemeClr val="bg1"/>
                </a:solidFill>
              </a:rPr>
              <a:t>8.5.1.5</a:t>
            </a:r>
            <a:r>
              <a:rPr lang="ja-JP" altLang="fr-FR" sz="3000" b="1" dirty="0">
                <a:solidFill>
                  <a:schemeClr val="bg1"/>
                </a:solidFill>
              </a:rPr>
              <a:t>　ＴＰＭ（</a:t>
            </a:r>
            <a:r>
              <a:rPr lang="fr-FR" altLang="ja-JP" sz="3000" b="1" dirty="0">
                <a:solidFill>
                  <a:schemeClr val="bg1"/>
                </a:solidFill>
              </a:rPr>
              <a:t>Total</a:t>
            </a:r>
            <a:r>
              <a:rPr lang="ja-JP" altLang="fr-FR" sz="3000" b="1" dirty="0">
                <a:solidFill>
                  <a:schemeClr val="bg1"/>
                </a:solidFill>
              </a:rPr>
              <a:t>　</a:t>
            </a:r>
            <a:r>
              <a:rPr lang="fr-FR" altLang="ja-JP" sz="3000" b="1" dirty="0">
                <a:solidFill>
                  <a:schemeClr val="bg1"/>
                </a:solidFill>
              </a:rPr>
              <a:t>productive</a:t>
            </a:r>
            <a:r>
              <a:rPr lang="ja-JP" altLang="fr-FR" sz="3000" b="1" dirty="0">
                <a:solidFill>
                  <a:schemeClr val="bg1"/>
                </a:solidFill>
              </a:rPr>
              <a:t>　</a:t>
            </a:r>
            <a:r>
              <a:rPr lang="fr-FR" altLang="ja-JP" sz="3000" b="1" dirty="0">
                <a:solidFill>
                  <a:schemeClr val="bg1"/>
                </a:solidFill>
              </a:rPr>
              <a:t>maintenance</a:t>
            </a:r>
            <a:r>
              <a:rPr lang="ja-JP" altLang="fr-FR" sz="3000" b="1" dirty="0">
                <a:solidFill>
                  <a:schemeClr val="bg1"/>
                </a:solidFill>
              </a:rPr>
              <a:t>）</a:t>
            </a:r>
            <a:endParaRPr kumimoji="1" lang="ja-JP" altLang="en-US" sz="3000" b="1" dirty="0">
              <a:solidFill>
                <a:schemeClr val="bg1"/>
              </a:solidFill>
            </a:endParaRPr>
          </a:p>
        </p:txBody>
      </p:sp>
      <p:sp>
        <p:nvSpPr>
          <p:cNvPr id="3" name="四角形: 角を丸くする 2">
            <a:extLst>
              <a:ext uri="{FF2B5EF4-FFF2-40B4-BE49-F238E27FC236}">
                <a16:creationId xmlns:a16="http://schemas.microsoft.com/office/drawing/2014/main" id="{70DE8C55-3330-4CAE-8A21-AB16BD785F85}"/>
              </a:ext>
            </a:extLst>
          </p:cNvPr>
          <p:cNvSpPr/>
          <p:nvPr/>
        </p:nvSpPr>
        <p:spPr>
          <a:xfrm>
            <a:off x="838200" y="4577605"/>
            <a:ext cx="1487277" cy="985722"/>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rgbClr val="FF0000"/>
                </a:solidFill>
              </a:rPr>
              <a:t>チョコ停のマンネリ化</a:t>
            </a:r>
          </a:p>
        </p:txBody>
      </p:sp>
      <p:sp>
        <p:nvSpPr>
          <p:cNvPr id="8" name="四角形: 角を丸くする 7">
            <a:extLst>
              <a:ext uri="{FF2B5EF4-FFF2-40B4-BE49-F238E27FC236}">
                <a16:creationId xmlns:a16="http://schemas.microsoft.com/office/drawing/2014/main" id="{F50D4A7E-2259-45F5-AA4C-404D55F5043D}"/>
              </a:ext>
            </a:extLst>
          </p:cNvPr>
          <p:cNvSpPr/>
          <p:nvPr/>
        </p:nvSpPr>
        <p:spPr>
          <a:xfrm>
            <a:off x="2610997" y="4244652"/>
            <a:ext cx="6313583" cy="525652"/>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u="sng" dirty="0">
                <a:solidFill>
                  <a:schemeClr val="tx1"/>
                </a:solidFill>
              </a:rPr>
              <a:t>復帰させることが正常作業と錯覚している。</a:t>
            </a:r>
            <a:endParaRPr kumimoji="1" lang="ja-JP" altLang="en-US" u="sng" dirty="0">
              <a:solidFill>
                <a:schemeClr val="tx1"/>
              </a:solidFill>
            </a:endParaRPr>
          </a:p>
        </p:txBody>
      </p:sp>
      <p:cxnSp>
        <p:nvCxnSpPr>
          <p:cNvPr id="10" name="コネクタ: カギ線 9">
            <a:extLst>
              <a:ext uri="{FF2B5EF4-FFF2-40B4-BE49-F238E27FC236}">
                <a16:creationId xmlns:a16="http://schemas.microsoft.com/office/drawing/2014/main" id="{B843BEB4-B5F9-45D1-8859-CD7B14E8DFBA}"/>
              </a:ext>
            </a:extLst>
          </p:cNvPr>
          <p:cNvCxnSpPr>
            <a:cxnSpLocks/>
            <a:stCxn id="8" idx="1"/>
            <a:endCxn id="3" idx="3"/>
          </p:cNvCxnSpPr>
          <p:nvPr/>
        </p:nvCxnSpPr>
        <p:spPr>
          <a:xfrm rot="10800000" flipV="1">
            <a:off x="2325477" y="4507478"/>
            <a:ext cx="285520" cy="562988"/>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四角形: 角を丸くする 12">
            <a:extLst>
              <a:ext uri="{FF2B5EF4-FFF2-40B4-BE49-F238E27FC236}">
                <a16:creationId xmlns:a16="http://schemas.microsoft.com/office/drawing/2014/main" id="{45F3C5AE-A80C-4B46-9B61-D5F8036F34D3}"/>
              </a:ext>
            </a:extLst>
          </p:cNvPr>
          <p:cNvSpPr/>
          <p:nvPr/>
        </p:nvSpPr>
        <p:spPr>
          <a:xfrm>
            <a:off x="2610997" y="5300501"/>
            <a:ext cx="2600900" cy="525652"/>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問題に気付いている。</a:t>
            </a:r>
            <a:endParaRPr kumimoji="1" lang="ja-JP" altLang="en-US" dirty="0">
              <a:solidFill>
                <a:schemeClr val="tx1"/>
              </a:solidFill>
            </a:endParaRPr>
          </a:p>
        </p:txBody>
      </p:sp>
      <p:cxnSp>
        <p:nvCxnSpPr>
          <p:cNvPr id="15" name="コネクタ: カギ線 14">
            <a:extLst>
              <a:ext uri="{FF2B5EF4-FFF2-40B4-BE49-F238E27FC236}">
                <a16:creationId xmlns:a16="http://schemas.microsoft.com/office/drawing/2014/main" id="{F672DBE7-46E8-43A4-BB36-CEE79CF7EF5C}"/>
              </a:ext>
            </a:extLst>
          </p:cNvPr>
          <p:cNvCxnSpPr>
            <a:cxnSpLocks/>
            <a:stCxn id="3" idx="3"/>
            <a:endCxn id="13" idx="1"/>
          </p:cNvCxnSpPr>
          <p:nvPr/>
        </p:nvCxnSpPr>
        <p:spPr>
          <a:xfrm>
            <a:off x="2325477" y="5070466"/>
            <a:ext cx="285520" cy="492861"/>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四角形: 角を丸くする 15">
            <a:extLst>
              <a:ext uri="{FF2B5EF4-FFF2-40B4-BE49-F238E27FC236}">
                <a16:creationId xmlns:a16="http://schemas.microsoft.com/office/drawing/2014/main" id="{EF24A7AA-FF89-4923-A6D6-F4BAC2EA776F}"/>
              </a:ext>
            </a:extLst>
          </p:cNvPr>
          <p:cNvSpPr/>
          <p:nvPr/>
        </p:nvSpPr>
        <p:spPr>
          <a:xfrm>
            <a:off x="5571780" y="4971766"/>
            <a:ext cx="5495581" cy="365125"/>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停止時間が短いので問題にならない。</a:t>
            </a:r>
          </a:p>
        </p:txBody>
      </p:sp>
      <p:sp>
        <p:nvSpPr>
          <p:cNvPr id="19" name="四角形: 角を丸くする 18">
            <a:extLst>
              <a:ext uri="{FF2B5EF4-FFF2-40B4-BE49-F238E27FC236}">
                <a16:creationId xmlns:a16="http://schemas.microsoft.com/office/drawing/2014/main" id="{CD0C11AF-46AA-42B9-A357-E6F4F650C2EF}"/>
              </a:ext>
            </a:extLst>
          </p:cNvPr>
          <p:cNvSpPr/>
          <p:nvPr/>
        </p:nvSpPr>
        <p:spPr>
          <a:xfrm>
            <a:off x="5571778" y="5390902"/>
            <a:ext cx="5495581" cy="365125"/>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対策が浮かばない。対策の効果が出ない。</a:t>
            </a:r>
          </a:p>
        </p:txBody>
      </p:sp>
      <p:sp>
        <p:nvSpPr>
          <p:cNvPr id="20" name="四角形: 角を丸くする 19">
            <a:extLst>
              <a:ext uri="{FF2B5EF4-FFF2-40B4-BE49-F238E27FC236}">
                <a16:creationId xmlns:a16="http://schemas.microsoft.com/office/drawing/2014/main" id="{AF62AA7F-F8CF-4096-9CC2-B1C45512E92D}"/>
              </a:ext>
            </a:extLst>
          </p:cNvPr>
          <p:cNvSpPr/>
          <p:nvPr/>
        </p:nvSpPr>
        <p:spPr>
          <a:xfrm>
            <a:off x="5571779" y="5810039"/>
            <a:ext cx="5495581" cy="365125"/>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あきらめている。（許容している）</a:t>
            </a:r>
          </a:p>
        </p:txBody>
      </p:sp>
      <p:cxnSp>
        <p:nvCxnSpPr>
          <p:cNvPr id="23" name="コネクタ: カギ線 22">
            <a:extLst>
              <a:ext uri="{FF2B5EF4-FFF2-40B4-BE49-F238E27FC236}">
                <a16:creationId xmlns:a16="http://schemas.microsoft.com/office/drawing/2014/main" id="{D4C089FA-8A73-4278-82A3-E3EF2C9C34BB}"/>
              </a:ext>
            </a:extLst>
          </p:cNvPr>
          <p:cNvCxnSpPr>
            <a:stCxn id="16" idx="1"/>
            <a:endCxn id="13" idx="3"/>
          </p:cNvCxnSpPr>
          <p:nvPr/>
        </p:nvCxnSpPr>
        <p:spPr>
          <a:xfrm rot="10800000" flipV="1">
            <a:off x="5211898" y="5154329"/>
            <a:ext cx="359883" cy="408998"/>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コネクタ: カギ線 24">
            <a:extLst>
              <a:ext uri="{FF2B5EF4-FFF2-40B4-BE49-F238E27FC236}">
                <a16:creationId xmlns:a16="http://schemas.microsoft.com/office/drawing/2014/main" id="{AA2D4907-B758-42ED-9C61-BA5A5BC5031E}"/>
              </a:ext>
            </a:extLst>
          </p:cNvPr>
          <p:cNvCxnSpPr>
            <a:stCxn id="19" idx="1"/>
            <a:endCxn id="13" idx="3"/>
          </p:cNvCxnSpPr>
          <p:nvPr/>
        </p:nvCxnSpPr>
        <p:spPr>
          <a:xfrm rot="10800000">
            <a:off x="5211898" y="5563327"/>
            <a:ext cx="359881" cy="10138"/>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9533C9EC-0788-4913-B75B-ACC1F4B5886B}"/>
              </a:ext>
            </a:extLst>
          </p:cNvPr>
          <p:cNvCxnSpPr>
            <a:stCxn id="20" idx="1"/>
            <a:endCxn id="13" idx="3"/>
          </p:cNvCxnSpPr>
          <p:nvPr/>
        </p:nvCxnSpPr>
        <p:spPr>
          <a:xfrm rot="10800000">
            <a:off x="5211897" y="5563328"/>
            <a:ext cx="359882" cy="429275"/>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吹き出し: 角を丸めた四角形 17">
            <a:extLst>
              <a:ext uri="{FF2B5EF4-FFF2-40B4-BE49-F238E27FC236}">
                <a16:creationId xmlns:a16="http://schemas.microsoft.com/office/drawing/2014/main" id="{30EAC597-FB49-468B-B5A7-B80243DC0DF3}"/>
              </a:ext>
            </a:extLst>
          </p:cNvPr>
          <p:cNvSpPr/>
          <p:nvPr/>
        </p:nvSpPr>
        <p:spPr>
          <a:xfrm>
            <a:off x="8596797" y="4082195"/>
            <a:ext cx="1226606" cy="539310"/>
          </a:xfrm>
          <a:prstGeom prst="wedgeRoundRectCallout">
            <a:avLst>
              <a:gd name="adj1" fmla="val -50449"/>
              <a:gd name="adj2" fmla="val 6542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即刻改善</a:t>
            </a:r>
          </a:p>
        </p:txBody>
      </p:sp>
      <p:sp>
        <p:nvSpPr>
          <p:cNvPr id="21" name="吹き出し: 角を丸めた四角形 20">
            <a:extLst>
              <a:ext uri="{FF2B5EF4-FFF2-40B4-BE49-F238E27FC236}">
                <a16:creationId xmlns:a16="http://schemas.microsoft.com/office/drawing/2014/main" id="{DA1870BA-6434-4C30-AE95-93E062226E5F}"/>
              </a:ext>
            </a:extLst>
          </p:cNvPr>
          <p:cNvSpPr/>
          <p:nvPr/>
        </p:nvSpPr>
        <p:spPr>
          <a:xfrm>
            <a:off x="3503270" y="5810039"/>
            <a:ext cx="1226606" cy="539310"/>
          </a:xfrm>
          <a:prstGeom prst="wedgeRoundRectCallout">
            <a:avLst>
              <a:gd name="adj1" fmla="val 45634"/>
              <a:gd name="adj2" fmla="val -6267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今後</a:t>
            </a:r>
            <a:r>
              <a:rPr kumimoji="1" lang="ja-JP" altLang="en-US" dirty="0">
                <a:solidFill>
                  <a:schemeClr val="tx1"/>
                </a:solidFill>
              </a:rPr>
              <a:t>改善</a:t>
            </a:r>
          </a:p>
        </p:txBody>
      </p:sp>
    </p:spTree>
    <p:extLst>
      <p:ext uri="{BB962C8B-B14F-4D97-AF65-F5344CB8AC3E}">
        <p14:creationId xmlns:p14="http://schemas.microsoft.com/office/powerpoint/2010/main" val="4025633453"/>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10000"/>
              </a:lnSpc>
              <a:buNone/>
            </a:pPr>
            <a:r>
              <a:rPr lang="ja-JP" altLang="en-US" sz="2200" dirty="0"/>
              <a:t>☑</a:t>
            </a:r>
            <a:r>
              <a:rPr lang="ja-JP" altLang="en-US" sz="2000" dirty="0"/>
              <a:t>組織は、該当する場合には、必ず、生産及びサービス用材料並びにバルク材のための治工具及びゲージの</a:t>
            </a:r>
            <a:r>
              <a:rPr lang="ja-JP" altLang="en-US" sz="2000" u="sng" dirty="0"/>
              <a:t>設計、製作、及び検証活動に対して資源を提供しなければならない。</a:t>
            </a:r>
            <a:endParaRPr lang="en-US" altLang="ja-JP" sz="2000" u="sng" dirty="0"/>
          </a:p>
          <a:p>
            <a:pPr marL="0" indent="0">
              <a:lnSpc>
                <a:spcPct val="110000"/>
              </a:lnSpc>
              <a:buNone/>
            </a:pPr>
            <a:r>
              <a:rPr lang="ja-JP" altLang="en-US" sz="2000" dirty="0"/>
              <a:t>☑組織は、次の事項を含む、組織所有又は顧客所有の生産治工具であっても、これらの運用管理システムを確立し、実施しなければならない。</a:t>
            </a:r>
            <a:endParaRPr lang="en-US" altLang="ja-JP" sz="2000" dirty="0"/>
          </a:p>
          <a:p>
            <a:pPr marL="800100" lvl="1" indent="-342900">
              <a:lnSpc>
                <a:spcPct val="110000"/>
              </a:lnSpc>
              <a:buFont typeface="+mj-lt"/>
              <a:buAutoNum type="alphaLcPeriod"/>
            </a:pPr>
            <a:r>
              <a:rPr lang="ja-JP" altLang="en-US" sz="2000" u="sng" dirty="0"/>
              <a:t>保全及び修理用施設並びに要員</a:t>
            </a:r>
            <a:endParaRPr lang="en-US" altLang="ja-JP" sz="2000" u="sng" dirty="0"/>
          </a:p>
          <a:p>
            <a:pPr marL="800100" lvl="1" indent="-342900">
              <a:lnSpc>
                <a:spcPct val="110000"/>
              </a:lnSpc>
              <a:buFont typeface="+mj-lt"/>
              <a:buAutoNum type="alphaLcPeriod"/>
            </a:pPr>
            <a:r>
              <a:rPr lang="ja-JP" altLang="en-US" sz="2000" u="sng" dirty="0"/>
              <a:t>保管及び補充</a:t>
            </a:r>
            <a:endParaRPr lang="en-US" altLang="ja-JP" sz="2000" u="sng" dirty="0"/>
          </a:p>
          <a:p>
            <a:pPr marL="800100" lvl="1" indent="-342900">
              <a:lnSpc>
                <a:spcPct val="110000"/>
              </a:lnSpc>
              <a:buFont typeface="+mj-lt"/>
              <a:buAutoNum type="alphaLcPeriod"/>
            </a:pPr>
            <a:r>
              <a:rPr lang="ja-JP" altLang="en-US" sz="2000" u="sng" dirty="0"/>
              <a:t>段取り替え</a:t>
            </a:r>
            <a:endParaRPr lang="en-US" altLang="ja-JP" sz="2000" u="sng" dirty="0"/>
          </a:p>
          <a:p>
            <a:pPr marL="800100" lvl="1" indent="-342900">
              <a:lnSpc>
                <a:spcPct val="110000"/>
              </a:lnSpc>
              <a:buFont typeface="+mj-lt"/>
              <a:buAutoNum type="alphaLcPeriod"/>
            </a:pPr>
            <a:r>
              <a:rPr lang="ja-JP" altLang="en-US" sz="2000" dirty="0"/>
              <a:t>消耗する治工具の</a:t>
            </a:r>
            <a:r>
              <a:rPr lang="ja-JP" altLang="en-US" sz="2000" u="sng" dirty="0"/>
              <a:t>交換プログラム</a:t>
            </a:r>
            <a:endParaRPr lang="en-US" altLang="ja-JP" sz="2000" u="sng" dirty="0"/>
          </a:p>
          <a:p>
            <a:pPr marL="800100" lvl="1" indent="-342900">
              <a:lnSpc>
                <a:spcPct val="100000"/>
              </a:lnSpc>
              <a:buFont typeface="+mj-lt"/>
              <a:buAutoNum type="alphaLcPeriod"/>
            </a:pPr>
            <a:r>
              <a:rPr lang="ja-JP" altLang="en-US" sz="2000" dirty="0"/>
              <a:t>製品の技術変更レベルを含む、</a:t>
            </a:r>
            <a:r>
              <a:rPr lang="ja-JP" altLang="en-US" sz="2000" u="sng" dirty="0"/>
              <a:t>治工具設計変更の文書化</a:t>
            </a:r>
            <a:endParaRPr lang="en-US" altLang="ja-JP" sz="2000" u="sng" dirty="0"/>
          </a:p>
          <a:p>
            <a:pPr marL="800100" lvl="1" indent="-342900">
              <a:lnSpc>
                <a:spcPct val="100000"/>
              </a:lnSpc>
              <a:buFont typeface="+mj-lt"/>
              <a:buAutoNum type="alphaLcPeriod"/>
            </a:pPr>
            <a:r>
              <a:rPr lang="ja-JP" altLang="en-US" sz="2000" u="sng" dirty="0"/>
              <a:t>治工具の改修及び文書の改訂</a:t>
            </a:r>
            <a:endParaRPr lang="en-US" altLang="ja-JP" sz="2000" u="sng" dirty="0"/>
          </a:p>
          <a:p>
            <a:pPr marL="800100" lvl="1" indent="-342900">
              <a:lnSpc>
                <a:spcPct val="100000"/>
              </a:lnSpc>
              <a:buFont typeface="+mj-lt"/>
              <a:buAutoNum type="alphaLcPeriod"/>
            </a:pPr>
            <a:r>
              <a:rPr lang="ja-JP" altLang="en-US" sz="2000" dirty="0"/>
              <a:t>シリアル番号又は資産番号のような、生産中、修理中又は廃却のような状況、所有者及び場所に関する治工具の</a:t>
            </a:r>
            <a:r>
              <a:rPr lang="ja-JP" altLang="en-US" sz="2000" u="sng" dirty="0"/>
              <a:t>識別</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fontScale="90000"/>
          </a:bodyPr>
          <a:lstStyle/>
          <a:p>
            <a:r>
              <a:rPr kumimoji="1" lang="en-US" altLang="ja-JP" sz="3000" b="1" dirty="0">
                <a:solidFill>
                  <a:schemeClr val="tx2"/>
                </a:solidFill>
              </a:rPr>
              <a:t>8.5.1.6</a:t>
            </a:r>
            <a:r>
              <a:rPr kumimoji="1" lang="ja-JP" altLang="en-US" sz="3000" b="1" dirty="0">
                <a:solidFill>
                  <a:schemeClr val="tx2"/>
                </a:solidFill>
              </a:rPr>
              <a:t>　生産治工具並びに製造、試験、検査の治工具及び設備の運用管理</a:t>
            </a:r>
          </a:p>
        </p:txBody>
      </p:sp>
    </p:spTree>
    <p:extLst>
      <p:ext uri="{BB962C8B-B14F-4D97-AF65-F5344CB8AC3E}">
        <p14:creationId xmlns:p14="http://schemas.microsoft.com/office/powerpoint/2010/main" val="2278439353"/>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10000"/>
              </a:lnSpc>
              <a:buNone/>
            </a:pPr>
            <a:r>
              <a:rPr lang="ja-JP" altLang="en-US" sz="2200" dirty="0"/>
              <a:t>☑</a:t>
            </a:r>
            <a:r>
              <a:rPr lang="ja-JP" altLang="en-US" sz="2000" dirty="0"/>
              <a:t>組織は、</a:t>
            </a:r>
            <a:r>
              <a:rPr lang="ja-JP" altLang="en-US" sz="2000" u="sng" dirty="0"/>
              <a:t>顧客所有の治工具、製造設備及び試験／検査設備に</a:t>
            </a:r>
            <a:r>
              <a:rPr lang="ja-JP" altLang="en-US" sz="2000" dirty="0"/>
              <a:t>、所有権及び各品目の適用が明確になるように、見やすい位置に</a:t>
            </a:r>
            <a:r>
              <a:rPr lang="ja-JP" altLang="en-US" sz="2000" u="sng" dirty="0"/>
              <a:t>恒久的マークが付いている</a:t>
            </a:r>
            <a:r>
              <a:rPr lang="ja-JP" altLang="en-US" sz="2000" dirty="0"/>
              <a:t>ことを検証しなければならない。</a:t>
            </a:r>
            <a:endParaRPr lang="en-US" altLang="ja-JP" sz="2000" dirty="0"/>
          </a:p>
          <a:p>
            <a:pPr marL="0" indent="0">
              <a:lnSpc>
                <a:spcPct val="110000"/>
              </a:lnSpc>
              <a:buNone/>
            </a:pPr>
            <a:r>
              <a:rPr lang="ja-JP" altLang="en-US" sz="2000" dirty="0"/>
              <a:t>☑組織は、作業がアウトソースされる場合、これらの活動を監視するシステムを実施しなければならない。</a:t>
            </a:r>
          </a:p>
          <a:p>
            <a:pPr marL="0" indent="0">
              <a:lnSpc>
                <a:spcPct val="11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fontScale="90000"/>
          </a:bodyPr>
          <a:lstStyle/>
          <a:p>
            <a:r>
              <a:rPr kumimoji="1" lang="en-US" altLang="ja-JP" sz="3000" b="1" dirty="0">
                <a:solidFill>
                  <a:schemeClr val="tx2"/>
                </a:solidFill>
              </a:rPr>
              <a:t>8.5.1.6</a:t>
            </a:r>
            <a:r>
              <a:rPr kumimoji="1" lang="ja-JP" altLang="en-US" sz="3000" b="1" dirty="0">
                <a:solidFill>
                  <a:schemeClr val="tx2"/>
                </a:solidFill>
              </a:rPr>
              <a:t>　生産治工具並びに製造、試験、検査の治工具及び設備の運用管理</a:t>
            </a:r>
          </a:p>
        </p:txBody>
      </p:sp>
    </p:spTree>
    <p:extLst>
      <p:ext uri="{BB962C8B-B14F-4D97-AF65-F5344CB8AC3E}">
        <p14:creationId xmlns:p14="http://schemas.microsoft.com/office/powerpoint/2010/main" val="3449890741"/>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ja-JP" altLang="en-US" sz="2400" dirty="0"/>
              <a:t>運用管理の要点。</a:t>
            </a: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endParaRPr lang="en-US" altLang="ja-JP" sz="2400" dirty="0"/>
          </a:p>
          <a:p>
            <a:pPr marL="514350" indent="-514350">
              <a:lnSpc>
                <a:spcPct val="100000"/>
              </a:lnSpc>
              <a:buFont typeface="+mj-lt"/>
              <a:buAutoNum type="arabicPeriod"/>
            </a:pPr>
            <a:r>
              <a:rPr lang="ja-JP" altLang="en-US" sz="2400" dirty="0"/>
              <a:t>“見やすい位置の恒久的マーク”　は保管及び取扱い時の識別のため。</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fontScale="90000"/>
          </a:bodyPr>
          <a:lstStyle/>
          <a:p>
            <a:r>
              <a:rPr lang="en-US" altLang="ja-JP" sz="3000" b="1" dirty="0">
                <a:solidFill>
                  <a:schemeClr val="bg1"/>
                </a:solidFill>
              </a:rPr>
              <a:t>8.5.1.6</a:t>
            </a:r>
            <a:r>
              <a:rPr lang="ja-JP" altLang="en-US" sz="3000" b="1" dirty="0">
                <a:solidFill>
                  <a:schemeClr val="bg1"/>
                </a:solidFill>
              </a:rPr>
              <a:t>　生産治工具並びに製造、試験、検査の治工具及び設備の運用管理</a:t>
            </a:r>
            <a:endParaRPr kumimoji="1" lang="ja-JP" altLang="en-US" sz="3000" b="1" dirty="0">
              <a:solidFill>
                <a:schemeClr val="bg1"/>
              </a:solidFill>
            </a:endParaRPr>
          </a:p>
        </p:txBody>
      </p:sp>
      <p:graphicFrame>
        <p:nvGraphicFramePr>
          <p:cNvPr id="2" name="表 2">
            <a:extLst>
              <a:ext uri="{FF2B5EF4-FFF2-40B4-BE49-F238E27FC236}">
                <a16:creationId xmlns:a16="http://schemas.microsoft.com/office/drawing/2014/main" id="{4005885D-4625-4295-9495-B0E81A01A29E}"/>
              </a:ext>
            </a:extLst>
          </p:cNvPr>
          <p:cNvGraphicFramePr>
            <a:graphicFrameLocks noGrp="1"/>
          </p:cNvGraphicFramePr>
          <p:nvPr>
            <p:extLst>
              <p:ext uri="{D42A27DB-BD31-4B8C-83A1-F6EECF244321}">
                <p14:modId xmlns:p14="http://schemas.microsoft.com/office/powerpoint/2010/main" val="1171526052"/>
              </p:ext>
            </p:extLst>
          </p:nvPr>
        </p:nvGraphicFramePr>
        <p:xfrm>
          <a:off x="838200" y="1888066"/>
          <a:ext cx="10515600" cy="3322320"/>
        </p:xfrm>
        <a:graphic>
          <a:graphicData uri="http://schemas.openxmlformats.org/drawingml/2006/table">
            <a:tbl>
              <a:tblPr firstRow="1" bandRow="1">
                <a:tableStyleId>{5940675A-B579-460E-94D1-54222C63F5DA}</a:tableStyleId>
              </a:tblPr>
              <a:tblGrid>
                <a:gridCol w="919480">
                  <a:extLst>
                    <a:ext uri="{9D8B030D-6E8A-4147-A177-3AD203B41FA5}">
                      <a16:colId xmlns:a16="http://schemas.microsoft.com/office/drawing/2014/main" val="878841796"/>
                    </a:ext>
                  </a:extLst>
                </a:gridCol>
                <a:gridCol w="9596120">
                  <a:extLst>
                    <a:ext uri="{9D8B030D-6E8A-4147-A177-3AD203B41FA5}">
                      <a16:colId xmlns:a16="http://schemas.microsoft.com/office/drawing/2014/main" val="2910170201"/>
                    </a:ext>
                  </a:extLst>
                </a:gridCol>
              </a:tblGrid>
              <a:tr h="370840">
                <a:tc>
                  <a:txBody>
                    <a:bodyPr/>
                    <a:lstStyle/>
                    <a:p>
                      <a:pPr algn="ctr"/>
                      <a:r>
                        <a:rPr kumimoji="1" lang="ja-JP" altLang="en-US" sz="2200" dirty="0"/>
                        <a:t>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設備及び治工具の高度化により、要員の力量管理が必要な場合も。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6891520"/>
                  </a:ext>
                </a:extLst>
              </a:tr>
              <a:tr h="370840">
                <a:tc>
                  <a:txBody>
                    <a:bodyPr/>
                    <a:lstStyle/>
                    <a:p>
                      <a:pPr algn="ctr"/>
                      <a:r>
                        <a:rPr kumimoji="1" lang="ja-JP" altLang="en-US" sz="2200" dirty="0"/>
                        <a:t>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交換用部品の保管と補充（適正在庫と入出庫管理）の手順。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5335444"/>
                  </a:ext>
                </a:extLst>
              </a:tr>
              <a:tr h="370840">
                <a:tc>
                  <a:txBody>
                    <a:bodyPr/>
                    <a:lstStyle/>
                    <a:p>
                      <a:pPr algn="ctr"/>
                      <a:r>
                        <a:rPr kumimoji="1" lang="ja-JP" altLang="en-US" sz="2200" dirty="0"/>
                        <a:t>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治工具の段取り替えに関する手順を定める。全てのシフトで実施できること。</a:t>
                      </a:r>
                      <a:r>
                        <a:rPr kumimoji="1" lang="ja-JP" altLang="en-US" sz="2200" dirty="0">
                          <a:solidFill>
                            <a:srgbClr val="FF0000"/>
                          </a:solidFill>
                          <a:effectLst>
                            <a:outerShdw blurRad="38100" dist="38100" dir="2700000" algn="tl">
                              <a:srgbClr val="000000">
                                <a:alpha val="43137"/>
                              </a:srgbClr>
                            </a:outerShdw>
                          </a:effectLst>
                        </a:rPr>
                        <a:t>（</a:t>
                      </a:r>
                      <a:r>
                        <a:rPr kumimoji="1" lang="en-US" altLang="ja-JP" sz="2200" dirty="0">
                          <a:solidFill>
                            <a:srgbClr val="FF0000"/>
                          </a:solidFill>
                          <a:effectLst>
                            <a:outerShdw blurRad="38100" dist="38100" dir="2700000" algn="tl">
                              <a:srgbClr val="000000">
                                <a:alpha val="43137"/>
                              </a:srgbClr>
                            </a:outerShdw>
                          </a:effectLst>
                        </a:rPr>
                        <a:t>8.5.1.6</a:t>
                      </a:r>
                      <a:r>
                        <a:rPr kumimoji="1" lang="ja-JP" altLang="en-US" sz="2200" dirty="0">
                          <a:solidFill>
                            <a:srgbClr val="FF0000"/>
                          </a:solidFill>
                          <a:effectLst>
                            <a:outerShdw blurRad="38100" dist="38100" dir="2700000" algn="tl">
                              <a:srgbClr val="000000">
                                <a:alpha val="43137"/>
                              </a:srgbClr>
                            </a:outerShdw>
                          </a:effectLst>
                        </a:rPr>
                        <a:t>で段取り替え➠</a:t>
                      </a:r>
                      <a:r>
                        <a:rPr kumimoji="1" lang="en-US" altLang="ja-JP" sz="2200" dirty="0">
                          <a:solidFill>
                            <a:srgbClr val="FF0000"/>
                          </a:solidFill>
                          <a:effectLst>
                            <a:outerShdw blurRad="38100" dist="38100" dir="2700000" algn="tl">
                              <a:srgbClr val="000000">
                                <a:alpha val="43137"/>
                              </a:srgbClr>
                            </a:outerShdw>
                          </a:effectLst>
                        </a:rPr>
                        <a:t>8.5.1.3</a:t>
                      </a:r>
                      <a:r>
                        <a:rPr kumimoji="1" lang="ja-JP" altLang="en-US" sz="2200" dirty="0">
                          <a:solidFill>
                            <a:srgbClr val="FF0000"/>
                          </a:solidFill>
                          <a:effectLst>
                            <a:outerShdw blurRad="38100" dist="38100" dir="2700000" algn="tl">
                              <a:srgbClr val="000000">
                                <a:alpha val="43137"/>
                              </a:srgbClr>
                            </a:outerShdw>
                          </a:effectLst>
                        </a:rPr>
                        <a:t>で検証）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5053776"/>
                  </a:ext>
                </a:extLst>
              </a:tr>
              <a:tr h="370840">
                <a:tc>
                  <a:txBody>
                    <a:bodyPr/>
                    <a:lstStyle/>
                    <a:p>
                      <a:pPr algn="ctr"/>
                      <a:r>
                        <a:rPr kumimoji="1" lang="ja-JP" altLang="en-US" sz="2200" dirty="0"/>
                        <a:t>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消耗治工具の消耗度合いに関する交換手順。（金型ショット数管理など）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902331"/>
                  </a:ext>
                </a:extLst>
              </a:tr>
              <a:tr h="370840">
                <a:tc>
                  <a:txBody>
                    <a:bodyPr/>
                    <a:lstStyle/>
                    <a:p>
                      <a:pPr algn="ctr"/>
                      <a:r>
                        <a:rPr kumimoji="1" lang="ja-JP" altLang="en-US" sz="2200" dirty="0"/>
                        <a:t>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治工具の仕様（設計）変更時の管理（</a:t>
                      </a:r>
                      <a:r>
                        <a:rPr kumimoji="1" lang="en-US" altLang="ja-JP" sz="2200" dirty="0"/>
                        <a:t>8.5.6</a:t>
                      </a:r>
                      <a:r>
                        <a:rPr kumimoji="1" lang="ja-JP" altLang="en-US" sz="2200" dirty="0"/>
                        <a:t>による）。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646957"/>
                  </a:ext>
                </a:extLst>
              </a:tr>
              <a:tr h="370840">
                <a:tc>
                  <a:txBody>
                    <a:bodyPr/>
                    <a:lstStyle/>
                    <a:p>
                      <a:pPr algn="ctr"/>
                      <a:r>
                        <a:rPr kumimoji="1" lang="ja-JP" altLang="en-US" sz="2200" dirty="0"/>
                        <a:t>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ｅを含めた関連文書の改定管理。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665250"/>
                  </a:ext>
                </a:extLst>
              </a:tr>
              <a:tr h="370840">
                <a:tc>
                  <a:txBody>
                    <a:bodyPr/>
                    <a:lstStyle/>
                    <a:p>
                      <a:pPr algn="ctr"/>
                      <a:r>
                        <a:rPr kumimoji="1" lang="ja-JP" altLang="en-US" sz="2200" dirty="0"/>
                        <a:t>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どの治工具がどの状態かを管理する識別方法。（稼働中／点検中など）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824654"/>
                  </a:ext>
                </a:extLst>
              </a:tr>
            </a:tbl>
          </a:graphicData>
        </a:graphic>
      </p:graphicFrame>
    </p:spTree>
    <p:extLst>
      <p:ext uri="{BB962C8B-B14F-4D97-AF65-F5344CB8AC3E}">
        <p14:creationId xmlns:p14="http://schemas.microsoft.com/office/powerpoint/2010/main" val="3902081335"/>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47730"/>
            <a:ext cx="10515600" cy="2580051"/>
          </a:xfrm>
          <a:ln w="12700">
            <a:solidFill>
              <a:schemeClr val="tx2"/>
            </a:solidFill>
          </a:ln>
        </p:spPr>
        <p:txBody>
          <a:bodyPr>
            <a:normAutofit/>
          </a:bodyPr>
          <a:lstStyle/>
          <a:p>
            <a:pPr marL="0" indent="0">
              <a:lnSpc>
                <a:spcPct val="110000"/>
              </a:lnSpc>
              <a:buNone/>
            </a:pPr>
            <a:r>
              <a:rPr lang="ja-JP" altLang="en-US" sz="2000" dirty="0"/>
              <a:t>☑</a:t>
            </a:r>
            <a:r>
              <a:rPr lang="ja-JP" altLang="en-US" sz="1900" dirty="0"/>
              <a:t>組織は、</a:t>
            </a:r>
            <a:r>
              <a:rPr lang="ja-JP" altLang="en-US" sz="1900" u="sng" dirty="0"/>
              <a:t>ジャストインタイム（</a:t>
            </a:r>
            <a:r>
              <a:rPr lang="en-US" altLang="ja-JP" sz="1900" u="sng" dirty="0"/>
              <a:t>JIT</a:t>
            </a:r>
            <a:r>
              <a:rPr lang="ja-JP" altLang="en-US" sz="1900" u="sng" dirty="0"/>
              <a:t>）のような顧客の注文／需要を満たすために生産が計画されている</a:t>
            </a:r>
            <a:r>
              <a:rPr lang="ja-JP" altLang="en-US" sz="1900" dirty="0"/>
              <a:t>こと及び</a:t>
            </a:r>
            <a:r>
              <a:rPr lang="ja-JP" altLang="en-US" sz="1900" u="sng" dirty="0"/>
              <a:t>工程の重要なところで生産情報にアクセスできる</a:t>
            </a:r>
            <a:r>
              <a:rPr lang="ja-JP" altLang="en-US" sz="1900" dirty="0"/>
              <a:t>ようにする情報システムによってサポートされていること、並びに</a:t>
            </a:r>
            <a:r>
              <a:rPr lang="ja-JP" altLang="en-US" sz="1900" u="sng" dirty="0"/>
              <a:t>発注・受注を中心とされている</a:t>
            </a:r>
            <a:r>
              <a:rPr lang="ja-JP" altLang="en-US" sz="1900" dirty="0"/>
              <a:t>ことを確実にしなければならない。</a:t>
            </a:r>
            <a:endParaRPr lang="en-US" altLang="ja-JP" sz="1900" dirty="0"/>
          </a:p>
          <a:p>
            <a:pPr marL="0" indent="0">
              <a:lnSpc>
                <a:spcPct val="110000"/>
              </a:lnSpc>
              <a:buNone/>
            </a:pPr>
            <a:r>
              <a:rPr lang="ja-JP" altLang="en-US" sz="1900" dirty="0"/>
              <a:t>☑組織は、生産計画中に、関連する計画情報、例えば、顧客注文、供給者オンタイム納入パフォーマンス、生産能力、共通の負荷（複数部品加工場）、リードタイム、在庫レベル、予防保全及び校正を含めなければならない。</a:t>
            </a:r>
          </a:p>
          <a:p>
            <a:pPr marL="0" indent="0">
              <a:lnSpc>
                <a:spcPct val="100000"/>
              </a:lnSpc>
              <a:buNone/>
            </a:pPr>
            <a:endParaRPr lang="ja-JP" altLang="en-US" sz="2000" dirty="0"/>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8.5.1.7</a:t>
            </a:r>
            <a:r>
              <a:rPr kumimoji="1" lang="ja-JP" altLang="en-US" sz="3000" b="1" dirty="0">
                <a:solidFill>
                  <a:schemeClr val="tx2"/>
                </a:solidFill>
              </a:rPr>
              <a:t>　生産計画</a:t>
            </a:r>
          </a:p>
        </p:txBody>
      </p:sp>
      <p:sp>
        <p:nvSpPr>
          <p:cNvPr id="6" name="タイトル 1">
            <a:extLst>
              <a:ext uri="{FF2B5EF4-FFF2-40B4-BE49-F238E27FC236}">
                <a16:creationId xmlns:a16="http://schemas.microsoft.com/office/drawing/2014/main" id="{19AA7312-B7E9-4392-A662-4A96A47C13BD}"/>
              </a:ext>
            </a:extLst>
          </p:cNvPr>
          <p:cNvSpPr txBox="1">
            <a:spLocks/>
          </p:cNvSpPr>
          <p:nvPr/>
        </p:nvSpPr>
        <p:spPr>
          <a:xfrm>
            <a:off x="838200" y="4064822"/>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8.5.1.7</a:t>
            </a:r>
            <a:r>
              <a:rPr lang="ja-JP" altLang="en-US" sz="3000" b="1" dirty="0">
                <a:solidFill>
                  <a:schemeClr val="bg1"/>
                </a:solidFill>
              </a:rPr>
              <a:t>　生産計画</a:t>
            </a:r>
          </a:p>
        </p:txBody>
      </p:sp>
      <p:sp>
        <p:nvSpPr>
          <p:cNvPr id="7" name="コンテンツ プレースホルダー 2">
            <a:extLst>
              <a:ext uri="{FF2B5EF4-FFF2-40B4-BE49-F238E27FC236}">
                <a16:creationId xmlns:a16="http://schemas.microsoft.com/office/drawing/2014/main" id="{376253BE-1CAC-4CCF-984A-8C801D6DE570}"/>
              </a:ext>
            </a:extLst>
          </p:cNvPr>
          <p:cNvSpPr txBox="1">
            <a:spLocks/>
          </p:cNvSpPr>
          <p:nvPr/>
        </p:nvSpPr>
        <p:spPr>
          <a:xfrm>
            <a:off x="838200" y="5055937"/>
            <a:ext cx="10515600" cy="1300413"/>
          </a:xfrm>
          <a:prstGeom prst="rect">
            <a:avLst/>
          </a:prstGeom>
          <a:ln w="12700">
            <a:solidFill>
              <a:schemeClr val="tx2"/>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10000"/>
              </a:lnSpc>
              <a:buFont typeface="+mj-lt"/>
              <a:buAutoNum type="arabicPeriod"/>
            </a:pPr>
            <a:r>
              <a:rPr lang="ja-JP" altLang="en-US" sz="2400" dirty="0"/>
              <a:t>“ごく当たり前”の「生産管理」を行うこと。</a:t>
            </a:r>
            <a:endParaRPr lang="en-US" altLang="ja-JP" sz="2400" dirty="0"/>
          </a:p>
          <a:p>
            <a:pPr lvl="1">
              <a:lnSpc>
                <a:spcPct val="110000"/>
              </a:lnSpc>
              <a:buFont typeface="Wingdings" panose="05000000000000000000" pitchFamily="2" charset="2"/>
              <a:buChar char="Ø"/>
            </a:pPr>
            <a:r>
              <a:rPr lang="ja-JP" altLang="en-US" dirty="0"/>
              <a:t>自動車産業では、</a:t>
            </a:r>
            <a:r>
              <a:rPr lang="en-US" altLang="ja-JP" dirty="0"/>
              <a:t>JIT</a:t>
            </a:r>
            <a:r>
              <a:rPr lang="ja-JP" altLang="en-US" dirty="0"/>
              <a:t>生産（オンラインシステム／かんばんなど）は必須。</a:t>
            </a:r>
            <a:endParaRPr lang="en-US" altLang="ja-JP" dirty="0"/>
          </a:p>
          <a:p>
            <a:pPr lvl="1">
              <a:lnSpc>
                <a:spcPct val="110000"/>
              </a:lnSpc>
              <a:buFont typeface="Wingdings" panose="05000000000000000000" pitchFamily="2" charset="2"/>
              <a:buChar char="Ø"/>
            </a:pPr>
            <a:r>
              <a:rPr lang="ja-JP" altLang="en-US" dirty="0"/>
              <a:t>生産情報へのアクセスは、完成品出荷情報のみではなく、部品調達～半製品加工など</a:t>
            </a:r>
            <a:r>
              <a:rPr lang="ja-JP" altLang="en-US" dirty="0">
                <a:solidFill>
                  <a:srgbClr val="FF0000"/>
                </a:solidFill>
                <a:effectLst>
                  <a:outerShdw blurRad="38100" dist="38100" dir="2700000" algn="tl">
                    <a:srgbClr val="000000">
                      <a:alpha val="43137"/>
                    </a:srgbClr>
                  </a:outerShdw>
                </a:effectLst>
              </a:rPr>
              <a:t>全ての生産情報を把握する</a:t>
            </a:r>
            <a:r>
              <a:rPr lang="ja-JP" altLang="en-US" dirty="0"/>
              <a:t>ということ。</a:t>
            </a:r>
          </a:p>
        </p:txBody>
      </p:sp>
    </p:spTree>
    <p:extLst>
      <p:ext uri="{BB962C8B-B14F-4D97-AF65-F5344CB8AC3E}">
        <p14:creationId xmlns:p14="http://schemas.microsoft.com/office/powerpoint/2010/main" val="1410749111"/>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46412"/>
            <a:ext cx="10515600" cy="1410643"/>
          </a:xfrm>
          <a:ln w="12700">
            <a:solidFill>
              <a:schemeClr val="tx2"/>
            </a:solidFill>
          </a:ln>
        </p:spPr>
        <p:txBody>
          <a:bodyPr>
            <a:normAutofit/>
          </a:bodyPr>
          <a:lstStyle/>
          <a:p>
            <a:pPr marL="0" indent="0">
              <a:lnSpc>
                <a:spcPct val="110000"/>
              </a:lnSpc>
              <a:buNone/>
            </a:pPr>
            <a:r>
              <a:rPr lang="ja-JP" altLang="en-US" sz="2000" u="sng" dirty="0"/>
              <a:t>検査及び試験の状態は</a:t>
            </a:r>
            <a:r>
              <a:rPr lang="ja-JP" altLang="en-US" sz="2000" dirty="0"/>
              <a:t>、自動化された製造搬送工程中の材料のように本質的に明確である場合を除き、</a:t>
            </a:r>
            <a:r>
              <a:rPr lang="ja-JP" altLang="en-US" sz="2000" u="sng" dirty="0"/>
              <a:t>生産フローにおける製品の位置によっては示されない。</a:t>
            </a:r>
            <a:r>
              <a:rPr lang="ja-JP" altLang="en-US" sz="2000" dirty="0"/>
              <a:t>状態が明確に識別され、文書化され、規定された目的を達成するならば、代替手段が認められる。</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8.5.2</a:t>
            </a:r>
            <a:r>
              <a:rPr kumimoji="1" lang="ja-JP" altLang="en-US" sz="3000" b="1" dirty="0">
                <a:solidFill>
                  <a:schemeClr val="tx2"/>
                </a:solidFill>
              </a:rPr>
              <a:t>　（注記）</a:t>
            </a:r>
          </a:p>
        </p:txBody>
      </p:sp>
      <p:sp>
        <p:nvSpPr>
          <p:cNvPr id="6" name="タイトル 1">
            <a:extLst>
              <a:ext uri="{FF2B5EF4-FFF2-40B4-BE49-F238E27FC236}">
                <a16:creationId xmlns:a16="http://schemas.microsoft.com/office/drawing/2014/main" id="{984606B0-6AEA-4488-AE89-C977822B97CF}"/>
              </a:ext>
            </a:extLst>
          </p:cNvPr>
          <p:cNvSpPr txBox="1">
            <a:spLocks/>
          </p:cNvSpPr>
          <p:nvPr/>
        </p:nvSpPr>
        <p:spPr>
          <a:xfrm>
            <a:off x="838200" y="303126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8.5.2</a:t>
            </a:r>
            <a:r>
              <a:rPr lang="ja-JP" altLang="en-US" sz="3000" b="1" dirty="0">
                <a:solidFill>
                  <a:schemeClr val="bg1"/>
                </a:solidFill>
              </a:rPr>
              <a:t>　（注記）</a:t>
            </a:r>
          </a:p>
        </p:txBody>
      </p:sp>
      <p:sp>
        <p:nvSpPr>
          <p:cNvPr id="7" name="コンテンツ プレースホルダー 2">
            <a:extLst>
              <a:ext uri="{FF2B5EF4-FFF2-40B4-BE49-F238E27FC236}">
                <a16:creationId xmlns:a16="http://schemas.microsoft.com/office/drawing/2014/main" id="{BE62B0F7-F505-4897-B5F7-18855792EB98}"/>
              </a:ext>
            </a:extLst>
          </p:cNvPr>
          <p:cNvSpPr txBox="1">
            <a:spLocks/>
          </p:cNvSpPr>
          <p:nvPr/>
        </p:nvSpPr>
        <p:spPr>
          <a:xfrm>
            <a:off x="838200" y="4017819"/>
            <a:ext cx="10515600" cy="233853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400" dirty="0"/>
              <a:t>検査完了品か否かは、自動化ラインなどは場所で識別されるが、通常は、置かれている場所でへの識別はＮＧ。</a:t>
            </a:r>
            <a:r>
              <a:rPr lang="ja-JP" altLang="en-US" sz="2400" dirty="0">
                <a:solidFill>
                  <a:srgbClr val="FF0000"/>
                </a:solidFill>
                <a:effectLst>
                  <a:outerShdw blurRad="38100" dist="38100" dir="2700000" algn="tl">
                    <a:srgbClr val="000000">
                      <a:alpha val="43137"/>
                    </a:srgbClr>
                  </a:outerShdw>
                </a:effectLst>
              </a:rPr>
              <a:t>識別のための何らかの　“表示”　</a:t>
            </a:r>
            <a:r>
              <a:rPr lang="ja-JP" altLang="en-US" sz="2400" dirty="0"/>
              <a:t>（代替手段）を行うべき。</a:t>
            </a:r>
            <a:endParaRPr lang="en-US" altLang="ja-JP" sz="2400" dirty="0"/>
          </a:p>
          <a:p>
            <a:pPr lvl="1">
              <a:lnSpc>
                <a:spcPct val="110000"/>
              </a:lnSpc>
              <a:buFont typeface="Wingdings" panose="05000000000000000000" pitchFamily="2" charset="2"/>
              <a:buChar char="Ø"/>
            </a:pPr>
            <a:r>
              <a:rPr lang="ja-JP" altLang="en-US" dirty="0"/>
              <a:t>これは当然のことで、製造現場で何らかの　“表示”　がないことはあり得ない。</a:t>
            </a:r>
          </a:p>
        </p:txBody>
      </p:sp>
    </p:spTree>
    <p:extLst>
      <p:ext uri="{BB962C8B-B14F-4D97-AF65-F5344CB8AC3E}">
        <p14:creationId xmlns:p14="http://schemas.microsoft.com/office/powerpoint/2010/main" val="4003874205"/>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279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トレーサビリティの目的は、顧客が受け入れた製品、又は市場において品質及び／又は安全関係の不適合を含んでいる可能性がある製品に対して、開始、停止時点を明確に特定することを支援するためにある。</a:t>
            </a:r>
            <a:endParaRPr lang="en-US" altLang="ja-JP" sz="2000" dirty="0"/>
          </a:p>
          <a:p>
            <a:pPr marL="0" indent="0">
              <a:lnSpc>
                <a:spcPct val="100000"/>
              </a:lnSpc>
              <a:buNone/>
            </a:pPr>
            <a:r>
              <a:rPr lang="ja-JP" altLang="en-US" sz="2000" dirty="0"/>
              <a:t>☑したがって、組織は、識別及びトレーサビリティのプロセスを下記に記載されている通りに実施しなければならない。</a:t>
            </a:r>
            <a:endParaRPr lang="en-US" altLang="ja-JP" sz="2000" dirty="0"/>
          </a:p>
          <a:p>
            <a:pPr marL="0" indent="0">
              <a:lnSpc>
                <a:spcPct val="100000"/>
              </a:lnSpc>
              <a:buNone/>
            </a:pPr>
            <a:r>
              <a:rPr lang="ja-JP" altLang="en-US" sz="2000" dirty="0"/>
              <a:t>☑組織は、全ての自動車製品に対して、従業員、顧客及び消費者に対するリスクのレベル又は故障の重大性に基づいて、トレーサビリティ計画の策定及び文書化を含めて、</a:t>
            </a:r>
            <a:r>
              <a:rPr lang="ja-JP" altLang="en-US" sz="2000" u="sng" dirty="0"/>
              <a:t>内部、顧客及び規制のトレーサビリティ要求事項の分析を実施しなければならない。</a:t>
            </a:r>
            <a:endParaRPr lang="en-US" altLang="ja-JP" sz="2000" u="sng" dirty="0"/>
          </a:p>
          <a:p>
            <a:pPr marL="0" indent="0">
              <a:lnSpc>
                <a:spcPct val="100000"/>
              </a:lnSpc>
              <a:buNone/>
            </a:pPr>
            <a:r>
              <a:rPr lang="ja-JP" altLang="en-US" sz="2000" dirty="0"/>
              <a:t>☑その計画は、製品、プロセス及び製造場所ごとに、適切なトレーサビリティシステム、プロセス及び方法を、次のようになるように、定めなければならない。</a:t>
            </a:r>
            <a:endParaRPr lang="en-US" altLang="ja-JP" sz="2000" dirty="0"/>
          </a:p>
          <a:p>
            <a:pPr marL="800100" lvl="1" indent="-342900">
              <a:lnSpc>
                <a:spcPct val="100000"/>
              </a:lnSpc>
              <a:buFont typeface="+mj-lt"/>
              <a:buAutoNum type="alphaLcPeriod"/>
            </a:pPr>
            <a:r>
              <a:rPr lang="ja-JP" altLang="en-US" sz="2000" dirty="0"/>
              <a:t>組織が、</a:t>
            </a:r>
            <a:r>
              <a:rPr lang="ja-JP" altLang="en-US" sz="2000" u="sng" dirty="0"/>
              <a:t>不適合製品及び／又は疑わしい製品を識別できるようにする。</a:t>
            </a:r>
            <a:endParaRPr lang="en-US" altLang="ja-JP" sz="2000" u="sng" dirty="0"/>
          </a:p>
          <a:p>
            <a:pPr marL="800100" lvl="1" indent="-342900">
              <a:lnSpc>
                <a:spcPct val="100000"/>
              </a:lnSpc>
              <a:buFont typeface="+mj-lt"/>
              <a:buAutoNum type="alphaLcPeriod"/>
            </a:pPr>
            <a:r>
              <a:rPr lang="ja-JP" altLang="en-US" sz="2000" dirty="0"/>
              <a:t>組織が、</a:t>
            </a:r>
            <a:r>
              <a:rPr lang="ja-JP" altLang="en-US" sz="2000" u="sng" dirty="0"/>
              <a:t>不適合製品及び／又は疑わしい製品を分別できるようにする。</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8.5.2.1</a:t>
            </a:r>
            <a:r>
              <a:rPr kumimoji="1" lang="ja-JP" altLang="en-US" sz="3000" b="1" dirty="0">
                <a:solidFill>
                  <a:schemeClr val="tx2"/>
                </a:solidFill>
              </a:rPr>
              <a:t>　識別及びトレーサビリティ－補足</a:t>
            </a:r>
          </a:p>
        </p:txBody>
      </p:sp>
    </p:spTree>
    <p:extLst>
      <p:ext uri="{BB962C8B-B14F-4D97-AF65-F5344CB8AC3E}">
        <p14:creationId xmlns:p14="http://schemas.microsoft.com/office/powerpoint/2010/main" val="670298056"/>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914400" lvl="1" indent="-457200">
              <a:lnSpc>
                <a:spcPct val="100000"/>
              </a:lnSpc>
              <a:buFont typeface="+mj-lt"/>
              <a:buAutoNum type="alphaLcPeriod" startAt="3"/>
            </a:pPr>
            <a:r>
              <a:rPr lang="ja-JP" altLang="en-US" sz="2000" dirty="0"/>
              <a:t>顧客及び／又は規制の</a:t>
            </a:r>
            <a:r>
              <a:rPr lang="ja-JP" altLang="en-US" sz="2000" u="sng" dirty="0"/>
              <a:t>対応時間の要求事項を満たす能力を確実にする。</a:t>
            </a:r>
          </a:p>
          <a:p>
            <a:pPr marL="914400" lvl="1" indent="-457200">
              <a:lnSpc>
                <a:spcPct val="100000"/>
              </a:lnSpc>
              <a:buFont typeface="+mj-lt"/>
              <a:buAutoNum type="alphaLcPeriod" startAt="3"/>
            </a:pPr>
            <a:r>
              <a:rPr lang="ja-JP" altLang="en-US" sz="2000" dirty="0"/>
              <a:t>組織が対応時間の要求事項を満たせるようにできる様式（電子版、印刷版、保管用）で</a:t>
            </a:r>
            <a:r>
              <a:rPr lang="ja-JP" altLang="en-US" sz="2000" b="1" dirty="0"/>
              <a:t>文書化した情報を保持</a:t>
            </a:r>
            <a:r>
              <a:rPr lang="ja-JP" altLang="en-US" sz="2000" dirty="0"/>
              <a:t>することを確実にする。</a:t>
            </a:r>
          </a:p>
          <a:p>
            <a:pPr marL="914400" lvl="1" indent="-457200">
              <a:lnSpc>
                <a:spcPct val="100000"/>
              </a:lnSpc>
              <a:buFont typeface="+mj-lt"/>
              <a:buAutoNum type="alphaLcPeriod" startAt="3"/>
            </a:pPr>
            <a:r>
              <a:rPr lang="ja-JP" altLang="en-US" sz="2000" dirty="0"/>
              <a:t>顧客又は規制基準によって規定されている場合、</a:t>
            </a:r>
            <a:r>
              <a:rPr lang="ja-JP" altLang="en-US" sz="2000" u="sng" dirty="0"/>
              <a:t>個別製品のシリアル化された識別を確実にする。</a:t>
            </a:r>
          </a:p>
          <a:p>
            <a:pPr marL="914400" lvl="1" indent="-457200">
              <a:lnSpc>
                <a:spcPct val="100000"/>
              </a:lnSpc>
              <a:buFont typeface="+mj-lt"/>
              <a:buAutoNum type="alphaLcPeriod" startAt="3"/>
            </a:pPr>
            <a:r>
              <a:rPr lang="ja-JP" altLang="en-US" sz="2000" dirty="0"/>
              <a:t>識別及びトレーサビリティ要求事項が、安全／規制特性をもつ、</a:t>
            </a:r>
            <a:r>
              <a:rPr lang="ja-JP" altLang="en-US" sz="2000" u="sng" dirty="0"/>
              <a:t>外部から提供される製品に拡張適用することを確実にする。</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8.5.2.1</a:t>
            </a:r>
            <a:r>
              <a:rPr kumimoji="1" lang="ja-JP" altLang="en-US" sz="3000" b="1" dirty="0">
                <a:solidFill>
                  <a:schemeClr val="tx2"/>
                </a:solidFill>
              </a:rPr>
              <a:t>　識別及びトレーサビリティ－補足</a:t>
            </a:r>
          </a:p>
        </p:txBody>
      </p:sp>
    </p:spTree>
    <p:extLst>
      <p:ext uri="{BB962C8B-B14F-4D97-AF65-F5344CB8AC3E}">
        <p14:creationId xmlns:p14="http://schemas.microsoft.com/office/powerpoint/2010/main" val="3293080132"/>
      </p:ext>
    </p:extLst>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ja-JP" altLang="en-US" sz="2400" dirty="0"/>
              <a:t>リコール多発により、</a:t>
            </a:r>
            <a:r>
              <a:rPr lang="en-US" altLang="ja-JP" sz="2400" dirty="0"/>
              <a:t>IATF</a:t>
            </a:r>
            <a:r>
              <a:rPr lang="ja-JP" altLang="en-US" sz="2400" dirty="0"/>
              <a:t>においてトレーサビリティが強化された。</a:t>
            </a:r>
            <a:endParaRPr lang="en-US" altLang="ja-JP" sz="2400" dirty="0"/>
          </a:p>
          <a:p>
            <a:pPr marL="514350" indent="-514350">
              <a:lnSpc>
                <a:spcPct val="100000"/>
              </a:lnSpc>
              <a:buFont typeface="+mj-lt"/>
              <a:buAutoNum type="arabicPeriod"/>
            </a:pPr>
            <a:r>
              <a:rPr lang="ja-JP" altLang="en-US" sz="2400" dirty="0"/>
              <a:t>“リスクのレベルに基づいて”　とは。</a:t>
            </a:r>
            <a:endParaRPr lang="en-US" altLang="ja-JP" sz="2400" dirty="0"/>
          </a:p>
          <a:p>
            <a:pPr lvl="1">
              <a:lnSpc>
                <a:spcPct val="100000"/>
              </a:lnSpc>
              <a:buFont typeface="Wingdings" panose="05000000000000000000" pitchFamily="2" charset="2"/>
              <a:buChar char="Ø"/>
            </a:pPr>
            <a:r>
              <a:rPr lang="ja-JP" altLang="en-US" dirty="0"/>
              <a:t>トレーサビリティにはコストがかかる。</a:t>
            </a:r>
            <a:r>
              <a:rPr lang="ja-JP" altLang="en-US" dirty="0">
                <a:solidFill>
                  <a:srgbClr val="FF0000"/>
                </a:solidFill>
                <a:effectLst>
                  <a:outerShdw blurRad="38100" dist="38100" dir="2700000" algn="tl">
                    <a:srgbClr val="000000">
                      <a:alpha val="43137"/>
                    </a:srgbClr>
                  </a:outerShdw>
                </a:effectLst>
              </a:rPr>
              <a:t>費用対「組織・顧客・市場へのリスクの大きさ」</a:t>
            </a:r>
            <a:r>
              <a:rPr lang="ja-JP" altLang="en-US" dirty="0"/>
              <a:t>で程度を判断すべき。</a:t>
            </a:r>
            <a:endParaRPr lang="en-US" altLang="ja-JP" sz="2400" dirty="0"/>
          </a:p>
          <a:p>
            <a:pPr marL="514350" indent="-514350">
              <a:lnSpc>
                <a:spcPct val="100000"/>
              </a:lnSpc>
              <a:buFont typeface="+mj-lt"/>
              <a:buAutoNum type="arabicPeriod"/>
            </a:pPr>
            <a:r>
              <a:rPr lang="ja-JP" altLang="en-US" sz="2400" dirty="0"/>
              <a:t>識別と分別。</a:t>
            </a:r>
            <a:endParaRPr lang="en-US" altLang="ja-JP" dirty="0"/>
          </a:p>
          <a:p>
            <a:pPr marL="971550" lvl="1" indent="-514350">
              <a:lnSpc>
                <a:spcPct val="100000"/>
              </a:lnSpc>
              <a:buFont typeface="+mj-ea"/>
              <a:buAutoNum type="circleNumDbPlain"/>
            </a:pPr>
            <a:endParaRPr lang="en-US" altLang="ja-JP" sz="2000" dirty="0"/>
          </a:p>
          <a:p>
            <a:pPr marL="971550" lvl="1" indent="-514350">
              <a:lnSpc>
                <a:spcPct val="100000"/>
              </a:lnSpc>
              <a:buFont typeface="+mj-ea"/>
              <a:buAutoNum type="circleNumDbPlain"/>
            </a:pPr>
            <a:endParaRPr lang="en-US" altLang="ja-JP" sz="2000" dirty="0"/>
          </a:p>
          <a:p>
            <a:pPr marL="971550" lvl="1" indent="-514350">
              <a:lnSpc>
                <a:spcPct val="100000"/>
              </a:lnSpc>
              <a:buFont typeface="+mj-ea"/>
              <a:buAutoNum type="circleNumDbPlain"/>
            </a:pPr>
            <a:endParaRPr lang="en-US" altLang="ja-JP" sz="2000" dirty="0"/>
          </a:p>
          <a:p>
            <a:pPr marL="457200" indent="-457200">
              <a:lnSpc>
                <a:spcPct val="100000"/>
              </a:lnSpc>
              <a:buFont typeface="+mj-lt"/>
              <a:buAutoNum type="arabicPeriod"/>
            </a:pPr>
            <a:r>
              <a:rPr lang="ja-JP" altLang="en-US" sz="2400" dirty="0"/>
              <a:t>トレースできることだけではなく</a:t>
            </a:r>
            <a:r>
              <a:rPr lang="ja-JP" altLang="en-US" sz="2400" dirty="0">
                <a:solidFill>
                  <a:srgbClr val="FF0000"/>
                </a:solidFill>
                <a:effectLst>
                  <a:outerShdw blurRad="38100" dist="38100" dir="2700000" algn="tl">
                    <a:srgbClr val="000000">
                      <a:alpha val="43137"/>
                    </a:srgbClr>
                  </a:outerShdw>
                </a:effectLst>
              </a:rPr>
              <a:t>「要求時間を満たす」</a:t>
            </a:r>
            <a:r>
              <a:rPr lang="ja-JP" altLang="en-US" sz="2400" dirty="0"/>
              <a:t>こと。そのための記録の準備。</a:t>
            </a:r>
            <a:endParaRPr lang="en-US" altLang="ja-JP" sz="2400" dirty="0"/>
          </a:p>
          <a:p>
            <a:pPr marL="457200" indent="-457200">
              <a:lnSpc>
                <a:spcPct val="100000"/>
              </a:lnSpc>
              <a:buFont typeface="+mj-lt"/>
              <a:buAutoNum type="arabicPeriod"/>
            </a:pPr>
            <a:r>
              <a:rPr lang="ja-JP" altLang="en-US" sz="2400" dirty="0"/>
              <a:t>“個別製品のシリアル化”　は、安全保護装置などで、製品ごとの製造番号が求められている場合の識別。</a:t>
            </a:r>
            <a:endParaRPr lang="en-US" altLang="ja-JP" sz="2400" dirty="0"/>
          </a:p>
          <a:p>
            <a:pPr marL="457200" indent="-457200">
              <a:lnSpc>
                <a:spcPct val="100000"/>
              </a:lnSpc>
              <a:buFont typeface="+mj-lt"/>
              <a:buAutoNum type="arabicPeriod"/>
            </a:pPr>
            <a:r>
              <a:rPr lang="ja-JP" altLang="en-US" sz="2400" dirty="0"/>
              <a:t>調達した製品（購入・加工）に対するトレーサビリティが「どの製品」に対し、「どのレベルで」で情報が必要かを判断し、実施する。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8.5.2.1</a:t>
            </a:r>
            <a:r>
              <a:rPr lang="ja-JP" altLang="en-US" sz="3000" b="1" dirty="0">
                <a:solidFill>
                  <a:schemeClr val="bg1"/>
                </a:solidFill>
              </a:rPr>
              <a:t>　識別及びトレーサビリティ－補足</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6B9780AD-89A5-4A49-B253-0EE66D985CFB}"/>
              </a:ext>
            </a:extLst>
          </p:cNvPr>
          <p:cNvGraphicFramePr>
            <a:graphicFrameLocks noGrp="1"/>
          </p:cNvGraphicFramePr>
          <p:nvPr>
            <p:extLst>
              <p:ext uri="{D42A27DB-BD31-4B8C-83A1-F6EECF244321}">
                <p14:modId xmlns:p14="http://schemas.microsoft.com/office/powerpoint/2010/main" val="434916617"/>
              </p:ext>
            </p:extLst>
          </p:nvPr>
        </p:nvGraphicFramePr>
        <p:xfrm>
          <a:off x="1478280" y="3093720"/>
          <a:ext cx="8128000" cy="929640"/>
        </p:xfrm>
        <a:graphic>
          <a:graphicData uri="http://schemas.openxmlformats.org/drawingml/2006/table">
            <a:tbl>
              <a:tblPr firstRow="1" bandRow="1">
                <a:tableStyleId>{5940675A-B579-460E-94D1-54222C63F5DA}</a:tableStyleId>
              </a:tblPr>
              <a:tblGrid>
                <a:gridCol w="1153405">
                  <a:extLst>
                    <a:ext uri="{9D8B030D-6E8A-4147-A177-3AD203B41FA5}">
                      <a16:colId xmlns:a16="http://schemas.microsoft.com/office/drawing/2014/main" val="3576057912"/>
                    </a:ext>
                  </a:extLst>
                </a:gridCol>
                <a:gridCol w="6974595">
                  <a:extLst>
                    <a:ext uri="{9D8B030D-6E8A-4147-A177-3AD203B41FA5}">
                      <a16:colId xmlns:a16="http://schemas.microsoft.com/office/drawing/2014/main" val="1445043689"/>
                    </a:ext>
                  </a:extLst>
                </a:gridCol>
              </a:tblGrid>
              <a:tr h="464820">
                <a:tc>
                  <a:txBody>
                    <a:bodyPr/>
                    <a:lstStyle/>
                    <a:p>
                      <a:r>
                        <a:rPr kumimoji="1" lang="ja-JP" altLang="en-US" sz="2000" dirty="0"/>
                        <a:t>識別</a:t>
                      </a:r>
                    </a:p>
                  </a:txBody>
                  <a:tcPr anchor="ctr">
                    <a:solidFill>
                      <a:schemeClr val="tx2">
                        <a:lumMod val="20000"/>
                        <a:lumOff val="80000"/>
                      </a:schemeClr>
                    </a:solidFill>
                  </a:tcPr>
                </a:tc>
                <a:tc>
                  <a:txBody>
                    <a:bodyPr/>
                    <a:lstStyle/>
                    <a:p>
                      <a:r>
                        <a:rPr kumimoji="1" lang="ja-JP" altLang="en-US" sz="2000" dirty="0"/>
                        <a:t>それがどういう製品か。（不適合／落下品など）</a:t>
                      </a:r>
                    </a:p>
                  </a:txBody>
                  <a:tcPr anchor="ctr">
                    <a:solidFill>
                      <a:schemeClr val="tx2">
                        <a:lumMod val="20000"/>
                        <a:lumOff val="80000"/>
                      </a:schemeClr>
                    </a:solidFill>
                  </a:tcPr>
                </a:tc>
                <a:extLst>
                  <a:ext uri="{0D108BD9-81ED-4DB2-BD59-A6C34878D82A}">
                    <a16:rowId xmlns:a16="http://schemas.microsoft.com/office/drawing/2014/main" val="442276175"/>
                  </a:ext>
                </a:extLst>
              </a:tr>
              <a:tr h="464820">
                <a:tc>
                  <a:txBody>
                    <a:bodyPr/>
                    <a:lstStyle/>
                    <a:p>
                      <a:r>
                        <a:rPr kumimoji="1" lang="ja-JP" altLang="en-US" sz="2000" dirty="0"/>
                        <a:t>分別</a:t>
                      </a:r>
                    </a:p>
                  </a:txBody>
                  <a:tcPr anchor="ctr">
                    <a:solidFill>
                      <a:schemeClr val="tx2">
                        <a:lumMod val="20000"/>
                        <a:lumOff val="80000"/>
                      </a:schemeClr>
                    </a:solidFill>
                  </a:tcPr>
                </a:tc>
                <a:tc>
                  <a:txBody>
                    <a:bodyPr/>
                    <a:lstStyle/>
                    <a:p>
                      <a:r>
                        <a:rPr kumimoji="1" lang="ja-JP" altLang="en-US" sz="2000" dirty="0"/>
                        <a:t>識別ごとにどう隔離するか。（箱／置場など）</a:t>
                      </a:r>
                    </a:p>
                  </a:txBody>
                  <a:tcPr anchor="ctr">
                    <a:solidFill>
                      <a:schemeClr val="tx2">
                        <a:lumMod val="20000"/>
                        <a:lumOff val="80000"/>
                      </a:schemeClr>
                    </a:solidFill>
                  </a:tcPr>
                </a:tc>
                <a:extLst>
                  <a:ext uri="{0D108BD9-81ED-4DB2-BD59-A6C34878D82A}">
                    <a16:rowId xmlns:a16="http://schemas.microsoft.com/office/drawing/2014/main" val="2758593486"/>
                  </a:ext>
                </a:extLst>
              </a:tr>
            </a:tbl>
          </a:graphicData>
        </a:graphic>
      </p:graphicFrame>
    </p:spTree>
    <p:extLst>
      <p:ext uri="{BB962C8B-B14F-4D97-AF65-F5344CB8AC3E}">
        <p14:creationId xmlns:p14="http://schemas.microsoft.com/office/powerpoint/2010/main" val="4145986516"/>
      </p:ext>
    </p:extLst>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矢印: 右 27">
            <a:extLst>
              <a:ext uri="{FF2B5EF4-FFF2-40B4-BE49-F238E27FC236}">
                <a16:creationId xmlns:a16="http://schemas.microsoft.com/office/drawing/2014/main" id="{4110BC37-B018-4EF5-82C5-2B52B0FE5867}"/>
              </a:ext>
            </a:extLst>
          </p:cNvPr>
          <p:cNvSpPr/>
          <p:nvPr/>
        </p:nvSpPr>
        <p:spPr>
          <a:xfrm>
            <a:off x="2483318" y="2290813"/>
            <a:ext cx="8140232" cy="117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5135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ロット管理とトレーサビリティの関係</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8.5.2.1</a:t>
            </a:r>
            <a:r>
              <a:rPr lang="ja-JP" altLang="en-US" sz="3000" b="1" dirty="0">
                <a:solidFill>
                  <a:schemeClr val="bg1"/>
                </a:solidFill>
              </a:rPr>
              <a:t>　識別及びトレーサビリティ－補足</a:t>
            </a:r>
            <a:endParaRPr kumimoji="1" lang="ja-JP" altLang="en-US" sz="3000" b="1" dirty="0">
              <a:solidFill>
                <a:schemeClr val="bg1"/>
              </a:solidFill>
            </a:endParaRPr>
          </a:p>
        </p:txBody>
      </p:sp>
      <p:sp>
        <p:nvSpPr>
          <p:cNvPr id="3" name="四角形: 角を丸くする 2">
            <a:extLst>
              <a:ext uri="{FF2B5EF4-FFF2-40B4-BE49-F238E27FC236}">
                <a16:creationId xmlns:a16="http://schemas.microsoft.com/office/drawing/2014/main" id="{8C2C62A4-2E21-4B9B-AF8A-9DF2647765A7}"/>
              </a:ext>
            </a:extLst>
          </p:cNvPr>
          <p:cNvSpPr/>
          <p:nvPr/>
        </p:nvSpPr>
        <p:spPr>
          <a:xfrm>
            <a:off x="838200" y="2566737"/>
            <a:ext cx="2049138" cy="188324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B71A82AB-03C1-47E6-9D7C-FF0BD6A7D0BC}"/>
              </a:ext>
            </a:extLst>
          </p:cNvPr>
          <p:cNvSpPr/>
          <p:nvPr/>
        </p:nvSpPr>
        <p:spPr>
          <a:xfrm>
            <a:off x="3014032" y="2561231"/>
            <a:ext cx="2049138" cy="188324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2066F72-94EC-446B-8514-0A193F1634A7}"/>
              </a:ext>
            </a:extLst>
          </p:cNvPr>
          <p:cNvSpPr/>
          <p:nvPr/>
        </p:nvSpPr>
        <p:spPr>
          <a:xfrm>
            <a:off x="7365696" y="2561231"/>
            <a:ext cx="3988104" cy="188324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13F5F350-80C8-46D2-9A23-FF573A53D58F}"/>
              </a:ext>
            </a:extLst>
          </p:cNvPr>
          <p:cNvSpPr/>
          <p:nvPr/>
        </p:nvSpPr>
        <p:spPr>
          <a:xfrm>
            <a:off x="5189864" y="2561231"/>
            <a:ext cx="2049138" cy="188324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4226625-7F9E-4F62-B6ED-D1138DEF0AC3}"/>
              </a:ext>
            </a:extLst>
          </p:cNvPr>
          <p:cNvSpPr/>
          <p:nvPr/>
        </p:nvSpPr>
        <p:spPr>
          <a:xfrm>
            <a:off x="1108111" y="2787238"/>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材料ロット</a:t>
            </a:r>
          </a:p>
        </p:txBody>
      </p:sp>
      <p:sp>
        <p:nvSpPr>
          <p:cNvPr id="13" name="正方形/長方形 12">
            <a:extLst>
              <a:ext uri="{FF2B5EF4-FFF2-40B4-BE49-F238E27FC236}">
                <a16:creationId xmlns:a16="http://schemas.microsoft.com/office/drawing/2014/main" id="{1667E332-9EB7-4D77-B325-3B20633C3B34}"/>
              </a:ext>
            </a:extLst>
          </p:cNvPr>
          <p:cNvSpPr/>
          <p:nvPr/>
        </p:nvSpPr>
        <p:spPr>
          <a:xfrm>
            <a:off x="1108111" y="3304112"/>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材料ロット</a:t>
            </a:r>
          </a:p>
        </p:txBody>
      </p:sp>
      <p:sp>
        <p:nvSpPr>
          <p:cNvPr id="14" name="正方形/長方形 13">
            <a:extLst>
              <a:ext uri="{FF2B5EF4-FFF2-40B4-BE49-F238E27FC236}">
                <a16:creationId xmlns:a16="http://schemas.microsoft.com/office/drawing/2014/main" id="{3626F871-C19C-4B1C-BCEC-4F91AA18306E}"/>
              </a:ext>
            </a:extLst>
          </p:cNvPr>
          <p:cNvSpPr/>
          <p:nvPr/>
        </p:nvSpPr>
        <p:spPr>
          <a:xfrm>
            <a:off x="1108112" y="3801131"/>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材料ロット</a:t>
            </a:r>
          </a:p>
        </p:txBody>
      </p:sp>
      <p:sp>
        <p:nvSpPr>
          <p:cNvPr id="15" name="正方形/長方形 14">
            <a:extLst>
              <a:ext uri="{FF2B5EF4-FFF2-40B4-BE49-F238E27FC236}">
                <a16:creationId xmlns:a16="http://schemas.microsoft.com/office/drawing/2014/main" id="{76765948-92FF-40A2-8CB6-498A8B5E6287}"/>
              </a:ext>
            </a:extLst>
          </p:cNvPr>
          <p:cNvSpPr/>
          <p:nvPr/>
        </p:nvSpPr>
        <p:spPr>
          <a:xfrm>
            <a:off x="3283944" y="2875523"/>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製品ロット</a:t>
            </a:r>
          </a:p>
        </p:txBody>
      </p:sp>
      <p:sp>
        <p:nvSpPr>
          <p:cNvPr id="16" name="正方形/長方形 15">
            <a:extLst>
              <a:ext uri="{FF2B5EF4-FFF2-40B4-BE49-F238E27FC236}">
                <a16:creationId xmlns:a16="http://schemas.microsoft.com/office/drawing/2014/main" id="{771857A4-3446-429E-8D89-954381D79ACD}"/>
              </a:ext>
            </a:extLst>
          </p:cNvPr>
          <p:cNvSpPr/>
          <p:nvPr/>
        </p:nvSpPr>
        <p:spPr>
          <a:xfrm>
            <a:off x="3283945" y="3684251"/>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製品</a:t>
            </a:r>
            <a:r>
              <a:rPr kumimoji="1" lang="ja-JP" altLang="en-US" dirty="0">
                <a:solidFill>
                  <a:schemeClr val="tx1"/>
                </a:solidFill>
              </a:rPr>
              <a:t>ロット</a:t>
            </a:r>
          </a:p>
        </p:txBody>
      </p:sp>
      <p:sp>
        <p:nvSpPr>
          <p:cNvPr id="17" name="正方形/長方形 16">
            <a:extLst>
              <a:ext uri="{FF2B5EF4-FFF2-40B4-BE49-F238E27FC236}">
                <a16:creationId xmlns:a16="http://schemas.microsoft.com/office/drawing/2014/main" id="{81179F62-7E26-4F98-A9FB-C1D51AE3F8B8}"/>
              </a:ext>
            </a:extLst>
          </p:cNvPr>
          <p:cNvSpPr/>
          <p:nvPr/>
        </p:nvSpPr>
        <p:spPr>
          <a:xfrm>
            <a:off x="5446921" y="2787238"/>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在庫ロット</a:t>
            </a:r>
          </a:p>
        </p:txBody>
      </p:sp>
      <p:sp>
        <p:nvSpPr>
          <p:cNvPr id="18" name="正方形/長方形 17">
            <a:extLst>
              <a:ext uri="{FF2B5EF4-FFF2-40B4-BE49-F238E27FC236}">
                <a16:creationId xmlns:a16="http://schemas.microsoft.com/office/drawing/2014/main" id="{2FF85CEE-4122-4E39-867A-B5A4764BD767}"/>
              </a:ext>
            </a:extLst>
          </p:cNvPr>
          <p:cNvSpPr/>
          <p:nvPr/>
        </p:nvSpPr>
        <p:spPr>
          <a:xfrm>
            <a:off x="5446921" y="3304112"/>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在庫ロット</a:t>
            </a:r>
          </a:p>
        </p:txBody>
      </p:sp>
      <p:sp>
        <p:nvSpPr>
          <p:cNvPr id="19" name="正方形/長方形 18">
            <a:extLst>
              <a:ext uri="{FF2B5EF4-FFF2-40B4-BE49-F238E27FC236}">
                <a16:creationId xmlns:a16="http://schemas.microsoft.com/office/drawing/2014/main" id="{A6F632F0-043B-4468-B4F1-9A4B52254FAA}"/>
              </a:ext>
            </a:extLst>
          </p:cNvPr>
          <p:cNvSpPr/>
          <p:nvPr/>
        </p:nvSpPr>
        <p:spPr>
          <a:xfrm>
            <a:off x="5446922" y="3801131"/>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在庫ロット</a:t>
            </a:r>
          </a:p>
        </p:txBody>
      </p:sp>
      <p:sp>
        <p:nvSpPr>
          <p:cNvPr id="20" name="正方形/長方形 19">
            <a:extLst>
              <a:ext uri="{FF2B5EF4-FFF2-40B4-BE49-F238E27FC236}">
                <a16:creationId xmlns:a16="http://schemas.microsoft.com/office/drawing/2014/main" id="{E3623201-CCC8-4F0A-9579-B4C9B9D10E68}"/>
              </a:ext>
            </a:extLst>
          </p:cNvPr>
          <p:cNvSpPr/>
          <p:nvPr/>
        </p:nvSpPr>
        <p:spPr>
          <a:xfrm>
            <a:off x="7496059" y="3304112"/>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出荷</a:t>
            </a:r>
            <a:r>
              <a:rPr kumimoji="1" lang="ja-JP" altLang="en-US" dirty="0">
                <a:solidFill>
                  <a:schemeClr val="tx1"/>
                </a:solidFill>
              </a:rPr>
              <a:t>ロット</a:t>
            </a:r>
          </a:p>
        </p:txBody>
      </p:sp>
      <p:sp>
        <p:nvSpPr>
          <p:cNvPr id="21" name="正方形/長方形 20">
            <a:extLst>
              <a:ext uri="{FF2B5EF4-FFF2-40B4-BE49-F238E27FC236}">
                <a16:creationId xmlns:a16="http://schemas.microsoft.com/office/drawing/2014/main" id="{61368AE9-AD5D-46D4-80B4-5B621FD51012}"/>
              </a:ext>
            </a:extLst>
          </p:cNvPr>
          <p:cNvSpPr/>
          <p:nvPr/>
        </p:nvSpPr>
        <p:spPr>
          <a:xfrm>
            <a:off x="9555295" y="2854280"/>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配送</a:t>
            </a:r>
            <a:r>
              <a:rPr kumimoji="1" lang="ja-JP" altLang="en-US" dirty="0">
                <a:solidFill>
                  <a:schemeClr val="tx1"/>
                </a:solidFill>
              </a:rPr>
              <a:t>ロット</a:t>
            </a:r>
          </a:p>
        </p:txBody>
      </p:sp>
      <p:sp>
        <p:nvSpPr>
          <p:cNvPr id="22" name="正方形/長方形 21">
            <a:extLst>
              <a:ext uri="{FF2B5EF4-FFF2-40B4-BE49-F238E27FC236}">
                <a16:creationId xmlns:a16="http://schemas.microsoft.com/office/drawing/2014/main" id="{9716C27E-3F1C-41FA-8FEB-E0C226E10775}"/>
              </a:ext>
            </a:extLst>
          </p:cNvPr>
          <p:cNvSpPr/>
          <p:nvPr/>
        </p:nvSpPr>
        <p:spPr>
          <a:xfrm>
            <a:off x="9555296" y="3663008"/>
            <a:ext cx="1509311" cy="4390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配送</a:t>
            </a:r>
            <a:r>
              <a:rPr kumimoji="1" lang="ja-JP" altLang="en-US" dirty="0">
                <a:solidFill>
                  <a:schemeClr val="tx1"/>
                </a:solidFill>
              </a:rPr>
              <a:t>ロット</a:t>
            </a:r>
          </a:p>
        </p:txBody>
      </p:sp>
      <p:sp>
        <p:nvSpPr>
          <p:cNvPr id="23" name="正方形/長方形 22">
            <a:extLst>
              <a:ext uri="{FF2B5EF4-FFF2-40B4-BE49-F238E27FC236}">
                <a16:creationId xmlns:a16="http://schemas.microsoft.com/office/drawing/2014/main" id="{7E4C6C18-3210-4F3F-9120-08A3D15C5BB9}"/>
              </a:ext>
            </a:extLst>
          </p:cNvPr>
          <p:cNvSpPr/>
          <p:nvPr/>
        </p:nvSpPr>
        <p:spPr>
          <a:xfrm>
            <a:off x="1108110" y="2111375"/>
            <a:ext cx="1509311" cy="43903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rPr>
              <a:t>調達</a:t>
            </a:r>
            <a:endParaRPr kumimoji="1" lang="ja-JP" altLang="en-US" dirty="0">
              <a:solidFill>
                <a:schemeClr val="bg1"/>
              </a:solidFill>
            </a:endParaRPr>
          </a:p>
        </p:txBody>
      </p:sp>
      <p:sp>
        <p:nvSpPr>
          <p:cNvPr id="24" name="正方形/長方形 23">
            <a:extLst>
              <a:ext uri="{FF2B5EF4-FFF2-40B4-BE49-F238E27FC236}">
                <a16:creationId xmlns:a16="http://schemas.microsoft.com/office/drawing/2014/main" id="{B9004489-BFE2-4A2D-A676-44C38A3C3BED}"/>
              </a:ext>
            </a:extLst>
          </p:cNvPr>
          <p:cNvSpPr/>
          <p:nvPr/>
        </p:nvSpPr>
        <p:spPr>
          <a:xfrm>
            <a:off x="3279353" y="2132557"/>
            <a:ext cx="1509311" cy="43903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製造</a:t>
            </a:r>
          </a:p>
        </p:txBody>
      </p:sp>
      <p:sp>
        <p:nvSpPr>
          <p:cNvPr id="25" name="正方形/長方形 24">
            <a:extLst>
              <a:ext uri="{FF2B5EF4-FFF2-40B4-BE49-F238E27FC236}">
                <a16:creationId xmlns:a16="http://schemas.microsoft.com/office/drawing/2014/main" id="{B9FC4967-3684-42A7-B321-A51D182252BD}"/>
              </a:ext>
            </a:extLst>
          </p:cNvPr>
          <p:cNvSpPr/>
          <p:nvPr/>
        </p:nvSpPr>
        <p:spPr>
          <a:xfrm>
            <a:off x="5446920" y="2107852"/>
            <a:ext cx="1509311" cy="43903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在庫</a:t>
            </a:r>
          </a:p>
        </p:txBody>
      </p:sp>
      <p:sp>
        <p:nvSpPr>
          <p:cNvPr id="26" name="正方形/長方形 25">
            <a:extLst>
              <a:ext uri="{FF2B5EF4-FFF2-40B4-BE49-F238E27FC236}">
                <a16:creationId xmlns:a16="http://schemas.microsoft.com/office/drawing/2014/main" id="{0EE9684E-AB4D-4836-8F9A-49162BEA82CA}"/>
              </a:ext>
            </a:extLst>
          </p:cNvPr>
          <p:cNvSpPr/>
          <p:nvPr/>
        </p:nvSpPr>
        <p:spPr>
          <a:xfrm>
            <a:off x="7613574" y="2130143"/>
            <a:ext cx="2660726" cy="43903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物流</a:t>
            </a:r>
          </a:p>
        </p:txBody>
      </p:sp>
      <p:sp>
        <p:nvSpPr>
          <p:cNvPr id="27" name="正方形/長方形 26">
            <a:extLst>
              <a:ext uri="{FF2B5EF4-FFF2-40B4-BE49-F238E27FC236}">
                <a16:creationId xmlns:a16="http://schemas.microsoft.com/office/drawing/2014/main" id="{605DA7B6-CE81-477F-988B-357361A0F606}"/>
              </a:ext>
            </a:extLst>
          </p:cNvPr>
          <p:cNvSpPr/>
          <p:nvPr/>
        </p:nvSpPr>
        <p:spPr>
          <a:xfrm>
            <a:off x="10623550" y="2112395"/>
            <a:ext cx="730250" cy="43903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顧客</a:t>
            </a:r>
          </a:p>
        </p:txBody>
      </p:sp>
      <p:cxnSp>
        <p:nvCxnSpPr>
          <p:cNvPr id="41" name="直線矢印コネクタ 40">
            <a:extLst>
              <a:ext uri="{FF2B5EF4-FFF2-40B4-BE49-F238E27FC236}">
                <a16:creationId xmlns:a16="http://schemas.microsoft.com/office/drawing/2014/main" id="{1766EDB6-2E49-4217-A0A6-A7D86E9DB6DC}"/>
              </a:ext>
            </a:extLst>
          </p:cNvPr>
          <p:cNvCxnSpPr>
            <a:stCxn id="6" idx="3"/>
            <a:endCxn id="15" idx="1"/>
          </p:cNvCxnSpPr>
          <p:nvPr/>
        </p:nvCxnSpPr>
        <p:spPr>
          <a:xfrm>
            <a:off x="2617422" y="3006753"/>
            <a:ext cx="666522" cy="8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C67C2179-83B4-491E-A54E-CB91564CCF27}"/>
              </a:ext>
            </a:extLst>
          </p:cNvPr>
          <p:cNvCxnSpPr>
            <a:cxnSpLocks/>
            <a:endCxn id="16" idx="1"/>
          </p:cNvCxnSpPr>
          <p:nvPr/>
        </p:nvCxnSpPr>
        <p:spPr>
          <a:xfrm>
            <a:off x="2617421" y="3042806"/>
            <a:ext cx="666524" cy="860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5D3550BB-0FAB-41DF-B54E-3D33255FFD1A}"/>
              </a:ext>
            </a:extLst>
          </p:cNvPr>
          <p:cNvCxnSpPr>
            <a:cxnSpLocks/>
          </p:cNvCxnSpPr>
          <p:nvPr/>
        </p:nvCxnSpPr>
        <p:spPr>
          <a:xfrm>
            <a:off x="2617421" y="3416028"/>
            <a:ext cx="10276" cy="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121FE909-EF01-458D-8BBB-315C53F2E2FA}"/>
              </a:ext>
            </a:extLst>
          </p:cNvPr>
          <p:cNvCxnSpPr>
            <a:stCxn id="14" idx="3"/>
            <a:endCxn id="16" idx="1"/>
          </p:cNvCxnSpPr>
          <p:nvPr/>
        </p:nvCxnSpPr>
        <p:spPr>
          <a:xfrm flipV="1">
            <a:off x="2617423" y="3903766"/>
            <a:ext cx="666522" cy="11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AE8AA41B-C6FB-4E12-AE23-5949E24DDDA7}"/>
              </a:ext>
            </a:extLst>
          </p:cNvPr>
          <p:cNvCxnSpPr>
            <a:cxnSpLocks/>
            <a:stCxn id="13" idx="3"/>
            <a:endCxn id="16" idx="1"/>
          </p:cNvCxnSpPr>
          <p:nvPr/>
        </p:nvCxnSpPr>
        <p:spPr>
          <a:xfrm>
            <a:off x="2617422" y="3523627"/>
            <a:ext cx="666523" cy="380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FF598783-8077-4192-B843-8CD535C85D63}"/>
              </a:ext>
            </a:extLst>
          </p:cNvPr>
          <p:cNvCxnSpPr>
            <a:cxnSpLocks/>
            <a:stCxn id="13" idx="3"/>
          </p:cNvCxnSpPr>
          <p:nvPr/>
        </p:nvCxnSpPr>
        <p:spPr>
          <a:xfrm flipV="1">
            <a:off x="2617422" y="3095039"/>
            <a:ext cx="661931" cy="428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32BF536A-879F-4AA3-A6D5-1F9697938069}"/>
              </a:ext>
            </a:extLst>
          </p:cNvPr>
          <p:cNvCxnSpPr>
            <a:stCxn id="15" idx="3"/>
            <a:endCxn id="17" idx="1"/>
          </p:cNvCxnSpPr>
          <p:nvPr/>
        </p:nvCxnSpPr>
        <p:spPr>
          <a:xfrm flipV="1">
            <a:off x="4793255" y="3006753"/>
            <a:ext cx="653666" cy="8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1016298A-32B5-47F8-9260-764B4BC18CE2}"/>
              </a:ext>
            </a:extLst>
          </p:cNvPr>
          <p:cNvCxnSpPr>
            <a:endCxn id="18" idx="1"/>
          </p:cNvCxnSpPr>
          <p:nvPr/>
        </p:nvCxnSpPr>
        <p:spPr>
          <a:xfrm>
            <a:off x="4788664" y="3095038"/>
            <a:ext cx="658257" cy="428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CB51BFB4-A3B6-43FC-8A96-30FBF71E7130}"/>
              </a:ext>
            </a:extLst>
          </p:cNvPr>
          <p:cNvCxnSpPr>
            <a:stCxn id="16" idx="3"/>
            <a:endCxn id="19" idx="1"/>
          </p:cNvCxnSpPr>
          <p:nvPr/>
        </p:nvCxnSpPr>
        <p:spPr>
          <a:xfrm>
            <a:off x="4793256" y="3903766"/>
            <a:ext cx="653666" cy="11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1FB3DFDF-D240-4BF0-B6A1-80C2A8D70D09}"/>
              </a:ext>
            </a:extLst>
          </p:cNvPr>
          <p:cNvCxnSpPr>
            <a:stCxn id="16" idx="3"/>
            <a:endCxn id="18" idx="1"/>
          </p:cNvCxnSpPr>
          <p:nvPr/>
        </p:nvCxnSpPr>
        <p:spPr>
          <a:xfrm flipV="1">
            <a:off x="4793256" y="3523627"/>
            <a:ext cx="653665" cy="380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A6A40B34-8A8D-40B7-BE34-1682A41D9EE8}"/>
              </a:ext>
            </a:extLst>
          </p:cNvPr>
          <p:cNvCxnSpPr>
            <a:stCxn id="17" idx="3"/>
            <a:endCxn id="20" idx="1"/>
          </p:cNvCxnSpPr>
          <p:nvPr/>
        </p:nvCxnSpPr>
        <p:spPr>
          <a:xfrm>
            <a:off x="6956232" y="3006753"/>
            <a:ext cx="539827" cy="516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FA0DE3A1-32D3-4E9D-83D5-27C8B0311B58}"/>
              </a:ext>
            </a:extLst>
          </p:cNvPr>
          <p:cNvCxnSpPr>
            <a:stCxn id="18" idx="3"/>
            <a:endCxn id="20" idx="1"/>
          </p:cNvCxnSpPr>
          <p:nvPr/>
        </p:nvCxnSpPr>
        <p:spPr>
          <a:xfrm>
            <a:off x="6956232" y="3523627"/>
            <a:ext cx="5398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F8D5BB77-0953-4769-9BC1-9B0B647DD672}"/>
              </a:ext>
            </a:extLst>
          </p:cNvPr>
          <p:cNvCxnSpPr>
            <a:stCxn id="19" idx="3"/>
            <a:endCxn id="20" idx="1"/>
          </p:cNvCxnSpPr>
          <p:nvPr/>
        </p:nvCxnSpPr>
        <p:spPr>
          <a:xfrm flipV="1">
            <a:off x="6956233" y="3523627"/>
            <a:ext cx="539826" cy="497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446962F5-1429-4383-9571-C10EF4C887B7}"/>
              </a:ext>
            </a:extLst>
          </p:cNvPr>
          <p:cNvCxnSpPr>
            <a:stCxn id="20" idx="3"/>
            <a:endCxn id="21" idx="1"/>
          </p:cNvCxnSpPr>
          <p:nvPr/>
        </p:nvCxnSpPr>
        <p:spPr>
          <a:xfrm flipV="1">
            <a:off x="9005370" y="3073795"/>
            <a:ext cx="549925" cy="449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7E3B8623-AB58-4113-A055-EB4E82A97A60}"/>
              </a:ext>
            </a:extLst>
          </p:cNvPr>
          <p:cNvCxnSpPr>
            <a:stCxn id="20" idx="3"/>
            <a:endCxn id="22" idx="1"/>
          </p:cNvCxnSpPr>
          <p:nvPr/>
        </p:nvCxnSpPr>
        <p:spPr>
          <a:xfrm>
            <a:off x="9005370" y="3523627"/>
            <a:ext cx="549926" cy="358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四角形: 角を丸くする 78">
            <a:extLst>
              <a:ext uri="{FF2B5EF4-FFF2-40B4-BE49-F238E27FC236}">
                <a16:creationId xmlns:a16="http://schemas.microsoft.com/office/drawing/2014/main" id="{F877248C-F06F-4D78-A598-815B5513778C}"/>
              </a:ext>
            </a:extLst>
          </p:cNvPr>
          <p:cNvSpPr/>
          <p:nvPr/>
        </p:nvSpPr>
        <p:spPr>
          <a:xfrm>
            <a:off x="838199" y="4592772"/>
            <a:ext cx="2049138" cy="98079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600" dirty="0">
                <a:solidFill>
                  <a:schemeClr val="tx1"/>
                </a:solidFill>
              </a:rPr>
              <a:t>供給者</a:t>
            </a:r>
            <a:endParaRPr kumimoji="1" lang="en-US" altLang="ja-JP" sz="1600" dirty="0">
              <a:solidFill>
                <a:schemeClr val="tx1"/>
              </a:solidFill>
            </a:endParaRPr>
          </a:p>
          <a:p>
            <a:pPr algn="ctr"/>
            <a:r>
              <a:rPr lang="ja-JP" altLang="en-US" sz="1600" dirty="0">
                <a:solidFill>
                  <a:schemeClr val="tx1"/>
                </a:solidFill>
              </a:rPr>
              <a:t>製造日</a:t>
            </a:r>
            <a:endParaRPr kumimoji="1" lang="ja-JP" altLang="en-US" sz="1600" dirty="0">
              <a:solidFill>
                <a:schemeClr val="tx1"/>
              </a:solidFill>
            </a:endParaRPr>
          </a:p>
        </p:txBody>
      </p:sp>
      <p:sp>
        <p:nvSpPr>
          <p:cNvPr id="80" name="四角形: 角を丸くする 79">
            <a:extLst>
              <a:ext uri="{FF2B5EF4-FFF2-40B4-BE49-F238E27FC236}">
                <a16:creationId xmlns:a16="http://schemas.microsoft.com/office/drawing/2014/main" id="{8293EE7D-0DF0-43AF-8602-B4E904551A4A}"/>
              </a:ext>
            </a:extLst>
          </p:cNvPr>
          <p:cNvSpPr/>
          <p:nvPr/>
        </p:nvSpPr>
        <p:spPr>
          <a:xfrm>
            <a:off x="3014031" y="4587266"/>
            <a:ext cx="2049138" cy="98079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600" dirty="0">
                <a:solidFill>
                  <a:schemeClr val="tx1"/>
                </a:solidFill>
              </a:rPr>
              <a:t>製造日・検査日</a:t>
            </a:r>
            <a:endParaRPr kumimoji="1" lang="en-US" altLang="ja-JP" sz="1600" dirty="0">
              <a:solidFill>
                <a:schemeClr val="tx1"/>
              </a:solidFill>
            </a:endParaRPr>
          </a:p>
          <a:p>
            <a:pPr algn="ctr"/>
            <a:r>
              <a:rPr lang="ja-JP" altLang="en-US" sz="1600" dirty="0">
                <a:solidFill>
                  <a:schemeClr val="tx1"/>
                </a:solidFill>
              </a:rPr>
              <a:t>製造ライン</a:t>
            </a:r>
            <a:endParaRPr lang="en-US" altLang="ja-JP" sz="1600" dirty="0">
              <a:solidFill>
                <a:schemeClr val="tx1"/>
              </a:solidFill>
            </a:endParaRPr>
          </a:p>
          <a:p>
            <a:pPr algn="ctr"/>
            <a:r>
              <a:rPr lang="ja-JP" altLang="en-US" sz="1600" dirty="0">
                <a:solidFill>
                  <a:schemeClr val="tx1"/>
                </a:solidFill>
              </a:rPr>
              <a:t>設備</a:t>
            </a:r>
            <a:endParaRPr kumimoji="1" lang="ja-JP" altLang="en-US" sz="1600" dirty="0">
              <a:solidFill>
                <a:schemeClr val="tx1"/>
              </a:solidFill>
            </a:endParaRPr>
          </a:p>
        </p:txBody>
      </p:sp>
      <p:sp>
        <p:nvSpPr>
          <p:cNvPr id="81" name="四角形: 角を丸くする 80">
            <a:extLst>
              <a:ext uri="{FF2B5EF4-FFF2-40B4-BE49-F238E27FC236}">
                <a16:creationId xmlns:a16="http://schemas.microsoft.com/office/drawing/2014/main" id="{221348BB-FAD3-4A19-975C-6BD766E938E9}"/>
              </a:ext>
            </a:extLst>
          </p:cNvPr>
          <p:cNvSpPr/>
          <p:nvPr/>
        </p:nvSpPr>
        <p:spPr>
          <a:xfrm>
            <a:off x="7365695" y="4587266"/>
            <a:ext cx="3988104" cy="98079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1600" dirty="0">
                <a:solidFill>
                  <a:schemeClr val="tx1"/>
                </a:solidFill>
              </a:rPr>
              <a:t>出荷指示　　　　　　　　　運送会社</a:t>
            </a:r>
            <a:endParaRPr kumimoji="1" lang="en-US" altLang="ja-JP" sz="1600" dirty="0">
              <a:solidFill>
                <a:schemeClr val="tx1"/>
              </a:solidFill>
            </a:endParaRPr>
          </a:p>
          <a:p>
            <a:r>
              <a:rPr lang="ja-JP" altLang="en-US" sz="1600" dirty="0">
                <a:solidFill>
                  <a:schemeClr val="tx1"/>
                </a:solidFill>
              </a:rPr>
              <a:t>ピッキング　　　　　トラック・運転手</a:t>
            </a:r>
            <a:endParaRPr lang="en-US" altLang="ja-JP" sz="1600" dirty="0">
              <a:solidFill>
                <a:schemeClr val="tx1"/>
              </a:solidFill>
            </a:endParaRPr>
          </a:p>
          <a:p>
            <a:r>
              <a:rPr kumimoji="1" lang="ja-JP" altLang="en-US" sz="1600" dirty="0">
                <a:solidFill>
                  <a:schemeClr val="tx1"/>
                </a:solidFill>
              </a:rPr>
              <a:t>検品</a:t>
            </a:r>
          </a:p>
        </p:txBody>
      </p:sp>
      <p:sp>
        <p:nvSpPr>
          <p:cNvPr id="82" name="四角形: 角を丸くする 81">
            <a:extLst>
              <a:ext uri="{FF2B5EF4-FFF2-40B4-BE49-F238E27FC236}">
                <a16:creationId xmlns:a16="http://schemas.microsoft.com/office/drawing/2014/main" id="{CA22D46F-38E2-4365-8F5D-55E133FFA00C}"/>
              </a:ext>
            </a:extLst>
          </p:cNvPr>
          <p:cNvSpPr/>
          <p:nvPr/>
        </p:nvSpPr>
        <p:spPr>
          <a:xfrm>
            <a:off x="5189863" y="4587266"/>
            <a:ext cx="2049138" cy="98079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600" dirty="0">
                <a:solidFill>
                  <a:schemeClr val="tx1"/>
                </a:solidFill>
              </a:rPr>
              <a:t>倉庫</a:t>
            </a:r>
            <a:endParaRPr kumimoji="1" lang="en-US" altLang="ja-JP" sz="1600" dirty="0">
              <a:solidFill>
                <a:schemeClr val="tx1"/>
              </a:solidFill>
            </a:endParaRPr>
          </a:p>
          <a:p>
            <a:pPr algn="ctr"/>
            <a:r>
              <a:rPr lang="ja-JP" altLang="en-US" sz="1600" dirty="0">
                <a:solidFill>
                  <a:schemeClr val="tx1"/>
                </a:solidFill>
              </a:rPr>
              <a:t>入庫日</a:t>
            </a:r>
            <a:endParaRPr lang="en-US" altLang="ja-JP" sz="1600" dirty="0">
              <a:solidFill>
                <a:schemeClr val="tx1"/>
              </a:solidFill>
            </a:endParaRPr>
          </a:p>
          <a:p>
            <a:pPr algn="ctr"/>
            <a:r>
              <a:rPr kumimoji="1" lang="ja-JP" altLang="en-US" sz="1600" dirty="0">
                <a:solidFill>
                  <a:schemeClr val="tx1"/>
                </a:solidFill>
              </a:rPr>
              <a:t>出庫日</a:t>
            </a:r>
          </a:p>
        </p:txBody>
      </p:sp>
      <p:sp>
        <p:nvSpPr>
          <p:cNvPr id="83" name="吹き出し: 四角形 82">
            <a:extLst>
              <a:ext uri="{FF2B5EF4-FFF2-40B4-BE49-F238E27FC236}">
                <a16:creationId xmlns:a16="http://schemas.microsoft.com/office/drawing/2014/main" id="{097353D1-CAFD-41B8-8ACF-2DFEF44E9DA9}"/>
              </a:ext>
            </a:extLst>
          </p:cNvPr>
          <p:cNvSpPr/>
          <p:nvPr/>
        </p:nvSpPr>
        <p:spPr>
          <a:xfrm>
            <a:off x="2048577" y="5742451"/>
            <a:ext cx="7969184" cy="613899"/>
          </a:xfrm>
          <a:prstGeom prst="wedgeRectCallout">
            <a:avLst>
              <a:gd name="adj1" fmla="val -37605"/>
              <a:gd name="adj2" fmla="val -72076"/>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u="sng" dirty="0">
                <a:solidFill>
                  <a:schemeClr val="bg1"/>
                </a:solidFill>
                <a:effectLst>
                  <a:outerShdw blurRad="38100" dist="38100" dir="2700000" algn="tl">
                    <a:srgbClr val="000000">
                      <a:alpha val="43137"/>
                    </a:srgbClr>
                  </a:outerShdw>
                </a:effectLst>
              </a:rPr>
              <a:t>情報と物品の一致がポイント</a:t>
            </a:r>
            <a:endParaRPr kumimoji="1" lang="en-US" altLang="ja-JP" u="sng" dirty="0">
              <a:solidFill>
                <a:schemeClr val="bg1"/>
              </a:solidFill>
              <a:effectLst>
                <a:outerShdw blurRad="38100" dist="38100" dir="2700000" algn="tl">
                  <a:srgbClr val="000000">
                    <a:alpha val="43137"/>
                  </a:srgbClr>
                </a:outerShdw>
              </a:effectLst>
            </a:endParaRPr>
          </a:p>
          <a:p>
            <a:pPr algn="ctr"/>
            <a:r>
              <a:rPr kumimoji="1" lang="ja-JP" altLang="en-US" u="sng" dirty="0">
                <a:solidFill>
                  <a:schemeClr val="bg1"/>
                </a:solidFill>
                <a:effectLst>
                  <a:outerShdw blurRad="38100" dist="38100" dir="2700000" algn="tl">
                    <a:srgbClr val="000000">
                      <a:alpha val="43137"/>
                    </a:srgbClr>
                  </a:outerShdw>
                </a:effectLst>
              </a:rPr>
              <a:t>　</a:t>
            </a:r>
            <a:r>
              <a:rPr kumimoji="1" lang="ja-JP" altLang="en-US" b="1" u="sng" dirty="0">
                <a:solidFill>
                  <a:schemeClr val="bg1"/>
                </a:solidFill>
                <a:effectLst>
                  <a:outerShdw blurRad="38100" dist="38100" dir="2700000" algn="tl">
                    <a:srgbClr val="000000">
                      <a:alpha val="43137"/>
                    </a:srgbClr>
                  </a:outerShdw>
                </a:effectLst>
              </a:rPr>
              <a:t>トレーサビリティのキー</a:t>
            </a:r>
            <a:r>
              <a:rPr kumimoji="1" lang="ja-JP" altLang="en-US" u="sng" dirty="0">
                <a:solidFill>
                  <a:schemeClr val="bg1"/>
                </a:solidFill>
                <a:effectLst>
                  <a:outerShdw blurRad="38100" dist="38100" dir="2700000" algn="tl">
                    <a:srgbClr val="000000">
                      <a:alpha val="43137"/>
                    </a:srgbClr>
                  </a:outerShdw>
                </a:effectLst>
              </a:rPr>
              <a:t>（ロット№など）でつながっている。</a:t>
            </a:r>
          </a:p>
        </p:txBody>
      </p:sp>
    </p:spTree>
    <p:extLst>
      <p:ext uri="{BB962C8B-B14F-4D97-AF65-F5344CB8AC3E}">
        <p14:creationId xmlns:p14="http://schemas.microsoft.com/office/powerpoint/2010/main" val="2366647891"/>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☑保存に関わる考慮事項には、識別、取扱い、汚染防止、包装、保管、伝送又は輸送及び保護を含めなければならない。</a:t>
            </a:r>
            <a:endParaRPr lang="en-US" altLang="ja-JP" sz="2000" dirty="0"/>
          </a:p>
          <a:p>
            <a:pPr marL="0" indent="0">
              <a:lnSpc>
                <a:spcPct val="100000"/>
              </a:lnSpc>
              <a:buNone/>
            </a:pPr>
            <a:r>
              <a:rPr lang="ja-JP" altLang="en-US" sz="2000" dirty="0"/>
              <a:t>☑保存は、外部及び／又は内部の提供者からの材料及び構成部品に、受領から加工を通じて、顧客による納入／受入れまでを含めて、適用しなければならない。</a:t>
            </a:r>
            <a:endParaRPr lang="en-US" altLang="ja-JP" sz="2000" dirty="0"/>
          </a:p>
          <a:p>
            <a:pPr marL="0" indent="0">
              <a:lnSpc>
                <a:spcPct val="100000"/>
              </a:lnSpc>
              <a:buNone/>
            </a:pPr>
            <a:r>
              <a:rPr lang="ja-JP" altLang="en-US" sz="2000" dirty="0"/>
              <a:t>☑劣化を検出するために、組織は、</a:t>
            </a:r>
            <a:r>
              <a:rPr lang="ja-JP" altLang="en-US" sz="2000" u="sng" dirty="0"/>
              <a:t>保管中の製品の状態、保管容器の場所／方式及び保管環境を、適切に予定された間隔で評価しなければならない。</a:t>
            </a:r>
            <a:endParaRPr lang="en-US" altLang="ja-JP" sz="2000" u="sng" dirty="0"/>
          </a:p>
          <a:p>
            <a:pPr marL="0" indent="0">
              <a:lnSpc>
                <a:spcPct val="100000"/>
              </a:lnSpc>
              <a:buNone/>
            </a:pPr>
            <a:r>
              <a:rPr lang="ja-JP" altLang="en-US" sz="2000" dirty="0"/>
              <a:t>☑組織は、在庫回転時間を最適化するため及び“先入れ先出し”（</a:t>
            </a:r>
            <a:r>
              <a:rPr lang="en-US" altLang="ja-JP" sz="2000" dirty="0"/>
              <a:t>FIFO</a:t>
            </a:r>
            <a:r>
              <a:rPr lang="ja-JP" altLang="en-US" sz="2000" dirty="0"/>
              <a:t>）のような、在庫の回転を確実にするために、</a:t>
            </a:r>
            <a:r>
              <a:rPr lang="ja-JP" altLang="en-US" sz="2000" u="sng" dirty="0"/>
              <a:t>在庫管理システムを使用しなければならない。</a:t>
            </a:r>
            <a:endParaRPr lang="en-US" altLang="ja-JP" sz="2000" u="sng" dirty="0"/>
          </a:p>
          <a:p>
            <a:pPr marL="0" indent="0">
              <a:lnSpc>
                <a:spcPct val="100000"/>
              </a:lnSpc>
              <a:buNone/>
            </a:pPr>
            <a:r>
              <a:rPr lang="ja-JP" altLang="en-US" sz="2000" dirty="0"/>
              <a:t>☑組織は、</a:t>
            </a:r>
            <a:r>
              <a:rPr lang="ja-JP" altLang="en-US" sz="2000" u="sng" dirty="0"/>
              <a:t>旧式となった製品は、不適合製品と同様な方法で管理する</a:t>
            </a:r>
            <a:r>
              <a:rPr lang="ja-JP" altLang="en-US" sz="2000" dirty="0"/>
              <a:t>ことを、確実にしなければならない。</a:t>
            </a:r>
            <a:endParaRPr lang="en-US" altLang="ja-JP" sz="2000" dirty="0"/>
          </a:p>
          <a:p>
            <a:pPr marL="0" indent="0">
              <a:lnSpc>
                <a:spcPct val="100000"/>
              </a:lnSpc>
              <a:buNone/>
            </a:pPr>
            <a:r>
              <a:rPr lang="ja-JP" altLang="en-US" sz="2000" dirty="0"/>
              <a:t>☑組織は、顧客から提供された、保存、包装、出荷及びラベリング要求事項に適合しなければならない。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8.5.4.1</a:t>
            </a:r>
            <a:r>
              <a:rPr kumimoji="1" lang="ja-JP" altLang="en-US" sz="3000" b="1" dirty="0">
                <a:solidFill>
                  <a:schemeClr val="tx2"/>
                </a:solidFill>
              </a:rPr>
              <a:t>　保存－補足</a:t>
            </a:r>
          </a:p>
        </p:txBody>
      </p:sp>
    </p:spTree>
    <p:extLst>
      <p:ext uri="{BB962C8B-B14F-4D97-AF65-F5344CB8AC3E}">
        <p14:creationId xmlns:p14="http://schemas.microsoft.com/office/powerpoint/2010/main" val="252191823"/>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ja-JP" altLang="en-US" sz="2400" dirty="0"/>
              <a:t>外部からの受入れ～製造～納入までの全ての段階で適切な保存管理を行う。　</a:t>
            </a:r>
            <a:r>
              <a:rPr lang="en-US" altLang="ja-JP" sz="2400" dirty="0"/>
              <a:t>※</a:t>
            </a:r>
            <a:r>
              <a:rPr lang="ja-JP" altLang="en-US" sz="2400" dirty="0"/>
              <a:t>伝送　⇒　自動産業の</a:t>
            </a:r>
            <a:r>
              <a:rPr lang="en-US" altLang="ja-JP" sz="2400" dirty="0"/>
              <a:t>JIS</a:t>
            </a:r>
            <a:r>
              <a:rPr lang="ja-JP" altLang="en-US" sz="2400" dirty="0"/>
              <a:t>訳としては「転送（工場への）」か。</a:t>
            </a:r>
            <a:endParaRPr lang="en-US" altLang="ja-JP" sz="2400" dirty="0"/>
          </a:p>
          <a:p>
            <a:pPr marL="514350" indent="-514350">
              <a:lnSpc>
                <a:spcPct val="100000"/>
              </a:lnSpc>
              <a:buFont typeface="+mj-lt"/>
              <a:buAutoNum type="arabicPeriod"/>
            </a:pPr>
            <a:r>
              <a:rPr lang="ja-JP" altLang="en-US" sz="2400" dirty="0"/>
              <a:t>経時的変化による製品状態への影響の可能性により、最適な管理を選択する。</a:t>
            </a:r>
            <a:endParaRPr lang="en-US" altLang="ja-JP" sz="2400" dirty="0"/>
          </a:p>
          <a:p>
            <a:pPr lvl="1">
              <a:lnSpc>
                <a:spcPct val="100000"/>
              </a:lnSpc>
              <a:buFont typeface="Wingdings" panose="05000000000000000000" pitchFamily="2" charset="2"/>
              <a:buChar char="Ø"/>
            </a:pPr>
            <a:r>
              <a:rPr lang="ja-JP" altLang="en-US" sz="2200" dirty="0"/>
              <a:t>状態／容器／場所／環境、それらに対する</a:t>
            </a:r>
            <a:r>
              <a:rPr lang="ja-JP" altLang="en-US" sz="2200" dirty="0">
                <a:solidFill>
                  <a:srgbClr val="FF0000"/>
                </a:solidFill>
                <a:effectLst>
                  <a:outerShdw blurRad="38100" dist="38100" dir="2700000" algn="tl">
                    <a:srgbClr val="000000">
                      <a:alpha val="43137"/>
                    </a:srgbClr>
                  </a:outerShdw>
                </a:effectLst>
              </a:rPr>
              <a:t>定期的な確認</a:t>
            </a:r>
            <a:r>
              <a:rPr lang="ja-JP" altLang="en-US" sz="2200" dirty="0"/>
              <a:t>。</a:t>
            </a:r>
            <a:endParaRPr lang="en-US" altLang="ja-JP" sz="2200" dirty="0"/>
          </a:p>
          <a:p>
            <a:pPr lvl="1">
              <a:lnSpc>
                <a:spcPct val="100000"/>
              </a:lnSpc>
              <a:buFont typeface="Wingdings" panose="05000000000000000000" pitchFamily="2" charset="2"/>
              <a:buChar char="Ø"/>
            </a:pPr>
            <a:r>
              <a:rPr lang="ja-JP" altLang="en-US" sz="2200" dirty="0"/>
              <a:t>経時により　“外観”　だけでなく　“機能”　</a:t>
            </a:r>
            <a:r>
              <a:rPr lang="ja-JP" altLang="en-US" sz="2200" dirty="0" err="1"/>
              <a:t>へも</a:t>
            </a:r>
            <a:r>
              <a:rPr lang="ja-JP" altLang="en-US" sz="2200" dirty="0"/>
              <a:t>影響がある場合は試験及び検査が必要。</a:t>
            </a:r>
            <a:endParaRPr lang="en-US" altLang="ja-JP" sz="2200" dirty="0"/>
          </a:p>
          <a:p>
            <a:pPr marL="514350" indent="-514350">
              <a:lnSpc>
                <a:spcPct val="100000"/>
              </a:lnSpc>
              <a:buFont typeface="+mj-lt"/>
              <a:buAutoNum type="arabicPeriod"/>
            </a:pPr>
            <a:r>
              <a:rPr lang="ja-JP" altLang="en-US" sz="2400" dirty="0"/>
              <a:t>保存管理の前に</a:t>
            </a:r>
            <a:r>
              <a:rPr lang="ja-JP" altLang="en-US" sz="2400" dirty="0">
                <a:solidFill>
                  <a:srgbClr val="FF0000"/>
                </a:solidFill>
                <a:effectLst>
                  <a:outerShdw blurRad="38100" dist="38100" dir="2700000" algn="tl">
                    <a:srgbClr val="000000">
                      <a:alpha val="43137"/>
                    </a:srgbClr>
                  </a:outerShdw>
                </a:effectLst>
              </a:rPr>
              <a:t>「在庫低減」のための取組み</a:t>
            </a:r>
            <a:r>
              <a:rPr lang="ja-JP" altLang="en-US" sz="2400" dirty="0"/>
              <a:t>を！</a:t>
            </a:r>
            <a:endParaRPr lang="en-US" altLang="ja-JP" sz="2400" dirty="0"/>
          </a:p>
          <a:p>
            <a:pPr lvl="1">
              <a:lnSpc>
                <a:spcPct val="100000"/>
              </a:lnSpc>
              <a:buFont typeface="Wingdings" panose="05000000000000000000" pitchFamily="2" charset="2"/>
              <a:buChar char="Ø"/>
            </a:pPr>
            <a:r>
              <a:rPr lang="ja-JP" altLang="en-US" sz="2200" dirty="0"/>
              <a:t>同期生産。</a:t>
            </a:r>
            <a:endParaRPr lang="en-US" altLang="ja-JP" sz="2200" dirty="0"/>
          </a:p>
          <a:p>
            <a:pPr lvl="1">
              <a:lnSpc>
                <a:spcPct val="100000"/>
              </a:lnSpc>
              <a:buFont typeface="Wingdings" panose="05000000000000000000" pitchFamily="2" charset="2"/>
              <a:buChar char="Ø"/>
            </a:pPr>
            <a:r>
              <a:rPr lang="ja-JP" altLang="en-US" sz="2200" dirty="0"/>
              <a:t>工程直結。</a:t>
            </a:r>
            <a:endParaRPr lang="en-US" altLang="ja-JP" sz="2200" dirty="0"/>
          </a:p>
          <a:p>
            <a:pPr lvl="1">
              <a:lnSpc>
                <a:spcPct val="100000"/>
              </a:lnSpc>
              <a:buFont typeface="Wingdings" panose="05000000000000000000" pitchFamily="2" charset="2"/>
              <a:buChar char="Ø"/>
            </a:pPr>
            <a:r>
              <a:rPr lang="ja-JP" altLang="en-US" sz="2200" dirty="0"/>
              <a:t>平準化。</a:t>
            </a:r>
            <a:endParaRPr lang="en-US" altLang="ja-JP" sz="2200" dirty="0"/>
          </a:p>
          <a:p>
            <a:pPr marL="457200" indent="-457200">
              <a:lnSpc>
                <a:spcPct val="100000"/>
              </a:lnSpc>
              <a:buFont typeface="+mj-lt"/>
              <a:buAutoNum type="arabicPeriod"/>
            </a:pPr>
            <a:r>
              <a:rPr lang="ja-JP" altLang="en-US" sz="2400" dirty="0"/>
              <a:t>廃番或いは設計変更による旧製品は不適合品として管理（処置）する。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8.5.4.1</a:t>
            </a:r>
            <a:r>
              <a:rPr lang="ja-JP" altLang="en-US" sz="3000" b="1" dirty="0">
                <a:solidFill>
                  <a:schemeClr val="bg1"/>
                </a:solidFill>
              </a:rPr>
              <a:t>　保存－補足</a:t>
            </a:r>
            <a:endParaRPr kumimoji="1" lang="ja-JP" altLang="en-US" sz="3000" b="1" dirty="0">
              <a:solidFill>
                <a:schemeClr val="bg1"/>
              </a:solidFill>
            </a:endParaRPr>
          </a:p>
        </p:txBody>
      </p:sp>
      <p:sp>
        <p:nvSpPr>
          <p:cNvPr id="3" name="右中かっこ 2">
            <a:extLst>
              <a:ext uri="{FF2B5EF4-FFF2-40B4-BE49-F238E27FC236}">
                <a16:creationId xmlns:a16="http://schemas.microsoft.com/office/drawing/2014/main" id="{5376951B-849C-4FB1-AC90-FEFF031B4522}"/>
              </a:ext>
            </a:extLst>
          </p:cNvPr>
          <p:cNvSpPr/>
          <p:nvPr/>
        </p:nvSpPr>
        <p:spPr>
          <a:xfrm>
            <a:off x="2949155" y="4440899"/>
            <a:ext cx="572877" cy="996439"/>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7693DFEA-3B66-4A6B-BFE8-E7DB246F0AB4}"/>
              </a:ext>
            </a:extLst>
          </p:cNvPr>
          <p:cNvSpPr/>
          <p:nvPr/>
        </p:nvSpPr>
        <p:spPr>
          <a:xfrm>
            <a:off x="3642360" y="4509460"/>
            <a:ext cx="6824031" cy="85931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200" dirty="0">
                <a:solidFill>
                  <a:schemeClr val="tx1"/>
                </a:solidFill>
              </a:rPr>
              <a:t>場所／管理／製品劣化／金利などの無駄削減を！</a:t>
            </a:r>
          </a:p>
        </p:txBody>
      </p:sp>
    </p:spTree>
    <p:extLst>
      <p:ext uri="{BB962C8B-B14F-4D97-AF65-F5344CB8AC3E}">
        <p14:creationId xmlns:p14="http://schemas.microsoft.com/office/powerpoint/2010/main" val="1224012269"/>
      </p:ext>
    </p:extLst>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☑組織は、製造、材料の取扱い、物流、技術及び設計活動への</a:t>
            </a:r>
            <a:r>
              <a:rPr lang="ja-JP" altLang="en-US" sz="2000" u="sng" dirty="0"/>
              <a:t>サービスの懸念事項に関する情報を伝達するプロセスを確立</a:t>
            </a:r>
            <a:r>
              <a:rPr lang="ja-JP" altLang="en-US" sz="2000" dirty="0"/>
              <a:t>し、実施し、維持することを確実にしなければならない。</a:t>
            </a:r>
            <a:endParaRPr lang="en-US" altLang="ja-JP" sz="2000" dirty="0"/>
          </a:p>
          <a:p>
            <a:pPr marL="0" indent="0">
              <a:lnSpc>
                <a:spcPct val="100000"/>
              </a:lnSpc>
              <a:buNone/>
            </a:pPr>
            <a:r>
              <a:rPr lang="ja-JP" altLang="en-US" sz="2000" dirty="0"/>
              <a:t>注記</a:t>
            </a:r>
            <a:r>
              <a:rPr lang="en-US" altLang="ja-JP" sz="2000" dirty="0"/>
              <a:t>1</a:t>
            </a:r>
            <a:r>
              <a:rPr lang="ja-JP" altLang="en-US" sz="2000" dirty="0"/>
              <a:t>　この箇条に“サービスの懸念事項”を追加する意図は、</a:t>
            </a:r>
            <a:r>
              <a:rPr lang="ja-JP" altLang="en-US" sz="2000" u="sng" dirty="0"/>
              <a:t>顧客のサイト又は市場で特定される可能性がある、不適合製品及び不適合材料を組織が認識することを確実にするためである。</a:t>
            </a:r>
            <a:endParaRPr lang="en-US" altLang="ja-JP" sz="2000" u="sng" dirty="0"/>
          </a:p>
          <a:p>
            <a:pPr marL="0" indent="0">
              <a:lnSpc>
                <a:spcPct val="100000"/>
              </a:lnSpc>
              <a:buNone/>
            </a:pPr>
            <a:r>
              <a:rPr lang="ja-JP" altLang="en-US" sz="2000" dirty="0"/>
              <a:t>注記</a:t>
            </a:r>
            <a:r>
              <a:rPr lang="en-US" altLang="ja-JP" sz="2000" dirty="0"/>
              <a:t>2</a:t>
            </a:r>
            <a:r>
              <a:rPr lang="ja-JP" altLang="en-US" sz="2000" dirty="0"/>
              <a:t>　“サービスの懸念事項”に、該当する場合には、必ず、市場不具合の試験解析（</a:t>
            </a:r>
            <a:r>
              <a:rPr lang="en-US" altLang="ja-JP" sz="2000" dirty="0"/>
              <a:t>10.2.6</a:t>
            </a:r>
            <a:r>
              <a:rPr lang="ja-JP" altLang="en-US" sz="2000" dirty="0"/>
              <a:t>参照）の結果を含めることが望ましい。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8.5.5.1</a:t>
            </a:r>
            <a:r>
              <a:rPr kumimoji="1" lang="ja-JP" altLang="en-US" sz="3000" b="1" dirty="0">
                <a:solidFill>
                  <a:schemeClr val="tx2"/>
                </a:solidFill>
              </a:rPr>
              <a:t>　サービスからの情報のフィードバック</a:t>
            </a:r>
          </a:p>
        </p:txBody>
      </p:sp>
    </p:spTree>
    <p:extLst>
      <p:ext uri="{BB962C8B-B14F-4D97-AF65-F5344CB8AC3E}">
        <p14:creationId xmlns:p14="http://schemas.microsoft.com/office/powerpoint/2010/main" val="3366369517"/>
      </p:ext>
    </p:extLst>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市場で生じている問題などの情報を組織で把握、内部展開し、必要な対策をとることを意図している。</a:t>
            </a:r>
            <a:endParaRPr lang="en-US" altLang="ja-JP" sz="2400" dirty="0"/>
          </a:p>
          <a:p>
            <a:pPr marL="457200" indent="-457200">
              <a:lnSpc>
                <a:spcPct val="100000"/>
              </a:lnSpc>
              <a:buFont typeface="+mj-lt"/>
              <a:buAutoNum type="arabicPeriod"/>
            </a:pPr>
            <a:r>
              <a:rPr lang="en-US" altLang="ja-JP" sz="2400" dirty="0"/>
              <a:t>8.5</a:t>
            </a:r>
            <a:r>
              <a:rPr lang="ja-JP" altLang="en-US" sz="2400" dirty="0"/>
              <a:t>（製造）にサービスからの情報を要求しているのは、営業部門のみが対応するのではなく、設計、製造も関与すべきとの趣旨。</a:t>
            </a:r>
            <a:endParaRPr lang="en-US" altLang="ja-JP" sz="2400" dirty="0"/>
          </a:p>
          <a:p>
            <a:pPr marL="457200" indent="-457200">
              <a:lnSpc>
                <a:spcPct val="100000"/>
              </a:lnSpc>
              <a:buFont typeface="+mj-lt"/>
              <a:buAutoNum type="arabicPeriod"/>
            </a:pPr>
            <a:r>
              <a:rPr lang="ja-JP" altLang="en-US" sz="2400" dirty="0"/>
              <a:t>ティア２</a:t>
            </a:r>
            <a:r>
              <a:rPr lang="en-US" altLang="ja-JP" sz="2400" dirty="0"/>
              <a:t>or</a:t>
            </a:r>
            <a:r>
              <a:rPr lang="ja-JP" altLang="en-US" sz="2400" dirty="0"/>
              <a:t>３以降の組織の場合、次の状況となる場合が多い。</a:t>
            </a:r>
            <a:endParaRPr lang="en-US" altLang="ja-JP" sz="2400" dirty="0"/>
          </a:p>
          <a:p>
            <a:pPr lvl="1">
              <a:lnSpc>
                <a:spcPct val="100000"/>
              </a:lnSpc>
              <a:buFont typeface="Wingdings" panose="05000000000000000000" pitchFamily="2" charset="2"/>
              <a:buChar char="Ø"/>
            </a:pPr>
            <a:r>
              <a:rPr lang="en-US" altLang="ja-JP" dirty="0"/>
              <a:t>8.2.1</a:t>
            </a:r>
            <a:r>
              <a:rPr lang="ja-JP" altLang="en-US" dirty="0"/>
              <a:t>ｃ）に併合される。</a:t>
            </a:r>
            <a:endParaRPr lang="en-US" altLang="ja-JP" dirty="0"/>
          </a:p>
          <a:p>
            <a:pPr lvl="1">
              <a:lnSpc>
                <a:spcPct val="100000"/>
              </a:lnSpc>
              <a:buFont typeface="Wingdings" panose="05000000000000000000" pitchFamily="2" charset="2"/>
              <a:buChar char="Ø"/>
            </a:pPr>
            <a:r>
              <a:rPr lang="ja-JP" altLang="en-US" dirty="0"/>
              <a:t>完全に顧客からのフィードバック情報に頼らざるを得ない。</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8.5.5.1</a:t>
            </a:r>
            <a:r>
              <a:rPr lang="ja-JP" altLang="en-US" sz="3000" b="1" dirty="0">
                <a:solidFill>
                  <a:schemeClr val="bg1"/>
                </a:solidFill>
              </a:rPr>
              <a:t>　サービスからの情報のフィードバック</a:t>
            </a:r>
            <a:endParaRPr kumimoji="1" lang="ja-JP" altLang="en-US" sz="3000" b="1" dirty="0">
              <a:solidFill>
                <a:schemeClr val="bg1"/>
              </a:solidFill>
            </a:endParaRPr>
          </a:p>
        </p:txBody>
      </p:sp>
    </p:spTree>
    <p:extLst>
      <p:ext uri="{BB962C8B-B14F-4D97-AF65-F5344CB8AC3E}">
        <p14:creationId xmlns:p14="http://schemas.microsoft.com/office/powerpoint/2010/main" val="34968380"/>
      </p:ext>
    </p:extLst>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25574"/>
            <a:ext cx="10515600" cy="1905000"/>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顧客とのサービス契約がある場合、組織は次の事項を実施しなければならない。</a:t>
            </a:r>
            <a:endParaRPr lang="en-US" altLang="ja-JP" sz="2000" u="sng" dirty="0"/>
          </a:p>
          <a:p>
            <a:pPr marL="800100" lvl="1" indent="-342900">
              <a:lnSpc>
                <a:spcPct val="100000"/>
              </a:lnSpc>
              <a:buFont typeface="+mj-lt"/>
              <a:buAutoNum type="alphaLcPeriod"/>
            </a:pPr>
            <a:r>
              <a:rPr lang="ja-JP" altLang="en-US" sz="2000" dirty="0"/>
              <a:t>関連するサービスセンターが、該当する要求事項に適合することを検証する。</a:t>
            </a:r>
            <a:endParaRPr lang="en-US" altLang="ja-JP" sz="2000" dirty="0"/>
          </a:p>
          <a:p>
            <a:pPr marL="800100" lvl="1" indent="-342900">
              <a:lnSpc>
                <a:spcPct val="100000"/>
              </a:lnSpc>
              <a:buFont typeface="+mj-lt"/>
              <a:buAutoNum type="alphaLcPeriod"/>
            </a:pPr>
            <a:r>
              <a:rPr lang="ja-JP" altLang="en-US" sz="2000" dirty="0"/>
              <a:t>特殊目的治工具又は測定設備の有効性を検証する。</a:t>
            </a:r>
            <a:endParaRPr lang="en-US" altLang="ja-JP" sz="2000" dirty="0"/>
          </a:p>
          <a:p>
            <a:pPr marL="800100" lvl="1" indent="-342900">
              <a:lnSpc>
                <a:spcPct val="100000"/>
              </a:lnSpc>
              <a:buFont typeface="+mj-lt"/>
              <a:buAutoNum type="alphaLcPeriod"/>
            </a:pPr>
            <a:r>
              <a:rPr lang="ja-JP" altLang="en-US" sz="2000" dirty="0"/>
              <a:t>全てのサービス要員が該当する要求事項について教育訓練されていることを確実にする。</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8.5.5.2</a:t>
            </a:r>
            <a:r>
              <a:rPr kumimoji="1" lang="ja-JP" altLang="en-US" sz="3000" b="1" dirty="0">
                <a:solidFill>
                  <a:schemeClr val="tx2"/>
                </a:solidFill>
              </a:rPr>
              <a:t>　顧客とのサービス契約</a:t>
            </a:r>
          </a:p>
        </p:txBody>
      </p:sp>
      <p:sp>
        <p:nvSpPr>
          <p:cNvPr id="6" name="タイトル 1">
            <a:extLst>
              <a:ext uri="{FF2B5EF4-FFF2-40B4-BE49-F238E27FC236}">
                <a16:creationId xmlns:a16="http://schemas.microsoft.com/office/drawing/2014/main" id="{6CEEE386-808C-4A38-B16F-29B47650B7A2}"/>
              </a:ext>
            </a:extLst>
          </p:cNvPr>
          <p:cNvSpPr txBox="1">
            <a:spLocks/>
          </p:cNvSpPr>
          <p:nvPr/>
        </p:nvSpPr>
        <p:spPr>
          <a:xfrm>
            <a:off x="838200" y="3545795"/>
            <a:ext cx="10515600" cy="663277"/>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8.5.5.2</a:t>
            </a:r>
            <a:r>
              <a:rPr lang="ja-JP" altLang="en-US" sz="3000" b="1" dirty="0">
                <a:solidFill>
                  <a:schemeClr val="bg1"/>
                </a:solidFill>
              </a:rPr>
              <a:t>　顧客とのサービス契約</a:t>
            </a:r>
          </a:p>
        </p:txBody>
      </p:sp>
      <p:sp>
        <p:nvSpPr>
          <p:cNvPr id="7" name="コンテンツ プレースホルダー 2">
            <a:extLst>
              <a:ext uri="{FF2B5EF4-FFF2-40B4-BE49-F238E27FC236}">
                <a16:creationId xmlns:a16="http://schemas.microsoft.com/office/drawing/2014/main" id="{30531805-DA62-4F94-B341-9126CB3D78ED}"/>
              </a:ext>
            </a:extLst>
          </p:cNvPr>
          <p:cNvSpPr txBox="1">
            <a:spLocks/>
          </p:cNvSpPr>
          <p:nvPr/>
        </p:nvSpPr>
        <p:spPr>
          <a:xfrm>
            <a:off x="838200" y="4307595"/>
            <a:ext cx="10515600" cy="193897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400" dirty="0"/>
              <a:t>サービスセンターを設置しているような場合に対する要求。（顧客とのサービスに関する契約の有無による。）</a:t>
            </a:r>
            <a:endParaRPr lang="en-US" altLang="ja-JP" sz="2400" dirty="0"/>
          </a:p>
          <a:p>
            <a:pPr lvl="1">
              <a:lnSpc>
                <a:spcPct val="110000"/>
              </a:lnSpc>
              <a:buFont typeface="Wingdings" panose="05000000000000000000" pitchFamily="2" charset="2"/>
              <a:buChar char="Ø"/>
            </a:pPr>
            <a:r>
              <a:rPr lang="ja-JP" altLang="en-US" sz="2000" dirty="0"/>
              <a:t>一般に有償サービスのこと。無償（クレーム対応）などは、</a:t>
            </a:r>
            <a:r>
              <a:rPr lang="en-US" altLang="ja-JP" sz="2000" dirty="0"/>
              <a:t>10.2.6</a:t>
            </a:r>
            <a:r>
              <a:rPr lang="ja-JP" altLang="en-US" sz="2000" dirty="0"/>
              <a:t>による。</a:t>
            </a:r>
            <a:endParaRPr lang="en-US" altLang="ja-JP" sz="2000" dirty="0"/>
          </a:p>
          <a:p>
            <a:pPr marL="514350" indent="-514350">
              <a:lnSpc>
                <a:spcPct val="110000"/>
              </a:lnSpc>
              <a:buFont typeface="+mj-lt"/>
              <a:buAutoNum type="arabicPeriod"/>
            </a:pPr>
            <a:r>
              <a:rPr lang="ja-JP" altLang="en-US" sz="2400" dirty="0"/>
              <a:t>契約を満足するためのａ）～ｃ）の要求を実施する。</a:t>
            </a:r>
            <a:endParaRPr lang="ja-JP" altLang="en-US" dirty="0"/>
          </a:p>
        </p:txBody>
      </p:sp>
      <p:sp>
        <p:nvSpPr>
          <p:cNvPr id="2" name="吹き出し: 角を丸めた四角形 1">
            <a:extLst>
              <a:ext uri="{FF2B5EF4-FFF2-40B4-BE49-F238E27FC236}">
                <a16:creationId xmlns:a16="http://schemas.microsoft.com/office/drawing/2014/main" id="{AB8A934B-94D1-46EF-BF4E-41F82021BC4C}"/>
              </a:ext>
            </a:extLst>
          </p:cNvPr>
          <p:cNvSpPr/>
          <p:nvPr/>
        </p:nvSpPr>
        <p:spPr>
          <a:xfrm>
            <a:off x="8509000" y="3083325"/>
            <a:ext cx="2844799" cy="1125502"/>
          </a:xfrm>
          <a:prstGeom prst="wedgeRoundRectCallout">
            <a:avLst>
              <a:gd name="adj1" fmla="val -43434"/>
              <a:gd name="adj2" fmla="val 63470"/>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rPr>
              <a:t>Tier3~4</a:t>
            </a:r>
            <a:r>
              <a:rPr lang="ja-JP" altLang="en-US" dirty="0">
                <a:solidFill>
                  <a:schemeClr val="tx1"/>
                </a:solidFill>
              </a:rPr>
              <a:t>レベルでは要求事項（契約）自体がないことがほとんど。</a:t>
            </a:r>
            <a:endParaRPr kumimoji="1" lang="ja-JP" altLang="en-US" dirty="0">
              <a:solidFill>
                <a:schemeClr val="tx1"/>
              </a:solidFill>
            </a:endParaRPr>
          </a:p>
        </p:txBody>
      </p:sp>
    </p:spTree>
    <p:extLst>
      <p:ext uri="{BB962C8B-B14F-4D97-AF65-F5344CB8AC3E}">
        <p14:creationId xmlns:p14="http://schemas.microsoft.com/office/powerpoint/2010/main" val="807814521"/>
      </p:ext>
    </p:extLst>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☑組織は、製品実現に影響する変更を管理し対応する、</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☑組織、顧客、又は供給者に起因する変更を含む、変更の影響を評価しなければならない。</a:t>
            </a:r>
            <a:endParaRPr lang="en-US" altLang="ja-JP" sz="2000" dirty="0"/>
          </a:p>
          <a:p>
            <a:pPr marL="0" indent="0">
              <a:lnSpc>
                <a:spcPct val="100000"/>
              </a:lnSpc>
              <a:buNone/>
            </a:pPr>
            <a:r>
              <a:rPr lang="ja-JP" altLang="en-US" sz="2000" dirty="0"/>
              <a:t>☑組織は、次の事項を実施しなければならない。</a:t>
            </a:r>
            <a:endParaRPr lang="en-US" altLang="ja-JP" sz="2000" dirty="0"/>
          </a:p>
          <a:p>
            <a:pPr marL="800100" lvl="1" indent="-342900">
              <a:lnSpc>
                <a:spcPct val="100000"/>
              </a:lnSpc>
              <a:buFont typeface="+mj-lt"/>
              <a:buAutoNum type="alphaLcPeriod"/>
            </a:pPr>
            <a:r>
              <a:rPr lang="ja-JP" altLang="en-US" sz="2000" dirty="0"/>
              <a:t>顧客要求事項への適合を確実にするための</a:t>
            </a:r>
            <a:r>
              <a:rPr lang="ja-JP" altLang="en-US" sz="2000" u="sng" dirty="0"/>
              <a:t>検証及び妥当性確認の活動を定める。</a:t>
            </a:r>
            <a:endParaRPr lang="en-US" altLang="ja-JP" sz="2000" u="sng" dirty="0"/>
          </a:p>
          <a:p>
            <a:pPr marL="800100" lvl="1" indent="-342900">
              <a:lnSpc>
                <a:spcPct val="100000"/>
              </a:lnSpc>
              <a:buFont typeface="+mj-lt"/>
              <a:buAutoNum type="alphaLcPeriod"/>
            </a:pPr>
            <a:r>
              <a:rPr lang="ja-JP" altLang="en-US" sz="2000" u="sng" dirty="0"/>
              <a:t>実施の前に変更の妥当性確認を行う。</a:t>
            </a:r>
            <a:endParaRPr lang="en-US" altLang="ja-JP" sz="2000" u="sng" dirty="0"/>
          </a:p>
          <a:p>
            <a:pPr marL="800100" lvl="1" indent="-342900">
              <a:lnSpc>
                <a:spcPct val="100000"/>
              </a:lnSpc>
              <a:buFont typeface="+mj-lt"/>
              <a:buAutoNum type="alphaLcPeriod"/>
            </a:pPr>
            <a:r>
              <a:rPr lang="ja-JP" altLang="en-US" sz="2000" dirty="0"/>
              <a:t>関係する</a:t>
            </a:r>
            <a:r>
              <a:rPr lang="ja-JP" altLang="en-US" sz="2000" u="sng" dirty="0"/>
              <a:t>リスク分析の証拠を文書化する。</a:t>
            </a:r>
            <a:endParaRPr lang="en-US" altLang="ja-JP" sz="2000" u="sng" dirty="0"/>
          </a:p>
          <a:p>
            <a:pPr marL="800100" lvl="1" indent="-342900">
              <a:lnSpc>
                <a:spcPct val="100000"/>
              </a:lnSpc>
              <a:buFont typeface="+mj-lt"/>
              <a:buAutoNum type="alphaLcPeriod"/>
            </a:pPr>
            <a:r>
              <a:rPr lang="ja-JP" altLang="en-US" sz="2000" dirty="0"/>
              <a:t>検証及び妥当性確認の</a:t>
            </a:r>
            <a:r>
              <a:rPr lang="ja-JP" altLang="en-US" sz="2000" b="1" u="sng" dirty="0"/>
              <a:t>記録を保持</a:t>
            </a:r>
            <a:r>
              <a:rPr lang="ja-JP" altLang="en-US" sz="2000" u="sng" dirty="0"/>
              <a:t>する。</a:t>
            </a:r>
            <a:endParaRPr lang="en-US" altLang="ja-JP" sz="2000" u="sng" dirty="0"/>
          </a:p>
          <a:p>
            <a:pPr marL="0" indent="0">
              <a:lnSpc>
                <a:spcPct val="100000"/>
              </a:lnSpc>
              <a:buNone/>
            </a:pPr>
            <a:r>
              <a:rPr lang="ja-JP" altLang="en-US" sz="2000" dirty="0"/>
              <a:t>供給者で行う変更を含めて、変更は、製造工程に与える変更の影響の妥当性確認を行う　ために、その変更点（部品設計、製造場所、又は製造工程の変更のような）の検証に対する</a:t>
            </a:r>
            <a:r>
              <a:rPr lang="ja-JP" altLang="en-US" sz="2000" u="sng" dirty="0"/>
              <a:t>生産トライアル稼働を要求することが望ましい。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8.5.6.1</a:t>
            </a:r>
            <a:r>
              <a:rPr kumimoji="1" lang="ja-JP" altLang="en-US" sz="3000" b="1" dirty="0">
                <a:solidFill>
                  <a:schemeClr val="tx2"/>
                </a:solidFill>
              </a:rPr>
              <a:t>　変更の管理－補足</a:t>
            </a:r>
          </a:p>
        </p:txBody>
      </p:sp>
    </p:spTree>
    <p:extLst>
      <p:ext uri="{BB962C8B-B14F-4D97-AF65-F5344CB8AC3E}">
        <p14:creationId xmlns:p14="http://schemas.microsoft.com/office/powerpoint/2010/main" val="3317192036"/>
      </p:ext>
    </p:extLst>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289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☑顧客に要求される場合、組織は、次の事項を実施しなければならない。</a:t>
            </a:r>
            <a:endParaRPr lang="en-US" altLang="ja-JP" sz="2000" dirty="0"/>
          </a:p>
          <a:p>
            <a:pPr marL="914400" lvl="1" indent="-457200">
              <a:lnSpc>
                <a:spcPct val="100000"/>
              </a:lnSpc>
              <a:buFont typeface="+mj-lt"/>
              <a:buAutoNum type="alphaLcPeriod" startAt="5"/>
            </a:pPr>
            <a:r>
              <a:rPr lang="ja-JP" altLang="en-US" sz="2000" dirty="0"/>
              <a:t>直近の製品承認の後の、計画した製品実現の</a:t>
            </a:r>
            <a:r>
              <a:rPr lang="ja-JP" altLang="en-US" sz="2000" u="sng" dirty="0"/>
              <a:t>変更を顧客に通知する。</a:t>
            </a:r>
            <a:endParaRPr lang="en-US" altLang="ja-JP" sz="2000" u="sng" dirty="0"/>
          </a:p>
          <a:p>
            <a:pPr marL="914400" lvl="1" indent="-457200">
              <a:lnSpc>
                <a:spcPct val="100000"/>
              </a:lnSpc>
              <a:buFont typeface="+mj-lt"/>
              <a:buAutoNum type="alphaLcPeriod" startAt="5"/>
            </a:pPr>
            <a:r>
              <a:rPr lang="ja-JP" altLang="en-US" sz="2000" dirty="0"/>
              <a:t>変更の実施の前に、</a:t>
            </a:r>
            <a:r>
              <a:rPr lang="ja-JP" altLang="en-US" sz="2000" u="sng" dirty="0"/>
              <a:t>文書化した承認を得る。</a:t>
            </a:r>
            <a:endParaRPr lang="en-US" altLang="ja-JP" sz="2000" u="sng" dirty="0"/>
          </a:p>
          <a:p>
            <a:pPr marL="914400" lvl="1" indent="-457200">
              <a:lnSpc>
                <a:spcPct val="100000"/>
              </a:lnSpc>
              <a:buFont typeface="+mj-lt"/>
              <a:buAutoNum type="alphaLcPeriod" startAt="5"/>
            </a:pPr>
            <a:r>
              <a:rPr lang="ja-JP" altLang="en-US" sz="2000" dirty="0"/>
              <a:t>生産トライアル稼働及び新製品の妥当性確認のような、</a:t>
            </a:r>
            <a:r>
              <a:rPr lang="ja-JP" altLang="en-US" sz="2000" u="sng" dirty="0"/>
              <a:t>追加の検証又は識別の要求事項を完了する。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8.5.6.1</a:t>
            </a:r>
            <a:r>
              <a:rPr kumimoji="1" lang="ja-JP" altLang="en-US" sz="3000" b="1" dirty="0">
                <a:solidFill>
                  <a:schemeClr val="tx2"/>
                </a:solidFill>
              </a:rPr>
              <a:t>　変更の管理－補足</a:t>
            </a:r>
          </a:p>
        </p:txBody>
      </p:sp>
    </p:spTree>
    <p:extLst>
      <p:ext uri="{BB962C8B-B14F-4D97-AF65-F5344CB8AC3E}">
        <p14:creationId xmlns:p14="http://schemas.microsoft.com/office/powerpoint/2010/main" val="2675119103"/>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補足の要点。</a:t>
            </a:r>
            <a:endParaRPr lang="en-US" altLang="ja-JP" sz="2400" dirty="0"/>
          </a:p>
          <a:p>
            <a:pPr marL="914400" lvl="1" indent="-457200">
              <a:lnSpc>
                <a:spcPct val="100000"/>
              </a:lnSpc>
              <a:buFont typeface="+mj-lt"/>
              <a:buAutoNum type="alphaLcPeriod"/>
            </a:pPr>
            <a:r>
              <a:rPr lang="ja-JP" altLang="en-US" sz="2200" dirty="0"/>
              <a:t>設計ＦＭＥＡ及び工程ＦＭＥＡ、ＤＲなどによる。</a:t>
            </a:r>
            <a:endParaRPr lang="en-US" altLang="ja-JP" sz="2200" dirty="0"/>
          </a:p>
          <a:p>
            <a:pPr marL="914400" lvl="1" indent="-457200">
              <a:lnSpc>
                <a:spcPct val="100000"/>
              </a:lnSpc>
              <a:buFont typeface="+mj-lt"/>
              <a:buAutoNum type="alphaLcPeriod"/>
            </a:pPr>
            <a:r>
              <a:rPr lang="en-US" altLang="ja-JP" sz="2200" dirty="0"/>
              <a:t>8.3.4.2</a:t>
            </a:r>
            <a:r>
              <a:rPr lang="ja-JP" altLang="en-US" sz="2200" dirty="0"/>
              <a:t>設計・開発の妥当性確認に従い実施する。➠　結果、以降の要求事項の　“生産トライアル”　と重なってくることもある。</a:t>
            </a:r>
            <a:endParaRPr lang="en-US" altLang="ja-JP" sz="2200" dirty="0"/>
          </a:p>
          <a:p>
            <a:pPr marL="914400" lvl="1" indent="-457200">
              <a:lnSpc>
                <a:spcPct val="100000"/>
              </a:lnSpc>
              <a:buFont typeface="+mj-lt"/>
              <a:buAutoNum type="alphaLcPeriod"/>
            </a:pPr>
            <a:r>
              <a:rPr lang="ja-JP" altLang="en-US" sz="2200" dirty="0"/>
              <a:t>ＦＭＥＡ記録が該当する。</a:t>
            </a:r>
            <a:endParaRPr lang="en-US" altLang="ja-JP" sz="2200" dirty="0"/>
          </a:p>
          <a:p>
            <a:pPr marL="914400" lvl="1" indent="-457200">
              <a:lnSpc>
                <a:spcPct val="100000"/>
              </a:lnSpc>
              <a:buFont typeface="+mj-lt"/>
              <a:buAutoNum type="alphaLcPeriod"/>
            </a:pPr>
            <a:r>
              <a:rPr lang="ja-JP" altLang="en-US" sz="2200" dirty="0"/>
              <a:t>関連する記録の保持。</a:t>
            </a:r>
            <a:endParaRPr lang="en-US" altLang="ja-JP" sz="2200" dirty="0"/>
          </a:p>
          <a:p>
            <a:pPr marL="514350" indent="-514350">
              <a:lnSpc>
                <a:spcPct val="100000"/>
              </a:lnSpc>
              <a:buFont typeface="+mj-lt"/>
              <a:buAutoNum type="arabicPeriod"/>
            </a:pPr>
            <a:r>
              <a:rPr lang="ja-JP" altLang="en-US" sz="2400" dirty="0"/>
              <a:t>生産トライアルとは、実際の製造工程を稼働させて確認すること。（前述の妥当性確認と関連する。）</a:t>
            </a:r>
            <a:endParaRPr lang="en-US" altLang="ja-JP" sz="2400" dirty="0"/>
          </a:p>
          <a:p>
            <a:pPr marL="514350" indent="-514350">
              <a:lnSpc>
                <a:spcPct val="100000"/>
              </a:lnSpc>
              <a:buFont typeface="+mj-lt"/>
              <a:buAutoNum type="arabicPeriod"/>
            </a:pPr>
            <a:r>
              <a:rPr lang="ja-JP" altLang="en-US" sz="2400" dirty="0"/>
              <a:t>顧客が要求する場合の要点。</a:t>
            </a:r>
            <a:endParaRPr lang="en-US" altLang="ja-JP" sz="2400" dirty="0"/>
          </a:p>
          <a:p>
            <a:pPr marL="971550" lvl="1" indent="-514350">
              <a:lnSpc>
                <a:spcPct val="100000"/>
              </a:lnSpc>
              <a:buFont typeface="+mj-lt"/>
              <a:buAutoNum type="alphaLcPeriod" startAt="5"/>
            </a:pPr>
            <a:r>
              <a:rPr lang="en-US" altLang="ja-JP" sz="2200" dirty="0"/>
              <a:t>PPAP</a:t>
            </a:r>
            <a:r>
              <a:rPr lang="ja-JP" altLang="en-US" sz="2200" dirty="0"/>
              <a:t>承認に関する変更に対し、顧客へ申請する。</a:t>
            </a:r>
            <a:endParaRPr lang="en-US" altLang="ja-JP" sz="2200" dirty="0"/>
          </a:p>
          <a:p>
            <a:pPr marL="971550" lvl="1" indent="-514350">
              <a:lnSpc>
                <a:spcPct val="100000"/>
              </a:lnSpc>
              <a:buFont typeface="+mj-lt"/>
              <a:buAutoNum type="alphaLcPeriod" startAt="5"/>
            </a:pPr>
            <a:r>
              <a:rPr lang="ja-JP" altLang="en-US" sz="2200" dirty="0"/>
              <a:t>顧客による事前承認。（</a:t>
            </a:r>
            <a:r>
              <a:rPr lang="en-US" altLang="ja-JP" sz="2200" dirty="0"/>
              <a:t>PPAP</a:t>
            </a:r>
            <a:r>
              <a:rPr lang="ja-JP" altLang="en-US" sz="2200" dirty="0"/>
              <a:t>再承認など。）</a:t>
            </a:r>
            <a:endParaRPr lang="en-US" altLang="ja-JP" sz="2200" dirty="0"/>
          </a:p>
          <a:p>
            <a:pPr marL="971550" lvl="1" indent="-514350">
              <a:lnSpc>
                <a:spcPct val="100000"/>
              </a:lnSpc>
              <a:buFont typeface="+mj-lt"/>
              <a:buAutoNum type="alphaLcPeriod" startAt="5"/>
            </a:pPr>
            <a:r>
              <a:rPr lang="ja-JP" altLang="en-US" sz="2200" dirty="0"/>
              <a:t>追加の顧客要求事項に対応する。</a:t>
            </a:r>
            <a:endParaRPr lang="en-US" altLang="ja-JP" sz="22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8.5.6.1</a:t>
            </a:r>
            <a:r>
              <a:rPr lang="ja-JP" altLang="en-US" sz="3000" b="1" dirty="0">
                <a:solidFill>
                  <a:schemeClr val="bg1"/>
                </a:solidFill>
              </a:rPr>
              <a:t>　変更の管理－補足</a:t>
            </a:r>
            <a:endParaRPr kumimoji="1" lang="ja-JP" altLang="en-US" sz="3000" b="1" dirty="0">
              <a:solidFill>
                <a:schemeClr val="bg1"/>
              </a:solidFill>
            </a:endParaRPr>
          </a:p>
        </p:txBody>
      </p:sp>
      <p:sp>
        <p:nvSpPr>
          <p:cNvPr id="2" name="四角形: 角を丸くする 1">
            <a:extLst>
              <a:ext uri="{FF2B5EF4-FFF2-40B4-BE49-F238E27FC236}">
                <a16:creationId xmlns:a16="http://schemas.microsoft.com/office/drawing/2014/main" id="{588DB6CF-F7E8-4A05-B039-4A9C4E07C87D}"/>
              </a:ext>
            </a:extLst>
          </p:cNvPr>
          <p:cNvSpPr/>
          <p:nvPr/>
        </p:nvSpPr>
        <p:spPr>
          <a:xfrm>
            <a:off x="5797627" y="862731"/>
            <a:ext cx="5556173" cy="914400"/>
          </a:xfrm>
          <a:prstGeom prst="roundRect">
            <a:avLst/>
          </a:prstGeom>
          <a:solidFill>
            <a:srgbClr val="D6DCE5"/>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solidFill>
                  <a:srgbClr val="FF0000"/>
                </a:solidFill>
              </a:rPr>
              <a:t>変更管理の活動全体に対して、顧客固有要求事項が存在する場合が多い。</a:t>
            </a:r>
          </a:p>
        </p:txBody>
      </p:sp>
      <p:cxnSp>
        <p:nvCxnSpPr>
          <p:cNvPr id="6" name="直線矢印コネクタ 5">
            <a:extLst>
              <a:ext uri="{FF2B5EF4-FFF2-40B4-BE49-F238E27FC236}">
                <a16:creationId xmlns:a16="http://schemas.microsoft.com/office/drawing/2014/main" id="{14ECD050-6F0C-4046-9D8A-797EDCC25D86}"/>
              </a:ext>
            </a:extLst>
          </p:cNvPr>
          <p:cNvCxnSpPr>
            <a:cxnSpLocks/>
            <a:endCxn id="2" idx="1"/>
          </p:cNvCxnSpPr>
          <p:nvPr/>
        </p:nvCxnSpPr>
        <p:spPr>
          <a:xfrm>
            <a:off x="4045027" y="1095137"/>
            <a:ext cx="1752600" cy="2247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118024"/>
      </p:ext>
    </p:extLst>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u="sng" dirty="0"/>
              <a:t>３Ｈ⇔４Ｍの相関</a:t>
            </a:r>
            <a:endParaRPr lang="en-US" altLang="ja-JP" sz="2400" u="sng"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8.5.6.1</a:t>
            </a:r>
            <a:r>
              <a:rPr lang="ja-JP" altLang="en-US" sz="3000" b="1" dirty="0">
                <a:solidFill>
                  <a:schemeClr val="bg1"/>
                </a:solidFill>
              </a:rPr>
              <a:t>　変更の管理－補足</a:t>
            </a:r>
            <a:endParaRPr kumimoji="1" lang="ja-JP" altLang="en-US" sz="3000" b="1" dirty="0">
              <a:solidFill>
                <a:schemeClr val="bg1"/>
              </a:solidFill>
            </a:endParaRPr>
          </a:p>
        </p:txBody>
      </p:sp>
      <p:graphicFrame>
        <p:nvGraphicFramePr>
          <p:cNvPr id="3" name="表 2">
            <a:extLst>
              <a:ext uri="{FF2B5EF4-FFF2-40B4-BE49-F238E27FC236}">
                <a16:creationId xmlns:a16="http://schemas.microsoft.com/office/drawing/2014/main" id="{34097E7E-FE60-4153-9729-6E5E97F5C1E5}"/>
              </a:ext>
            </a:extLst>
          </p:cNvPr>
          <p:cNvGraphicFramePr>
            <a:graphicFrameLocks noGrp="1"/>
          </p:cNvGraphicFramePr>
          <p:nvPr>
            <p:extLst>
              <p:ext uri="{D42A27DB-BD31-4B8C-83A1-F6EECF244321}">
                <p14:modId xmlns:p14="http://schemas.microsoft.com/office/powerpoint/2010/main" val="3468245955"/>
              </p:ext>
            </p:extLst>
          </p:nvPr>
        </p:nvGraphicFramePr>
        <p:xfrm>
          <a:off x="838200" y="1897923"/>
          <a:ext cx="10515600" cy="3574426"/>
        </p:xfrm>
        <a:graphic>
          <a:graphicData uri="http://schemas.openxmlformats.org/drawingml/2006/table">
            <a:tbl>
              <a:tblPr firstRow="1" bandRow="1">
                <a:tableStyleId>{5940675A-B579-460E-94D1-54222C63F5DA}</a:tableStyleId>
              </a:tblPr>
              <a:tblGrid>
                <a:gridCol w="2147372">
                  <a:extLst>
                    <a:ext uri="{9D8B030D-6E8A-4147-A177-3AD203B41FA5}">
                      <a16:colId xmlns:a16="http://schemas.microsoft.com/office/drawing/2014/main" val="21799585"/>
                    </a:ext>
                  </a:extLst>
                </a:gridCol>
                <a:gridCol w="2754217">
                  <a:extLst>
                    <a:ext uri="{9D8B030D-6E8A-4147-A177-3AD203B41FA5}">
                      <a16:colId xmlns:a16="http://schemas.microsoft.com/office/drawing/2014/main" val="1443517384"/>
                    </a:ext>
                  </a:extLst>
                </a:gridCol>
                <a:gridCol w="2820318">
                  <a:extLst>
                    <a:ext uri="{9D8B030D-6E8A-4147-A177-3AD203B41FA5}">
                      <a16:colId xmlns:a16="http://schemas.microsoft.com/office/drawing/2014/main" val="3964347168"/>
                    </a:ext>
                  </a:extLst>
                </a:gridCol>
                <a:gridCol w="2793693">
                  <a:extLst>
                    <a:ext uri="{9D8B030D-6E8A-4147-A177-3AD203B41FA5}">
                      <a16:colId xmlns:a16="http://schemas.microsoft.com/office/drawing/2014/main" val="200784701"/>
                    </a:ext>
                  </a:extLst>
                </a:gridCol>
              </a:tblGrid>
              <a:tr h="644213">
                <a:tc>
                  <a:txBody>
                    <a:bodyPr/>
                    <a:lstStyle/>
                    <a:p>
                      <a:endParaRPr kumimoji="1" lang="ja-JP" altLang="en-US" sz="2200" dirty="0"/>
                    </a:p>
                  </a:txBody>
                  <a:tcPr anchor="ctr">
                    <a:solidFill>
                      <a:schemeClr val="tx2">
                        <a:lumMod val="20000"/>
                        <a:lumOff val="80000"/>
                      </a:schemeClr>
                    </a:solidFill>
                  </a:tcPr>
                </a:tc>
                <a:tc>
                  <a:txBody>
                    <a:bodyPr/>
                    <a:lstStyle/>
                    <a:p>
                      <a:pPr algn="ctr"/>
                      <a:r>
                        <a:rPr kumimoji="1" lang="ja-JP" altLang="en-US" sz="2200" dirty="0"/>
                        <a:t>初めて</a:t>
                      </a:r>
                    </a:p>
                  </a:txBody>
                  <a:tcPr anchor="ctr">
                    <a:solidFill>
                      <a:schemeClr val="tx2">
                        <a:lumMod val="20000"/>
                        <a:lumOff val="80000"/>
                      </a:schemeClr>
                    </a:solidFill>
                  </a:tcPr>
                </a:tc>
                <a:tc>
                  <a:txBody>
                    <a:bodyPr/>
                    <a:lstStyle/>
                    <a:p>
                      <a:pPr algn="ctr"/>
                      <a:r>
                        <a:rPr kumimoji="1" lang="ja-JP" altLang="en-US" sz="2200" dirty="0"/>
                        <a:t>変更</a:t>
                      </a:r>
                    </a:p>
                  </a:txBody>
                  <a:tcPr anchor="ctr">
                    <a:solidFill>
                      <a:schemeClr val="tx2">
                        <a:lumMod val="20000"/>
                        <a:lumOff val="80000"/>
                      </a:schemeClr>
                    </a:solidFill>
                  </a:tcPr>
                </a:tc>
                <a:tc>
                  <a:txBody>
                    <a:bodyPr/>
                    <a:lstStyle/>
                    <a:p>
                      <a:pPr algn="ctr"/>
                      <a:r>
                        <a:rPr kumimoji="1" lang="ja-JP" altLang="en-US" sz="2200" dirty="0"/>
                        <a:t>久しぶり</a:t>
                      </a:r>
                    </a:p>
                  </a:txBody>
                  <a:tcPr anchor="ctr">
                    <a:solidFill>
                      <a:schemeClr val="tx2">
                        <a:lumMod val="20000"/>
                        <a:lumOff val="80000"/>
                      </a:schemeClr>
                    </a:solidFill>
                  </a:tcPr>
                </a:tc>
                <a:extLst>
                  <a:ext uri="{0D108BD9-81ED-4DB2-BD59-A6C34878D82A}">
                    <a16:rowId xmlns:a16="http://schemas.microsoft.com/office/drawing/2014/main" val="3132275627"/>
                  </a:ext>
                </a:extLst>
              </a:tr>
              <a:tr h="675494">
                <a:tc>
                  <a:txBody>
                    <a:bodyPr/>
                    <a:lstStyle/>
                    <a:p>
                      <a:pPr algn="ctr"/>
                      <a:r>
                        <a:rPr kumimoji="1" lang="ja-JP" altLang="en-US" sz="2200" dirty="0"/>
                        <a:t>人</a:t>
                      </a:r>
                    </a:p>
                  </a:txBody>
                  <a:tcPr anchor="ctr">
                    <a:solidFill>
                      <a:schemeClr val="tx2">
                        <a:lumMod val="20000"/>
                        <a:lumOff val="80000"/>
                      </a:schemeClr>
                    </a:solidFill>
                  </a:tcPr>
                </a:tc>
                <a:tc>
                  <a:txBody>
                    <a:bodyPr/>
                    <a:lstStyle/>
                    <a:p>
                      <a:r>
                        <a:rPr kumimoji="1" lang="ja-JP" altLang="en-US" sz="2200" dirty="0"/>
                        <a:t>新人、パート、派遣社員</a:t>
                      </a:r>
                    </a:p>
                  </a:txBody>
                  <a:tcPr/>
                </a:tc>
                <a:tc>
                  <a:txBody>
                    <a:bodyPr/>
                    <a:lstStyle/>
                    <a:p>
                      <a:r>
                        <a:rPr kumimoji="1" lang="ja-JP" altLang="en-US" sz="2200" dirty="0"/>
                        <a:t>配置転換</a:t>
                      </a:r>
                    </a:p>
                  </a:txBody>
                  <a:tcPr/>
                </a:tc>
                <a:tc>
                  <a:txBody>
                    <a:bodyPr/>
                    <a:lstStyle/>
                    <a:p>
                      <a:r>
                        <a:rPr kumimoji="1" lang="ja-JP" altLang="en-US" sz="2200" dirty="0"/>
                        <a:t>職場復帰</a:t>
                      </a:r>
                    </a:p>
                  </a:txBody>
                  <a:tcPr/>
                </a:tc>
                <a:extLst>
                  <a:ext uri="{0D108BD9-81ED-4DB2-BD59-A6C34878D82A}">
                    <a16:rowId xmlns:a16="http://schemas.microsoft.com/office/drawing/2014/main" val="3251587321"/>
                  </a:ext>
                </a:extLst>
              </a:tr>
              <a:tr h="675494">
                <a:tc>
                  <a:txBody>
                    <a:bodyPr/>
                    <a:lstStyle/>
                    <a:p>
                      <a:pPr algn="ctr"/>
                      <a:r>
                        <a:rPr kumimoji="1" lang="ja-JP" altLang="en-US" sz="2200" dirty="0"/>
                        <a:t>設備</a:t>
                      </a:r>
                    </a:p>
                  </a:txBody>
                  <a:tcPr anchor="ctr">
                    <a:solidFill>
                      <a:schemeClr val="tx2">
                        <a:lumMod val="20000"/>
                        <a:lumOff val="80000"/>
                      </a:schemeClr>
                    </a:solidFill>
                  </a:tcPr>
                </a:tc>
                <a:tc>
                  <a:txBody>
                    <a:bodyPr/>
                    <a:lstStyle/>
                    <a:p>
                      <a:r>
                        <a:rPr kumimoji="1" lang="ja-JP" altLang="en-US" sz="2200" dirty="0"/>
                        <a:t>新規導入、新規金型</a:t>
                      </a:r>
                    </a:p>
                  </a:txBody>
                  <a:tcPr/>
                </a:tc>
                <a:tc>
                  <a:txBody>
                    <a:bodyPr/>
                    <a:lstStyle/>
                    <a:p>
                      <a:r>
                        <a:rPr kumimoji="1" lang="ja-JP" altLang="en-US" sz="2200" dirty="0"/>
                        <a:t>修理、仕様変更、金型更新</a:t>
                      </a:r>
                    </a:p>
                  </a:txBody>
                  <a:tcPr/>
                </a:tc>
                <a:tc>
                  <a:txBody>
                    <a:bodyPr/>
                    <a:lstStyle/>
                    <a:p>
                      <a:r>
                        <a:rPr kumimoji="1" lang="ja-JP" altLang="en-US" sz="2200" dirty="0"/>
                        <a:t>遊休設備の再稼働</a:t>
                      </a:r>
                    </a:p>
                  </a:txBody>
                  <a:tcPr/>
                </a:tc>
                <a:extLst>
                  <a:ext uri="{0D108BD9-81ED-4DB2-BD59-A6C34878D82A}">
                    <a16:rowId xmlns:a16="http://schemas.microsoft.com/office/drawing/2014/main" val="2879533194"/>
                  </a:ext>
                </a:extLst>
              </a:tr>
              <a:tr h="675494">
                <a:tc>
                  <a:txBody>
                    <a:bodyPr/>
                    <a:lstStyle/>
                    <a:p>
                      <a:pPr algn="ctr"/>
                      <a:r>
                        <a:rPr kumimoji="1" lang="ja-JP" altLang="en-US" sz="2200" dirty="0"/>
                        <a:t>材料</a:t>
                      </a:r>
                    </a:p>
                  </a:txBody>
                  <a:tcPr anchor="ctr">
                    <a:solidFill>
                      <a:schemeClr val="tx2">
                        <a:lumMod val="20000"/>
                        <a:lumOff val="80000"/>
                      </a:schemeClr>
                    </a:solidFill>
                  </a:tcPr>
                </a:tc>
                <a:tc>
                  <a:txBody>
                    <a:bodyPr/>
                    <a:lstStyle/>
                    <a:p>
                      <a:r>
                        <a:rPr kumimoji="1" lang="ja-JP" altLang="en-US" sz="2200" dirty="0"/>
                        <a:t>新規材料</a:t>
                      </a:r>
                    </a:p>
                  </a:txBody>
                  <a:tcPr/>
                </a:tc>
                <a:tc>
                  <a:txBody>
                    <a:bodyPr/>
                    <a:lstStyle/>
                    <a:p>
                      <a:r>
                        <a:rPr kumimoji="1" lang="ja-JP" altLang="en-US" sz="2200" dirty="0"/>
                        <a:t>材料変更、メーカー変更</a:t>
                      </a:r>
                    </a:p>
                  </a:txBody>
                  <a:tcPr/>
                </a:tc>
                <a:tc>
                  <a:txBody>
                    <a:bodyPr/>
                    <a:lstStyle/>
                    <a:p>
                      <a:r>
                        <a:rPr kumimoji="1" lang="ja-JP" altLang="en-US" sz="2200" dirty="0"/>
                        <a:t>長期在庫品</a:t>
                      </a:r>
                    </a:p>
                  </a:txBody>
                  <a:tcPr/>
                </a:tc>
                <a:extLst>
                  <a:ext uri="{0D108BD9-81ED-4DB2-BD59-A6C34878D82A}">
                    <a16:rowId xmlns:a16="http://schemas.microsoft.com/office/drawing/2014/main" val="1700688727"/>
                  </a:ext>
                </a:extLst>
              </a:tr>
              <a:tr h="644213">
                <a:tc>
                  <a:txBody>
                    <a:bodyPr/>
                    <a:lstStyle/>
                    <a:p>
                      <a:pPr algn="ctr"/>
                      <a:r>
                        <a:rPr kumimoji="1" lang="ja-JP" altLang="en-US" sz="2200" dirty="0"/>
                        <a:t>方法</a:t>
                      </a:r>
                    </a:p>
                  </a:txBody>
                  <a:tcPr anchor="ctr">
                    <a:solidFill>
                      <a:schemeClr val="tx2">
                        <a:lumMod val="20000"/>
                        <a:lumOff val="80000"/>
                      </a:schemeClr>
                    </a:solidFill>
                  </a:tcPr>
                </a:tc>
                <a:tc>
                  <a:txBody>
                    <a:bodyPr/>
                    <a:lstStyle/>
                    <a:p>
                      <a:r>
                        <a:rPr kumimoji="1" lang="ja-JP" altLang="en-US" sz="2200" dirty="0"/>
                        <a:t>新規製造、新規検査</a:t>
                      </a:r>
                    </a:p>
                  </a:txBody>
                  <a:tcPr/>
                </a:tc>
                <a:tc>
                  <a:txBody>
                    <a:bodyPr/>
                    <a:lstStyle/>
                    <a:p>
                      <a:r>
                        <a:rPr kumimoji="1" lang="ja-JP" altLang="en-US" sz="2200" dirty="0"/>
                        <a:t>工程変更</a:t>
                      </a:r>
                    </a:p>
                  </a:txBody>
                  <a:tcPr/>
                </a:tc>
                <a:tc>
                  <a:txBody>
                    <a:bodyPr/>
                    <a:lstStyle/>
                    <a:p>
                      <a:r>
                        <a:rPr kumimoji="1" lang="ja-JP" altLang="en-US" sz="2200" dirty="0"/>
                        <a:t>１年ぶりの生産</a:t>
                      </a:r>
                    </a:p>
                  </a:txBody>
                  <a:tcPr/>
                </a:tc>
                <a:extLst>
                  <a:ext uri="{0D108BD9-81ED-4DB2-BD59-A6C34878D82A}">
                    <a16:rowId xmlns:a16="http://schemas.microsoft.com/office/drawing/2014/main" val="2157561410"/>
                  </a:ext>
                </a:extLst>
              </a:tr>
            </a:tbl>
          </a:graphicData>
        </a:graphic>
      </p:graphicFrame>
      <p:sp>
        <p:nvSpPr>
          <p:cNvPr id="2" name="吹き出し: 角を丸めた四角形 1">
            <a:extLst>
              <a:ext uri="{FF2B5EF4-FFF2-40B4-BE49-F238E27FC236}">
                <a16:creationId xmlns:a16="http://schemas.microsoft.com/office/drawing/2014/main" id="{E9DC9F80-4DCB-4438-B86B-4F5B1D38CCC1}"/>
              </a:ext>
            </a:extLst>
          </p:cNvPr>
          <p:cNvSpPr/>
          <p:nvPr/>
        </p:nvSpPr>
        <p:spPr>
          <a:xfrm>
            <a:off x="3893127" y="5624945"/>
            <a:ext cx="6359237" cy="731405"/>
          </a:xfrm>
          <a:prstGeom prst="wedgeRoundRectCallout">
            <a:avLst>
              <a:gd name="adj1" fmla="val -44793"/>
              <a:gd name="adj2" fmla="val -73839"/>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effectLst>
                  <a:outerShdw blurRad="38100" dist="38100" dir="2700000" algn="tl">
                    <a:srgbClr val="000000">
                      <a:alpha val="43137"/>
                    </a:srgbClr>
                  </a:outerShdw>
                </a:effectLst>
              </a:rPr>
              <a:t>管理すべき変更事象は具体的に明確にする。</a:t>
            </a:r>
            <a:endParaRPr kumimoji="1" lang="en-US" altLang="ja-JP" dirty="0">
              <a:solidFill>
                <a:srgbClr val="FF0000"/>
              </a:solidFill>
              <a:effectLst>
                <a:outerShdw blurRad="38100" dist="38100" dir="2700000" algn="tl">
                  <a:srgbClr val="000000">
                    <a:alpha val="43137"/>
                  </a:srgbClr>
                </a:outerShdw>
              </a:effectLst>
            </a:endParaRPr>
          </a:p>
          <a:p>
            <a:pPr algn="ctr"/>
            <a:r>
              <a:rPr kumimoji="1" lang="ja-JP" altLang="en-US" dirty="0">
                <a:solidFill>
                  <a:schemeClr val="tx1"/>
                </a:solidFill>
              </a:rPr>
              <a:t>（顧客が示さない場合は組織が明確にすべき。）</a:t>
            </a:r>
          </a:p>
        </p:txBody>
      </p:sp>
    </p:spTree>
    <p:extLst>
      <p:ext uri="{BB962C8B-B14F-4D97-AF65-F5344CB8AC3E}">
        <p14:creationId xmlns:p14="http://schemas.microsoft.com/office/powerpoint/2010/main" val="2048060770"/>
      </p:ext>
    </p:extLst>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☑組織は、検査、測定、試験及びポカヨケ装置を含む、工程管理のリストを特定し、文書化し、維持しなければならない。</a:t>
            </a:r>
            <a:r>
              <a:rPr lang="ja-JP" altLang="en-US" sz="2000" u="sng" dirty="0"/>
              <a:t>バックアップ法又は代替法が存在する場合、工程管理のリストには、主要な工程管理及び承認されたバックアップ法又は代替法を含めなければならない。</a:t>
            </a:r>
            <a:endParaRPr lang="en-US" altLang="ja-JP" sz="2000" u="sng" dirty="0"/>
          </a:p>
          <a:p>
            <a:pPr marL="0" indent="0">
              <a:lnSpc>
                <a:spcPct val="100000"/>
              </a:lnSpc>
              <a:buNone/>
            </a:pPr>
            <a:r>
              <a:rPr lang="ja-JP" altLang="en-US" sz="2000" dirty="0"/>
              <a:t>☑組織は、代替管理方法の使用を運用管理する</a:t>
            </a:r>
            <a:r>
              <a:rPr lang="ja-JP" altLang="en-US" sz="2000" b="1" dirty="0"/>
              <a:t>プロセスを文書化</a:t>
            </a:r>
            <a:r>
              <a:rPr lang="ja-JP" altLang="en-US" sz="2000" dirty="0"/>
              <a:t>しなければならない。</a:t>
            </a:r>
            <a:endParaRPr lang="en-US" altLang="ja-JP" sz="2000" dirty="0"/>
          </a:p>
          <a:p>
            <a:pPr marL="0" indent="0">
              <a:lnSpc>
                <a:spcPct val="100000"/>
              </a:lnSpc>
              <a:buNone/>
            </a:pPr>
            <a:r>
              <a:rPr lang="ja-JP" altLang="en-US" sz="2000" dirty="0"/>
              <a:t>☑組織は、このプロセスに、リスク分析（</a:t>
            </a:r>
            <a:r>
              <a:rPr lang="en-US" altLang="ja-JP" sz="2000" dirty="0"/>
              <a:t>FMEA</a:t>
            </a:r>
            <a:r>
              <a:rPr lang="ja-JP" altLang="en-US" sz="2000" dirty="0"/>
              <a:t>のような）に基づいて、重大性及び代替管理方法の生産実施の前に取得する</a:t>
            </a:r>
            <a:r>
              <a:rPr lang="ja-JP" altLang="en-US" sz="2000" u="sng" dirty="0"/>
              <a:t>内部承認を含めなければならない。</a:t>
            </a:r>
            <a:endParaRPr lang="en-US" altLang="ja-JP" sz="2000" u="sng" dirty="0"/>
          </a:p>
          <a:p>
            <a:pPr marL="0" indent="0">
              <a:lnSpc>
                <a:spcPct val="100000"/>
              </a:lnSpc>
              <a:buNone/>
            </a:pPr>
            <a:r>
              <a:rPr lang="ja-JP" altLang="en-US" sz="2000" dirty="0"/>
              <a:t>☑代替手法を使用して、検査され又は試験された製品の出荷の前に、要求される場合、組織は、</a:t>
            </a:r>
            <a:r>
              <a:rPr lang="ja-JP" altLang="en-US" sz="2000" u="sng" dirty="0"/>
              <a:t>顧客の承認を取得しなければならない。</a:t>
            </a:r>
            <a:endParaRPr lang="en-US" altLang="ja-JP" sz="2000" u="sng" dirty="0"/>
          </a:p>
          <a:p>
            <a:pPr marL="0" indent="0">
              <a:lnSpc>
                <a:spcPct val="100000"/>
              </a:lnSpc>
              <a:buNone/>
            </a:pPr>
            <a:r>
              <a:rPr lang="ja-JP" altLang="en-US" sz="2000" dirty="0"/>
              <a:t>☑組織は、コントロールプランに引用され、承認された代替工程管理方法のリストを、維持し、定期的にレビューしなければならない。</a:t>
            </a:r>
            <a:endParaRPr lang="en-US" altLang="ja-JP" sz="2000" dirty="0"/>
          </a:p>
          <a:p>
            <a:pPr marL="0" indent="0">
              <a:lnSpc>
                <a:spcPct val="100000"/>
              </a:lnSpc>
              <a:buNone/>
            </a:pPr>
            <a:r>
              <a:rPr lang="ja-JP" altLang="en-US" sz="2000" dirty="0"/>
              <a:t>☑</a:t>
            </a:r>
            <a:r>
              <a:rPr lang="ja-JP" altLang="en-US" sz="2000" u="sng" dirty="0"/>
              <a:t>標準作業指示書は、各代替工程管理方法に対して利用可能でなければならない。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8.5.6.1.1</a:t>
            </a:r>
            <a:r>
              <a:rPr kumimoji="1" lang="ja-JP" altLang="en-US" sz="3000" b="1" dirty="0">
                <a:solidFill>
                  <a:schemeClr val="tx2"/>
                </a:solidFill>
              </a:rPr>
              <a:t>　工程管理の一時的変更</a:t>
            </a:r>
          </a:p>
        </p:txBody>
      </p:sp>
      <p:sp>
        <p:nvSpPr>
          <p:cNvPr id="2" name="四角形: 角を丸くする 1">
            <a:extLst>
              <a:ext uri="{FF2B5EF4-FFF2-40B4-BE49-F238E27FC236}">
                <a16:creationId xmlns:a16="http://schemas.microsoft.com/office/drawing/2014/main" id="{53F78D9D-7A80-4FBC-B0D2-ECD3921C5DAE}"/>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11</a:t>
            </a:r>
          </a:p>
        </p:txBody>
      </p:sp>
    </p:spTree>
    <p:extLst>
      <p:ext uri="{BB962C8B-B14F-4D97-AF65-F5344CB8AC3E}">
        <p14:creationId xmlns:p14="http://schemas.microsoft.com/office/powerpoint/2010/main" val="3057558898"/>
      </p:ext>
    </p:extLst>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☑コントロールプランに定められた標準工程に可及的速やかに復帰することを目標とする、標準作業の実施を検証するために、</a:t>
            </a:r>
            <a:r>
              <a:rPr lang="ja-JP" altLang="en-US" sz="2000" u="sng" dirty="0"/>
              <a:t>代替工程管理の運用を、最低限、日常的にレビューしなければならない。</a:t>
            </a:r>
            <a:r>
              <a:rPr lang="ja-JP" altLang="en-US" sz="2000" dirty="0"/>
              <a:t>方法例には次の事項を含める。しかし、それに限定されない。</a:t>
            </a:r>
            <a:endParaRPr lang="en-US" altLang="ja-JP" sz="2000" dirty="0"/>
          </a:p>
          <a:p>
            <a:pPr marL="800100" lvl="1" indent="-342900">
              <a:lnSpc>
                <a:spcPct val="100000"/>
              </a:lnSpc>
              <a:buFont typeface="+mj-lt"/>
              <a:buAutoNum type="alphaLcPeriod"/>
            </a:pPr>
            <a:r>
              <a:rPr lang="ja-JP" altLang="en-US" sz="2000" dirty="0"/>
              <a:t>日常的品質重視監査（例　該当する場合には、必ず、階層別工程監査）</a:t>
            </a:r>
            <a:endParaRPr lang="en-US" altLang="ja-JP" sz="2000" dirty="0"/>
          </a:p>
          <a:p>
            <a:pPr marL="800100" lvl="1" indent="-342900">
              <a:lnSpc>
                <a:spcPct val="100000"/>
              </a:lnSpc>
              <a:buFont typeface="+mj-lt"/>
              <a:buAutoNum type="alphaLcPeriod"/>
            </a:pPr>
            <a:r>
              <a:rPr lang="ja-JP" altLang="en-US" sz="2000" dirty="0"/>
              <a:t>日常的リーダーシップ会議</a:t>
            </a:r>
            <a:endParaRPr lang="en-US" altLang="ja-JP" sz="2000" dirty="0"/>
          </a:p>
          <a:p>
            <a:pPr marL="0" indent="0">
              <a:lnSpc>
                <a:spcPct val="100000"/>
              </a:lnSpc>
              <a:buNone/>
            </a:pPr>
            <a:r>
              <a:rPr lang="ja-JP" altLang="en-US" sz="2000" dirty="0"/>
              <a:t>重大性によって定められている期間及びポカヨケ装置又は工程の全ての機能が有効に復帰しているとの確認に基づいて、</a:t>
            </a:r>
            <a:r>
              <a:rPr lang="ja-JP" altLang="en-US" sz="2000" u="sng" dirty="0"/>
              <a:t>再稼働検証を文書化する。</a:t>
            </a:r>
            <a:endParaRPr lang="en-US" altLang="ja-JP" sz="2000" u="sng" dirty="0"/>
          </a:p>
          <a:p>
            <a:pPr marL="0" indent="0">
              <a:lnSpc>
                <a:spcPct val="100000"/>
              </a:lnSpc>
              <a:buNone/>
            </a:pPr>
            <a:r>
              <a:rPr lang="ja-JP" altLang="en-US" sz="2000" dirty="0"/>
              <a:t>☑組織は、代替工程管理装置又は工程が使用されていた間、</a:t>
            </a:r>
            <a:r>
              <a:rPr lang="ja-JP" altLang="en-US" sz="2000" u="sng" dirty="0"/>
              <a:t>生産された全ての製品に対しトレーサビリティを実施しなければならない（例　シフトごとに得られた初品及び終品の検証及び保管）。</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8.5.6.1.1</a:t>
            </a:r>
            <a:r>
              <a:rPr kumimoji="1" lang="ja-JP" altLang="en-US" sz="3000" b="1" dirty="0">
                <a:solidFill>
                  <a:schemeClr val="tx2"/>
                </a:solidFill>
              </a:rPr>
              <a:t>　工程管理の一時的変更</a:t>
            </a:r>
          </a:p>
        </p:txBody>
      </p:sp>
    </p:spTree>
    <p:extLst>
      <p:ext uri="{BB962C8B-B14F-4D97-AF65-F5344CB8AC3E}">
        <p14:creationId xmlns:p14="http://schemas.microsoft.com/office/powerpoint/2010/main" val="3197837624"/>
      </p:ext>
    </p:extLst>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設備の故障など（シャットダウンと関連）で一時的に通常の製造工程ではない製造をする場合を想定し、予め手順を定めておく。</a:t>
            </a:r>
            <a:endParaRPr lang="en-US" altLang="ja-JP" sz="2400" dirty="0"/>
          </a:p>
          <a:p>
            <a:pPr marL="457200" indent="-457200">
              <a:lnSpc>
                <a:spcPct val="100000"/>
              </a:lnSpc>
              <a:buFont typeface="+mj-lt"/>
              <a:buAutoNum type="arabicPeriod"/>
            </a:pPr>
            <a:r>
              <a:rPr lang="ja-JP" altLang="en-US" sz="2400" dirty="0"/>
              <a:t>工程管理の一時的変更の事例。</a:t>
            </a:r>
            <a:endParaRPr lang="en-US" altLang="ja-JP" sz="2400" dirty="0"/>
          </a:p>
          <a:p>
            <a:pPr lvl="1">
              <a:lnSpc>
                <a:spcPct val="100000"/>
              </a:lnSpc>
              <a:buFont typeface="Wingdings" panose="05000000000000000000" pitchFamily="2" charset="2"/>
              <a:buChar char="Ø"/>
            </a:pPr>
            <a:r>
              <a:rPr lang="ja-JP" altLang="en-US" dirty="0"/>
              <a:t>自動機の故障　➠　マニュアル加工。</a:t>
            </a:r>
            <a:endParaRPr lang="en-US" altLang="ja-JP" dirty="0"/>
          </a:p>
          <a:p>
            <a:pPr lvl="1">
              <a:lnSpc>
                <a:spcPct val="100000"/>
              </a:lnSpc>
              <a:buFont typeface="Wingdings" panose="05000000000000000000" pitchFamily="2" charset="2"/>
              <a:buChar char="Ø"/>
            </a:pPr>
            <a:r>
              <a:rPr lang="ja-JP" altLang="en-US" dirty="0"/>
              <a:t>画像検査機の故障　➠　目視検査。</a:t>
            </a:r>
            <a:endParaRPr lang="en-US" altLang="ja-JP" dirty="0"/>
          </a:p>
          <a:p>
            <a:pPr lvl="1">
              <a:lnSpc>
                <a:spcPct val="100000"/>
              </a:lnSpc>
              <a:buFont typeface="Wingdings" panose="05000000000000000000" pitchFamily="2" charset="2"/>
              <a:buChar char="Ø"/>
            </a:pPr>
            <a:r>
              <a:rPr lang="ja-JP" altLang="en-US" dirty="0"/>
              <a:t>ポカヨケ装置の故障　➠　人的管理。</a:t>
            </a:r>
            <a:endParaRPr lang="en-US" altLang="ja-JP" dirty="0"/>
          </a:p>
          <a:p>
            <a:pPr marL="457200" lvl="1" indent="0">
              <a:lnSpc>
                <a:spcPct val="100000"/>
              </a:lnSpc>
              <a:buNone/>
            </a:pPr>
            <a:r>
              <a:rPr lang="ja-JP" altLang="en-US" dirty="0"/>
              <a:t>承認された工程管理に対する　“機能低下（故障）”　を意図している。</a:t>
            </a:r>
            <a:endParaRPr lang="en-US" altLang="ja-JP" dirty="0"/>
          </a:p>
          <a:p>
            <a:pPr marL="514350" indent="-514350">
              <a:lnSpc>
                <a:spcPct val="100000"/>
              </a:lnSpc>
              <a:buFont typeface="+mj-lt"/>
              <a:buAutoNum type="arabicPeriod"/>
            </a:pPr>
            <a:r>
              <a:rPr lang="ja-JP" altLang="en-US" sz="2400" dirty="0"/>
              <a:t>工程ＦＭＥＡ～ＣＰの決定過程で</a:t>
            </a:r>
            <a:r>
              <a:rPr lang="ja-JP" altLang="en-US" sz="2400" dirty="0">
                <a:solidFill>
                  <a:srgbClr val="FF0000"/>
                </a:solidFill>
                <a:effectLst>
                  <a:outerShdw blurRad="38100" dist="38100" dir="2700000" algn="tl">
                    <a:srgbClr val="000000">
                      <a:alpha val="43137"/>
                    </a:srgbClr>
                  </a:outerShdw>
                </a:effectLst>
              </a:rPr>
              <a:t>代替工程に関するプロセスを含めておく</a:t>
            </a:r>
            <a:r>
              <a:rPr lang="ja-JP" altLang="en-US" sz="2400" dirty="0"/>
              <a:t>ことも有効。</a:t>
            </a:r>
            <a:endParaRPr lang="en-US" altLang="ja-JP" sz="2400" dirty="0"/>
          </a:p>
          <a:p>
            <a:pPr lvl="1">
              <a:lnSpc>
                <a:spcPct val="100000"/>
              </a:lnSpc>
              <a:buFont typeface="Wingdings" panose="05000000000000000000" pitchFamily="2" charset="2"/>
              <a:buChar char="Ø"/>
            </a:pPr>
            <a:r>
              <a:rPr lang="ja-JP" altLang="en-US" dirty="0"/>
              <a:t>全ての工程を想定する必要はない。</a:t>
            </a:r>
            <a:r>
              <a:rPr lang="ja-JP" altLang="en-US" dirty="0">
                <a:solidFill>
                  <a:srgbClr val="FF0000"/>
                </a:solidFill>
                <a:effectLst>
                  <a:outerShdw blurRad="38100" dist="38100" dir="2700000" algn="tl">
                    <a:srgbClr val="000000">
                      <a:alpha val="43137"/>
                    </a:srgbClr>
                  </a:outerShdw>
                </a:effectLst>
              </a:rPr>
              <a:t>どの工程の代替工程管理を想定するかは工程ＦＭＥＡによる。</a:t>
            </a:r>
            <a:r>
              <a:rPr lang="ja-JP" altLang="en-US" dirty="0">
                <a:effectLst>
                  <a:outerShdw blurRad="38100" dist="38100" dir="2700000" algn="tl">
                    <a:srgbClr val="000000">
                      <a:alpha val="43137"/>
                    </a:srgbClr>
                  </a:outerShdw>
                </a:effectLst>
              </a:rPr>
              <a:t>（</a:t>
            </a:r>
            <a:r>
              <a:rPr lang="en-US" altLang="ja-JP" dirty="0"/>
              <a:t>FAQ17</a:t>
            </a:r>
            <a:r>
              <a:rPr lang="ja-JP" altLang="en-US" dirty="0"/>
              <a:t>）</a:t>
            </a:r>
            <a:endParaRPr lang="en-US" altLang="ja-JP" dirty="0"/>
          </a:p>
          <a:p>
            <a:pPr marL="514350" indent="-514350">
              <a:lnSpc>
                <a:spcPct val="100000"/>
              </a:lnSpc>
              <a:buFont typeface="+mj-lt"/>
              <a:buAutoNum type="arabicPeriod"/>
            </a:pPr>
            <a:r>
              <a:rPr lang="ja-JP" altLang="en-US" sz="2400" dirty="0"/>
              <a:t>原則、代替工程は　“異常なモノ造り”　なので、</a:t>
            </a:r>
            <a:r>
              <a:rPr lang="ja-JP" altLang="en-US" sz="2400" dirty="0">
                <a:solidFill>
                  <a:srgbClr val="FF0000"/>
                </a:solidFill>
                <a:effectLst>
                  <a:outerShdw blurRad="38100" dist="38100" dir="2700000" algn="tl">
                    <a:srgbClr val="000000">
                      <a:alpha val="43137"/>
                    </a:srgbClr>
                  </a:outerShdw>
                </a:effectLst>
              </a:rPr>
              <a:t>日常的検証、再稼働の検証及びトレーサビリティ</a:t>
            </a:r>
            <a:r>
              <a:rPr lang="ja-JP" altLang="en-US" sz="2400" dirty="0"/>
              <a:t>を確実にする。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8.5.6.1.1</a:t>
            </a:r>
            <a:r>
              <a:rPr lang="ja-JP" altLang="en-US" sz="3000" b="1" dirty="0">
                <a:solidFill>
                  <a:schemeClr val="bg1"/>
                </a:solidFill>
              </a:rPr>
              <a:t>　工程管理の一時的変更</a:t>
            </a:r>
            <a:endParaRPr kumimoji="1" lang="ja-JP" altLang="en-US" sz="3000" b="1" dirty="0">
              <a:solidFill>
                <a:schemeClr val="bg1"/>
              </a:solidFill>
            </a:endParaRPr>
          </a:p>
        </p:txBody>
      </p:sp>
      <p:sp>
        <p:nvSpPr>
          <p:cNvPr id="3" name="吹き出し: 線 2">
            <a:extLst>
              <a:ext uri="{FF2B5EF4-FFF2-40B4-BE49-F238E27FC236}">
                <a16:creationId xmlns:a16="http://schemas.microsoft.com/office/drawing/2014/main" id="{B432DD18-68D8-4EA5-9D88-D9132BDF2A22}"/>
              </a:ext>
            </a:extLst>
          </p:cNvPr>
          <p:cNvSpPr/>
          <p:nvPr/>
        </p:nvSpPr>
        <p:spPr>
          <a:xfrm>
            <a:off x="6654800" y="2123440"/>
            <a:ext cx="4699000" cy="1452880"/>
          </a:xfrm>
          <a:prstGeom prst="borderCallout1">
            <a:avLst>
              <a:gd name="adj1" fmla="val 104353"/>
              <a:gd name="adj2" fmla="val 387"/>
              <a:gd name="adj3" fmla="val 132755"/>
              <a:gd name="adj4" fmla="val -7349"/>
            </a:avLst>
          </a:prstGeom>
          <a:solidFill>
            <a:schemeClr val="accent4">
              <a:lumMod val="20000"/>
              <a:lumOff val="8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設備故障などのミクロ的な代替工程</a:t>
            </a:r>
            <a:endParaRPr kumimoji="1" lang="en-US" altLang="ja-JP" sz="2000" dirty="0">
              <a:solidFill>
                <a:schemeClr val="tx1"/>
              </a:solidFill>
            </a:endParaRPr>
          </a:p>
          <a:p>
            <a:pPr algn="ctr"/>
            <a:r>
              <a:rPr kumimoji="1" lang="ja-JP" altLang="en-US" sz="2000" dirty="0">
                <a:solidFill>
                  <a:schemeClr val="tx1"/>
                </a:solidFill>
              </a:rPr>
              <a:t>➠ＣＰへ明記</a:t>
            </a:r>
            <a:endParaRPr kumimoji="1" lang="en-US" altLang="ja-JP" sz="2000" dirty="0">
              <a:solidFill>
                <a:schemeClr val="tx1"/>
              </a:solidFill>
            </a:endParaRPr>
          </a:p>
          <a:p>
            <a:pPr algn="ctr"/>
            <a:r>
              <a:rPr lang="ja-JP" altLang="en-US" sz="2000" dirty="0">
                <a:solidFill>
                  <a:schemeClr val="tx1"/>
                </a:solidFill>
              </a:rPr>
              <a:t>災害などのマクロ的な代替工程</a:t>
            </a:r>
            <a:endParaRPr lang="en-US" altLang="ja-JP" sz="2000" dirty="0">
              <a:solidFill>
                <a:schemeClr val="tx1"/>
              </a:solidFill>
            </a:endParaRPr>
          </a:p>
          <a:p>
            <a:pPr algn="ctr"/>
            <a:r>
              <a:rPr lang="ja-JP" altLang="en-US" sz="2000" dirty="0">
                <a:solidFill>
                  <a:schemeClr val="tx1"/>
                </a:solidFill>
              </a:rPr>
              <a:t>➠</a:t>
            </a:r>
            <a:r>
              <a:rPr lang="en-US" altLang="ja-JP" sz="2000" dirty="0">
                <a:solidFill>
                  <a:schemeClr val="tx1"/>
                </a:solidFill>
              </a:rPr>
              <a:t>6.1.2.3</a:t>
            </a:r>
            <a:r>
              <a:rPr lang="ja-JP" altLang="en-US" sz="2000" dirty="0">
                <a:solidFill>
                  <a:schemeClr val="tx1"/>
                </a:solidFill>
              </a:rPr>
              <a:t>緊急事態対応手順</a:t>
            </a:r>
            <a:endParaRPr kumimoji="1" lang="ja-JP" altLang="en-US" sz="2000" dirty="0">
              <a:solidFill>
                <a:schemeClr val="tx1"/>
              </a:solidFill>
            </a:endParaRPr>
          </a:p>
        </p:txBody>
      </p:sp>
    </p:spTree>
    <p:extLst>
      <p:ext uri="{BB962C8B-B14F-4D97-AF65-F5344CB8AC3E}">
        <p14:creationId xmlns:p14="http://schemas.microsoft.com/office/powerpoint/2010/main" val="2995404181"/>
      </p:ext>
    </p:extLst>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メモ 7">
            <a:extLst>
              <a:ext uri="{FF2B5EF4-FFF2-40B4-BE49-F238E27FC236}">
                <a16:creationId xmlns:a16="http://schemas.microsoft.com/office/drawing/2014/main" id="{587A77C3-48F8-4CD9-A00C-389D21826757}"/>
              </a:ext>
            </a:extLst>
          </p:cNvPr>
          <p:cNvSpPr/>
          <p:nvPr/>
        </p:nvSpPr>
        <p:spPr>
          <a:xfrm>
            <a:off x="3658519" y="1553381"/>
            <a:ext cx="4284641" cy="4340643"/>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endParaRPr lang="en-US" altLang="ja-JP" dirty="0"/>
          </a:p>
          <a:p>
            <a:r>
              <a:rPr lang="en-US" altLang="ja-JP" dirty="0"/>
              <a:t>8.6.1</a:t>
            </a:r>
            <a:r>
              <a:rPr lang="ja-JP" altLang="en-US" dirty="0"/>
              <a:t>　製品及びサービスのリリース－補足</a:t>
            </a:r>
            <a:endParaRPr lang="en-US" altLang="ja-JP" dirty="0"/>
          </a:p>
          <a:p>
            <a:r>
              <a:rPr lang="en-US" altLang="ja-JP" dirty="0"/>
              <a:t>8.6.2</a:t>
            </a:r>
            <a:r>
              <a:rPr lang="ja-JP" altLang="en-US" dirty="0"/>
              <a:t>　レイアウト検査及び機能試験</a:t>
            </a:r>
            <a:endParaRPr lang="en-US" altLang="ja-JP" dirty="0"/>
          </a:p>
          <a:p>
            <a:r>
              <a:rPr lang="en-US" altLang="ja-JP" dirty="0"/>
              <a:t>8.6.3</a:t>
            </a:r>
            <a:r>
              <a:rPr lang="ja-JP" altLang="en-US" dirty="0"/>
              <a:t>　外観品目</a:t>
            </a:r>
            <a:endParaRPr lang="en-US" altLang="ja-JP" dirty="0"/>
          </a:p>
          <a:p>
            <a:r>
              <a:rPr lang="en-US" altLang="ja-JP" dirty="0"/>
              <a:t>8.6.4</a:t>
            </a:r>
            <a:r>
              <a:rPr lang="ja-JP" altLang="en-US" dirty="0"/>
              <a:t>　外部から提供される製品及びサービスの検証及び受入れ</a:t>
            </a:r>
            <a:endParaRPr lang="en-US" altLang="ja-JP" dirty="0"/>
          </a:p>
          <a:p>
            <a:r>
              <a:rPr lang="en-US" altLang="ja-JP" dirty="0"/>
              <a:t>8.6.5</a:t>
            </a:r>
            <a:r>
              <a:rPr lang="ja-JP" altLang="en-US" dirty="0"/>
              <a:t>　法令・規制への適合</a:t>
            </a:r>
            <a:endParaRPr lang="en-US" altLang="ja-JP" dirty="0"/>
          </a:p>
          <a:p>
            <a:r>
              <a:rPr lang="en-US" altLang="ja-JP" dirty="0"/>
              <a:t>8.6.6</a:t>
            </a:r>
            <a:r>
              <a:rPr lang="ja-JP" altLang="en-US" dirty="0"/>
              <a:t>　合否判定基準</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295</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8.6</a:t>
            </a:r>
            <a:r>
              <a:rPr kumimoji="1" lang="ja-JP" altLang="en-US" sz="3600" dirty="0">
                <a:solidFill>
                  <a:schemeClr val="bg1"/>
                </a:solidFill>
              </a:rPr>
              <a:t>　製品及びサービスのリリース</a:t>
            </a: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3658519" y="1553382"/>
            <a:ext cx="4284642" cy="958464"/>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8.6</a:t>
            </a:r>
            <a:r>
              <a:rPr lang="ja-JP" altLang="en-US" sz="2000" b="1" dirty="0">
                <a:solidFill>
                  <a:schemeClr val="tx1"/>
                </a:solidFill>
              </a:rPr>
              <a:t>　製品及びサービスのリリース</a:t>
            </a:r>
            <a:r>
              <a:rPr kumimoji="1" lang="ja-JP" altLang="en-US" sz="1600" dirty="0">
                <a:solidFill>
                  <a:schemeClr val="tx1"/>
                </a:solidFill>
              </a:rPr>
              <a:t>　</a:t>
            </a:r>
          </a:p>
        </p:txBody>
      </p:sp>
    </p:spTree>
    <p:extLst>
      <p:ext uri="{BB962C8B-B14F-4D97-AF65-F5344CB8AC3E}">
        <p14:creationId xmlns:p14="http://schemas.microsoft.com/office/powerpoint/2010/main" val="1795211040"/>
      </p:ext>
    </p:extLst>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91797"/>
            <a:ext cx="10515600" cy="2574275"/>
          </a:xfrm>
          <a:ln w="12700">
            <a:solidFill>
              <a:schemeClr val="tx2"/>
            </a:solidFill>
          </a:ln>
        </p:spPr>
        <p:txBody>
          <a:bodyPr>
            <a:normAutofit/>
          </a:bodyPr>
          <a:lstStyle/>
          <a:p>
            <a:pPr marL="0" indent="0">
              <a:lnSpc>
                <a:spcPct val="100000"/>
              </a:lnSpc>
              <a:buNone/>
            </a:pPr>
            <a:r>
              <a:rPr lang="ja-JP" altLang="en-US" sz="2000" dirty="0"/>
              <a:t>☑組織は、製品及びサービスの要求事項が満たされていることを検証するための計画した取決めが、</a:t>
            </a:r>
            <a:r>
              <a:rPr lang="ja-JP" altLang="en-US" sz="2000" u="sng" dirty="0"/>
              <a:t>コントロールプランを網羅し、かつ、コントロールプラン（附属書</a:t>
            </a:r>
            <a:r>
              <a:rPr lang="en-US" altLang="ja-JP" sz="2000" u="sng" dirty="0"/>
              <a:t>A</a:t>
            </a:r>
            <a:r>
              <a:rPr lang="ja-JP" altLang="en-US" sz="2000" u="sng" dirty="0"/>
              <a:t>参照）に規定されたように</a:t>
            </a:r>
            <a:r>
              <a:rPr lang="ja-JP" altLang="en-US" sz="2000" b="1" u="sng" dirty="0"/>
              <a:t>文書化</a:t>
            </a:r>
            <a:r>
              <a:rPr lang="ja-JP" altLang="en-US" sz="2000" u="sng" dirty="0"/>
              <a:t>されている</a:t>
            </a:r>
            <a:r>
              <a:rPr lang="ja-JP" altLang="en-US" sz="2000" dirty="0"/>
              <a:t>ことを確実にしなければならない。</a:t>
            </a:r>
            <a:endParaRPr lang="en-US" altLang="ja-JP" sz="2000" dirty="0"/>
          </a:p>
          <a:p>
            <a:pPr marL="0" indent="0">
              <a:lnSpc>
                <a:spcPct val="100000"/>
              </a:lnSpc>
              <a:buNone/>
            </a:pPr>
            <a:r>
              <a:rPr lang="ja-JP" altLang="en-US" sz="2000" dirty="0"/>
              <a:t>☑組織は、製品及びサービスの</a:t>
            </a:r>
            <a:r>
              <a:rPr lang="ja-JP" altLang="en-US" sz="2000" u="sng" dirty="0"/>
              <a:t>初回リリースに対する計画した取決めが、製品又はサービスの承認を網羅する</a:t>
            </a:r>
            <a:r>
              <a:rPr lang="ja-JP" altLang="en-US" sz="2000" dirty="0"/>
              <a:t>ことを確実にしなければならない。</a:t>
            </a:r>
            <a:endParaRPr lang="en-US" altLang="ja-JP" sz="2000" dirty="0"/>
          </a:p>
          <a:p>
            <a:pPr marL="0" indent="0">
              <a:lnSpc>
                <a:spcPct val="100000"/>
              </a:lnSpc>
              <a:buNone/>
            </a:pPr>
            <a:r>
              <a:rPr lang="ja-JP" altLang="en-US" sz="2000" dirty="0"/>
              <a:t>☑組織は、</a:t>
            </a:r>
            <a:r>
              <a:rPr lang="ja-JP" altLang="en-US" sz="2000" u="sng" dirty="0"/>
              <a:t>製品又はサービスの承認が</a:t>
            </a:r>
            <a:r>
              <a:rPr lang="ja-JP" altLang="en-US" sz="2000" dirty="0"/>
              <a:t>、</a:t>
            </a:r>
            <a:r>
              <a:rPr lang="en-US" altLang="ja-JP" sz="2000" dirty="0"/>
              <a:t>ISO9001</a:t>
            </a:r>
            <a:r>
              <a:rPr lang="ja-JP" altLang="en-US" sz="2000" dirty="0"/>
              <a:t>の</a:t>
            </a:r>
            <a:r>
              <a:rPr lang="en-US" altLang="ja-JP" sz="2000" dirty="0"/>
              <a:t>8.5.6</a:t>
            </a:r>
            <a:r>
              <a:rPr lang="ja-JP" altLang="en-US" sz="2000" dirty="0"/>
              <a:t>に従って、初回リリースに引き続く</a:t>
            </a:r>
            <a:r>
              <a:rPr lang="ja-JP" altLang="en-US" sz="2000" u="sng" dirty="0"/>
              <a:t>変更の後に遂行される</a:t>
            </a:r>
            <a:r>
              <a:rPr lang="ja-JP" altLang="en-US" sz="2000" dirty="0"/>
              <a:t>ことを確実にしなければならない。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8.6.1</a:t>
            </a:r>
            <a:r>
              <a:rPr kumimoji="1" lang="ja-JP" altLang="en-US" sz="3000" b="1" dirty="0">
                <a:solidFill>
                  <a:schemeClr val="tx2"/>
                </a:solidFill>
              </a:rPr>
              <a:t>　製品及びサービスのリリース－補足</a:t>
            </a:r>
          </a:p>
        </p:txBody>
      </p:sp>
      <p:sp>
        <p:nvSpPr>
          <p:cNvPr id="6" name="タイトル 1">
            <a:extLst>
              <a:ext uri="{FF2B5EF4-FFF2-40B4-BE49-F238E27FC236}">
                <a16:creationId xmlns:a16="http://schemas.microsoft.com/office/drawing/2014/main" id="{A641E394-1868-4557-A477-69BB68A204E4}"/>
              </a:ext>
            </a:extLst>
          </p:cNvPr>
          <p:cNvSpPr txBox="1">
            <a:spLocks/>
          </p:cNvSpPr>
          <p:nvPr/>
        </p:nvSpPr>
        <p:spPr>
          <a:xfrm>
            <a:off x="838200" y="4138669"/>
            <a:ext cx="10515600" cy="663277"/>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8.6.1</a:t>
            </a:r>
            <a:r>
              <a:rPr lang="ja-JP" altLang="en-US" sz="3000" b="1" dirty="0">
                <a:solidFill>
                  <a:schemeClr val="bg1"/>
                </a:solidFill>
              </a:rPr>
              <a:t>　製品及びサービスのリリース－補足</a:t>
            </a:r>
          </a:p>
        </p:txBody>
      </p:sp>
      <p:sp>
        <p:nvSpPr>
          <p:cNvPr id="7" name="コンテンツ プレースホルダー 2">
            <a:extLst>
              <a:ext uri="{FF2B5EF4-FFF2-40B4-BE49-F238E27FC236}">
                <a16:creationId xmlns:a16="http://schemas.microsoft.com/office/drawing/2014/main" id="{F39DF928-D40A-433F-A4A8-19EDDFE6A02F}"/>
              </a:ext>
            </a:extLst>
          </p:cNvPr>
          <p:cNvSpPr txBox="1">
            <a:spLocks/>
          </p:cNvSpPr>
          <p:nvPr/>
        </p:nvSpPr>
        <p:spPr>
          <a:xfrm>
            <a:off x="838200" y="4900469"/>
            <a:ext cx="10515600" cy="1428255"/>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400" dirty="0"/>
              <a:t>製品特性の検査について、コントロールプランにて明確にし、それに従い実施する。</a:t>
            </a:r>
            <a:endParaRPr lang="en-US" altLang="ja-JP" sz="2400" dirty="0"/>
          </a:p>
          <a:p>
            <a:pPr marL="514350" indent="-514350">
              <a:lnSpc>
                <a:spcPct val="110000"/>
              </a:lnSpc>
              <a:buFont typeface="+mj-lt"/>
              <a:buAutoNum type="arabicPeriod"/>
            </a:pPr>
            <a:r>
              <a:rPr lang="ja-JP" altLang="en-US" sz="2400" dirty="0"/>
              <a:t>初回出荷及び変更後の初品に対する検査を含めた検証手順を明確にする。</a:t>
            </a:r>
            <a:endParaRPr lang="en-US" altLang="ja-JP" sz="2400" dirty="0"/>
          </a:p>
        </p:txBody>
      </p:sp>
    </p:spTree>
    <p:extLst>
      <p:ext uri="{BB962C8B-B14F-4D97-AF65-F5344CB8AC3E}">
        <p14:creationId xmlns:p14="http://schemas.microsoft.com/office/powerpoint/2010/main" val="32824124"/>
      </p:ext>
    </p:extLst>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☑レイアウト検査、並びに該当する顧客の材料及び性能の技術規格に対する機能検証は、コントロールプランに規定されたとおり、</a:t>
            </a:r>
            <a:r>
              <a:rPr lang="ja-JP" altLang="en-US" sz="2000" u="sng" dirty="0"/>
              <a:t>各製品に対して実行されなければならない。</a:t>
            </a:r>
            <a:endParaRPr lang="en-US" altLang="ja-JP" sz="2000" u="sng" dirty="0"/>
          </a:p>
          <a:p>
            <a:pPr marL="0" indent="0">
              <a:lnSpc>
                <a:spcPct val="100000"/>
              </a:lnSpc>
              <a:buNone/>
            </a:pPr>
            <a:r>
              <a:rPr lang="ja-JP" altLang="en-US" sz="2000" dirty="0"/>
              <a:t>☑その結果は、顧客がレビューのために利用できなければならない。</a:t>
            </a:r>
            <a:endParaRPr lang="en-US" altLang="ja-JP" sz="2000" dirty="0"/>
          </a:p>
          <a:p>
            <a:pPr marL="0" indent="0">
              <a:lnSpc>
                <a:spcPct val="100000"/>
              </a:lnSpc>
              <a:buNone/>
            </a:pPr>
            <a:r>
              <a:rPr lang="ja-JP" altLang="en-US" sz="2000" dirty="0"/>
              <a:t>注記</a:t>
            </a:r>
            <a:r>
              <a:rPr lang="en-US" altLang="ja-JP" sz="2000" dirty="0"/>
              <a:t>1</a:t>
            </a:r>
            <a:r>
              <a:rPr lang="ja-JP" altLang="en-US" sz="2000" dirty="0"/>
              <a:t>　レイアウト検査は、設計記録に示される</a:t>
            </a:r>
            <a:r>
              <a:rPr lang="ja-JP" altLang="en-US" sz="2000" u="sng" dirty="0"/>
              <a:t>全ての製品寸法を完全に測定する</a:t>
            </a:r>
            <a:r>
              <a:rPr lang="ja-JP" altLang="en-US" sz="2000" dirty="0"/>
              <a:t>ことである。</a:t>
            </a:r>
            <a:endParaRPr lang="en-US" altLang="ja-JP" sz="2000" dirty="0"/>
          </a:p>
          <a:p>
            <a:pPr marL="0" indent="0">
              <a:lnSpc>
                <a:spcPct val="100000"/>
              </a:lnSpc>
              <a:buNone/>
            </a:pPr>
            <a:r>
              <a:rPr lang="ja-JP" altLang="en-US" sz="2000" dirty="0"/>
              <a:t>注記</a:t>
            </a:r>
            <a:r>
              <a:rPr lang="en-US" altLang="ja-JP" sz="2000" dirty="0"/>
              <a:t>2</a:t>
            </a:r>
            <a:r>
              <a:rPr lang="ja-JP" altLang="en-US" sz="2000" dirty="0"/>
              <a:t>　レイアウト検査の</a:t>
            </a:r>
            <a:r>
              <a:rPr lang="ja-JP" altLang="en-US" sz="2000" u="sng" dirty="0"/>
              <a:t>頻度は、顧客によって決定される。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8.6.2</a:t>
            </a:r>
            <a:r>
              <a:rPr kumimoji="1" lang="ja-JP" altLang="en-US" sz="3000" b="1" dirty="0">
                <a:solidFill>
                  <a:schemeClr val="tx2"/>
                </a:solidFill>
              </a:rPr>
              <a:t>　レイアウト検査及び機能試験</a:t>
            </a:r>
          </a:p>
        </p:txBody>
      </p:sp>
    </p:spTree>
    <p:extLst>
      <p:ext uri="{BB962C8B-B14F-4D97-AF65-F5344CB8AC3E}">
        <p14:creationId xmlns:p14="http://schemas.microsoft.com/office/powerpoint/2010/main" val="270489490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レイアウト検査及び機能試験。</a:t>
            </a:r>
            <a:r>
              <a:rPr lang="ja-JP" altLang="en-US" sz="2000" dirty="0"/>
              <a:t>（コントロールプランに規定する。）</a:t>
            </a:r>
            <a:endParaRPr lang="en-US" altLang="ja-JP" sz="20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lvl="1">
              <a:lnSpc>
                <a:spcPct val="100000"/>
              </a:lnSpc>
              <a:buFont typeface="Wingdings" panose="05000000000000000000" pitchFamily="2" charset="2"/>
              <a:buChar char="Ø"/>
            </a:pPr>
            <a:r>
              <a:rPr lang="en-US" altLang="ja-JP" sz="2000" dirty="0"/>
              <a:t>PPAP</a:t>
            </a:r>
            <a:r>
              <a:rPr lang="ja-JP" altLang="en-US" sz="2000" dirty="0"/>
              <a:t>の再認証ではない。</a:t>
            </a:r>
            <a:r>
              <a:rPr lang="en-US" altLang="ja-JP" sz="2000" dirty="0"/>
              <a:t>PPAP</a:t>
            </a:r>
            <a:r>
              <a:rPr lang="ja-JP" altLang="en-US" sz="2000" dirty="0"/>
              <a:t>再認証は</a:t>
            </a:r>
            <a:r>
              <a:rPr lang="en-US" altLang="ja-JP" sz="2000" dirty="0"/>
              <a:t>8.6.2</a:t>
            </a:r>
            <a:r>
              <a:rPr lang="ja-JP" altLang="en-US" sz="2000" dirty="0"/>
              <a:t>を含むだけ。～</a:t>
            </a:r>
            <a:r>
              <a:rPr lang="en-US" altLang="ja-JP" sz="2000" dirty="0"/>
              <a:t>FAQ21</a:t>
            </a:r>
            <a:r>
              <a:rPr lang="ja-JP" altLang="en-US" sz="2000" dirty="0"/>
              <a:t>～</a:t>
            </a:r>
            <a:endParaRPr lang="en-US" altLang="ja-JP" sz="2400" dirty="0"/>
          </a:p>
          <a:p>
            <a:pPr marL="457200" indent="-457200">
              <a:lnSpc>
                <a:spcPct val="100000"/>
              </a:lnSpc>
              <a:buFont typeface="+mj-lt"/>
              <a:buAutoNum type="arabicPeriod"/>
            </a:pPr>
            <a:r>
              <a:rPr lang="ja-JP" altLang="en-US" sz="2400" dirty="0"/>
              <a:t>原則、個々の製品において実施すべきであるが、</a:t>
            </a:r>
            <a:r>
              <a:rPr lang="ja-JP" altLang="en-US" sz="2400" dirty="0">
                <a:solidFill>
                  <a:srgbClr val="FF0000"/>
                </a:solidFill>
                <a:effectLst>
                  <a:outerShdw blurRad="38100" dist="38100" dir="2700000" algn="tl">
                    <a:srgbClr val="000000">
                      <a:alpha val="43137"/>
                    </a:srgbClr>
                  </a:outerShdw>
                </a:effectLst>
              </a:rPr>
              <a:t>明らかな同一設計構造及び同一工程製造の場合は、ファミリーで行える</a:t>
            </a:r>
            <a:r>
              <a:rPr lang="ja-JP" altLang="en-US" sz="2400" dirty="0"/>
              <a:t>可能性はある。（顧客許可をとるべき）</a:t>
            </a:r>
            <a:endParaRPr lang="en-US" altLang="ja-JP" sz="2400" dirty="0"/>
          </a:p>
          <a:p>
            <a:pPr marL="457200" indent="-457200">
              <a:lnSpc>
                <a:spcPct val="100000"/>
              </a:lnSpc>
              <a:buFont typeface="+mj-lt"/>
              <a:buAutoNum type="arabicPeriod"/>
            </a:pPr>
            <a:r>
              <a:rPr lang="ja-JP" altLang="en-US" sz="2400" dirty="0"/>
              <a:t>レイアウト検査の頻度は顧客が指定するが、指定が無い場合は組織が決定する。➠１回／年が相場。</a:t>
            </a:r>
            <a:r>
              <a:rPr lang="ja-JP" altLang="en-US" sz="2000" dirty="0"/>
              <a:t>（フォード、クライスラー、各審査機関）</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8.6.2</a:t>
            </a:r>
            <a:r>
              <a:rPr lang="ja-JP" altLang="en-US" sz="3000" b="1" dirty="0">
                <a:solidFill>
                  <a:schemeClr val="bg1"/>
                </a:solidFill>
              </a:rPr>
              <a:t>　レイアウト検査及び機能試験</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48D42CDF-92E8-4802-B900-BBEA730E6C46}"/>
              </a:ext>
            </a:extLst>
          </p:cNvPr>
          <p:cNvGraphicFramePr>
            <a:graphicFrameLocks noGrp="1"/>
          </p:cNvGraphicFramePr>
          <p:nvPr>
            <p:extLst>
              <p:ext uri="{D42A27DB-BD31-4B8C-83A1-F6EECF244321}">
                <p14:modId xmlns:p14="http://schemas.microsoft.com/office/powerpoint/2010/main" val="184212602"/>
              </p:ext>
            </p:extLst>
          </p:nvPr>
        </p:nvGraphicFramePr>
        <p:xfrm>
          <a:off x="838200" y="1920504"/>
          <a:ext cx="10515600" cy="1798320"/>
        </p:xfrm>
        <a:graphic>
          <a:graphicData uri="http://schemas.openxmlformats.org/drawingml/2006/table">
            <a:tbl>
              <a:tblPr firstRow="1" bandRow="1">
                <a:tableStyleId>{5940675A-B579-460E-94D1-54222C63F5DA}</a:tableStyleId>
              </a:tblPr>
              <a:tblGrid>
                <a:gridCol w="1794831">
                  <a:extLst>
                    <a:ext uri="{9D8B030D-6E8A-4147-A177-3AD203B41FA5}">
                      <a16:colId xmlns:a16="http://schemas.microsoft.com/office/drawing/2014/main" val="812274843"/>
                    </a:ext>
                  </a:extLst>
                </a:gridCol>
                <a:gridCol w="4605051">
                  <a:extLst>
                    <a:ext uri="{9D8B030D-6E8A-4147-A177-3AD203B41FA5}">
                      <a16:colId xmlns:a16="http://schemas.microsoft.com/office/drawing/2014/main" val="1980408996"/>
                    </a:ext>
                  </a:extLst>
                </a:gridCol>
                <a:gridCol w="4115718">
                  <a:extLst>
                    <a:ext uri="{9D8B030D-6E8A-4147-A177-3AD203B41FA5}">
                      <a16:colId xmlns:a16="http://schemas.microsoft.com/office/drawing/2014/main" val="2088350296"/>
                    </a:ext>
                  </a:extLst>
                </a:gridCol>
              </a:tblGrid>
              <a:tr h="370840">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定義</a:t>
                      </a:r>
                    </a:p>
                  </a:txBody>
                  <a:tcPr>
                    <a:solidFill>
                      <a:schemeClr val="tx2">
                        <a:lumMod val="40000"/>
                        <a:lumOff val="60000"/>
                      </a:schemeClr>
                    </a:solidFill>
                  </a:tcPr>
                </a:tc>
                <a:tc>
                  <a:txBody>
                    <a:bodyPr/>
                    <a:lstStyle/>
                    <a:p>
                      <a:pPr algn="ctr"/>
                      <a:r>
                        <a:rPr kumimoji="1" lang="ja-JP" altLang="en-US" sz="2000" dirty="0"/>
                        <a:t>備考</a:t>
                      </a:r>
                    </a:p>
                  </a:txBody>
                  <a:tcPr>
                    <a:solidFill>
                      <a:schemeClr val="tx2">
                        <a:lumMod val="40000"/>
                        <a:lumOff val="60000"/>
                      </a:schemeClr>
                    </a:solidFill>
                  </a:tcPr>
                </a:tc>
                <a:extLst>
                  <a:ext uri="{0D108BD9-81ED-4DB2-BD59-A6C34878D82A}">
                    <a16:rowId xmlns:a16="http://schemas.microsoft.com/office/drawing/2014/main" val="4080152174"/>
                  </a:ext>
                </a:extLst>
              </a:tr>
              <a:tr h="370840">
                <a:tc>
                  <a:txBody>
                    <a:bodyPr/>
                    <a:lstStyle/>
                    <a:p>
                      <a:r>
                        <a:rPr kumimoji="1" lang="ja-JP" altLang="en-US" sz="2000" dirty="0"/>
                        <a:t>レイアウト検査</a:t>
                      </a:r>
                    </a:p>
                  </a:txBody>
                  <a:tcPr/>
                </a:tc>
                <a:tc>
                  <a:txBody>
                    <a:bodyPr/>
                    <a:lstStyle/>
                    <a:p>
                      <a:r>
                        <a:rPr kumimoji="1" lang="ja-JP" altLang="en-US" sz="2000" dirty="0"/>
                        <a:t>設計記録（図面）に示された全寸法の測定。～注記</a:t>
                      </a:r>
                      <a:r>
                        <a:rPr kumimoji="1" lang="en-US" altLang="ja-JP" sz="2000" dirty="0"/>
                        <a:t>1</a:t>
                      </a:r>
                      <a:r>
                        <a:rPr kumimoji="1" lang="ja-JP" altLang="en-US" sz="2000" dirty="0"/>
                        <a:t>～</a:t>
                      </a:r>
                    </a:p>
                  </a:txBody>
                  <a:tcPr/>
                </a:tc>
                <a:tc>
                  <a:txBody>
                    <a:bodyPr/>
                    <a:lstStyle/>
                    <a:p>
                      <a:r>
                        <a:rPr kumimoji="1" lang="en-US" altLang="ja-JP" sz="2000" dirty="0"/>
                        <a:t>PPAP</a:t>
                      </a:r>
                      <a:r>
                        <a:rPr kumimoji="1" lang="ja-JP" altLang="en-US" sz="2000" dirty="0"/>
                        <a:t>要求事項№</a:t>
                      </a:r>
                      <a:r>
                        <a:rPr kumimoji="1" lang="en-US" altLang="ja-JP" sz="2000" dirty="0"/>
                        <a:t>9</a:t>
                      </a:r>
                      <a:r>
                        <a:rPr kumimoji="1" lang="ja-JP" altLang="en-US" sz="2000" dirty="0"/>
                        <a:t>（寸法測定結果）</a:t>
                      </a:r>
                    </a:p>
                  </a:txBody>
                  <a:tcPr/>
                </a:tc>
                <a:extLst>
                  <a:ext uri="{0D108BD9-81ED-4DB2-BD59-A6C34878D82A}">
                    <a16:rowId xmlns:a16="http://schemas.microsoft.com/office/drawing/2014/main" val="1335045947"/>
                  </a:ext>
                </a:extLst>
              </a:tr>
              <a:tr h="370840">
                <a:tc>
                  <a:txBody>
                    <a:bodyPr/>
                    <a:lstStyle/>
                    <a:p>
                      <a:r>
                        <a:rPr kumimoji="1" lang="ja-JP" altLang="en-US" sz="2000" dirty="0"/>
                        <a:t>機能試験</a:t>
                      </a:r>
                    </a:p>
                  </a:txBody>
                  <a:tcPr/>
                </a:tc>
                <a:tc>
                  <a:txBody>
                    <a:bodyPr/>
                    <a:lstStyle/>
                    <a:p>
                      <a:r>
                        <a:rPr kumimoji="1" lang="ja-JP" altLang="en-US" sz="2000" dirty="0"/>
                        <a:t>材料特性、機能および特性に対する試験。</a:t>
                      </a:r>
                    </a:p>
                  </a:txBody>
                  <a:tcPr/>
                </a:tc>
                <a:tc>
                  <a:txBody>
                    <a:bodyPr/>
                    <a:lstStyle/>
                    <a:p>
                      <a:r>
                        <a:rPr kumimoji="1" lang="en-US" altLang="zh-TW" sz="2000" dirty="0"/>
                        <a:t>PPAP</a:t>
                      </a:r>
                      <a:r>
                        <a:rPr kumimoji="1" lang="zh-TW" altLang="en-US" sz="2000" dirty="0"/>
                        <a:t>要求事項№</a:t>
                      </a:r>
                      <a:r>
                        <a:rPr kumimoji="1" lang="en-US" altLang="ja-JP" sz="2000" dirty="0"/>
                        <a:t>10</a:t>
                      </a:r>
                      <a:r>
                        <a:rPr kumimoji="1" lang="zh-TW" altLang="en-US" sz="2000" dirty="0"/>
                        <a:t>（</a:t>
                      </a:r>
                      <a:r>
                        <a:rPr kumimoji="1" lang="ja-JP" altLang="en-US" sz="2000" dirty="0"/>
                        <a:t>材料・性能試験結果</a:t>
                      </a:r>
                      <a:r>
                        <a:rPr kumimoji="1" lang="zh-TW" altLang="en-US" sz="2000" dirty="0"/>
                        <a:t>）</a:t>
                      </a:r>
                      <a:endParaRPr kumimoji="1" lang="ja-JP" altLang="en-US" sz="2000" dirty="0"/>
                    </a:p>
                  </a:txBody>
                  <a:tcPr/>
                </a:tc>
                <a:extLst>
                  <a:ext uri="{0D108BD9-81ED-4DB2-BD59-A6C34878D82A}">
                    <a16:rowId xmlns:a16="http://schemas.microsoft.com/office/drawing/2014/main" val="3961565737"/>
                  </a:ext>
                </a:extLst>
              </a:tr>
            </a:tbl>
          </a:graphicData>
        </a:graphic>
      </p:graphicFrame>
      <p:sp>
        <p:nvSpPr>
          <p:cNvPr id="3" name="吹き出し: 角を丸めた四角形 2">
            <a:extLst>
              <a:ext uri="{FF2B5EF4-FFF2-40B4-BE49-F238E27FC236}">
                <a16:creationId xmlns:a16="http://schemas.microsoft.com/office/drawing/2014/main" id="{CC46D9E4-38C0-41FC-9F5A-4C79F21475F2}"/>
              </a:ext>
            </a:extLst>
          </p:cNvPr>
          <p:cNvSpPr/>
          <p:nvPr/>
        </p:nvSpPr>
        <p:spPr>
          <a:xfrm>
            <a:off x="4754880" y="4953445"/>
            <a:ext cx="6598920" cy="573596"/>
          </a:xfrm>
          <a:prstGeom prst="wedgeRoundRectCallout">
            <a:avLst>
              <a:gd name="adj1" fmla="val -58563"/>
              <a:gd name="adj2" fmla="val -41036"/>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規格がファミリー化を認めているわけではないので、顧客との合意は必要か。（多種少量生産の場合）</a:t>
            </a:r>
          </a:p>
        </p:txBody>
      </p:sp>
    </p:spTree>
    <p:extLst>
      <p:ext uri="{BB962C8B-B14F-4D97-AF65-F5344CB8AC3E}">
        <p14:creationId xmlns:p14="http://schemas.microsoft.com/office/powerpoint/2010/main" val="1245804324"/>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299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80781"/>
            <a:ext cx="10515600" cy="2519190"/>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“外観品目”として顧客に指定された組織の製造部品</a:t>
            </a:r>
            <a:r>
              <a:rPr lang="ja-JP" altLang="en-US" sz="2000" dirty="0"/>
              <a:t>に対して、組織は、次の事項を提供しなければならない。</a:t>
            </a:r>
            <a:endParaRPr lang="en-US" altLang="ja-JP" sz="2000" dirty="0"/>
          </a:p>
          <a:p>
            <a:pPr marL="800100" lvl="1" indent="-342900">
              <a:lnSpc>
                <a:spcPct val="100000"/>
              </a:lnSpc>
              <a:buFont typeface="+mj-lt"/>
              <a:buAutoNum type="alphaLcPeriod"/>
            </a:pPr>
            <a:r>
              <a:rPr lang="ja-JP" altLang="en-US" sz="2000" u="sng" dirty="0"/>
              <a:t>照明</a:t>
            </a:r>
            <a:r>
              <a:rPr lang="ja-JP" altLang="en-US" sz="2000" dirty="0"/>
              <a:t>を含む、評価のための適切な資源</a:t>
            </a:r>
            <a:endParaRPr lang="en-US" altLang="ja-JP" sz="2000" dirty="0"/>
          </a:p>
          <a:p>
            <a:pPr marL="800100" lvl="1" indent="-342900">
              <a:lnSpc>
                <a:spcPct val="100000"/>
              </a:lnSpc>
              <a:buFont typeface="+mj-lt"/>
              <a:buAutoNum type="alphaLcPeriod"/>
            </a:pPr>
            <a:r>
              <a:rPr lang="ja-JP" altLang="en-US" sz="2000" dirty="0"/>
              <a:t>必要に応じて、</a:t>
            </a:r>
            <a:r>
              <a:rPr lang="ja-JP" altLang="en-US" sz="2000" u="sng" dirty="0"/>
              <a:t>色、絞、光沢、金属製光沢、風合い、イメージの明瞭さ（</a:t>
            </a:r>
            <a:r>
              <a:rPr lang="en-US" altLang="ja-JP" sz="2000" u="sng" dirty="0"/>
              <a:t>DOI</a:t>
            </a:r>
            <a:r>
              <a:rPr lang="ja-JP" altLang="en-US" sz="2000" u="sng" dirty="0"/>
              <a:t>）のマスター及び触覚技術</a:t>
            </a:r>
            <a:endParaRPr lang="en-US" altLang="ja-JP" sz="2000" u="sng" dirty="0"/>
          </a:p>
          <a:p>
            <a:pPr marL="800100" lvl="1" indent="-342900">
              <a:lnSpc>
                <a:spcPct val="100000"/>
              </a:lnSpc>
              <a:buFont typeface="+mj-lt"/>
              <a:buAutoNum type="alphaLcPeriod"/>
            </a:pPr>
            <a:r>
              <a:rPr lang="ja-JP" altLang="en-US" sz="2000" dirty="0"/>
              <a:t>外観マスター及び評価設備の</a:t>
            </a:r>
            <a:r>
              <a:rPr lang="ja-JP" altLang="en-US" sz="2000" u="sng" dirty="0"/>
              <a:t>保全及び管理</a:t>
            </a:r>
            <a:endParaRPr lang="en-US" altLang="ja-JP" sz="2000" u="sng" dirty="0"/>
          </a:p>
          <a:p>
            <a:pPr marL="800100" lvl="1" indent="-342900">
              <a:lnSpc>
                <a:spcPct val="100000"/>
              </a:lnSpc>
              <a:buFont typeface="+mj-lt"/>
              <a:buAutoNum type="alphaLcPeriod"/>
            </a:pPr>
            <a:r>
              <a:rPr lang="ja-JP" altLang="en-US" sz="2000" dirty="0"/>
              <a:t>外観評価を実施する要員が</a:t>
            </a:r>
            <a:r>
              <a:rPr lang="ja-JP" altLang="en-US" sz="2000" u="sng" dirty="0"/>
              <a:t>力量</a:t>
            </a:r>
            <a:r>
              <a:rPr lang="ja-JP" altLang="en-US" sz="2000" dirty="0"/>
              <a:t>をもちそれを実施する資格をもっていることの検証</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8.6.3</a:t>
            </a:r>
            <a:r>
              <a:rPr kumimoji="1" lang="ja-JP" altLang="en-US" sz="3000" b="1" dirty="0">
                <a:solidFill>
                  <a:schemeClr val="tx2"/>
                </a:solidFill>
              </a:rPr>
              <a:t>　外観品目</a:t>
            </a:r>
          </a:p>
        </p:txBody>
      </p:sp>
      <p:sp>
        <p:nvSpPr>
          <p:cNvPr id="6" name="タイトル 1">
            <a:extLst>
              <a:ext uri="{FF2B5EF4-FFF2-40B4-BE49-F238E27FC236}">
                <a16:creationId xmlns:a16="http://schemas.microsoft.com/office/drawing/2014/main" id="{1C405921-6DDF-4F0A-83E9-3971D3E0D058}"/>
              </a:ext>
            </a:extLst>
          </p:cNvPr>
          <p:cNvSpPr txBox="1">
            <a:spLocks/>
          </p:cNvSpPr>
          <p:nvPr/>
        </p:nvSpPr>
        <p:spPr>
          <a:xfrm>
            <a:off x="838200" y="4061552"/>
            <a:ext cx="10515600" cy="681400"/>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8.6.3</a:t>
            </a:r>
            <a:r>
              <a:rPr lang="ja-JP" altLang="en-US" sz="3000" b="1" dirty="0">
                <a:solidFill>
                  <a:schemeClr val="bg1"/>
                </a:solidFill>
              </a:rPr>
              <a:t>　外観品目</a:t>
            </a:r>
          </a:p>
        </p:txBody>
      </p:sp>
      <p:sp>
        <p:nvSpPr>
          <p:cNvPr id="7" name="コンテンツ プレースホルダー 2">
            <a:extLst>
              <a:ext uri="{FF2B5EF4-FFF2-40B4-BE49-F238E27FC236}">
                <a16:creationId xmlns:a16="http://schemas.microsoft.com/office/drawing/2014/main" id="{5EF3D05C-8AA3-4E82-8A42-43CC81CEB87D}"/>
              </a:ext>
            </a:extLst>
          </p:cNvPr>
          <p:cNvSpPr txBox="1">
            <a:spLocks/>
          </p:cNvSpPr>
          <p:nvPr/>
        </p:nvSpPr>
        <p:spPr>
          <a:xfrm>
            <a:off x="838200" y="4823352"/>
            <a:ext cx="10515600" cy="1532998"/>
          </a:xfrm>
          <a:prstGeom prst="rect">
            <a:avLst/>
          </a:prstGeom>
          <a:ln w="12700">
            <a:solidFill>
              <a:schemeClr val="tx2"/>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600" dirty="0"/>
              <a:t>外観品目は顧客の指定による（</a:t>
            </a:r>
            <a:r>
              <a:rPr lang="en-US" altLang="ja-JP" sz="2600" dirty="0"/>
              <a:t>PPAP</a:t>
            </a:r>
            <a:r>
              <a:rPr lang="ja-JP" altLang="en-US" sz="2600" dirty="0"/>
              <a:t>要求№</a:t>
            </a:r>
            <a:r>
              <a:rPr lang="en-US" altLang="ja-JP" sz="2600" dirty="0"/>
              <a:t>13</a:t>
            </a:r>
            <a:r>
              <a:rPr lang="ja-JP" altLang="en-US" sz="2600" dirty="0"/>
              <a:t>「外観承認報告書」）が、指定外でも外観傷及び仕上状態などは、自主的な管理を判断する。</a:t>
            </a:r>
            <a:endParaRPr lang="en-US" altLang="ja-JP" sz="2600" dirty="0"/>
          </a:p>
          <a:p>
            <a:pPr lvl="1">
              <a:lnSpc>
                <a:spcPct val="110000"/>
              </a:lnSpc>
              <a:buFont typeface="Wingdings" panose="05000000000000000000" pitchFamily="2" charset="2"/>
              <a:buChar char="Ø"/>
            </a:pPr>
            <a:r>
              <a:rPr lang="ja-JP" altLang="en-US" sz="2200" dirty="0"/>
              <a:t>外観品目は自動車を利用（ユーザー）する人が見える部品。ボンネット内部、サスペンション部品などは、一般的には該当しない。</a:t>
            </a:r>
            <a:endParaRPr lang="en-US" altLang="ja-JP" sz="2200" dirty="0"/>
          </a:p>
        </p:txBody>
      </p:sp>
    </p:spTree>
    <p:extLst>
      <p:ext uri="{BB962C8B-B14F-4D97-AF65-F5344CB8AC3E}">
        <p14:creationId xmlns:p14="http://schemas.microsoft.com/office/powerpoint/2010/main" val="2286029889"/>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要点。</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300</a:t>
            </a:fld>
            <a:endParaRPr kumimoji="1" lang="ja-JP" altLang="en-US"/>
          </a:p>
        </p:txBody>
      </p:sp>
      <p:sp>
        <p:nvSpPr>
          <p:cNvPr id="10" name="タイトル 1">
            <a:extLst>
              <a:ext uri="{FF2B5EF4-FFF2-40B4-BE49-F238E27FC236}">
                <a16:creationId xmlns:a16="http://schemas.microsoft.com/office/drawing/2014/main" id="{45AAC296-C9F6-4B08-A646-9B3708B3F97C}"/>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8.6.3</a:t>
            </a:r>
            <a:r>
              <a:rPr lang="ja-JP" altLang="en-US" sz="3000" b="1" dirty="0">
                <a:solidFill>
                  <a:schemeClr val="bg1"/>
                </a:solidFill>
              </a:rPr>
              <a:t>　外観品目</a:t>
            </a:r>
          </a:p>
        </p:txBody>
      </p:sp>
      <p:graphicFrame>
        <p:nvGraphicFramePr>
          <p:cNvPr id="11" name="表 11">
            <a:extLst>
              <a:ext uri="{FF2B5EF4-FFF2-40B4-BE49-F238E27FC236}">
                <a16:creationId xmlns:a16="http://schemas.microsoft.com/office/drawing/2014/main" id="{1C381456-C0A1-454A-96BF-16196EB8F8F2}"/>
              </a:ext>
            </a:extLst>
          </p:cNvPr>
          <p:cNvGraphicFramePr>
            <a:graphicFrameLocks noGrp="1"/>
          </p:cNvGraphicFramePr>
          <p:nvPr>
            <p:extLst>
              <p:ext uri="{D42A27DB-BD31-4B8C-83A1-F6EECF244321}">
                <p14:modId xmlns:p14="http://schemas.microsoft.com/office/powerpoint/2010/main" val="3994902572"/>
              </p:ext>
            </p:extLst>
          </p:nvPr>
        </p:nvGraphicFramePr>
        <p:xfrm>
          <a:off x="838200" y="1945640"/>
          <a:ext cx="10515600" cy="4229078"/>
        </p:xfrm>
        <a:graphic>
          <a:graphicData uri="http://schemas.openxmlformats.org/drawingml/2006/table">
            <a:tbl>
              <a:tblPr firstRow="1" bandRow="1">
                <a:tableStyleId>{5940675A-B579-460E-94D1-54222C63F5DA}</a:tableStyleId>
              </a:tblPr>
              <a:tblGrid>
                <a:gridCol w="777240">
                  <a:extLst>
                    <a:ext uri="{9D8B030D-6E8A-4147-A177-3AD203B41FA5}">
                      <a16:colId xmlns:a16="http://schemas.microsoft.com/office/drawing/2014/main" val="4275780201"/>
                    </a:ext>
                  </a:extLst>
                </a:gridCol>
                <a:gridCol w="9738360">
                  <a:extLst>
                    <a:ext uri="{9D8B030D-6E8A-4147-A177-3AD203B41FA5}">
                      <a16:colId xmlns:a16="http://schemas.microsoft.com/office/drawing/2014/main" val="1412447422"/>
                    </a:ext>
                  </a:extLst>
                </a:gridCol>
              </a:tblGrid>
              <a:tr h="893577">
                <a:tc>
                  <a:txBody>
                    <a:bodyPr/>
                    <a:lstStyle/>
                    <a:p>
                      <a:pPr algn="ctr"/>
                      <a:r>
                        <a:rPr kumimoji="1" lang="ja-JP" altLang="en-US" sz="2200" dirty="0"/>
                        <a:t>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200" dirty="0"/>
                        <a:t>目視検査における照度管理。</a:t>
                      </a:r>
                      <a:endParaRPr kumimoji="1" lang="en-US" altLang="ja-JP" sz="2200" dirty="0"/>
                    </a:p>
                    <a:p>
                      <a:pPr marL="342900" indent="-342900">
                        <a:buFont typeface="Arial" panose="020B0604020202020204" pitchFamily="34" charset="0"/>
                        <a:buChar char="•"/>
                      </a:pPr>
                      <a:r>
                        <a:rPr kumimoji="1" lang="ja-JP" altLang="en-US" sz="2200" dirty="0"/>
                        <a:t>証明の強度（ワット数）ではなく、照度（ルクス値）。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56866"/>
                  </a:ext>
                </a:extLst>
              </a:tr>
              <a:tr h="2073098">
                <a:tc>
                  <a:txBody>
                    <a:bodyPr/>
                    <a:lstStyle/>
                    <a:p>
                      <a:pPr algn="ctr"/>
                      <a:r>
                        <a:rPr kumimoji="1" lang="ja-JP" altLang="en-US" sz="2200" dirty="0"/>
                        <a:t>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200" dirty="0"/>
                        <a:t>絞：樹脂・カーボン製品などの表面模様。</a:t>
                      </a:r>
                      <a:endParaRPr kumimoji="1" lang="en-US" altLang="ja-JP" sz="2200" dirty="0"/>
                    </a:p>
                    <a:p>
                      <a:pPr marL="342900" indent="-342900">
                        <a:buFont typeface="Arial" panose="020B0604020202020204" pitchFamily="34" charset="0"/>
                        <a:buChar char="•"/>
                      </a:pPr>
                      <a:r>
                        <a:rPr kumimoji="1" lang="ja-JP" altLang="en-US" sz="2200" dirty="0"/>
                        <a:t>風合い：繊維製品などのさわり心地。（シートなど）</a:t>
                      </a:r>
                      <a:endParaRPr kumimoji="1" lang="en-US" altLang="ja-JP" sz="2200" dirty="0"/>
                    </a:p>
                    <a:p>
                      <a:pPr marL="342900" indent="-342900">
                        <a:buFont typeface="Arial" panose="020B0604020202020204" pitchFamily="34" charset="0"/>
                        <a:buChar char="•"/>
                      </a:pPr>
                      <a:r>
                        <a:rPr kumimoji="1" lang="ja-JP" altLang="en-US" sz="2200" dirty="0"/>
                        <a:t>イメージの明瞭さ（</a:t>
                      </a:r>
                      <a:r>
                        <a:rPr kumimoji="1" lang="en-US" altLang="ja-JP" sz="2200" dirty="0"/>
                        <a:t>DOI</a:t>
                      </a:r>
                      <a:r>
                        <a:rPr kumimoji="1" lang="ja-JP" altLang="en-US" sz="2200" dirty="0"/>
                        <a:t>）：</a:t>
                      </a:r>
                      <a:r>
                        <a:rPr kumimoji="1" lang="en-US" altLang="ja-JP" sz="2200" dirty="0"/>
                        <a:t>DOI</a:t>
                      </a:r>
                      <a:r>
                        <a:rPr kumimoji="1" lang="ja-JP" altLang="en-US" sz="2200" dirty="0"/>
                        <a:t>測定器によるつや、研磨痕、凹凸など。</a:t>
                      </a:r>
                      <a:endParaRPr kumimoji="1" lang="en-US" altLang="ja-JP" sz="2200" dirty="0"/>
                    </a:p>
                    <a:p>
                      <a:pPr marL="342900" indent="-342900">
                        <a:buFont typeface="Arial" panose="020B0604020202020204" pitchFamily="34" charset="0"/>
                        <a:buChar char="•"/>
                      </a:pPr>
                      <a:r>
                        <a:rPr kumimoji="1" lang="ja-JP" altLang="en-US" sz="2200" dirty="0"/>
                        <a:t>マスター：</a:t>
                      </a:r>
                      <a:r>
                        <a:rPr kumimoji="1" lang="en-US" altLang="ja-JP" sz="2200" dirty="0"/>
                        <a:t>DOI</a:t>
                      </a:r>
                      <a:r>
                        <a:rPr kumimoji="1" lang="ja-JP" altLang="en-US" sz="2200" dirty="0"/>
                        <a:t>測定の限度見本。</a:t>
                      </a:r>
                      <a:endParaRPr kumimoji="1" lang="en-US" altLang="ja-JP" sz="2200" dirty="0"/>
                    </a:p>
                    <a:p>
                      <a:pPr marL="342900" indent="-342900">
                        <a:buFont typeface="Arial" panose="020B0604020202020204" pitchFamily="34" charset="0"/>
                        <a:buChar char="•"/>
                      </a:pPr>
                      <a:r>
                        <a:rPr kumimoji="1" lang="ja-JP" altLang="en-US" sz="2200" dirty="0"/>
                        <a:t>触覚技術：タッチパネル反応の評価技術。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504954"/>
                  </a:ext>
                </a:extLst>
              </a:tr>
              <a:tr h="500403">
                <a:tc>
                  <a:txBody>
                    <a:bodyPr/>
                    <a:lstStyle/>
                    <a:p>
                      <a:pPr algn="ctr"/>
                      <a:r>
                        <a:rPr kumimoji="1" lang="ja-JP" altLang="en-US" sz="2200" dirty="0"/>
                        <a:t>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200" dirty="0">
                          <a:solidFill>
                            <a:srgbClr val="FF0000"/>
                          </a:solidFill>
                          <a:effectLst>
                            <a:outerShdw blurRad="38100" dist="38100" dir="2700000" algn="tl">
                              <a:srgbClr val="000000">
                                <a:alpha val="43137"/>
                              </a:srgbClr>
                            </a:outerShdw>
                          </a:effectLst>
                        </a:rPr>
                        <a:t>外観マスター：目視検査時の限度見本。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66902"/>
                  </a:ext>
                </a:extLst>
              </a:tr>
              <a:tr h="500403">
                <a:tc>
                  <a:txBody>
                    <a:bodyPr/>
                    <a:lstStyle/>
                    <a:p>
                      <a:pPr algn="ctr"/>
                      <a:r>
                        <a:rPr kumimoji="1" lang="ja-JP" altLang="en-US" sz="2200" dirty="0"/>
                        <a:t>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kumimoji="1" lang="ja-JP" altLang="en-US" sz="2200" dirty="0">
                          <a:solidFill>
                            <a:srgbClr val="FF0000"/>
                          </a:solidFill>
                          <a:effectLst>
                            <a:outerShdw blurRad="38100" dist="38100" dir="2700000" algn="tl">
                              <a:srgbClr val="000000">
                                <a:alpha val="43137"/>
                              </a:srgbClr>
                            </a:outerShdw>
                          </a:effectLst>
                        </a:rPr>
                        <a:t>外観検査員の力量に関する定期的な検証。</a:t>
                      </a:r>
                      <a:r>
                        <a:rPr kumimoji="1" lang="ja-JP" altLang="en-US" sz="2200" dirty="0"/>
                        <a:t>（</a:t>
                      </a:r>
                      <a:r>
                        <a:rPr kumimoji="1" lang="en-US" altLang="ja-JP" sz="2200" dirty="0"/>
                        <a:t>MSA</a:t>
                      </a:r>
                      <a:r>
                        <a:rPr kumimoji="1" lang="ja-JP" altLang="en-US" sz="2200" dirty="0"/>
                        <a:t>（クロスタブ法）による評価など。）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996379"/>
                  </a:ext>
                </a:extLst>
              </a:tr>
            </a:tbl>
          </a:graphicData>
        </a:graphic>
      </p:graphicFrame>
    </p:spTree>
    <p:extLst>
      <p:ext uri="{BB962C8B-B14F-4D97-AF65-F5344CB8AC3E}">
        <p14:creationId xmlns:p14="http://schemas.microsoft.com/office/powerpoint/2010/main" val="3210889793"/>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77108"/>
            <a:ext cx="10515600" cy="2765234"/>
          </a:xfrm>
          <a:ln w="12700">
            <a:solidFill>
              <a:schemeClr val="tx2"/>
            </a:solidFill>
          </a:ln>
        </p:spPr>
        <p:txBody>
          <a:bodyPr>
            <a:normAutofit/>
          </a:bodyPr>
          <a:lstStyle/>
          <a:p>
            <a:pPr marL="0" indent="0">
              <a:lnSpc>
                <a:spcPct val="100000"/>
              </a:lnSpc>
              <a:buNone/>
            </a:pPr>
            <a:r>
              <a:rPr lang="ja-JP" altLang="en-US" sz="1900" dirty="0"/>
              <a:t>☑組織は、次の方法を一つ以上用いて、</a:t>
            </a:r>
            <a:r>
              <a:rPr lang="ja-JP" altLang="en-US" sz="1900" u="sng" dirty="0"/>
              <a:t>外部から提供されるプロセス、製品及びサービスの品質を確実にする</a:t>
            </a:r>
            <a:r>
              <a:rPr lang="ja-JP" altLang="en-US" sz="1900" dirty="0"/>
              <a:t>プロセスをもたなければならない。</a:t>
            </a:r>
            <a:endParaRPr lang="en-US" altLang="ja-JP" sz="1900" dirty="0"/>
          </a:p>
          <a:p>
            <a:pPr marL="800100" lvl="1" indent="-342900">
              <a:lnSpc>
                <a:spcPct val="100000"/>
              </a:lnSpc>
              <a:buFont typeface="+mj-lt"/>
              <a:buAutoNum type="alphaLcPeriod"/>
            </a:pPr>
            <a:r>
              <a:rPr lang="ja-JP" altLang="en-US" sz="1900" dirty="0"/>
              <a:t>供給者から組織に提供された</a:t>
            </a:r>
            <a:r>
              <a:rPr lang="ja-JP" altLang="en-US" sz="1900" u="sng" dirty="0"/>
              <a:t>統計データの受領及び評価</a:t>
            </a:r>
            <a:endParaRPr lang="en-US" altLang="ja-JP" sz="1900" u="sng" dirty="0"/>
          </a:p>
          <a:p>
            <a:pPr marL="800100" lvl="1" indent="-342900">
              <a:lnSpc>
                <a:spcPct val="100000"/>
              </a:lnSpc>
              <a:buFont typeface="+mj-lt"/>
              <a:buAutoNum type="alphaLcPeriod"/>
            </a:pPr>
            <a:r>
              <a:rPr lang="ja-JP" altLang="en-US" sz="1900" dirty="0"/>
              <a:t>パフォーマンスに基づく抜取検査のような、</a:t>
            </a:r>
            <a:r>
              <a:rPr lang="ja-JP" altLang="en-US" sz="1900" u="sng" dirty="0"/>
              <a:t>受入検査</a:t>
            </a:r>
            <a:r>
              <a:rPr lang="ja-JP" altLang="en-US" sz="1900" dirty="0"/>
              <a:t>及び／又は試験</a:t>
            </a:r>
            <a:endParaRPr lang="en-US" altLang="ja-JP" sz="1900" dirty="0"/>
          </a:p>
          <a:p>
            <a:pPr marL="800100" lvl="1" indent="-342900">
              <a:lnSpc>
                <a:spcPct val="100000"/>
              </a:lnSpc>
              <a:buFont typeface="+mj-lt"/>
              <a:buAutoNum type="alphaLcPeriod"/>
            </a:pPr>
            <a:r>
              <a:rPr lang="ja-JP" altLang="en-US" sz="1900" dirty="0"/>
              <a:t>受入れ可能な納入製品の</a:t>
            </a:r>
            <a:r>
              <a:rPr lang="ja-JP" altLang="en-US" sz="1900" u="sng" dirty="0"/>
              <a:t>要求事項への適合の記録を伴う場合</a:t>
            </a:r>
            <a:r>
              <a:rPr lang="ja-JP" altLang="en-US" sz="1900" dirty="0"/>
              <a:t>、供給者のサイトの第二者若しくは第三者の評価又は</a:t>
            </a:r>
            <a:r>
              <a:rPr lang="ja-JP" altLang="en-US" sz="1900" u="sng" dirty="0"/>
              <a:t>監査</a:t>
            </a:r>
            <a:endParaRPr lang="en-US" altLang="ja-JP" sz="1900" u="sng" dirty="0"/>
          </a:p>
          <a:p>
            <a:pPr marL="800100" lvl="1" indent="-342900">
              <a:lnSpc>
                <a:spcPct val="100000"/>
              </a:lnSpc>
              <a:buFont typeface="+mj-lt"/>
              <a:buAutoNum type="alphaLcPeriod"/>
            </a:pPr>
            <a:r>
              <a:rPr lang="ja-JP" altLang="en-US" sz="1900" dirty="0"/>
              <a:t>指定された試験所による</a:t>
            </a:r>
            <a:r>
              <a:rPr lang="ja-JP" altLang="en-US" sz="1900" u="sng" dirty="0"/>
              <a:t>部品評価</a:t>
            </a:r>
            <a:endParaRPr lang="en-US" altLang="ja-JP" sz="1900" u="sng" dirty="0"/>
          </a:p>
          <a:p>
            <a:pPr marL="800100" lvl="1" indent="-342900">
              <a:lnSpc>
                <a:spcPct val="100000"/>
              </a:lnSpc>
              <a:buFont typeface="+mj-lt"/>
              <a:buAutoNum type="alphaLcPeriod"/>
            </a:pPr>
            <a:r>
              <a:rPr lang="ja-JP" altLang="en-US" sz="1900" dirty="0"/>
              <a:t>顧客と合意した他の方法</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fontScale="90000"/>
          </a:bodyPr>
          <a:lstStyle/>
          <a:p>
            <a:r>
              <a:rPr kumimoji="1" lang="en-US" altLang="ja-JP" sz="3000" b="1" dirty="0">
                <a:solidFill>
                  <a:schemeClr val="tx2"/>
                </a:solidFill>
              </a:rPr>
              <a:t>8.6.4</a:t>
            </a:r>
            <a:r>
              <a:rPr kumimoji="1" lang="ja-JP" altLang="en-US" sz="3000" b="1" dirty="0">
                <a:solidFill>
                  <a:schemeClr val="tx2"/>
                </a:solidFill>
              </a:rPr>
              <a:t>　外部から提供される製品及びサービスの検証及び受入れ</a:t>
            </a:r>
          </a:p>
        </p:txBody>
      </p:sp>
      <p:sp>
        <p:nvSpPr>
          <p:cNvPr id="6" name="タイトル 1">
            <a:extLst>
              <a:ext uri="{FF2B5EF4-FFF2-40B4-BE49-F238E27FC236}">
                <a16:creationId xmlns:a16="http://schemas.microsoft.com/office/drawing/2014/main" id="{009888CC-1B43-4C0A-98C7-54E0D735C396}"/>
              </a:ext>
            </a:extLst>
          </p:cNvPr>
          <p:cNvSpPr txBox="1">
            <a:spLocks/>
          </p:cNvSpPr>
          <p:nvPr/>
        </p:nvSpPr>
        <p:spPr>
          <a:xfrm>
            <a:off x="838200" y="4223132"/>
            <a:ext cx="10515600" cy="681400"/>
          </a:xfrm>
          <a:prstGeom prst="rect">
            <a:avLst/>
          </a:prstGeom>
          <a:solidFill>
            <a:schemeClr val="tx2"/>
          </a:solidFill>
          <a:ln w="38100">
            <a:noFill/>
          </a:ln>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8.6.4</a:t>
            </a:r>
            <a:r>
              <a:rPr lang="ja-JP" altLang="en-US" sz="3000" b="1" dirty="0">
                <a:solidFill>
                  <a:schemeClr val="bg1"/>
                </a:solidFill>
              </a:rPr>
              <a:t>　外部から提供される製品及びサービスの検証及び受入れ</a:t>
            </a:r>
          </a:p>
        </p:txBody>
      </p:sp>
      <p:sp>
        <p:nvSpPr>
          <p:cNvPr id="7" name="コンテンツ プレースホルダー 2">
            <a:extLst>
              <a:ext uri="{FF2B5EF4-FFF2-40B4-BE49-F238E27FC236}">
                <a16:creationId xmlns:a16="http://schemas.microsoft.com/office/drawing/2014/main" id="{8EBB2DCC-4AB5-4D82-829C-062C54CF499A}"/>
              </a:ext>
            </a:extLst>
          </p:cNvPr>
          <p:cNvSpPr txBox="1">
            <a:spLocks/>
          </p:cNvSpPr>
          <p:nvPr/>
        </p:nvSpPr>
        <p:spPr>
          <a:xfrm>
            <a:off x="838200" y="4985322"/>
            <a:ext cx="10515600" cy="1371028"/>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en-US" altLang="ja-JP" sz="2400" dirty="0"/>
              <a:t>8.4.2</a:t>
            </a:r>
            <a:r>
              <a:rPr lang="ja-JP" altLang="en-US" sz="2400" dirty="0"/>
              <a:t>　</a:t>
            </a:r>
            <a:r>
              <a:rPr lang="en-US" altLang="ja-JP" sz="2400" dirty="0"/>
              <a:t>d)</a:t>
            </a:r>
            <a:r>
              <a:rPr lang="ja-JP" altLang="en-US" sz="2400" dirty="0"/>
              <a:t>に対する詳細要求の追加。（加工委託品などは充分考慮。）</a:t>
            </a:r>
            <a:endParaRPr lang="en-US" altLang="ja-JP" sz="2400" dirty="0"/>
          </a:p>
          <a:p>
            <a:pPr marL="514350" indent="-514350">
              <a:lnSpc>
                <a:spcPct val="110000"/>
              </a:lnSpc>
              <a:buFont typeface="+mj-lt"/>
              <a:buAutoNum type="arabicPeriod"/>
            </a:pPr>
            <a:r>
              <a:rPr lang="ja-JP" altLang="en-US" sz="2400" dirty="0"/>
              <a:t>“一つ以上”　➠　品質を保証するために十分かどうかで判断する。</a:t>
            </a:r>
            <a:endParaRPr lang="en-US" altLang="ja-JP" sz="2400" dirty="0"/>
          </a:p>
          <a:p>
            <a:pPr lvl="1">
              <a:lnSpc>
                <a:spcPct val="110000"/>
              </a:lnSpc>
              <a:buFont typeface="Wingdings" panose="05000000000000000000" pitchFamily="2" charset="2"/>
              <a:buChar char="Ø"/>
            </a:pPr>
            <a:r>
              <a:rPr lang="ja-JP" altLang="en-US" sz="2000" dirty="0">
                <a:solidFill>
                  <a:srgbClr val="FF0000"/>
                </a:solidFill>
                <a:effectLst>
                  <a:outerShdw blurRad="38100" dist="38100" dir="2700000" algn="tl">
                    <a:srgbClr val="000000">
                      <a:alpha val="43137"/>
                    </a:srgbClr>
                  </a:outerShdw>
                </a:effectLst>
              </a:rPr>
              <a:t>“供給者の「検査成績書」の受領”　のみは望ましくない。</a:t>
            </a:r>
            <a:endParaRPr lang="en-US" altLang="ja-JP" sz="20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99498290"/>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476259"/>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自社の生産フローに外部から提供される製品をリリースする前に</a:t>
            </a:r>
            <a:r>
              <a:rPr lang="ja-JP" altLang="en-US" sz="2000" dirty="0"/>
              <a:t>、組織は、外部から提供されるプロセス、製品及びサービスが、製造された国及び提供されれば顧客指定の仕向国における最新の法令、規制及び他の要求事項に適合していることを確認し、それを</a:t>
            </a:r>
            <a:r>
              <a:rPr lang="ja-JP" altLang="en-US" sz="2000" u="sng" dirty="0"/>
              <a:t>証明する証拠を提供できなければならない。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8.6.5</a:t>
            </a:r>
            <a:r>
              <a:rPr lang="ja-JP" altLang="en-US" sz="3000" b="1" dirty="0">
                <a:solidFill>
                  <a:schemeClr val="tx2"/>
                </a:solidFill>
              </a:rPr>
              <a:t>　法令・規制への適合</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23632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8.6.5</a:t>
            </a:r>
            <a:r>
              <a:rPr lang="ja-JP" altLang="en-US" sz="3000" b="1" dirty="0">
                <a:solidFill>
                  <a:schemeClr val="bg1"/>
                </a:solidFill>
              </a:rPr>
              <a:t>　法令・規制への適合</a:t>
            </a:r>
          </a:p>
        </p:txBody>
      </p:sp>
      <p:sp>
        <p:nvSpPr>
          <p:cNvPr id="7" name="コンテンツ プレースホルダー 2">
            <a:extLst>
              <a:ext uri="{FF2B5EF4-FFF2-40B4-BE49-F238E27FC236}">
                <a16:creationId xmlns:a16="http://schemas.microsoft.com/office/drawing/2014/main" id="{3D43DCDF-FD8C-4274-903E-70335B4F3AD0}"/>
              </a:ext>
            </a:extLst>
          </p:cNvPr>
          <p:cNvSpPr txBox="1">
            <a:spLocks/>
          </p:cNvSpPr>
          <p:nvPr/>
        </p:nvSpPr>
        <p:spPr>
          <a:xfrm>
            <a:off x="838200" y="4252692"/>
            <a:ext cx="10515600" cy="210365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400" dirty="0"/>
              <a:t>通常、関係する法令等順守指示は顧客から要求される場合が多い。</a:t>
            </a:r>
            <a:endParaRPr lang="en-US" altLang="ja-JP" sz="2400" dirty="0"/>
          </a:p>
          <a:p>
            <a:pPr marL="514350" indent="-514350">
              <a:lnSpc>
                <a:spcPct val="110000"/>
              </a:lnSpc>
              <a:buFont typeface="+mj-lt"/>
              <a:buAutoNum type="arabicPeriod"/>
            </a:pPr>
            <a:r>
              <a:rPr lang="en-US" altLang="ja-JP" sz="2400" dirty="0"/>
              <a:t>8.4.2.2</a:t>
            </a:r>
            <a:r>
              <a:rPr lang="ja-JP" altLang="en-US" sz="2400" dirty="0"/>
              <a:t>と</a:t>
            </a:r>
            <a:r>
              <a:rPr lang="en-US" altLang="ja-JP" sz="2400" dirty="0"/>
              <a:t>8.6.5</a:t>
            </a:r>
            <a:r>
              <a:rPr lang="ja-JP" altLang="en-US" sz="2400" dirty="0"/>
              <a:t>の関係。</a:t>
            </a:r>
            <a:endParaRPr lang="en-US" altLang="ja-JP" sz="2400" dirty="0"/>
          </a:p>
        </p:txBody>
      </p:sp>
      <p:graphicFrame>
        <p:nvGraphicFramePr>
          <p:cNvPr id="2" name="表 1">
            <a:extLst>
              <a:ext uri="{FF2B5EF4-FFF2-40B4-BE49-F238E27FC236}">
                <a16:creationId xmlns:a16="http://schemas.microsoft.com/office/drawing/2014/main" id="{02E79558-6121-43FB-BC56-D6FD9E66CCB7}"/>
              </a:ext>
            </a:extLst>
          </p:cNvPr>
          <p:cNvGraphicFramePr>
            <a:graphicFrameLocks noGrp="1"/>
          </p:cNvGraphicFramePr>
          <p:nvPr>
            <p:extLst>
              <p:ext uri="{D42A27DB-BD31-4B8C-83A1-F6EECF244321}">
                <p14:modId xmlns:p14="http://schemas.microsoft.com/office/powerpoint/2010/main" val="3819737811"/>
              </p:ext>
            </p:extLst>
          </p:nvPr>
        </p:nvGraphicFramePr>
        <p:xfrm>
          <a:off x="838199" y="5304519"/>
          <a:ext cx="10515600" cy="1051830"/>
        </p:xfrm>
        <a:graphic>
          <a:graphicData uri="http://schemas.openxmlformats.org/drawingml/2006/table">
            <a:tbl>
              <a:tblPr firstRow="1" bandRow="1">
                <a:tableStyleId>{5940675A-B579-460E-94D1-54222C63F5DA}</a:tableStyleId>
              </a:tblPr>
              <a:tblGrid>
                <a:gridCol w="3392278">
                  <a:extLst>
                    <a:ext uri="{9D8B030D-6E8A-4147-A177-3AD203B41FA5}">
                      <a16:colId xmlns:a16="http://schemas.microsoft.com/office/drawing/2014/main" val="1844482609"/>
                    </a:ext>
                  </a:extLst>
                </a:gridCol>
                <a:gridCol w="7123322">
                  <a:extLst>
                    <a:ext uri="{9D8B030D-6E8A-4147-A177-3AD203B41FA5}">
                      <a16:colId xmlns:a16="http://schemas.microsoft.com/office/drawing/2014/main" val="3092185723"/>
                    </a:ext>
                  </a:extLst>
                </a:gridCol>
              </a:tblGrid>
              <a:tr h="525915">
                <a:tc>
                  <a:txBody>
                    <a:bodyPr/>
                    <a:lstStyle/>
                    <a:p>
                      <a:r>
                        <a:rPr kumimoji="1" lang="en-US" altLang="ja-JP" sz="1800" dirty="0"/>
                        <a:t>8.4.2.2</a:t>
                      </a:r>
                      <a:r>
                        <a:rPr kumimoji="1" lang="ja-JP" altLang="en-US" sz="1800" dirty="0"/>
                        <a:t>　法令・規制要求事項</a:t>
                      </a:r>
                    </a:p>
                  </a:txBody>
                  <a:tcPr anchor="ctr">
                    <a:solidFill>
                      <a:schemeClr val="tx2">
                        <a:lumMod val="20000"/>
                        <a:lumOff val="80000"/>
                      </a:schemeClr>
                    </a:solidFill>
                  </a:tcPr>
                </a:tc>
                <a:tc>
                  <a:txBody>
                    <a:bodyPr/>
                    <a:lstStyle/>
                    <a:p>
                      <a:r>
                        <a:rPr kumimoji="1" lang="ja-JP" altLang="en-US" sz="1800" b="1" u="sng" dirty="0"/>
                        <a:t>購入製品</a:t>
                      </a:r>
                      <a:r>
                        <a:rPr kumimoji="1" lang="ja-JP" altLang="en-US" sz="1800" dirty="0"/>
                        <a:t>の関係する法令等への</a:t>
                      </a:r>
                      <a:r>
                        <a:rPr kumimoji="1" lang="ja-JP" altLang="en-US" sz="1800" dirty="0">
                          <a:solidFill>
                            <a:srgbClr val="FF0000"/>
                          </a:solidFill>
                          <a:effectLst>
                            <a:outerShdw blurRad="38100" dist="38100" dir="2700000" algn="tl">
                              <a:srgbClr val="000000">
                                <a:alpha val="43137"/>
                              </a:srgbClr>
                            </a:outerShdw>
                          </a:effectLst>
                        </a:rPr>
                        <a:t>適合を確実にするプロセス。</a:t>
                      </a:r>
                    </a:p>
                  </a:txBody>
                  <a:tcPr anchor="ctr">
                    <a:solidFill>
                      <a:schemeClr val="tx2">
                        <a:lumMod val="20000"/>
                        <a:lumOff val="80000"/>
                      </a:schemeClr>
                    </a:solidFill>
                  </a:tcPr>
                </a:tc>
                <a:extLst>
                  <a:ext uri="{0D108BD9-81ED-4DB2-BD59-A6C34878D82A}">
                    <a16:rowId xmlns:a16="http://schemas.microsoft.com/office/drawing/2014/main" val="1151678076"/>
                  </a:ext>
                </a:extLst>
              </a:tr>
              <a:tr h="525915">
                <a:tc>
                  <a:txBody>
                    <a:bodyPr/>
                    <a:lstStyle/>
                    <a:p>
                      <a:r>
                        <a:rPr kumimoji="1" lang="en-US" altLang="ja-JP" sz="1800" dirty="0"/>
                        <a:t>8.6.5</a:t>
                      </a:r>
                      <a:r>
                        <a:rPr kumimoji="1" lang="ja-JP" altLang="en-US" sz="1800" dirty="0"/>
                        <a:t>　法令・規制への適合</a:t>
                      </a:r>
                    </a:p>
                  </a:txBody>
                  <a:tcPr anchor="ctr">
                    <a:solidFill>
                      <a:schemeClr val="tx2">
                        <a:lumMod val="20000"/>
                        <a:lumOff val="80000"/>
                      </a:schemeClr>
                    </a:solidFill>
                  </a:tcPr>
                </a:tc>
                <a:tc>
                  <a:txBody>
                    <a:bodyPr/>
                    <a:lstStyle/>
                    <a:p>
                      <a:r>
                        <a:rPr kumimoji="1" lang="ja-JP" altLang="en-US" sz="1800" b="1" u="sng" dirty="0"/>
                        <a:t>外部から提供される製品</a:t>
                      </a:r>
                      <a:r>
                        <a:rPr kumimoji="1" lang="ja-JP" altLang="en-US" sz="1800" dirty="0"/>
                        <a:t>の関係する法令等への</a:t>
                      </a:r>
                      <a:r>
                        <a:rPr kumimoji="1" lang="ja-JP" altLang="en-US" sz="1800" dirty="0">
                          <a:solidFill>
                            <a:srgbClr val="FF0000"/>
                          </a:solidFill>
                          <a:effectLst>
                            <a:outerShdw blurRad="38100" dist="38100" dir="2700000" algn="tl">
                              <a:srgbClr val="000000">
                                <a:alpha val="43137"/>
                              </a:srgbClr>
                            </a:outerShdw>
                          </a:effectLst>
                        </a:rPr>
                        <a:t>適合の確認。</a:t>
                      </a:r>
                    </a:p>
                  </a:txBody>
                  <a:tcPr anchor="ctr">
                    <a:solidFill>
                      <a:schemeClr val="tx2">
                        <a:lumMod val="20000"/>
                        <a:lumOff val="80000"/>
                      </a:schemeClr>
                    </a:solidFill>
                  </a:tcPr>
                </a:tc>
                <a:extLst>
                  <a:ext uri="{0D108BD9-81ED-4DB2-BD59-A6C34878D82A}">
                    <a16:rowId xmlns:a16="http://schemas.microsoft.com/office/drawing/2014/main" val="3608299315"/>
                  </a:ext>
                </a:extLst>
              </a:tr>
            </a:tbl>
          </a:graphicData>
        </a:graphic>
      </p:graphicFrame>
      <p:sp>
        <p:nvSpPr>
          <p:cNvPr id="8" name="吹き出し: 角を丸めた四角形 7">
            <a:extLst>
              <a:ext uri="{FF2B5EF4-FFF2-40B4-BE49-F238E27FC236}">
                <a16:creationId xmlns:a16="http://schemas.microsoft.com/office/drawing/2014/main" id="{662AE2E1-14CB-4CE9-BE25-D3EA2F61F1A5}"/>
              </a:ext>
            </a:extLst>
          </p:cNvPr>
          <p:cNvSpPr/>
          <p:nvPr/>
        </p:nvSpPr>
        <p:spPr>
          <a:xfrm>
            <a:off x="6202496" y="4649118"/>
            <a:ext cx="5151303" cy="655400"/>
          </a:xfrm>
          <a:prstGeom prst="wedgeRoundRectCallout">
            <a:avLst>
              <a:gd name="adj1" fmla="val -37800"/>
              <a:gd name="adj2" fmla="val 6356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8.4.2.2</a:t>
            </a:r>
            <a:r>
              <a:rPr lang="ja-JP" altLang="en-US" dirty="0">
                <a:solidFill>
                  <a:schemeClr val="tx1"/>
                </a:solidFill>
              </a:rPr>
              <a:t>の実施により、結果、</a:t>
            </a:r>
            <a:endParaRPr lang="en-US" altLang="ja-JP" dirty="0">
              <a:solidFill>
                <a:schemeClr val="tx1"/>
              </a:solidFill>
            </a:endParaRPr>
          </a:p>
          <a:p>
            <a:pPr algn="ctr"/>
            <a:r>
              <a:rPr lang="ja-JP" altLang="en-US" dirty="0">
                <a:solidFill>
                  <a:schemeClr val="tx1"/>
                </a:solidFill>
              </a:rPr>
              <a:t>適合していると判断すべき。</a:t>
            </a:r>
            <a:endParaRPr kumimoji="1" lang="ja-JP" altLang="en-US" dirty="0">
              <a:solidFill>
                <a:schemeClr val="tx1"/>
              </a:solidFill>
            </a:endParaRPr>
          </a:p>
        </p:txBody>
      </p:sp>
    </p:spTree>
    <p:extLst>
      <p:ext uri="{BB962C8B-B14F-4D97-AF65-F5344CB8AC3E}">
        <p14:creationId xmlns:p14="http://schemas.microsoft.com/office/powerpoint/2010/main" val="3917055159"/>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476259"/>
          </a:xfrm>
          <a:ln w="12700">
            <a:solidFill>
              <a:schemeClr val="tx2"/>
            </a:solidFill>
          </a:ln>
        </p:spPr>
        <p:txBody>
          <a:bodyPr>
            <a:normAutofit/>
          </a:bodyPr>
          <a:lstStyle/>
          <a:p>
            <a:pPr marL="0" indent="0">
              <a:lnSpc>
                <a:spcPct val="100000"/>
              </a:lnSpc>
              <a:buNone/>
            </a:pPr>
            <a:r>
              <a:rPr lang="ja-JP" altLang="en-US" sz="2000" dirty="0"/>
              <a:t>☑合否判定基準は、組織によって定められ、必要に応じて又は要求がある場合、顧客に承認されなければならない。</a:t>
            </a:r>
            <a:r>
              <a:rPr lang="ja-JP" altLang="en-US" sz="2000" u="sng" dirty="0"/>
              <a:t>抜取りで得られた計数データの合否判定水準は、不良ゼロ（ゼロ・ディフェクト）でなければならない（</a:t>
            </a:r>
            <a:r>
              <a:rPr lang="en-US" altLang="ja-JP" sz="2000" u="sng" dirty="0"/>
              <a:t>9.1.1.1</a:t>
            </a:r>
            <a:r>
              <a:rPr lang="ja-JP" altLang="en-US" sz="2000" u="sng" dirty="0"/>
              <a:t>参照）。</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8.6.6</a:t>
            </a:r>
            <a:r>
              <a:rPr lang="ja-JP" altLang="en-US" sz="3000" b="1" dirty="0">
                <a:solidFill>
                  <a:schemeClr val="tx2"/>
                </a:solidFill>
              </a:rPr>
              <a:t>　合否判定基準</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23632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8.6.6</a:t>
            </a:r>
            <a:r>
              <a:rPr lang="ja-JP" altLang="en-US" sz="3000" b="1" dirty="0">
                <a:solidFill>
                  <a:schemeClr val="bg1"/>
                </a:solidFill>
              </a:rPr>
              <a:t>　合否判定基準</a:t>
            </a:r>
          </a:p>
        </p:txBody>
      </p:sp>
      <p:sp>
        <p:nvSpPr>
          <p:cNvPr id="7" name="コンテンツ プレースホルダー 2">
            <a:extLst>
              <a:ext uri="{FF2B5EF4-FFF2-40B4-BE49-F238E27FC236}">
                <a16:creationId xmlns:a16="http://schemas.microsoft.com/office/drawing/2014/main" id="{47535B05-F89E-476A-9216-ED1E3E6AF913}"/>
              </a:ext>
            </a:extLst>
          </p:cNvPr>
          <p:cNvSpPr txBox="1">
            <a:spLocks/>
          </p:cNvSpPr>
          <p:nvPr/>
        </p:nvSpPr>
        <p:spPr>
          <a:xfrm>
            <a:off x="838200" y="4296378"/>
            <a:ext cx="10515600" cy="205997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10000"/>
              </a:lnSpc>
              <a:buFont typeface="+mj-lt"/>
              <a:buAutoNum type="arabicPeriod"/>
            </a:pPr>
            <a:r>
              <a:rPr lang="ja-JP" altLang="en-US" sz="2400" dirty="0"/>
              <a:t>要求があれば、限度見本及び外観標準マスターなどの顧客承認を得る。</a:t>
            </a:r>
            <a:endParaRPr lang="en-US" altLang="ja-JP" sz="2400" dirty="0"/>
          </a:p>
          <a:p>
            <a:pPr marL="514350" indent="-514350">
              <a:lnSpc>
                <a:spcPct val="110000"/>
              </a:lnSpc>
              <a:buFont typeface="+mj-lt"/>
              <a:buAutoNum type="arabicPeriod"/>
            </a:pPr>
            <a:r>
              <a:rPr lang="ja-JP" altLang="en-US" sz="2400" dirty="0"/>
              <a:t>「ゼロ・ディフェクト」　➠　</a:t>
            </a:r>
            <a:r>
              <a:rPr lang="ja-JP" altLang="en-US" sz="2400" dirty="0">
                <a:solidFill>
                  <a:srgbClr val="FF0000"/>
                </a:solidFill>
                <a:effectLst>
                  <a:outerShdw blurRad="38100" dist="38100" dir="2700000" algn="tl">
                    <a:srgbClr val="000000">
                      <a:alpha val="43137"/>
                    </a:srgbClr>
                  </a:outerShdw>
                </a:effectLst>
              </a:rPr>
              <a:t>不良「０」以外の合格判定基準はＮＧ。</a:t>
            </a:r>
            <a:endParaRPr lang="en-US" altLang="ja-JP" sz="2400" dirty="0">
              <a:solidFill>
                <a:srgbClr val="FF0000"/>
              </a:solidFill>
              <a:effectLst>
                <a:outerShdw blurRad="38100" dist="38100" dir="2700000" algn="tl">
                  <a:srgbClr val="000000">
                    <a:alpha val="43137"/>
                  </a:srgbClr>
                </a:outerShdw>
              </a:effectLst>
            </a:endParaRPr>
          </a:p>
          <a:p>
            <a:pPr marL="457200" lvl="1" indent="0">
              <a:lnSpc>
                <a:spcPct val="110000"/>
              </a:lnSpc>
              <a:buNone/>
            </a:pPr>
            <a:r>
              <a:rPr lang="ja-JP" altLang="en-US" dirty="0"/>
              <a:t>　➠　０・１判定のこと。</a:t>
            </a:r>
            <a:endParaRPr lang="en-US" altLang="ja-JP" dirty="0"/>
          </a:p>
          <a:p>
            <a:pPr marL="457200" lvl="1" indent="0">
              <a:lnSpc>
                <a:spcPct val="110000"/>
              </a:lnSpc>
              <a:buNone/>
            </a:pPr>
            <a:r>
              <a:rPr lang="ja-JP" altLang="en-US" dirty="0"/>
              <a:t>　➠　１・２判定（複数の不良許容）はダメ。</a:t>
            </a:r>
            <a:endParaRPr lang="en-US" altLang="ja-JP" dirty="0"/>
          </a:p>
        </p:txBody>
      </p:sp>
      <p:sp>
        <p:nvSpPr>
          <p:cNvPr id="2" name="吹き出し: 角を丸めた四角形 1">
            <a:extLst>
              <a:ext uri="{FF2B5EF4-FFF2-40B4-BE49-F238E27FC236}">
                <a16:creationId xmlns:a16="http://schemas.microsoft.com/office/drawing/2014/main" id="{C74A2CD2-018B-4317-8344-5FB60FCF926D}"/>
              </a:ext>
            </a:extLst>
          </p:cNvPr>
          <p:cNvSpPr/>
          <p:nvPr/>
        </p:nvSpPr>
        <p:spPr>
          <a:xfrm>
            <a:off x="7809875" y="5403742"/>
            <a:ext cx="3543925" cy="952608"/>
          </a:xfrm>
          <a:prstGeom prst="wedgeRoundRectCallout">
            <a:avLst>
              <a:gd name="adj1" fmla="val -58877"/>
              <a:gd name="adj2" fmla="val -1301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JISZ9015</a:t>
            </a:r>
            <a:r>
              <a:rPr lang="ja-JP" altLang="en-US" sz="2000" dirty="0">
                <a:solidFill>
                  <a:schemeClr val="tx1"/>
                </a:solidFill>
              </a:rPr>
              <a:t>（抜取り検査品質水準）の考え方は採用不可。</a:t>
            </a:r>
            <a:endParaRPr kumimoji="1" lang="ja-JP" altLang="en-US" sz="2000" dirty="0">
              <a:solidFill>
                <a:schemeClr val="tx1"/>
              </a:solidFill>
            </a:endParaRPr>
          </a:p>
        </p:txBody>
      </p:sp>
    </p:spTree>
    <p:extLst>
      <p:ext uri="{BB962C8B-B14F-4D97-AF65-F5344CB8AC3E}">
        <p14:creationId xmlns:p14="http://schemas.microsoft.com/office/powerpoint/2010/main" val="3884234226"/>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メモ 7">
            <a:extLst>
              <a:ext uri="{FF2B5EF4-FFF2-40B4-BE49-F238E27FC236}">
                <a16:creationId xmlns:a16="http://schemas.microsoft.com/office/drawing/2014/main" id="{587A77C3-48F8-4CD9-A00C-389D21826757}"/>
              </a:ext>
            </a:extLst>
          </p:cNvPr>
          <p:cNvSpPr/>
          <p:nvPr/>
        </p:nvSpPr>
        <p:spPr>
          <a:xfrm>
            <a:off x="3658519" y="1553381"/>
            <a:ext cx="4284641" cy="4538947"/>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en-US" altLang="ja-JP" dirty="0"/>
              <a:t>8.7.1.1</a:t>
            </a:r>
            <a:r>
              <a:rPr lang="ja-JP" altLang="en-US" dirty="0"/>
              <a:t>　特別採用に対する顧客の正式許可</a:t>
            </a:r>
            <a:endParaRPr lang="en-US" altLang="ja-JP" dirty="0"/>
          </a:p>
          <a:p>
            <a:r>
              <a:rPr lang="en-US" altLang="ja-JP" dirty="0"/>
              <a:t>8.7.1.2</a:t>
            </a:r>
            <a:r>
              <a:rPr lang="ja-JP" altLang="en-US" dirty="0"/>
              <a:t>　不適合製品の管理－顧客規定のプロセス</a:t>
            </a:r>
            <a:endParaRPr lang="en-US" altLang="ja-JP" dirty="0"/>
          </a:p>
          <a:p>
            <a:r>
              <a:rPr lang="en-US" altLang="ja-JP" dirty="0"/>
              <a:t>8.7.1.3</a:t>
            </a:r>
            <a:r>
              <a:rPr lang="ja-JP" altLang="en-US" dirty="0"/>
              <a:t>　疑わしい製品の管理</a:t>
            </a:r>
            <a:endParaRPr lang="en-US" altLang="ja-JP" dirty="0"/>
          </a:p>
          <a:p>
            <a:r>
              <a:rPr lang="en-US" altLang="ja-JP" dirty="0"/>
              <a:t>8.7.1.4</a:t>
            </a:r>
            <a:r>
              <a:rPr lang="ja-JP" altLang="en-US" dirty="0"/>
              <a:t>　手直し製品の管理</a:t>
            </a:r>
            <a:endParaRPr lang="en-US" altLang="ja-JP" dirty="0"/>
          </a:p>
          <a:p>
            <a:r>
              <a:rPr lang="en-US" altLang="ja-JP" dirty="0"/>
              <a:t>8.7.1.5</a:t>
            </a:r>
            <a:r>
              <a:rPr lang="ja-JP" altLang="en-US" dirty="0"/>
              <a:t>　修理製品の管理</a:t>
            </a:r>
            <a:endParaRPr lang="en-US" altLang="ja-JP" dirty="0"/>
          </a:p>
          <a:p>
            <a:r>
              <a:rPr lang="en-US" altLang="ja-JP" dirty="0"/>
              <a:t>8.7.1.6</a:t>
            </a:r>
            <a:r>
              <a:rPr lang="ja-JP" altLang="en-US" dirty="0"/>
              <a:t>　顧客への通知</a:t>
            </a:r>
            <a:endParaRPr lang="en-US" altLang="ja-JP" dirty="0"/>
          </a:p>
          <a:p>
            <a:r>
              <a:rPr lang="en-US" altLang="ja-JP" dirty="0"/>
              <a:t>8.7.1.7</a:t>
            </a:r>
            <a:r>
              <a:rPr lang="ja-JP" altLang="en-US" dirty="0"/>
              <a:t>　不適合製品の廃棄</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304</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en-US" altLang="ja-JP" sz="3600" dirty="0">
                <a:solidFill>
                  <a:schemeClr val="bg1"/>
                </a:solidFill>
              </a:rPr>
              <a:t>8.7</a:t>
            </a:r>
            <a:r>
              <a:rPr kumimoji="1" lang="ja-JP" altLang="en-US" sz="3600" dirty="0">
                <a:solidFill>
                  <a:schemeClr val="bg1"/>
                </a:solidFill>
              </a:rPr>
              <a:t>　不適合なアウトプットの管理</a:t>
            </a: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3658519" y="1553381"/>
            <a:ext cx="4284642" cy="1322021"/>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8.7</a:t>
            </a:r>
            <a:r>
              <a:rPr kumimoji="1" lang="ja-JP" altLang="en-US" sz="2000" b="1" dirty="0">
                <a:solidFill>
                  <a:schemeClr val="tx1"/>
                </a:solidFill>
              </a:rPr>
              <a:t>　不適合なアウトプットの管理</a:t>
            </a:r>
            <a:endParaRPr kumimoji="1" lang="en-US" altLang="ja-JP" sz="2000" b="1" dirty="0">
              <a:solidFill>
                <a:schemeClr val="tx1"/>
              </a:solidFill>
            </a:endParaRPr>
          </a:p>
          <a:p>
            <a:r>
              <a:rPr lang="en-US" altLang="ja-JP" dirty="0">
                <a:solidFill>
                  <a:schemeClr val="tx1"/>
                </a:solidFill>
              </a:rPr>
              <a:t>8.7.1</a:t>
            </a:r>
          </a:p>
          <a:p>
            <a:r>
              <a:rPr kumimoji="1" lang="en-US" altLang="ja-JP" sz="1600" dirty="0">
                <a:solidFill>
                  <a:schemeClr val="tx1"/>
                </a:solidFill>
              </a:rPr>
              <a:t>8.7.2</a:t>
            </a:r>
            <a:r>
              <a:rPr kumimoji="1" lang="ja-JP" altLang="en-US" sz="1600" dirty="0">
                <a:solidFill>
                  <a:schemeClr val="tx1"/>
                </a:solidFill>
              </a:rPr>
              <a:t>　</a:t>
            </a:r>
          </a:p>
        </p:txBody>
      </p:sp>
    </p:spTree>
    <p:extLst>
      <p:ext uri="{BB962C8B-B14F-4D97-AF65-F5344CB8AC3E}">
        <p14:creationId xmlns:p14="http://schemas.microsoft.com/office/powerpoint/2010/main" val="498433921"/>
      </p:ext>
    </p:extLst>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☑組織は、製品又は製造工程が</a:t>
            </a:r>
            <a:r>
              <a:rPr lang="ja-JP" altLang="en-US" sz="2000" u="sng" dirty="0"/>
              <a:t>現在承認されているものと異なる場合は</a:t>
            </a:r>
            <a:r>
              <a:rPr lang="ja-JP" altLang="en-US" sz="2000" dirty="0"/>
              <a:t>常に、その後の処理の前に顧客の特別採用又は逸脱許可を得なければならない。</a:t>
            </a:r>
            <a:endParaRPr lang="en-US" altLang="ja-JP" sz="2000" dirty="0"/>
          </a:p>
          <a:p>
            <a:pPr marL="0" indent="0">
              <a:lnSpc>
                <a:spcPct val="100000"/>
              </a:lnSpc>
              <a:buNone/>
            </a:pPr>
            <a:r>
              <a:rPr lang="ja-JP" altLang="en-US" sz="2000" dirty="0"/>
              <a:t>☑組織は、</a:t>
            </a:r>
            <a:r>
              <a:rPr lang="ja-JP" altLang="en-US" sz="2000" u="sng" dirty="0"/>
              <a:t>不適合製品の“現状での使用”及び修理（</a:t>
            </a:r>
            <a:r>
              <a:rPr lang="en-US" altLang="ja-JP" sz="2000" u="sng" dirty="0"/>
              <a:t>8.7.1.5</a:t>
            </a:r>
            <a:r>
              <a:rPr lang="ja-JP" altLang="en-US" sz="2000" u="sng" dirty="0"/>
              <a:t>参照）について</a:t>
            </a:r>
            <a:r>
              <a:rPr lang="ja-JP" altLang="en-US" sz="2000" dirty="0"/>
              <a:t>以降の処理を進める前に顧客の正式許可を受けなければならない。</a:t>
            </a:r>
            <a:endParaRPr lang="en-US" altLang="ja-JP" sz="2000" dirty="0"/>
          </a:p>
          <a:p>
            <a:pPr marL="0" indent="0">
              <a:lnSpc>
                <a:spcPct val="100000"/>
              </a:lnSpc>
              <a:buNone/>
            </a:pPr>
            <a:r>
              <a:rPr lang="ja-JP" altLang="en-US" sz="2000" dirty="0"/>
              <a:t>☑もし</a:t>
            </a:r>
            <a:r>
              <a:rPr lang="ja-JP" altLang="en-US" sz="2000" u="sng" dirty="0"/>
              <a:t>構成部品が製造工程で再使用される場合は</a:t>
            </a:r>
            <a:r>
              <a:rPr lang="ja-JP" altLang="en-US" sz="2000" dirty="0"/>
              <a:t>、その構成部品は、特別採用又は逸脱許可によって、明確に顧客に伝達しなければならない。</a:t>
            </a:r>
            <a:endParaRPr lang="en-US" altLang="ja-JP" sz="2000" dirty="0"/>
          </a:p>
          <a:p>
            <a:pPr marL="0" indent="0">
              <a:lnSpc>
                <a:spcPct val="100000"/>
              </a:lnSpc>
              <a:buNone/>
            </a:pPr>
            <a:r>
              <a:rPr lang="ja-JP" altLang="en-US" sz="2000" dirty="0"/>
              <a:t>☑組織は、特別採用によって正式許可された</a:t>
            </a:r>
            <a:r>
              <a:rPr lang="ja-JP" altLang="en-US" sz="2000" u="sng" dirty="0"/>
              <a:t>満了日又は数量の記録を維持しなければならない。</a:t>
            </a:r>
            <a:endParaRPr lang="en-US" altLang="ja-JP" sz="2000" u="sng" dirty="0"/>
          </a:p>
          <a:p>
            <a:pPr marL="0" indent="0">
              <a:lnSpc>
                <a:spcPct val="100000"/>
              </a:lnSpc>
              <a:buNone/>
            </a:pPr>
            <a:r>
              <a:rPr lang="ja-JP" altLang="en-US" sz="2000" dirty="0"/>
              <a:t>☑組織は、</a:t>
            </a:r>
            <a:r>
              <a:rPr lang="ja-JP" altLang="en-US" sz="2000" u="sng" dirty="0"/>
              <a:t>正式許可が満了となったときには</a:t>
            </a:r>
            <a:r>
              <a:rPr lang="ja-JP" altLang="en-US" sz="2000" dirty="0"/>
              <a:t>、元の又は置き換わった新たな仕様書及び要求事項に</a:t>
            </a:r>
            <a:r>
              <a:rPr lang="ja-JP" altLang="en-US" sz="2000" u="sng" dirty="0"/>
              <a:t>適合していることを確実にしなければならない。</a:t>
            </a:r>
            <a:endParaRPr lang="en-US" altLang="ja-JP" sz="2000" u="sng" dirty="0"/>
          </a:p>
          <a:p>
            <a:pPr marL="0" indent="0">
              <a:lnSpc>
                <a:spcPct val="100000"/>
              </a:lnSpc>
              <a:buNone/>
            </a:pPr>
            <a:r>
              <a:rPr lang="ja-JP" altLang="en-US" sz="2000" dirty="0"/>
              <a:t>☑特別採用として出荷される材料は、</a:t>
            </a:r>
            <a:r>
              <a:rPr lang="ja-JP" altLang="en-US" sz="2000" u="sng" dirty="0"/>
              <a:t>各出荷容器上で適切に識別されなければならない（これは、購入された製品にも等しく適用する。）。</a:t>
            </a:r>
            <a:endParaRPr lang="en-US" altLang="ja-JP" sz="2000" u="sng" dirty="0"/>
          </a:p>
          <a:p>
            <a:pPr marL="0" indent="0">
              <a:lnSpc>
                <a:spcPct val="100000"/>
              </a:lnSpc>
              <a:buNone/>
            </a:pPr>
            <a:r>
              <a:rPr lang="ja-JP" altLang="en-US" sz="2000" dirty="0"/>
              <a:t>☑組織は供給者からの要請に対して、顧客に提出する前に、承認しなければならない。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8.7.1.1</a:t>
            </a:r>
            <a:r>
              <a:rPr kumimoji="1" lang="ja-JP" altLang="en-US" sz="3000" b="1" dirty="0">
                <a:solidFill>
                  <a:schemeClr val="tx2"/>
                </a:solidFill>
              </a:rPr>
              <a:t>　特別採用に対する顧客の正式許可　</a:t>
            </a:r>
          </a:p>
        </p:txBody>
      </p:sp>
      <p:sp>
        <p:nvSpPr>
          <p:cNvPr id="2" name="四角形: 角を丸くする 1">
            <a:extLst>
              <a:ext uri="{FF2B5EF4-FFF2-40B4-BE49-F238E27FC236}">
                <a16:creationId xmlns:a16="http://schemas.microsoft.com/office/drawing/2014/main" id="{71BB5AA1-9CA0-424F-B77B-A06423D8A81E}"/>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9</a:t>
            </a:r>
          </a:p>
        </p:txBody>
      </p:sp>
    </p:spTree>
    <p:extLst>
      <p:ext uri="{BB962C8B-B14F-4D97-AF65-F5344CB8AC3E}">
        <p14:creationId xmlns:p14="http://schemas.microsoft.com/office/powerpoint/2010/main" val="3967459241"/>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要求事項の意図。</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特別採用と逸脱許可。</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8.7.1.1</a:t>
            </a:r>
            <a:r>
              <a:rPr lang="ja-JP" altLang="en-US" sz="3000" b="1" dirty="0">
                <a:solidFill>
                  <a:schemeClr val="bg1"/>
                </a:solidFill>
              </a:rPr>
              <a:t>　特別採用に対する顧客の正式許可</a:t>
            </a:r>
          </a:p>
        </p:txBody>
      </p:sp>
      <p:grpSp>
        <p:nvGrpSpPr>
          <p:cNvPr id="14" name="グループ化 13">
            <a:extLst>
              <a:ext uri="{FF2B5EF4-FFF2-40B4-BE49-F238E27FC236}">
                <a16:creationId xmlns:a16="http://schemas.microsoft.com/office/drawing/2014/main" id="{9BF93739-61A0-46C0-BC90-240953AAA688}"/>
              </a:ext>
            </a:extLst>
          </p:cNvPr>
          <p:cNvGrpSpPr/>
          <p:nvPr/>
        </p:nvGrpSpPr>
        <p:grpSpPr>
          <a:xfrm>
            <a:off x="1010255" y="2424703"/>
            <a:ext cx="10171490" cy="1078038"/>
            <a:chOff x="962526" y="1886543"/>
            <a:chExt cx="10171490" cy="1078038"/>
          </a:xfrm>
        </p:grpSpPr>
        <p:sp>
          <p:nvSpPr>
            <p:cNvPr id="6" name="矢印: 右 5">
              <a:extLst>
                <a:ext uri="{FF2B5EF4-FFF2-40B4-BE49-F238E27FC236}">
                  <a16:creationId xmlns:a16="http://schemas.microsoft.com/office/drawing/2014/main" id="{66638453-0084-4E1B-B11C-5802F5F1F7FB}"/>
                </a:ext>
              </a:extLst>
            </p:cNvPr>
            <p:cNvSpPr/>
            <p:nvPr/>
          </p:nvSpPr>
          <p:spPr>
            <a:xfrm>
              <a:off x="2027714" y="2141612"/>
              <a:ext cx="7393005" cy="567890"/>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53209A36-453E-4369-B907-17A269E79B99}"/>
                </a:ext>
              </a:extLst>
            </p:cNvPr>
            <p:cNvSpPr/>
            <p:nvPr/>
          </p:nvSpPr>
          <p:spPr>
            <a:xfrm>
              <a:off x="962526" y="1886552"/>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製品・工程の承認</a:t>
              </a:r>
            </a:p>
          </p:txBody>
        </p:sp>
        <p:sp>
          <p:nvSpPr>
            <p:cNvPr id="8" name="四角形: 角を丸くする 7">
              <a:extLst>
                <a:ext uri="{FF2B5EF4-FFF2-40B4-BE49-F238E27FC236}">
                  <a16:creationId xmlns:a16="http://schemas.microsoft.com/office/drawing/2014/main" id="{FCB53885-BC5B-4FD1-9576-6213DB3E7840}"/>
                </a:ext>
              </a:extLst>
            </p:cNvPr>
            <p:cNvSpPr/>
            <p:nvPr/>
          </p:nvSpPr>
          <p:spPr>
            <a:xfrm>
              <a:off x="3077074" y="1886548"/>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事前承認と</a:t>
              </a:r>
              <a:endParaRPr kumimoji="1" lang="en-US" altLang="ja-JP" sz="2000" dirty="0">
                <a:solidFill>
                  <a:schemeClr val="tx1"/>
                </a:solidFill>
              </a:endParaRPr>
            </a:p>
            <a:p>
              <a:pPr algn="ctr"/>
              <a:r>
                <a:rPr kumimoji="1" lang="ja-JP" altLang="en-US" sz="2000" dirty="0">
                  <a:solidFill>
                    <a:schemeClr val="tx1"/>
                  </a:solidFill>
                </a:rPr>
                <a:t>異なる場合</a:t>
              </a:r>
            </a:p>
          </p:txBody>
        </p:sp>
        <p:sp>
          <p:nvSpPr>
            <p:cNvPr id="10" name="四角形: 角を丸くする 9">
              <a:extLst>
                <a:ext uri="{FF2B5EF4-FFF2-40B4-BE49-F238E27FC236}">
                  <a16:creationId xmlns:a16="http://schemas.microsoft.com/office/drawing/2014/main" id="{822F3536-9229-4042-8E06-EB08A2992978}"/>
                </a:ext>
              </a:extLst>
            </p:cNvPr>
            <p:cNvSpPr/>
            <p:nvPr/>
          </p:nvSpPr>
          <p:spPr>
            <a:xfrm>
              <a:off x="5191623" y="1886547"/>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顧客の承認</a:t>
              </a:r>
            </a:p>
          </p:txBody>
        </p:sp>
        <p:sp>
          <p:nvSpPr>
            <p:cNvPr id="11" name="四角形: 角を丸くする 10">
              <a:extLst>
                <a:ext uri="{FF2B5EF4-FFF2-40B4-BE49-F238E27FC236}">
                  <a16:creationId xmlns:a16="http://schemas.microsoft.com/office/drawing/2014/main" id="{2191E6BE-CCAF-4941-AD9F-DAF1C07CF2D5}"/>
                </a:ext>
              </a:extLst>
            </p:cNvPr>
            <p:cNvSpPr/>
            <p:nvPr/>
          </p:nvSpPr>
          <p:spPr>
            <a:xfrm>
              <a:off x="7306171" y="1886543"/>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異なる製品の出荷</a:t>
              </a:r>
            </a:p>
          </p:txBody>
        </p:sp>
        <p:sp>
          <p:nvSpPr>
            <p:cNvPr id="12" name="四角形: 角を丸くする 11">
              <a:extLst>
                <a:ext uri="{FF2B5EF4-FFF2-40B4-BE49-F238E27FC236}">
                  <a16:creationId xmlns:a16="http://schemas.microsoft.com/office/drawing/2014/main" id="{08D513C3-9003-4C55-8151-D29D768EBD59}"/>
                </a:ext>
              </a:extLst>
            </p:cNvPr>
            <p:cNvSpPr/>
            <p:nvPr/>
          </p:nvSpPr>
          <p:spPr>
            <a:xfrm>
              <a:off x="9420719" y="1886543"/>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完了後、</a:t>
              </a:r>
              <a:endParaRPr kumimoji="1" lang="en-US" altLang="ja-JP" sz="2000" dirty="0">
                <a:solidFill>
                  <a:schemeClr val="tx1"/>
                </a:solidFill>
              </a:endParaRPr>
            </a:p>
            <a:p>
              <a:pPr algn="ctr"/>
              <a:r>
                <a:rPr kumimoji="1" lang="ja-JP" altLang="en-US" sz="2000" dirty="0">
                  <a:solidFill>
                    <a:schemeClr val="tx1"/>
                  </a:solidFill>
                </a:rPr>
                <a:t>元に戻す</a:t>
              </a:r>
            </a:p>
          </p:txBody>
        </p:sp>
      </p:grpSp>
      <p:sp>
        <p:nvSpPr>
          <p:cNvPr id="13" name="吹き出し: 線 12">
            <a:extLst>
              <a:ext uri="{FF2B5EF4-FFF2-40B4-BE49-F238E27FC236}">
                <a16:creationId xmlns:a16="http://schemas.microsoft.com/office/drawing/2014/main" id="{61D73454-5180-4306-9009-5AA01FA4FB29}"/>
              </a:ext>
            </a:extLst>
          </p:cNvPr>
          <p:cNvSpPr/>
          <p:nvPr/>
        </p:nvSpPr>
        <p:spPr>
          <a:xfrm>
            <a:off x="5258801" y="3783980"/>
            <a:ext cx="2800664" cy="567890"/>
          </a:xfrm>
          <a:prstGeom prst="borderCallout1">
            <a:avLst>
              <a:gd name="adj1" fmla="val -11510"/>
              <a:gd name="adj2" fmla="val 64810"/>
              <a:gd name="adj3" fmla="val -44508"/>
              <a:gd name="adj4" fmla="val 76378"/>
            </a:avLst>
          </a:prstGeom>
          <a:solidFill>
            <a:schemeClr val="tx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トレーサビリティ</a:t>
            </a:r>
            <a:endParaRPr kumimoji="1" lang="ja-JP" altLang="en-US" dirty="0">
              <a:solidFill>
                <a:schemeClr val="tx1"/>
              </a:solidFill>
            </a:endParaRPr>
          </a:p>
        </p:txBody>
      </p:sp>
      <p:cxnSp>
        <p:nvCxnSpPr>
          <p:cNvPr id="16" name="コネクタ: カギ線 15">
            <a:extLst>
              <a:ext uri="{FF2B5EF4-FFF2-40B4-BE49-F238E27FC236}">
                <a16:creationId xmlns:a16="http://schemas.microsoft.com/office/drawing/2014/main" id="{23E4F6DF-0855-4F8C-B188-0D8BAFA6CD0E}"/>
              </a:ext>
            </a:extLst>
          </p:cNvPr>
          <p:cNvCxnSpPr>
            <a:stCxn id="12" idx="0"/>
            <a:endCxn id="3" idx="0"/>
          </p:cNvCxnSpPr>
          <p:nvPr/>
        </p:nvCxnSpPr>
        <p:spPr>
          <a:xfrm rot="16200000" flipH="1" flipV="1">
            <a:off x="6095996" y="-1804390"/>
            <a:ext cx="9" cy="8458193"/>
          </a:xfrm>
          <a:prstGeom prst="bentConnector3">
            <a:avLst>
              <a:gd name="adj1" fmla="val -254000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AAA6AD11-098B-4E97-9D70-0402266BA745}"/>
              </a:ext>
            </a:extLst>
          </p:cNvPr>
          <p:cNvSpPr/>
          <p:nvPr/>
        </p:nvSpPr>
        <p:spPr>
          <a:xfrm>
            <a:off x="5516381" y="1669870"/>
            <a:ext cx="4808716" cy="437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t>元に戻さない場合は</a:t>
            </a:r>
            <a:r>
              <a:rPr kumimoji="1" lang="en-US" altLang="ja-JP" sz="2000" dirty="0"/>
              <a:t>PPAP</a:t>
            </a:r>
            <a:r>
              <a:rPr lang="ja-JP" altLang="en-US" sz="2000" dirty="0"/>
              <a:t>変更承認</a:t>
            </a:r>
            <a:endParaRPr kumimoji="1" lang="ja-JP" altLang="en-US" sz="2000" dirty="0"/>
          </a:p>
        </p:txBody>
      </p:sp>
      <p:sp>
        <p:nvSpPr>
          <p:cNvPr id="19" name="吹き出し: 線 18">
            <a:extLst>
              <a:ext uri="{FF2B5EF4-FFF2-40B4-BE49-F238E27FC236}">
                <a16:creationId xmlns:a16="http://schemas.microsoft.com/office/drawing/2014/main" id="{5E998B27-5F9D-4D39-BCD4-066EB5939548}"/>
              </a:ext>
            </a:extLst>
          </p:cNvPr>
          <p:cNvSpPr/>
          <p:nvPr/>
        </p:nvSpPr>
        <p:spPr>
          <a:xfrm>
            <a:off x="8381081" y="3788873"/>
            <a:ext cx="2800664" cy="567890"/>
          </a:xfrm>
          <a:prstGeom prst="borderCallout1">
            <a:avLst>
              <a:gd name="adj1" fmla="val -10775"/>
              <a:gd name="adj2" fmla="val 40351"/>
              <a:gd name="adj3" fmla="val -53962"/>
              <a:gd name="adj4" fmla="val 26127"/>
            </a:avLst>
          </a:prstGeom>
          <a:solidFill>
            <a:schemeClr val="tx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出荷時の適切な識別</a:t>
            </a:r>
            <a:endParaRPr kumimoji="1" lang="ja-JP" altLang="en-US" dirty="0">
              <a:solidFill>
                <a:schemeClr val="tx1"/>
              </a:solidFill>
            </a:endParaRPr>
          </a:p>
        </p:txBody>
      </p:sp>
      <p:graphicFrame>
        <p:nvGraphicFramePr>
          <p:cNvPr id="20" name="表 19">
            <a:extLst>
              <a:ext uri="{FF2B5EF4-FFF2-40B4-BE49-F238E27FC236}">
                <a16:creationId xmlns:a16="http://schemas.microsoft.com/office/drawing/2014/main" id="{41167AD8-891E-4995-A7A4-230058211469}"/>
              </a:ext>
            </a:extLst>
          </p:cNvPr>
          <p:cNvGraphicFramePr>
            <a:graphicFrameLocks noGrp="1"/>
          </p:cNvGraphicFramePr>
          <p:nvPr>
            <p:extLst>
              <p:ext uri="{D42A27DB-BD31-4B8C-83A1-F6EECF244321}">
                <p14:modId xmlns:p14="http://schemas.microsoft.com/office/powerpoint/2010/main" val="2581316291"/>
              </p:ext>
            </p:extLst>
          </p:nvPr>
        </p:nvGraphicFramePr>
        <p:xfrm>
          <a:off x="1340448" y="4897974"/>
          <a:ext cx="9610318" cy="1453483"/>
        </p:xfrm>
        <a:graphic>
          <a:graphicData uri="http://schemas.openxmlformats.org/drawingml/2006/table">
            <a:tbl>
              <a:tblPr firstRow="1" bandRow="1">
                <a:tableStyleId>{5940675A-B579-460E-94D1-54222C63F5DA}</a:tableStyleId>
              </a:tblPr>
              <a:tblGrid>
                <a:gridCol w="1634106">
                  <a:extLst>
                    <a:ext uri="{9D8B030D-6E8A-4147-A177-3AD203B41FA5}">
                      <a16:colId xmlns:a16="http://schemas.microsoft.com/office/drawing/2014/main" val="78303075"/>
                    </a:ext>
                  </a:extLst>
                </a:gridCol>
                <a:gridCol w="7976212">
                  <a:extLst>
                    <a:ext uri="{9D8B030D-6E8A-4147-A177-3AD203B41FA5}">
                      <a16:colId xmlns:a16="http://schemas.microsoft.com/office/drawing/2014/main" val="3256335786"/>
                    </a:ext>
                  </a:extLst>
                </a:gridCol>
              </a:tblGrid>
              <a:tr h="527941">
                <a:tc>
                  <a:txBody>
                    <a:bodyPr/>
                    <a:lstStyle/>
                    <a:p>
                      <a:pPr algn="ctr"/>
                      <a:r>
                        <a:rPr kumimoji="1" lang="ja-JP" altLang="en-US" sz="2200" dirty="0"/>
                        <a:t>特別採用</a:t>
                      </a:r>
                    </a:p>
                  </a:txBody>
                  <a:tcPr anchor="ctr">
                    <a:solidFill>
                      <a:schemeClr val="tx2">
                        <a:lumMod val="20000"/>
                        <a:lumOff val="80000"/>
                      </a:schemeClr>
                    </a:solidFill>
                  </a:tcPr>
                </a:tc>
                <a:tc>
                  <a:txBody>
                    <a:bodyPr/>
                    <a:lstStyle/>
                    <a:p>
                      <a:r>
                        <a:rPr kumimoji="1" lang="ja-JP" altLang="en-US" sz="2200" dirty="0"/>
                        <a:t>不適合製品を、顧客の承認を得て出荷すること。</a:t>
                      </a:r>
                    </a:p>
                  </a:txBody>
                  <a:tcPr anchor="ctr">
                    <a:solidFill>
                      <a:schemeClr val="tx2">
                        <a:lumMod val="20000"/>
                        <a:lumOff val="80000"/>
                      </a:schemeClr>
                    </a:solidFill>
                  </a:tcPr>
                </a:tc>
                <a:extLst>
                  <a:ext uri="{0D108BD9-81ED-4DB2-BD59-A6C34878D82A}">
                    <a16:rowId xmlns:a16="http://schemas.microsoft.com/office/drawing/2014/main" val="2845239691"/>
                  </a:ext>
                </a:extLst>
              </a:tr>
              <a:tr h="925542">
                <a:tc>
                  <a:txBody>
                    <a:bodyPr/>
                    <a:lstStyle/>
                    <a:p>
                      <a:pPr algn="ctr"/>
                      <a:r>
                        <a:rPr kumimoji="1" lang="ja-JP" altLang="en-US" sz="2200" dirty="0"/>
                        <a:t>逸脱許可</a:t>
                      </a:r>
                    </a:p>
                  </a:txBody>
                  <a:tcPr anchor="ctr">
                    <a:solidFill>
                      <a:schemeClr val="tx2">
                        <a:lumMod val="20000"/>
                        <a:lumOff val="80000"/>
                      </a:schemeClr>
                    </a:solidFill>
                  </a:tcPr>
                </a:tc>
                <a:tc>
                  <a:txBody>
                    <a:bodyPr/>
                    <a:lstStyle/>
                    <a:p>
                      <a:r>
                        <a:rPr kumimoji="1" lang="ja-JP" altLang="en-US" sz="2200" dirty="0"/>
                        <a:t>顧客に承認されている製造工程と異なる製造工程で製造した製品を、顧客の承認を得て出荷すること。</a:t>
                      </a:r>
                    </a:p>
                  </a:txBody>
                  <a:tcPr anchor="ctr">
                    <a:solidFill>
                      <a:schemeClr val="tx2">
                        <a:lumMod val="20000"/>
                        <a:lumOff val="80000"/>
                      </a:schemeClr>
                    </a:solidFill>
                  </a:tcPr>
                </a:tc>
                <a:extLst>
                  <a:ext uri="{0D108BD9-81ED-4DB2-BD59-A6C34878D82A}">
                    <a16:rowId xmlns:a16="http://schemas.microsoft.com/office/drawing/2014/main" val="2951384110"/>
                  </a:ext>
                </a:extLst>
              </a:tr>
            </a:tbl>
          </a:graphicData>
        </a:graphic>
      </p:graphicFrame>
      <p:cxnSp>
        <p:nvCxnSpPr>
          <p:cNvPr id="15" name="直線矢印コネクタ 14">
            <a:extLst>
              <a:ext uri="{FF2B5EF4-FFF2-40B4-BE49-F238E27FC236}">
                <a16:creationId xmlns:a16="http://schemas.microsoft.com/office/drawing/2014/main" id="{C4D9EBD0-0ADE-4BA7-BDAD-FCA95DD0D581}"/>
              </a:ext>
            </a:extLst>
          </p:cNvPr>
          <p:cNvCxnSpPr>
            <a:stCxn id="8" idx="2"/>
          </p:cNvCxnSpPr>
          <p:nvPr/>
        </p:nvCxnSpPr>
        <p:spPr>
          <a:xfrm flipH="1">
            <a:off x="1960880" y="3502737"/>
            <a:ext cx="2020572" cy="14858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AF54C440-0012-48BC-B195-2178EE4C8A9F}"/>
              </a:ext>
            </a:extLst>
          </p:cNvPr>
          <p:cNvCxnSpPr/>
          <p:nvPr/>
        </p:nvCxnSpPr>
        <p:spPr>
          <a:xfrm flipH="1">
            <a:off x="2468880" y="3502722"/>
            <a:ext cx="1509062" cy="21219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9487316"/>
      </p:ext>
    </p:extLst>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476259"/>
          </a:xfrm>
          <a:ln w="12700">
            <a:solidFill>
              <a:schemeClr val="tx2"/>
            </a:solidFill>
          </a:ln>
        </p:spPr>
        <p:txBody>
          <a:bodyPr>
            <a:normAutofit/>
          </a:bodyPr>
          <a:lstStyle/>
          <a:p>
            <a:pPr marL="0" indent="0">
              <a:lnSpc>
                <a:spcPct val="100000"/>
              </a:lnSpc>
              <a:buNone/>
            </a:pPr>
            <a:r>
              <a:rPr lang="ja-JP" altLang="en-US" sz="2000" dirty="0"/>
              <a:t>☑組織は、不適合製品に対して該当する顧客規定の管理に従わなければならない。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8.7.1.2</a:t>
            </a:r>
            <a:r>
              <a:rPr lang="ja-JP" altLang="en-US" sz="3000" b="1" dirty="0">
                <a:solidFill>
                  <a:schemeClr val="tx2"/>
                </a:solidFill>
              </a:rPr>
              <a:t>　不適合製品の管理－顧客規定のプロセス</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23632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8.7.1.2</a:t>
            </a:r>
            <a:r>
              <a:rPr lang="ja-JP" altLang="en-US" sz="3000" b="1" dirty="0">
                <a:solidFill>
                  <a:schemeClr val="bg1"/>
                </a:solidFill>
              </a:rPr>
              <a:t>　不適合製品の管理－顧客規定のプロセス</a:t>
            </a:r>
          </a:p>
        </p:txBody>
      </p:sp>
      <p:sp>
        <p:nvSpPr>
          <p:cNvPr id="7" name="コンテンツ プレースホルダー 2">
            <a:extLst>
              <a:ext uri="{FF2B5EF4-FFF2-40B4-BE49-F238E27FC236}">
                <a16:creationId xmlns:a16="http://schemas.microsoft.com/office/drawing/2014/main" id="{A8A0649E-1D7C-4F82-BA4B-C36B030C8962}"/>
              </a:ext>
            </a:extLst>
          </p:cNvPr>
          <p:cNvSpPr txBox="1">
            <a:spLocks/>
          </p:cNvSpPr>
          <p:nvPr/>
        </p:nvSpPr>
        <p:spPr>
          <a:xfrm>
            <a:off x="838200" y="4283726"/>
            <a:ext cx="10515600" cy="207262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ほとんどの顧客は、不適合製品の管理に関する規定（要求）事項を持っている。</a:t>
            </a:r>
            <a:r>
              <a:rPr lang="en-US" altLang="ja-JP" sz="2400" dirty="0"/>
              <a:t>(</a:t>
            </a:r>
            <a:r>
              <a:rPr lang="ja-JP" altLang="en-US" sz="2400" dirty="0">
                <a:solidFill>
                  <a:srgbClr val="FF0000"/>
                </a:solidFill>
                <a:effectLst>
                  <a:outerShdw blurRad="38100" dist="38100" dir="2700000" algn="tl">
                    <a:srgbClr val="000000">
                      <a:alpha val="43137"/>
                    </a:srgbClr>
                  </a:outerShdw>
                </a:effectLst>
              </a:rPr>
              <a:t>顧客固有要求事項</a:t>
            </a:r>
            <a:r>
              <a:rPr lang="ja-JP" altLang="en-US" sz="2400" dirty="0"/>
              <a:t>、或いはそれに該当する事項が無い場合でも）</a:t>
            </a:r>
          </a:p>
        </p:txBody>
      </p:sp>
    </p:spTree>
    <p:extLst>
      <p:ext uri="{BB962C8B-B14F-4D97-AF65-F5344CB8AC3E}">
        <p14:creationId xmlns:p14="http://schemas.microsoft.com/office/powerpoint/2010/main" val="1339766532"/>
      </p:ext>
    </p:extLst>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553378"/>
          </a:xfrm>
          <a:ln w="12700">
            <a:solidFill>
              <a:schemeClr val="tx2"/>
            </a:solidFill>
          </a:ln>
        </p:spPr>
        <p:txBody>
          <a:bodyPr>
            <a:normAutofit/>
          </a:bodyPr>
          <a:lstStyle/>
          <a:p>
            <a:pPr marL="0" indent="0">
              <a:lnSpc>
                <a:spcPct val="100000"/>
              </a:lnSpc>
              <a:buNone/>
            </a:pPr>
            <a:r>
              <a:rPr lang="ja-JP" altLang="en-US" sz="2000" dirty="0"/>
              <a:t>☑組織は、未確認の又は</a:t>
            </a:r>
            <a:r>
              <a:rPr lang="ja-JP" altLang="en-US" sz="2000" u="sng" dirty="0"/>
              <a:t>疑わしい状態の製品を、不適合製品として分類し管理する</a:t>
            </a:r>
            <a:r>
              <a:rPr lang="ja-JP" altLang="en-US" sz="2000" dirty="0"/>
              <a:t>ことを確実にしなければならない。</a:t>
            </a:r>
            <a:endParaRPr lang="en-US" altLang="ja-JP" sz="2000" dirty="0"/>
          </a:p>
          <a:p>
            <a:pPr marL="0" indent="0">
              <a:lnSpc>
                <a:spcPct val="100000"/>
              </a:lnSpc>
              <a:buNone/>
            </a:pPr>
            <a:r>
              <a:rPr lang="ja-JP" altLang="en-US" sz="2000" dirty="0"/>
              <a:t>☑組織は、</a:t>
            </a:r>
            <a:r>
              <a:rPr lang="ja-JP" altLang="en-US" sz="2000" u="sng" dirty="0"/>
              <a:t>全ての適切な製造要員が</a:t>
            </a:r>
            <a:r>
              <a:rPr lang="ja-JP" altLang="en-US" sz="2000" dirty="0"/>
              <a:t>、疑わしい製品及び不適合製品の封じ込めの</a:t>
            </a:r>
            <a:r>
              <a:rPr lang="ja-JP" altLang="en-US" sz="2000" u="sng" dirty="0"/>
              <a:t>教育訓練を受けることを確実にしなければならない。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8.7.1.3</a:t>
            </a:r>
            <a:r>
              <a:rPr lang="ja-JP" altLang="en-US" sz="3000" b="1" dirty="0">
                <a:solidFill>
                  <a:schemeClr val="tx2"/>
                </a:solidFill>
              </a:rPr>
              <a:t>　疑わしい製品の管理</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236320"/>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8.7.1.3</a:t>
            </a:r>
            <a:r>
              <a:rPr lang="ja-JP" altLang="en-US" sz="3000" b="1" dirty="0">
                <a:solidFill>
                  <a:schemeClr val="bg1"/>
                </a:solidFill>
              </a:rPr>
              <a:t>　疑わしい製品の管理</a:t>
            </a:r>
          </a:p>
        </p:txBody>
      </p:sp>
      <p:sp>
        <p:nvSpPr>
          <p:cNvPr id="7" name="コンテンツ プレースホルダー 2">
            <a:extLst>
              <a:ext uri="{FF2B5EF4-FFF2-40B4-BE49-F238E27FC236}">
                <a16:creationId xmlns:a16="http://schemas.microsoft.com/office/drawing/2014/main" id="{473D9839-4C74-44BB-8D7D-5C1D971EE692}"/>
              </a:ext>
            </a:extLst>
          </p:cNvPr>
          <p:cNvSpPr txBox="1">
            <a:spLocks/>
          </p:cNvSpPr>
          <p:nvPr/>
        </p:nvSpPr>
        <p:spPr>
          <a:xfrm>
            <a:off x="838200" y="4283726"/>
            <a:ext cx="10515600" cy="207262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組織として　“疑わしい製品”　の定義を明確にする。</a:t>
            </a:r>
            <a:endParaRPr lang="en-US" altLang="ja-JP" sz="2400" dirty="0"/>
          </a:p>
          <a:p>
            <a:pPr marL="457200" indent="-457200">
              <a:lnSpc>
                <a:spcPct val="100000"/>
              </a:lnSpc>
              <a:buFont typeface="+mj-lt"/>
              <a:buAutoNum type="arabicPeriod"/>
            </a:pPr>
            <a:r>
              <a:rPr lang="ja-JP" altLang="en-US" sz="2400" dirty="0"/>
              <a:t>疑わしい製品の扱い。</a:t>
            </a:r>
          </a:p>
        </p:txBody>
      </p:sp>
      <p:grpSp>
        <p:nvGrpSpPr>
          <p:cNvPr id="8" name="グループ化 7">
            <a:extLst>
              <a:ext uri="{FF2B5EF4-FFF2-40B4-BE49-F238E27FC236}">
                <a16:creationId xmlns:a16="http://schemas.microsoft.com/office/drawing/2014/main" id="{7983AF33-5373-48F3-8F5E-CF057BD67169}"/>
              </a:ext>
            </a:extLst>
          </p:cNvPr>
          <p:cNvGrpSpPr/>
          <p:nvPr/>
        </p:nvGrpSpPr>
        <p:grpSpPr>
          <a:xfrm>
            <a:off x="1010255" y="5278312"/>
            <a:ext cx="10171490" cy="1078038"/>
            <a:chOff x="962526" y="1886543"/>
            <a:chExt cx="10171490" cy="1078038"/>
          </a:xfrm>
        </p:grpSpPr>
        <p:sp>
          <p:nvSpPr>
            <p:cNvPr id="10" name="矢印: 右 9">
              <a:extLst>
                <a:ext uri="{FF2B5EF4-FFF2-40B4-BE49-F238E27FC236}">
                  <a16:creationId xmlns:a16="http://schemas.microsoft.com/office/drawing/2014/main" id="{14F1EF9D-80B7-4613-BA97-276410CDDC03}"/>
                </a:ext>
              </a:extLst>
            </p:cNvPr>
            <p:cNvSpPr/>
            <p:nvPr/>
          </p:nvSpPr>
          <p:spPr>
            <a:xfrm>
              <a:off x="2027714" y="2141612"/>
              <a:ext cx="7652451" cy="567890"/>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101DAE53-BEBC-46A3-9B02-FEC6DAB69BC1}"/>
                </a:ext>
              </a:extLst>
            </p:cNvPr>
            <p:cNvSpPr/>
            <p:nvPr/>
          </p:nvSpPr>
          <p:spPr>
            <a:xfrm>
              <a:off x="962526" y="1886552"/>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疑わしい</a:t>
              </a:r>
              <a:endParaRPr lang="en-US" altLang="ja-JP" sz="2000" dirty="0">
                <a:solidFill>
                  <a:schemeClr val="tx1"/>
                </a:solidFill>
              </a:endParaRPr>
            </a:p>
            <a:p>
              <a:pPr algn="ctr"/>
              <a:r>
                <a:rPr lang="ja-JP" altLang="en-US" sz="2000" dirty="0">
                  <a:solidFill>
                    <a:schemeClr val="tx1"/>
                  </a:solidFill>
                </a:rPr>
                <a:t>製品</a:t>
              </a:r>
              <a:endParaRPr kumimoji="1" lang="ja-JP" altLang="en-US" sz="2000" dirty="0">
                <a:solidFill>
                  <a:schemeClr val="tx1"/>
                </a:solidFill>
              </a:endParaRPr>
            </a:p>
          </p:txBody>
        </p:sp>
        <p:sp>
          <p:nvSpPr>
            <p:cNvPr id="12" name="四角形: 角を丸くする 11">
              <a:extLst>
                <a:ext uri="{FF2B5EF4-FFF2-40B4-BE49-F238E27FC236}">
                  <a16:creationId xmlns:a16="http://schemas.microsoft.com/office/drawing/2014/main" id="{E4D5184A-2454-4907-B1EA-E5D8B0E1126B}"/>
                </a:ext>
              </a:extLst>
            </p:cNvPr>
            <p:cNvSpPr/>
            <p:nvPr/>
          </p:nvSpPr>
          <p:spPr>
            <a:xfrm>
              <a:off x="2917273" y="1886548"/>
              <a:ext cx="21920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不適合製品の</a:t>
              </a:r>
              <a:endParaRPr kumimoji="1" lang="en-US" altLang="ja-JP" sz="2000" dirty="0">
                <a:solidFill>
                  <a:schemeClr val="tx1"/>
                </a:solidFill>
              </a:endParaRPr>
            </a:p>
            <a:p>
              <a:pPr algn="ctr"/>
              <a:r>
                <a:rPr kumimoji="1" lang="ja-JP" altLang="en-US" sz="2000" dirty="0">
                  <a:solidFill>
                    <a:schemeClr val="tx1"/>
                  </a:solidFill>
                </a:rPr>
                <a:t>扱い（管理）</a:t>
              </a:r>
            </a:p>
          </p:txBody>
        </p:sp>
        <p:sp>
          <p:nvSpPr>
            <p:cNvPr id="13" name="四角形: 角を丸くする 12">
              <a:extLst>
                <a:ext uri="{FF2B5EF4-FFF2-40B4-BE49-F238E27FC236}">
                  <a16:creationId xmlns:a16="http://schemas.microsoft.com/office/drawing/2014/main" id="{C46645FF-6874-4565-88B9-65C03D15C7B5}"/>
                </a:ext>
              </a:extLst>
            </p:cNvPr>
            <p:cNvSpPr/>
            <p:nvPr/>
          </p:nvSpPr>
          <p:spPr>
            <a:xfrm>
              <a:off x="5350821" y="1886547"/>
              <a:ext cx="19173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適合確認を</a:t>
              </a:r>
              <a:endParaRPr kumimoji="1" lang="en-US" altLang="ja-JP" sz="2000" dirty="0">
                <a:solidFill>
                  <a:schemeClr val="tx1"/>
                </a:solidFill>
              </a:endParaRPr>
            </a:p>
            <a:p>
              <a:pPr algn="ctr"/>
              <a:r>
                <a:rPr kumimoji="1" lang="ja-JP" altLang="en-US" sz="2000" dirty="0">
                  <a:solidFill>
                    <a:schemeClr val="tx1"/>
                  </a:solidFill>
                </a:rPr>
                <a:t>する</a:t>
              </a:r>
              <a:r>
                <a:rPr kumimoji="1" lang="en-US" altLang="ja-JP" sz="2000" dirty="0">
                  <a:solidFill>
                    <a:schemeClr val="tx1"/>
                  </a:solidFill>
                </a:rPr>
                <a:t>or</a:t>
              </a:r>
              <a:r>
                <a:rPr kumimoji="1" lang="ja-JP" altLang="en-US" sz="2000" dirty="0">
                  <a:solidFill>
                    <a:schemeClr val="tx1"/>
                  </a:solidFill>
                </a:rPr>
                <a:t>しない</a:t>
              </a:r>
            </a:p>
          </p:txBody>
        </p:sp>
        <p:sp>
          <p:nvSpPr>
            <p:cNvPr id="14" name="四角形: 角を丸くする 13">
              <a:extLst>
                <a:ext uri="{FF2B5EF4-FFF2-40B4-BE49-F238E27FC236}">
                  <a16:creationId xmlns:a16="http://schemas.microsoft.com/office/drawing/2014/main" id="{B5146BE2-1D28-4F4C-B83A-5F89FFB3F697}"/>
                </a:ext>
              </a:extLst>
            </p:cNvPr>
            <p:cNvSpPr/>
            <p:nvPr/>
          </p:nvSpPr>
          <p:spPr>
            <a:xfrm>
              <a:off x="7509668" y="1886543"/>
              <a:ext cx="1713297"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適合確認</a:t>
              </a:r>
            </a:p>
          </p:txBody>
        </p:sp>
        <p:sp>
          <p:nvSpPr>
            <p:cNvPr id="15" name="四角形: 角を丸くする 14">
              <a:extLst>
                <a:ext uri="{FF2B5EF4-FFF2-40B4-BE49-F238E27FC236}">
                  <a16:creationId xmlns:a16="http://schemas.microsoft.com/office/drawing/2014/main" id="{FF0F826A-B93D-498A-AB6E-B8AF6AB8954E}"/>
                </a:ext>
              </a:extLst>
            </p:cNvPr>
            <p:cNvSpPr/>
            <p:nvPr/>
          </p:nvSpPr>
          <p:spPr>
            <a:xfrm>
              <a:off x="9680165" y="1886543"/>
              <a:ext cx="1453851" cy="10780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良品</a:t>
              </a:r>
            </a:p>
          </p:txBody>
        </p:sp>
      </p:grpSp>
    </p:spTree>
    <p:extLst>
      <p:ext uri="{BB962C8B-B14F-4D97-AF65-F5344CB8AC3E}">
        <p14:creationId xmlns:p14="http://schemas.microsoft.com/office/powerpoint/2010/main" val="1966269551"/>
      </p:ext>
    </p:extLst>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考えられる疑わしい製品の事例。</a:t>
            </a:r>
            <a:endParaRPr lang="en-US" altLang="ja-JP" sz="2400" dirty="0"/>
          </a:p>
          <a:p>
            <a:pPr marL="914400" lvl="1" indent="-457200">
              <a:lnSpc>
                <a:spcPct val="100000"/>
              </a:lnSpc>
              <a:buFont typeface="+mj-ea"/>
              <a:buAutoNum type="circleNumDbPlain"/>
            </a:pPr>
            <a:r>
              <a:rPr lang="ja-JP" altLang="en-US" dirty="0"/>
              <a:t>検査完了後の落下品。</a:t>
            </a:r>
            <a:endParaRPr lang="en-US" altLang="ja-JP" dirty="0"/>
          </a:p>
          <a:p>
            <a:pPr marL="914400" lvl="1" indent="-457200">
              <a:lnSpc>
                <a:spcPct val="100000"/>
              </a:lnSpc>
              <a:buFont typeface="+mj-ea"/>
              <a:buAutoNum type="circleNumDbPlain"/>
            </a:pPr>
            <a:r>
              <a:rPr lang="ja-JP" altLang="en-US" dirty="0"/>
              <a:t>規定の保管期限を超過した製品。</a:t>
            </a:r>
            <a:endParaRPr lang="en-US" altLang="ja-JP" dirty="0"/>
          </a:p>
          <a:p>
            <a:pPr marL="914400" lvl="1" indent="-457200">
              <a:lnSpc>
                <a:spcPct val="100000"/>
              </a:lnSpc>
              <a:buFont typeface="+mj-ea"/>
              <a:buAutoNum type="circleNumDbPlain"/>
            </a:pPr>
            <a:r>
              <a:rPr lang="ja-JP" altLang="en-US" dirty="0"/>
              <a:t>点検で異常が見つかった設備で製造した、前回点検までの製品。</a:t>
            </a:r>
            <a:endParaRPr lang="en-US" altLang="ja-JP" dirty="0"/>
          </a:p>
          <a:p>
            <a:pPr marL="914400" lvl="1" indent="-457200">
              <a:lnSpc>
                <a:spcPct val="100000"/>
              </a:lnSpc>
              <a:buFont typeface="+mj-ea"/>
              <a:buAutoNum type="circleNumDbPlain"/>
            </a:pPr>
            <a:r>
              <a:rPr lang="ja-JP" altLang="en-US" dirty="0"/>
              <a:t>校正外れが発見された測定機器で合格と判断していた、前回校正までの製品。</a:t>
            </a:r>
            <a:endParaRPr lang="en-US" altLang="ja-JP" dirty="0"/>
          </a:p>
          <a:p>
            <a:pPr marL="457200" indent="-457200">
              <a:lnSpc>
                <a:spcPct val="100000"/>
              </a:lnSpc>
              <a:buFont typeface="+mj-ea"/>
              <a:buAutoNum type="arabicPeriod" startAt="3"/>
            </a:pPr>
            <a:r>
              <a:rPr lang="ja-JP" altLang="en-US" sz="2400" dirty="0"/>
              <a:t>「疑わしい製品」「逸脱した製品」「不適合製品」の関係。</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309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8.7.1.3</a:t>
            </a:r>
            <a:r>
              <a:rPr lang="ja-JP" altLang="en-US" sz="3000" b="1" dirty="0">
                <a:solidFill>
                  <a:schemeClr val="bg1"/>
                </a:solidFill>
              </a:rPr>
              <a:t>　疑わしい製品の管理</a:t>
            </a:r>
          </a:p>
        </p:txBody>
      </p:sp>
      <p:sp>
        <p:nvSpPr>
          <p:cNvPr id="2" name="四角形: 角を丸くする 1">
            <a:extLst>
              <a:ext uri="{FF2B5EF4-FFF2-40B4-BE49-F238E27FC236}">
                <a16:creationId xmlns:a16="http://schemas.microsoft.com/office/drawing/2014/main" id="{AE49A8C4-AFA2-43C2-B86C-318DA5310022}"/>
              </a:ext>
            </a:extLst>
          </p:cNvPr>
          <p:cNvSpPr/>
          <p:nvPr/>
        </p:nvSpPr>
        <p:spPr>
          <a:xfrm>
            <a:off x="5730238" y="4661367"/>
            <a:ext cx="2153922" cy="138747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明らかな不適合品</a:t>
            </a:r>
          </a:p>
        </p:txBody>
      </p:sp>
      <p:sp>
        <p:nvSpPr>
          <p:cNvPr id="3" name="四角形: 角を丸くする 2">
            <a:extLst>
              <a:ext uri="{FF2B5EF4-FFF2-40B4-BE49-F238E27FC236}">
                <a16:creationId xmlns:a16="http://schemas.microsoft.com/office/drawing/2014/main" id="{485B8710-B4D5-4F9F-B55D-E8EA296BCF18}"/>
              </a:ext>
            </a:extLst>
          </p:cNvPr>
          <p:cNvSpPr/>
          <p:nvPr/>
        </p:nvSpPr>
        <p:spPr>
          <a:xfrm>
            <a:off x="1727200" y="4657390"/>
            <a:ext cx="2047239" cy="594995"/>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規定と違う作り方をした製品</a:t>
            </a:r>
          </a:p>
        </p:txBody>
      </p:sp>
      <p:sp>
        <p:nvSpPr>
          <p:cNvPr id="6" name="四角形: 角を丸くする 5">
            <a:extLst>
              <a:ext uri="{FF2B5EF4-FFF2-40B4-BE49-F238E27FC236}">
                <a16:creationId xmlns:a16="http://schemas.microsoft.com/office/drawing/2014/main" id="{3FE723D9-4CE2-41E0-AD02-98400FEBA9AC}"/>
              </a:ext>
            </a:extLst>
          </p:cNvPr>
          <p:cNvSpPr/>
          <p:nvPr/>
        </p:nvSpPr>
        <p:spPr>
          <a:xfrm>
            <a:off x="1727200" y="5453847"/>
            <a:ext cx="2047239" cy="594995"/>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何か疑わしい</a:t>
            </a:r>
            <a:endParaRPr kumimoji="1" lang="en-US" altLang="ja-JP" dirty="0">
              <a:solidFill>
                <a:schemeClr val="tx1"/>
              </a:solidFill>
            </a:endParaRPr>
          </a:p>
          <a:p>
            <a:pPr algn="ctr"/>
            <a:r>
              <a:rPr kumimoji="1" lang="ja-JP" altLang="en-US" dirty="0">
                <a:solidFill>
                  <a:schemeClr val="tx1"/>
                </a:solidFill>
              </a:rPr>
              <a:t>製品</a:t>
            </a:r>
          </a:p>
        </p:txBody>
      </p:sp>
      <p:sp>
        <p:nvSpPr>
          <p:cNvPr id="11" name="矢印: 右 10">
            <a:extLst>
              <a:ext uri="{FF2B5EF4-FFF2-40B4-BE49-F238E27FC236}">
                <a16:creationId xmlns:a16="http://schemas.microsoft.com/office/drawing/2014/main" id="{8E759DF0-8A64-46A9-9D76-1D885FE08DC2}"/>
              </a:ext>
            </a:extLst>
          </p:cNvPr>
          <p:cNvSpPr/>
          <p:nvPr/>
        </p:nvSpPr>
        <p:spPr>
          <a:xfrm>
            <a:off x="3811268" y="4816624"/>
            <a:ext cx="1882141" cy="1076960"/>
          </a:xfrm>
          <a:prstGeom prst="rightArrow">
            <a:avLst>
              <a:gd name="adj1" fmla="val 74528"/>
              <a:gd name="adj2" fmla="val 50000"/>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不適合製品かも</a:t>
            </a:r>
          </a:p>
        </p:txBody>
      </p:sp>
      <p:sp>
        <p:nvSpPr>
          <p:cNvPr id="12" name="正方形/長方形 11">
            <a:extLst>
              <a:ext uri="{FF2B5EF4-FFF2-40B4-BE49-F238E27FC236}">
                <a16:creationId xmlns:a16="http://schemas.microsoft.com/office/drawing/2014/main" id="{34D22DF2-4B62-4BDD-83A7-33AA4E87A5C0}"/>
              </a:ext>
            </a:extLst>
          </p:cNvPr>
          <p:cNvSpPr/>
          <p:nvPr/>
        </p:nvSpPr>
        <p:spPr>
          <a:xfrm>
            <a:off x="1402080" y="4427688"/>
            <a:ext cx="6751320" cy="172720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吹き出し: 角を丸めた四角形 14">
            <a:extLst>
              <a:ext uri="{FF2B5EF4-FFF2-40B4-BE49-F238E27FC236}">
                <a16:creationId xmlns:a16="http://schemas.microsoft.com/office/drawing/2014/main" id="{4B3DED9A-536B-45A6-90C7-52F53194B666}"/>
              </a:ext>
            </a:extLst>
          </p:cNvPr>
          <p:cNvSpPr/>
          <p:nvPr/>
        </p:nvSpPr>
        <p:spPr>
          <a:xfrm>
            <a:off x="8153400" y="4550316"/>
            <a:ext cx="3237229" cy="1727200"/>
          </a:xfrm>
          <a:prstGeom prst="wedgeRoundRectCallout">
            <a:avLst>
              <a:gd name="adj1" fmla="val -57927"/>
              <a:gd name="adj2" fmla="val -31404"/>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顧客</a:t>
            </a:r>
            <a:r>
              <a:rPr lang="ja-JP" altLang="en-US" dirty="0">
                <a:solidFill>
                  <a:schemeClr val="tx1"/>
                </a:solidFill>
              </a:rPr>
              <a:t>リスクの視点から</a:t>
            </a:r>
            <a:r>
              <a:rPr lang="en-US" altLang="ja-JP" dirty="0">
                <a:solidFill>
                  <a:schemeClr val="tx1"/>
                </a:solidFill>
              </a:rPr>
              <a:t>『</a:t>
            </a:r>
            <a:r>
              <a:rPr lang="ja-JP" altLang="en-US" dirty="0">
                <a:solidFill>
                  <a:schemeClr val="tx1"/>
                </a:solidFill>
              </a:rPr>
              <a:t>すべて不適合品</a:t>
            </a:r>
            <a:r>
              <a:rPr lang="en-US" altLang="ja-JP" dirty="0">
                <a:solidFill>
                  <a:schemeClr val="tx1"/>
                </a:solidFill>
              </a:rPr>
              <a:t>』</a:t>
            </a:r>
            <a:r>
              <a:rPr lang="ja-JP" altLang="en-US" dirty="0">
                <a:solidFill>
                  <a:schemeClr val="tx1"/>
                </a:solidFill>
              </a:rPr>
              <a:t>としての管理を要求。</a:t>
            </a:r>
            <a:endParaRPr lang="en-US" altLang="ja-JP" dirty="0">
              <a:solidFill>
                <a:schemeClr val="tx1"/>
              </a:solidFill>
            </a:endParaRPr>
          </a:p>
          <a:p>
            <a:r>
              <a:rPr kumimoji="1" lang="ja-JP" altLang="en-US" dirty="0">
                <a:solidFill>
                  <a:schemeClr val="tx1"/>
                </a:solidFill>
              </a:rPr>
              <a:t>処置方法</a:t>
            </a:r>
            <a:r>
              <a:rPr lang="ja-JP" altLang="en-US" dirty="0">
                <a:solidFill>
                  <a:schemeClr val="tx1"/>
                </a:solidFill>
              </a:rPr>
              <a:t>は異なるはず。</a:t>
            </a:r>
            <a:endParaRPr kumimoji="1" lang="ja-JP" altLang="en-US" dirty="0">
              <a:solidFill>
                <a:schemeClr val="tx1"/>
              </a:solidFill>
            </a:endParaRPr>
          </a:p>
        </p:txBody>
      </p:sp>
    </p:spTree>
    <p:extLst>
      <p:ext uri="{BB962C8B-B14F-4D97-AF65-F5344CB8AC3E}">
        <p14:creationId xmlns:p14="http://schemas.microsoft.com/office/powerpoint/2010/main" val="3942101628"/>
      </p:ext>
    </p:extLst>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☑組織は、製品を手直しする判断の前に、手直し工程におけるリスクを評価するために、</a:t>
            </a:r>
            <a:r>
              <a:rPr lang="ja-JP" altLang="en-US" sz="2000" u="sng" dirty="0"/>
              <a:t>リスク分析（</a:t>
            </a:r>
            <a:r>
              <a:rPr lang="en-US" altLang="ja-JP" sz="2000" u="sng" dirty="0"/>
              <a:t>FMEA</a:t>
            </a:r>
            <a:r>
              <a:rPr lang="ja-JP" altLang="en-US" sz="2000" u="sng" dirty="0"/>
              <a:t>のような）の方法論を活用しなければならない。</a:t>
            </a:r>
            <a:endParaRPr lang="en-US" altLang="ja-JP" sz="2000" u="sng" dirty="0"/>
          </a:p>
          <a:p>
            <a:pPr marL="0" indent="0">
              <a:lnSpc>
                <a:spcPct val="100000"/>
              </a:lnSpc>
              <a:buNone/>
            </a:pPr>
            <a:r>
              <a:rPr lang="ja-JP" altLang="en-US" sz="2000" dirty="0"/>
              <a:t>☑顧客から要求される場合、組織は、製品の手直しを開始する前に、</a:t>
            </a:r>
            <a:r>
              <a:rPr lang="ja-JP" altLang="en-US" sz="2000" u="sng" dirty="0"/>
              <a:t>顧客から承認を取得しなければならない。</a:t>
            </a:r>
            <a:endParaRPr lang="en-US" altLang="ja-JP" sz="2000" u="sng" dirty="0"/>
          </a:p>
          <a:p>
            <a:pPr marL="0" indent="0">
              <a:lnSpc>
                <a:spcPct val="100000"/>
              </a:lnSpc>
              <a:buNone/>
            </a:pPr>
            <a:r>
              <a:rPr lang="ja-JP" altLang="en-US" sz="2000" dirty="0"/>
              <a:t>☑組織は、コントロールプラン又は他の関連する文書化した情報に従って、</a:t>
            </a:r>
            <a:r>
              <a:rPr lang="ja-JP" altLang="en-US" sz="2000" u="sng" dirty="0"/>
              <a:t>原仕様への適合を検証する手直し確認の</a:t>
            </a:r>
            <a:r>
              <a:rPr lang="ja-JP" altLang="en-US" sz="2000" b="1" u="sng" dirty="0"/>
              <a:t>文書化したプロセス</a:t>
            </a:r>
            <a:r>
              <a:rPr lang="ja-JP" altLang="en-US" sz="2000" u="sng" dirty="0"/>
              <a:t>をもたなければならない。</a:t>
            </a:r>
            <a:endParaRPr lang="en-US" altLang="ja-JP" sz="2000" u="sng" dirty="0"/>
          </a:p>
          <a:p>
            <a:pPr marL="0" indent="0">
              <a:lnSpc>
                <a:spcPct val="100000"/>
              </a:lnSpc>
              <a:buNone/>
            </a:pPr>
            <a:r>
              <a:rPr lang="ja-JP" altLang="en-US" sz="2000" dirty="0"/>
              <a:t>☑再検査及びトレーサビリティ要求事項を含む、分解又は手直し</a:t>
            </a:r>
            <a:r>
              <a:rPr lang="ja-JP" altLang="en-US" sz="2000" u="sng" dirty="0"/>
              <a:t>指示書は、適切な要員がアクセスでき、利用できなければならない。</a:t>
            </a:r>
            <a:endParaRPr lang="en-US" altLang="ja-JP" sz="2000" u="sng" dirty="0"/>
          </a:p>
          <a:p>
            <a:pPr marL="0" indent="0">
              <a:lnSpc>
                <a:spcPct val="100000"/>
              </a:lnSpc>
              <a:buNone/>
            </a:pPr>
            <a:r>
              <a:rPr lang="ja-JP" altLang="en-US" sz="2000" dirty="0"/>
              <a:t>☑組織は、</a:t>
            </a:r>
            <a:r>
              <a:rPr lang="ja-JP" altLang="en-US" sz="2000" u="sng" dirty="0"/>
              <a:t>量、処置、処置日及び該当するトレーサビリティ情報</a:t>
            </a:r>
            <a:r>
              <a:rPr lang="ja-JP" altLang="en-US" sz="2000" dirty="0"/>
              <a:t>を含めて、手直しした製品の処置に関する</a:t>
            </a:r>
            <a:r>
              <a:rPr lang="ja-JP" altLang="en-US" sz="2000" b="1" dirty="0"/>
              <a:t>文書化した情報を保持</a:t>
            </a:r>
            <a:r>
              <a:rPr lang="ja-JP" altLang="en-US" sz="2000" dirty="0"/>
              <a:t>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8.7.1.4</a:t>
            </a:r>
            <a:r>
              <a:rPr kumimoji="1" lang="ja-JP" altLang="en-US" sz="3000" b="1" dirty="0">
                <a:solidFill>
                  <a:schemeClr val="tx2"/>
                </a:solidFill>
              </a:rPr>
              <a:t>　手直し製品の管理　</a:t>
            </a:r>
          </a:p>
        </p:txBody>
      </p:sp>
    </p:spTree>
    <p:extLst>
      <p:ext uri="{BB962C8B-B14F-4D97-AF65-F5344CB8AC3E}">
        <p14:creationId xmlns:p14="http://schemas.microsoft.com/office/powerpoint/2010/main" val="423475482"/>
      </p:ext>
    </p:extLst>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要求事項の整理。</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8.7.1.4</a:t>
            </a:r>
            <a:r>
              <a:rPr lang="ja-JP" altLang="en-US" sz="3000" b="1" dirty="0">
                <a:solidFill>
                  <a:schemeClr val="bg1"/>
                </a:solidFill>
              </a:rPr>
              <a:t>　手直し製品の管理　／　</a:t>
            </a:r>
            <a:r>
              <a:rPr lang="en-US" altLang="ja-JP" sz="3000" b="1" dirty="0">
                <a:solidFill>
                  <a:schemeClr val="bg1"/>
                </a:solidFill>
              </a:rPr>
              <a:t>8.7.1.5</a:t>
            </a:r>
            <a:r>
              <a:rPr lang="ja-JP" altLang="en-US" sz="3000" b="1" dirty="0">
                <a:solidFill>
                  <a:schemeClr val="bg1"/>
                </a:solidFill>
              </a:rPr>
              <a:t>　修理製品の管理</a:t>
            </a:r>
          </a:p>
        </p:txBody>
      </p:sp>
      <p:graphicFrame>
        <p:nvGraphicFramePr>
          <p:cNvPr id="2" name="表 1">
            <a:extLst>
              <a:ext uri="{FF2B5EF4-FFF2-40B4-BE49-F238E27FC236}">
                <a16:creationId xmlns:a16="http://schemas.microsoft.com/office/drawing/2014/main" id="{F6E37FD5-83E9-4FFF-897A-81E00C16CC20}"/>
              </a:ext>
            </a:extLst>
          </p:cNvPr>
          <p:cNvGraphicFramePr>
            <a:graphicFrameLocks noGrp="1"/>
          </p:cNvGraphicFramePr>
          <p:nvPr>
            <p:extLst>
              <p:ext uri="{D42A27DB-BD31-4B8C-83A1-F6EECF244321}">
                <p14:modId xmlns:p14="http://schemas.microsoft.com/office/powerpoint/2010/main" val="3133617564"/>
              </p:ext>
            </p:extLst>
          </p:nvPr>
        </p:nvGraphicFramePr>
        <p:xfrm>
          <a:off x="838200" y="1865420"/>
          <a:ext cx="10515600" cy="4490929"/>
        </p:xfrm>
        <a:graphic>
          <a:graphicData uri="http://schemas.openxmlformats.org/drawingml/2006/table">
            <a:tbl>
              <a:tblPr firstRow="1" bandRow="1">
                <a:tableStyleId>{5940675A-B579-460E-94D1-54222C63F5DA}</a:tableStyleId>
              </a:tblPr>
              <a:tblGrid>
                <a:gridCol w="7797800">
                  <a:extLst>
                    <a:ext uri="{9D8B030D-6E8A-4147-A177-3AD203B41FA5}">
                      <a16:colId xmlns:a16="http://schemas.microsoft.com/office/drawing/2014/main" val="437165443"/>
                    </a:ext>
                  </a:extLst>
                </a:gridCol>
                <a:gridCol w="1391920">
                  <a:extLst>
                    <a:ext uri="{9D8B030D-6E8A-4147-A177-3AD203B41FA5}">
                      <a16:colId xmlns:a16="http://schemas.microsoft.com/office/drawing/2014/main" val="1764964855"/>
                    </a:ext>
                  </a:extLst>
                </a:gridCol>
                <a:gridCol w="1325880">
                  <a:extLst>
                    <a:ext uri="{9D8B030D-6E8A-4147-A177-3AD203B41FA5}">
                      <a16:colId xmlns:a16="http://schemas.microsoft.com/office/drawing/2014/main" val="1464618631"/>
                    </a:ext>
                  </a:extLst>
                </a:gridCol>
              </a:tblGrid>
              <a:tr h="610279">
                <a:tc>
                  <a:txBody>
                    <a:bodyPr/>
                    <a:lstStyle/>
                    <a:p>
                      <a:pPr algn="ctr"/>
                      <a:r>
                        <a:rPr kumimoji="1" lang="ja-JP" altLang="en-US" sz="2000" dirty="0"/>
                        <a:t>要求事項</a:t>
                      </a:r>
                    </a:p>
                  </a:txBody>
                  <a:tcPr anchor="ctr">
                    <a:solidFill>
                      <a:schemeClr val="tx2">
                        <a:lumMod val="20000"/>
                        <a:lumOff val="80000"/>
                      </a:schemeClr>
                    </a:solidFill>
                  </a:tcPr>
                </a:tc>
                <a:tc>
                  <a:txBody>
                    <a:bodyPr/>
                    <a:lstStyle/>
                    <a:p>
                      <a:pPr algn="ctr"/>
                      <a:r>
                        <a:rPr kumimoji="1" lang="ja-JP" altLang="en-US" sz="2000" dirty="0"/>
                        <a:t>手直し</a:t>
                      </a:r>
                    </a:p>
                  </a:txBody>
                  <a:tcPr anchor="ctr">
                    <a:solidFill>
                      <a:schemeClr val="tx2">
                        <a:lumMod val="20000"/>
                        <a:lumOff val="80000"/>
                      </a:schemeClr>
                    </a:solidFill>
                  </a:tcPr>
                </a:tc>
                <a:tc>
                  <a:txBody>
                    <a:bodyPr/>
                    <a:lstStyle/>
                    <a:p>
                      <a:pPr algn="ctr"/>
                      <a:r>
                        <a:rPr kumimoji="1" lang="ja-JP" altLang="en-US" sz="2000" dirty="0"/>
                        <a:t>修理</a:t>
                      </a:r>
                    </a:p>
                  </a:txBody>
                  <a:tcPr anchor="ctr">
                    <a:solidFill>
                      <a:schemeClr val="tx2">
                        <a:lumMod val="20000"/>
                        <a:lumOff val="80000"/>
                      </a:schemeClr>
                    </a:solidFill>
                  </a:tcPr>
                </a:tc>
                <a:extLst>
                  <a:ext uri="{0D108BD9-81ED-4DB2-BD59-A6C34878D82A}">
                    <a16:rowId xmlns:a16="http://schemas.microsoft.com/office/drawing/2014/main" val="677391039"/>
                  </a:ext>
                </a:extLst>
              </a:tr>
              <a:tr h="719767">
                <a:tc>
                  <a:txBody>
                    <a:bodyPr/>
                    <a:lstStyle/>
                    <a:p>
                      <a:r>
                        <a:rPr kumimoji="1" lang="ja-JP" altLang="en-US" sz="2000" dirty="0"/>
                        <a:t>手直し／修理によるリスク評価（</a:t>
                      </a:r>
                      <a:r>
                        <a:rPr kumimoji="1" lang="en-US" altLang="ja-JP" sz="2000" dirty="0"/>
                        <a:t>FMEA</a:t>
                      </a:r>
                      <a:r>
                        <a:rPr kumimoji="1" lang="ja-JP" altLang="en-US" sz="2000" dirty="0"/>
                        <a:t>、部門横断的方法論協議など）</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1781375482"/>
                  </a:ext>
                </a:extLst>
              </a:tr>
              <a:tr h="719767">
                <a:tc>
                  <a:txBody>
                    <a:bodyPr/>
                    <a:lstStyle/>
                    <a:p>
                      <a:r>
                        <a:rPr kumimoji="1" lang="ja-JP" altLang="en-US" sz="2000" dirty="0"/>
                        <a:t>開始前の顧客承認（手直し及び修理すること及び方法についての承認）</a:t>
                      </a:r>
                    </a:p>
                  </a:txBody>
                  <a:tcPr anchor="ctr"/>
                </a:tc>
                <a:tc>
                  <a:txBody>
                    <a:bodyPr/>
                    <a:lstStyle/>
                    <a:p>
                      <a:pPr algn="ctr"/>
                      <a:r>
                        <a:rPr kumimoji="1" lang="ja-JP" altLang="en-US" sz="1600" dirty="0"/>
                        <a:t>（要求時）</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3330316453"/>
                  </a:ext>
                </a:extLst>
              </a:tr>
              <a:tr h="610279">
                <a:tc>
                  <a:txBody>
                    <a:bodyPr/>
                    <a:lstStyle/>
                    <a:p>
                      <a:r>
                        <a:rPr kumimoji="1" lang="ja-JP" altLang="en-US" sz="2000" dirty="0"/>
                        <a:t>手直し／修理の実施（作業標準書など）</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713583098"/>
                  </a:ext>
                </a:extLst>
              </a:tr>
              <a:tr h="610279">
                <a:tc>
                  <a:txBody>
                    <a:bodyPr/>
                    <a:lstStyle/>
                    <a:p>
                      <a:r>
                        <a:rPr kumimoji="1" lang="ja-JP" altLang="en-US" sz="2000" dirty="0"/>
                        <a:t>再検査（不適合と判断された検査により再度検証する）</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497920060"/>
                  </a:ext>
                </a:extLst>
              </a:tr>
              <a:tr h="610279">
                <a:tc>
                  <a:txBody>
                    <a:bodyPr/>
                    <a:lstStyle/>
                    <a:p>
                      <a:r>
                        <a:rPr kumimoji="1" lang="ja-JP" altLang="en-US" sz="2000" dirty="0"/>
                        <a:t>特別採用（</a:t>
                      </a:r>
                      <a:r>
                        <a:rPr kumimoji="1" lang="en-US" altLang="ja-JP" sz="2000" dirty="0"/>
                        <a:t>8.7.1.1</a:t>
                      </a:r>
                      <a:r>
                        <a:rPr kumimoji="1" lang="ja-JP" altLang="en-US" sz="2000" dirty="0"/>
                        <a:t>に従う）</a:t>
                      </a:r>
                    </a:p>
                  </a:txBody>
                  <a:tcPr anchor="ctr"/>
                </a:tc>
                <a:tc>
                  <a:txBody>
                    <a:bodyPr/>
                    <a:lstStyle/>
                    <a:p>
                      <a:pPr algn="ctr"/>
                      <a:endParaRPr kumimoji="1" lang="ja-JP" altLang="en-US" sz="2000" dirty="0"/>
                    </a:p>
                  </a:txBody>
                  <a:tcPr anchor="ctr">
                    <a:lnBlToTr w="12700" cap="flat" cmpd="sng" algn="ctr">
                      <a:solidFill>
                        <a:schemeClr val="tx1"/>
                      </a:solidFill>
                      <a:prstDash val="solid"/>
                      <a:round/>
                      <a:headEnd type="none" w="med" len="med"/>
                      <a:tailEnd type="none" w="med" len="med"/>
                    </a:lnBlToTr>
                    <a:noFill/>
                  </a:tcPr>
                </a:tc>
                <a:tc>
                  <a:txBody>
                    <a:bodyPr/>
                    <a:lstStyle/>
                    <a:p>
                      <a:pPr algn="ctr"/>
                      <a:r>
                        <a:rPr kumimoji="1" lang="ja-JP" altLang="en-US" sz="2000" dirty="0"/>
                        <a:t>●</a:t>
                      </a:r>
                    </a:p>
                  </a:txBody>
                  <a:tcPr anchor="ctr"/>
                </a:tc>
                <a:extLst>
                  <a:ext uri="{0D108BD9-81ED-4DB2-BD59-A6C34878D82A}">
                    <a16:rowId xmlns:a16="http://schemas.microsoft.com/office/drawing/2014/main" val="489665872"/>
                  </a:ext>
                </a:extLst>
              </a:tr>
              <a:tr h="610279">
                <a:tc>
                  <a:txBody>
                    <a:bodyPr/>
                    <a:lstStyle/>
                    <a:p>
                      <a:r>
                        <a:rPr kumimoji="1" lang="ja-JP" altLang="en-US" sz="2000" dirty="0"/>
                        <a:t>トレーサビリティ（手直し及び修理をした製品の特定）</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3447354388"/>
                  </a:ext>
                </a:extLst>
              </a:tr>
            </a:tbl>
          </a:graphicData>
        </a:graphic>
      </p:graphicFrame>
    </p:spTree>
    <p:extLst>
      <p:ext uri="{BB962C8B-B14F-4D97-AF65-F5344CB8AC3E}">
        <p14:creationId xmlns:p14="http://schemas.microsoft.com/office/powerpoint/2010/main" val="4190500472"/>
      </p:ext>
    </p:extLst>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手直しと修理の定義。（</a:t>
            </a:r>
            <a:r>
              <a:rPr lang="en-US" altLang="ja-JP" sz="2400" dirty="0"/>
              <a:t>JISQ9000:2015</a:t>
            </a:r>
            <a:r>
              <a:rPr lang="ja-JP" altLang="en-US" sz="2400" dirty="0"/>
              <a:t>）</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8.7.1.4</a:t>
            </a:r>
            <a:r>
              <a:rPr lang="ja-JP" altLang="en-US" sz="3000" b="1" dirty="0">
                <a:solidFill>
                  <a:schemeClr val="bg1"/>
                </a:solidFill>
              </a:rPr>
              <a:t>　手直し製品の管理　／　</a:t>
            </a:r>
            <a:r>
              <a:rPr lang="en-US" altLang="ja-JP" sz="3000" b="1" dirty="0">
                <a:solidFill>
                  <a:schemeClr val="bg1"/>
                </a:solidFill>
              </a:rPr>
              <a:t>8.7.1.5</a:t>
            </a:r>
            <a:r>
              <a:rPr lang="ja-JP" altLang="en-US" sz="3000" b="1" dirty="0">
                <a:solidFill>
                  <a:schemeClr val="bg1"/>
                </a:solidFill>
              </a:rPr>
              <a:t>　修理製品の管理</a:t>
            </a:r>
          </a:p>
        </p:txBody>
      </p:sp>
      <p:graphicFrame>
        <p:nvGraphicFramePr>
          <p:cNvPr id="6" name="表 5">
            <a:extLst>
              <a:ext uri="{FF2B5EF4-FFF2-40B4-BE49-F238E27FC236}">
                <a16:creationId xmlns:a16="http://schemas.microsoft.com/office/drawing/2014/main" id="{566348CD-9FB9-4137-AF16-F114A61967F4}"/>
              </a:ext>
            </a:extLst>
          </p:cNvPr>
          <p:cNvGraphicFramePr>
            <a:graphicFrameLocks noGrp="1"/>
          </p:cNvGraphicFramePr>
          <p:nvPr>
            <p:extLst>
              <p:ext uri="{D42A27DB-BD31-4B8C-83A1-F6EECF244321}">
                <p14:modId xmlns:p14="http://schemas.microsoft.com/office/powerpoint/2010/main" val="1066068358"/>
              </p:ext>
            </p:extLst>
          </p:nvPr>
        </p:nvGraphicFramePr>
        <p:xfrm>
          <a:off x="838199" y="1920504"/>
          <a:ext cx="10515600" cy="1828800"/>
        </p:xfrm>
        <a:graphic>
          <a:graphicData uri="http://schemas.openxmlformats.org/drawingml/2006/table">
            <a:tbl>
              <a:tblPr firstRow="1" bandRow="1">
                <a:tableStyleId>{5940675A-B579-460E-94D1-54222C63F5DA}</a:tableStyleId>
              </a:tblPr>
              <a:tblGrid>
                <a:gridCol w="2004153">
                  <a:extLst>
                    <a:ext uri="{9D8B030D-6E8A-4147-A177-3AD203B41FA5}">
                      <a16:colId xmlns:a16="http://schemas.microsoft.com/office/drawing/2014/main" val="2183000676"/>
                    </a:ext>
                  </a:extLst>
                </a:gridCol>
                <a:gridCol w="8511447">
                  <a:extLst>
                    <a:ext uri="{9D8B030D-6E8A-4147-A177-3AD203B41FA5}">
                      <a16:colId xmlns:a16="http://schemas.microsoft.com/office/drawing/2014/main" val="1574688147"/>
                    </a:ext>
                  </a:extLst>
                </a:gridCol>
              </a:tblGrid>
              <a:tr h="370840">
                <a:tc>
                  <a:txBody>
                    <a:bodyPr/>
                    <a:lstStyle/>
                    <a:p>
                      <a:r>
                        <a:rPr kumimoji="1" lang="en-US" altLang="ja-JP" sz="1600" dirty="0"/>
                        <a:t>3.12.8</a:t>
                      </a:r>
                      <a:r>
                        <a:rPr kumimoji="1" lang="ja-JP" altLang="en-US" sz="2200" dirty="0"/>
                        <a:t>　手直し</a:t>
                      </a:r>
                    </a:p>
                  </a:txBody>
                  <a:tcPr anchor="ctr">
                    <a:solidFill>
                      <a:schemeClr val="tx2">
                        <a:lumMod val="20000"/>
                        <a:lumOff val="80000"/>
                      </a:schemeClr>
                    </a:solidFill>
                  </a:tcPr>
                </a:tc>
                <a:tc>
                  <a:txBody>
                    <a:bodyPr/>
                    <a:lstStyle/>
                    <a:p>
                      <a:r>
                        <a:rPr kumimoji="1" lang="ja-JP" altLang="en-US" sz="2200" dirty="0">
                          <a:solidFill>
                            <a:srgbClr val="FF0000"/>
                          </a:solidFill>
                          <a:effectLst>
                            <a:outerShdw blurRad="38100" dist="38100" dir="2700000" algn="tl">
                              <a:srgbClr val="000000">
                                <a:alpha val="43137"/>
                              </a:srgbClr>
                            </a:outerShdw>
                          </a:effectLst>
                        </a:rPr>
                        <a:t>要求事項に適合させるため</a:t>
                      </a:r>
                      <a:r>
                        <a:rPr kumimoji="1" lang="ja-JP" altLang="en-US" sz="2200" dirty="0"/>
                        <a:t>、不適合となった製品又はサービスに対してとる処置。</a:t>
                      </a:r>
                    </a:p>
                  </a:txBody>
                  <a:tcPr anchor="ctr">
                    <a:solidFill>
                      <a:schemeClr val="tx2">
                        <a:lumMod val="20000"/>
                        <a:lumOff val="80000"/>
                      </a:schemeClr>
                    </a:solidFill>
                  </a:tcPr>
                </a:tc>
                <a:extLst>
                  <a:ext uri="{0D108BD9-81ED-4DB2-BD59-A6C34878D82A}">
                    <a16:rowId xmlns:a16="http://schemas.microsoft.com/office/drawing/2014/main" val="2542365422"/>
                  </a:ext>
                </a:extLst>
              </a:tr>
              <a:tr h="370840">
                <a:tc>
                  <a:txBody>
                    <a:bodyPr/>
                    <a:lstStyle/>
                    <a:p>
                      <a:r>
                        <a:rPr kumimoji="1" lang="en-US" altLang="ja-JP" sz="1600" dirty="0"/>
                        <a:t>3.12.9</a:t>
                      </a:r>
                      <a:r>
                        <a:rPr kumimoji="1" lang="ja-JP" altLang="en-US" sz="2200" dirty="0"/>
                        <a:t>　修理</a:t>
                      </a:r>
                    </a:p>
                  </a:txBody>
                  <a:tcPr anchor="ctr">
                    <a:solidFill>
                      <a:schemeClr val="tx2">
                        <a:lumMod val="20000"/>
                        <a:lumOff val="80000"/>
                      </a:schemeClr>
                    </a:solidFill>
                  </a:tcPr>
                </a:tc>
                <a:tc>
                  <a:txBody>
                    <a:bodyPr/>
                    <a:lstStyle/>
                    <a:p>
                      <a:r>
                        <a:rPr kumimoji="1" lang="ja-JP" altLang="en-US" sz="2200" dirty="0">
                          <a:solidFill>
                            <a:srgbClr val="FF0000"/>
                          </a:solidFill>
                          <a:effectLst>
                            <a:outerShdw blurRad="38100" dist="38100" dir="2700000" algn="tl">
                              <a:srgbClr val="000000">
                                <a:alpha val="43137"/>
                              </a:srgbClr>
                            </a:outerShdw>
                          </a:effectLst>
                        </a:rPr>
                        <a:t>意図された用途に対して受入れ可能とするため</a:t>
                      </a:r>
                      <a:r>
                        <a:rPr kumimoji="1" lang="ja-JP" altLang="en-US" sz="2200" dirty="0"/>
                        <a:t>、不適合となった製品又はサービスに対してとる処置</a:t>
                      </a:r>
                      <a:endParaRPr kumimoji="1" lang="en-US" altLang="ja-JP" sz="2200" dirty="0"/>
                    </a:p>
                    <a:p>
                      <a:r>
                        <a:rPr kumimoji="1" lang="ja-JP" altLang="en-US" sz="2000" dirty="0"/>
                        <a:t>注記</a:t>
                      </a:r>
                      <a:r>
                        <a:rPr kumimoji="1" lang="en-US" altLang="ja-JP" sz="2000" dirty="0"/>
                        <a:t>1</a:t>
                      </a:r>
                      <a:r>
                        <a:rPr kumimoji="1" lang="ja-JP" altLang="en-US" sz="2000" dirty="0"/>
                        <a:t>　（前略）修理と併せて、特別採用が必要となることがある。</a:t>
                      </a:r>
                    </a:p>
                  </a:txBody>
                  <a:tcPr anchor="ctr">
                    <a:solidFill>
                      <a:schemeClr val="tx2">
                        <a:lumMod val="20000"/>
                        <a:lumOff val="80000"/>
                      </a:schemeClr>
                    </a:solidFill>
                  </a:tcPr>
                </a:tc>
                <a:extLst>
                  <a:ext uri="{0D108BD9-81ED-4DB2-BD59-A6C34878D82A}">
                    <a16:rowId xmlns:a16="http://schemas.microsoft.com/office/drawing/2014/main" val="484379169"/>
                  </a:ext>
                </a:extLst>
              </a:tr>
            </a:tbl>
          </a:graphicData>
        </a:graphic>
      </p:graphicFrame>
      <p:cxnSp>
        <p:nvCxnSpPr>
          <p:cNvPr id="10" name="直線コネクタ 9">
            <a:extLst>
              <a:ext uri="{FF2B5EF4-FFF2-40B4-BE49-F238E27FC236}">
                <a16:creationId xmlns:a16="http://schemas.microsoft.com/office/drawing/2014/main" id="{719D43FF-6D54-4F58-A8B3-BC3ED67D2D4D}"/>
              </a:ext>
            </a:extLst>
          </p:cNvPr>
          <p:cNvCxnSpPr/>
          <p:nvPr/>
        </p:nvCxnSpPr>
        <p:spPr>
          <a:xfrm>
            <a:off x="7480453" y="4054207"/>
            <a:ext cx="0" cy="2082188"/>
          </a:xfrm>
          <a:prstGeom prst="line">
            <a:avLst/>
          </a:prstGeom>
          <a:ln w="63500" cmpd="dbl">
            <a:solidFill>
              <a:srgbClr val="FF505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EA5AF666-18BF-4272-BFA8-500A95F86C12}"/>
              </a:ext>
            </a:extLst>
          </p:cNvPr>
          <p:cNvCxnSpPr/>
          <p:nvPr/>
        </p:nvCxnSpPr>
        <p:spPr>
          <a:xfrm>
            <a:off x="4570164" y="4054207"/>
            <a:ext cx="0" cy="2082188"/>
          </a:xfrm>
          <a:prstGeom prst="line">
            <a:avLst/>
          </a:prstGeom>
          <a:ln w="63500" cmpd="dbl">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四角形: 角を丸くする 11">
            <a:extLst>
              <a:ext uri="{FF2B5EF4-FFF2-40B4-BE49-F238E27FC236}">
                <a16:creationId xmlns:a16="http://schemas.microsoft.com/office/drawing/2014/main" id="{6456014B-557B-4D2B-91CF-DE3B00A320EC}"/>
              </a:ext>
            </a:extLst>
          </p:cNvPr>
          <p:cNvSpPr/>
          <p:nvPr/>
        </p:nvSpPr>
        <p:spPr>
          <a:xfrm>
            <a:off x="1861851" y="3955055"/>
            <a:ext cx="5519444" cy="4955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不適合製品</a:t>
            </a:r>
          </a:p>
        </p:txBody>
      </p:sp>
      <p:sp>
        <p:nvSpPr>
          <p:cNvPr id="13" name="四角形: 角を丸くする 12">
            <a:extLst>
              <a:ext uri="{FF2B5EF4-FFF2-40B4-BE49-F238E27FC236}">
                <a16:creationId xmlns:a16="http://schemas.microsoft.com/office/drawing/2014/main" id="{0CEFF26E-13C2-49FF-A168-93279AB61103}"/>
              </a:ext>
            </a:extLst>
          </p:cNvPr>
          <p:cNvSpPr/>
          <p:nvPr/>
        </p:nvSpPr>
        <p:spPr>
          <a:xfrm>
            <a:off x="7579612" y="3969259"/>
            <a:ext cx="3086557" cy="495553"/>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適合製品</a:t>
            </a:r>
          </a:p>
        </p:txBody>
      </p:sp>
      <p:sp>
        <p:nvSpPr>
          <p:cNvPr id="14" name="四角形: 角を丸くする 13">
            <a:extLst>
              <a:ext uri="{FF2B5EF4-FFF2-40B4-BE49-F238E27FC236}">
                <a16:creationId xmlns:a16="http://schemas.microsoft.com/office/drawing/2014/main" id="{4A5C422A-D057-420D-B582-F3E9C5444A90}"/>
              </a:ext>
            </a:extLst>
          </p:cNvPr>
          <p:cNvSpPr/>
          <p:nvPr/>
        </p:nvSpPr>
        <p:spPr>
          <a:xfrm>
            <a:off x="6893375" y="5765471"/>
            <a:ext cx="1180610" cy="495553"/>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要求事項</a:t>
            </a:r>
          </a:p>
        </p:txBody>
      </p:sp>
      <p:sp>
        <p:nvSpPr>
          <p:cNvPr id="15" name="四角形: 角を丸くする 14">
            <a:extLst>
              <a:ext uri="{FF2B5EF4-FFF2-40B4-BE49-F238E27FC236}">
                <a16:creationId xmlns:a16="http://schemas.microsoft.com/office/drawing/2014/main" id="{98E9EE84-FDED-43AC-95CC-7230A69187B9}"/>
              </a:ext>
            </a:extLst>
          </p:cNvPr>
          <p:cNvSpPr/>
          <p:nvPr/>
        </p:nvSpPr>
        <p:spPr>
          <a:xfrm>
            <a:off x="3294044" y="5765472"/>
            <a:ext cx="2655058" cy="495553"/>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0070C0"/>
                </a:solidFill>
              </a:rPr>
              <a:t>意図した用途に使える</a:t>
            </a:r>
          </a:p>
        </p:txBody>
      </p:sp>
      <p:sp>
        <p:nvSpPr>
          <p:cNvPr id="16" name="矢印: 右 15">
            <a:extLst>
              <a:ext uri="{FF2B5EF4-FFF2-40B4-BE49-F238E27FC236}">
                <a16:creationId xmlns:a16="http://schemas.microsoft.com/office/drawing/2014/main" id="{342EB59C-D743-4854-BBAF-DAF15B255992}"/>
              </a:ext>
            </a:extLst>
          </p:cNvPr>
          <p:cNvSpPr/>
          <p:nvPr/>
        </p:nvSpPr>
        <p:spPr>
          <a:xfrm>
            <a:off x="1861852" y="5164192"/>
            <a:ext cx="2655054" cy="495553"/>
          </a:xfrm>
          <a:prstGeom prst="rightArrow">
            <a:avLst>
              <a:gd name="adj1" fmla="val 82432"/>
              <a:gd name="adj2" fmla="val 5000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2200" dirty="0">
                <a:solidFill>
                  <a:schemeClr val="tx1"/>
                </a:solidFill>
              </a:rPr>
              <a:t>修理</a:t>
            </a:r>
          </a:p>
        </p:txBody>
      </p:sp>
      <p:sp>
        <p:nvSpPr>
          <p:cNvPr id="17" name="矢印: 右 16">
            <a:extLst>
              <a:ext uri="{FF2B5EF4-FFF2-40B4-BE49-F238E27FC236}">
                <a16:creationId xmlns:a16="http://schemas.microsoft.com/office/drawing/2014/main" id="{E91ED98F-6DDA-4BB9-A8E2-BFF3BD9A9F79}"/>
              </a:ext>
            </a:extLst>
          </p:cNvPr>
          <p:cNvSpPr/>
          <p:nvPr/>
        </p:nvSpPr>
        <p:spPr>
          <a:xfrm>
            <a:off x="4619743" y="5152569"/>
            <a:ext cx="2811132" cy="495553"/>
          </a:xfrm>
          <a:prstGeom prst="rightArrow">
            <a:avLst>
              <a:gd name="adj1" fmla="val 82432"/>
              <a:gd name="adj2" fmla="val 5000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ja-JP" altLang="en-US" sz="2200" dirty="0">
                <a:solidFill>
                  <a:schemeClr val="tx1"/>
                </a:solidFill>
              </a:rPr>
              <a:t>特別採用</a:t>
            </a:r>
            <a:endParaRPr kumimoji="1" lang="ja-JP" altLang="en-US" sz="2200" dirty="0">
              <a:solidFill>
                <a:schemeClr val="tx1"/>
              </a:solidFill>
            </a:endParaRPr>
          </a:p>
        </p:txBody>
      </p:sp>
      <p:sp>
        <p:nvSpPr>
          <p:cNvPr id="18" name="矢印: 右 17">
            <a:extLst>
              <a:ext uri="{FF2B5EF4-FFF2-40B4-BE49-F238E27FC236}">
                <a16:creationId xmlns:a16="http://schemas.microsoft.com/office/drawing/2014/main" id="{43CE143E-1467-4D13-A004-CA69790CBB63}"/>
              </a:ext>
            </a:extLst>
          </p:cNvPr>
          <p:cNvSpPr/>
          <p:nvPr/>
        </p:nvSpPr>
        <p:spPr>
          <a:xfrm>
            <a:off x="1861851" y="4574869"/>
            <a:ext cx="5569020" cy="495553"/>
          </a:xfrm>
          <a:prstGeom prst="rightArrow">
            <a:avLst>
              <a:gd name="adj1" fmla="val 82432"/>
              <a:gd name="adj2" fmla="val 5000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ja-JP" altLang="en-US" sz="2200" dirty="0">
                <a:solidFill>
                  <a:schemeClr val="tx1"/>
                </a:solidFill>
              </a:rPr>
              <a:t>手直し</a:t>
            </a:r>
            <a:endParaRPr kumimoji="1" lang="ja-JP" altLang="en-US" sz="2200" dirty="0">
              <a:solidFill>
                <a:schemeClr val="tx1"/>
              </a:solidFill>
            </a:endParaRPr>
          </a:p>
        </p:txBody>
      </p:sp>
    </p:spTree>
    <p:extLst>
      <p:ext uri="{BB962C8B-B14F-4D97-AF65-F5344CB8AC3E}">
        <p14:creationId xmlns:p14="http://schemas.microsoft.com/office/powerpoint/2010/main" val="3312674447"/>
      </p:ext>
    </p:extLst>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☑組織は、製品を修理する判断の前に、修理工程におけるリスクを評価するために、</a:t>
            </a:r>
            <a:r>
              <a:rPr lang="ja-JP" altLang="en-US" sz="2000" u="sng" dirty="0"/>
              <a:t>リスク分析（</a:t>
            </a:r>
            <a:r>
              <a:rPr lang="en-US" altLang="ja-JP" sz="2000" u="sng" dirty="0"/>
              <a:t>FMEA</a:t>
            </a:r>
            <a:r>
              <a:rPr lang="ja-JP" altLang="en-US" sz="2000" u="sng" dirty="0"/>
              <a:t>のような）の方法論を活用しなければならない。</a:t>
            </a:r>
            <a:endParaRPr lang="en-US" altLang="ja-JP" sz="2000" u="sng" dirty="0"/>
          </a:p>
          <a:p>
            <a:pPr marL="0" indent="0">
              <a:lnSpc>
                <a:spcPct val="100000"/>
              </a:lnSpc>
              <a:buNone/>
            </a:pPr>
            <a:r>
              <a:rPr lang="ja-JP" altLang="en-US" sz="2000" dirty="0"/>
              <a:t>☑組織は、製品の修理を開始する前に、</a:t>
            </a:r>
            <a:r>
              <a:rPr lang="ja-JP" altLang="en-US" sz="2000" u="sng" dirty="0"/>
              <a:t>顧客から承認を取得しなければならない。</a:t>
            </a:r>
            <a:endParaRPr lang="en-US" altLang="ja-JP" sz="2000" u="sng" dirty="0"/>
          </a:p>
          <a:p>
            <a:pPr marL="0" indent="0">
              <a:lnSpc>
                <a:spcPct val="100000"/>
              </a:lnSpc>
              <a:buNone/>
            </a:pPr>
            <a:r>
              <a:rPr lang="ja-JP" altLang="en-US" sz="2000" dirty="0"/>
              <a:t>☑組織は、コントロールプラン又は他の関連する文書化した情報に従って、</a:t>
            </a:r>
            <a:r>
              <a:rPr lang="ja-JP" altLang="en-US" sz="2000" u="sng" dirty="0"/>
              <a:t>修理確認の</a:t>
            </a:r>
            <a:r>
              <a:rPr lang="ja-JP" altLang="en-US" sz="2000" b="1" u="sng" dirty="0"/>
              <a:t>文書化したプロセス</a:t>
            </a:r>
            <a:r>
              <a:rPr lang="ja-JP" altLang="en-US" sz="2000" u="sng" dirty="0"/>
              <a:t>をもたなければならない。</a:t>
            </a:r>
            <a:endParaRPr lang="en-US" altLang="ja-JP" sz="2000" u="sng" dirty="0"/>
          </a:p>
          <a:p>
            <a:pPr marL="0" indent="0">
              <a:lnSpc>
                <a:spcPct val="100000"/>
              </a:lnSpc>
              <a:buNone/>
            </a:pPr>
            <a:r>
              <a:rPr lang="ja-JP" altLang="en-US" sz="2000" dirty="0"/>
              <a:t>☑再検査及びトレーサビリティ要求事項を含む、分解又は修理</a:t>
            </a:r>
            <a:r>
              <a:rPr lang="ja-JP" altLang="en-US" sz="2000" u="sng" dirty="0"/>
              <a:t>指示書は、適切な要員がアクセスでき、利用できなければならない。</a:t>
            </a:r>
            <a:endParaRPr lang="en-US" altLang="ja-JP" sz="2000" u="sng" dirty="0"/>
          </a:p>
          <a:p>
            <a:pPr marL="0" indent="0">
              <a:lnSpc>
                <a:spcPct val="100000"/>
              </a:lnSpc>
              <a:buNone/>
            </a:pPr>
            <a:r>
              <a:rPr lang="ja-JP" altLang="en-US" sz="2000" dirty="0"/>
              <a:t>☑組織は、修理される製品の</a:t>
            </a:r>
            <a:r>
              <a:rPr lang="ja-JP" altLang="en-US" sz="2000" u="sng" dirty="0"/>
              <a:t>特別採用</a:t>
            </a:r>
            <a:r>
              <a:rPr lang="ja-JP" altLang="en-US" sz="2000" dirty="0"/>
              <a:t>について、文書化した顧客の正式許可を取得しなければならない。</a:t>
            </a:r>
            <a:endParaRPr lang="en-US" altLang="ja-JP" sz="2000" dirty="0"/>
          </a:p>
          <a:p>
            <a:pPr marL="0" indent="0">
              <a:lnSpc>
                <a:spcPct val="100000"/>
              </a:lnSpc>
              <a:buNone/>
            </a:pPr>
            <a:r>
              <a:rPr lang="ja-JP" altLang="en-US" sz="2000" dirty="0"/>
              <a:t>☑組織は、</a:t>
            </a:r>
            <a:r>
              <a:rPr lang="ja-JP" altLang="en-US" sz="2000" u="sng" dirty="0"/>
              <a:t>量、処置、処置日及び該当するトレーサビリティ情報</a:t>
            </a:r>
            <a:r>
              <a:rPr lang="ja-JP" altLang="en-US" sz="2000" dirty="0"/>
              <a:t>を含めて、修理した製品の処置に関する</a:t>
            </a:r>
            <a:r>
              <a:rPr lang="ja-JP" altLang="en-US" sz="2000" b="1" dirty="0"/>
              <a:t>文書化した情報を保持</a:t>
            </a:r>
            <a:r>
              <a:rPr lang="ja-JP" altLang="en-US" sz="2000" dirty="0"/>
              <a:t>しなければならない。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8.7.1.5</a:t>
            </a:r>
            <a:r>
              <a:rPr kumimoji="1" lang="ja-JP" altLang="en-US" sz="3000" b="1" dirty="0">
                <a:solidFill>
                  <a:schemeClr val="tx2"/>
                </a:solidFill>
              </a:rPr>
              <a:t>　修理製品の管理　</a:t>
            </a:r>
          </a:p>
        </p:txBody>
      </p:sp>
    </p:spTree>
    <p:extLst>
      <p:ext uri="{BB962C8B-B14F-4D97-AF65-F5344CB8AC3E}">
        <p14:creationId xmlns:p14="http://schemas.microsoft.com/office/powerpoint/2010/main" val="1317308032"/>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079653"/>
          </a:xfrm>
          <a:ln w="12700">
            <a:solidFill>
              <a:schemeClr val="tx2"/>
            </a:solidFill>
          </a:ln>
        </p:spPr>
        <p:txBody>
          <a:bodyPr>
            <a:normAutofit/>
          </a:bodyPr>
          <a:lstStyle/>
          <a:p>
            <a:pPr marL="0" indent="0">
              <a:lnSpc>
                <a:spcPct val="100000"/>
              </a:lnSpc>
              <a:buNone/>
            </a:pPr>
            <a:r>
              <a:rPr lang="ja-JP" altLang="en-US" sz="2000" dirty="0"/>
              <a:t>☑</a:t>
            </a:r>
            <a:r>
              <a:rPr lang="ja-JP" altLang="en-US" sz="2000" u="sng" dirty="0"/>
              <a:t>不適合製品が出荷された場合には、顧客に対して速やかに通知しなければならない。</a:t>
            </a:r>
            <a:endParaRPr lang="en-US" altLang="ja-JP" sz="2000" u="sng" dirty="0"/>
          </a:p>
          <a:p>
            <a:pPr marL="0" indent="0">
              <a:lnSpc>
                <a:spcPct val="100000"/>
              </a:lnSpc>
              <a:buNone/>
            </a:pPr>
            <a:r>
              <a:rPr lang="ja-JP" altLang="en-US" sz="2000" dirty="0"/>
              <a:t>☑初回の伝達に引き続き、その事象の詳細な文書を提供しなければならない。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8.7.1.6</a:t>
            </a:r>
            <a:r>
              <a:rPr lang="ja-JP" altLang="en-US" sz="3000" b="1" dirty="0">
                <a:solidFill>
                  <a:schemeClr val="tx2"/>
                </a:solidFill>
              </a:rPr>
              <a:t>　顧客への通知</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747371"/>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8.7.1.6</a:t>
            </a:r>
            <a:r>
              <a:rPr lang="ja-JP" altLang="en-US" sz="3000" b="1" dirty="0">
                <a:solidFill>
                  <a:schemeClr val="bg1"/>
                </a:solidFill>
              </a:rPr>
              <a:t>　顧客への通知</a:t>
            </a:r>
          </a:p>
        </p:txBody>
      </p:sp>
      <p:sp>
        <p:nvSpPr>
          <p:cNvPr id="7" name="コンテンツ プレースホルダー 2">
            <a:extLst>
              <a:ext uri="{FF2B5EF4-FFF2-40B4-BE49-F238E27FC236}">
                <a16:creationId xmlns:a16="http://schemas.microsoft.com/office/drawing/2014/main" id="{FE659CE4-7A5F-4B81-9920-86A504F976A8}"/>
              </a:ext>
            </a:extLst>
          </p:cNvPr>
          <p:cNvSpPr txBox="1">
            <a:spLocks/>
          </p:cNvSpPr>
          <p:nvPr/>
        </p:nvSpPr>
        <p:spPr>
          <a:xfrm>
            <a:off x="838200" y="3734718"/>
            <a:ext cx="10515600" cy="262163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200" dirty="0"/>
              <a:t>要求事項の整理。</a:t>
            </a:r>
            <a:endParaRPr lang="en-US" altLang="ja-JP" sz="2200" dirty="0"/>
          </a:p>
          <a:p>
            <a:pPr marL="457200" indent="-457200">
              <a:lnSpc>
                <a:spcPct val="100000"/>
              </a:lnSpc>
              <a:buFont typeface="+mj-lt"/>
              <a:buAutoNum type="arabicPeriod"/>
            </a:pPr>
            <a:endParaRPr lang="en-US" altLang="ja-JP" sz="2200" dirty="0"/>
          </a:p>
          <a:p>
            <a:pPr marL="457200" indent="-457200">
              <a:lnSpc>
                <a:spcPct val="100000"/>
              </a:lnSpc>
              <a:buFont typeface="+mj-lt"/>
              <a:buAutoNum type="arabicPeriod"/>
            </a:pPr>
            <a:r>
              <a:rPr lang="ja-JP" altLang="en-US" sz="2200" dirty="0"/>
              <a:t>顧客への通知は</a:t>
            </a:r>
            <a:r>
              <a:rPr lang="ja-JP" altLang="en-US" sz="2200" dirty="0">
                <a:solidFill>
                  <a:srgbClr val="FF0000"/>
                </a:solidFill>
                <a:effectLst>
                  <a:outerShdw blurRad="38100" dist="38100" dir="2700000" algn="tl">
                    <a:srgbClr val="000000">
                      <a:alpha val="43137"/>
                    </a:srgbClr>
                  </a:outerShdw>
                </a:effectLst>
              </a:rPr>
              <a:t>「迅速さ」と「正確さ」</a:t>
            </a:r>
            <a:r>
              <a:rPr lang="ja-JP" altLang="en-US" sz="2200" dirty="0"/>
              <a:t>が重要。そのための連絡ルート、顧客窓口、方法などを定めておく。</a:t>
            </a:r>
            <a:endParaRPr lang="en-US" altLang="ja-JP" sz="2200" dirty="0"/>
          </a:p>
          <a:p>
            <a:pPr marL="457200" indent="-457200">
              <a:lnSpc>
                <a:spcPct val="100000"/>
              </a:lnSpc>
              <a:buFont typeface="+mj-lt"/>
              <a:buAutoNum type="arabicPeriod"/>
            </a:pPr>
            <a:r>
              <a:rPr lang="ja-JP" altLang="en-US" sz="2200" dirty="0"/>
              <a:t>顧客からのクレームではなく</a:t>
            </a:r>
            <a:r>
              <a:rPr lang="en-US" altLang="ja-JP" sz="2200" dirty="0"/>
              <a:t>『</a:t>
            </a:r>
            <a:r>
              <a:rPr lang="ja-JP" altLang="en-US" sz="2200" dirty="0"/>
              <a:t>自らの通報</a:t>
            </a:r>
            <a:r>
              <a:rPr lang="en-US" altLang="ja-JP" sz="2200" dirty="0"/>
              <a:t>』</a:t>
            </a:r>
            <a:r>
              <a:rPr lang="ja-JP" altLang="en-US" sz="2200" dirty="0"/>
              <a:t>。</a:t>
            </a:r>
            <a:endParaRPr lang="en-US" altLang="ja-JP" sz="2200" dirty="0"/>
          </a:p>
          <a:p>
            <a:pPr lvl="1">
              <a:lnSpc>
                <a:spcPct val="100000"/>
              </a:lnSpc>
              <a:buFont typeface="Wingdings" panose="05000000000000000000" pitchFamily="2" charset="2"/>
              <a:buChar char="Ø"/>
            </a:pPr>
            <a:r>
              <a:rPr lang="ja-JP" altLang="en-US" sz="2200" dirty="0"/>
              <a:t>当然のことに映るが実際は・・・　➠　</a:t>
            </a:r>
            <a:r>
              <a:rPr lang="ja-JP" altLang="en-US" sz="2200" dirty="0">
                <a:solidFill>
                  <a:srgbClr val="FF0000"/>
                </a:solidFill>
                <a:effectLst>
                  <a:outerShdw blurRad="38100" dist="38100" dir="2700000" algn="tl">
                    <a:srgbClr val="000000">
                      <a:alpha val="43137"/>
                    </a:srgbClr>
                  </a:outerShdw>
                </a:effectLst>
              </a:rPr>
              <a:t>企業責任（</a:t>
            </a:r>
            <a:r>
              <a:rPr lang="en-US" altLang="ja-JP" sz="2200" dirty="0">
                <a:solidFill>
                  <a:srgbClr val="FF0000"/>
                </a:solidFill>
                <a:effectLst>
                  <a:outerShdw blurRad="38100" dist="38100" dir="2700000" algn="tl">
                    <a:srgbClr val="000000">
                      <a:alpha val="43137"/>
                    </a:srgbClr>
                  </a:outerShdw>
                </a:effectLst>
              </a:rPr>
              <a:t>5.1.1.1</a:t>
            </a:r>
            <a:r>
              <a:rPr lang="ja-JP" altLang="en-US" sz="2200" dirty="0">
                <a:solidFill>
                  <a:srgbClr val="FF0000"/>
                </a:solidFill>
                <a:effectLst>
                  <a:outerShdw blurRad="38100" dist="38100" dir="2700000" algn="tl">
                    <a:srgbClr val="000000">
                      <a:alpha val="43137"/>
                    </a:srgbClr>
                  </a:outerShdw>
                </a:effectLst>
              </a:rPr>
              <a:t>）の再認識。</a:t>
            </a:r>
          </a:p>
        </p:txBody>
      </p:sp>
      <p:sp>
        <p:nvSpPr>
          <p:cNvPr id="10" name="矢印: 右 9">
            <a:extLst>
              <a:ext uri="{FF2B5EF4-FFF2-40B4-BE49-F238E27FC236}">
                <a16:creationId xmlns:a16="http://schemas.microsoft.com/office/drawing/2014/main" id="{B2A71FDC-1B52-4FB7-9B67-0DC84076383F}"/>
              </a:ext>
            </a:extLst>
          </p:cNvPr>
          <p:cNvSpPr/>
          <p:nvPr/>
        </p:nvSpPr>
        <p:spPr>
          <a:xfrm>
            <a:off x="3657600" y="4229378"/>
            <a:ext cx="4371202" cy="365125"/>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3C10A21-EE3D-411A-92E5-0CB9BC4E2BF1}"/>
              </a:ext>
            </a:extLst>
          </p:cNvPr>
          <p:cNvSpPr/>
          <p:nvPr/>
        </p:nvSpPr>
        <p:spPr>
          <a:xfrm>
            <a:off x="952237" y="4165613"/>
            <a:ext cx="3010783" cy="4876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不適合製品出荷の事実</a:t>
            </a:r>
            <a:endParaRPr kumimoji="1" lang="ja-JP" altLang="en-US" dirty="0"/>
          </a:p>
        </p:txBody>
      </p:sp>
      <p:sp>
        <p:nvSpPr>
          <p:cNvPr id="12" name="四角形: 角を丸くする 11">
            <a:extLst>
              <a:ext uri="{FF2B5EF4-FFF2-40B4-BE49-F238E27FC236}">
                <a16:creationId xmlns:a16="http://schemas.microsoft.com/office/drawing/2014/main" id="{D02D5E9F-D9A0-4E6A-B26A-B04379CE9CFF}"/>
              </a:ext>
            </a:extLst>
          </p:cNvPr>
          <p:cNvSpPr/>
          <p:nvPr/>
        </p:nvSpPr>
        <p:spPr>
          <a:xfrm>
            <a:off x="4492122" y="4165612"/>
            <a:ext cx="3010784" cy="4876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顧客への緊急連絡</a:t>
            </a:r>
            <a:r>
              <a:rPr kumimoji="1" lang="ja-JP" altLang="en-US" dirty="0"/>
              <a:t>（通知）</a:t>
            </a:r>
          </a:p>
        </p:txBody>
      </p:sp>
      <p:sp>
        <p:nvSpPr>
          <p:cNvPr id="13" name="四角形: 角を丸くする 12">
            <a:extLst>
              <a:ext uri="{FF2B5EF4-FFF2-40B4-BE49-F238E27FC236}">
                <a16:creationId xmlns:a16="http://schemas.microsoft.com/office/drawing/2014/main" id="{D069D9B8-14AD-45A8-B68A-971054B5E162}"/>
              </a:ext>
            </a:extLst>
          </p:cNvPr>
          <p:cNvSpPr/>
          <p:nvPr/>
        </p:nvSpPr>
        <p:spPr>
          <a:xfrm>
            <a:off x="8028802" y="4165612"/>
            <a:ext cx="3010785" cy="4876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顧客への詳細連絡</a:t>
            </a:r>
            <a:r>
              <a:rPr lang="ja-JP" altLang="en-US" dirty="0"/>
              <a:t>（文書）</a:t>
            </a:r>
            <a:endParaRPr kumimoji="1" lang="ja-JP" altLang="en-US" dirty="0"/>
          </a:p>
        </p:txBody>
      </p:sp>
    </p:spTree>
    <p:extLst>
      <p:ext uri="{BB962C8B-B14F-4D97-AF65-F5344CB8AC3E}">
        <p14:creationId xmlns:p14="http://schemas.microsoft.com/office/powerpoint/2010/main" val="4044985486"/>
      </p:ext>
    </p:extLst>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66092"/>
            <a:ext cx="10515600" cy="2247441"/>
          </a:xfrm>
          <a:ln w="12700">
            <a:solidFill>
              <a:schemeClr val="tx2"/>
            </a:solidFill>
          </a:ln>
        </p:spPr>
        <p:txBody>
          <a:bodyPr>
            <a:normAutofit/>
          </a:bodyPr>
          <a:lstStyle/>
          <a:p>
            <a:pPr marL="0" indent="0">
              <a:lnSpc>
                <a:spcPct val="100000"/>
              </a:lnSpc>
              <a:buNone/>
            </a:pPr>
            <a:r>
              <a:rPr lang="ja-JP" altLang="en-US" sz="2000" dirty="0"/>
              <a:t>☑組織は、手直し又は修理できない不適合製品の廃棄に関する</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☑要求事項を満たさない製品に対して、組織は、スクラップされる製品が</a:t>
            </a:r>
            <a:r>
              <a:rPr lang="ja-JP" altLang="en-US" sz="2000" u="sng" dirty="0"/>
              <a:t>廃棄の前に使用不可の状態にされていることを検証しなければならない。</a:t>
            </a:r>
            <a:endParaRPr lang="en-US" altLang="ja-JP" sz="2000" u="sng" dirty="0"/>
          </a:p>
          <a:p>
            <a:pPr marL="0" indent="0">
              <a:lnSpc>
                <a:spcPct val="100000"/>
              </a:lnSpc>
              <a:buNone/>
            </a:pPr>
            <a:r>
              <a:rPr lang="ja-JP" altLang="en-US" sz="2000" dirty="0"/>
              <a:t>☑組織は、事前の顧客承認なしで、不適合製品をサービス又は</a:t>
            </a:r>
            <a:r>
              <a:rPr lang="ja-JP" altLang="en-US" sz="2000" u="sng" dirty="0"/>
              <a:t>他の使用に流用してはならない。</a:t>
            </a:r>
          </a:p>
          <a:p>
            <a:pPr marL="0" indent="0">
              <a:lnSpc>
                <a:spcPct val="100000"/>
              </a:lnSpc>
              <a:buNone/>
            </a:pPr>
            <a:endParaRPr lang="ja-JP" altLang="en-US"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8.7.1.7</a:t>
            </a:r>
            <a:r>
              <a:rPr kumimoji="1" lang="ja-JP" altLang="en-US" sz="3000" b="1" dirty="0">
                <a:solidFill>
                  <a:schemeClr val="tx2"/>
                </a:solidFill>
              </a:rPr>
              <a:t>　不適合製品の廃棄</a:t>
            </a:r>
          </a:p>
        </p:txBody>
      </p:sp>
      <p:sp>
        <p:nvSpPr>
          <p:cNvPr id="6" name="タイトル 1">
            <a:extLst>
              <a:ext uri="{FF2B5EF4-FFF2-40B4-BE49-F238E27FC236}">
                <a16:creationId xmlns:a16="http://schemas.microsoft.com/office/drawing/2014/main" id="{6F59E81C-9D21-4DEA-9615-9B60443C2337}"/>
              </a:ext>
            </a:extLst>
          </p:cNvPr>
          <p:cNvSpPr txBox="1">
            <a:spLocks/>
          </p:cNvSpPr>
          <p:nvPr/>
        </p:nvSpPr>
        <p:spPr>
          <a:xfrm>
            <a:off x="838200" y="376042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a:solidFill>
                  <a:schemeClr val="bg1"/>
                </a:solidFill>
              </a:rPr>
              <a:t>8.7.1.7</a:t>
            </a:r>
            <a:r>
              <a:rPr lang="ja-JP" altLang="en-US" sz="3000" b="1">
                <a:solidFill>
                  <a:schemeClr val="bg1"/>
                </a:solidFill>
              </a:rPr>
              <a:t>　不適合製品の廃棄</a:t>
            </a:r>
            <a:endParaRPr lang="ja-JP" altLang="en-US" sz="3000" b="1" dirty="0">
              <a:solidFill>
                <a:schemeClr val="bg1"/>
              </a:solidFill>
            </a:endParaRPr>
          </a:p>
        </p:txBody>
      </p:sp>
      <p:sp>
        <p:nvSpPr>
          <p:cNvPr id="7" name="コンテンツ プレースホルダー 2">
            <a:extLst>
              <a:ext uri="{FF2B5EF4-FFF2-40B4-BE49-F238E27FC236}">
                <a16:creationId xmlns:a16="http://schemas.microsoft.com/office/drawing/2014/main" id="{F7B3FCF7-11D1-41F0-942F-EB55505293D5}"/>
              </a:ext>
            </a:extLst>
          </p:cNvPr>
          <p:cNvSpPr txBox="1">
            <a:spLocks/>
          </p:cNvSpPr>
          <p:nvPr/>
        </p:nvSpPr>
        <p:spPr>
          <a:xfrm>
            <a:off x="838200" y="4737923"/>
            <a:ext cx="10515600" cy="161842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8.7.1</a:t>
            </a:r>
            <a:r>
              <a:rPr lang="ja-JP" altLang="en-US" sz="2400" dirty="0"/>
              <a:t>と</a:t>
            </a:r>
            <a:r>
              <a:rPr lang="en-US" altLang="ja-JP" sz="2400" dirty="0"/>
              <a:t>8.7.1.7</a:t>
            </a:r>
            <a:r>
              <a:rPr lang="ja-JP" altLang="en-US" sz="2400" dirty="0"/>
              <a:t>の関係。</a:t>
            </a:r>
          </a:p>
        </p:txBody>
      </p:sp>
      <p:sp>
        <p:nvSpPr>
          <p:cNvPr id="2" name="正方形/長方形 1">
            <a:extLst>
              <a:ext uri="{FF2B5EF4-FFF2-40B4-BE49-F238E27FC236}">
                <a16:creationId xmlns:a16="http://schemas.microsoft.com/office/drawing/2014/main" id="{075A3E1A-256D-4EAE-A3E0-7392649E7128}"/>
              </a:ext>
            </a:extLst>
          </p:cNvPr>
          <p:cNvSpPr/>
          <p:nvPr/>
        </p:nvSpPr>
        <p:spPr>
          <a:xfrm>
            <a:off x="1355075" y="5166911"/>
            <a:ext cx="3888954" cy="118943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200" dirty="0">
                <a:solidFill>
                  <a:schemeClr val="tx1"/>
                </a:solidFill>
              </a:rPr>
              <a:t>8.7.1</a:t>
            </a:r>
          </a:p>
          <a:p>
            <a:pPr algn="ctr"/>
            <a:r>
              <a:rPr lang="ja-JP" altLang="en-US" sz="2200" dirty="0">
                <a:solidFill>
                  <a:schemeClr val="tx1"/>
                </a:solidFill>
              </a:rPr>
              <a:t>識別して管理</a:t>
            </a:r>
            <a:endParaRPr kumimoji="1" lang="ja-JP" altLang="en-US" sz="2200" dirty="0">
              <a:solidFill>
                <a:schemeClr val="tx1"/>
              </a:solidFill>
            </a:endParaRPr>
          </a:p>
        </p:txBody>
      </p:sp>
      <p:sp>
        <p:nvSpPr>
          <p:cNvPr id="10" name="正方形/長方形 9">
            <a:extLst>
              <a:ext uri="{FF2B5EF4-FFF2-40B4-BE49-F238E27FC236}">
                <a16:creationId xmlns:a16="http://schemas.microsoft.com/office/drawing/2014/main" id="{51EA206F-6601-4FEA-942F-11113343F72F}"/>
              </a:ext>
            </a:extLst>
          </p:cNvPr>
          <p:cNvSpPr/>
          <p:nvPr/>
        </p:nvSpPr>
        <p:spPr>
          <a:xfrm>
            <a:off x="6975055" y="5166911"/>
            <a:ext cx="3888954" cy="118943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200" dirty="0">
                <a:solidFill>
                  <a:schemeClr val="tx1"/>
                </a:solidFill>
              </a:rPr>
              <a:t>8.7.1.7</a:t>
            </a:r>
            <a:endParaRPr kumimoji="1" lang="en-US" altLang="ja-JP" sz="2200" dirty="0">
              <a:solidFill>
                <a:schemeClr val="tx1"/>
              </a:solidFill>
            </a:endParaRPr>
          </a:p>
          <a:p>
            <a:pPr algn="ctr"/>
            <a:r>
              <a:rPr lang="ja-JP" altLang="en-US" sz="2200" dirty="0">
                <a:solidFill>
                  <a:schemeClr val="tx1"/>
                </a:solidFill>
              </a:rPr>
              <a:t>廃棄の前に使用不可の状態</a:t>
            </a:r>
            <a:endParaRPr kumimoji="1" lang="ja-JP" altLang="en-US" sz="2200" dirty="0">
              <a:solidFill>
                <a:schemeClr val="tx1"/>
              </a:solidFill>
            </a:endParaRPr>
          </a:p>
        </p:txBody>
      </p:sp>
      <p:sp>
        <p:nvSpPr>
          <p:cNvPr id="8" name="矢印: 右 7">
            <a:extLst>
              <a:ext uri="{FF2B5EF4-FFF2-40B4-BE49-F238E27FC236}">
                <a16:creationId xmlns:a16="http://schemas.microsoft.com/office/drawing/2014/main" id="{E8079577-FE32-48A0-8A66-93FD52FDB460}"/>
              </a:ext>
            </a:extLst>
          </p:cNvPr>
          <p:cNvSpPr/>
          <p:nvPr/>
        </p:nvSpPr>
        <p:spPr>
          <a:xfrm>
            <a:off x="5343181" y="5255046"/>
            <a:ext cx="1604791" cy="977880"/>
          </a:xfrm>
          <a:prstGeom prst="rightArrow">
            <a:avLst>
              <a:gd name="adj1" fmla="val 83798"/>
              <a:gd name="adj2" fmla="val 25215"/>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厳しい管理</a:t>
            </a:r>
          </a:p>
        </p:txBody>
      </p:sp>
      <p:sp>
        <p:nvSpPr>
          <p:cNvPr id="11" name="四角形: 角を丸くする 10">
            <a:extLst>
              <a:ext uri="{FF2B5EF4-FFF2-40B4-BE49-F238E27FC236}">
                <a16:creationId xmlns:a16="http://schemas.microsoft.com/office/drawing/2014/main" id="{D5146ED2-BBD2-4976-ABED-8965977BF5A1}"/>
              </a:ext>
            </a:extLst>
          </p:cNvPr>
          <p:cNvSpPr/>
          <p:nvPr/>
        </p:nvSpPr>
        <p:spPr>
          <a:xfrm>
            <a:off x="1361731" y="5166910"/>
            <a:ext cx="1200839" cy="517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性善説</a:t>
            </a:r>
          </a:p>
        </p:txBody>
      </p:sp>
      <p:sp>
        <p:nvSpPr>
          <p:cNvPr id="12" name="四角形: 角を丸くする 11">
            <a:extLst>
              <a:ext uri="{FF2B5EF4-FFF2-40B4-BE49-F238E27FC236}">
                <a16:creationId xmlns:a16="http://schemas.microsoft.com/office/drawing/2014/main" id="{30DA5B05-EEE6-4566-933A-46D53EE856FA}"/>
              </a:ext>
            </a:extLst>
          </p:cNvPr>
          <p:cNvSpPr/>
          <p:nvPr/>
        </p:nvSpPr>
        <p:spPr>
          <a:xfrm>
            <a:off x="9663170" y="5166910"/>
            <a:ext cx="1200839" cy="517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性悪説</a:t>
            </a:r>
          </a:p>
        </p:txBody>
      </p:sp>
    </p:spTree>
    <p:extLst>
      <p:ext uri="{BB962C8B-B14F-4D97-AF65-F5344CB8AC3E}">
        <p14:creationId xmlns:p14="http://schemas.microsoft.com/office/powerpoint/2010/main" val="1594744525"/>
      </p:ext>
    </p:extLst>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委託先による廃棄後の転売及び悪用を防止することが目的。</a:t>
            </a:r>
            <a:endParaRPr lang="en-US" altLang="ja-JP" sz="2400" dirty="0"/>
          </a:p>
          <a:p>
            <a:pPr marL="457200" indent="-457200">
              <a:lnSpc>
                <a:spcPct val="100000"/>
              </a:lnSpc>
              <a:buFont typeface="+mj-lt"/>
              <a:buAutoNum type="arabicPeriod" startAt="2"/>
            </a:pPr>
            <a:r>
              <a:rPr lang="en-US" altLang="ja-JP" sz="2400" dirty="0"/>
              <a:t>FAQ11</a:t>
            </a:r>
          </a:p>
          <a:p>
            <a:pPr lvl="1">
              <a:lnSpc>
                <a:spcPct val="100000"/>
              </a:lnSpc>
              <a:buFont typeface="Wingdings" panose="05000000000000000000" pitchFamily="2" charset="2"/>
              <a:buChar char="Ø"/>
            </a:pPr>
            <a:r>
              <a:rPr lang="ja-JP" altLang="en-US" dirty="0"/>
              <a:t>最終廃棄に先立って使用不可能になる限り、それを製造エリアで行う必要はない。　➠　組織の管理下。（廃棄物置き場、或いは使用不可能な状態にするサービスを外部委託する。）</a:t>
            </a:r>
            <a:endParaRPr lang="en-US" altLang="ja-JP" dirty="0"/>
          </a:p>
          <a:p>
            <a:pPr lvl="1">
              <a:lnSpc>
                <a:spcPct val="100000"/>
              </a:lnSpc>
              <a:buFont typeface="Wingdings" panose="05000000000000000000" pitchFamily="2" charset="2"/>
              <a:buChar char="Ø"/>
            </a:pPr>
            <a:r>
              <a:rPr lang="ja-JP" altLang="en-US" dirty="0"/>
              <a:t>どの程度のダメージを与える？　➠　修理不可能な状態。（赤ペイント程度ではＮＧ）</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8.7.1.7</a:t>
            </a:r>
            <a:r>
              <a:rPr lang="ja-JP" altLang="en-US" sz="3000" b="1" dirty="0">
                <a:solidFill>
                  <a:schemeClr val="bg1"/>
                </a:solidFill>
              </a:rPr>
              <a:t>　不適合製品の廃棄</a:t>
            </a:r>
          </a:p>
        </p:txBody>
      </p:sp>
      <p:sp>
        <p:nvSpPr>
          <p:cNvPr id="2" name="吹き出し: 角を丸めた四角形 1">
            <a:extLst>
              <a:ext uri="{FF2B5EF4-FFF2-40B4-BE49-F238E27FC236}">
                <a16:creationId xmlns:a16="http://schemas.microsoft.com/office/drawing/2014/main" id="{6D8F8E10-684A-43D8-B0C4-E5C04FDA7793}"/>
              </a:ext>
            </a:extLst>
          </p:cNvPr>
          <p:cNvSpPr/>
          <p:nvPr/>
        </p:nvSpPr>
        <p:spPr>
          <a:xfrm>
            <a:off x="2608289" y="4439920"/>
            <a:ext cx="8745511" cy="1916430"/>
          </a:xfrm>
          <a:prstGeom prst="wedgeRoundRectCallout">
            <a:avLst>
              <a:gd name="adj1" fmla="val -42207"/>
              <a:gd name="adj2" fmla="val -59639"/>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000" dirty="0">
                <a:solidFill>
                  <a:schemeClr val="tx1"/>
                </a:solidFill>
              </a:rPr>
              <a:t>『</a:t>
            </a:r>
            <a:r>
              <a:rPr lang="ja-JP" altLang="en-US" sz="2000" dirty="0">
                <a:solidFill>
                  <a:schemeClr val="tx1"/>
                </a:solidFill>
              </a:rPr>
              <a:t>使用不可</a:t>
            </a:r>
            <a:r>
              <a:rPr lang="en-US" altLang="ja-JP" sz="2000" dirty="0">
                <a:solidFill>
                  <a:schemeClr val="tx1"/>
                </a:solidFill>
              </a:rPr>
              <a:t>』</a:t>
            </a:r>
            <a:r>
              <a:rPr lang="ja-JP" altLang="en-US" sz="2000" dirty="0">
                <a:solidFill>
                  <a:schemeClr val="tx1"/>
                </a:solidFill>
              </a:rPr>
              <a:t>の状態の判断（見解）は、審査の場面でもバラツキが生じているのが実態。</a:t>
            </a:r>
            <a:endParaRPr lang="en-US" altLang="ja-JP" sz="2000" dirty="0">
              <a:solidFill>
                <a:schemeClr val="tx1"/>
              </a:solidFill>
            </a:endParaRPr>
          </a:p>
          <a:p>
            <a:r>
              <a:rPr lang="ja-JP" altLang="en-US" sz="2000" dirty="0">
                <a:solidFill>
                  <a:schemeClr val="tx1"/>
                </a:solidFill>
              </a:rPr>
              <a:t>金属部品などの場合、必ずしも物理的ダメージを与えることが絶対ではなく、例えば、管理上（契約含め）、廃棄物処理業者の確実な処理が確認されていれば問題ないと判断する。</a:t>
            </a:r>
            <a:endParaRPr lang="en-US" altLang="ja-JP" sz="2000" dirty="0">
              <a:solidFill>
                <a:schemeClr val="tx1"/>
              </a:solidFill>
            </a:endParaRPr>
          </a:p>
        </p:txBody>
      </p:sp>
    </p:spTree>
    <p:extLst>
      <p:ext uri="{BB962C8B-B14F-4D97-AF65-F5344CB8AC3E}">
        <p14:creationId xmlns:p14="http://schemas.microsoft.com/office/powerpoint/2010/main" val="1804893843"/>
      </p:ext>
    </p:extLst>
  </p:cSld>
  <p:clrMapOvr>
    <a:masterClrMapping/>
  </p:clrMapOvr>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317</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4400" b="1" u="sng" dirty="0">
                <a:solidFill>
                  <a:schemeClr val="tx2"/>
                </a:solidFill>
                <a:effectLst>
                  <a:outerShdw blurRad="38100" dist="38100" dir="2700000" algn="tl">
                    <a:srgbClr val="000000">
                      <a:alpha val="43137"/>
                    </a:srgbClr>
                  </a:outerShdw>
                </a:effectLst>
              </a:rPr>
              <a:t>９．パフォーマンス評価</a:t>
            </a:r>
            <a:endParaRPr lang="en-US" altLang="ja-JP" sz="4400" b="1" u="sng" dirty="0">
              <a:solidFill>
                <a:schemeClr val="tx2"/>
              </a:solidFill>
              <a:effectLst>
                <a:outerShdw blurRad="38100" dist="38100" dir="2700000" algn="tl">
                  <a:srgbClr val="000000">
                    <a:alpha val="43137"/>
                  </a:srgbClr>
                </a:outerShdw>
              </a:effectLst>
            </a:endParaRPr>
          </a:p>
          <a:p>
            <a:pPr marL="0" indent="0">
              <a:buNone/>
            </a:pPr>
            <a:r>
              <a:rPr kumimoji="1" lang="ja-JP" altLang="en-US" sz="2400" dirty="0">
                <a:solidFill>
                  <a:schemeClr val="tx2"/>
                </a:solidFill>
              </a:rPr>
              <a:t>１０．改善</a:t>
            </a:r>
          </a:p>
        </p:txBody>
      </p:sp>
    </p:spTree>
    <p:extLst>
      <p:ext uri="{BB962C8B-B14F-4D97-AF65-F5344CB8AC3E}">
        <p14:creationId xmlns:p14="http://schemas.microsoft.com/office/powerpoint/2010/main" val="3246203547"/>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メモ 7">
            <a:extLst>
              <a:ext uri="{FF2B5EF4-FFF2-40B4-BE49-F238E27FC236}">
                <a16:creationId xmlns:a16="http://schemas.microsoft.com/office/drawing/2014/main" id="{587A77C3-48F8-4CD9-A00C-389D21826757}"/>
              </a:ext>
            </a:extLst>
          </p:cNvPr>
          <p:cNvSpPr/>
          <p:nvPr/>
        </p:nvSpPr>
        <p:spPr>
          <a:xfrm>
            <a:off x="838202" y="1553379"/>
            <a:ext cx="3281412" cy="4802969"/>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en-US" altLang="ja-JP" dirty="0"/>
              <a:t>9.1.1.1</a:t>
            </a:r>
            <a:r>
              <a:rPr lang="ja-JP" altLang="en-US" dirty="0"/>
              <a:t>　製造工程の監視及び測定</a:t>
            </a:r>
            <a:endParaRPr lang="en-US" altLang="ja-JP" dirty="0"/>
          </a:p>
          <a:p>
            <a:r>
              <a:rPr lang="en-US" altLang="ja-JP" dirty="0"/>
              <a:t>9.1.1.2</a:t>
            </a:r>
            <a:r>
              <a:rPr lang="ja-JP" altLang="en-US" dirty="0"/>
              <a:t>　統計的ツールの特定</a:t>
            </a:r>
            <a:endParaRPr lang="en-US" altLang="ja-JP" dirty="0"/>
          </a:p>
          <a:p>
            <a:r>
              <a:rPr lang="en-US" altLang="ja-JP" dirty="0"/>
              <a:t>9.1.1.3</a:t>
            </a:r>
            <a:r>
              <a:rPr lang="ja-JP" altLang="en-US" dirty="0"/>
              <a:t>　統計的概念の適用</a:t>
            </a:r>
            <a:endParaRPr lang="en-US" altLang="ja-JP" dirty="0"/>
          </a:p>
          <a:p>
            <a:r>
              <a:rPr lang="en-US" altLang="ja-JP" dirty="0"/>
              <a:t>9.1.2.1</a:t>
            </a:r>
            <a:r>
              <a:rPr lang="ja-JP" altLang="en-US" dirty="0"/>
              <a:t>　顧客満足－補足</a:t>
            </a:r>
            <a:endParaRPr lang="en-US" altLang="ja-JP" dirty="0"/>
          </a:p>
          <a:p>
            <a:r>
              <a:rPr lang="en-US" altLang="ja-JP" dirty="0"/>
              <a:t>9.1.3.1</a:t>
            </a:r>
            <a:r>
              <a:rPr lang="ja-JP" altLang="en-US" dirty="0"/>
              <a:t>　優先順位付け</a:t>
            </a:r>
            <a:endParaRPr lang="en-US" altLang="ja-JP" dirty="0"/>
          </a:p>
        </p:txBody>
      </p:sp>
      <p:sp>
        <p:nvSpPr>
          <p:cNvPr id="12" name="四角形: メモ 11">
            <a:extLst>
              <a:ext uri="{FF2B5EF4-FFF2-40B4-BE49-F238E27FC236}">
                <a16:creationId xmlns:a16="http://schemas.microsoft.com/office/drawing/2014/main" id="{98213EBB-542A-4018-894A-BC7E7EE0A2C6}"/>
              </a:ext>
            </a:extLst>
          </p:cNvPr>
          <p:cNvSpPr/>
          <p:nvPr/>
        </p:nvSpPr>
        <p:spPr>
          <a:xfrm>
            <a:off x="4455294" y="1553379"/>
            <a:ext cx="3281412" cy="4175392"/>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endParaRPr lang="en-US" altLang="ja-JP" dirty="0"/>
          </a:p>
          <a:p>
            <a:endParaRPr lang="en-US" altLang="ja-JP" dirty="0"/>
          </a:p>
          <a:p>
            <a:r>
              <a:rPr kumimoji="1" lang="en-US" altLang="ja-JP" dirty="0"/>
              <a:t>9.2.2.1</a:t>
            </a:r>
            <a:r>
              <a:rPr kumimoji="1" lang="ja-JP" altLang="en-US" dirty="0"/>
              <a:t>　内部監査プログラム</a:t>
            </a:r>
            <a:endParaRPr kumimoji="1" lang="en-US" altLang="ja-JP" dirty="0"/>
          </a:p>
          <a:p>
            <a:r>
              <a:rPr lang="en-US" altLang="ja-JP" dirty="0"/>
              <a:t>9.2.2.2</a:t>
            </a:r>
            <a:r>
              <a:rPr lang="ja-JP" altLang="en-US" dirty="0"/>
              <a:t>　品質マネジメントシステム監査</a:t>
            </a:r>
            <a:endParaRPr lang="en-US" altLang="ja-JP" dirty="0"/>
          </a:p>
          <a:p>
            <a:r>
              <a:rPr kumimoji="1" lang="en-US" altLang="ja-JP" dirty="0"/>
              <a:t>9.2.2.3</a:t>
            </a:r>
            <a:r>
              <a:rPr kumimoji="1" lang="ja-JP" altLang="en-US" dirty="0"/>
              <a:t>　製造工程監査</a:t>
            </a:r>
            <a:endParaRPr kumimoji="1" lang="en-US" altLang="ja-JP" dirty="0"/>
          </a:p>
          <a:p>
            <a:r>
              <a:rPr lang="en-US" altLang="ja-JP" dirty="0"/>
              <a:t>9.2.2.4</a:t>
            </a:r>
            <a:r>
              <a:rPr lang="ja-JP" altLang="en-US" dirty="0"/>
              <a:t>　製品監査</a:t>
            </a:r>
            <a:r>
              <a:rPr kumimoji="1" lang="ja-JP" altLang="en-US" dirty="0"/>
              <a:t>　</a:t>
            </a:r>
            <a:endParaRPr kumimoji="1" lang="en-US" altLang="ja-JP" dirty="0"/>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1553380"/>
            <a:ext cx="3281412" cy="4802967"/>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kumimoji="1" lang="en-US" altLang="ja-JP" dirty="0"/>
          </a:p>
          <a:p>
            <a:endParaRPr kumimoji="1" lang="en-US" altLang="ja-JP" dirty="0"/>
          </a:p>
          <a:p>
            <a:endParaRPr kumimoji="1" lang="en-US" altLang="ja-JP" dirty="0"/>
          </a:p>
          <a:p>
            <a:endParaRPr lang="en-US" altLang="ja-JP" dirty="0"/>
          </a:p>
          <a:p>
            <a:endParaRPr kumimoji="1" lang="en-US" altLang="ja-JP" dirty="0"/>
          </a:p>
          <a:p>
            <a:endParaRPr lang="en-US" altLang="ja-JP" dirty="0"/>
          </a:p>
          <a:p>
            <a:endParaRPr lang="en-US" altLang="ja-JP" dirty="0"/>
          </a:p>
          <a:p>
            <a:endParaRPr lang="en-US" altLang="ja-JP" dirty="0"/>
          </a:p>
          <a:p>
            <a:r>
              <a:rPr lang="en-US" altLang="ja-JP" dirty="0"/>
              <a:t>9.3.1.1</a:t>
            </a:r>
            <a:r>
              <a:rPr lang="ja-JP" altLang="en-US" dirty="0"/>
              <a:t>　マネジメントレビュー－補足</a:t>
            </a:r>
            <a:endParaRPr lang="en-US" altLang="ja-JP" dirty="0"/>
          </a:p>
          <a:p>
            <a:r>
              <a:rPr kumimoji="1" lang="en-US" altLang="ja-JP" dirty="0"/>
              <a:t>9.3.2.1</a:t>
            </a:r>
            <a:r>
              <a:rPr kumimoji="1" lang="ja-JP" altLang="en-US" dirty="0"/>
              <a:t>　マネジメントレビューへのインプット－補足</a:t>
            </a:r>
            <a:endParaRPr kumimoji="1" lang="en-US" altLang="ja-JP" dirty="0"/>
          </a:p>
          <a:p>
            <a:r>
              <a:rPr lang="en-US" altLang="ja-JP" dirty="0"/>
              <a:t>9.3.3.1</a:t>
            </a:r>
            <a:r>
              <a:rPr lang="ja-JP" altLang="en-US" dirty="0"/>
              <a:t>　マネジメントレビューからのアウトプット－補足</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318</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９．パフォーマンス評価</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553379"/>
            <a:ext cx="3281413" cy="1299990"/>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9.2</a:t>
            </a:r>
            <a:r>
              <a:rPr lang="ja-JP" altLang="en-US" sz="2000" b="1" dirty="0">
                <a:solidFill>
                  <a:schemeClr val="tx1"/>
                </a:solidFill>
              </a:rPr>
              <a:t>　内部監査</a:t>
            </a:r>
            <a:endParaRPr lang="en-US" altLang="ja-JP" sz="2000" b="1" dirty="0">
              <a:solidFill>
                <a:schemeClr val="tx1"/>
              </a:solidFill>
            </a:endParaRP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553379"/>
            <a:ext cx="3281413" cy="2017365"/>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9.1</a:t>
            </a:r>
            <a:r>
              <a:rPr lang="ja-JP" altLang="en-US" sz="2000" b="1" dirty="0">
                <a:solidFill>
                  <a:schemeClr val="tx1"/>
                </a:solidFill>
              </a:rPr>
              <a:t>　監視、測定、分析及び評価</a:t>
            </a:r>
            <a:endParaRPr lang="en-US" altLang="ja-JP" sz="2000" b="1" dirty="0">
              <a:solidFill>
                <a:schemeClr val="tx1"/>
              </a:solidFill>
            </a:endParaRPr>
          </a:p>
          <a:p>
            <a:r>
              <a:rPr kumimoji="1" lang="en-US" altLang="ja-JP" dirty="0">
                <a:solidFill>
                  <a:schemeClr val="tx1"/>
                </a:solidFill>
              </a:rPr>
              <a:t>9.1.1</a:t>
            </a:r>
            <a:r>
              <a:rPr kumimoji="1" lang="ja-JP" altLang="en-US" dirty="0">
                <a:solidFill>
                  <a:schemeClr val="tx1"/>
                </a:solidFill>
              </a:rPr>
              <a:t>　一般</a:t>
            </a:r>
            <a:endParaRPr kumimoji="1" lang="en-US" altLang="ja-JP" dirty="0">
              <a:solidFill>
                <a:schemeClr val="tx1"/>
              </a:solidFill>
            </a:endParaRPr>
          </a:p>
          <a:p>
            <a:r>
              <a:rPr lang="en-US" altLang="ja-JP" dirty="0">
                <a:solidFill>
                  <a:schemeClr val="tx1"/>
                </a:solidFill>
              </a:rPr>
              <a:t>9.1.2</a:t>
            </a:r>
            <a:r>
              <a:rPr lang="ja-JP" altLang="en-US" dirty="0">
                <a:solidFill>
                  <a:schemeClr val="tx1"/>
                </a:solidFill>
              </a:rPr>
              <a:t>　顧客満足</a:t>
            </a:r>
            <a:endParaRPr lang="en-US" altLang="ja-JP" dirty="0">
              <a:solidFill>
                <a:schemeClr val="tx1"/>
              </a:solidFill>
            </a:endParaRPr>
          </a:p>
          <a:p>
            <a:r>
              <a:rPr kumimoji="1" lang="en-US" altLang="ja-JP" dirty="0">
                <a:solidFill>
                  <a:schemeClr val="tx1"/>
                </a:solidFill>
              </a:rPr>
              <a:t>9.1.3</a:t>
            </a:r>
            <a:r>
              <a:rPr kumimoji="1" lang="ja-JP" altLang="en-US" dirty="0">
                <a:solidFill>
                  <a:schemeClr val="tx1"/>
                </a:solidFill>
              </a:rPr>
              <a:t>　分析及び評価　</a:t>
            </a:r>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1553379"/>
            <a:ext cx="3281413" cy="2368625"/>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9.3</a:t>
            </a:r>
            <a:r>
              <a:rPr lang="ja-JP" altLang="en-US" sz="2000" b="1" dirty="0">
                <a:solidFill>
                  <a:schemeClr val="tx1"/>
                </a:solidFill>
              </a:rPr>
              <a:t>　マネジメントレビュー</a:t>
            </a:r>
            <a:endParaRPr lang="en-US" altLang="ja-JP" sz="2000" b="1" dirty="0">
              <a:solidFill>
                <a:schemeClr val="tx1"/>
              </a:solidFill>
            </a:endParaRPr>
          </a:p>
          <a:p>
            <a:r>
              <a:rPr lang="en-US" altLang="ja-JP" dirty="0">
                <a:solidFill>
                  <a:schemeClr val="tx1"/>
                </a:solidFill>
              </a:rPr>
              <a:t>9.3.1</a:t>
            </a:r>
            <a:r>
              <a:rPr lang="ja-JP" altLang="en-US" dirty="0">
                <a:solidFill>
                  <a:schemeClr val="tx1"/>
                </a:solidFill>
              </a:rPr>
              <a:t>　一般</a:t>
            </a:r>
            <a:endParaRPr lang="en-US" altLang="ja-JP" dirty="0">
              <a:solidFill>
                <a:schemeClr val="tx1"/>
              </a:solidFill>
            </a:endParaRPr>
          </a:p>
          <a:p>
            <a:r>
              <a:rPr lang="en-US" altLang="ja-JP" dirty="0">
                <a:solidFill>
                  <a:schemeClr val="tx1"/>
                </a:solidFill>
              </a:rPr>
              <a:t>9.3.2</a:t>
            </a:r>
            <a:r>
              <a:rPr lang="ja-JP" altLang="en-US" dirty="0">
                <a:solidFill>
                  <a:schemeClr val="tx1"/>
                </a:solidFill>
              </a:rPr>
              <a:t>　マネジメントレビューへのインプット</a:t>
            </a:r>
            <a:endParaRPr lang="en-US" altLang="ja-JP" dirty="0">
              <a:solidFill>
                <a:schemeClr val="tx1"/>
              </a:solidFill>
            </a:endParaRPr>
          </a:p>
          <a:p>
            <a:r>
              <a:rPr lang="en-US" altLang="ja-JP" dirty="0">
                <a:solidFill>
                  <a:schemeClr val="tx1"/>
                </a:solidFill>
              </a:rPr>
              <a:t>9.3.3</a:t>
            </a:r>
            <a:r>
              <a:rPr lang="ja-JP" altLang="en-US" dirty="0">
                <a:solidFill>
                  <a:schemeClr val="tx1"/>
                </a:solidFill>
              </a:rPr>
              <a:t>　マネジメントレビューからのアウトプット</a:t>
            </a:r>
            <a:endParaRPr lang="en-US" altLang="ja-JP" dirty="0">
              <a:solidFill>
                <a:schemeClr val="tx1"/>
              </a:solidFill>
            </a:endParaRPr>
          </a:p>
        </p:txBody>
      </p:sp>
    </p:spTree>
    <p:extLst>
      <p:ext uri="{BB962C8B-B14F-4D97-AF65-F5344CB8AC3E}">
        <p14:creationId xmlns:p14="http://schemas.microsoft.com/office/powerpoint/2010/main" val="4178262907"/>
      </p:ext>
    </p:extLst>
  </p:cSld>
  <p:clrMapOvr>
    <a:masterClrMapping/>
  </p:clrMapOvr>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319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☑組織は、全ての新規製造工程（組立又は整列を含む。）に対して、工程能力を検証し、特殊特性の管理を含む工程管理への追加インプットを提供するために、</a:t>
            </a:r>
            <a:r>
              <a:rPr lang="ja-JP" altLang="en-US" sz="2000" u="sng" dirty="0"/>
              <a:t>工程調査を実施しなければならない。</a:t>
            </a:r>
            <a:endParaRPr lang="en-US" altLang="ja-JP" sz="2000" u="sng" dirty="0"/>
          </a:p>
          <a:p>
            <a:pPr marL="0" indent="0">
              <a:lnSpc>
                <a:spcPct val="100000"/>
              </a:lnSpc>
              <a:buNone/>
            </a:pPr>
            <a:r>
              <a:rPr lang="ja-JP" altLang="en-US" sz="2000" dirty="0"/>
              <a:t>注記　製造工程によっては、工程能力を通じて製品適合を実証することができない場合がある。それらの工程に対しては、仕様書に対する一括適合のような代替の方法を採用してもよい。</a:t>
            </a:r>
            <a:endParaRPr lang="en-US" altLang="ja-JP" sz="2000" dirty="0"/>
          </a:p>
          <a:p>
            <a:pPr marL="0" indent="0">
              <a:lnSpc>
                <a:spcPct val="100000"/>
              </a:lnSpc>
              <a:buNone/>
            </a:pPr>
            <a:r>
              <a:rPr lang="ja-JP" altLang="en-US" sz="2000" dirty="0"/>
              <a:t>☑組織は、</a:t>
            </a:r>
            <a:r>
              <a:rPr lang="ja-JP" altLang="en-US" sz="2000" u="sng" dirty="0"/>
              <a:t>顧客の部品承認プロセス要求事項で規定された製造工程能力（</a:t>
            </a:r>
            <a:r>
              <a:rPr lang="en-US" altLang="ja-JP" sz="2000" u="sng" dirty="0"/>
              <a:t>C pk</a:t>
            </a:r>
            <a:r>
              <a:rPr lang="ja-JP" altLang="en-US" sz="2000" u="sng" dirty="0"/>
              <a:t>）*又は製造工程性能（Ｐ</a:t>
            </a:r>
            <a:r>
              <a:rPr lang="en-US" altLang="ja-JP" sz="2000" u="sng" dirty="0"/>
              <a:t>pk</a:t>
            </a:r>
            <a:r>
              <a:rPr lang="ja-JP" altLang="en-US" sz="2000" u="sng" dirty="0"/>
              <a:t>）*の結果を維持</a:t>
            </a:r>
            <a:r>
              <a:rPr lang="ja-JP" altLang="en-US" sz="2000" dirty="0"/>
              <a:t>しなければならない。</a:t>
            </a:r>
            <a:endParaRPr lang="en-US" altLang="ja-JP" sz="2000" dirty="0"/>
          </a:p>
          <a:p>
            <a:pPr marL="0" indent="0">
              <a:lnSpc>
                <a:spcPct val="100000"/>
              </a:lnSpc>
              <a:buNone/>
            </a:pPr>
            <a:r>
              <a:rPr lang="ja-JP" altLang="en-US" sz="2000" dirty="0"/>
              <a:t>☑組織は、工程フロー図、</a:t>
            </a:r>
            <a:r>
              <a:rPr lang="en-US" altLang="ja-JP" sz="2000" u="sng" dirty="0"/>
              <a:t>PFMEA</a:t>
            </a:r>
            <a:r>
              <a:rPr lang="ja-JP" altLang="en-US" sz="2000" u="sng" dirty="0"/>
              <a:t>及びコントロールプランが実施されることを確実にしなければならない。</a:t>
            </a:r>
            <a:r>
              <a:rPr lang="ja-JP" altLang="en-US" sz="2000" dirty="0"/>
              <a:t>これには次の事項の順守を含めなければならない。</a:t>
            </a:r>
            <a:endParaRPr lang="en-US" altLang="ja-JP" sz="2000" dirty="0"/>
          </a:p>
          <a:p>
            <a:pPr marL="800100" lvl="1" indent="-342900">
              <a:lnSpc>
                <a:spcPct val="100000"/>
              </a:lnSpc>
              <a:buFont typeface="+mj-lt"/>
              <a:buAutoNum type="alphaLcPeriod"/>
            </a:pPr>
            <a:r>
              <a:rPr lang="ja-JP" altLang="en-US" sz="2000" dirty="0"/>
              <a:t>測定手法</a:t>
            </a:r>
            <a:endParaRPr lang="en-US" altLang="ja-JP" sz="2000" dirty="0"/>
          </a:p>
          <a:p>
            <a:pPr marL="800100" lvl="1" indent="-342900">
              <a:lnSpc>
                <a:spcPct val="100000"/>
              </a:lnSpc>
              <a:buFont typeface="+mj-lt"/>
              <a:buAutoNum type="alphaLcPeriod"/>
            </a:pPr>
            <a:r>
              <a:rPr lang="ja-JP" altLang="en-US" sz="2000" dirty="0"/>
              <a:t>抜取計画</a:t>
            </a:r>
            <a:endParaRPr lang="en-US" altLang="ja-JP" sz="2000" dirty="0"/>
          </a:p>
          <a:p>
            <a:pPr marL="800100" lvl="1" indent="-342900">
              <a:lnSpc>
                <a:spcPct val="100000"/>
              </a:lnSpc>
              <a:buFont typeface="+mj-lt"/>
              <a:buAutoNum type="alphaLcPeriod"/>
            </a:pPr>
            <a:r>
              <a:rPr lang="ja-JP" altLang="en-US" sz="2000" dirty="0"/>
              <a:t>合否判定基準</a:t>
            </a: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9.1.1.1</a:t>
            </a:r>
            <a:r>
              <a:rPr kumimoji="1" lang="ja-JP" altLang="en-US" sz="3000" b="1" dirty="0">
                <a:solidFill>
                  <a:schemeClr val="tx2"/>
                </a:solidFill>
              </a:rPr>
              <a:t>　製造工程の監視及び測定</a:t>
            </a:r>
          </a:p>
        </p:txBody>
      </p:sp>
    </p:spTree>
    <p:extLst>
      <p:ext uri="{BB962C8B-B14F-4D97-AF65-F5344CB8AC3E}">
        <p14:creationId xmlns:p14="http://schemas.microsoft.com/office/powerpoint/2010/main" val="1121766321"/>
      </p:ext>
    </p:extLst>
  </p:cSld>
  <p:clrMapOvr>
    <a:masterClrMapping/>
  </p:clrMapOvr>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800100" lvl="1" indent="-342900">
              <a:lnSpc>
                <a:spcPct val="100000"/>
              </a:lnSpc>
              <a:buFont typeface="+mj-lt"/>
              <a:buAutoNum type="alphaLcPeriod" startAt="4"/>
            </a:pPr>
            <a:r>
              <a:rPr lang="ja-JP" altLang="en-US" sz="2000" dirty="0"/>
              <a:t>変数データに対する実際の測定値及び／又は試験結果の記録</a:t>
            </a:r>
            <a:endParaRPr lang="en-US" altLang="ja-JP" sz="2000" dirty="0"/>
          </a:p>
          <a:p>
            <a:pPr marL="800100" lvl="1" indent="-342900">
              <a:lnSpc>
                <a:spcPct val="100000"/>
              </a:lnSpc>
              <a:buFont typeface="+mj-lt"/>
              <a:buAutoNum type="alphaLcPeriod" startAt="4"/>
            </a:pPr>
            <a:r>
              <a:rPr lang="ja-JP" altLang="en-US" sz="2000" dirty="0"/>
              <a:t>合否判定基準が満たされない場合の対応計画及び上申プロセス</a:t>
            </a:r>
            <a:endParaRPr lang="en-US" altLang="ja-JP" sz="2000" dirty="0"/>
          </a:p>
          <a:p>
            <a:pPr marL="0" indent="0">
              <a:lnSpc>
                <a:spcPct val="100000"/>
              </a:lnSpc>
              <a:buNone/>
            </a:pPr>
            <a:r>
              <a:rPr lang="ja-JP" altLang="en-US" sz="2000" dirty="0"/>
              <a:t>☑</a:t>
            </a:r>
            <a:r>
              <a:rPr lang="ja-JP" altLang="en-US" sz="2000" u="sng" dirty="0"/>
              <a:t>治工具の変更、機械の修理のような工程の重大な出来事は、</a:t>
            </a:r>
            <a:r>
              <a:rPr lang="ja-JP" altLang="en-US" sz="2000" b="1" u="sng" dirty="0"/>
              <a:t>文書化した情報</a:t>
            </a:r>
            <a:r>
              <a:rPr lang="ja-JP" altLang="en-US" sz="2000" u="sng" dirty="0"/>
              <a:t>として記録し保持しなければならない。</a:t>
            </a:r>
            <a:endParaRPr lang="en-US" altLang="ja-JP" sz="2000" u="sng" dirty="0"/>
          </a:p>
          <a:p>
            <a:pPr marL="0" indent="0">
              <a:lnSpc>
                <a:spcPct val="100000"/>
              </a:lnSpc>
              <a:buNone/>
            </a:pPr>
            <a:r>
              <a:rPr lang="ja-JP" altLang="en-US" sz="2000" dirty="0"/>
              <a:t>☑組織は、統計的に</a:t>
            </a:r>
            <a:r>
              <a:rPr lang="ja-JP" altLang="en-US" sz="2000" u="sng" dirty="0"/>
              <a:t>能力不足又は不安定のいずれかである特性に対して</a:t>
            </a:r>
            <a:r>
              <a:rPr lang="ja-JP" altLang="en-US" sz="2000" dirty="0"/>
              <a:t>、コントロールプランに記載されている、仕様への適合の影響が評価された</a:t>
            </a:r>
            <a:r>
              <a:rPr lang="ja-JP" altLang="en-US" sz="2000" u="sng" dirty="0"/>
              <a:t>対応計画を開始しなければならない。</a:t>
            </a:r>
            <a:endParaRPr lang="en-US" altLang="ja-JP" sz="2000" u="sng" dirty="0"/>
          </a:p>
          <a:p>
            <a:pPr marL="0" indent="0">
              <a:lnSpc>
                <a:spcPct val="100000"/>
              </a:lnSpc>
              <a:buNone/>
            </a:pPr>
            <a:r>
              <a:rPr lang="ja-JP" altLang="en-US" sz="2000" dirty="0"/>
              <a:t>☑対応計画には、必要に応じて、</a:t>
            </a:r>
            <a:r>
              <a:rPr lang="ja-JP" altLang="en-US" sz="2000" u="sng" dirty="0"/>
              <a:t>製品の封じ込め及び全数検査を含めなければならない。</a:t>
            </a:r>
            <a:endParaRPr lang="en-US" altLang="ja-JP" sz="2000" u="sng" dirty="0"/>
          </a:p>
          <a:p>
            <a:pPr marL="0" indent="0">
              <a:lnSpc>
                <a:spcPct val="100000"/>
              </a:lnSpc>
              <a:buNone/>
            </a:pPr>
            <a:r>
              <a:rPr lang="ja-JP" altLang="en-US" sz="2000" dirty="0"/>
              <a:t>☑工程が安定し、統計的に能力をもつようになることを確実にするために、特定の処置、時期及び担当責任者を規定する</a:t>
            </a:r>
            <a:r>
              <a:rPr lang="ja-JP" altLang="en-US" sz="2000" u="sng" dirty="0"/>
              <a:t>是正処置計画を策定し実施しなければならない。</a:t>
            </a:r>
            <a:endParaRPr lang="en-US" altLang="ja-JP" sz="2000" u="sng" dirty="0"/>
          </a:p>
          <a:p>
            <a:pPr marL="0" indent="0">
              <a:lnSpc>
                <a:spcPct val="100000"/>
              </a:lnSpc>
              <a:buNone/>
            </a:pPr>
            <a:r>
              <a:rPr lang="ja-JP" altLang="en-US" sz="2000" dirty="0"/>
              <a:t>☑この計画は、要求される場合、</a:t>
            </a:r>
            <a:r>
              <a:rPr lang="ja-JP" altLang="en-US" sz="2000" u="sng" dirty="0"/>
              <a:t>顧客とともにレビューし承認を得なければならない。</a:t>
            </a:r>
            <a:endParaRPr lang="en-US" altLang="ja-JP" sz="2000" u="sng" dirty="0"/>
          </a:p>
          <a:p>
            <a:pPr marL="0" indent="0">
              <a:lnSpc>
                <a:spcPct val="100000"/>
              </a:lnSpc>
              <a:buNone/>
            </a:pPr>
            <a:r>
              <a:rPr lang="ja-JP" altLang="en-US" sz="2000" dirty="0"/>
              <a:t>☑組織は、工程変更の実効日付の記録を維持しなければならない。</a:t>
            </a:r>
            <a:endParaRPr lang="en-US" altLang="ja-JP" sz="2000" dirty="0"/>
          </a:p>
          <a:p>
            <a:pPr marL="0" indent="0">
              <a:lnSpc>
                <a:spcPct val="100000"/>
              </a:lnSpc>
              <a:buNone/>
            </a:pPr>
            <a:r>
              <a:rPr lang="ja-JP" altLang="en-US" sz="1400" dirty="0"/>
              <a:t>*括弧内の記号は、</a:t>
            </a:r>
            <a:r>
              <a:rPr lang="en-US" altLang="ja-JP" sz="1400" dirty="0"/>
              <a:t>AIAG</a:t>
            </a:r>
            <a:r>
              <a:rPr lang="ja-JP" altLang="en-US" sz="1400" dirty="0"/>
              <a:t>の承認のもと、日本語版にのみ加筆したものである。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9.1.1.1</a:t>
            </a:r>
            <a:r>
              <a:rPr kumimoji="1" lang="ja-JP" altLang="en-US" sz="3000" b="1" dirty="0">
                <a:solidFill>
                  <a:schemeClr val="tx2"/>
                </a:solidFill>
              </a:rPr>
              <a:t>　製造工程の監視及び測定</a:t>
            </a:r>
          </a:p>
        </p:txBody>
      </p:sp>
    </p:spTree>
    <p:extLst>
      <p:ext uri="{BB962C8B-B14F-4D97-AF65-F5344CB8AC3E}">
        <p14:creationId xmlns:p14="http://schemas.microsoft.com/office/powerpoint/2010/main" val="4166636627"/>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33041"/>
            <a:ext cx="10515600" cy="502330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製造工程の管理に必要な要求を</a:t>
            </a:r>
            <a:r>
              <a:rPr lang="en-US" altLang="ja-JP" sz="2400" dirty="0"/>
              <a:t>9.1.1.1</a:t>
            </a:r>
            <a:r>
              <a:rPr lang="ja-JP" altLang="en-US" sz="2400" dirty="0"/>
              <a:t>に集約している。明記はされていないが</a:t>
            </a:r>
            <a:r>
              <a:rPr lang="ja-JP" altLang="en-US" sz="2400" dirty="0">
                <a:solidFill>
                  <a:srgbClr val="FF0000"/>
                </a:solidFill>
                <a:effectLst>
                  <a:outerShdw blurRad="38100" dist="38100" dir="2700000" algn="tl">
                    <a:srgbClr val="000000">
                      <a:alpha val="43137"/>
                    </a:srgbClr>
                  </a:outerShdw>
                </a:effectLst>
              </a:rPr>
              <a:t>「</a:t>
            </a:r>
            <a:r>
              <a:rPr lang="en-US" altLang="ja-JP" sz="2400" dirty="0">
                <a:solidFill>
                  <a:srgbClr val="FF0000"/>
                </a:solidFill>
                <a:effectLst>
                  <a:outerShdw blurRad="38100" dist="38100" dir="2700000" algn="tl">
                    <a:srgbClr val="000000">
                      <a:alpha val="43137"/>
                    </a:srgbClr>
                  </a:outerShdw>
                </a:effectLst>
              </a:rPr>
              <a:t>SPC</a:t>
            </a:r>
            <a:r>
              <a:rPr lang="ja-JP" altLang="en-US" sz="2400" dirty="0">
                <a:solidFill>
                  <a:srgbClr val="FF0000"/>
                </a:solidFill>
                <a:effectLst>
                  <a:outerShdw blurRad="38100" dist="38100" dir="2700000" algn="tl">
                    <a:srgbClr val="000000">
                      <a:alpha val="43137"/>
                    </a:srgbClr>
                  </a:outerShdw>
                </a:effectLst>
              </a:rPr>
              <a:t>レファレンスマニュアル」の利用</a:t>
            </a:r>
            <a:r>
              <a:rPr lang="ja-JP" altLang="en-US" sz="2400" dirty="0"/>
              <a:t>を求めている。</a:t>
            </a:r>
            <a:endParaRPr lang="en-US" altLang="ja-JP" sz="2400" dirty="0"/>
          </a:p>
          <a:p>
            <a:pPr marL="457200" indent="-457200">
              <a:lnSpc>
                <a:spcPct val="100000"/>
              </a:lnSpc>
              <a:buFont typeface="+mj-lt"/>
              <a:buAutoNum type="arabicPeriod"/>
            </a:pPr>
            <a:r>
              <a:rPr lang="ja-JP" altLang="en-US" sz="2400" dirty="0"/>
              <a:t>全ての新規製造工程（一般に特殊特性について）に対する工程能力評価の実施。</a:t>
            </a:r>
            <a:r>
              <a:rPr lang="en-US" altLang="ja-JP" sz="2000" dirty="0"/>
              <a:t>※</a:t>
            </a:r>
            <a:r>
              <a:rPr lang="ja-JP" altLang="en-US" sz="2000" dirty="0"/>
              <a:t>できない場合は全数検査などでも可。</a:t>
            </a:r>
            <a:endParaRPr lang="en-US" altLang="ja-JP" sz="2000" dirty="0"/>
          </a:p>
          <a:p>
            <a:pPr lvl="1">
              <a:lnSpc>
                <a:spcPct val="100000"/>
              </a:lnSpc>
              <a:buFont typeface="Wingdings" panose="05000000000000000000" pitchFamily="2" charset="2"/>
              <a:buChar char="Ø"/>
            </a:pPr>
            <a:r>
              <a:rPr lang="ja-JP" altLang="en-US" dirty="0"/>
              <a:t>工程調査（安定と能力の改善）の基本サイクル。</a:t>
            </a:r>
            <a:endParaRPr lang="en-US" altLang="ja-JP"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工程の</a:t>
            </a:r>
            <a:r>
              <a:rPr lang="ja-JP" altLang="en-US" sz="2400" dirty="0">
                <a:solidFill>
                  <a:srgbClr val="FF0000"/>
                </a:solidFill>
                <a:effectLst>
                  <a:outerShdw blurRad="38100" dist="38100" dir="2700000" algn="tl">
                    <a:srgbClr val="000000">
                      <a:alpha val="43137"/>
                    </a:srgbClr>
                  </a:outerShdw>
                </a:effectLst>
              </a:rPr>
              <a:t>重大な出来事に対する記録。</a:t>
            </a:r>
            <a:endParaRPr lang="en-US" altLang="ja-JP" sz="2400" dirty="0">
              <a:solidFill>
                <a:srgbClr val="FF0000"/>
              </a:solidFill>
              <a:effectLst>
                <a:outerShdw blurRad="38100" dist="38100" dir="2700000" algn="tl">
                  <a:srgbClr val="000000">
                    <a:alpha val="43137"/>
                  </a:srgbClr>
                </a:outerShdw>
              </a:effectLst>
            </a:endParaRPr>
          </a:p>
          <a:p>
            <a:pPr lvl="1">
              <a:lnSpc>
                <a:spcPct val="100000"/>
              </a:lnSpc>
              <a:buFont typeface="Wingdings" panose="05000000000000000000" pitchFamily="2" charset="2"/>
              <a:buChar char="Ø"/>
            </a:pPr>
            <a:r>
              <a:rPr lang="ja-JP" altLang="en-US" dirty="0"/>
              <a:t>治工具の変更、機械の修理、材料メーカー変更、作業者の変更</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9.1.1.1</a:t>
            </a:r>
            <a:r>
              <a:rPr lang="ja-JP" altLang="en-US" sz="3000" b="1" dirty="0">
                <a:solidFill>
                  <a:schemeClr val="bg1"/>
                </a:solidFill>
              </a:rPr>
              <a:t>　製造工程の監視及び測定</a:t>
            </a:r>
          </a:p>
        </p:txBody>
      </p:sp>
      <p:graphicFrame>
        <p:nvGraphicFramePr>
          <p:cNvPr id="2" name="表 1">
            <a:extLst>
              <a:ext uri="{FF2B5EF4-FFF2-40B4-BE49-F238E27FC236}">
                <a16:creationId xmlns:a16="http://schemas.microsoft.com/office/drawing/2014/main" id="{BA6AE425-7728-47F6-A6FC-922D9207E6F7}"/>
              </a:ext>
            </a:extLst>
          </p:cNvPr>
          <p:cNvGraphicFramePr>
            <a:graphicFrameLocks noGrp="1"/>
          </p:cNvGraphicFramePr>
          <p:nvPr>
            <p:extLst>
              <p:ext uri="{D42A27DB-BD31-4B8C-83A1-F6EECF244321}">
                <p14:modId xmlns:p14="http://schemas.microsoft.com/office/powerpoint/2010/main" val="1596737979"/>
              </p:ext>
            </p:extLst>
          </p:nvPr>
        </p:nvGraphicFramePr>
        <p:xfrm>
          <a:off x="838200" y="3429000"/>
          <a:ext cx="10515600" cy="1874520"/>
        </p:xfrm>
        <a:graphic>
          <a:graphicData uri="http://schemas.openxmlformats.org/drawingml/2006/table">
            <a:tbl>
              <a:tblPr firstRow="1" bandRow="1">
                <a:tableStyleId>{5940675A-B579-460E-94D1-54222C63F5DA}</a:tableStyleId>
              </a:tblPr>
              <a:tblGrid>
                <a:gridCol w="2797367">
                  <a:extLst>
                    <a:ext uri="{9D8B030D-6E8A-4147-A177-3AD203B41FA5}">
                      <a16:colId xmlns:a16="http://schemas.microsoft.com/office/drawing/2014/main" val="1361871981"/>
                    </a:ext>
                  </a:extLst>
                </a:gridCol>
                <a:gridCol w="7718233">
                  <a:extLst>
                    <a:ext uri="{9D8B030D-6E8A-4147-A177-3AD203B41FA5}">
                      <a16:colId xmlns:a16="http://schemas.microsoft.com/office/drawing/2014/main" val="1624476836"/>
                    </a:ext>
                  </a:extLst>
                </a:gridCol>
              </a:tblGrid>
              <a:tr h="884208">
                <a:tc>
                  <a:txBody>
                    <a:bodyPr/>
                    <a:lstStyle/>
                    <a:p>
                      <a:r>
                        <a:rPr kumimoji="1" lang="ja-JP" altLang="en-US" sz="2000" b="0" dirty="0"/>
                        <a:t>工程の分析</a:t>
                      </a:r>
                    </a:p>
                  </a:txBody>
                  <a:tcPr>
                    <a:solidFill>
                      <a:schemeClr val="tx2">
                        <a:lumMod val="20000"/>
                        <a:lumOff val="80000"/>
                      </a:schemeClr>
                    </a:solidFill>
                  </a:tcPr>
                </a:tc>
                <a:tc>
                  <a:txBody>
                    <a:bodyPr/>
                    <a:lstStyle/>
                    <a:p>
                      <a:r>
                        <a:rPr kumimoji="1" lang="ja-JP" altLang="en-US" sz="2000" dirty="0"/>
                        <a:t>統計的管理状態にあるかを分析し、特別原因がある場合には、それを除去して統計的管理状態を実現する。</a:t>
                      </a:r>
                    </a:p>
                  </a:txBody>
                  <a:tcPr>
                    <a:solidFill>
                      <a:schemeClr val="tx2">
                        <a:lumMod val="20000"/>
                        <a:lumOff val="80000"/>
                      </a:schemeClr>
                    </a:solidFill>
                  </a:tcPr>
                </a:tc>
                <a:extLst>
                  <a:ext uri="{0D108BD9-81ED-4DB2-BD59-A6C34878D82A}">
                    <a16:rowId xmlns:a16="http://schemas.microsoft.com/office/drawing/2014/main" val="2952650692"/>
                  </a:ext>
                </a:extLst>
              </a:tr>
              <a:tr h="495156">
                <a:tc>
                  <a:txBody>
                    <a:bodyPr/>
                    <a:lstStyle/>
                    <a:p>
                      <a:r>
                        <a:rPr kumimoji="1" lang="ja-JP" altLang="en-US" sz="2000" b="0" dirty="0"/>
                        <a:t>工程の維持（管理）</a:t>
                      </a:r>
                    </a:p>
                  </a:txBody>
                  <a:tcPr>
                    <a:solidFill>
                      <a:schemeClr val="tx2">
                        <a:lumMod val="20000"/>
                        <a:lumOff val="80000"/>
                      </a:schemeClr>
                    </a:solidFill>
                  </a:tcPr>
                </a:tc>
                <a:tc>
                  <a:txBody>
                    <a:bodyPr/>
                    <a:lstStyle/>
                    <a:p>
                      <a:r>
                        <a:rPr kumimoji="1" lang="ja-JP" altLang="en-US" sz="2000" dirty="0"/>
                        <a:t>工程性能を監視する。</a:t>
                      </a:r>
                    </a:p>
                  </a:txBody>
                  <a:tcPr>
                    <a:solidFill>
                      <a:schemeClr val="tx2">
                        <a:lumMod val="20000"/>
                        <a:lumOff val="80000"/>
                      </a:schemeClr>
                    </a:solidFill>
                  </a:tcPr>
                </a:tc>
                <a:extLst>
                  <a:ext uri="{0D108BD9-81ED-4DB2-BD59-A6C34878D82A}">
                    <a16:rowId xmlns:a16="http://schemas.microsoft.com/office/drawing/2014/main" val="388119313"/>
                  </a:ext>
                </a:extLst>
              </a:tr>
              <a:tr h="495156">
                <a:tc>
                  <a:txBody>
                    <a:bodyPr/>
                    <a:lstStyle/>
                    <a:p>
                      <a:r>
                        <a:rPr kumimoji="1" lang="ja-JP" altLang="en-US" sz="2000" b="0" dirty="0"/>
                        <a:t>工程の改善</a:t>
                      </a:r>
                    </a:p>
                  </a:txBody>
                  <a:tcPr>
                    <a:solidFill>
                      <a:schemeClr val="tx2">
                        <a:lumMod val="20000"/>
                        <a:lumOff val="80000"/>
                      </a:schemeClr>
                    </a:solidFill>
                  </a:tcPr>
                </a:tc>
                <a:tc>
                  <a:txBody>
                    <a:bodyPr/>
                    <a:lstStyle/>
                    <a:p>
                      <a:r>
                        <a:rPr kumimoji="1" lang="ja-JP" altLang="en-US" sz="2000" dirty="0"/>
                        <a:t>共通原因変動を減少させ、工程能力を高める。</a:t>
                      </a:r>
                    </a:p>
                  </a:txBody>
                  <a:tcPr>
                    <a:solidFill>
                      <a:schemeClr val="tx2">
                        <a:lumMod val="20000"/>
                        <a:lumOff val="80000"/>
                      </a:schemeClr>
                    </a:solidFill>
                  </a:tcPr>
                </a:tc>
                <a:extLst>
                  <a:ext uri="{0D108BD9-81ED-4DB2-BD59-A6C34878D82A}">
                    <a16:rowId xmlns:a16="http://schemas.microsoft.com/office/drawing/2014/main" val="3244231373"/>
                  </a:ext>
                </a:extLst>
              </a:tr>
            </a:tbl>
          </a:graphicData>
        </a:graphic>
      </p:graphicFrame>
    </p:spTree>
    <p:extLst>
      <p:ext uri="{BB962C8B-B14F-4D97-AF65-F5344CB8AC3E}">
        <p14:creationId xmlns:p14="http://schemas.microsoft.com/office/powerpoint/2010/main" val="2483591259"/>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工程の安定性と工程能力。</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9.1.1.1</a:t>
            </a:r>
            <a:r>
              <a:rPr lang="ja-JP" altLang="en-US" sz="3000" b="1" dirty="0">
                <a:solidFill>
                  <a:schemeClr val="bg1"/>
                </a:solidFill>
              </a:rPr>
              <a:t>　製造工程の監視及び測定</a:t>
            </a:r>
          </a:p>
        </p:txBody>
      </p:sp>
      <p:graphicFrame>
        <p:nvGraphicFramePr>
          <p:cNvPr id="3" name="表 2">
            <a:extLst>
              <a:ext uri="{FF2B5EF4-FFF2-40B4-BE49-F238E27FC236}">
                <a16:creationId xmlns:a16="http://schemas.microsoft.com/office/drawing/2014/main" id="{475FC078-B47C-49C2-B422-F4CDA9B81313}"/>
              </a:ext>
            </a:extLst>
          </p:cNvPr>
          <p:cNvGraphicFramePr>
            <a:graphicFrameLocks noGrp="1"/>
          </p:cNvGraphicFramePr>
          <p:nvPr>
            <p:extLst>
              <p:ext uri="{D42A27DB-BD31-4B8C-83A1-F6EECF244321}">
                <p14:modId xmlns:p14="http://schemas.microsoft.com/office/powerpoint/2010/main" val="2314208357"/>
              </p:ext>
            </p:extLst>
          </p:nvPr>
        </p:nvGraphicFramePr>
        <p:xfrm>
          <a:off x="838200" y="1937330"/>
          <a:ext cx="10515600" cy="4412554"/>
        </p:xfrm>
        <a:graphic>
          <a:graphicData uri="http://schemas.openxmlformats.org/drawingml/2006/table">
            <a:tbl>
              <a:tblPr firstRow="1" bandRow="1">
                <a:tableStyleId>{5940675A-B579-460E-94D1-54222C63F5DA}</a:tableStyleId>
              </a:tblPr>
              <a:tblGrid>
                <a:gridCol w="737212">
                  <a:extLst>
                    <a:ext uri="{9D8B030D-6E8A-4147-A177-3AD203B41FA5}">
                      <a16:colId xmlns:a16="http://schemas.microsoft.com/office/drawing/2014/main" val="1913558725"/>
                    </a:ext>
                  </a:extLst>
                </a:gridCol>
                <a:gridCol w="4858439">
                  <a:extLst>
                    <a:ext uri="{9D8B030D-6E8A-4147-A177-3AD203B41FA5}">
                      <a16:colId xmlns:a16="http://schemas.microsoft.com/office/drawing/2014/main" val="1809510168"/>
                    </a:ext>
                  </a:extLst>
                </a:gridCol>
                <a:gridCol w="4919949">
                  <a:extLst>
                    <a:ext uri="{9D8B030D-6E8A-4147-A177-3AD203B41FA5}">
                      <a16:colId xmlns:a16="http://schemas.microsoft.com/office/drawing/2014/main" val="3142935545"/>
                    </a:ext>
                  </a:extLst>
                </a:gridCol>
              </a:tblGrid>
              <a:tr h="670010">
                <a:tc>
                  <a:txBody>
                    <a:bodyPr/>
                    <a:lstStyle/>
                    <a:p>
                      <a:endParaRPr kumimoji="1" lang="ja-JP" altLang="en-US" dirty="0"/>
                    </a:p>
                  </a:txBody>
                  <a:tcPr>
                    <a:solidFill>
                      <a:schemeClr val="tx2">
                        <a:lumMod val="20000"/>
                        <a:lumOff val="80000"/>
                      </a:schemeClr>
                    </a:solidFill>
                  </a:tcPr>
                </a:tc>
                <a:tc>
                  <a:txBody>
                    <a:bodyPr/>
                    <a:lstStyle/>
                    <a:p>
                      <a:r>
                        <a:rPr kumimoji="1" lang="ja-JP" altLang="en-US" sz="2000" dirty="0"/>
                        <a:t>安定</a:t>
                      </a:r>
                    </a:p>
                  </a:txBody>
                  <a:tcPr anchor="ctr" anchorCtr="1">
                    <a:solidFill>
                      <a:schemeClr val="tx2">
                        <a:lumMod val="20000"/>
                        <a:lumOff val="80000"/>
                      </a:schemeClr>
                    </a:solidFill>
                  </a:tcPr>
                </a:tc>
                <a:tc>
                  <a:txBody>
                    <a:bodyPr/>
                    <a:lstStyle/>
                    <a:p>
                      <a:r>
                        <a:rPr kumimoji="1" lang="ja-JP" altLang="en-US" sz="2000" dirty="0"/>
                        <a:t>不安定</a:t>
                      </a:r>
                    </a:p>
                  </a:txBody>
                  <a:tcPr anchor="ctr" anchorCtr="1">
                    <a:solidFill>
                      <a:schemeClr val="tx2">
                        <a:lumMod val="20000"/>
                        <a:lumOff val="80000"/>
                      </a:schemeClr>
                    </a:solidFill>
                  </a:tcPr>
                </a:tc>
                <a:extLst>
                  <a:ext uri="{0D108BD9-81ED-4DB2-BD59-A6C34878D82A}">
                    <a16:rowId xmlns:a16="http://schemas.microsoft.com/office/drawing/2014/main" val="2750931259"/>
                  </a:ext>
                </a:extLst>
              </a:tr>
              <a:tr h="1871611">
                <a:tc>
                  <a:txBody>
                    <a:bodyPr/>
                    <a:lstStyle/>
                    <a:p>
                      <a:r>
                        <a:rPr kumimoji="1" lang="ja-JP" altLang="en-US" sz="2000" dirty="0"/>
                        <a:t>能力あり</a:t>
                      </a:r>
                    </a:p>
                  </a:txBody>
                  <a:tcPr vert="eaVert" anchor="ctr" anchorCtr="1">
                    <a:solidFill>
                      <a:schemeClr val="tx2">
                        <a:lumMod val="20000"/>
                        <a:lumOff val="80000"/>
                      </a:schemeClr>
                    </a:solidFill>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05028712"/>
                  </a:ext>
                </a:extLst>
              </a:tr>
              <a:tr h="1870933">
                <a:tc>
                  <a:txBody>
                    <a:bodyPr/>
                    <a:lstStyle/>
                    <a:p>
                      <a:r>
                        <a:rPr kumimoji="1" lang="ja-JP" altLang="en-US" sz="2000" dirty="0"/>
                        <a:t>能力なし</a:t>
                      </a:r>
                    </a:p>
                  </a:txBody>
                  <a:tcPr vert="eaVert" anchor="ctr" anchorCtr="1">
                    <a:solidFill>
                      <a:schemeClr val="tx2">
                        <a:lumMod val="20000"/>
                        <a:lumOff val="80000"/>
                      </a:schemeClr>
                    </a:solidFill>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623119089"/>
                  </a:ext>
                </a:extLst>
              </a:tr>
            </a:tbl>
          </a:graphicData>
        </a:graphic>
      </p:graphicFrame>
      <p:grpSp>
        <p:nvGrpSpPr>
          <p:cNvPr id="45" name="グループ化 44">
            <a:extLst>
              <a:ext uri="{FF2B5EF4-FFF2-40B4-BE49-F238E27FC236}">
                <a16:creationId xmlns:a16="http://schemas.microsoft.com/office/drawing/2014/main" id="{DE903EF0-839D-4910-9924-A1B7C1D951D1}"/>
              </a:ext>
            </a:extLst>
          </p:cNvPr>
          <p:cNvGrpSpPr/>
          <p:nvPr/>
        </p:nvGrpSpPr>
        <p:grpSpPr>
          <a:xfrm>
            <a:off x="2665795" y="2644625"/>
            <a:ext cx="2745609" cy="1767053"/>
            <a:chOff x="0" y="0"/>
            <a:chExt cx="2745609" cy="1767053"/>
          </a:xfrm>
        </p:grpSpPr>
        <p:grpSp>
          <p:nvGrpSpPr>
            <p:cNvPr id="46" name="グループ化 45">
              <a:extLst>
                <a:ext uri="{FF2B5EF4-FFF2-40B4-BE49-F238E27FC236}">
                  <a16:creationId xmlns:a16="http://schemas.microsoft.com/office/drawing/2014/main" id="{E4E29D61-1502-4F4A-9D8E-1D28CAA49F15}"/>
                </a:ext>
              </a:extLst>
            </p:cNvPr>
            <p:cNvGrpSpPr/>
            <p:nvPr/>
          </p:nvGrpSpPr>
          <p:grpSpPr>
            <a:xfrm>
              <a:off x="383662" y="95983"/>
              <a:ext cx="1994642" cy="1498290"/>
              <a:chOff x="383662" y="95983"/>
              <a:chExt cx="1997345" cy="1512274"/>
            </a:xfrm>
          </p:grpSpPr>
          <p:sp>
            <p:nvSpPr>
              <p:cNvPr id="53" name="フリーフォーム: 図形 52">
                <a:extLst>
                  <a:ext uri="{FF2B5EF4-FFF2-40B4-BE49-F238E27FC236}">
                    <a16:creationId xmlns:a16="http://schemas.microsoft.com/office/drawing/2014/main" id="{4F313F1F-07AC-4DB2-9316-A1709B0C7E9A}"/>
                  </a:ext>
                </a:extLst>
              </p:cNvPr>
              <p:cNvSpPr/>
              <p:nvPr/>
            </p:nvSpPr>
            <p:spPr>
              <a:xfrm>
                <a:off x="1379868" y="9619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54" name="フリーフォーム: 図形 53">
                <a:extLst>
                  <a:ext uri="{FF2B5EF4-FFF2-40B4-BE49-F238E27FC236}">
                    <a16:creationId xmlns:a16="http://schemas.microsoft.com/office/drawing/2014/main" id="{9AAB680E-50ED-49B0-B371-552970EF6417}"/>
                  </a:ext>
                </a:extLst>
              </p:cNvPr>
              <p:cNvSpPr/>
              <p:nvPr/>
            </p:nvSpPr>
            <p:spPr>
              <a:xfrm>
                <a:off x="383662" y="9598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47" name="直線コネクタ 46">
              <a:extLst>
                <a:ext uri="{FF2B5EF4-FFF2-40B4-BE49-F238E27FC236}">
                  <a16:creationId xmlns:a16="http://schemas.microsoft.com/office/drawing/2014/main" id="{9AFC0488-A06D-46B6-A72E-97C35882CBE4}"/>
                </a:ext>
              </a:extLst>
            </p:cNvPr>
            <p:cNvCxnSpPr/>
            <p:nvPr/>
          </p:nvCxnSpPr>
          <p:spPr>
            <a:xfrm flipH="1">
              <a:off x="1374495" y="0"/>
              <a:ext cx="0" cy="16143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A4FF9221-AF59-41A4-8C42-559711A27A4E}"/>
                </a:ext>
              </a:extLst>
            </p:cNvPr>
            <p:cNvCxnSpPr/>
            <p:nvPr/>
          </p:nvCxnSpPr>
          <p:spPr>
            <a:xfrm>
              <a:off x="0" y="1671692"/>
              <a:ext cx="2745609"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7459B2E4-FA00-44F8-ABC3-105267B4A6ED}"/>
                </a:ext>
              </a:extLst>
            </p:cNvPr>
            <p:cNvSpPr/>
            <p:nvPr/>
          </p:nvSpPr>
          <p:spPr>
            <a:xfrm>
              <a:off x="1066117" y="1546664"/>
              <a:ext cx="623329" cy="22038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50" name="正方形/長方形 49">
              <a:extLst>
                <a:ext uri="{FF2B5EF4-FFF2-40B4-BE49-F238E27FC236}">
                  <a16:creationId xmlns:a16="http://schemas.microsoft.com/office/drawing/2014/main" id="{44B1AAA0-AA0A-432B-9808-2186E654F615}"/>
                </a:ext>
              </a:extLst>
            </p:cNvPr>
            <p:cNvSpPr/>
            <p:nvPr/>
          </p:nvSpPr>
          <p:spPr>
            <a:xfrm>
              <a:off x="1737602" y="439902"/>
              <a:ext cx="351549"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51" name="正方形/長方形 50">
              <a:extLst>
                <a:ext uri="{FF2B5EF4-FFF2-40B4-BE49-F238E27FC236}">
                  <a16:creationId xmlns:a16="http://schemas.microsoft.com/office/drawing/2014/main" id="{1E1AFEE1-21CA-4210-8A9B-0A2DDD42E0A4}"/>
                </a:ext>
              </a:extLst>
            </p:cNvPr>
            <p:cNvSpPr/>
            <p:nvPr/>
          </p:nvSpPr>
          <p:spPr>
            <a:xfrm>
              <a:off x="2118381" y="436946"/>
              <a:ext cx="354724" cy="21721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52" name="直線矢印コネクタ 51">
              <a:extLst>
                <a:ext uri="{FF2B5EF4-FFF2-40B4-BE49-F238E27FC236}">
                  <a16:creationId xmlns:a16="http://schemas.microsoft.com/office/drawing/2014/main" id="{B2DDABF5-67BC-4377-BAE7-2665BFECE0B3}"/>
                </a:ext>
              </a:extLst>
            </p:cNvPr>
            <p:cNvCxnSpPr>
              <a:stCxn id="50" idx="2"/>
              <a:endCxn id="53" idx="3"/>
            </p:cNvCxnSpPr>
            <p:nvPr/>
          </p:nvCxnSpPr>
          <p:spPr>
            <a:xfrm flipH="1">
              <a:off x="1629796" y="650766"/>
              <a:ext cx="283581" cy="1926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55" name="グループ化 54">
            <a:extLst>
              <a:ext uri="{FF2B5EF4-FFF2-40B4-BE49-F238E27FC236}">
                <a16:creationId xmlns:a16="http://schemas.microsoft.com/office/drawing/2014/main" id="{CAC3635B-1E3A-407C-BFDC-C6A2113236DA}"/>
              </a:ext>
            </a:extLst>
          </p:cNvPr>
          <p:cNvGrpSpPr/>
          <p:nvPr/>
        </p:nvGrpSpPr>
        <p:grpSpPr>
          <a:xfrm>
            <a:off x="7622661" y="2614737"/>
            <a:ext cx="2742434" cy="1796941"/>
            <a:chOff x="0" y="0"/>
            <a:chExt cx="2742434" cy="1796941"/>
          </a:xfrm>
        </p:grpSpPr>
        <p:grpSp>
          <p:nvGrpSpPr>
            <p:cNvPr id="56" name="グループ化 55">
              <a:extLst>
                <a:ext uri="{FF2B5EF4-FFF2-40B4-BE49-F238E27FC236}">
                  <a16:creationId xmlns:a16="http://schemas.microsoft.com/office/drawing/2014/main" id="{F403FCBA-BE11-49A5-945E-4C7D417D9AF2}"/>
                </a:ext>
              </a:extLst>
            </p:cNvPr>
            <p:cNvGrpSpPr/>
            <p:nvPr/>
          </p:nvGrpSpPr>
          <p:grpSpPr>
            <a:xfrm>
              <a:off x="184583" y="134773"/>
              <a:ext cx="2357117" cy="1501891"/>
              <a:chOff x="184590" y="134773"/>
              <a:chExt cx="2351672" cy="1501891"/>
            </a:xfrm>
          </p:grpSpPr>
          <p:grpSp>
            <p:nvGrpSpPr>
              <p:cNvPr id="103" name="グループ化 102">
                <a:extLst>
                  <a:ext uri="{FF2B5EF4-FFF2-40B4-BE49-F238E27FC236}">
                    <a16:creationId xmlns:a16="http://schemas.microsoft.com/office/drawing/2014/main" id="{0292FDF0-FC1E-4807-939A-394044D97084}"/>
                  </a:ext>
                </a:extLst>
              </p:cNvPr>
              <p:cNvGrpSpPr/>
              <p:nvPr/>
            </p:nvGrpSpPr>
            <p:grpSpPr>
              <a:xfrm>
                <a:off x="184590" y="138167"/>
                <a:ext cx="2000122" cy="1495541"/>
                <a:chOff x="184590" y="138167"/>
                <a:chExt cx="1997345" cy="1512274"/>
              </a:xfrm>
            </p:grpSpPr>
            <p:sp>
              <p:nvSpPr>
                <p:cNvPr id="107" name="フリーフォーム: 図形 106">
                  <a:extLst>
                    <a:ext uri="{FF2B5EF4-FFF2-40B4-BE49-F238E27FC236}">
                      <a16:creationId xmlns:a16="http://schemas.microsoft.com/office/drawing/2014/main" id="{1B0A07AB-401B-4446-B01E-3A9047FA3835}"/>
                    </a:ext>
                  </a:extLst>
                </p:cNvPr>
                <p:cNvSpPr/>
                <p:nvPr/>
              </p:nvSpPr>
              <p:spPr>
                <a:xfrm>
                  <a:off x="1180796" y="138378"/>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08" name="フリーフォーム: 図形 107">
                  <a:extLst>
                    <a:ext uri="{FF2B5EF4-FFF2-40B4-BE49-F238E27FC236}">
                      <a16:creationId xmlns:a16="http://schemas.microsoft.com/office/drawing/2014/main" id="{316839D3-0703-4E31-ADD9-D9FCB090F8E1}"/>
                    </a:ext>
                  </a:extLst>
                </p:cNvPr>
                <p:cNvSpPr/>
                <p:nvPr/>
              </p:nvSpPr>
              <p:spPr>
                <a:xfrm>
                  <a:off x="184590" y="138167"/>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104" name="グループ化 103">
                <a:extLst>
                  <a:ext uri="{FF2B5EF4-FFF2-40B4-BE49-F238E27FC236}">
                    <a16:creationId xmlns:a16="http://schemas.microsoft.com/office/drawing/2014/main" id="{5BD312A8-74E7-4535-B9A7-01644AAF9886}"/>
                  </a:ext>
                </a:extLst>
              </p:cNvPr>
              <p:cNvGrpSpPr/>
              <p:nvPr/>
            </p:nvGrpSpPr>
            <p:grpSpPr>
              <a:xfrm>
                <a:off x="542490" y="134773"/>
                <a:ext cx="1993772" cy="1501891"/>
                <a:chOff x="542490" y="134773"/>
                <a:chExt cx="1997345" cy="1512274"/>
              </a:xfrm>
            </p:grpSpPr>
            <p:sp>
              <p:nvSpPr>
                <p:cNvPr id="105" name="フリーフォーム: 図形 104">
                  <a:extLst>
                    <a:ext uri="{FF2B5EF4-FFF2-40B4-BE49-F238E27FC236}">
                      <a16:creationId xmlns:a16="http://schemas.microsoft.com/office/drawing/2014/main" id="{F9116240-B980-46DF-99CC-9D6287E85397}"/>
                    </a:ext>
                  </a:extLst>
                </p:cNvPr>
                <p:cNvSpPr/>
                <p:nvPr/>
              </p:nvSpPr>
              <p:spPr>
                <a:xfrm>
                  <a:off x="1538696" y="13498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06" name="フリーフォーム: 図形 105">
                  <a:extLst>
                    <a:ext uri="{FF2B5EF4-FFF2-40B4-BE49-F238E27FC236}">
                      <a16:creationId xmlns:a16="http://schemas.microsoft.com/office/drawing/2014/main" id="{A03A08A5-E61C-4CC2-889C-632DED6528A3}"/>
                    </a:ext>
                  </a:extLst>
                </p:cNvPr>
                <p:cNvSpPr/>
                <p:nvPr/>
              </p:nvSpPr>
              <p:spPr>
                <a:xfrm>
                  <a:off x="542490" y="13477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cxnSp>
          <p:nvCxnSpPr>
            <p:cNvPr id="57" name="直線コネクタ 56">
              <a:extLst>
                <a:ext uri="{FF2B5EF4-FFF2-40B4-BE49-F238E27FC236}">
                  <a16:creationId xmlns:a16="http://schemas.microsoft.com/office/drawing/2014/main" id="{449FD3C9-B0DE-4526-94B2-5DEDC178F6F5}"/>
                </a:ext>
              </a:extLst>
            </p:cNvPr>
            <p:cNvCxnSpPr/>
            <p:nvPr/>
          </p:nvCxnSpPr>
          <p:spPr>
            <a:xfrm flipH="1">
              <a:off x="1534339" y="9744"/>
              <a:ext cx="0" cy="161453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32405AFE-EABB-4034-9FC3-4CF57CA71406}"/>
                </a:ext>
              </a:extLst>
            </p:cNvPr>
            <p:cNvCxnSpPr/>
            <p:nvPr/>
          </p:nvCxnSpPr>
          <p:spPr>
            <a:xfrm flipH="1">
              <a:off x="1155866" y="0"/>
              <a:ext cx="0" cy="16050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5C6FCF84-63DE-4218-BDCC-48980F401102}"/>
                </a:ext>
              </a:extLst>
            </p:cNvPr>
            <p:cNvCxnSpPr/>
            <p:nvPr/>
          </p:nvCxnSpPr>
          <p:spPr>
            <a:xfrm>
              <a:off x="0" y="1695230"/>
              <a:ext cx="274243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E3AE3C5C-C65D-4A69-9A20-6435606BC9D6}"/>
                </a:ext>
              </a:extLst>
            </p:cNvPr>
            <p:cNvSpPr/>
            <p:nvPr/>
          </p:nvSpPr>
          <p:spPr>
            <a:xfrm>
              <a:off x="1063455" y="1570202"/>
              <a:ext cx="625496" cy="22673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99" name="正方形/長方形 98">
              <a:extLst>
                <a:ext uri="{FF2B5EF4-FFF2-40B4-BE49-F238E27FC236}">
                  <a16:creationId xmlns:a16="http://schemas.microsoft.com/office/drawing/2014/main" id="{54A68A02-C889-49B1-815F-566A8AF73093}"/>
                </a:ext>
              </a:extLst>
            </p:cNvPr>
            <p:cNvSpPr/>
            <p:nvPr/>
          </p:nvSpPr>
          <p:spPr>
            <a:xfrm>
              <a:off x="459573" y="374431"/>
              <a:ext cx="361074"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00" name="正方形/長方形 99">
              <a:extLst>
                <a:ext uri="{FF2B5EF4-FFF2-40B4-BE49-F238E27FC236}">
                  <a16:creationId xmlns:a16="http://schemas.microsoft.com/office/drawing/2014/main" id="{AF21A60B-C437-4A3A-91D2-915222D773FC}"/>
                </a:ext>
              </a:extLst>
            </p:cNvPr>
            <p:cNvSpPr/>
            <p:nvPr/>
          </p:nvSpPr>
          <p:spPr>
            <a:xfrm>
              <a:off x="1934194" y="374650"/>
              <a:ext cx="357899"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01" name="直線矢印コネクタ 100">
              <a:extLst>
                <a:ext uri="{FF2B5EF4-FFF2-40B4-BE49-F238E27FC236}">
                  <a16:creationId xmlns:a16="http://schemas.microsoft.com/office/drawing/2014/main" id="{AF9830FC-685D-4041-A0F5-02683E68058C}"/>
                </a:ext>
              </a:extLst>
            </p:cNvPr>
            <p:cNvCxnSpPr>
              <a:stCxn id="99" idx="2"/>
            </p:cNvCxnSpPr>
            <p:nvPr/>
          </p:nvCxnSpPr>
          <p:spPr>
            <a:xfrm>
              <a:off x="643285" y="585295"/>
              <a:ext cx="296295" cy="17692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2" name="直線矢印コネクタ 101">
              <a:extLst>
                <a:ext uri="{FF2B5EF4-FFF2-40B4-BE49-F238E27FC236}">
                  <a16:creationId xmlns:a16="http://schemas.microsoft.com/office/drawing/2014/main" id="{F7FBC9DE-5C18-41D1-A21D-5CE7E53E0937}"/>
                </a:ext>
              </a:extLst>
            </p:cNvPr>
            <p:cNvCxnSpPr>
              <a:stCxn id="100" idx="2"/>
            </p:cNvCxnSpPr>
            <p:nvPr/>
          </p:nvCxnSpPr>
          <p:spPr>
            <a:xfrm flipH="1">
              <a:off x="1760701" y="585514"/>
              <a:ext cx="355618" cy="1764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09" name="グループ化 108">
            <a:extLst>
              <a:ext uri="{FF2B5EF4-FFF2-40B4-BE49-F238E27FC236}">
                <a16:creationId xmlns:a16="http://schemas.microsoft.com/office/drawing/2014/main" id="{0B520DB2-BFD3-4C49-BF5C-BDC464F2A731}"/>
              </a:ext>
            </a:extLst>
          </p:cNvPr>
          <p:cNvGrpSpPr/>
          <p:nvPr/>
        </p:nvGrpSpPr>
        <p:grpSpPr>
          <a:xfrm>
            <a:off x="2418565" y="4889335"/>
            <a:ext cx="3240067" cy="1356601"/>
            <a:chOff x="-3175" y="0"/>
            <a:chExt cx="3236889" cy="1356601"/>
          </a:xfrm>
        </p:grpSpPr>
        <p:grpSp>
          <p:nvGrpSpPr>
            <p:cNvPr id="110" name="グループ化 109">
              <a:extLst>
                <a:ext uri="{FF2B5EF4-FFF2-40B4-BE49-F238E27FC236}">
                  <a16:creationId xmlns:a16="http://schemas.microsoft.com/office/drawing/2014/main" id="{01C26B82-64DB-4BFD-9615-73F19C9D1A1A}"/>
                </a:ext>
              </a:extLst>
            </p:cNvPr>
            <p:cNvGrpSpPr/>
            <p:nvPr/>
          </p:nvGrpSpPr>
          <p:grpSpPr>
            <a:xfrm>
              <a:off x="-3175" y="118818"/>
              <a:ext cx="3236889" cy="1067962"/>
              <a:chOff x="-3175" y="118818"/>
              <a:chExt cx="3250365" cy="1070132"/>
            </a:xfrm>
          </p:grpSpPr>
          <p:sp>
            <p:nvSpPr>
              <p:cNvPr id="117" name="フリーフォーム: 図形 116">
                <a:extLst>
                  <a:ext uri="{FF2B5EF4-FFF2-40B4-BE49-F238E27FC236}">
                    <a16:creationId xmlns:a16="http://schemas.microsoft.com/office/drawing/2014/main" id="{CCA425DA-C9A0-4930-8D31-7512CB8DEED3}"/>
                  </a:ext>
                </a:extLst>
              </p:cNvPr>
              <p:cNvSpPr/>
              <p:nvPr/>
            </p:nvSpPr>
            <p:spPr>
              <a:xfrm>
                <a:off x="1618874" y="118818"/>
                <a:ext cx="1628316" cy="1070131"/>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18" name="フリーフォーム: 図形 117">
                <a:extLst>
                  <a:ext uri="{FF2B5EF4-FFF2-40B4-BE49-F238E27FC236}">
                    <a16:creationId xmlns:a16="http://schemas.microsoft.com/office/drawing/2014/main" id="{B20B75B7-DC48-4BBF-A240-974A37320309}"/>
                  </a:ext>
                </a:extLst>
              </p:cNvPr>
              <p:cNvSpPr/>
              <p:nvPr/>
            </p:nvSpPr>
            <p:spPr>
              <a:xfrm>
                <a:off x="-3175" y="120156"/>
                <a:ext cx="1617579" cy="106879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111" name="直線コネクタ 110">
              <a:extLst>
                <a:ext uri="{FF2B5EF4-FFF2-40B4-BE49-F238E27FC236}">
                  <a16:creationId xmlns:a16="http://schemas.microsoft.com/office/drawing/2014/main" id="{EF2C01FF-A45F-41A7-8051-56AD2A3CB37B}"/>
                </a:ext>
              </a:extLst>
            </p:cNvPr>
            <p:cNvCxnSpPr/>
            <p:nvPr/>
          </p:nvCxnSpPr>
          <p:spPr>
            <a:xfrm>
              <a:off x="1617744" y="0"/>
              <a:ext cx="0" cy="12003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2" name="直線矢印コネクタ 111">
              <a:extLst>
                <a:ext uri="{FF2B5EF4-FFF2-40B4-BE49-F238E27FC236}">
                  <a16:creationId xmlns:a16="http://schemas.microsoft.com/office/drawing/2014/main" id="{49B32249-C430-4CBD-AEEE-11CB792CF9B0}"/>
                </a:ext>
              </a:extLst>
            </p:cNvPr>
            <p:cNvCxnSpPr/>
            <p:nvPr/>
          </p:nvCxnSpPr>
          <p:spPr>
            <a:xfrm>
              <a:off x="247762" y="1261240"/>
              <a:ext cx="274609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23EA59C7-978F-43DD-8560-15CED24B7BBB}"/>
                </a:ext>
              </a:extLst>
            </p:cNvPr>
            <p:cNvSpPr/>
            <p:nvPr/>
          </p:nvSpPr>
          <p:spPr>
            <a:xfrm>
              <a:off x="1314066" y="1136212"/>
              <a:ext cx="623439" cy="22038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114" name="正方形/長方形 113">
              <a:extLst>
                <a:ext uri="{FF2B5EF4-FFF2-40B4-BE49-F238E27FC236}">
                  <a16:creationId xmlns:a16="http://schemas.microsoft.com/office/drawing/2014/main" id="{5A3EE536-BED3-40FC-9A70-71F9B09D4996}"/>
                </a:ext>
              </a:extLst>
            </p:cNvPr>
            <p:cNvSpPr/>
            <p:nvPr/>
          </p:nvSpPr>
          <p:spPr>
            <a:xfrm>
              <a:off x="2139398" y="288815"/>
              <a:ext cx="357899" cy="22038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15" name="正方形/長方形 114">
              <a:extLst>
                <a:ext uri="{FF2B5EF4-FFF2-40B4-BE49-F238E27FC236}">
                  <a16:creationId xmlns:a16="http://schemas.microsoft.com/office/drawing/2014/main" id="{397A0E3F-C11E-422A-B7FF-011163036056}"/>
                </a:ext>
              </a:extLst>
            </p:cNvPr>
            <p:cNvSpPr/>
            <p:nvPr/>
          </p:nvSpPr>
          <p:spPr>
            <a:xfrm>
              <a:off x="2520177" y="292209"/>
              <a:ext cx="351549" cy="21721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16" name="直線矢印コネクタ 115">
              <a:extLst>
                <a:ext uri="{FF2B5EF4-FFF2-40B4-BE49-F238E27FC236}">
                  <a16:creationId xmlns:a16="http://schemas.microsoft.com/office/drawing/2014/main" id="{7A5BB0B9-E846-41D1-A7D0-65DC12DE48D9}"/>
                </a:ext>
              </a:extLst>
            </p:cNvPr>
            <p:cNvCxnSpPr>
              <a:stCxn id="114" idx="2"/>
            </p:cNvCxnSpPr>
            <p:nvPr/>
          </p:nvCxnSpPr>
          <p:spPr>
            <a:xfrm flipH="1">
              <a:off x="2034767" y="499679"/>
              <a:ext cx="277231" cy="1926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19" name="グループ化 118">
            <a:extLst>
              <a:ext uri="{FF2B5EF4-FFF2-40B4-BE49-F238E27FC236}">
                <a16:creationId xmlns:a16="http://schemas.microsoft.com/office/drawing/2014/main" id="{CB64FC2B-89BF-4FD1-9823-61C27A38B26E}"/>
              </a:ext>
            </a:extLst>
          </p:cNvPr>
          <p:cNvGrpSpPr/>
          <p:nvPr/>
        </p:nvGrpSpPr>
        <p:grpSpPr>
          <a:xfrm>
            <a:off x="7565678" y="4457129"/>
            <a:ext cx="2968940" cy="1846097"/>
            <a:chOff x="0" y="0"/>
            <a:chExt cx="2968940" cy="1846097"/>
          </a:xfrm>
        </p:grpSpPr>
        <p:grpSp>
          <p:nvGrpSpPr>
            <p:cNvPr id="120" name="グループ化 119">
              <a:extLst>
                <a:ext uri="{FF2B5EF4-FFF2-40B4-BE49-F238E27FC236}">
                  <a16:creationId xmlns:a16="http://schemas.microsoft.com/office/drawing/2014/main" id="{08454770-5E65-4001-A4F5-A35021D28A41}"/>
                </a:ext>
              </a:extLst>
            </p:cNvPr>
            <p:cNvGrpSpPr/>
            <p:nvPr/>
          </p:nvGrpSpPr>
          <p:grpSpPr>
            <a:xfrm>
              <a:off x="0" y="120597"/>
              <a:ext cx="2968940" cy="1497215"/>
              <a:chOff x="0" y="120597"/>
              <a:chExt cx="2968934" cy="1508242"/>
            </a:xfrm>
          </p:grpSpPr>
          <p:grpSp>
            <p:nvGrpSpPr>
              <p:cNvPr id="129" name="グループ化 128">
                <a:extLst>
                  <a:ext uri="{FF2B5EF4-FFF2-40B4-BE49-F238E27FC236}">
                    <a16:creationId xmlns:a16="http://schemas.microsoft.com/office/drawing/2014/main" id="{47717429-C7DA-4075-879B-61A121D31E67}"/>
                  </a:ext>
                </a:extLst>
              </p:cNvPr>
              <p:cNvGrpSpPr/>
              <p:nvPr/>
            </p:nvGrpSpPr>
            <p:grpSpPr>
              <a:xfrm>
                <a:off x="968812" y="120597"/>
                <a:ext cx="2000122" cy="1508241"/>
                <a:chOff x="968812" y="120597"/>
                <a:chExt cx="1997345" cy="1512274"/>
              </a:xfrm>
            </p:grpSpPr>
            <p:sp>
              <p:nvSpPr>
                <p:cNvPr id="133" name="フリーフォーム: 図形 132">
                  <a:extLst>
                    <a:ext uri="{FF2B5EF4-FFF2-40B4-BE49-F238E27FC236}">
                      <a16:creationId xmlns:a16="http://schemas.microsoft.com/office/drawing/2014/main" id="{0D009538-305D-4F77-8EFB-E99627E73300}"/>
                    </a:ext>
                  </a:extLst>
                </p:cNvPr>
                <p:cNvSpPr/>
                <p:nvPr/>
              </p:nvSpPr>
              <p:spPr>
                <a:xfrm>
                  <a:off x="1965018" y="120808"/>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34" name="フリーフォーム: 図形 133">
                  <a:extLst>
                    <a:ext uri="{FF2B5EF4-FFF2-40B4-BE49-F238E27FC236}">
                      <a16:creationId xmlns:a16="http://schemas.microsoft.com/office/drawing/2014/main" id="{02EF2C88-C953-4F2B-B460-985C28BD11D6}"/>
                    </a:ext>
                  </a:extLst>
                </p:cNvPr>
                <p:cNvSpPr/>
                <p:nvPr/>
              </p:nvSpPr>
              <p:spPr>
                <a:xfrm>
                  <a:off x="968812" y="120597"/>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130" name="グループ化 129">
                <a:extLst>
                  <a:ext uri="{FF2B5EF4-FFF2-40B4-BE49-F238E27FC236}">
                    <a16:creationId xmlns:a16="http://schemas.microsoft.com/office/drawing/2014/main" id="{7BE3E451-34D2-4EF9-BBDC-CFEAB8FD590D}"/>
                  </a:ext>
                </a:extLst>
              </p:cNvPr>
              <p:cNvGrpSpPr/>
              <p:nvPr/>
            </p:nvGrpSpPr>
            <p:grpSpPr>
              <a:xfrm>
                <a:off x="0" y="130123"/>
                <a:ext cx="2000122" cy="1498716"/>
                <a:chOff x="0" y="130123"/>
                <a:chExt cx="1997345" cy="1512274"/>
              </a:xfrm>
            </p:grpSpPr>
            <p:sp>
              <p:nvSpPr>
                <p:cNvPr id="131" name="フリーフォーム: 図形 130">
                  <a:extLst>
                    <a:ext uri="{FF2B5EF4-FFF2-40B4-BE49-F238E27FC236}">
                      <a16:creationId xmlns:a16="http://schemas.microsoft.com/office/drawing/2014/main" id="{16170CB3-C75B-40F2-9DF7-7CB499E82FBD}"/>
                    </a:ext>
                  </a:extLst>
                </p:cNvPr>
                <p:cNvSpPr/>
                <p:nvPr/>
              </p:nvSpPr>
              <p:spPr>
                <a:xfrm>
                  <a:off x="996206" y="13033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32" name="フリーフォーム: 図形 131">
                  <a:extLst>
                    <a:ext uri="{FF2B5EF4-FFF2-40B4-BE49-F238E27FC236}">
                      <a16:creationId xmlns:a16="http://schemas.microsoft.com/office/drawing/2014/main" id="{CD9EB668-A70A-4502-ABA0-8940957FAB1F}"/>
                    </a:ext>
                  </a:extLst>
                </p:cNvPr>
                <p:cNvSpPr/>
                <p:nvPr/>
              </p:nvSpPr>
              <p:spPr>
                <a:xfrm>
                  <a:off x="0" y="13012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cxnSp>
          <p:nvCxnSpPr>
            <p:cNvPr id="121" name="直線コネクタ 120">
              <a:extLst>
                <a:ext uri="{FF2B5EF4-FFF2-40B4-BE49-F238E27FC236}">
                  <a16:creationId xmlns:a16="http://schemas.microsoft.com/office/drawing/2014/main" id="{18328668-E9C0-4AC7-931E-B964AC16761E}"/>
                </a:ext>
              </a:extLst>
            </p:cNvPr>
            <p:cNvCxnSpPr/>
            <p:nvPr/>
          </p:nvCxnSpPr>
          <p:spPr>
            <a:xfrm flipH="1">
              <a:off x="981953" y="0"/>
              <a:ext cx="0" cy="161243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73CD5E70-B6B6-4C0B-AB42-795DD80E3853}"/>
                </a:ext>
              </a:extLst>
            </p:cNvPr>
            <p:cNvCxnSpPr/>
            <p:nvPr/>
          </p:nvCxnSpPr>
          <p:spPr>
            <a:xfrm flipH="1">
              <a:off x="1950769" y="3157"/>
              <a:ext cx="0" cy="16092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E0B88541-37CF-4A0A-AA8F-E3B35CDE74B8}"/>
                </a:ext>
              </a:extLst>
            </p:cNvPr>
            <p:cNvCxnSpPr/>
            <p:nvPr/>
          </p:nvCxnSpPr>
          <p:spPr>
            <a:xfrm>
              <a:off x="88894" y="1751064"/>
              <a:ext cx="2751723"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4718A6B1-F943-433E-B5AB-3FEF714A0AD4}"/>
                </a:ext>
              </a:extLst>
            </p:cNvPr>
            <p:cNvSpPr/>
            <p:nvPr/>
          </p:nvSpPr>
          <p:spPr>
            <a:xfrm>
              <a:off x="1163735" y="1626466"/>
              <a:ext cx="624719" cy="219631"/>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125" name="正方形/長方形 124">
              <a:extLst>
                <a:ext uri="{FF2B5EF4-FFF2-40B4-BE49-F238E27FC236}">
                  <a16:creationId xmlns:a16="http://schemas.microsoft.com/office/drawing/2014/main" id="{512CFE8D-D175-43FF-94C7-604AE6B5B47C}"/>
                </a:ext>
              </a:extLst>
            </p:cNvPr>
            <p:cNvSpPr/>
            <p:nvPr/>
          </p:nvSpPr>
          <p:spPr>
            <a:xfrm>
              <a:off x="272508" y="387568"/>
              <a:ext cx="364249" cy="20768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26" name="正方形/長方形 125">
              <a:extLst>
                <a:ext uri="{FF2B5EF4-FFF2-40B4-BE49-F238E27FC236}">
                  <a16:creationId xmlns:a16="http://schemas.microsoft.com/office/drawing/2014/main" id="{0002F412-8B79-42FE-BE4F-CA10B1AA85DC}"/>
                </a:ext>
              </a:extLst>
            </p:cNvPr>
            <p:cNvSpPr/>
            <p:nvPr/>
          </p:nvSpPr>
          <p:spPr>
            <a:xfrm>
              <a:off x="2361217" y="387787"/>
              <a:ext cx="364249" cy="21086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27" name="直線矢印コネクタ 126">
              <a:extLst>
                <a:ext uri="{FF2B5EF4-FFF2-40B4-BE49-F238E27FC236}">
                  <a16:creationId xmlns:a16="http://schemas.microsoft.com/office/drawing/2014/main" id="{4239A0D8-9774-4B6B-8164-D1E03EA3DF62}"/>
                </a:ext>
              </a:extLst>
            </p:cNvPr>
            <p:cNvCxnSpPr>
              <a:stCxn id="125" idx="2"/>
            </p:cNvCxnSpPr>
            <p:nvPr/>
          </p:nvCxnSpPr>
          <p:spPr>
            <a:xfrm>
              <a:off x="462570" y="598432"/>
              <a:ext cx="286770" cy="17057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直線矢印コネクタ 127">
              <a:extLst>
                <a:ext uri="{FF2B5EF4-FFF2-40B4-BE49-F238E27FC236}">
                  <a16:creationId xmlns:a16="http://schemas.microsoft.com/office/drawing/2014/main" id="{D16CFDAC-2E1C-4740-9FED-7A90F77FD67D}"/>
                </a:ext>
              </a:extLst>
            </p:cNvPr>
            <p:cNvCxnSpPr>
              <a:stCxn id="126" idx="2"/>
            </p:cNvCxnSpPr>
            <p:nvPr/>
          </p:nvCxnSpPr>
          <p:spPr>
            <a:xfrm flipH="1">
              <a:off x="2187724" y="595476"/>
              <a:ext cx="355618" cy="1764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1055823"/>
      </p:ext>
    </p:extLst>
  </p:cSld>
  <p:clrMapOvr>
    <a:masterClrMapping/>
  </p:clrMapOvr>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不安定と能力不足における処置。</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9.1.1.1</a:t>
            </a:r>
            <a:r>
              <a:rPr lang="ja-JP" altLang="en-US" sz="3000" b="1" dirty="0">
                <a:solidFill>
                  <a:schemeClr val="bg1"/>
                </a:solidFill>
              </a:rPr>
              <a:t>　製造工程の監視及び測定</a:t>
            </a:r>
          </a:p>
        </p:txBody>
      </p:sp>
      <p:graphicFrame>
        <p:nvGraphicFramePr>
          <p:cNvPr id="3" name="表 2">
            <a:extLst>
              <a:ext uri="{FF2B5EF4-FFF2-40B4-BE49-F238E27FC236}">
                <a16:creationId xmlns:a16="http://schemas.microsoft.com/office/drawing/2014/main" id="{475FC078-B47C-49C2-B422-F4CDA9B81313}"/>
              </a:ext>
            </a:extLst>
          </p:cNvPr>
          <p:cNvGraphicFramePr>
            <a:graphicFrameLocks noGrp="1"/>
          </p:cNvGraphicFramePr>
          <p:nvPr>
            <p:extLst>
              <p:ext uri="{D42A27DB-BD31-4B8C-83A1-F6EECF244321}">
                <p14:modId xmlns:p14="http://schemas.microsoft.com/office/powerpoint/2010/main" val="884999666"/>
              </p:ext>
            </p:extLst>
          </p:nvPr>
        </p:nvGraphicFramePr>
        <p:xfrm>
          <a:off x="838200" y="1937330"/>
          <a:ext cx="10515600" cy="4412554"/>
        </p:xfrm>
        <a:graphic>
          <a:graphicData uri="http://schemas.openxmlformats.org/drawingml/2006/table">
            <a:tbl>
              <a:tblPr firstRow="1" bandRow="1">
                <a:tableStyleId>{5940675A-B579-460E-94D1-54222C63F5DA}</a:tableStyleId>
              </a:tblPr>
              <a:tblGrid>
                <a:gridCol w="737212">
                  <a:extLst>
                    <a:ext uri="{9D8B030D-6E8A-4147-A177-3AD203B41FA5}">
                      <a16:colId xmlns:a16="http://schemas.microsoft.com/office/drawing/2014/main" val="1913558725"/>
                    </a:ext>
                  </a:extLst>
                </a:gridCol>
                <a:gridCol w="4858439">
                  <a:extLst>
                    <a:ext uri="{9D8B030D-6E8A-4147-A177-3AD203B41FA5}">
                      <a16:colId xmlns:a16="http://schemas.microsoft.com/office/drawing/2014/main" val="1809510168"/>
                    </a:ext>
                  </a:extLst>
                </a:gridCol>
                <a:gridCol w="4919949">
                  <a:extLst>
                    <a:ext uri="{9D8B030D-6E8A-4147-A177-3AD203B41FA5}">
                      <a16:colId xmlns:a16="http://schemas.microsoft.com/office/drawing/2014/main" val="3142935545"/>
                    </a:ext>
                  </a:extLst>
                </a:gridCol>
              </a:tblGrid>
              <a:tr h="670010">
                <a:tc>
                  <a:txBody>
                    <a:bodyPr/>
                    <a:lstStyle/>
                    <a:p>
                      <a:endParaRPr kumimoji="1" lang="ja-JP" altLang="en-US" sz="2400" dirty="0"/>
                    </a:p>
                  </a:txBody>
                  <a:tcPr>
                    <a:solidFill>
                      <a:schemeClr val="tx2">
                        <a:lumMod val="20000"/>
                        <a:lumOff val="80000"/>
                      </a:schemeClr>
                    </a:solidFill>
                  </a:tcPr>
                </a:tc>
                <a:tc>
                  <a:txBody>
                    <a:bodyPr/>
                    <a:lstStyle/>
                    <a:p>
                      <a:r>
                        <a:rPr kumimoji="1" lang="ja-JP" altLang="en-US" sz="2400" dirty="0"/>
                        <a:t>安定</a:t>
                      </a:r>
                    </a:p>
                  </a:txBody>
                  <a:tcPr anchor="ctr" anchorCtr="1">
                    <a:solidFill>
                      <a:schemeClr val="tx2">
                        <a:lumMod val="20000"/>
                        <a:lumOff val="80000"/>
                      </a:schemeClr>
                    </a:solidFill>
                  </a:tcPr>
                </a:tc>
                <a:tc>
                  <a:txBody>
                    <a:bodyPr/>
                    <a:lstStyle/>
                    <a:p>
                      <a:r>
                        <a:rPr kumimoji="1" lang="ja-JP" altLang="en-US" sz="2400" dirty="0"/>
                        <a:t>不安定</a:t>
                      </a:r>
                    </a:p>
                  </a:txBody>
                  <a:tcPr anchor="ctr" anchorCtr="1">
                    <a:solidFill>
                      <a:schemeClr val="tx2">
                        <a:lumMod val="20000"/>
                        <a:lumOff val="80000"/>
                      </a:schemeClr>
                    </a:solidFill>
                  </a:tcPr>
                </a:tc>
                <a:extLst>
                  <a:ext uri="{0D108BD9-81ED-4DB2-BD59-A6C34878D82A}">
                    <a16:rowId xmlns:a16="http://schemas.microsoft.com/office/drawing/2014/main" val="2750931259"/>
                  </a:ext>
                </a:extLst>
              </a:tr>
              <a:tr h="1871611">
                <a:tc>
                  <a:txBody>
                    <a:bodyPr/>
                    <a:lstStyle/>
                    <a:p>
                      <a:r>
                        <a:rPr kumimoji="1" lang="ja-JP" altLang="en-US" sz="2400" dirty="0"/>
                        <a:t>能力あり</a:t>
                      </a:r>
                    </a:p>
                  </a:txBody>
                  <a:tcPr vert="eaVert" anchor="ctr" anchorCtr="1">
                    <a:solidFill>
                      <a:schemeClr val="tx2">
                        <a:lumMod val="20000"/>
                        <a:lumOff val="80000"/>
                      </a:schemeClr>
                    </a:solidFill>
                  </a:tcPr>
                </a:tc>
                <a:tc>
                  <a:txBody>
                    <a:bodyPr/>
                    <a:lstStyle/>
                    <a:p>
                      <a:r>
                        <a:rPr kumimoji="1" lang="ja-JP" altLang="en-US" sz="2400" dirty="0"/>
                        <a:t>理想の状態であり、</a:t>
                      </a:r>
                      <a:r>
                        <a:rPr kumimoji="1" lang="ja-JP" altLang="en-US" sz="2400" dirty="0">
                          <a:solidFill>
                            <a:srgbClr val="FF0000"/>
                          </a:solidFill>
                          <a:effectLst>
                            <a:outerShdw blurRad="38100" dist="38100" dir="2700000" algn="tl">
                              <a:srgbClr val="000000">
                                <a:alpha val="43137"/>
                              </a:srgbClr>
                            </a:outerShdw>
                          </a:effectLst>
                        </a:rPr>
                        <a:t>処置は不要</a:t>
                      </a:r>
                      <a:r>
                        <a:rPr kumimoji="1" lang="ja-JP" altLang="en-US" sz="2400" dirty="0"/>
                        <a:t>。</a:t>
                      </a:r>
                    </a:p>
                  </a:txBody>
                  <a:tcPr anchor="ctr" anchorCtr="1"/>
                </a:tc>
                <a:tc>
                  <a:txBody>
                    <a:bodyPr/>
                    <a:lstStyle/>
                    <a:p>
                      <a:r>
                        <a:rPr kumimoji="1" lang="ja-JP" altLang="en-US" sz="2400" dirty="0">
                          <a:solidFill>
                            <a:srgbClr val="FF0000"/>
                          </a:solidFill>
                          <a:effectLst>
                            <a:outerShdw blurRad="38100" dist="38100" dir="2700000" algn="tl">
                              <a:srgbClr val="000000">
                                <a:alpha val="43137"/>
                              </a:srgbClr>
                            </a:outerShdw>
                          </a:effectLst>
                        </a:rPr>
                        <a:t>特別原因</a:t>
                      </a:r>
                      <a:r>
                        <a:rPr kumimoji="1" lang="ja-JP" altLang="en-US" sz="2400" dirty="0"/>
                        <a:t>を特定し、対策することが必要。ただし、条件付きで顧客が生産の継続を認めることもある。</a:t>
                      </a:r>
                    </a:p>
                  </a:txBody>
                  <a:tcPr anchor="ctr" anchorCtr="1"/>
                </a:tc>
                <a:extLst>
                  <a:ext uri="{0D108BD9-81ED-4DB2-BD59-A6C34878D82A}">
                    <a16:rowId xmlns:a16="http://schemas.microsoft.com/office/drawing/2014/main" val="105028712"/>
                  </a:ext>
                </a:extLst>
              </a:tr>
              <a:tr h="1870933">
                <a:tc>
                  <a:txBody>
                    <a:bodyPr/>
                    <a:lstStyle/>
                    <a:p>
                      <a:r>
                        <a:rPr kumimoji="1" lang="ja-JP" altLang="en-US" sz="2400" dirty="0"/>
                        <a:t>能力なし</a:t>
                      </a:r>
                    </a:p>
                  </a:txBody>
                  <a:tcPr vert="eaVert" anchor="ctr" anchorCtr="1">
                    <a:solidFill>
                      <a:schemeClr val="tx2">
                        <a:lumMod val="20000"/>
                        <a:lumOff val="80000"/>
                      </a:schemeClr>
                    </a:solidFill>
                  </a:tcPr>
                </a:tc>
                <a:tc>
                  <a:txBody>
                    <a:bodyPr/>
                    <a:lstStyle/>
                    <a:p>
                      <a:r>
                        <a:rPr kumimoji="1" lang="ja-JP" altLang="en-US" sz="2400" dirty="0">
                          <a:solidFill>
                            <a:srgbClr val="FF0000"/>
                          </a:solidFill>
                          <a:effectLst>
                            <a:outerShdw blurRad="38100" dist="38100" dir="2700000" algn="tl">
                              <a:srgbClr val="000000">
                                <a:alpha val="43137"/>
                              </a:srgbClr>
                            </a:outerShdw>
                          </a:effectLst>
                        </a:rPr>
                        <a:t>共通原因</a:t>
                      </a:r>
                      <a:r>
                        <a:rPr kumimoji="1" lang="ja-JP" altLang="en-US" sz="2400" dirty="0"/>
                        <a:t>の削減が必要。</a:t>
                      </a:r>
                    </a:p>
                  </a:txBody>
                  <a:tcPr anchor="ctr" anchorCtr="1"/>
                </a:tc>
                <a:tc>
                  <a:txBody>
                    <a:bodyPr/>
                    <a:lstStyle/>
                    <a:p>
                      <a:r>
                        <a:rPr kumimoji="1" lang="ja-JP" altLang="en-US" sz="2400" dirty="0">
                          <a:solidFill>
                            <a:srgbClr val="FF0000"/>
                          </a:solidFill>
                          <a:effectLst>
                            <a:outerShdw blurRad="38100" dist="38100" dir="2700000" algn="tl">
                              <a:srgbClr val="000000">
                                <a:alpha val="43137"/>
                              </a:srgbClr>
                            </a:outerShdw>
                          </a:effectLst>
                        </a:rPr>
                        <a:t>共通原因、特別原因</a:t>
                      </a:r>
                      <a:r>
                        <a:rPr kumimoji="1" lang="ja-JP" altLang="en-US" sz="2400" dirty="0"/>
                        <a:t>ともに削減が必要。</a:t>
                      </a:r>
                    </a:p>
                  </a:txBody>
                  <a:tcPr anchor="ctr" anchorCtr="1"/>
                </a:tc>
                <a:extLst>
                  <a:ext uri="{0D108BD9-81ED-4DB2-BD59-A6C34878D82A}">
                    <a16:rowId xmlns:a16="http://schemas.microsoft.com/office/drawing/2014/main" val="1623119089"/>
                  </a:ext>
                </a:extLst>
              </a:tr>
            </a:tbl>
          </a:graphicData>
        </a:graphic>
      </p:graphicFrame>
    </p:spTree>
    <p:extLst>
      <p:ext uri="{BB962C8B-B14F-4D97-AF65-F5344CB8AC3E}">
        <p14:creationId xmlns:p14="http://schemas.microsoft.com/office/powerpoint/2010/main" val="79830960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6"/>
            </a:pPr>
            <a:r>
              <a:rPr lang="ja-JP" altLang="en-US" sz="2400" dirty="0"/>
              <a:t>不安定・能力不足の場合の対応計画（暫定処置）の例。</a:t>
            </a:r>
            <a:endParaRPr lang="en-US" altLang="ja-JP" sz="2400" dirty="0"/>
          </a:p>
          <a:p>
            <a:pPr lvl="1">
              <a:lnSpc>
                <a:spcPct val="100000"/>
              </a:lnSpc>
              <a:buFont typeface="Wingdings" panose="05000000000000000000" pitchFamily="2" charset="2"/>
              <a:buChar char="Ø"/>
            </a:pPr>
            <a:r>
              <a:rPr lang="ja-JP" altLang="en-US" sz="2200" dirty="0"/>
              <a:t>製品の封じ込め　／　生産（ライン）停止</a:t>
            </a:r>
            <a:endParaRPr lang="en-US" altLang="ja-JP" sz="2200" dirty="0"/>
          </a:p>
          <a:p>
            <a:pPr lvl="1">
              <a:lnSpc>
                <a:spcPct val="100000"/>
              </a:lnSpc>
              <a:buFont typeface="Wingdings" panose="05000000000000000000" pitchFamily="2" charset="2"/>
              <a:buChar char="Ø"/>
            </a:pPr>
            <a:r>
              <a:rPr lang="ja-JP" altLang="en-US" sz="2200" dirty="0"/>
              <a:t>生産数量又は生産速度の減少</a:t>
            </a:r>
            <a:endParaRPr lang="en-US" altLang="ja-JP" sz="2200" dirty="0"/>
          </a:p>
          <a:p>
            <a:pPr lvl="1">
              <a:lnSpc>
                <a:spcPct val="100000"/>
              </a:lnSpc>
              <a:buFont typeface="Wingdings" panose="05000000000000000000" pitchFamily="2" charset="2"/>
              <a:buChar char="Ø"/>
            </a:pPr>
            <a:r>
              <a:rPr lang="ja-JP" altLang="en-US" sz="2200" dirty="0"/>
              <a:t>出荷停止　／　全数検査</a:t>
            </a:r>
            <a:endParaRPr lang="en-US" altLang="ja-JP" sz="2200" dirty="0"/>
          </a:p>
          <a:p>
            <a:pPr lvl="1">
              <a:lnSpc>
                <a:spcPct val="100000"/>
              </a:lnSpc>
              <a:buFont typeface="Wingdings" panose="05000000000000000000" pitchFamily="2" charset="2"/>
              <a:buChar char="Ø"/>
            </a:pPr>
            <a:r>
              <a:rPr lang="ja-JP" altLang="en-US" sz="2200" dirty="0"/>
              <a:t>次工程にリリースした　“疑わしい製品”　の特定。（</a:t>
            </a:r>
            <a:r>
              <a:rPr lang="en-US" altLang="ja-JP" sz="2200" dirty="0"/>
              <a:t>8.7.1.3</a:t>
            </a:r>
            <a:r>
              <a:rPr lang="ja-JP" altLang="en-US" sz="2200" dirty="0"/>
              <a:t>）</a:t>
            </a:r>
            <a:endParaRPr lang="en-US" altLang="ja-JP" sz="2200" dirty="0"/>
          </a:p>
          <a:p>
            <a:pPr lvl="1">
              <a:lnSpc>
                <a:spcPct val="100000"/>
              </a:lnSpc>
              <a:buFont typeface="Wingdings" panose="05000000000000000000" pitchFamily="2" charset="2"/>
              <a:buChar char="Ø"/>
            </a:pPr>
            <a:r>
              <a:rPr lang="ja-JP" altLang="en-US" sz="2200" dirty="0"/>
              <a:t>出荷された製品について、顧客への通知。（</a:t>
            </a:r>
            <a:r>
              <a:rPr lang="en-US" altLang="ja-JP" sz="2200" dirty="0"/>
              <a:t>8.7.1.6</a:t>
            </a:r>
            <a:r>
              <a:rPr lang="ja-JP" altLang="en-US" sz="2200" dirty="0"/>
              <a:t>）</a:t>
            </a:r>
            <a:endParaRPr lang="en-US" altLang="ja-JP" sz="2200" dirty="0"/>
          </a:p>
          <a:p>
            <a:pPr marL="514350" indent="-514350">
              <a:lnSpc>
                <a:spcPct val="100000"/>
              </a:lnSpc>
              <a:buFont typeface="+mj-lt"/>
              <a:buAutoNum type="arabicPeriod" startAt="7"/>
            </a:pPr>
            <a:r>
              <a:rPr lang="en-US" altLang="ja-JP" sz="2400" dirty="0"/>
              <a:t>PPAP</a:t>
            </a:r>
            <a:r>
              <a:rPr lang="ja-JP" altLang="en-US" sz="2400" dirty="0"/>
              <a:t>要求の初期工程能力（</a:t>
            </a:r>
            <a:r>
              <a:rPr lang="en-US" altLang="ja-JP" sz="2400" dirty="0" err="1"/>
              <a:t>Cpk</a:t>
            </a:r>
            <a:r>
              <a:rPr lang="ja-JP" altLang="en-US" sz="2400" dirty="0"/>
              <a:t>）及び初期工程性能（</a:t>
            </a:r>
            <a:r>
              <a:rPr lang="en-US" altLang="ja-JP" sz="2400" dirty="0" err="1"/>
              <a:t>Ppk</a:t>
            </a:r>
            <a:r>
              <a:rPr lang="ja-JP" altLang="en-US" sz="2400" dirty="0"/>
              <a:t>）</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9.1.1.1</a:t>
            </a:r>
            <a:r>
              <a:rPr lang="ja-JP" altLang="en-US" sz="3000" b="1" dirty="0">
                <a:solidFill>
                  <a:schemeClr val="bg1"/>
                </a:solidFill>
              </a:rPr>
              <a:t>　製造工程の監視及び測定</a:t>
            </a:r>
          </a:p>
        </p:txBody>
      </p:sp>
      <p:graphicFrame>
        <p:nvGraphicFramePr>
          <p:cNvPr id="2" name="表 1">
            <a:extLst>
              <a:ext uri="{FF2B5EF4-FFF2-40B4-BE49-F238E27FC236}">
                <a16:creationId xmlns:a16="http://schemas.microsoft.com/office/drawing/2014/main" id="{C4D32053-1D4E-4D72-B564-13D96A391BE3}"/>
              </a:ext>
            </a:extLst>
          </p:cNvPr>
          <p:cNvGraphicFramePr>
            <a:graphicFrameLocks noGrp="1"/>
          </p:cNvGraphicFramePr>
          <p:nvPr>
            <p:extLst>
              <p:ext uri="{D42A27DB-BD31-4B8C-83A1-F6EECF244321}">
                <p14:modId xmlns:p14="http://schemas.microsoft.com/office/powerpoint/2010/main" val="1281606097"/>
              </p:ext>
            </p:extLst>
          </p:nvPr>
        </p:nvGraphicFramePr>
        <p:xfrm>
          <a:off x="838199" y="4520486"/>
          <a:ext cx="10515601" cy="1835864"/>
        </p:xfrm>
        <a:graphic>
          <a:graphicData uri="http://schemas.openxmlformats.org/drawingml/2006/table">
            <a:tbl>
              <a:tblPr firstRow="1" bandRow="1">
                <a:tableStyleId>{5940675A-B579-460E-94D1-54222C63F5DA}</a:tableStyleId>
              </a:tblPr>
              <a:tblGrid>
                <a:gridCol w="3282109">
                  <a:extLst>
                    <a:ext uri="{9D8B030D-6E8A-4147-A177-3AD203B41FA5}">
                      <a16:colId xmlns:a16="http://schemas.microsoft.com/office/drawing/2014/main" val="1139426613"/>
                    </a:ext>
                  </a:extLst>
                </a:gridCol>
                <a:gridCol w="4560984">
                  <a:extLst>
                    <a:ext uri="{9D8B030D-6E8A-4147-A177-3AD203B41FA5}">
                      <a16:colId xmlns:a16="http://schemas.microsoft.com/office/drawing/2014/main" val="3944357696"/>
                    </a:ext>
                  </a:extLst>
                </a:gridCol>
                <a:gridCol w="2672508">
                  <a:extLst>
                    <a:ext uri="{9D8B030D-6E8A-4147-A177-3AD203B41FA5}">
                      <a16:colId xmlns:a16="http://schemas.microsoft.com/office/drawing/2014/main" val="1980887708"/>
                    </a:ext>
                  </a:extLst>
                </a:gridCol>
              </a:tblGrid>
              <a:tr h="458966">
                <a:tc>
                  <a:txBody>
                    <a:bodyPr/>
                    <a:lstStyle/>
                    <a:p>
                      <a:pPr algn="ctr"/>
                      <a:r>
                        <a:rPr kumimoji="1" lang="ja-JP" altLang="en-US" sz="2000" dirty="0"/>
                        <a:t>結果</a:t>
                      </a:r>
                    </a:p>
                  </a:txBody>
                  <a:tcPr anchor="ctr">
                    <a:solidFill>
                      <a:schemeClr val="tx2">
                        <a:lumMod val="40000"/>
                        <a:lumOff val="60000"/>
                      </a:schemeClr>
                    </a:solidFill>
                  </a:tcPr>
                </a:tc>
                <a:tc gridSpan="2">
                  <a:txBody>
                    <a:bodyPr/>
                    <a:lstStyle/>
                    <a:p>
                      <a:pPr algn="l"/>
                      <a:r>
                        <a:rPr kumimoji="1" lang="ja-JP" altLang="en-US" sz="2000" dirty="0"/>
                        <a:t>解釈</a:t>
                      </a:r>
                    </a:p>
                  </a:txBody>
                  <a:tcPr anchor="ctr">
                    <a:solidFill>
                      <a:schemeClr val="tx2">
                        <a:lumMod val="40000"/>
                        <a:lumOff val="60000"/>
                      </a:schemeClr>
                    </a:solidFill>
                  </a:tcPr>
                </a:tc>
                <a:tc hMerge="1">
                  <a:txBody>
                    <a:bodyPr/>
                    <a:lstStyle/>
                    <a:p>
                      <a:pPr algn="ctr"/>
                      <a:endParaRPr kumimoji="1" lang="ja-JP" altLang="en-US" sz="2000" dirty="0"/>
                    </a:p>
                  </a:txBody>
                  <a:tcPr anchor="ctr">
                    <a:solidFill>
                      <a:schemeClr val="tx2">
                        <a:lumMod val="40000"/>
                        <a:lumOff val="60000"/>
                      </a:schemeClr>
                    </a:solidFill>
                  </a:tcPr>
                </a:tc>
                <a:extLst>
                  <a:ext uri="{0D108BD9-81ED-4DB2-BD59-A6C34878D82A}">
                    <a16:rowId xmlns:a16="http://schemas.microsoft.com/office/drawing/2014/main" val="1499428632"/>
                  </a:ext>
                </a:extLst>
              </a:tr>
              <a:tr h="458966">
                <a:tc>
                  <a:txBody>
                    <a:bodyPr/>
                    <a:lstStyle/>
                    <a:p>
                      <a:r>
                        <a:rPr kumimoji="1" lang="en-US" altLang="ja-JP" sz="2000" dirty="0" err="1"/>
                        <a:t>Cpk</a:t>
                      </a:r>
                      <a:r>
                        <a:rPr kumimoji="1" lang="ja-JP" altLang="en-US" sz="2000" dirty="0"/>
                        <a:t>（</a:t>
                      </a:r>
                      <a:r>
                        <a:rPr kumimoji="1" lang="en-US" altLang="ja-JP" sz="2000" dirty="0" err="1"/>
                        <a:t>Ppk</a:t>
                      </a:r>
                      <a:r>
                        <a:rPr kumimoji="1" lang="ja-JP" altLang="en-US" sz="2000" dirty="0"/>
                        <a:t>）＞</a:t>
                      </a:r>
                      <a:r>
                        <a:rPr kumimoji="1" lang="en-US" altLang="ja-JP" sz="2000" dirty="0"/>
                        <a:t>1.67</a:t>
                      </a:r>
                      <a:endParaRPr kumimoji="1" lang="ja-JP" altLang="en-US" sz="2000" dirty="0"/>
                    </a:p>
                  </a:txBody>
                  <a:tcPr anchor="ctr"/>
                </a:tc>
                <a:tc gridSpan="2">
                  <a:txBody>
                    <a:bodyPr/>
                    <a:lstStyle/>
                    <a:p>
                      <a:r>
                        <a:rPr kumimoji="1" lang="ja-JP" altLang="en-US" sz="2000" dirty="0"/>
                        <a:t>合否判定基準を満たしている。</a:t>
                      </a:r>
                    </a:p>
                  </a:txBody>
                  <a:tcPr anchor="ctr"/>
                </a:tc>
                <a:tc hMerge="1">
                  <a:txBody>
                    <a:bodyPr/>
                    <a:lstStyle/>
                    <a:p>
                      <a:endParaRPr kumimoji="1" lang="ja-JP" altLang="en-US" sz="1800" dirty="0"/>
                    </a:p>
                  </a:txBody>
                  <a:tcPr anchor="ctr"/>
                </a:tc>
                <a:extLst>
                  <a:ext uri="{0D108BD9-81ED-4DB2-BD59-A6C34878D82A}">
                    <a16:rowId xmlns:a16="http://schemas.microsoft.com/office/drawing/2014/main" val="2926162471"/>
                  </a:ext>
                </a:extLst>
              </a:tr>
              <a:tr h="458966">
                <a:tc>
                  <a:txBody>
                    <a:bodyPr/>
                    <a:lstStyle/>
                    <a:p>
                      <a:r>
                        <a:rPr kumimoji="1" lang="en-US" altLang="ja-JP" sz="2000" dirty="0"/>
                        <a:t>1.33</a:t>
                      </a:r>
                      <a:r>
                        <a:rPr kumimoji="1" lang="ja-JP" altLang="en-US" sz="2000" dirty="0"/>
                        <a:t>≦</a:t>
                      </a:r>
                      <a:r>
                        <a:rPr kumimoji="1" lang="en-US" altLang="ja-JP" sz="2000" dirty="0" err="1"/>
                        <a:t>Cpk</a:t>
                      </a:r>
                      <a:r>
                        <a:rPr kumimoji="1" lang="ja-JP" altLang="en-US" sz="2000" dirty="0"/>
                        <a:t>（</a:t>
                      </a:r>
                      <a:r>
                        <a:rPr kumimoji="1" lang="en-US" altLang="ja-JP" sz="2000" dirty="0" err="1"/>
                        <a:t>Ppk</a:t>
                      </a:r>
                      <a:r>
                        <a:rPr kumimoji="1" lang="ja-JP" altLang="en-US" sz="2000" dirty="0"/>
                        <a:t>）≦</a:t>
                      </a:r>
                      <a:r>
                        <a:rPr kumimoji="1" lang="en-US" altLang="ja-JP" sz="2000" dirty="0"/>
                        <a:t>1.67</a:t>
                      </a:r>
                      <a:endParaRPr kumimoji="1" lang="ja-JP" altLang="en-US" sz="2000" dirty="0"/>
                    </a:p>
                  </a:txBody>
                  <a:tcPr anchor="ctr"/>
                </a:tc>
                <a:tc>
                  <a:txBody>
                    <a:bodyPr/>
                    <a:lstStyle/>
                    <a:p>
                      <a:r>
                        <a:rPr kumimoji="1" lang="ja-JP" altLang="en-US" sz="2000" dirty="0"/>
                        <a:t>受入れ可能と判断される場合がある。</a:t>
                      </a:r>
                    </a:p>
                  </a:txBody>
                  <a:tcPr anchor="ctr"/>
                </a:tc>
                <a:tc rowSpan="2">
                  <a:txBody>
                    <a:bodyPr/>
                    <a:lstStyle/>
                    <a:p>
                      <a:r>
                        <a:rPr kumimoji="1" lang="ja-JP" altLang="en-US" sz="2000" dirty="0"/>
                        <a:t>調査結果の確認のため顧客へ連絡する。</a:t>
                      </a:r>
                    </a:p>
                  </a:txBody>
                  <a:tcPr anchor="ctr"/>
                </a:tc>
                <a:extLst>
                  <a:ext uri="{0D108BD9-81ED-4DB2-BD59-A6C34878D82A}">
                    <a16:rowId xmlns:a16="http://schemas.microsoft.com/office/drawing/2014/main" val="2508900556"/>
                  </a:ext>
                </a:extLst>
              </a:tr>
              <a:tr h="458966">
                <a:tc>
                  <a:txBody>
                    <a:bodyPr/>
                    <a:lstStyle/>
                    <a:p>
                      <a:r>
                        <a:rPr kumimoji="1" lang="en-US" altLang="ja-JP" sz="2000" dirty="0" err="1"/>
                        <a:t>Cpk</a:t>
                      </a:r>
                      <a:r>
                        <a:rPr kumimoji="1" lang="ja-JP" altLang="en-US" sz="2000" dirty="0"/>
                        <a:t>（</a:t>
                      </a:r>
                      <a:r>
                        <a:rPr kumimoji="1" lang="en-US" altLang="ja-JP" sz="2000" dirty="0" err="1"/>
                        <a:t>Ppk</a:t>
                      </a:r>
                      <a:r>
                        <a:rPr kumimoji="1" lang="ja-JP" altLang="en-US" sz="2000" dirty="0"/>
                        <a:t>）＜</a:t>
                      </a:r>
                      <a:r>
                        <a:rPr kumimoji="1" lang="en-US" altLang="ja-JP" sz="2000" dirty="0"/>
                        <a:t>1.33</a:t>
                      </a:r>
                      <a:endParaRPr kumimoji="1" lang="ja-JP" altLang="en-US" sz="2000" dirty="0"/>
                    </a:p>
                  </a:txBody>
                  <a:tcPr anchor="ctr"/>
                </a:tc>
                <a:tc>
                  <a:txBody>
                    <a:bodyPr/>
                    <a:lstStyle/>
                    <a:p>
                      <a:r>
                        <a:rPr kumimoji="1" lang="ja-JP" altLang="en-US" sz="2000" dirty="0"/>
                        <a:t>合否判定基準を満たしていない。</a:t>
                      </a:r>
                    </a:p>
                  </a:txBody>
                  <a:tcPr anchor="ctr"/>
                </a:tc>
                <a:tc vMerge="1">
                  <a:txBody>
                    <a:bodyPr/>
                    <a:lstStyle/>
                    <a:p>
                      <a:endParaRPr kumimoji="1" lang="ja-JP" altLang="en-US" sz="1800" dirty="0"/>
                    </a:p>
                  </a:txBody>
                  <a:tcPr anchor="ctr"/>
                </a:tc>
                <a:extLst>
                  <a:ext uri="{0D108BD9-81ED-4DB2-BD59-A6C34878D82A}">
                    <a16:rowId xmlns:a16="http://schemas.microsoft.com/office/drawing/2014/main" val="4155472475"/>
                  </a:ext>
                </a:extLst>
              </a:tr>
            </a:tbl>
          </a:graphicData>
        </a:graphic>
      </p:graphicFrame>
      <p:sp>
        <p:nvSpPr>
          <p:cNvPr id="3" name="四角形: 角を丸くする 2">
            <a:extLst>
              <a:ext uri="{FF2B5EF4-FFF2-40B4-BE49-F238E27FC236}">
                <a16:creationId xmlns:a16="http://schemas.microsoft.com/office/drawing/2014/main" id="{9F0EBC48-6709-445F-8E45-EB203ABDB17B}"/>
              </a:ext>
            </a:extLst>
          </p:cNvPr>
          <p:cNvSpPr/>
          <p:nvPr/>
        </p:nvSpPr>
        <p:spPr>
          <a:xfrm>
            <a:off x="7612655" y="4241495"/>
            <a:ext cx="3741145" cy="1288972"/>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但し、</a:t>
            </a:r>
            <a:r>
              <a:rPr kumimoji="1" lang="en-US" altLang="ja-JP" dirty="0">
                <a:solidFill>
                  <a:schemeClr val="tx1"/>
                </a:solidFill>
              </a:rPr>
              <a:t>PPAP</a:t>
            </a:r>
            <a:r>
              <a:rPr kumimoji="1" lang="ja-JP" altLang="en-US" dirty="0">
                <a:solidFill>
                  <a:schemeClr val="tx1"/>
                </a:solidFill>
              </a:rPr>
              <a:t>承認結果を維持することが原則。（</a:t>
            </a:r>
            <a:r>
              <a:rPr lang="ja-JP" altLang="en-US" dirty="0">
                <a:solidFill>
                  <a:schemeClr val="tx1"/>
                </a:solidFill>
              </a:rPr>
              <a:t>例えば、</a:t>
            </a:r>
            <a:r>
              <a:rPr lang="en-US" altLang="ja-JP" dirty="0">
                <a:solidFill>
                  <a:schemeClr val="tx1"/>
                </a:solidFill>
              </a:rPr>
              <a:t>Ppk2.0</a:t>
            </a:r>
            <a:r>
              <a:rPr lang="ja-JP" altLang="en-US" dirty="0">
                <a:solidFill>
                  <a:schemeClr val="tx1"/>
                </a:solidFill>
              </a:rPr>
              <a:t>であれば、量産時も</a:t>
            </a:r>
            <a:r>
              <a:rPr lang="en-US" altLang="ja-JP" dirty="0">
                <a:solidFill>
                  <a:schemeClr val="tx1"/>
                </a:solidFill>
              </a:rPr>
              <a:t>2.0</a:t>
            </a:r>
            <a:r>
              <a:rPr lang="ja-JP" altLang="en-US" dirty="0">
                <a:solidFill>
                  <a:schemeClr val="tx1"/>
                </a:solidFill>
              </a:rPr>
              <a:t>を維持。</a:t>
            </a:r>
            <a:r>
              <a:rPr lang="en-US" altLang="ja-JP" dirty="0">
                <a:solidFill>
                  <a:schemeClr val="tx1"/>
                </a:solidFill>
              </a:rPr>
              <a:t>1.67</a:t>
            </a:r>
            <a:r>
              <a:rPr lang="ja-JP" altLang="en-US" dirty="0">
                <a:solidFill>
                  <a:schemeClr val="tx1"/>
                </a:solidFill>
              </a:rPr>
              <a:t>ではない。）</a:t>
            </a:r>
            <a:endParaRPr kumimoji="1" lang="ja-JP" altLang="en-US" dirty="0">
              <a:solidFill>
                <a:schemeClr val="tx1"/>
              </a:solidFill>
            </a:endParaRPr>
          </a:p>
        </p:txBody>
      </p:sp>
    </p:spTree>
    <p:extLst>
      <p:ext uri="{BB962C8B-B14F-4D97-AF65-F5344CB8AC3E}">
        <p14:creationId xmlns:p14="http://schemas.microsoft.com/office/powerpoint/2010/main" val="3179500396"/>
      </p:ext>
    </p:extLst>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292322"/>
          </a:xfrm>
          <a:ln w="12700">
            <a:solidFill>
              <a:schemeClr val="tx2"/>
            </a:solidFill>
          </a:ln>
        </p:spPr>
        <p:txBody>
          <a:bodyPr>
            <a:normAutofit fontScale="92500"/>
          </a:bodyPr>
          <a:lstStyle/>
          <a:p>
            <a:pPr marL="0" indent="0">
              <a:lnSpc>
                <a:spcPct val="100000"/>
              </a:lnSpc>
              <a:buNone/>
            </a:pPr>
            <a:r>
              <a:rPr lang="ja-JP" altLang="en-US" sz="2000" dirty="0"/>
              <a:t>☑組織は、統計的ツールの適切な使い方を決定しなければならない。組織は、適切な統計的ツールが先行製品品質計画（又はそれに相当する）プロセスの一部として含まれていること、かつ、設計リスク分析（</a:t>
            </a:r>
            <a:r>
              <a:rPr lang="en-US" altLang="ja-JP" sz="2000" dirty="0"/>
              <a:t>DFMEA</a:t>
            </a:r>
            <a:r>
              <a:rPr lang="ja-JP" altLang="en-US" sz="2000" dirty="0"/>
              <a:t>のような）（該当する場合には、必ず）、工程リスク分析（</a:t>
            </a:r>
            <a:r>
              <a:rPr lang="en-US" altLang="ja-JP" sz="2000" dirty="0"/>
              <a:t>PFMEA</a:t>
            </a:r>
            <a:r>
              <a:rPr lang="ja-JP" altLang="en-US" sz="2000" dirty="0"/>
              <a:t>のような）及びコントロールプランに含まれていることを検証しなければならない。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9.1.1.2</a:t>
            </a:r>
            <a:r>
              <a:rPr lang="ja-JP" altLang="en-US" sz="3000" b="1" dirty="0">
                <a:solidFill>
                  <a:schemeClr val="tx2"/>
                </a:solidFill>
              </a:rPr>
              <a:t>　統計的ツールの特定</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909375"/>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9.1.1.2</a:t>
            </a:r>
            <a:r>
              <a:rPr lang="ja-JP" altLang="en-US" sz="3000" b="1" dirty="0">
                <a:solidFill>
                  <a:schemeClr val="bg1"/>
                </a:solidFill>
              </a:rPr>
              <a:t>　統計的ツールの特定</a:t>
            </a:r>
          </a:p>
        </p:txBody>
      </p:sp>
      <p:sp>
        <p:nvSpPr>
          <p:cNvPr id="7" name="コンテンツ プレースホルダー 2">
            <a:extLst>
              <a:ext uri="{FF2B5EF4-FFF2-40B4-BE49-F238E27FC236}">
                <a16:creationId xmlns:a16="http://schemas.microsoft.com/office/drawing/2014/main" id="{87609B51-799C-4501-B329-3921D5C3773E}"/>
              </a:ext>
            </a:extLst>
          </p:cNvPr>
          <p:cNvSpPr txBox="1">
            <a:spLocks/>
          </p:cNvSpPr>
          <p:nvPr/>
        </p:nvSpPr>
        <p:spPr>
          <a:xfrm>
            <a:off x="838200" y="3855904"/>
            <a:ext cx="10515600" cy="250044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計画した各プロセスにおける統計的ツールの適用を明確にする。</a:t>
            </a:r>
          </a:p>
        </p:txBody>
      </p:sp>
      <p:graphicFrame>
        <p:nvGraphicFramePr>
          <p:cNvPr id="2" name="表 1">
            <a:extLst>
              <a:ext uri="{FF2B5EF4-FFF2-40B4-BE49-F238E27FC236}">
                <a16:creationId xmlns:a16="http://schemas.microsoft.com/office/drawing/2014/main" id="{9619DD7A-766B-4720-BA26-9A0E4927D5E3}"/>
              </a:ext>
            </a:extLst>
          </p:cNvPr>
          <p:cNvGraphicFramePr>
            <a:graphicFrameLocks noGrp="1"/>
          </p:cNvGraphicFramePr>
          <p:nvPr>
            <p:extLst>
              <p:ext uri="{D42A27DB-BD31-4B8C-83A1-F6EECF244321}">
                <p14:modId xmlns:p14="http://schemas.microsoft.com/office/powerpoint/2010/main" val="2585762080"/>
              </p:ext>
            </p:extLst>
          </p:nvPr>
        </p:nvGraphicFramePr>
        <p:xfrm>
          <a:off x="838200" y="4330102"/>
          <a:ext cx="10515600" cy="2026248"/>
        </p:xfrm>
        <a:graphic>
          <a:graphicData uri="http://schemas.openxmlformats.org/drawingml/2006/table">
            <a:tbl>
              <a:tblPr firstRow="1" bandRow="1">
                <a:tableStyleId>{5940675A-B579-460E-94D1-54222C63F5DA}</a:tableStyleId>
              </a:tblPr>
              <a:tblGrid>
                <a:gridCol w="3293126">
                  <a:extLst>
                    <a:ext uri="{9D8B030D-6E8A-4147-A177-3AD203B41FA5}">
                      <a16:colId xmlns:a16="http://schemas.microsoft.com/office/drawing/2014/main" val="3710821745"/>
                    </a:ext>
                  </a:extLst>
                </a:gridCol>
                <a:gridCol w="7222474">
                  <a:extLst>
                    <a:ext uri="{9D8B030D-6E8A-4147-A177-3AD203B41FA5}">
                      <a16:colId xmlns:a16="http://schemas.microsoft.com/office/drawing/2014/main" val="263879458"/>
                    </a:ext>
                  </a:extLst>
                </a:gridCol>
              </a:tblGrid>
              <a:tr h="407624">
                <a:tc>
                  <a:txBody>
                    <a:bodyPr/>
                    <a:lstStyle/>
                    <a:p>
                      <a:r>
                        <a:rPr kumimoji="1" lang="ja-JP" altLang="en-US" sz="2000" dirty="0"/>
                        <a:t>営業プロセス</a:t>
                      </a:r>
                    </a:p>
                  </a:txBody>
                  <a:tcPr>
                    <a:solidFill>
                      <a:schemeClr val="tx2">
                        <a:lumMod val="20000"/>
                        <a:lumOff val="80000"/>
                      </a:schemeClr>
                    </a:solidFill>
                  </a:tcPr>
                </a:tc>
                <a:tc>
                  <a:txBody>
                    <a:bodyPr/>
                    <a:lstStyle/>
                    <a:p>
                      <a:r>
                        <a:rPr kumimoji="1" lang="ja-JP" altLang="en-US" sz="2000" dirty="0"/>
                        <a:t>パレート図など</a:t>
                      </a:r>
                    </a:p>
                  </a:txBody>
                  <a:tcPr>
                    <a:solidFill>
                      <a:schemeClr val="tx2">
                        <a:lumMod val="20000"/>
                        <a:lumOff val="80000"/>
                      </a:schemeClr>
                    </a:solidFill>
                  </a:tcPr>
                </a:tc>
                <a:extLst>
                  <a:ext uri="{0D108BD9-81ED-4DB2-BD59-A6C34878D82A}">
                    <a16:rowId xmlns:a16="http://schemas.microsoft.com/office/drawing/2014/main" val="2402415920"/>
                  </a:ext>
                </a:extLst>
              </a:tr>
              <a:tr h="404656">
                <a:tc>
                  <a:txBody>
                    <a:bodyPr/>
                    <a:lstStyle/>
                    <a:p>
                      <a:r>
                        <a:rPr kumimoji="1" lang="ja-JP" altLang="en-US" sz="2000" dirty="0"/>
                        <a:t>工程設計プロセス</a:t>
                      </a:r>
                    </a:p>
                  </a:txBody>
                  <a:tcPr>
                    <a:solidFill>
                      <a:schemeClr val="tx2">
                        <a:lumMod val="20000"/>
                        <a:lumOff val="80000"/>
                      </a:schemeClr>
                    </a:solidFill>
                  </a:tcPr>
                </a:tc>
                <a:tc>
                  <a:txBody>
                    <a:bodyPr/>
                    <a:lstStyle/>
                    <a:p>
                      <a:r>
                        <a:rPr kumimoji="1" lang="ja-JP" altLang="en-US" sz="2000" dirty="0"/>
                        <a:t>ＦＭＥＡなど</a:t>
                      </a:r>
                    </a:p>
                  </a:txBody>
                  <a:tcPr>
                    <a:solidFill>
                      <a:schemeClr val="tx2">
                        <a:lumMod val="20000"/>
                        <a:lumOff val="80000"/>
                      </a:schemeClr>
                    </a:solidFill>
                  </a:tcPr>
                </a:tc>
                <a:extLst>
                  <a:ext uri="{0D108BD9-81ED-4DB2-BD59-A6C34878D82A}">
                    <a16:rowId xmlns:a16="http://schemas.microsoft.com/office/drawing/2014/main" val="3542134431"/>
                  </a:ext>
                </a:extLst>
              </a:tr>
              <a:tr h="404656">
                <a:tc>
                  <a:txBody>
                    <a:bodyPr/>
                    <a:lstStyle/>
                    <a:p>
                      <a:r>
                        <a:rPr kumimoji="1" lang="ja-JP" altLang="en-US" sz="2000" dirty="0"/>
                        <a:t>製造プロセス</a:t>
                      </a:r>
                    </a:p>
                  </a:txBody>
                  <a:tcPr>
                    <a:solidFill>
                      <a:schemeClr val="tx2">
                        <a:lumMod val="20000"/>
                        <a:lumOff val="80000"/>
                      </a:schemeClr>
                    </a:solidFill>
                  </a:tcPr>
                </a:tc>
                <a:tc>
                  <a:txBody>
                    <a:bodyPr/>
                    <a:lstStyle/>
                    <a:p>
                      <a:r>
                        <a:rPr kumimoji="1" lang="ja-JP" altLang="en-US" sz="2000" dirty="0"/>
                        <a:t>管理図、工程能力指数など</a:t>
                      </a:r>
                    </a:p>
                  </a:txBody>
                  <a:tcPr>
                    <a:solidFill>
                      <a:schemeClr val="tx2">
                        <a:lumMod val="20000"/>
                        <a:lumOff val="80000"/>
                      </a:schemeClr>
                    </a:solidFill>
                  </a:tcPr>
                </a:tc>
                <a:extLst>
                  <a:ext uri="{0D108BD9-81ED-4DB2-BD59-A6C34878D82A}">
                    <a16:rowId xmlns:a16="http://schemas.microsoft.com/office/drawing/2014/main" val="4211271939"/>
                  </a:ext>
                </a:extLst>
              </a:tr>
              <a:tr h="404656">
                <a:tc>
                  <a:txBody>
                    <a:bodyPr/>
                    <a:lstStyle/>
                    <a:p>
                      <a:r>
                        <a:rPr kumimoji="1" lang="ja-JP" altLang="en-US" sz="2000" dirty="0"/>
                        <a:t>購買プロセス</a:t>
                      </a:r>
                    </a:p>
                  </a:txBody>
                  <a:tcPr>
                    <a:solidFill>
                      <a:schemeClr val="tx2">
                        <a:lumMod val="20000"/>
                        <a:lumOff val="80000"/>
                      </a:schemeClr>
                    </a:solidFill>
                  </a:tcPr>
                </a:tc>
                <a:tc>
                  <a:txBody>
                    <a:bodyPr/>
                    <a:lstStyle/>
                    <a:p>
                      <a:r>
                        <a:rPr kumimoji="1" lang="ja-JP" altLang="en-US" sz="2000" dirty="0"/>
                        <a:t>ヒストグラム、パレート図、抜取り検査方式など</a:t>
                      </a:r>
                    </a:p>
                  </a:txBody>
                  <a:tcPr>
                    <a:solidFill>
                      <a:schemeClr val="tx2">
                        <a:lumMod val="20000"/>
                        <a:lumOff val="80000"/>
                      </a:schemeClr>
                    </a:solidFill>
                  </a:tcPr>
                </a:tc>
                <a:extLst>
                  <a:ext uri="{0D108BD9-81ED-4DB2-BD59-A6C34878D82A}">
                    <a16:rowId xmlns:a16="http://schemas.microsoft.com/office/drawing/2014/main" val="3967207240"/>
                  </a:ext>
                </a:extLst>
              </a:tr>
              <a:tr h="404656">
                <a:tc>
                  <a:txBody>
                    <a:bodyPr/>
                    <a:lstStyle/>
                    <a:p>
                      <a:r>
                        <a:rPr kumimoji="1" lang="ja-JP" altLang="en-US" sz="2000" dirty="0"/>
                        <a:t>改善プロセス</a:t>
                      </a:r>
                    </a:p>
                  </a:txBody>
                  <a:tcPr>
                    <a:solidFill>
                      <a:schemeClr val="tx2">
                        <a:lumMod val="20000"/>
                        <a:lumOff val="80000"/>
                      </a:schemeClr>
                    </a:solidFill>
                  </a:tcPr>
                </a:tc>
                <a:tc>
                  <a:txBody>
                    <a:bodyPr/>
                    <a:lstStyle/>
                    <a:p>
                      <a:r>
                        <a:rPr kumimoji="1" lang="ja-JP" altLang="en-US" sz="2000" dirty="0"/>
                        <a:t>８Ｄレポート、特性要因図など</a:t>
                      </a:r>
                    </a:p>
                  </a:txBody>
                  <a:tcPr>
                    <a:solidFill>
                      <a:schemeClr val="tx2">
                        <a:lumMod val="20000"/>
                        <a:lumOff val="80000"/>
                      </a:schemeClr>
                    </a:solidFill>
                  </a:tcPr>
                </a:tc>
                <a:extLst>
                  <a:ext uri="{0D108BD9-81ED-4DB2-BD59-A6C34878D82A}">
                    <a16:rowId xmlns:a16="http://schemas.microsoft.com/office/drawing/2014/main" val="3088150626"/>
                  </a:ext>
                </a:extLst>
              </a:tr>
            </a:tbl>
          </a:graphicData>
        </a:graphic>
      </p:graphicFrame>
    </p:spTree>
    <p:extLst>
      <p:ext uri="{BB962C8B-B14F-4D97-AF65-F5344CB8AC3E}">
        <p14:creationId xmlns:p14="http://schemas.microsoft.com/office/powerpoint/2010/main" val="109308715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167788"/>
          </a:xfrm>
          <a:ln w="12700">
            <a:solidFill>
              <a:schemeClr val="tx2"/>
            </a:solidFill>
          </a:ln>
        </p:spPr>
        <p:txBody>
          <a:bodyPr>
            <a:normAutofit/>
          </a:bodyPr>
          <a:lstStyle/>
          <a:p>
            <a:pPr marL="0" indent="0">
              <a:lnSpc>
                <a:spcPct val="100000"/>
              </a:lnSpc>
              <a:buNone/>
            </a:pPr>
            <a:r>
              <a:rPr lang="ja-JP" altLang="en-US" sz="2000" dirty="0"/>
              <a:t>☑ばらつき、管理（安定性）、工程能力及び過剰調整によって起きてしまう結果のような統計概念は、</a:t>
            </a:r>
            <a:r>
              <a:rPr lang="ja-JP" altLang="en-US" sz="2000" u="sng" dirty="0"/>
              <a:t>統計データの収集、分析及び管理に携わる従業員に理解され、使用されなければならない。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9.1.1.3</a:t>
            </a:r>
            <a:r>
              <a:rPr lang="ja-JP" altLang="en-US" sz="3000" b="1" dirty="0">
                <a:solidFill>
                  <a:schemeClr val="tx2"/>
                </a:solidFill>
              </a:rPr>
              <a:t>　統計概念の適用</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812976"/>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9.1.1.3</a:t>
            </a:r>
            <a:r>
              <a:rPr lang="ja-JP" altLang="en-US" sz="3000" b="1" dirty="0">
                <a:solidFill>
                  <a:schemeClr val="bg1"/>
                </a:solidFill>
              </a:rPr>
              <a:t>　統計概念の適用</a:t>
            </a:r>
          </a:p>
        </p:txBody>
      </p:sp>
      <p:sp>
        <p:nvSpPr>
          <p:cNvPr id="7" name="コンテンツ プレースホルダー 2">
            <a:extLst>
              <a:ext uri="{FF2B5EF4-FFF2-40B4-BE49-F238E27FC236}">
                <a16:creationId xmlns:a16="http://schemas.microsoft.com/office/drawing/2014/main" id="{C46A80C7-729B-4B14-B672-97D791E91511}"/>
              </a:ext>
            </a:extLst>
          </p:cNvPr>
          <p:cNvSpPr txBox="1">
            <a:spLocks/>
          </p:cNvSpPr>
          <p:nvPr/>
        </p:nvSpPr>
        <p:spPr>
          <a:xfrm>
            <a:off x="838200" y="3855904"/>
            <a:ext cx="10515600" cy="2500446"/>
          </a:xfrm>
          <a:prstGeom prst="rect">
            <a:avLst/>
          </a:prstGeom>
          <a:ln w="12700">
            <a:solidFill>
              <a:schemeClr val="tx2"/>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統計的ツールに携わる要員が持つべき力量の要求。　➠　レファレンスマニュアル</a:t>
            </a:r>
            <a:r>
              <a:rPr lang="en-US" altLang="ja-JP" sz="2400" dirty="0"/>
              <a:t>SPC</a:t>
            </a:r>
            <a:r>
              <a:rPr lang="ja-JP" altLang="en-US" sz="2400" dirty="0"/>
              <a:t>の必要部分。</a:t>
            </a:r>
            <a:endParaRPr lang="en-US" altLang="ja-JP" sz="2400" dirty="0"/>
          </a:p>
          <a:p>
            <a:pPr lvl="1">
              <a:lnSpc>
                <a:spcPct val="100000"/>
              </a:lnSpc>
              <a:buFont typeface="Wingdings" panose="05000000000000000000" pitchFamily="2" charset="2"/>
              <a:buChar char="Ø"/>
            </a:pPr>
            <a:r>
              <a:rPr lang="ja-JP" altLang="en-US" sz="2200" dirty="0"/>
              <a:t>ばらつきの原理と分布（位置、広がり、形状）</a:t>
            </a:r>
            <a:endParaRPr lang="en-US" altLang="ja-JP" sz="2200" dirty="0"/>
          </a:p>
          <a:p>
            <a:pPr lvl="1">
              <a:lnSpc>
                <a:spcPct val="100000"/>
              </a:lnSpc>
              <a:buFont typeface="Wingdings" panose="05000000000000000000" pitchFamily="2" charset="2"/>
              <a:buChar char="Ø"/>
            </a:pPr>
            <a:r>
              <a:rPr lang="ja-JP" altLang="en-US" sz="2200" dirty="0"/>
              <a:t>安定性と工程能力</a:t>
            </a:r>
            <a:endParaRPr lang="en-US" altLang="ja-JP" sz="2200" dirty="0"/>
          </a:p>
          <a:p>
            <a:pPr lvl="1">
              <a:lnSpc>
                <a:spcPct val="100000"/>
              </a:lnSpc>
              <a:buFont typeface="Wingdings" panose="05000000000000000000" pitchFamily="2" charset="2"/>
              <a:buChar char="Ø"/>
            </a:pPr>
            <a:r>
              <a:rPr lang="ja-JP" altLang="en-US" sz="2200" dirty="0"/>
              <a:t>安定／不安定　</a:t>
            </a:r>
            <a:r>
              <a:rPr lang="en-US" altLang="ja-JP" sz="2200" dirty="0"/>
              <a:t>×</a:t>
            </a:r>
            <a:r>
              <a:rPr lang="ja-JP" altLang="en-US" sz="2200" dirty="0"/>
              <a:t>　工程能力あり／なし　の組合せに関する考え方</a:t>
            </a:r>
            <a:endParaRPr lang="en-US" altLang="ja-JP" sz="2200" dirty="0"/>
          </a:p>
          <a:p>
            <a:pPr lvl="1">
              <a:lnSpc>
                <a:spcPct val="100000"/>
              </a:lnSpc>
              <a:buFont typeface="Wingdings" panose="05000000000000000000" pitchFamily="2" charset="2"/>
              <a:buChar char="Ø"/>
            </a:pPr>
            <a:r>
              <a:rPr lang="ja-JP" altLang="en-US" sz="2200" dirty="0"/>
              <a:t>共通原因、特別原因、過剰調整</a:t>
            </a:r>
            <a:r>
              <a:rPr lang="ja-JP" altLang="en-US" sz="1900" dirty="0"/>
              <a:t>（共通原因に対して特別原因対策を行うこと。）</a:t>
            </a:r>
            <a:r>
              <a:rPr lang="ja-JP" altLang="en-US" sz="2200" dirty="0"/>
              <a:t>の意味</a:t>
            </a:r>
          </a:p>
        </p:txBody>
      </p:sp>
    </p:spTree>
    <p:extLst>
      <p:ext uri="{BB962C8B-B14F-4D97-AF65-F5344CB8AC3E}">
        <p14:creationId xmlns:p14="http://schemas.microsoft.com/office/powerpoint/2010/main" val="262779653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00000"/>
              </a:lnSpc>
              <a:buNone/>
            </a:pPr>
            <a:r>
              <a:rPr lang="ja-JP" altLang="en-US" sz="2000" dirty="0"/>
              <a:t>☑製品及びプロセスの仕様書及び他の顧客要求事項への適合を確実にするために、内部及び外部の評価指標の継続的評価を通じて、組織に対する顧客満足を監視しなければならない。</a:t>
            </a:r>
            <a:endParaRPr lang="en-US" altLang="ja-JP" sz="2000" dirty="0"/>
          </a:p>
          <a:p>
            <a:pPr marL="0" indent="0">
              <a:lnSpc>
                <a:spcPct val="100000"/>
              </a:lnSpc>
              <a:buNone/>
            </a:pPr>
            <a:r>
              <a:rPr lang="ja-JP" altLang="en-US" sz="2000" dirty="0"/>
              <a:t>☑パフォーマンス指標は、客観的証拠に基づき、次の事項を含めなければならない。しかし、それに限定されない。</a:t>
            </a:r>
            <a:endParaRPr lang="en-US" altLang="ja-JP" sz="2000" dirty="0"/>
          </a:p>
          <a:p>
            <a:pPr marL="800100" lvl="1" indent="-342900">
              <a:lnSpc>
                <a:spcPct val="100000"/>
              </a:lnSpc>
              <a:buFont typeface="+mj-lt"/>
              <a:buAutoNum type="alphaLcPeriod"/>
            </a:pPr>
            <a:r>
              <a:rPr lang="ja-JP" altLang="en-US" sz="2000" dirty="0"/>
              <a:t>納入した部品の</a:t>
            </a:r>
            <a:r>
              <a:rPr lang="ja-JP" altLang="en-US" sz="2000" u="sng" dirty="0"/>
              <a:t>品質パフォーマンス</a:t>
            </a:r>
            <a:endParaRPr lang="en-US" altLang="ja-JP" sz="2000" u="sng" dirty="0"/>
          </a:p>
          <a:p>
            <a:pPr marL="800100" lvl="1" indent="-342900">
              <a:lnSpc>
                <a:spcPct val="100000"/>
              </a:lnSpc>
              <a:buFont typeface="+mj-lt"/>
              <a:buAutoNum type="alphaLcPeriod"/>
            </a:pPr>
            <a:r>
              <a:rPr lang="ja-JP" altLang="en-US" sz="2000" dirty="0"/>
              <a:t>顧客が被った</a:t>
            </a:r>
            <a:r>
              <a:rPr lang="ja-JP" altLang="en-US" sz="2000" u="sng" dirty="0"/>
              <a:t>迷惑</a:t>
            </a:r>
            <a:endParaRPr lang="en-US" altLang="ja-JP" sz="2000" u="sng" dirty="0"/>
          </a:p>
          <a:p>
            <a:pPr marL="800100" lvl="1" indent="-342900">
              <a:lnSpc>
                <a:spcPct val="100000"/>
              </a:lnSpc>
              <a:buFont typeface="+mj-lt"/>
              <a:buAutoNum type="alphaLcPeriod"/>
            </a:pPr>
            <a:r>
              <a:rPr lang="ja-JP" altLang="en-US" sz="2000" dirty="0"/>
              <a:t>市場で起きた</a:t>
            </a:r>
            <a:r>
              <a:rPr lang="ja-JP" altLang="en-US" sz="2000" u="sng" dirty="0"/>
              <a:t>回収、リコール、補償（該当する場合には、必ず）</a:t>
            </a:r>
            <a:endParaRPr lang="en-US" altLang="ja-JP" sz="2000" u="sng" dirty="0"/>
          </a:p>
          <a:p>
            <a:pPr marL="800100" lvl="1" indent="-342900">
              <a:lnSpc>
                <a:spcPct val="100000"/>
              </a:lnSpc>
              <a:buFont typeface="+mj-lt"/>
              <a:buAutoNum type="alphaLcPeriod"/>
            </a:pPr>
            <a:r>
              <a:rPr lang="ja-JP" altLang="en-US" sz="2000" u="sng" dirty="0"/>
              <a:t>納期パフォーマンス（特別輸送費が発生する不具合を含む。）</a:t>
            </a:r>
            <a:endParaRPr lang="en-US" altLang="ja-JP" sz="2000" u="sng" dirty="0"/>
          </a:p>
          <a:p>
            <a:pPr marL="800100" lvl="1" indent="-342900">
              <a:lnSpc>
                <a:spcPct val="100000"/>
              </a:lnSpc>
              <a:buFont typeface="+mj-lt"/>
              <a:buAutoNum type="alphaLcPeriod"/>
            </a:pPr>
            <a:r>
              <a:rPr lang="ja-JP" altLang="en-US" sz="2000" dirty="0"/>
              <a:t>品質又は納期問題に関する、特別状態を含む、</a:t>
            </a:r>
            <a:r>
              <a:rPr lang="ja-JP" altLang="en-US" sz="2000" u="sng" dirty="0"/>
              <a:t>顧客からの通知</a:t>
            </a:r>
            <a:endParaRPr lang="en-US" altLang="ja-JP" sz="2000" u="sng" dirty="0"/>
          </a:p>
          <a:p>
            <a:pPr marL="0" indent="0">
              <a:lnSpc>
                <a:spcPct val="100000"/>
              </a:lnSpc>
              <a:buNone/>
            </a:pPr>
            <a:r>
              <a:rPr lang="ja-JP" altLang="en-US" sz="2000" dirty="0"/>
              <a:t>☑組織は、製品品質及びプロセス効率に対する顧客要求事項への適合を実証するために、</a:t>
            </a:r>
            <a:r>
              <a:rPr lang="ja-JP" altLang="en-US" sz="2000" u="sng" dirty="0"/>
              <a:t>製造工程のパフォーマンス</a:t>
            </a:r>
            <a:r>
              <a:rPr lang="ja-JP" altLang="en-US" sz="2000" dirty="0"/>
              <a:t>を監視しなければならない。</a:t>
            </a:r>
            <a:endParaRPr lang="en-US" altLang="ja-JP" sz="2000" dirty="0"/>
          </a:p>
          <a:p>
            <a:pPr marL="0" indent="0">
              <a:lnSpc>
                <a:spcPct val="100000"/>
              </a:lnSpc>
              <a:buNone/>
            </a:pPr>
            <a:r>
              <a:rPr lang="ja-JP" altLang="en-US" sz="2000" dirty="0"/>
              <a:t>☑監視には、提供される場合、オンライン顧客ポータル及び</a:t>
            </a:r>
            <a:r>
              <a:rPr lang="ja-JP" altLang="en-US" sz="2000" u="sng" dirty="0"/>
              <a:t>顧客のスコアカードを含む、顧客パフォーマンスデータのレビュー</a:t>
            </a:r>
            <a:r>
              <a:rPr lang="ja-JP" altLang="en-US" sz="2000" dirty="0"/>
              <a:t>を含めなければならない。</a:t>
            </a:r>
          </a:p>
          <a:p>
            <a:pPr marL="800100" lvl="1" indent="-342900">
              <a:lnSpc>
                <a:spcPct val="100000"/>
              </a:lnSpc>
              <a:buFont typeface="+mj-lt"/>
              <a:buAutoNum type="alphaLcPeriod"/>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9.1.2.1</a:t>
            </a:r>
            <a:r>
              <a:rPr kumimoji="1" lang="ja-JP" altLang="en-US" sz="3000" b="1" dirty="0">
                <a:solidFill>
                  <a:schemeClr val="tx2"/>
                </a:solidFill>
              </a:rPr>
              <a:t>　顧客満足－補足</a:t>
            </a:r>
          </a:p>
        </p:txBody>
      </p:sp>
    </p:spTree>
    <p:extLst>
      <p:ext uri="{BB962C8B-B14F-4D97-AF65-F5344CB8AC3E}">
        <p14:creationId xmlns:p14="http://schemas.microsoft.com/office/powerpoint/2010/main" val="1268678085"/>
      </p:ext>
    </p:extLst>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9001</a:t>
            </a:r>
            <a:r>
              <a:rPr lang="ja-JP" altLang="en-US" sz="2400" dirty="0"/>
              <a:t>（</a:t>
            </a:r>
            <a:r>
              <a:rPr lang="en-US" altLang="ja-JP" sz="2400" dirty="0"/>
              <a:t>9.1.2</a:t>
            </a:r>
            <a:r>
              <a:rPr lang="ja-JP" altLang="en-US" sz="2400" dirty="0"/>
              <a:t>）に対し、具体的な監視事項（内部と外部の評価指標）を要求している。</a:t>
            </a:r>
            <a:endParaRPr lang="en-US" altLang="ja-JP" sz="2400" dirty="0"/>
          </a:p>
          <a:p>
            <a:pPr marL="457200" indent="-457200">
              <a:lnSpc>
                <a:spcPct val="100000"/>
              </a:lnSpc>
              <a:buFont typeface="+mj-lt"/>
              <a:buAutoNum type="arabicPeriod"/>
            </a:pPr>
            <a:r>
              <a:rPr lang="ja-JP" altLang="en-US" sz="2400" dirty="0"/>
              <a:t>５つのパフォーマンス指標。（</a:t>
            </a:r>
            <a:r>
              <a:rPr lang="en-US" altLang="ja-JP" sz="2400" dirty="0"/>
              <a:t>8.4.2.4</a:t>
            </a:r>
            <a:r>
              <a:rPr lang="ja-JP" altLang="en-US" sz="2400" dirty="0"/>
              <a:t>供給者の監視と対比）</a:t>
            </a:r>
            <a:endParaRPr lang="en-US" altLang="ja-JP" sz="2400" dirty="0"/>
          </a:p>
          <a:p>
            <a:pPr marL="914400" lvl="1" indent="-457200">
              <a:lnSpc>
                <a:spcPct val="100000"/>
              </a:lnSpc>
              <a:buFont typeface="+mj-lt"/>
              <a:buAutoNum type="alphaLcPeriod"/>
            </a:pPr>
            <a:r>
              <a:rPr lang="ja-JP" altLang="en-US" sz="2200" dirty="0"/>
              <a:t>通常、顧客の工場で検出された不適合の実績。</a:t>
            </a:r>
            <a:endParaRPr lang="en-US" altLang="ja-JP" sz="2200" dirty="0"/>
          </a:p>
          <a:p>
            <a:pPr marL="914400" lvl="1" indent="-457200">
              <a:lnSpc>
                <a:spcPct val="100000"/>
              </a:lnSpc>
              <a:buFont typeface="+mj-lt"/>
              <a:buAutoNum type="alphaLcPeriod"/>
            </a:pPr>
            <a:r>
              <a:rPr lang="ja-JP" altLang="en-US" sz="2200" dirty="0"/>
              <a:t>顧客工場の操業中断、構内保留などに至った品質納期の問題。</a:t>
            </a:r>
            <a:endParaRPr lang="en-US" altLang="ja-JP" sz="2200" dirty="0"/>
          </a:p>
          <a:p>
            <a:pPr marL="914400" lvl="1" indent="-457200">
              <a:lnSpc>
                <a:spcPct val="100000"/>
              </a:lnSpc>
              <a:buFont typeface="+mj-lt"/>
              <a:buAutoNum type="alphaLcPeriod"/>
            </a:pPr>
            <a:r>
              <a:rPr lang="ja-JP" altLang="en-US" sz="2200" dirty="0"/>
              <a:t>市場で生じた実害。</a:t>
            </a:r>
            <a:endParaRPr lang="en-US" altLang="ja-JP" sz="2200" dirty="0"/>
          </a:p>
          <a:p>
            <a:pPr marL="914400" lvl="1" indent="-457200">
              <a:lnSpc>
                <a:spcPct val="100000"/>
              </a:lnSpc>
              <a:buFont typeface="+mj-lt"/>
              <a:buAutoNum type="alphaLcPeriod"/>
            </a:pPr>
            <a:r>
              <a:rPr lang="ja-JP" altLang="en-US" sz="2200" dirty="0"/>
              <a:t>単純な「納期遅延」のみならず、</a:t>
            </a:r>
            <a:endParaRPr lang="en-US" altLang="ja-JP" sz="2200" dirty="0"/>
          </a:p>
          <a:p>
            <a:pPr lvl="2">
              <a:lnSpc>
                <a:spcPct val="100000"/>
              </a:lnSpc>
            </a:pPr>
            <a:r>
              <a:rPr lang="ja-JP" altLang="en-US" sz="1800" dirty="0"/>
              <a:t>特別輸送費（納期遅延を防ぐために計画外の納入により発生した費用。）</a:t>
            </a:r>
            <a:endParaRPr lang="en-US" altLang="ja-JP" sz="1800" dirty="0"/>
          </a:p>
          <a:p>
            <a:pPr lvl="2">
              <a:lnSpc>
                <a:spcPct val="100000"/>
              </a:lnSpc>
            </a:pPr>
            <a:r>
              <a:rPr lang="ja-JP" altLang="en-US" sz="1800" dirty="0"/>
              <a:t>納期調整回数（事前の顧客との調整ではあるが無い方が顧客満足度は向上するはず。）</a:t>
            </a:r>
            <a:endParaRPr lang="en-US" altLang="ja-JP" sz="1800" dirty="0"/>
          </a:p>
          <a:p>
            <a:pPr marL="914400" lvl="1" indent="-457200">
              <a:lnSpc>
                <a:spcPct val="100000"/>
              </a:lnSpc>
              <a:buFont typeface="+mj-lt"/>
              <a:buAutoNum type="alphaLcPeriod"/>
            </a:pPr>
            <a:r>
              <a:rPr lang="ja-JP" altLang="en-US" sz="2200" dirty="0"/>
              <a:t>顧客の工場認定取り消しなど。</a:t>
            </a:r>
            <a:endParaRPr lang="en-US" altLang="ja-JP" sz="22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9.1.2.1</a:t>
            </a:r>
            <a:r>
              <a:rPr lang="ja-JP" altLang="en-US" sz="3000" b="1" dirty="0">
                <a:solidFill>
                  <a:schemeClr val="bg1"/>
                </a:solidFill>
              </a:rPr>
              <a:t>　顧客満足－補足</a:t>
            </a:r>
          </a:p>
        </p:txBody>
      </p:sp>
    </p:spTree>
    <p:extLst>
      <p:ext uri="{BB962C8B-B14F-4D97-AF65-F5344CB8AC3E}">
        <p14:creationId xmlns:p14="http://schemas.microsoft.com/office/powerpoint/2010/main" val="3208970607"/>
      </p:ext>
    </p:extLst>
  </p:cSld>
  <p:clrMapOvr>
    <a:masterClrMapping/>
  </p:clrMapOvr>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solidFill>
                  <a:srgbClr val="FF0000"/>
                </a:solidFill>
                <a:effectLst>
                  <a:outerShdw blurRad="38100" dist="38100" dir="2700000" algn="tl">
                    <a:srgbClr val="000000">
                      <a:alpha val="43137"/>
                    </a:srgbClr>
                  </a:outerShdw>
                </a:effectLst>
              </a:rPr>
              <a:t>製造工程パフォーマンスの監視　</a:t>
            </a:r>
            <a:r>
              <a:rPr lang="ja-JP" altLang="en-US" sz="2400" dirty="0"/>
              <a:t>➠　顧客満足に関する原因系情報と結果系情報の利用。</a:t>
            </a: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r>
              <a:rPr lang="ja-JP" altLang="en-US" sz="2400" dirty="0"/>
              <a:t>顧客満足</a:t>
            </a:r>
            <a:r>
              <a:rPr lang="en-US" altLang="ja-JP" sz="2400" dirty="0"/>
              <a:t>『</a:t>
            </a:r>
            <a:r>
              <a:rPr lang="ja-JP" altLang="en-US" sz="2400" dirty="0"/>
              <a:t>度</a:t>
            </a:r>
            <a:r>
              <a:rPr lang="en-US" altLang="ja-JP" sz="2400" dirty="0"/>
              <a:t>』</a:t>
            </a:r>
            <a:r>
              <a:rPr lang="ja-JP" altLang="en-US" sz="2400" dirty="0"/>
              <a:t>。　</a:t>
            </a:r>
            <a:r>
              <a:rPr lang="ja-JP" altLang="en-US" sz="2000" dirty="0"/>
              <a:t>～</a:t>
            </a:r>
            <a:r>
              <a:rPr lang="en-US" altLang="ja-JP" sz="2000" dirty="0"/>
              <a:t>ISO9000</a:t>
            </a:r>
            <a:r>
              <a:rPr lang="ja-JP" altLang="en-US" sz="2000" dirty="0"/>
              <a:t>～</a:t>
            </a:r>
            <a:endParaRPr lang="en-US" altLang="ja-JP" sz="2000" dirty="0"/>
          </a:p>
          <a:p>
            <a:pPr lvl="1">
              <a:lnSpc>
                <a:spcPct val="100000"/>
              </a:lnSpc>
              <a:buFont typeface="Wingdings" panose="05000000000000000000" pitchFamily="2" charset="2"/>
              <a:buChar char="Ø"/>
            </a:pPr>
            <a:r>
              <a:rPr lang="ja-JP" altLang="en-US" dirty="0"/>
              <a:t>定義：顧客の</a:t>
            </a:r>
            <a:r>
              <a:rPr lang="ja-JP" altLang="en-US" u="sng" dirty="0"/>
              <a:t>期待</a:t>
            </a:r>
            <a:r>
              <a:rPr lang="ja-JP" altLang="en-US" dirty="0"/>
              <a:t>が満たされている程度に関する</a:t>
            </a:r>
            <a:r>
              <a:rPr lang="ja-JP" altLang="en-US" u="sng" dirty="0"/>
              <a:t>顧客の受け止め方。</a:t>
            </a:r>
            <a:endParaRPr lang="en-US" altLang="ja-JP" u="sng" dirty="0"/>
          </a:p>
          <a:p>
            <a:pPr lvl="1">
              <a:lnSpc>
                <a:spcPct val="100000"/>
              </a:lnSpc>
              <a:buFont typeface="Wingdings" panose="05000000000000000000" pitchFamily="2" charset="2"/>
              <a:buChar char="Ø"/>
            </a:pPr>
            <a:r>
              <a:rPr lang="ja-JP" altLang="en-US" dirty="0"/>
              <a:t>注記：</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329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9.1.2.1</a:t>
            </a:r>
            <a:r>
              <a:rPr lang="ja-JP" altLang="en-US" sz="3000" b="1" dirty="0">
                <a:solidFill>
                  <a:schemeClr val="bg1"/>
                </a:solidFill>
              </a:rPr>
              <a:t>　顧客満足－補足</a:t>
            </a:r>
          </a:p>
        </p:txBody>
      </p:sp>
      <p:graphicFrame>
        <p:nvGraphicFramePr>
          <p:cNvPr id="3" name="表 2">
            <a:extLst>
              <a:ext uri="{FF2B5EF4-FFF2-40B4-BE49-F238E27FC236}">
                <a16:creationId xmlns:a16="http://schemas.microsoft.com/office/drawing/2014/main" id="{F4BB3A90-3583-43DC-81C5-5205799FCCE1}"/>
              </a:ext>
            </a:extLst>
          </p:cNvPr>
          <p:cNvGraphicFramePr>
            <a:graphicFrameLocks noGrp="1"/>
          </p:cNvGraphicFramePr>
          <p:nvPr>
            <p:extLst>
              <p:ext uri="{D42A27DB-BD31-4B8C-83A1-F6EECF244321}">
                <p14:modId xmlns:p14="http://schemas.microsoft.com/office/powerpoint/2010/main" val="2364437880"/>
              </p:ext>
            </p:extLst>
          </p:nvPr>
        </p:nvGraphicFramePr>
        <p:xfrm>
          <a:off x="838199" y="2236938"/>
          <a:ext cx="7038861" cy="1266263"/>
        </p:xfrm>
        <a:graphic>
          <a:graphicData uri="http://schemas.openxmlformats.org/drawingml/2006/table">
            <a:tbl>
              <a:tblPr firstRow="1" bandRow="1">
                <a:tableStyleId>{5940675A-B579-460E-94D1-54222C63F5DA}</a:tableStyleId>
              </a:tblPr>
              <a:tblGrid>
                <a:gridCol w="1761782">
                  <a:extLst>
                    <a:ext uri="{9D8B030D-6E8A-4147-A177-3AD203B41FA5}">
                      <a16:colId xmlns:a16="http://schemas.microsoft.com/office/drawing/2014/main" val="1855872317"/>
                    </a:ext>
                  </a:extLst>
                </a:gridCol>
                <a:gridCol w="5277079">
                  <a:extLst>
                    <a:ext uri="{9D8B030D-6E8A-4147-A177-3AD203B41FA5}">
                      <a16:colId xmlns:a16="http://schemas.microsoft.com/office/drawing/2014/main" val="3239509960"/>
                    </a:ext>
                  </a:extLst>
                </a:gridCol>
              </a:tblGrid>
              <a:tr h="739942">
                <a:tc>
                  <a:txBody>
                    <a:bodyPr/>
                    <a:lstStyle/>
                    <a:p>
                      <a:r>
                        <a:rPr kumimoji="1" lang="ja-JP" altLang="en-US" sz="2200" dirty="0"/>
                        <a:t>結果系情報</a:t>
                      </a:r>
                    </a:p>
                  </a:txBody>
                  <a:tcPr/>
                </a:tc>
                <a:tc>
                  <a:txBody>
                    <a:bodyPr/>
                    <a:lstStyle/>
                    <a:p>
                      <a:r>
                        <a:rPr kumimoji="1" lang="ja-JP" altLang="en-US" sz="2200" dirty="0"/>
                        <a:t>５つのパフォーマンス指標</a:t>
                      </a:r>
                      <a:endParaRPr kumimoji="1" lang="en-US" altLang="ja-JP" sz="2200" dirty="0"/>
                    </a:p>
                    <a:p>
                      <a:r>
                        <a:rPr kumimoji="1" lang="ja-JP" altLang="en-US" sz="2200" dirty="0"/>
                        <a:t>顧客ポータル及び顧客スコアカード</a:t>
                      </a:r>
                    </a:p>
                  </a:txBody>
                  <a:tcPr/>
                </a:tc>
                <a:extLst>
                  <a:ext uri="{0D108BD9-81ED-4DB2-BD59-A6C34878D82A}">
                    <a16:rowId xmlns:a16="http://schemas.microsoft.com/office/drawing/2014/main" val="554582376"/>
                  </a:ext>
                </a:extLst>
              </a:tr>
              <a:tr h="504263">
                <a:tc>
                  <a:txBody>
                    <a:bodyPr/>
                    <a:lstStyle/>
                    <a:p>
                      <a:r>
                        <a:rPr kumimoji="1" lang="ja-JP" altLang="en-US" sz="2200" u="none" dirty="0">
                          <a:solidFill>
                            <a:srgbClr val="FF0000"/>
                          </a:solidFill>
                          <a:effectLst>
                            <a:outerShdw blurRad="38100" dist="38100" dir="2700000" algn="tl">
                              <a:srgbClr val="000000">
                                <a:alpha val="43137"/>
                              </a:srgbClr>
                            </a:outerShdw>
                          </a:effectLst>
                        </a:rPr>
                        <a:t>原因系情報</a:t>
                      </a:r>
                    </a:p>
                  </a:txBody>
                  <a:tcPr/>
                </a:tc>
                <a:tc>
                  <a:txBody>
                    <a:bodyPr/>
                    <a:lstStyle/>
                    <a:p>
                      <a:r>
                        <a:rPr kumimoji="1" lang="ja-JP" altLang="en-US" sz="2200" u="none" dirty="0">
                          <a:solidFill>
                            <a:srgbClr val="FF0000"/>
                          </a:solidFill>
                          <a:effectLst>
                            <a:outerShdw blurRad="38100" dist="38100" dir="2700000" algn="tl">
                              <a:srgbClr val="000000">
                                <a:alpha val="43137"/>
                              </a:srgbClr>
                            </a:outerShdw>
                          </a:effectLst>
                        </a:rPr>
                        <a:t>組織の製造工程パフォーマンス</a:t>
                      </a:r>
                    </a:p>
                  </a:txBody>
                  <a:tcPr/>
                </a:tc>
                <a:extLst>
                  <a:ext uri="{0D108BD9-81ED-4DB2-BD59-A6C34878D82A}">
                    <a16:rowId xmlns:a16="http://schemas.microsoft.com/office/drawing/2014/main" val="1810262655"/>
                  </a:ext>
                </a:extLst>
              </a:tr>
            </a:tbl>
          </a:graphicData>
        </a:graphic>
      </p:graphicFrame>
      <p:sp>
        <p:nvSpPr>
          <p:cNvPr id="6" name="矢印: 右 5">
            <a:extLst>
              <a:ext uri="{FF2B5EF4-FFF2-40B4-BE49-F238E27FC236}">
                <a16:creationId xmlns:a16="http://schemas.microsoft.com/office/drawing/2014/main" id="{34E1DD08-CAD2-4F7F-8B6E-A0464BA66AD3}"/>
              </a:ext>
            </a:extLst>
          </p:cNvPr>
          <p:cNvSpPr/>
          <p:nvPr/>
        </p:nvSpPr>
        <p:spPr>
          <a:xfrm>
            <a:off x="7949129" y="2511123"/>
            <a:ext cx="408542" cy="826265"/>
          </a:xfrm>
          <a:prstGeom prst="rightArrow">
            <a:avLst>
              <a:gd name="adj1" fmla="val 82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D3D1FE44-FC5D-4FD5-997E-E69402BBCB44}"/>
              </a:ext>
            </a:extLst>
          </p:cNvPr>
          <p:cNvSpPr/>
          <p:nvPr/>
        </p:nvSpPr>
        <p:spPr>
          <a:xfrm>
            <a:off x="8379246" y="2236938"/>
            <a:ext cx="2974554" cy="1374636"/>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solidFill>
                  <a:schemeClr val="tx1"/>
                </a:solidFill>
              </a:rPr>
              <a:t>原因系の改善を含めての対応が重要</a:t>
            </a:r>
          </a:p>
        </p:txBody>
      </p:sp>
      <p:sp>
        <p:nvSpPr>
          <p:cNvPr id="2" name="正方形/長方形 1">
            <a:extLst>
              <a:ext uri="{FF2B5EF4-FFF2-40B4-BE49-F238E27FC236}">
                <a16:creationId xmlns:a16="http://schemas.microsoft.com/office/drawing/2014/main" id="{F08AC81A-6751-4169-BB00-79419AEB0772}"/>
              </a:ext>
            </a:extLst>
          </p:cNvPr>
          <p:cNvSpPr/>
          <p:nvPr/>
        </p:nvSpPr>
        <p:spPr>
          <a:xfrm>
            <a:off x="2529840" y="4608965"/>
            <a:ext cx="8823960" cy="1019675"/>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2000" dirty="0">
                <a:solidFill>
                  <a:schemeClr val="tx1"/>
                </a:solidFill>
              </a:rPr>
              <a:t>1</a:t>
            </a:r>
            <a:r>
              <a:rPr lang="ja-JP" altLang="en-US" sz="2000" dirty="0">
                <a:solidFill>
                  <a:schemeClr val="tx1"/>
                </a:solidFill>
              </a:rPr>
              <a:t>　引渡しまで、顧客の期待が組織にも顧客自身にもわからない場合がある。</a:t>
            </a:r>
            <a:endParaRPr lang="en-US" altLang="ja-JP" sz="2000" dirty="0">
              <a:solidFill>
                <a:schemeClr val="tx1"/>
              </a:solidFill>
            </a:endParaRPr>
          </a:p>
          <a:p>
            <a:r>
              <a:rPr kumimoji="1" lang="en-US" altLang="ja-JP" sz="2000" dirty="0">
                <a:solidFill>
                  <a:schemeClr val="tx1"/>
                </a:solidFill>
              </a:rPr>
              <a:t>2</a:t>
            </a:r>
            <a:r>
              <a:rPr kumimoji="1" lang="ja-JP" altLang="en-US" sz="2000" dirty="0">
                <a:solidFill>
                  <a:schemeClr val="tx1"/>
                </a:solidFill>
              </a:rPr>
              <a:t>　「苦情が無い＝顧客満足が高い」とは限らない。</a:t>
            </a:r>
            <a:endParaRPr kumimoji="1" lang="en-US" altLang="ja-JP" sz="2000" dirty="0">
              <a:solidFill>
                <a:schemeClr val="tx1"/>
              </a:solidFill>
            </a:endParaRPr>
          </a:p>
          <a:p>
            <a:r>
              <a:rPr lang="en-US" altLang="ja-JP" sz="2000" dirty="0">
                <a:solidFill>
                  <a:schemeClr val="tx1"/>
                </a:solidFill>
              </a:rPr>
              <a:t>3</a:t>
            </a:r>
            <a:r>
              <a:rPr lang="ja-JP" altLang="en-US" sz="2000" dirty="0">
                <a:solidFill>
                  <a:schemeClr val="tx1"/>
                </a:solidFill>
              </a:rPr>
              <a:t>　「顧客要求事項の満足＝顧客満足が高い」とは限らない。</a:t>
            </a:r>
            <a:endParaRPr kumimoji="1" lang="ja-JP" altLang="en-US" sz="2000" dirty="0">
              <a:solidFill>
                <a:schemeClr val="tx1"/>
              </a:solidFill>
            </a:endParaRPr>
          </a:p>
        </p:txBody>
      </p:sp>
      <p:sp>
        <p:nvSpPr>
          <p:cNvPr id="11" name="思考の吹き出し: 雲形 10">
            <a:extLst>
              <a:ext uri="{FF2B5EF4-FFF2-40B4-BE49-F238E27FC236}">
                <a16:creationId xmlns:a16="http://schemas.microsoft.com/office/drawing/2014/main" id="{8372B816-2C67-4979-AC0A-FF56110B1B8A}"/>
              </a:ext>
            </a:extLst>
          </p:cNvPr>
          <p:cNvSpPr/>
          <p:nvPr/>
        </p:nvSpPr>
        <p:spPr>
          <a:xfrm>
            <a:off x="1625600" y="5672455"/>
            <a:ext cx="1412240" cy="640080"/>
          </a:xfrm>
          <a:prstGeom prst="cloudCallout">
            <a:avLst>
              <a:gd name="adj1" fmla="val -73055"/>
              <a:gd name="adj2" fmla="val 37103"/>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rPr>
              <a:t>不安</a:t>
            </a:r>
          </a:p>
        </p:txBody>
      </p:sp>
      <p:sp>
        <p:nvSpPr>
          <p:cNvPr id="13" name="思考の吹き出し: 雲形 12">
            <a:extLst>
              <a:ext uri="{FF2B5EF4-FFF2-40B4-BE49-F238E27FC236}">
                <a16:creationId xmlns:a16="http://schemas.microsoft.com/office/drawing/2014/main" id="{E82663C9-48E2-4FC6-9BCC-6B9F99EF0536}"/>
              </a:ext>
            </a:extLst>
          </p:cNvPr>
          <p:cNvSpPr/>
          <p:nvPr/>
        </p:nvSpPr>
        <p:spPr>
          <a:xfrm>
            <a:off x="3848789" y="5672455"/>
            <a:ext cx="1412240" cy="640080"/>
          </a:xfrm>
          <a:prstGeom prst="cloudCallout">
            <a:avLst>
              <a:gd name="adj1" fmla="val -73055"/>
              <a:gd name="adj2" fmla="val 37103"/>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rPr>
              <a:t>安心</a:t>
            </a:r>
            <a:endParaRPr kumimoji="1" lang="ja-JP" altLang="en-US" sz="2000" b="1" dirty="0">
              <a:solidFill>
                <a:schemeClr val="tx1"/>
              </a:solidFill>
            </a:endParaRPr>
          </a:p>
        </p:txBody>
      </p:sp>
      <p:sp>
        <p:nvSpPr>
          <p:cNvPr id="15" name="思考の吹き出し: 雲形 14">
            <a:extLst>
              <a:ext uri="{FF2B5EF4-FFF2-40B4-BE49-F238E27FC236}">
                <a16:creationId xmlns:a16="http://schemas.microsoft.com/office/drawing/2014/main" id="{E3D4F2C9-3D2D-49C8-A41E-25DCB4DA7907}"/>
              </a:ext>
            </a:extLst>
          </p:cNvPr>
          <p:cNvSpPr/>
          <p:nvPr/>
        </p:nvSpPr>
        <p:spPr>
          <a:xfrm>
            <a:off x="6071978" y="5672455"/>
            <a:ext cx="1412240" cy="640080"/>
          </a:xfrm>
          <a:prstGeom prst="cloudCallout">
            <a:avLst>
              <a:gd name="adj1" fmla="val -73055"/>
              <a:gd name="adj2" fmla="val 37103"/>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rPr>
              <a:t>満足</a:t>
            </a:r>
            <a:endParaRPr kumimoji="1" lang="ja-JP" altLang="en-US" sz="2000" b="1" dirty="0">
              <a:solidFill>
                <a:schemeClr val="tx1"/>
              </a:solidFill>
            </a:endParaRPr>
          </a:p>
        </p:txBody>
      </p:sp>
      <p:sp>
        <p:nvSpPr>
          <p:cNvPr id="17" name="思考の吹き出し: 雲形 16">
            <a:extLst>
              <a:ext uri="{FF2B5EF4-FFF2-40B4-BE49-F238E27FC236}">
                <a16:creationId xmlns:a16="http://schemas.microsoft.com/office/drawing/2014/main" id="{CF9DCAD1-2834-4FAB-95D2-D22C43744755}"/>
              </a:ext>
            </a:extLst>
          </p:cNvPr>
          <p:cNvSpPr/>
          <p:nvPr/>
        </p:nvSpPr>
        <p:spPr>
          <a:xfrm>
            <a:off x="8295167" y="5672455"/>
            <a:ext cx="1412240" cy="640080"/>
          </a:xfrm>
          <a:prstGeom prst="cloudCallout">
            <a:avLst>
              <a:gd name="adj1" fmla="val -73055"/>
              <a:gd name="adj2" fmla="val 3710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rPr>
              <a:t>感動</a:t>
            </a:r>
            <a:endParaRPr kumimoji="1" lang="ja-JP" altLang="en-US" sz="2000" b="1" dirty="0">
              <a:solidFill>
                <a:schemeClr val="tx1"/>
              </a:solidFill>
            </a:endParaRPr>
          </a:p>
        </p:txBody>
      </p:sp>
      <p:sp>
        <p:nvSpPr>
          <p:cNvPr id="18" name="矢印: 右 17">
            <a:extLst>
              <a:ext uri="{FF2B5EF4-FFF2-40B4-BE49-F238E27FC236}">
                <a16:creationId xmlns:a16="http://schemas.microsoft.com/office/drawing/2014/main" id="{3E1AB42A-BE87-45FB-A4FF-CB08626EB21B}"/>
              </a:ext>
            </a:extLst>
          </p:cNvPr>
          <p:cNvSpPr/>
          <p:nvPr/>
        </p:nvSpPr>
        <p:spPr>
          <a:xfrm flipV="1">
            <a:off x="3260434" y="5802630"/>
            <a:ext cx="365760" cy="365760"/>
          </a:xfrm>
          <a:prstGeom prst="right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右 19">
            <a:extLst>
              <a:ext uri="{FF2B5EF4-FFF2-40B4-BE49-F238E27FC236}">
                <a16:creationId xmlns:a16="http://schemas.microsoft.com/office/drawing/2014/main" id="{94944CF2-1B72-4532-A339-E42D352637B8}"/>
              </a:ext>
            </a:extLst>
          </p:cNvPr>
          <p:cNvSpPr/>
          <p:nvPr/>
        </p:nvSpPr>
        <p:spPr>
          <a:xfrm flipV="1">
            <a:off x="5483161" y="5802630"/>
            <a:ext cx="365760" cy="365760"/>
          </a:xfrm>
          <a:prstGeom prst="right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右 21">
            <a:extLst>
              <a:ext uri="{FF2B5EF4-FFF2-40B4-BE49-F238E27FC236}">
                <a16:creationId xmlns:a16="http://schemas.microsoft.com/office/drawing/2014/main" id="{110919F2-FAA4-4818-90E7-0655702EB43C}"/>
              </a:ext>
            </a:extLst>
          </p:cNvPr>
          <p:cNvSpPr/>
          <p:nvPr/>
        </p:nvSpPr>
        <p:spPr>
          <a:xfrm flipV="1">
            <a:off x="7706812" y="5783664"/>
            <a:ext cx="365760" cy="365760"/>
          </a:xfrm>
          <a:prstGeom prst="right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70230061"/>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330</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400" dirty="0" smtClean="0"/>
              <a:t>①監視・測定からの適切なデータおよび情報を分析し、評価する。</a:t>
            </a:r>
            <a:endParaRPr lang="en-US" altLang="ja-JP" sz="2400" dirty="0" smtClean="0"/>
          </a:p>
          <a:p>
            <a:pPr marL="0" indent="0">
              <a:lnSpc>
                <a:spcPct val="100000"/>
              </a:lnSpc>
              <a:buNone/>
            </a:pPr>
            <a:r>
              <a:rPr lang="ja-JP" altLang="en-US" sz="2400" dirty="0" smtClean="0"/>
              <a:t>②分析の結果は、次の事項を評価するために用いる。</a:t>
            </a:r>
            <a:endParaRPr lang="en-US" altLang="ja-JP" sz="2400" dirty="0" smtClean="0"/>
          </a:p>
          <a:p>
            <a:pPr marL="0" indent="0">
              <a:lnSpc>
                <a:spcPct val="100000"/>
              </a:lnSpc>
              <a:buNone/>
            </a:pPr>
            <a:r>
              <a:rPr lang="en-US" altLang="ja-JP" sz="2400" dirty="0" smtClean="0"/>
              <a:t>a)</a:t>
            </a:r>
            <a:r>
              <a:rPr lang="ja-JP" altLang="en-US" sz="2400" dirty="0" smtClean="0"/>
              <a:t>製品・サービスの適合</a:t>
            </a:r>
            <a:endParaRPr lang="en-US" altLang="ja-JP" sz="2400" dirty="0" smtClean="0"/>
          </a:p>
          <a:p>
            <a:pPr marL="0" indent="0">
              <a:lnSpc>
                <a:spcPct val="100000"/>
              </a:lnSpc>
              <a:buNone/>
            </a:pPr>
            <a:r>
              <a:rPr lang="en-US" altLang="ja-JP" sz="2400" dirty="0" smtClean="0"/>
              <a:t>b)</a:t>
            </a:r>
            <a:r>
              <a:rPr lang="ja-JP" altLang="en-US" sz="2400" dirty="0" smtClean="0"/>
              <a:t>顧客満足度</a:t>
            </a:r>
            <a:endParaRPr lang="en-US" altLang="ja-JP" sz="2400" dirty="0" smtClean="0"/>
          </a:p>
          <a:p>
            <a:pPr marL="0" indent="0">
              <a:lnSpc>
                <a:spcPct val="100000"/>
              </a:lnSpc>
              <a:buNone/>
            </a:pPr>
            <a:r>
              <a:rPr lang="en-US" altLang="ja-JP" sz="2400" dirty="0" smtClean="0"/>
              <a:t>c)</a:t>
            </a:r>
            <a:r>
              <a:rPr lang="ja-JP" altLang="en-US" sz="2400" dirty="0" smtClean="0"/>
              <a:t>製品マネジメントシステムのパフォーマンスと有効性</a:t>
            </a:r>
            <a:endParaRPr lang="en-US" altLang="ja-JP" sz="2400" dirty="0" smtClean="0"/>
          </a:p>
          <a:p>
            <a:pPr marL="0" indent="0">
              <a:lnSpc>
                <a:spcPct val="100000"/>
              </a:lnSpc>
              <a:buNone/>
            </a:pPr>
            <a:r>
              <a:rPr lang="en-US" altLang="ja-JP" sz="2400" dirty="0" smtClean="0"/>
              <a:t>d)</a:t>
            </a:r>
            <a:r>
              <a:rPr lang="ja-JP" altLang="en-US" sz="2400" dirty="0" smtClean="0"/>
              <a:t>計画が効果的に実施されたかどうか</a:t>
            </a:r>
            <a:endParaRPr lang="en-US" altLang="ja-JP" sz="2400" dirty="0" smtClean="0"/>
          </a:p>
          <a:p>
            <a:pPr marL="0" indent="0">
              <a:lnSpc>
                <a:spcPct val="100000"/>
              </a:lnSpc>
              <a:buNone/>
            </a:pPr>
            <a:r>
              <a:rPr lang="en-US" altLang="ja-JP" sz="2400" dirty="0" smtClean="0"/>
              <a:t>e)</a:t>
            </a:r>
            <a:r>
              <a:rPr lang="ja-JP" altLang="en-US" sz="2400" dirty="0" smtClean="0"/>
              <a:t>リスクおよび機会に取り組むためにとった処置の有効性</a:t>
            </a:r>
            <a:endParaRPr lang="en-US" altLang="ja-JP" sz="2400" dirty="0" smtClean="0"/>
          </a:p>
          <a:p>
            <a:pPr marL="0" indent="0">
              <a:lnSpc>
                <a:spcPct val="100000"/>
              </a:lnSpc>
              <a:buNone/>
            </a:pPr>
            <a:r>
              <a:rPr lang="en-US" altLang="ja-JP" sz="2400" dirty="0" smtClean="0"/>
              <a:t>f)</a:t>
            </a:r>
            <a:r>
              <a:rPr lang="ja-JP" altLang="en-US" sz="2400" dirty="0" smtClean="0"/>
              <a:t>外部供給者のパフォーマンス</a:t>
            </a:r>
            <a:endParaRPr lang="en-US" altLang="ja-JP" sz="2400" dirty="0" smtClean="0"/>
          </a:p>
          <a:p>
            <a:pPr marL="0" indent="0">
              <a:lnSpc>
                <a:spcPct val="100000"/>
              </a:lnSpc>
              <a:buNone/>
            </a:pPr>
            <a:r>
              <a:rPr lang="en-US" altLang="ja-JP" sz="2400" dirty="0" smtClean="0"/>
              <a:t>g)</a:t>
            </a:r>
            <a:r>
              <a:rPr lang="ja-JP" altLang="en-US" sz="2400" dirty="0" smtClean="0"/>
              <a:t>品質マネジメントシステムの改善の必要性</a:t>
            </a:r>
            <a:endParaRPr lang="en-US" altLang="ja-JP" sz="2400" dirty="0" smtClean="0"/>
          </a:p>
          <a:p>
            <a:pPr marL="0" indent="0">
              <a:lnSpc>
                <a:spcPct val="100000"/>
              </a:lnSpc>
              <a:buNone/>
            </a:pPr>
            <a:endParaRPr lang="en-US" altLang="ja-JP" sz="2400" dirty="0"/>
          </a:p>
          <a:p>
            <a:pPr marL="0" indent="0">
              <a:lnSpc>
                <a:spcPct val="100000"/>
              </a:lnSpc>
              <a:buNone/>
            </a:pP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9.1.3</a:t>
            </a:r>
            <a:r>
              <a:rPr kumimoji="1" lang="ja-JP" altLang="en-US" sz="3000" b="1" dirty="0" smtClean="0">
                <a:solidFill>
                  <a:schemeClr val="tx2"/>
                </a:solidFill>
              </a:rPr>
              <a:t>　分析および評価　（岩波氏）</a:t>
            </a:r>
            <a:endParaRPr kumimoji="1" lang="ja-JP" altLang="en-US" sz="3000" b="1" dirty="0">
              <a:solidFill>
                <a:schemeClr val="tx2"/>
              </a:solidFill>
            </a:endParaRPr>
          </a:p>
        </p:txBody>
      </p:sp>
    </p:spTree>
    <p:extLst>
      <p:ext uri="{BB962C8B-B14F-4D97-AF65-F5344CB8AC3E}">
        <p14:creationId xmlns:p14="http://schemas.microsoft.com/office/powerpoint/2010/main" val="1079565928"/>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046601"/>
          </a:xfrm>
          <a:ln w="12700">
            <a:solidFill>
              <a:schemeClr val="tx2"/>
            </a:solidFill>
          </a:ln>
        </p:spPr>
        <p:txBody>
          <a:bodyPr>
            <a:normAutofit/>
          </a:bodyPr>
          <a:lstStyle/>
          <a:p>
            <a:pPr marL="0" indent="0">
              <a:lnSpc>
                <a:spcPct val="100000"/>
              </a:lnSpc>
              <a:buNone/>
            </a:pPr>
            <a:r>
              <a:rPr lang="ja-JP" altLang="en-US" sz="2000" dirty="0"/>
              <a:t>☑品質及び運用パフォーマンスの傾向は、目標への進展と比較し、</a:t>
            </a:r>
            <a:r>
              <a:rPr lang="ja-JP" altLang="en-US" sz="2000" u="sng" dirty="0"/>
              <a:t>顧客満足を改善する処置の優先順位付けを支援する</a:t>
            </a:r>
            <a:r>
              <a:rPr lang="ja-JP" altLang="en-US" sz="2000" dirty="0"/>
              <a:t>処置を導かなければならない。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9.1.3.1</a:t>
            </a:r>
            <a:r>
              <a:rPr lang="ja-JP" altLang="en-US" sz="3000" b="1" dirty="0">
                <a:solidFill>
                  <a:schemeClr val="tx2"/>
                </a:solidFill>
              </a:rPr>
              <a:t>　優先順位付け</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751064"/>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9.1.3.1</a:t>
            </a:r>
            <a:r>
              <a:rPr lang="ja-JP" altLang="en-US" sz="3000" b="1" dirty="0">
                <a:solidFill>
                  <a:schemeClr val="bg1"/>
                </a:solidFill>
              </a:rPr>
              <a:t>　優先順位付け</a:t>
            </a:r>
          </a:p>
        </p:txBody>
      </p:sp>
      <p:sp>
        <p:nvSpPr>
          <p:cNvPr id="7" name="コンテンツ プレースホルダー 2">
            <a:extLst>
              <a:ext uri="{FF2B5EF4-FFF2-40B4-BE49-F238E27FC236}">
                <a16:creationId xmlns:a16="http://schemas.microsoft.com/office/drawing/2014/main" id="{BD3A913D-5157-4DDF-AA89-A1BE93821924}"/>
              </a:ext>
            </a:extLst>
          </p:cNvPr>
          <p:cNvSpPr txBox="1">
            <a:spLocks/>
          </p:cNvSpPr>
          <p:nvPr/>
        </p:nvSpPr>
        <p:spPr>
          <a:xfrm>
            <a:off x="838200" y="3776951"/>
            <a:ext cx="10515600" cy="2469613"/>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分析及び評価の実施の際の優先順位付け。</a:t>
            </a:r>
            <a:endParaRPr lang="en-US" altLang="ja-JP" sz="2400" dirty="0"/>
          </a:p>
          <a:p>
            <a:pPr lvl="1">
              <a:lnSpc>
                <a:spcPct val="100000"/>
              </a:lnSpc>
              <a:buFont typeface="Wingdings" panose="05000000000000000000" pitchFamily="2" charset="2"/>
              <a:buChar char="Ø"/>
            </a:pPr>
            <a:r>
              <a:rPr lang="ja-JP" altLang="en-US" dirty="0"/>
              <a:t>定期的な指標管理。（一般に月次実績）</a:t>
            </a:r>
            <a:endParaRPr lang="en-US" altLang="ja-JP" dirty="0"/>
          </a:p>
          <a:p>
            <a:pPr lvl="1">
              <a:lnSpc>
                <a:spcPct val="100000"/>
              </a:lnSpc>
              <a:buFont typeface="Wingdings" panose="05000000000000000000" pitchFamily="2" charset="2"/>
              <a:buChar char="Ø"/>
            </a:pPr>
            <a:r>
              <a:rPr lang="ja-JP" altLang="en-US" dirty="0"/>
              <a:t>実績に対する分析による傾向と優先順位の判断。</a:t>
            </a:r>
            <a:endParaRPr lang="en-US" altLang="ja-JP" dirty="0"/>
          </a:p>
          <a:p>
            <a:pPr marL="457200" indent="-457200">
              <a:lnSpc>
                <a:spcPct val="100000"/>
              </a:lnSpc>
              <a:buFont typeface="+mj-lt"/>
              <a:buAutoNum type="arabicPeriod"/>
            </a:pPr>
            <a:r>
              <a:rPr lang="ja-JP" altLang="en-US" sz="2400" dirty="0"/>
              <a:t>審査期間へ提出する「直近</a:t>
            </a:r>
            <a:r>
              <a:rPr lang="en-US" altLang="ja-JP" sz="2400" dirty="0"/>
              <a:t>12</a:t>
            </a:r>
            <a:r>
              <a:rPr lang="ja-JP" altLang="en-US" sz="2400" dirty="0"/>
              <a:t>ヶ月以上の重要指標及びパフォーマンスの傾向」はこの要求事項に基づいている。</a:t>
            </a:r>
          </a:p>
        </p:txBody>
      </p:sp>
      <p:sp>
        <p:nvSpPr>
          <p:cNvPr id="2" name="吹き出し: 角を丸めた四角形 1">
            <a:extLst>
              <a:ext uri="{FF2B5EF4-FFF2-40B4-BE49-F238E27FC236}">
                <a16:creationId xmlns:a16="http://schemas.microsoft.com/office/drawing/2014/main" id="{E1535CAC-CF42-462D-8E29-505D81FC3028}"/>
              </a:ext>
            </a:extLst>
          </p:cNvPr>
          <p:cNvSpPr/>
          <p:nvPr/>
        </p:nvSpPr>
        <p:spPr>
          <a:xfrm>
            <a:off x="7142480" y="4023360"/>
            <a:ext cx="2626360" cy="629920"/>
          </a:xfrm>
          <a:prstGeom prst="wedgeRoundRectCallout">
            <a:avLst>
              <a:gd name="adj1" fmla="val -53426"/>
              <a:gd name="adj2" fmla="val -66091"/>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rPr>
              <a:t>月次品質会議など。</a:t>
            </a:r>
            <a:endParaRPr lang="en-US" altLang="ja-JP" sz="2000" dirty="0">
              <a:solidFill>
                <a:schemeClr val="tx1"/>
              </a:solidFill>
            </a:endParaRPr>
          </a:p>
        </p:txBody>
      </p:sp>
    </p:spTree>
    <p:extLst>
      <p:ext uri="{BB962C8B-B14F-4D97-AF65-F5344CB8AC3E}">
        <p14:creationId xmlns:p14="http://schemas.microsoft.com/office/powerpoint/2010/main" val="2394614481"/>
      </p:ext>
    </p:extLst>
  </p:cSld>
  <p:clrMapOvr>
    <a:masterClrMapping/>
  </p:clrMapOvr>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fontScale="92500" lnSpcReduction="20000"/>
          </a:bodyPr>
          <a:lstStyle/>
          <a:p>
            <a:pPr marL="0" indent="0">
              <a:lnSpc>
                <a:spcPct val="100000"/>
              </a:lnSpc>
              <a:buNone/>
            </a:pPr>
            <a:r>
              <a:rPr lang="en-US" altLang="ja-JP" sz="2400" dirty="0" smtClean="0"/>
              <a:t>9.2.1</a:t>
            </a:r>
            <a:r>
              <a:rPr lang="ja-JP" altLang="en-US" sz="2400" dirty="0" smtClean="0"/>
              <a:t>内部監査の目的</a:t>
            </a:r>
            <a:endParaRPr lang="en-US" altLang="ja-JP" sz="2400" dirty="0" smtClean="0"/>
          </a:p>
          <a:p>
            <a:pPr marL="0" indent="0">
              <a:lnSpc>
                <a:spcPct val="100000"/>
              </a:lnSpc>
              <a:buNone/>
            </a:pPr>
            <a:r>
              <a:rPr lang="ja-JP" altLang="en-US" sz="2400" dirty="0" smtClean="0"/>
              <a:t>①品質マネジメントシステムが、次の状況にあるか否かに関する情報を提供するために、予め定めた間隔で内部監査を実施する。</a:t>
            </a:r>
            <a:endParaRPr lang="en-US" altLang="ja-JP" sz="2400" dirty="0" smtClean="0"/>
          </a:p>
          <a:p>
            <a:pPr marL="0" indent="0">
              <a:lnSpc>
                <a:spcPct val="100000"/>
              </a:lnSpc>
              <a:buNone/>
            </a:pPr>
            <a:r>
              <a:rPr lang="en-US" altLang="ja-JP" sz="2400" dirty="0" smtClean="0"/>
              <a:t>a)</a:t>
            </a:r>
            <a:r>
              <a:rPr lang="ja-JP" altLang="en-US" sz="2400" dirty="0" smtClean="0"/>
              <a:t>品質マネジメントシステムは次の事項に適合しているか？</a:t>
            </a:r>
            <a:endParaRPr lang="en-US" altLang="ja-JP" sz="2400" dirty="0" smtClean="0"/>
          </a:p>
          <a:p>
            <a:pPr marL="0" indent="0">
              <a:lnSpc>
                <a:spcPct val="100000"/>
              </a:lnSpc>
              <a:buNone/>
            </a:pPr>
            <a:r>
              <a:rPr lang="en-US" altLang="ja-JP" sz="2400" dirty="0" smtClean="0"/>
              <a:t>1)</a:t>
            </a:r>
            <a:r>
              <a:rPr lang="ja-JP" altLang="en-US" sz="2400" dirty="0" smtClean="0"/>
              <a:t>品質マネジメントシステムの関して、組織が規定した要求事項</a:t>
            </a:r>
            <a:endParaRPr lang="en-US" altLang="ja-JP" sz="2400" dirty="0" smtClean="0"/>
          </a:p>
          <a:p>
            <a:pPr marL="0" indent="0">
              <a:lnSpc>
                <a:spcPct val="100000"/>
              </a:lnSpc>
              <a:buNone/>
            </a:pPr>
            <a:r>
              <a:rPr lang="en-US" altLang="ja-JP" sz="2400" dirty="0" smtClean="0"/>
              <a:t>2)ISO9001</a:t>
            </a:r>
            <a:r>
              <a:rPr lang="ja-JP" altLang="en-US" sz="2400" dirty="0" smtClean="0"/>
              <a:t>規格の要求事項</a:t>
            </a:r>
            <a:endParaRPr lang="en-US" altLang="ja-JP" sz="2400" dirty="0" smtClean="0"/>
          </a:p>
          <a:p>
            <a:pPr marL="0" indent="0">
              <a:lnSpc>
                <a:spcPct val="100000"/>
              </a:lnSpc>
              <a:buNone/>
            </a:pPr>
            <a:r>
              <a:rPr lang="en-US" altLang="ja-JP" sz="2400" dirty="0" smtClean="0"/>
              <a:t>b)</a:t>
            </a:r>
            <a:r>
              <a:rPr lang="ja-JP" altLang="en-US" sz="2400" dirty="0" smtClean="0"/>
              <a:t>品質マネジメントシステムは、有効に実施され維持されているか</a:t>
            </a:r>
            <a:endParaRPr lang="en-US" altLang="ja-JP" sz="2400" dirty="0" smtClean="0"/>
          </a:p>
          <a:p>
            <a:pPr marL="0" indent="0">
              <a:lnSpc>
                <a:spcPct val="100000"/>
              </a:lnSpc>
              <a:buNone/>
            </a:pPr>
            <a:endParaRPr lang="en-US" altLang="ja-JP" sz="2400" dirty="0"/>
          </a:p>
          <a:p>
            <a:pPr marL="0" indent="0">
              <a:lnSpc>
                <a:spcPct val="100000"/>
              </a:lnSpc>
              <a:buNone/>
            </a:pPr>
            <a:r>
              <a:rPr lang="en-US" altLang="ja-JP" sz="2400" dirty="0"/>
              <a:t>【</a:t>
            </a:r>
            <a:r>
              <a:rPr lang="ja-JP" altLang="en-US" sz="2400" dirty="0"/>
              <a:t>用語の定義</a:t>
            </a:r>
            <a:r>
              <a:rPr lang="en-US" altLang="ja-JP" sz="2400" dirty="0"/>
              <a:t>】</a:t>
            </a:r>
          </a:p>
          <a:p>
            <a:pPr marL="0" indent="0">
              <a:lnSpc>
                <a:spcPct val="100000"/>
              </a:lnSpc>
              <a:buNone/>
            </a:pPr>
            <a:r>
              <a:rPr lang="ja-JP" altLang="en-US" sz="2400" dirty="0"/>
              <a:t>監査プログラム：特定の目的に向けた、きめられた期間内で実行するように計画された一連の監査</a:t>
            </a:r>
            <a:endParaRPr lang="en-US" altLang="ja-JP" sz="2400" dirty="0"/>
          </a:p>
          <a:p>
            <a:pPr marL="0" indent="0">
              <a:lnSpc>
                <a:spcPct val="100000"/>
              </a:lnSpc>
              <a:buNone/>
            </a:pPr>
            <a:r>
              <a:rPr lang="ja-JP" altLang="en-US" sz="2400" dirty="0"/>
              <a:t>監査計画：監査のための活動および手配事項を示すもの</a:t>
            </a:r>
            <a:endParaRPr lang="en-US" altLang="ja-JP" sz="2400" dirty="0"/>
          </a:p>
          <a:p>
            <a:pPr marL="0" indent="0">
              <a:lnSpc>
                <a:spcPct val="100000"/>
              </a:lnSpc>
              <a:buNone/>
            </a:pPr>
            <a:endParaRPr lang="en-US" altLang="ja-JP" sz="2400" dirty="0" smtClean="0"/>
          </a:p>
          <a:p>
            <a:pPr marL="0" indent="0">
              <a:lnSpc>
                <a:spcPct val="100000"/>
              </a:lnSpc>
              <a:buNone/>
            </a:pPr>
            <a:endParaRPr lang="en-US" altLang="ja-JP" sz="2400" dirty="0"/>
          </a:p>
          <a:p>
            <a:pPr marL="0" indent="0">
              <a:lnSpc>
                <a:spcPct val="100000"/>
              </a:lnSpc>
              <a:buNone/>
            </a:pP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9.2.1</a:t>
            </a:r>
            <a:r>
              <a:rPr kumimoji="1" lang="ja-JP" altLang="en-US" sz="3000" b="1" dirty="0" smtClean="0">
                <a:solidFill>
                  <a:schemeClr val="tx2"/>
                </a:solidFill>
              </a:rPr>
              <a:t>内部監査の目的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263825018"/>
      </p:ext>
    </p:extLst>
  </p:cSld>
  <p:clrMapOvr>
    <a:masterClrMapping/>
  </p:clrMapOvr>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en-US" altLang="ja-JP" sz="2400" dirty="0" smtClean="0"/>
              <a:t>【</a:t>
            </a:r>
            <a:r>
              <a:rPr lang="ja-JP" altLang="en-US" sz="2400" dirty="0" smtClean="0"/>
              <a:t>要求事項の解説</a:t>
            </a:r>
            <a:r>
              <a:rPr lang="en-US" altLang="ja-JP" sz="2400" dirty="0" smtClean="0"/>
              <a:t>】</a:t>
            </a:r>
          </a:p>
          <a:p>
            <a:pPr marL="0" indent="0">
              <a:lnSpc>
                <a:spcPct val="100000"/>
              </a:lnSpc>
              <a:buNone/>
            </a:pPr>
            <a:r>
              <a:rPr lang="ja-JP" altLang="en-US" sz="2400" dirty="0" smtClean="0"/>
              <a:t>内部監査の目的は、あら探しではなく改善のネタを見つけることであり、そのために、適合性だけでなく有効性についても監査することを意図しています。</a:t>
            </a:r>
            <a:endParaRPr lang="en-US" altLang="ja-JP" sz="2400" dirty="0" smtClean="0"/>
          </a:p>
          <a:p>
            <a:pPr marL="0" indent="0">
              <a:lnSpc>
                <a:spcPct val="100000"/>
              </a:lnSpc>
              <a:buNone/>
            </a:pPr>
            <a:r>
              <a:rPr lang="ja-JP" altLang="en-US" sz="2400" dirty="0" smtClean="0"/>
              <a:t>内部監査の目的として①</a:t>
            </a:r>
            <a:r>
              <a:rPr lang="en-US" altLang="ja-JP" sz="2400" dirty="0" smtClean="0"/>
              <a:t>a)</a:t>
            </a:r>
            <a:r>
              <a:rPr lang="ja-JP" altLang="en-US" sz="2400" dirty="0" smtClean="0"/>
              <a:t>は適合性の確認、</a:t>
            </a:r>
            <a:r>
              <a:rPr lang="en-US" altLang="ja-JP" sz="2400" dirty="0" smtClean="0"/>
              <a:t>b)</a:t>
            </a:r>
            <a:r>
              <a:rPr lang="ja-JP" altLang="en-US" sz="2400" dirty="0" smtClean="0"/>
              <a:t>は有効性の確認について述べています。適合性とは、要求事項（やるべきこと）を確実に行っているかどうか、有効性は、目標を達成しているかどうかです。</a:t>
            </a:r>
            <a:endParaRPr lang="en-US" altLang="ja-JP" sz="24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9.2.1</a:t>
            </a:r>
            <a:r>
              <a:rPr kumimoji="1" lang="ja-JP" altLang="en-US" sz="3000" b="1" dirty="0" smtClean="0">
                <a:solidFill>
                  <a:schemeClr val="tx2"/>
                </a:solidFill>
              </a:rPr>
              <a:t>内部監査の目的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850862350"/>
      </p:ext>
    </p:extLst>
  </p:cSld>
  <p:clrMapOvr>
    <a:masterClrMapping/>
  </p:clrMapOvr>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1600" dirty="0" smtClean="0"/>
              <a:t>箇条</a:t>
            </a:r>
            <a:r>
              <a:rPr lang="en-US" altLang="ja-JP" sz="1600" dirty="0" smtClean="0"/>
              <a:t>9.2.1</a:t>
            </a:r>
            <a:r>
              <a:rPr lang="ja-JP" altLang="en-US" sz="1600" dirty="0" smtClean="0"/>
              <a:t>①</a:t>
            </a:r>
            <a:r>
              <a:rPr lang="ja-JP" altLang="en-US" sz="1600" dirty="0"/>
              <a:t>品質マネジメントシステムが、次の</a:t>
            </a:r>
            <a:r>
              <a:rPr lang="en-US" altLang="ja-JP" sz="1600" dirty="0"/>
              <a:t>a),b)</a:t>
            </a:r>
            <a:r>
              <a:rPr lang="ja-JP" altLang="en-US" sz="1600" dirty="0"/>
              <a:t>状況にあるか否かを判断するために、予め定めた間隔で内部監査を実施する。</a:t>
            </a:r>
            <a:endParaRPr lang="en-US" altLang="ja-JP" sz="1600" dirty="0" smtClean="0"/>
          </a:p>
          <a:p>
            <a:pPr marL="0" indent="0">
              <a:lnSpc>
                <a:spcPct val="100000"/>
              </a:lnSpc>
              <a:buNone/>
            </a:pPr>
            <a:r>
              <a:rPr lang="en-US" altLang="ja-JP" sz="1600" dirty="0" smtClean="0"/>
              <a:t>a)</a:t>
            </a:r>
            <a:r>
              <a:rPr lang="ja-JP" altLang="en-US" sz="1600" dirty="0" smtClean="0"/>
              <a:t>品質マネジメントシステムは次の事項に適合しているか？</a:t>
            </a:r>
            <a:endParaRPr lang="en-US" altLang="ja-JP" sz="1600" dirty="0" smtClean="0"/>
          </a:p>
          <a:p>
            <a:pPr marL="0" indent="0">
              <a:lnSpc>
                <a:spcPct val="100000"/>
              </a:lnSpc>
              <a:buNone/>
            </a:pPr>
            <a:r>
              <a:rPr lang="ja-JP" altLang="en-US" sz="1600" dirty="0" smtClean="0"/>
              <a:t>品質マネジメントシステムに関して、組織が規定した要求事項</a:t>
            </a:r>
            <a:endParaRPr lang="en-US" altLang="ja-JP" sz="1600" dirty="0" smtClean="0"/>
          </a:p>
          <a:p>
            <a:pPr marL="0" indent="0">
              <a:lnSpc>
                <a:spcPct val="100000"/>
              </a:lnSpc>
              <a:buNone/>
            </a:pPr>
            <a:r>
              <a:rPr lang="en-US" altLang="ja-JP" sz="1600" dirty="0" smtClean="0"/>
              <a:t>ISO9001/IATF16949</a:t>
            </a:r>
            <a:r>
              <a:rPr lang="ja-JP" altLang="en-US" sz="1600" dirty="0" smtClean="0"/>
              <a:t>規格の要求事項</a:t>
            </a:r>
            <a:endParaRPr lang="en-US" altLang="ja-JP" sz="1600" dirty="0" smtClean="0"/>
          </a:p>
          <a:p>
            <a:pPr marL="0" indent="0">
              <a:lnSpc>
                <a:spcPct val="100000"/>
              </a:lnSpc>
              <a:buNone/>
            </a:pPr>
            <a:r>
              <a:rPr lang="en-US" altLang="ja-JP" sz="1600" dirty="0" smtClean="0"/>
              <a:t>b)</a:t>
            </a:r>
            <a:r>
              <a:rPr lang="ja-JP" altLang="en-US" sz="1600" dirty="0" smtClean="0"/>
              <a:t>品質マネジメントシステムは、有効にその詳細が規定されている</a:t>
            </a:r>
            <a:endParaRPr lang="en-US" altLang="ja-JP" sz="1600" dirty="0" smtClean="0"/>
          </a:p>
          <a:p>
            <a:pPr marL="0" indent="0">
              <a:lnSpc>
                <a:spcPct val="100000"/>
              </a:lnSpc>
              <a:buNone/>
            </a:pPr>
            <a:endParaRPr lang="en-US" altLang="ja-JP" sz="1400" dirty="0" smtClean="0"/>
          </a:p>
          <a:p>
            <a:pPr marL="0" indent="0">
              <a:lnSpc>
                <a:spcPct val="100000"/>
              </a:lnSpc>
              <a:buNone/>
            </a:pP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9.2.1</a:t>
            </a:r>
            <a:r>
              <a:rPr kumimoji="1" lang="ja-JP" altLang="en-US" sz="3000" b="1" dirty="0" smtClean="0">
                <a:solidFill>
                  <a:schemeClr val="tx2"/>
                </a:solidFill>
              </a:rPr>
              <a:t>内部監査の目的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1006645746"/>
      </p:ext>
    </p:extLst>
  </p:cSld>
  <p:clrMapOvr>
    <a:masterClrMapping/>
  </p:clrMapOvr>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en-US" altLang="ja-JP" sz="2400" dirty="0" smtClean="0"/>
              <a:t>9.2.2</a:t>
            </a:r>
            <a:r>
              <a:rPr lang="ja-JP" altLang="en-US" sz="2400" dirty="0" smtClean="0"/>
              <a:t>内部監査の実施</a:t>
            </a:r>
            <a:endParaRPr lang="en-US" altLang="ja-JP" sz="2400" dirty="0" smtClean="0"/>
          </a:p>
          <a:p>
            <a:pPr marL="0" indent="0">
              <a:lnSpc>
                <a:spcPct val="100000"/>
              </a:lnSpc>
              <a:buNone/>
            </a:pPr>
            <a:r>
              <a:rPr lang="ja-JP" altLang="en-US" sz="2400" dirty="0" smtClean="0"/>
              <a:t>②内部監査に関して、次の事項を行う。</a:t>
            </a:r>
            <a:endParaRPr lang="en-US" altLang="ja-JP" sz="2400" dirty="0" smtClean="0"/>
          </a:p>
          <a:p>
            <a:pPr marL="0" indent="0">
              <a:lnSpc>
                <a:spcPct val="100000"/>
              </a:lnSpc>
              <a:buNone/>
            </a:pPr>
            <a:r>
              <a:rPr lang="en-US" altLang="ja-JP" sz="2400" dirty="0" smtClean="0"/>
              <a:t>a)</a:t>
            </a:r>
            <a:r>
              <a:rPr lang="ja-JP" altLang="en-US" sz="2400" dirty="0" smtClean="0"/>
              <a:t>監査プログラムを計画・確率・実施および維持する。</a:t>
            </a:r>
            <a:endParaRPr lang="en-US" altLang="ja-JP" sz="2400" dirty="0" smtClean="0"/>
          </a:p>
          <a:p>
            <a:pPr marL="0" indent="0">
              <a:lnSpc>
                <a:spcPct val="100000"/>
              </a:lnSpc>
              <a:buNone/>
            </a:pPr>
            <a:r>
              <a:rPr lang="ja-JP" altLang="en-US" sz="2400" dirty="0" smtClean="0"/>
              <a:t>・頻度、方法、責任、計画要求事項および報告を含む</a:t>
            </a:r>
            <a:endParaRPr lang="en-US" altLang="ja-JP" sz="2400" dirty="0" smtClean="0"/>
          </a:p>
          <a:p>
            <a:pPr marL="0" indent="0">
              <a:lnSpc>
                <a:spcPct val="100000"/>
              </a:lnSpc>
              <a:buNone/>
            </a:pPr>
            <a:r>
              <a:rPr lang="ja-JP" altLang="en-US" sz="2400" dirty="0" smtClean="0"/>
              <a:t>・監査プログラムは、関連するプロセスの重要性、組織に影響を及ぼす変更、および前回までの監査結果を考慮に入れる</a:t>
            </a:r>
            <a:endParaRPr lang="en-US" altLang="ja-JP" sz="2400" dirty="0" smtClean="0"/>
          </a:p>
          <a:p>
            <a:pPr marL="0" indent="0">
              <a:lnSpc>
                <a:spcPct val="100000"/>
              </a:lnSpc>
              <a:buNone/>
            </a:pPr>
            <a:r>
              <a:rPr lang="en-US" altLang="ja-JP" sz="2400" dirty="0" smtClean="0"/>
              <a:t>b)</a:t>
            </a:r>
            <a:r>
              <a:rPr lang="ja-JP" altLang="en-US" sz="2400" dirty="0" smtClean="0"/>
              <a:t>各監査について、監査基準と監査範囲を定める</a:t>
            </a:r>
            <a:endParaRPr lang="en-US" altLang="ja-JP" sz="2400" dirty="0" smtClean="0"/>
          </a:p>
          <a:p>
            <a:pPr marL="0" indent="0">
              <a:lnSpc>
                <a:spcPct val="100000"/>
              </a:lnSpc>
              <a:buNone/>
            </a:pPr>
            <a:r>
              <a:rPr lang="en-US" altLang="ja-JP" sz="2400" dirty="0" smtClean="0"/>
              <a:t>c)</a:t>
            </a:r>
            <a:r>
              <a:rPr lang="ja-JP" altLang="en-US" sz="2400" dirty="0" smtClean="0"/>
              <a:t>監査プロセスの客観性・公平性を確保するために、監査員を選定し、監査を実施する</a:t>
            </a:r>
            <a:endParaRPr lang="en-US" altLang="ja-JP" sz="2400" dirty="0" smtClean="0"/>
          </a:p>
          <a:p>
            <a:pPr marL="0" indent="0">
              <a:lnSpc>
                <a:spcPct val="100000"/>
              </a:lnSpc>
              <a:buNone/>
            </a:pPr>
            <a:r>
              <a:rPr lang="en-US" altLang="ja-JP" sz="2400" dirty="0" smtClean="0"/>
              <a:t>d)</a:t>
            </a:r>
            <a:r>
              <a:rPr lang="ja-JP" altLang="en-US" sz="2400" dirty="0" smtClean="0"/>
              <a:t>監査の結果を関連する管理層に報告することを確実にする。</a:t>
            </a:r>
            <a:endParaRPr lang="en-US" altLang="ja-JP" sz="2400" dirty="0" smtClean="0"/>
          </a:p>
          <a:p>
            <a:pPr marL="0" indent="0">
              <a:lnSpc>
                <a:spcPct val="100000"/>
              </a:lnSpc>
              <a:buNone/>
            </a:pP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9.2.2</a:t>
            </a:r>
            <a:r>
              <a:rPr kumimoji="1" lang="ja-JP" altLang="en-US" sz="3000" b="1" dirty="0" smtClean="0">
                <a:solidFill>
                  <a:schemeClr val="tx2"/>
                </a:solidFill>
              </a:rPr>
              <a:t>内部監査の実施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1529544569"/>
      </p:ext>
    </p:extLst>
  </p:cSld>
  <p:clrMapOvr>
    <a:masterClrMapping/>
  </p:clrMapOvr>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en-US" altLang="ja-JP" sz="2400" dirty="0" smtClean="0"/>
              <a:t>e)</a:t>
            </a:r>
            <a:r>
              <a:rPr lang="ja-JP" altLang="en-US" sz="2400" dirty="0" smtClean="0"/>
              <a:t>遅延なく、適切な修正と是正処置を行う。</a:t>
            </a:r>
            <a:endParaRPr lang="en-US" altLang="ja-JP" sz="2400" dirty="0" smtClean="0"/>
          </a:p>
          <a:p>
            <a:pPr marL="0" indent="0">
              <a:lnSpc>
                <a:spcPct val="100000"/>
              </a:lnSpc>
              <a:buNone/>
            </a:pPr>
            <a:r>
              <a:rPr lang="en-US" altLang="ja-JP" sz="2400" dirty="0" smtClean="0"/>
              <a:t>f)</a:t>
            </a:r>
            <a:r>
              <a:rPr lang="ja-JP" altLang="en-US" sz="2400" dirty="0" smtClean="0"/>
              <a:t>監査プログラムの実施および監査結果の証拠として、文書化した情報を保持する</a:t>
            </a:r>
            <a:r>
              <a:rPr lang="en-US" altLang="ja-JP" sz="2400" dirty="0" smtClean="0"/>
              <a:t>(</a:t>
            </a:r>
            <a:r>
              <a:rPr lang="ja-JP" altLang="en-US" sz="2400" dirty="0" smtClean="0"/>
              <a:t>記録</a:t>
            </a:r>
            <a:r>
              <a:rPr lang="en-US" altLang="ja-JP" sz="2400" dirty="0" smtClean="0"/>
              <a:t>)</a:t>
            </a:r>
          </a:p>
          <a:p>
            <a:pPr marL="0" indent="0">
              <a:lnSpc>
                <a:spcPct val="100000"/>
              </a:lnSpc>
              <a:buNone/>
            </a:pPr>
            <a:r>
              <a:rPr lang="ja-JP" altLang="en-US" sz="2400" dirty="0" smtClean="0"/>
              <a:t>③注記　手引きとして</a:t>
            </a:r>
            <a:r>
              <a:rPr lang="en-US" altLang="ja-JP" sz="2400" dirty="0" smtClean="0"/>
              <a:t>ISO19011</a:t>
            </a:r>
            <a:r>
              <a:rPr lang="ja-JP" altLang="en-US" sz="2400" dirty="0" smtClean="0"/>
              <a:t>を参照</a:t>
            </a:r>
            <a:endParaRPr lang="en-US" altLang="ja-JP" sz="2400" dirty="0" smtClean="0"/>
          </a:p>
          <a:p>
            <a:pPr marL="0" indent="0">
              <a:lnSpc>
                <a:spcPct val="100000"/>
              </a:lnSpc>
              <a:buNone/>
            </a:pPr>
            <a:endParaRPr lang="en-US" altLang="ja-JP" sz="2400" dirty="0"/>
          </a:p>
          <a:p>
            <a:pPr marL="0" indent="0">
              <a:lnSpc>
                <a:spcPct val="100000"/>
              </a:lnSpc>
              <a:buNone/>
            </a:pPr>
            <a:r>
              <a:rPr lang="en-US" altLang="ja-JP" sz="2400" dirty="0"/>
              <a:t>【</a:t>
            </a:r>
            <a:r>
              <a:rPr lang="ja-JP" altLang="en-US" sz="2400" dirty="0" smtClean="0"/>
              <a:t>用語の定義</a:t>
            </a:r>
            <a:r>
              <a:rPr lang="en-US" altLang="ja-JP" sz="2400" dirty="0" smtClean="0"/>
              <a:t>】</a:t>
            </a:r>
          </a:p>
          <a:p>
            <a:pPr marL="0" indent="0">
              <a:lnSpc>
                <a:spcPct val="100000"/>
              </a:lnSpc>
              <a:buNone/>
            </a:pPr>
            <a:r>
              <a:rPr lang="ja-JP" altLang="en-US" sz="2400" dirty="0" smtClean="0"/>
              <a:t>監査プログラム：特定の目的に向けた、きめられた期間内で実行するように計画された一連の監査</a:t>
            </a:r>
            <a:endParaRPr lang="en-US" altLang="ja-JP" sz="2400" dirty="0" smtClean="0"/>
          </a:p>
          <a:p>
            <a:pPr marL="0" indent="0">
              <a:lnSpc>
                <a:spcPct val="100000"/>
              </a:lnSpc>
              <a:buNone/>
            </a:pPr>
            <a:r>
              <a:rPr lang="ja-JP" altLang="en-US" sz="2400" dirty="0" smtClean="0"/>
              <a:t>監査計画：監査のための活動および手配事項を示すもの</a:t>
            </a: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9.2.2</a:t>
            </a:r>
            <a:r>
              <a:rPr kumimoji="1" lang="ja-JP" altLang="en-US" sz="3000" b="1" dirty="0" smtClean="0">
                <a:solidFill>
                  <a:schemeClr val="tx2"/>
                </a:solidFill>
              </a:rPr>
              <a:t>内部監査の実施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2979771237"/>
      </p:ext>
    </p:extLst>
  </p:cSld>
  <p:clrMapOvr>
    <a:masterClrMapping/>
  </p:clrMapOvr>
  <p:timing>
    <p:tnLst>
      <p:par>
        <p:cTn id="1" dur="indefinite" restart="never" nodeType="tmRoot"/>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337</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en-US" altLang="ja-JP" sz="2400" dirty="0" smtClean="0"/>
              <a:t>【</a:t>
            </a:r>
            <a:r>
              <a:rPr lang="ja-JP" altLang="en-US" sz="2400" dirty="0" smtClean="0"/>
              <a:t>要求事項の解説</a:t>
            </a:r>
            <a:r>
              <a:rPr lang="en-US" altLang="ja-JP" sz="2400" dirty="0" smtClean="0"/>
              <a:t>】</a:t>
            </a:r>
          </a:p>
          <a:p>
            <a:pPr marL="0" indent="0">
              <a:lnSpc>
                <a:spcPct val="100000"/>
              </a:lnSpc>
              <a:buNone/>
            </a:pPr>
            <a:r>
              <a:rPr lang="ja-JP" altLang="en-US" sz="2400" dirty="0" smtClean="0"/>
              <a:t>内部監査の目的は、あら探しではなく改善のネタを見つけることであり、そのために、適合性だけでなく有効性についても監査することを意図しています。</a:t>
            </a:r>
            <a:endParaRPr lang="en-US" altLang="ja-JP" sz="2400" dirty="0" smtClean="0"/>
          </a:p>
          <a:p>
            <a:pPr marL="0" indent="0">
              <a:lnSpc>
                <a:spcPct val="100000"/>
              </a:lnSpc>
              <a:buNone/>
            </a:pPr>
            <a:r>
              <a:rPr lang="ja-JP" altLang="en-US" sz="2400" dirty="0" smtClean="0"/>
              <a:t>内部監査の目的として②は、内部監査プログラムを作成して、実施することを述べています。内部監査における実施項目は、下記②</a:t>
            </a:r>
            <a:r>
              <a:rPr lang="en-US" altLang="ja-JP" sz="2400" dirty="0" smtClean="0"/>
              <a:t>a)</a:t>
            </a:r>
            <a:r>
              <a:rPr lang="ja-JP" altLang="en-US" sz="2400" dirty="0" smtClean="0"/>
              <a:t>～</a:t>
            </a:r>
            <a:r>
              <a:rPr lang="en-US" altLang="ja-JP" sz="2400" dirty="0" smtClean="0"/>
              <a:t>f)</a:t>
            </a:r>
            <a:r>
              <a:rPr lang="ja-JP" altLang="en-US" sz="2400" dirty="0" smtClean="0"/>
              <a:t>に規定されています。</a:t>
            </a:r>
            <a:endParaRPr lang="en-US" altLang="ja-JP" sz="2400" dirty="0" smtClean="0"/>
          </a:p>
          <a:p>
            <a:pPr marL="0" indent="0">
              <a:lnSpc>
                <a:spcPct val="100000"/>
              </a:lnSpc>
              <a:buNone/>
            </a:pPr>
            <a:endParaRPr lang="en-US" altLang="ja-JP" sz="2400" dirty="0" smtClean="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9.2.2</a:t>
            </a:r>
            <a:r>
              <a:rPr kumimoji="1" lang="ja-JP" altLang="en-US" sz="3000" b="1" dirty="0" smtClean="0">
                <a:solidFill>
                  <a:schemeClr val="tx2"/>
                </a:solidFill>
              </a:rPr>
              <a:t>内部監査の実施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3012865377"/>
      </p:ext>
    </p:extLst>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1600" dirty="0" smtClean="0"/>
              <a:t>箇条</a:t>
            </a:r>
            <a:r>
              <a:rPr lang="en-US" altLang="ja-JP" sz="1600" dirty="0" smtClean="0"/>
              <a:t>9.2.2</a:t>
            </a:r>
          </a:p>
          <a:p>
            <a:pPr marL="0" indent="0">
              <a:lnSpc>
                <a:spcPct val="100000"/>
              </a:lnSpc>
              <a:buNone/>
            </a:pPr>
            <a:r>
              <a:rPr lang="ja-JP" altLang="en-US" sz="1600" dirty="0" smtClean="0"/>
              <a:t>②</a:t>
            </a:r>
            <a:r>
              <a:rPr lang="en-US" altLang="ja-JP" sz="1600" dirty="0" smtClean="0"/>
              <a:t>a)</a:t>
            </a:r>
            <a:r>
              <a:rPr lang="ja-JP" altLang="en-US" sz="1600" dirty="0" smtClean="0"/>
              <a:t>内部監査プログラムを作成することを述べている</a:t>
            </a:r>
            <a:endParaRPr lang="en-US" altLang="ja-JP" sz="1600" dirty="0" smtClean="0"/>
          </a:p>
          <a:p>
            <a:pPr marL="0" indent="0">
              <a:lnSpc>
                <a:spcPct val="100000"/>
              </a:lnSpc>
              <a:buNone/>
            </a:pPr>
            <a:r>
              <a:rPr lang="ja-JP" altLang="en-US" sz="1600" dirty="0"/>
              <a:t>　</a:t>
            </a:r>
            <a:r>
              <a:rPr lang="ja-JP" altLang="en-US" sz="1600" dirty="0" smtClean="0"/>
              <a:t>　</a:t>
            </a:r>
            <a:r>
              <a:rPr lang="en-US" altLang="ja-JP" sz="1600" dirty="0" smtClean="0"/>
              <a:t>IATF16949</a:t>
            </a:r>
            <a:r>
              <a:rPr lang="ja-JP" altLang="en-US" sz="1600" dirty="0" smtClean="0"/>
              <a:t>では、次項の箇条</a:t>
            </a:r>
            <a:r>
              <a:rPr lang="en-US" altLang="ja-JP" sz="1600" dirty="0" smtClean="0"/>
              <a:t>9.2.2.1</a:t>
            </a:r>
            <a:r>
              <a:rPr lang="ja-JP" altLang="en-US" sz="1600" dirty="0" smtClean="0"/>
              <a:t>に詳細が規定されている</a:t>
            </a:r>
            <a:endParaRPr lang="en-US" altLang="ja-JP" sz="1600" dirty="0" smtClean="0"/>
          </a:p>
          <a:p>
            <a:pPr marL="0" indent="0">
              <a:lnSpc>
                <a:spcPct val="100000"/>
              </a:lnSpc>
              <a:buNone/>
            </a:pPr>
            <a:r>
              <a:rPr lang="ja-JP" altLang="en-US" sz="1600" dirty="0" smtClean="0"/>
              <a:t>②</a:t>
            </a:r>
            <a:r>
              <a:rPr lang="en-US" altLang="ja-JP" sz="1600" dirty="0" smtClean="0"/>
              <a:t>b)</a:t>
            </a:r>
            <a:r>
              <a:rPr lang="ja-JP" altLang="en-US" sz="1600" dirty="0" smtClean="0"/>
              <a:t>監査基準には、次のようなものがある</a:t>
            </a:r>
            <a:endParaRPr lang="en-US" altLang="ja-JP" sz="1600" dirty="0" smtClean="0"/>
          </a:p>
          <a:p>
            <a:pPr marL="0" indent="0">
              <a:lnSpc>
                <a:spcPct val="100000"/>
              </a:lnSpc>
              <a:buNone/>
            </a:pPr>
            <a:r>
              <a:rPr lang="ja-JP" altLang="en-US" sz="1600" dirty="0" smtClean="0"/>
              <a:t>品質マネジメント監査：</a:t>
            </a:r>
            <a:r>
              <a:rPr lang="en-US" altLang="ja-JP" sz="1600" dirty="0" smtClean="0"/>
              <a:t>IATF16949</a:t>
            </a:r>
            <a:r>
              <a:rPr lang="ja-JP" altLang="en-US" sz="1600" dirty="0" smtClean="0"/>
              <a:t>規格要求事項、顧客固有要求事項、関連する法規制、組織が決めた要求事項（例　品質マニュアル）</a:t>
            </a:r>
            <a:endParaRPr lang="en-US" altLang="ja-JP" sz="1600" dirty="0" smtClean="0"/>
          </a:p>
          <a:p>
            <a:pPr marL="0" indent="0">
              <a:lnSpc>
                <a:spcPct val="100000"/>
              </a:lnSpc>
              <a:buNone/>
            </a:pPr>
            <a:r>
              <a:rPr lang="ja-JP" altLang="en-US" sz="1600" dirty="0" smtClean="0"/>
              <a:t>製造工程監査：コントロールプラン、プロセス</a:t>
            </a:r>
            <a:r>
              <a:rPr lang="en-US" altLang="ja-JP" sz="1600" dirty="0" smtClean="0"/>
              <a:t>FMEA</a:t>
            </a:r>
            <a:r>
              <a:rPr lang="ja-JP" altLang="en-US" sz="1600" dirty="0" smtClean="0"/>
              <a:t>など</a:t>
            </a:r>
            <a:endParaRPr lang="en-US" altLang="ja-JP" sz="1600" dirty="0" smtClean="0"/>
          </a:p>
          <a:p>
            <a:pPr marL="0" indent="0">
              <a:lnSpc>
                <a:spcPct val="100000"/>
              </a:lnSpc>
              <a:buNone/>
            </a:pPr>
            <a:r>
              <a:rPr lang="ja-JP" altLang="en-US" sz="1600" dirty="0" smtClean="0"/>
              <a:t>製品監査：コントロールプラン、製品図面、製品規格書、包装仕様書など</a:t>
            </a:r>
            <a:endParaRPr lang="en-US" altLang="ja-JP" sz="1600" dirty="0" smtClean="0"/>
          </a:p>
          <a:p>
            <a:pPr marL="0" indent="0">
              <a:lnSpc>
                <a:spcPct val="100000"/>
              </a:lnSpc>
              <a:buNone/>
            </a:pPr>
            <a:r>
              <a:rPr lang="ja-JP" altLang="en-US" sz="1600" dirty="0" smtClean="0"/>
              <a:t>監査時期：プロセス、部門、場所、対象時期など</a:t>
            </a:r>
            <a:endParaRPr lang="en-US" altLang="ja-JP" sz="1600" dirty="0" smtClean="0"/>
          </a:p>
          <a:p>
            <a:pPr marL="0" indent="0">
              <a:lnSpc>
                <a:spcPct val="100000"/>
              </a:lnSpc>
              <a:buNone/>
            </a:pPr>
            <a:r>
              <a:rPr lang="ja-JP" altLang="en-US" sz="1600" dirty="0" smtClean="0"/>
              <a:t>②</a:t>
            </a:r>
            <a:r>
              <a:rPr lang="en-US" altLang="ja-JP" sz="1600" dirty="0" smtClean="0"/>
              <a:t>c)</a:t>
            </a:r>
            <a:r>
              <a:rPr lang="ja-JP" altLang="en-US" sz="1600" dirty="0" smtClean="0"/>
              <a:t>自分（監査員）が行った仕事は監査できない</a:t>
            </a:r>
            <a:endParaRPr lang="en-US" altLang="ja-JP" sz="1600" dirty="0" smtClean="0"/>
          </a:p>
          <a:p>
            <a:pPr marL="0" indent="0">
              <a:lnSpc>
                <a:spcPct val="100000"/>
              </a:lnSpc>
              <a:buNone/>
            </a:pPr>
            <a:r>
              <a:rPr lang="ja-JP" altLang="en-US" sz="1600" dirty="0" smtClean="0"/>
              <a:t>②</a:t>
            </a:r>
            <a:r>
              <a:rPr lang="en-US" altLang="ja-JP" sz="1600" dirty="0" smtClean="0"/>
              <a:t>d)</a:t>
            </a:r>
            <a:r>
              <a:rPr lang="ja-JP" altLang="en-US" sz="1600" dirty="0" smtClean="0"/>
              <a:t>監査結果を、被監査部門の責任者や内部監査責任者に報告する</a:t>
            </a:r>
            <a:endParaRPr lang="en-US" altLang="ja-JP" sz="1600" dirty="0" smtClean="0"/>
          </a:p>
          <a:p>
            <a:pPr marL="0" indent="0">
              <a:lnSpc>
                <a:spcPct val="100000"/>
              </a:lnSpc>
              <a:buNone/>
            </a:pPr>
            <a:r>
              <a:rPr lang="ja-JP" altLang="en-US" sz="1600" dirty="0" smtClean="0"/>
              <a:t>②</a:t>
            </a:r>
            <a:r>
              <a:rPr lang="en-US" altLang="ja-JP" sz="1600" dirty="0" smtClean="0"/>
              <a:t>e)</a:t>
            </a:r>
            <a:r>
              <a:rPr lang="ja-JP" altLang="en-US" sz="1600" dirty="0" smtClean="0"/>
              <a:t>監査で不適合かどうか発見された場合、被監査部門の責任者は、タイムリーに修正と是正処置を行う。</a:t>
            </a:r>
            <a:endParaRPr lang="en-US" altLang="ja-JP" sz="1600" dirty="0" smtClean="0"/>
          </a:p>
          <a:p>
            <a:pPr marL="0" indent="0">
              <a:lnSpc>
                <a:spcPct val="100000"/>
              </a:lnSpc>
              <a:buNone/>
            </a:pPr>
            <a:r>
              <a:rPr lang="ja-JP" altLang="en-US" sz="1600" dirty="0" smtClean="0"/>
              <a:t>②</a:t>
            </a:r>
            <a:r>
              <a:rPr lang="en-US" altLang="ja-JP" sz="1600" dirty="0" smtClean="0"/>
              <a:t>f)</a:t>
            </a:r>
            <a:r>
              <a:rPr lang="ja-JP" altLang="en-US" sz="1600" dirty="0" smtClean="0"/>
              <a:t>不適合報告書や監査報告書を作成する</a:t>
            </a:r>
            <a:endParaRPr lang="en-US" altLang="ja-JP" sz="1600" dirty="0" smtClean="0"/>
          </a:p>
          <a:p>
            <a:pPr marL="0" indent="0">
              <a:lnSpc>
                <a:spcPct val="100000"/>
              </a:lnSpc>
              <a:buNone/>
            </a:pPr>
            <a:endParaRPr lang="en-US" altLang="ja-JP" sz="1400" dirty="0" smtClean="0"/>
          </a:p>
          <a:p>
            <a:pPr marL="0" indent="0">
              <a:lnSpc>
                <a:spcPct val="100000"/>
              </a:lnSpc>
              <a:buNone/>
            </a:pPr>
            <a:endParaRPr lang="en-US" altLang="ja-JP" sz="24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smtClean="0">
                <a:solidFill>
                  <a:schemeClr val="tx2"/>
                </a:solidFill>
              </a:rPr>
              <a:t>9.2.2</a:t>
            </a:r>
            <a:r>
              <a:rPr kumimoji="1" lang="ja-JP" altLang="en-US" sz="3000" b="1" dirty="0" smtClean="0">
                <a:solidFill>
                  <a:schemeClr val="tx2"/>
                </a:solidFill>
              </a:rPr>
              <a:t>内部監査の実施　</a:t>
            </a:r>
            <a:r>
              <a:rPr kumimoji="1" lang="en-US" altLang="ja-JP" sz="3000" b="1" dirty="0" smtClean="0">
                <a:solidFill>
                  <a:schemeClr val="tx2"/>
                </a:solidFill>
              </a:rPr>
              <a:t>(ISO9001</a:t>
            </a:r>
            <a:r>
              <a:rPr kumimoji="1" lang="ja-JP" altLang="en-US" sz="3000" b="1" dirty="0" smtClean="0">
                <a:solidFill>
                  <a:schemeClr val="tx2"/>
                </a:solidFill>
              </a:rPr>
              <a:t>要求</a:t>
            </a:r>
            <a:r>
              <a:rPr kumimoji="1" lang="en-US" altLang="ja-JP" sz="3000" b="1" dirty="0" smtClean="0">
                <a:solidFill>
                  <a:schemeClr val="tx2"/>
                </a:solidFill>
              </a:rPr>
              <a:t>)</a:t>
            </a:r>
            <a:endParaRPr kumimoji="1" lang="ja-JP" altLang="en-US" sz="3000" b="1" dirty="0">
              <a:solidFill>
                <a:schemeClr val="tx2"/>
              </a:solidFill>
            </a:endParaRPr>
          </a:p>
        </p:txBody>
      </p:sp>
    </p:spTree>
    <p:extLst>
      <p:ext uri="{BB962C8B-B14F-4D97-AF65-F5344CB8AC3E}">
        <p14:creationId xmlns:p14="http://schemas.microsoft.com/office/powerpoint/2010/main" val="2211587729"/>
      </p:ext>
    </p:extLst>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339</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b="1" dirty="0"/>
              <a:t>文書化した内部監査プロセス</a:t>
            </a:r>
            <a:r>
              <a:rPr lang="ja-JP" altLang="en-US" sz="2000" dirty="0"/>
              <a:t>をもたなければならない。</a:t>
            </a:r>
            <a:endParaRPr lang="en-US" altLang="ja-JP" sz="2000" dirty="0"/>
          </a:p>
          <a:p>
            <a:pPr marL="0" indent="0">
              <a:lnSpc>
                <a:spcPct val="100000"/>
              </a:lnSpc>
              <a:buNone/>
            </a:pPr>
            <a:r>
              <a:rPr lang="ja-JP" altLang="en-US" sz="2000" dirty="0"/>
              <a:t>☑そのプロセスには、</a:t>
            </a:r>
            <a:r>
              <a:rPr lang="ja-JP" altLang="en-US" sz="2000" u="sng" dirty="0"/>
              <a:t>品質マネジメントシステム監査、製造工程監査及び製品監査</a:t>
            </a:r>
            <a:r>
              <a:rPr lang="ja-JP" altLang="en-US" sz="2000" dirty="0"/>
              <a:t>を含む、品質マネジメントシステム全体を網羅する内部監査プログラムの策定及び実施を含めなければならない。</a:t>
            </a:r>
            <a:endParaRPr lang="en-US" altLang="ja-JP" sz="2000" dirty="0"/>
          </a:p>
          <a:p>
            <a:pPr marL="0" indent="0">
              <a:lnSpc>
                <a:spcPct val="100000"/>
              </a:lnSpc>
              <a:buNone/>
            </a:pPr>
            <a:r>
              <a:rPr lang="ja-JP" altLang="en-US" sz="2000" dirty="0"/>
              <a:t>☑監査プログラムは、</a:t>
            </a:r>
            <a:r>
              <a:rPr lang="ja-JP" altLang="en-US" sz="2000" u="sng" dirty="0"/>
              <a:t>リスク、内部及び外部パフォーマンスの傾向及びプロセスの重大性に基づいて優先付けしなければならない。</a:t>
            </a:r>
            <a:endParaRPr lang="en-US" altLang="ja-JP" sz="2000" u="sng" dirty="0"/>
          </a:p>
          <a:p>
            <a:pPr marL="0" indent="0">
              <a:lnSpc>
                <a:spcPct val="100000"/>
              </a:lnSpc>
              <a:buNone/>
            </a:pPr>
            <a:r>
              <a:rPr lang="ja-JP" altLang="en-US" sz="2000" dirty="0"/>
              <a:t>☑組織がソフトウェア開発の責任がある場合、組織は、</a:t>
            </a:r>
            <a:r>
              <a:rPr lang="ja-JP" altLang="en-US" sz="2000" u="sng" dirty="0"/>
              <a:t>ソフトウェア開発能力評価を監査プログラムに含めなければならない。</a:t>
            </a:r>
            <a:endParaRPr lang="en-US" altLang="ja-JP" sz="2000" u="sng" dirty="0"/>
          </a:p>
          <a:p>
            <a:pPr marL="0" indent="0">
              <a:lnSpc>
                <a:spcPct val="100000"/>
              </a:lnSpc>
              <a:buNone/>
            </a:pPr>
            <a:r>
              <a:rPr lang="ja-JP" altLang="en-US" sz="2000" dirty="0"/>
              <a:t>☑プロセス変更、内部及び外部不適合、並びに顧客苦情に基づいて、</a:t>
            </a:r>
            <a:r>
              <a:rPr lang="ja-JP" altLang="en-US" sz="2000" u="sng" dirty="0"/>
              <a:t>監査頻度をレビューし、必要に応じて、調整しなければならない。</a:t>
            </a:r>
            <a:endParaRPr lang="en-US" altLang="ja-JP" sz="2000" u="sng" dirty="0"/>
          </a:p>
          <a:p>
            <a:pPr marL="0" indent="0">
              <a:lnSpc>
                <a:spcPct val="100000"/>
              </a:lnSpc>
              <a:buNone/>
            </a:pPr>
            <a:r>
              <a:rPr lang="ja-JP" altLang="en-US" sz="2000" dirty="0"/>
              <a:t>☑監査プログラムの有効性は、マネジメントレビューの一部としてレビューしなければならない。</a:t>
            </a:r>
          </a:p>
          <a:p>
            <a:pPr marL="800100" lvl="1" indent="-342900">
              <a:lnSpc>
                <a:spcPct val="100000"/>
              </a:lnSpc>
              <a:buFont typeface="+mj-lt"/>
              <a:buAutoNum type="alphaLcPeriod"/>
            </a:pPr>
            <a:endParaRPr lang="en-US" altLang="ja-JP" sz="2000" dirty="0"/>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9.2.2.1</a:t>
            </a:r>
            <a:r>
              <a:rPr kumimoji="1" lang="ja-JP" altLang="en-US" sz="3000" b="1" dirty="0">
                <a:solidFill>
                  <a:schemeClr val="tx2"/>
                </a:solidFill>
              </a:rPr>
              <a:t>　内部監査プログラム</a:t>
            </a:r>
          </a:p>
        </p:txBody>
      </p:sp>
    </p:spTree>
    <p:extLst>
      <p:ext uri="{BB962C8B-B14F-4D97-AF65-F5344CB8AC3E}">
        <p14:creationId xmlns:p14="http://schemas.microsoft.com/office/powerpoint/2010/main" val="3713605411"/>
      </p:ext>
    </p:extLst>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ＩＡＴＦが求める内部監査。</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適切な優先度と頻度の決定。</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監査プログラムは、</a:t>
            </a:r>
            <a:r>
              <a:rPr lang="en-US" altLang="ja-JP" sz="2400" dirty="0"/>
              <a:t>9.2.2.2</a:t>
            </a:r>
            <a:r>
              <a:rPr lang="ja-JP" altLang="en-US" sz="2400" dirty="0"/>
              <a:t>及び</a:t>
            </a:r>
            <a:r>
              <a:rPr lang="en-US" altLang="ja-JP" sz="2400" dirty="0"/>
              <a:t>9.2.2.3</a:t>
            </a:r>
            <a:r>
              <a:rPr lang="ja-JP" altLang="en-US" sz="2400" dirty="0"/>
              <a:t>の記述から　“</a:t>
            </a:r>
            <a:r>
              <a:rPr lang="en-US" altLang="ja-JP" sz="2400" dirty="0"/>
              <a:t>3</a:t>
            </a:r>
            <a:r>
              <a:rPr lang="ja-JP" altLang="en-US" sz="2400" dirty="0"/>
              <a:t>か年　</a:t>
            </a:r>
            <a:r>
              <a:rPr lang="en-US" altLang="ja-JP" sz="2400" dirty="0"/>
              <a:t>+</a:t>
            </a:r>
            <a:r>
              <a:rPr lang="ja-JP" altLang="en-US" sz="2400" dirty="0"/>
              <a:t>　年次”　で持つべき。</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9.2.2.1</a:t>
            </a:r>
            <a:r>
              <a:rPr lang="ja-JP" altLang="en-US" sz="3000" b="1" dirty="0">
                <a:solidFill>
                  <a:schemeClr val="bg1"/>
                </a:solidFill>
              </a:rPr>
              <a:t>　内部監査プログラム</a:t>
            </a:r>
          </a:p>
        </p:txBody>
      </p:sp>
      <p:graphicFrame>
        <p:nvGraphicFramePr>
          <p:cNvPr id="2" name="表 1">
            <a:extLst>
              <a:ext uri="{FF2B5EF4-FFF2-40B4-BE49-F238E27FC236}">
                <a16:creationId xmlns:a16="http://schemas.microsoft.com/office/drawing/2014/main" id="{7EC4FA59-76A7-4168-8C4B-9ED4A30F3B3E}"/>
              </a:ext>
            </a:extLst>
          </p:cNvPr>
          <p:cNvGraphicFramePr>
            <a:graphicFrameLocks noGrp="1"/>
          </p:cNvGraphicFramePr>
          <p:nvPr>
            <p:extLst>
              <p:ext uri="{D42A27DB-BD31-4B8C-83A1-F6EECF244321}">
                <p14:modId xmlns:p14="http://schemas.microsoft.com/office/powerpoint/2010/main" val="1947919655"/>
              </p:ext>
            </p:extLst>
          </p:nvPr>
        </p:nvGraphicFramePr>
        <p:xfrm>
          <a:off x="838197" y="1861851"/>
          <a:ext cx="10515600" cy="1861852"/>
        </p:xfrm>
        <a:graphic>
          <a:graphicData uri="http://schemas.openxmlformats.org/drawingml/2006/table">
            <a:tbl>
              <a:tblPr firstRow="1" bandRow="1">
                <a:tableStyleId>{5940675A-B579-460E-94D1-54222C63F5DA}</a:tableStyleId>
              </a:tblPr>
              <a:tblGrid>
                <a:gridCol w="1629581">
                  <a:extLst>
                    <a:ext uri="{9D8B030D-6E8A-4147-A177-3AD203B41FA5}">
                      <a16:colId xmlns:a16="http://schemas.microsoft.com/office/drawing/2014/main" val="2155444352"/>
                    </a:ext>
                  </a:extLst>
                </a:gridCol>
                <a:gridCol w="1189822">
                  <a:extLst>
                    <a:ext uri="{9D8B030D-6E8A-4147-A177-3AD203B41FA5}">
                      <a16:colId xmlns:a16="http://schemas.microsoft.com/office/drawing/2014/main" val="1930164845"/>
                    </a:ext>
                  </a:extLst>
                </a:gridCol>
                <a:gridCol w="1123720">
                  <a:extLst>
                    <a:ext uri="{9D8B030D-6E8A-4147-A177-3AD203B41FA5}">
                      <a16:colId xmlns:a16="http://schemas.microsoft.com/office/drawing/2014/main" val="2561389133"/>
                    </a:ext>
                  </a:extLst>
                </a:gridCol>
                <a:gridCol w="6572477">
                  <a:extLst>
                    <a:ext uri="{9D8B030D-6E8A-4147-A177-3AD203B41FA5}">
                      <a16:colId xmlns:a16="http://schemas.microsoft.com/office/drawing/2014/main" val="1459122726"/>
                    </a:ext>
                  </a:extLst>
                </a:gridCol>
              </a:tblGrid>
              <a:tr h="465463">
                <a:tc>
                  <a:txBody>
                    <a:bodyPr/>
                    <a:lstStyle/>
                    <a:p>
                      <a:endParaRPr kumimoji="1" lang="ja-JP" altLang="en-US" sz="1800" dirty="0"/>
                    </a:p>
                  </a:txBody>
                  <a:tcPr anchor="ctr" anchorCtr="1">
                    <a:solidFill>
                      <a:schemeClr val="tx2">
                        <a:lumMod val="20000"/>
                        <a:lumOff val="80000"/>
                      </a:schemeClr>
                    </a:solidFill>
                  </a:tcPr>
                </a:tc>
                <a:tc>
                  <a:txBody>
                    <a:bodyPr/>
                    <a:lstStyle/>
                    <a:p>
                      <a:pPr algn="ctr"/>
                      <a:r>
                        <a:rPr kumimoji="1" lang="en-US" altLang="ja-JP" sz="1600" dirty="0"/>
                        <a:t>IATF16949</a:t>
                      </a:r>
                      <a:endParaRPr kumimoji="1" lang="ja-JP" altLang="en-US" sz="1600" dirty="0"/>
                    </a:p>
                  </a:txBody>
                  <a:tcPr anchor="ctr" anchorCtr="1">
                    <a:solidFill>
                      <a:schemeClr val="tx2">
                        <a:lumMod val="20000"/>
                        <a:lumOff val="80000"/>
                      </a:schemeClr>
                    </a:solidFill>
                  </a:tcPr>
                </a:tc>
                <a:tc>
                  <a:txBody>
                    <a:bodyPr/>
                    <a:lstStyle/>
                    <a:p>
                      <a:pPr algn="ctr"/>
                      <a:r>
                        <a:rPr kumimoji="1" lang="en-US" altLang="ja-JP" sz="1600" dirty="0"/>
                        <a:t>ISO9001</a:t>
                      </a:r>
                      <a:endParaRPr kumimoji="1" lang="ja-JP" altLang="en-US" sz="1600" dirty="0"/>
                    </a:p>
                  </a:txBody>
                  <a:tcPr anchor="ctr" anchorCtr="1">
                    <a:solidFill>
                      <a:schemeClr val="tx2">
                        <a:lumMod val="20000"/>
                        <a:lumOff val="80000"/>
                      </a:schemeClr>
                    </a:solidFill>
                  </a:tcPr>
                </a:tc>
                <a:tc>
                  <a:txBody>
                    <a:bodyPr/>
                    <a:lstStyle/>
                    <a:p>
                      <a:pPr algn="ctr"/>
                      <a:r>
                        <a:rPr kumimoji="1" lang="ja-JP" altLang="en-US" sz="1800" dirty="0"/>
                        <a:t>目的</a:t>
                      </a:r>
                    </a:p>
                  </a:txBody>
                  <a:tcPr anchor="ctr" anchorCtr="1">
                    <a:solidFill>
                      <a:schemeClr val="tx2">
                        <a:lumMod val="20000"/>
                        <a:lumOff val="80000"/>
                      </a:schemeClr>
                    </a:solidFill>
                  </a:tcPr>
                </a:tc>
                <a:extLst>
                  <a:ext uri="{0D108BD9-81ED-4DB2-BD59-A6C34878D82A}">
                    <a16:rowId xmlns:a16="http://schemas.microsoft.com/office/drawing/2014/main" val="2137149089"/>
                  </a:ext>
                </a:extLst>
              </a:tr>
              <a:tr h="465463">
                <a:tc>
                  <a:txBody>
                    <a:bodyPr/>
                    <a:lstStyle/>
                    <a:p>
                      <a:r>
                        <a:rPr kumimoji="1" lang="ja-JP" altLang="en-US" sz="1800" dirty="0"/>
                        <a:t>ＱＭＳ監査</a:t>
                      </a:r>
                    </a:p>
                  </a:txBody>
                  <a:tcPr anchor="ctr" anchorCtr="1">
                    <a:solidFill>
                      <a:schemeClr val="tx2">
                        <a:lumMod val="20000"/>
                        <a:lumOff val="80000"/>
                      </a:schemeClr>
                    </a:solidFill>
                  </a:tcPr>
                </a:tc>
                <a:tc>
                  <a:txBody>
                    <a:bodyPr/>
                    <a:lstStyle/>
                    <a:p>
                      <a:pPr algn="ctr"/>
                      <a:r>
                        <a:rPr kumimoji="1" lang="ja-JP" altLang="en-US" sz="1800" dirty="0"/>
                        <a:t>●</a:t>
                      </a:r>
                    </a:p>
                  </a:txBody>
                  <a:tcPr anchor="ctr" anchorCtr="1">
                    <a:solidFill>
                      <a:schemeClr val="tx2">
                        <a:lumMod val="20000"/>
                        <a:lumOff val="80000"/>
                      </a:schemeClr>
                    </a:solidFill>
                  </a:tcPr>
                </a:tc>
                <a:tc>
                  <a:txBody>
                    <a:bodyPr/>
                    <a:lstStyle/>
                    <a:p>
                      <a:pPr algn="ctr"/>
                      <a:r>
                        <a:rPr kumimoji="1" lang="ja-JP" altLang="en-US" sz="1800" dirty="0"/>
                        <a:t>●</a:t>
                      </a:r>
                    </a:p>
                  </a:txBody>
                  <a:tcPr anchor="ctr" anchorCtr="1">
                    <a:solidFill>
                      <a:schemeClr val="tx2">
                        <a:lumMod val="20000"/>
                        <a:lumOff val="80000"/>
                      </a:schemeClr>
                    </a:solidFill>
                  </a:tcPr>
                </a:tc>
                <a:tc>
                  <a:txBody>
                    <a:bodyPr/>
                    <a:lstStyle/>
                    <a:p>
                      <a:pPr algn="l"/>
                      <a:r>
                        <a:rPr kumimoji="1" lang="ja-JP" altLang="en-US" sz="1800" dirty="0"/>
                        <a:t>自動車産業</a:t>
                      </a:r>
                      <a:r>
                        <a:rPr kumimoji="1" lang="en-US" altLang="ja-JP" sz="1800" dirty="0"/>
                        <a:t>QMS</a:t>
                      </a:r>
                      <a:r>
                        <a:rPr kumimoji="1" lang="ja-JP" altLang="en-US" sz="1800" dirty="0"/>
                        <a:t>規格への適合と有効性の検証</a:t>
                      </a:r>
                    </a:p>
                  </a:txBody>
                  <a:tcPr anchor="ctr">
                    <a:solidFill>
                      <a:schemeClr val="tx2">
                        <a:lumMod val="20000"/>
                        <a:lumOff val="80000"/>
                      </a:schemeClr>
                    </a:solidFill>
                  </a:tcPr>
                </a:tc>
                <a:extLst>
                  <a:ext uri="{0D108BD9-81ED-4DB2-BD59-A6C34878D82A}">
                    <a16:rowId xmlns:a16="http://schemas.microsoft.com/office/drawing/2014/main" val="1832282934"/>
                  </a:ext>
                </a:extLst>
              </a:tr>
              <a:tr h="465463">
                <a:tc>
                  <a:txBody>
                    <a:bodyPr/>
                    <a:lstStyle/>
                    <a:p>
                      <a:r>
                        <a:rPr kumimoji="1" lang="ja-JP" altLang="en-US" sz="1800" dirty="0"/>
                        <a:t>製造工程監査</a:t>
                      </a:r>
                    </a:p>
                  </a:txBody>
                  <a:tcPr anchor="ctr" anchorCtr="1">
                    <a:solidFill>
                      <a:schemeClr val="tx2">
                        <a:lumMod val="20000"/>
                        <a:lumOff val="80000"/>
                      </a:schemeClr>
                    </a:solidFill>
                  </a:tcPr>
                </a:tc>
                <a:tc>
                  <a:txBody>
                    <a:bodyPr/>
                    <a:lstStyle/>
                    <a:p>
                      <a:pPr algn="ctr"/>
                      <a:r>
                        <a:rPr kumimoji="1" lang="ja-JP" altLang="en-US" sz="1800" dirty="0"/>
                        <a:t>●</a:t>
                      </a:r>
                    </a:p>
                  </a:txBody>
                  <a:tcPr anchor="ctr" anchorCtr="1">
                    <a:solidFill>
                      <a:schemeClr val="tx2">
                        <a:lumMod val="20000"/>
                        <a:lumOff val="80000"/>
                      </a:schemeClr>
                    </a:solidFill>
                  </a:tcPr>
                </a:tc>
                <a:tc>
                  <a:txBody>
                    <a:bodyPr/>
                    <a:lstStyle/>
                    <a:p>
                      <a:pPr algn="ctr"/>
                      <a:r>
                        <a:rPr kumimoji="1" lang="ja-JP" altLang="en-US" sz="1800" dirty="0"/>
                        <a:t>任意</a:t>
                      </a:r>
                    </a:p>
                  </a:txBody>
                  <a:tcPr anchor="ctr" anchorCtr="1">
                    <a:solidFill>
                      <a:schemeClr val="tx2">
                        <a:lumMod val="20000"/>
                        <a:lumOff val="80000"/>
                      </a:schemeClr>
                    </a:solidFill>
                  </a:tcPr>
                </a:tc>
                <a:tc>
                  <a:txBody>
                    <a:bodyPr/>
                    <a:lstStyle/>
                    <a:p>
                      <a:pPr algn="l"/>
                      <a:r>
                        <a:rPr kumimoji="1" lang="ja-JP" altLang="en-US" sz="1800" dirty="0"/>
                        <a:t>製造工程の有効性と効率の判定</a:t>
                      </a:r>
                    </a:p>
                  </a:txBody>
                  <a:tcPr anchor="ctr">
                    <a:solidFill>
                      <a:schemeClr val="tx2">
                        <a:lumMod val="20000"/>
                        <a:lumOff val="80000"/>
                      </a:schemeClr>
                    </a:solidFill>
                  </a:tcPr>
                </a:tc>
                <a:extLst>
                  <a:ext uri="{0D108BD9-81ED-4DB2-BD59-A6C34878D82A}">
                    <a16:rowId xmlns:a16="http://schemas.microsoft.com/office/drawing/2014/main" val="54951439"/>
                  </a:ext>
                </a:extLst>
              </a:tr>
              <a:tr h="465463">
                <a:tc>
                  <a:txBody>
                    <a:bodyPr/>
                    <a:lstStyle/>
                    <a:p>
                      <a:r>
                        <a:rPr kumimoji="1" lang="ja-JP" altLang="en-US" sz="1800" dirty="0"/>
                        <a:t>製品監査</a:t>
                      </a:r>
                    </a:p>
                  </a:txBody>
                  <a:tcPr anchor="ctr" anchorCtr="1">
                    <a:solidFill>
                      <a:schemeClr val="tx2">
                        <a:lumMod val="20000"/>
                        <a:lumOff val="80000"/>
                      </a:schemeClr>
                    </a:solidFill>
                  </a:tcPr>
                </a:tc>
                <a:tc>
                  <a:txBody>
                    <a:bodyPr/>
                    <a:lstStyle/>
                    <a:p>
                      <a:pPr algn="ctr"/>
                      <a:r>
                        <a:rPr kumimoji="1" lang="ja-JP" altLang="en-US" sz="1800" dirty="0"/>
                        <a:t>●</a:t>
                      </a:r>
                    </a:p>
                  </a:txBody>
                  <a:tcPr anchor="ctr" anchorCtr="1">
                    <a:solidFill>
                      <a:schemeClr val="tx2">
                        <a:lumMod val="20000"/>
                        <a:lumOff val="80000"/>
                      </a:schemeClr>
                    </a:solidFill>
                  </a:tcPr>
                </a:tc>
                <a:tc>
                  <a:txBody>
                    <a:bodyPr/>
                    <a:lstStyle/>
                    <a:p>
                      <a:pPr algn="ctr"/>
                      <a:r>
                        <a:rPr kumimoji="1" lang="ja-JP" altLang="en-US" sz="1800" dirty="0"/>
                        <a:t>任意</a:t>
                      </a:r>
                    </a:p>
                  </a:txBody>
                  <a:tcPr anchor="ctr" anchorCtr="1">
                    <a:solidFill>
                      <a:schemeClr val="tx2">
                        <a:lumMod val="20000"/>
                        <a:lumOff val="80000"/>
                      </a:schemeClr>
                    </a:solidFill>
                  </a:tcPr>
                </a:tc>
                <a:tc>
                  <a:txBody>
                    <a:bodyPr/>
                    <a:lstStyle/>
                    <a:p>
                      <a:pPr algn="l"/>
                      <a:r>
                        <a:rPr kumimoji="1" lang="ja-JP" altLang="en-US" sz="1800" dirty="0"/>
                        <a:t>製品の規定要求事項への適合の検証（寸法・機能・包装等）</a:t>
                      </a:r>
                    </a:p>
                  </a:txBody>
                  <a:tcPr anchor="ctr">
                    <a:solidFill>
                      <a:schemeClr val="tx2">
                        <a:lumMod val="20000"/>
                        <a:lumOff val="80000"/>
                      </a:schemeClr>
                    </a:solidFill>
                  </a:tcPr>
                </a:tc>
                <a:extLst>
                  <a:ext uri="{0D108BD9-81ED-4DB2-BD59-A6C34878D82A}">
                    <a16:rowId xmlns:a16="http://schemas.microsoft.com/office/drawing/2014/main" val="3430823899"/>
                  </a:ext>
                </a:extLst>
              </a:tr>
            </a:tbl>
          </a:graphicData>
        </a:graphic>
      </p:graphicFrame>
      <p:graphicFrame>
        <p:nvGraphicFramePr>
          <p:cNvPr id="10" name="表 9">
            <a:extLst>
              <a:ext uri="{FF2B5EF4-FFF2-40B4-BE49-F238E27FC236}">
                <a16:creationId xmlns:a16="http://schemas.microsoft.com/office/drawing/2014/main" id="{B6DE8847-11B6-4F1F-A011-92F6A759BF1C}"/>
              </a:ext>
            </a:extLst>
          </p:cNvPr>
          <p:cNvGraphicFramePr>
            <a:graphicFrameLocks noGrp="1"/>
          </p:cNvGraphicFramePr>
          <p:nvPr>
            <p:extLst>
              <p:ext uri="{D42A27DB-BD31-4B8C-83A1-F6EECF244321}">
                <p14:modId xmlns:p14="http://schemas.microsoft.com/office/powerpoint/2010/main" val="3391834926"/>
              </p:ext>
            </p:extLst>
          </p:nvPr>
        </p:nvGraphicFramePr>
        <p:xfrm>
          <a:off x="838199" y="4355232"/>
          <a:ext cx="10515600" cy="914400"/>
        </p:xfrm>
        <a:graphic>
          <a:graphicData uri="http://schemas.openxmlformats.org/drawingml/2006/table">
            <a:tbl>
              <a:tblPr firstRow="1" bandRow="1">
                <a:tableStyleId>{5940675A-B579-460E-94D1-54222C63F5DA}</a:tableStyleId>
              </a:tblPr>
              <a:tblGrid>
                <a:gridCol w="1871950">
                  <a:extLst>
                    <a:ext uri="{9D8B030D-6E8A-4147-A177-3AD203B41FA5}">
                      <a16:colId xmlns:a16="http://schemas.microsoft.com/office/drawing/2014/main" val="3057123933"/>
                    </a:ext>
                  </a:extLst>
                </a:gridCol>
                <a:gridCol w="8643650">
                  <a:extLst>
                    <a:ext uri="{9D8B030D-6E8A-4147-A177-3AD203B41FA5}">
                      <a16:colId xmlns:a16="http://schemas.microsoft.com/office/drawing/2014/main" val="1776992296"/>
                    </a:ext>
                  </a:extLst>
                </a:gridCol>
              </a:tblGrid>
              <a:tr h="370840">
                <a:tc>
                  <a:txBody>
                    <a:bodyPr/>
                    <a:lstStyle/>
                    <a:p>
                      <a:pPr algn="ctr"/>
                      <a:r>
                        <a:rPr kumimoji="1" lang="ja-JP" altLang="en-US" sz="2400" dirty="0"/>
                        <a:t>優先度</a:t>
                      </a:r>
                    </a:p>
                  </a:txBody>
                  <a:tcPr>
                    <a:solidFill>
                      <a:schemeClr val="tx2">
                        <a:lumMod val="20000"/>
                        <a:lumOff val="80000"/>
                      </a:schemeClr>
                    </a:solidFill>
                  </a:tcPr>
                </a:tc>
                <a:tc>
                  <a:txBody>
                    <a:bodyPr/>
                    <a:lstStyle/>
                    <a:p>
                      <a:r>
                        <a:rPr kumimoji="1" lang="ja-JP" altLang="en-US" sz="2400" dirty="0"/>
                        <a:t>リスク、内外のパフォーマンス傾向、プロセスの重要性など。</a:t>
                      </a:r>
                    </a:p>
                  </a:txBody>
                  <a:tcPr>
                    <a:solidFill>
                      <a:schemeClr val="tx2">
                        <a:lumMod val="20000"/>
                        <a:lumOff val="80000"/>
                      </a:schemeClr>
                    </a:solidFill>
                  </a:tcPr>
                </a:tc>
                <a:extLst>
                  <a:ext uri="{0D108BD9-81ED-4DB2-BD59-A6C34878D82A}">
                    <a16:rowId xmlns:a16="http://schemas.microsoft.com/office/drawing/2014/main" val="3093601594"/>
                  </a:ext>
                </a:extLst>
              </a:tr>
              <a:tr h="370840">
                <a:tc>
                  <a:txBody>
                    <a:bodyPr/>
                    <a:lstStyle/>
                    <a:p>
                      <a:pPr algn="ctr"/>
                      <a:r>
                        <a:rPr kumimoji="1" lang="ja-JP" altLang="en-US" sz="2400" dirty="0"/>
                        <a:t>頻度</a:t>
                      </a:r>
                    </a:p>
                  </a:txBody>
                  <a:tcPr>
                    <a:solidFill>
                      <a:schemeClr val="tx2">
                        <a:lumMod val="20000"/>
                        <a:lumOff val="80000"/>
                      </a:schemeClr>
                    </a:solidFill>
                  </a:tcPr>
                </a:tc>
                <a:tc>
                  <a:txBody>
                    <a:bodyPr/>
                    <a:lstStyle/>
                    <a:p>
                      <a:r>
                        <a:rPr kumimoji="1" lang="ja-JP" altLang="en-US" sz="2400" dirty="0"/>
                        <a:t>内外の不適合、顧客苦情など。</a:t>
                      </a:r>
                    </a:p>
                  </a:txBody>
                  <a:tcPr>
                    <a:solidFill>
                      <a:schemeClr val="tx2">
                        <a:lumMod val="20000"/>
                        <a:lumOff val="80000"/>
                      </a:schemeClr>
                    </a:solidFill>
                  </a:tcPr>
                </a:tc>
                <a:extLst>
                  <a:ext uri="{0D108BD9-81ED-4DB2-BD59-A6C34878D82A}">
                    <a16:rowId xmlns:a16="http://schemas.microsoft.com/office/drawing/2014/main" val="1341185553"/>
                  </a:ext>
                </a:extLst>
              </a:tr>
            </a:tbl>
          </a:graphicData>
        </a:graphic>
      </p:graphicFrame>
    </p:spTree>
    <p:extLst>
      <p:ext uri="{BB962C8B-B14F-4D97-AF65-F5344CB8AC3E}">
        <p14:creationId xmlns:p14="http://schemas.microsoft.com/office/powerpoint/2010/main" val="2338281566"/>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9.2.2.1</a:t>
            </a:r>
            <a:r>
              <a:rPr lang="ja-JP" altLang="en-US" sz="3000" b="1" dirty="0">
                <a:solidFill>
                  <a:schemeClr val="bg1"/>
                </a:solidFill>
              </a:rPr>
              <a:t>　内部監査プログラム</a:t>
            </a:r>
          </a:p>
        </p:txBody>
      </p:sp>
      <p:pic>
        <p:nvPicPr>
          <p:cNvPr id="8" name="図 7">
            <a:extLst>
              <a:ext uri="{FF2B5EF4-FFF2-40B4-BE49-F238E27FC236}">
                <a16:creationId xmlns:a16="http://schemas.microsoft.com/office/drawing/2014/main" id="{ACC0E329-4AEA-44BD-A412-177A2E06D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26038"/>
            <a:ext cx="10515599" cy="5030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11977"/>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年次プログラムに従って</a:t>
            </a:r>
            <a:r>
              <a:rPr lang="en-US" altLang="ja-JP" sz="2000" u="sng" dirty="0"/>
              <a:t>3</a:t>
            </a:r>
            <a:r>
              <a:rPr lang="ja-JP" altLang="en-US" sz="2000" u="sng" dirty="0"/>
              <a:t>年間の監査サイクルにおいて</a:t>
            </a:r>
            <a:r>
              <a:rPr lang="ja-JP" altLang="en-US" sz="2000" dirty="0"/>
              <a:t>、この自動車産業</a:t>
            </a:r>
            <a:r>
              <a:rPr lang="en-US" altLang="ja-JP" sz="2000" dirty="0"/>
              <a:t>QMS</a:t>
            </a:r>
            <a:r>
              <a:rPr lang="ja-JP" altLang="en-US" sz="2000" dirty="0"/>
              <a:t>規格への適合を検証するためにプロセスアプローチを用いて、すべての</a:t>
            </a:r>
            <a:r>
              <a:rPr lang="ja-JP" altLang="en-US" sz="2000" u="sng" dirty="0"/>
              <a:t>品質マネジメントシステムプロセスを監査しなければならない。</a:t>
            </a:r>
            <a:endParaRPr lang="en-US" altLang="ja-JP" sz="2000" u="sng" dirty="0"/>
          </a:p>
          <a:p>
            <a:pPr marL="0" indent="0">
              <a:lnSpc>
                <a:spcPct val="100000"/>
              </a:lnSpc>
              <a:buNone/>
            </a:pPr>
            <a:r>
              <a:rPr lang="ja-JP" altLang="en-US" sz="2000" dirty="0"/>
              <a:t>☑これらの監査の中で組織は、その有効な実施を確認するために</a:t>
            </a:r>
            <a:r>
              <a:rPr lang="ja-JP" altLang="en-US" sz="2000" u="sng" dirty="0"/>
              <a:t>顧客固有品質マネジメントシステム要求事項のサンプリング監査</a:t>
            </a:r>
            <a:r>
              <a:rPr lang="ja-JP" altLang="en-US" sz="2000" dirty="0"/>
              <a:t>を実施しなければならない。</a:t>
            </a:r>
            <a:endParaRPr lang="en-US" altLang="ja-JP" sz="2000" dirty="0"/>
          </a:p>
          <a:p>
            <a:pPr marL="0" indent="0">
              <a:lnSpc>
                <a:spcPct val="100000"/>
              </a:lnSpc>
              <a:buNone/>
            </a:pPr>
            <a:r>
              <a:rPr lang="ja-JP" altLang="en-US" sz="2000" dirty="0"/>
              <a:t>☑</a:t>
            </a:r>
            <a:r>
              <a:rPr lang="ja-JP" altLang="en-US" sz="2000" u="sng" dirty="0"/>
              <a:t>完全な監査サイクルの期間は</a:t>
            </a:r>
            <a:r>
              <a:rPr lang="en-US" altLang="ja-JP" sz="2000" u="sng" dirty="0"/>
              <a:t>3</a:t>
            </a:r>
            <a:r>
              <a:rPr lang="ja-JP" altLang="en-US" sz="2000" u="sng" dirty="0"/>
              <a:t>年間</a:t>
            </a:r>
            <a:r>
              <a:rPr lang="ja-JP" altLang="en-US" sz="2000" dirty="0"/>
              <a:t>のままとする。この</a:t>
            </a:r>
            <a:r>
              <a:rPr lang="en-US" altLang="ja-JP" sz="2000" dirty="0"/>
              <a:t>3</a:t>
            </a:r>
            <a:r>
              <a:rPr lang="ja-JP" altLang="en-US" sz="2000" dirty="0"/>
              <a:t>年間の監査サイクルの間に監査が実施される個々のプロセスの品質マネジメントシステム監査の頻度は、内部及び外部のパフォーマンス及びリスクに基づくものとしなければならない。</a:t>
            </a:r>
            <a:endParaRPr lang="en-US" altLang="ja-JP" sz="2000" dirty="0"/>
          </a:p>
          <a:p>
            <a:pPr marL="0" indent="0">
              <a:lnSpc>
                <a:spcPct val="100000"/>
              </a:lnSpc>
              <a:buNone/>
            </a:pPr>
            <a:r>
              <a:rPr lang="ja-JP" altLang="en-US" sz="2000" dirty="0"/>
              <a:t>☑組織は、自社のプロセスに割当てた監査頻度を正当とする理由を維持しなければならない。</a:t>
            </a:r>
            <a:r>
              <a:rPr lang="ja-JP" altLang="en-US" sz="2000" u="sng" dirty="0"/>
              <a:t>すべてのプロセスを</a:t>
            </a:r>
            <a:r>
              <a:rPr lang="en-US" altLang="ja-JP" sz="2000" u="sng" dirty="0"/>
              <a:t>3</a:t>
            </a:r>
            <a:r>
              <a:rPr lang="ja-JP" altLang="en-US" sz="2000" u="sng" dirty="0"/>
              <a:t>年間の監査サイクルの間にサンプリングする</a:t>
            </a:r>
            <a:r>
              <a:rPr lang="ja-JP" altLang="en-US" sz="2000" dirty="0"/>
              <a:t>こと、並びに、</a:t>
            </a:r>
            <a:r>
              <a:rPr lang="en-US" altLang="ja-JP" sz="2000" u="sng" dirty="0"/>
              <a:t>ISO9001</a:t>
            </a:r>
            <a:r>
              <a:rPr lang="ja-JP" altLang="en-US" sz="2000" u="sng" dirty="0"/>
              <a:t>基本要求事項及び顧客固有要求事項も含めて、</a:t>
            </a:r>
            <a:r>
              <a:rPr lang="en-US" altLang="ja-JP" sz="2000" u="sng" dirty="0"/>
              <a:t>IATF16949</a:t>
            </a:r>
            <a:r>
              <a:rPr lang="ja-JP" altLang="en-US" sz="2000" u="sng" dirty="0"/>
              <a:t>規格中の適用されるすべての要求事項について監査することが要求される。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9.2.2.2</a:t>
            </a:r>
            <a:r>
              <a:rPr kumimoji="1" lang="ja-JP" altLang="en-US" sz="3000" b="1" dirty="0">
                <a:solidFill>
                  <a:schemeClr val="tx2"/>
                </a:solidFill>
              </a:rPr>
              <a:t>　品質マネジメントシステム監査</a:t>
            </a:r>
          </a:p>
        </p:txBody>
      </p:sp>
      <p:sp>
        <p:nvSpPr>
          <p:cNvPr id="2" name="四角形: 角を丸くする 1">
            <a:extLst>
              <a:ext uri="{FF2B5EF4-FFF2-40B4-BE49-F238E27FC236}">
                <a16:creationId xmlns:a16="http://schemas.microsoft.com/office/drawing/2014/main" id="{45D52287-AB62-48D2-B14B-149A68949EA9}"/>
              </a:ext>
            </a:extLst>
          </p:cNvPr>
          <p:cNvSpPr/>
          <p:nvPr/>
        </p:nvSpPr>
        <p:spPr>
          <a:xfrm>
            <a:off x="10581640" y="741680"/>
            <a:ext cx="77216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14</a:t>
            </a:r>
          </a:p>
        </p:txBody>
      </p:sp>
    </p:spTree>
    <p:extLst>
      <p:ext uri="{BB962C8B-B14F-4D97-AF65-F5344CB8AC3E}">
        <p14:creationId xmlns:p14="http://schemas.microsoft.com/office/powerpoint/2010/main" val="526810781"/>
      </p:ext>
    </p:extLst>
  </p:cSld>
  <p:clrMapOvr>
    <a:masterClrMapping/>
  </p:clrMapOvr>
  <p:timing>
    <p:tnLst>
      <p:par>
        <p:cTn id="1" dur="indefinite" restart="never" nodeType="tmRoot"/>
      </p:par>
    </p:tn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監査対象は、特定した全てのプロセス。（自動車産業プロセスアプローチによる監査）</a:t>
            </a:r>
            <a:endParaRPr lang="en-US" altLang="ja-JP" sz="2400" dirty="0"/>
          </a:p>
          <a:p>
            <a:pPr marL="457200" indent="-457200">
              <a:lnSpc>
                <a:spcPct val="100000"/>
              </a:lnSpc>
              <a:buFont typeface="+mj-lt"/>
              <a:buAutoNum type="arabicPeriod"/>
            </a:pPr>
            <a:r>
              <a:rPr lang="ja-JP" altLang="en-US" sz="2400" dirty="0"/>
              <a:t>３か年計画の事例。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9.2.2.2</a:t>
            </a:r>
            <a:r>
              <a:rPr lang="ja-JP" altLang="en-US" sz="3000" b="1" dirty="0">
                <a:solidFill>
                  <a:schemeClr val="bg1"/>
                </a:solidFill>
              </a:rPr>
              <a:t>　品質マネジメントシステム監査</a:t>
            </a:r>
          </a:p>
        </p:txBody>
      </p:sp>
      <p:graphicFrame>
        <p:nvGraphicFramePr>
          <p:cNvPr id="3" name="表 2">
            <a:extLst>
              <a:ext uri="{FF2B5EF4-FFF2-40B4-BE49-F238E27FC236}">
                <a16:creationId xmlns:a16="http://schemas.microsoft.com/office/drawing/2014/main" id="{F34F1CE6-425F-4831-BCAF-C57A3592D5F4}"/>
              </a:ext>
            </a:extLst>
          </p:cNvPr>
          <p:cNvGraphicFramePr>
            <a:graphicFrameLocks noGrp="1"/>
          </p:cNvGraphicFramePr>
          <p:nvPr>
            <p:extLst>
              <p:ext uri="{D42A27DB-BD31-4B8C-83A1-F6EECF244321}">
                <p14:modId xmlns:p14="http://schemas.microsoft.com/office/powerpoint/2010/main" val="1703473765"/>
              </p:ext>
            </p:extLst>
          </p:nvPr>
        </p:nvGraphicFramePr>
        <p:xfrm>
          <a:off x="838200" y="2687320"/>
          <a:ext cx="10515600" cy="2860074"/>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509999856"/>
                    </a:ext>
                  </a:extLst>
                </a:gridCol>
                <a:gridCol w="2103120">
                  <a:extLst>
                    <a:ext uri="{9D8B030D-6E8A-4147-A177-3AD203B41FA5}">
                      <a16:colId xmlns:a16="http://schemas.microsoft.com/office/drawing/2014/main" val="3271038545"/>
                    </a:ext>
                  </a:extLst>
                </a:gridCol>
                <a:gridCol w="2103120">
                  <a:extLst>
                    <a:ext uri="{9D8B030D-6E8A-4147-A177-3AD203B41FA5}">
                      <a16:colId xmlns:a16="http://schemas.microsoft.com/office/drawing/2014/main" val="3669399686"/>
                    </a:ext>
                  </a:extLst>
                </a:gridCol>
                <a:gridCol w="2103120">
                  <a:extLst>
                    <a:ext uri="{9D8B030D-6E8A-4147-A177-3AD203B41FA5}">
                      <a16:colId xmlns:a16="http://schemas.microsoft.com/office/drawing/2014/main" val="278041020"/>
                    </a:ext>
                  </a:extLst>
                </a:gridCol>
                <a:gridCol w="2103120">
                  <a:extLst>
                    <a:ext uri="{9D8B030D-6E8A-4147-A177-3AD203B41FA5}">
                      <a16:colId xmlns:a16="http://schemas.microsoft.com/office/drawing/2014/main" val="1342255995"/>
                    </a:ext>
                  </a:extLst>
                </a:gridCol>
              </a:tblGrid>
              <a:tr h="476679">
                <a:tc>
                  <a:txBody>
                    <a:bodyPr/>
                    <a:lstStyle/>
                    <a:p>
                      <a:pPr algn="ctr"/>
                      <a:r>
                        <a:rPr kumimoji="1" lang="ja-JP" altLang="en-US" sz="2200" dirty="0"/>
                        <a:t>プロセス</a:t>
                      </a:r>
                    </a:p>
                  </a:txBody>
                  <a:tcPr>
                    <a:solidFill>
                      <a:schemeClr val="tx2">
                        <a:lumMod val="40000"/>
                        <a:lumOff val="60000"/>
                      </a:schemeClr>
                    </a:solidFill>
                  </a:tcPr>
                </a:tc>
                <a:tc>
                  <a:txBody>
                    <a:bodyPr/>
                    <a:lstStyle/>
                    <a:p>
                      <a:pPr algn="ctr"/>
                      <a:r>
                        <a:rPr kumimoji="1" lang="ja-JP" altLang="en-US" sz="2200" dirty="0"/>
                        <a:t>重要度</a:t>
                      </a:r>
                    </a:p>
                  </a:txBody>
                  <a:tcPr>
                    <a:solidFill>
                      <a:schemeClr val="tx2">
                        <a:lumMod val="40000"/>
                        <a:lumOff val="60000"/>
                      </a:schemeClr>
                    </a:solidFill>
                  </a:tcPr>
                </a:tc>
                <a:tc>
                  <a:txBody>
                    <a:bodyPr/>
                    <a:lstStyle/>
                    <a:p>
                      <a:pPr algn="ctr"/>
                      <a:r>
                        <a:rPr kumimoji="1" lang="en-US" altLang="ja-JP" sz="2200" dirty="0"/>
                        <a:t>1</a:t>
                      </a:r>
                      <a:r>
                        <a:rPr kumimoji="1" lang="ja-JP" altLang="en-US" sz="2200" dirty="0"/>
                        <a:t>年目</a:t>
                      </a:r>
                    </a:p>
                  </a:txBody>
                  <a:tcPr>
                    <a:solidFill>
                      <a:schemeClr val="tx2">
                        <a:lumMod val="40000"/>
                        <a:lumOff val="60000"/>
                      </a:schemeClr>
                    </a:solidFill>
                  </a:tcPr>
                </a:tc>
                <a:tc>
                  <a:txBody>
                    <a:bodyPr/>
                    <a:lstStyle/>
                    <a:p>
                      <a:pPr algn="ctr"/>
                      <a:r>
                        <a:rPr kumimoji="1" lang="en-US" altLang="ja-JP" sz="2200" dirty="0"/>
                        <a:t>2</a:t>
                      </a:r>
                      <a:r>
                        <a:rPr kumimoji="1" lang="ja-JP" altLang="en-US" sz="2200" dirty="0"/>
                        <a:t>年目</a:t>
                      </a:r>
                    </a:p>
                  </a:txBody>
                  <a:tcPr>
                    <a:solidFill>
                      <a:schemeClr val="tx2">
                        <a:lumMod val="40000"/>
                        <a:lumOff val="60000"/>
                      </a:schemeClr>
                    </a:solidFill>
                  </a:tcPr>
                </a:tc>
                <a:tc>
                  <a:txBody>
                    <a:bodyPr/>
                    <a:lstStyle/>
                    <a:p>
                      <a:pPr algn="ctr"/>
                      <a:r>
                        <a:rPr kumimoji="1" lang="en-US" altLang="ja-JP" sz="2200" dirty="0"/>
                        <a:t>3</a:t>
                      </a:r>
                      <a:r>
                        <a:rPr kumimoji="1" lang="ja-JP" altLang="en-US" sz="2200" dirty="0"/>
                        <a:t>年目</a:t>
                      </a:r>
                    </a:p>
                  </a:txBody>
                  <a:tcPr>
                    <a:solidFill>
                      <a:schemeClr val="tx2">
                        <a:lumMod val="40000"/>
                        <a:lumOff val="60000"/>
                      </a:schemeClr>
                    </a:solidFill>
                  </a:tcPr>
                </a:tc>
                <a:extLst>
                  <a:ext uri="{0D108BD9-81ED-4DB2-BD59-A6C34878D82A}">
                    <a16:rowId xmlns:a16="http://schemas.microsoft.com/office/drawing/2014/main" val="3001924335"/>
                  </a:ext>
                </a:extLst>
              </a:tr>
              <a:tr h="476679">
                <a:tc>
                  <a:txBody>
                    <a:bodyPr/>
                    <a:lstStyle/>
                    <a:p>
                      <a:pPr algn="ctr"/>
                      <a:r>
                        <a:rPr kumimoji="1" lang="ja-JP" altLang="en-US" sz="2200" dirty="0"/>
                        <a:t>営業</a:t>
                      </a:r>
                      <a:r>
                        <a:rPr kumimoji="1" lang="en-US" altLang="ja-JP" sz="2200" dirty="0"/>
                        <a:t>P</a:t>
                      </a:r>
                      <a:endParaRPr kumimoji="1" lang="ja-JP" altLang="en-US" sz="2200" dirty="0"/>
                    </a:p>
                  </a:txBody>
                  <a:tcPr/>
                </a:tc>
                <a:tc>
                  <a:txBody>
                    <a:bodyPr/>
                    <a:lstStyle/>
                    <a:p>
                      <a:pPr algn="ctr"/>
                      <a:r>
                        <a:rPr kumimoji="1" lang="ja-JP" altLang="en-US" sz="2200" dirty="0"/>
                        <a:t>○</a:t>
                      </a:r>
                    </a:p>
                  </a:txBody>
                  <a:tcPr/>
                </a:tc>
                <a:tc>
                  <a:txBody>
                    <a:bodyPr/>
                    <a:lstStyle/>
                    <a:p>
                      <a:pPr algn="ctr"/>
                      <a:r>
                        <a:rPr kumimoji="1" lang="ja-JP" altLang="en-US" sz="2200" dirty="0"/>
                        <a:t>実施</a:t>
                      </a:r>
                      <a:endParaRPr kumimoji="1" lang="en-US" altLang="ja-JP" sz="2200" dirty="0"/>
                    </a:p>
                  </a:txBody>
                  <a:tcPr/>
                </a:tc>
                <a:tc>
                  <a:txBody>
                    <a:bodyPr/>
                    <a:lstStyle/>
                    <a:p>
                      <a:pPr algn="ctr"/>
                      <a:r>
                        <a:rPr kumimoji="1" lang="ja-JP" altLang="en-US" sz="2200" dirty="0"/>
                        <a:t>－</a:t>
                      </a:r>
                    </a:p>
                  </a:txBody>
                  <a:tcPr/>
                </a:tc>
                <a:tc>
                  <a:txBody>
                    <a:bodyPr/>
                    <a:lstStyle/>
                    <a:p>
                      <a:pPr algn="ctr"/>
                      <a:r>
                        <a:rPr kumimoji="1" lang="ja-JP" altLang="en-US" sz="2200" dirty="0"/>
                        <a:t>実施</a:t>
                      </a:r>
                    </a:p>
                  </a:txBody>
                  <a:tcPr/>
                </a:tc>
                <a:extLst>
                  <a:ext uri="{0D108BD9-81ED-4DB2-BD59-A6C34878D82A}">
                    <a16:rowId xmlns:a16="http://schemas.microsoft.com/office/drawing/2014/main" val="3067079045"/>
                  </a:ext>
                </a:extLst>
              </a:tr>
              <a:tr h="476679">
                <a:tc>
                  <a:txBody>
                    <a:bodyPr/>
                    <a:lstStyle/>
                    <a:p>
                      <a:pPr algn="ctr"/>
                      <a:r>
                        <a:rPr kumimoji="1" lang="ja-JP" altLang="en-US" sz="2200" dirty="0"/>
                        <a:t>製造</a:t>
                      </a:r>
                      <a:r>
                        <a:rPr kumimoji="1" lang="en-US" altLang="ja-JP" sz="2200" dirty="0"/>
                        <a:t>P</a:t>
                      </a:r>
                      <a:endParaRPr kumimoji="1" lang="ja-JP" altLang="en-US" sz="2200" dirty="0"/>
                    </a:p>
                  </a:txBody>
                  <a:tcPr/>
                </a:tc>
                <a:tc>
                  <a:txBody>
                    <a:bodyPr/>
                    <a:lstStyle/>
                    <a:p>
                      <a:pPr algn="ctr"/>
                      <a:r>
                        <a:rPr kumimoji="1" lang="ja-JP" altLang="en-US" sz="2200" dirty="0"/>
                        <a:t>◎</a:t>
                      </a:r>
                    </a:p>
                  </a:txBody>
                  <a:tcPr/>
                </a:tc>
                <a:tc>
                  <a:txBody>
                    <a:bodyPr/>
                    <a:lstStyle/>
                    <a:p>
                      <a:pPr algn="ctr"/>
                      <a:r>
                        <a:rPr kumimoji="1" lang="ja-JP" altLang="en-US" sz="2200" dirty="0"/>
                        <a:t>実施</a:t>
                      </a:r>
                    </a:p>
                  </a:txBody>
                  <a:tcPr/>
                </a:tc>
                <a:tc>
                  <a:txBody>
                    <a:bodyPr/>
                    <a:lstStyle/>
                    <a:p>
                      <a:pPr algn="ctr"/>
                      <a:r>
                        <a:rPr kumimoji="1" lang="ja-JP" altLang="en-US" sz="2200" dirty="0"/>
                        <a:t>実施</a:t>
                      </a:r>
                    </a:p>
                  </a:txBody>
                  <a:tcPr/>
                </a:tc>
                <a:tc>
                  <a:txBody>
                    <a:bodyPr/>
                    <a:lstStyle/>
                    <a:p>
                      <a:pPr algn="ctr"/>
                      <a:r>
                        <a:rPr kumimoji="1" lang="ja-JP" altLang="en-US" sz="2200" dirty="0"/>
                        <a:t>実施</a:t>
                      </a:r>
                    </a:p>
                  </a:txBody>
                  <a:tcPr/>
                </a:tc>
                <a:extLst>
                  <a:ext uri="{0D108BD9-81ED-4DB2-BD59-A6C34878D82A}">
                    <a16:rowId xmlns:a16="http://schemas.microsoft.com/office/drawing/2014/main" val="3563550227"/>
                  </a:ext>
                </a:extLst>
              </a:tr>
              <a:tr h="476679">
                <a:tc>
                  <a:txBody>
                    <a:bodyPr/>
                    <a:lstStyle/>
                    <a:p>
                      <a:pPr algn="ctr"/>
                      <a:r>
                        <a:rPr kumimoji="1" lang="ja-JP" altLang="en-US" sz="2200" dirty="0"/>
                        <a:t>購買</a:t>
                      </a:r>
                      <a:r>
                        <a:rPr kumimoji="1" lang="en-US" altLang="ja-JP" sz="2200" dirty="0"/>
                        <a:t>P</a:t>
                      </a:r>
                      <a:endParaRPr kumimoji="1" lang="ja-JP" altLang="en-US" sz="2200" dirty="0"/>
                    </a:p>
                  </a:txBody>
                  <a:tcPr/>
                </a:tc>
                <a:tc>
                  <a:txBody>
                    <a:bodyPr/>
                    <a:lstStyle/>
                    <a:p>
                      <a:pPr algn="ctr"/>
                      <a:r>
                        <a:rPr kumimoji="1" lang="ja-JP" altLang="en-US" sz="2200" dirty="0"/>
                        <a:t>△</a:t>
                      </a:r>
                    </a:p>
                  </a:txBody>
                  <a:tcPr/>
                </a:tc>
                <a:tc>
                  <a:txBody>
                    <a:bodyPr/>
                    <a:lstStyle/>
                    <a:p>
                      <a:pPr algn="ctr"/>
                      <a:r>
                        <a:rPr kumimoji="1" lang="ja-JP" altLang="en-US" sz="2200" dirty="0"/>
                        <a:t>－</a:t>
                      </a:r>
                    </a:p>
                  </a:txBody>
                  <a:tcPr/>
                </a:tc>
                <a:tc>
                  <a:txBody>
                    <a:bodyPr/>
                    <a:lstStyle/>
                    <a:p>
                      <a:pPr algn="ctr"/>
                      <a:r>
                        <a:rPr kumimoji="1" lang="ja-JP" altLang="en-US" sz="2200" dirty="0"/>
                        <a:t>実施</a:t>
                      </a:r>
                    </a:p>
                  </a:txBody>
                  <a:tcPr/>
                </a:tc>
                <a:tc>
                  <a:txBody>
                    <a:bodyPr/>
                    <a:lstStyle/>
                    <a:p>
                      <a:pPr algn="ctr"/>
                      <a:r>
                        <a:rPr kumimoji="1" lang="ja-JP" altLang="en-US" sz="2200" dirty="0"/>
                        <a:t>－</a:t>
                      </a:r>
                    </a:p>
                  </a:txBody>
                  <a:tcPr/>
                </a:tc>
                <a:extLst>
                  <a:ext uri="{0D108BD9-81ED-4DB2-BD59-A6C34878D82A}">
                    <a16:rowId xmlns:a16="http://schemas.microsoft.com/office/drawing/2014/main" val="948333998"/>
                  </a:ext>
                </a:extLst>
              </a:tr>
              <a:tr h="476679">
                <a:tc>
                  <a:txBody>
                    <a:bodyPr/>
                    <a:lstStyle/>
                    <a:p>
                      <a:pPr algn="ctr"/>
                      <a:r>
                        <a:rPr kumimoji="1" lang="en-US" altLang="ja-JP" sz="2200" dirty="0"/>
                        <a:t>CSR</a:t>
                      </a:r>
                      <a:endParaRPr kumimoji="1" lang="ja-JP" altLang="en-US" sz="2200" dirty="0"/>
                    </a:p>
                  </a:txBody>
                  <a:tcPr/>
                </a:tc>
                <a:tc>
                  <a:txBody>
                    <a:bodyPr/>
                    <a:lstStyle/>
                    <a:p>
                      <a:pPr algn="ctr"/>
                      <a:r>
                        <a:rPr kumimoji="1" lang="ja-JP" altLang="en-US" sz="2200" dirty="0"/>
                        <a:t>◎</a:t>
                      </a:r>
                    </a:p>
                  </a:txBody>
                  <a:tcPr/>
                </a:tc>
                <a:tc>
                  <a:txBody>
                    <a:bodyPr/>
                    <a:lstStyle/>
                    <a:p>
                      <a:pPr algn="ctr"/>
                      <a:r>
                        <a:rPr kumimoji="1" lang="ja-JP" altLang="en-US" sz="2200" dirty="0"/>
                        <a:t>実施</a:t>
                      </a:r>
                    </a:p>
                  </a:txBody>
                  <a:tcPr/>
                </a:tc>
                <a:tc>
                  <a:txBody>
                    <a:bodyPr/>
                    <a:lstStyle/>
                    <a:p>
                      <a:pPr algn="ctr"/>
                      <a:r>
                        <a:rPr kumimoji="1" lang="ja-JP" altLang="en-US" sz="2200" dirty="0"/>
                        <a:t>実施</a:t>
                      </a:r>
                    </a:p>
                  </a:txBody>
                  <a:tcPr/>
                </a:tc>
                <a:tc>
                  <a:txBody>
                    <a:bodyPr/>
                    <a:lstStyle/>
                    <a:p>
                      <a:pPr algn="ctr"/>
                      <a:r>
                        <a:rPr kumimoji="1" lang="ja-JP" altLang="en-US" sz="2200" dirty="0"/>
                        <a:t>実施</a:t>
                      </a:r>
                    </a:p>
                  </a:txBody>
                  <a:tcPr/>
                </a:tc>
                <a:extLst>
                  <a:ext uri="{0D108BD9-81ED-4DB2-BD59-A6C34878D82A}">
                    <a16:rowId xmlns:a16="http://schemas.microsoft.com/office/drawing/2014/main" val="475914571"/>
                  </a:ext>
                </a:extLst>
              </a:tr>
              <a:tr h="476679">
                <a:tc gridSpan="2">
                  <a:txBody>
                    <a:bodyPr/>
                    <a:lstStyle/>
                    <a:p>
                      <a:pPr algn="ctr"/>
                      <a:r>
                        <a:rPr kumimoji="1" lang="ja-JP" altLang="en-US" sz="2200" dirty="0"/>
                        <a:t>審査</a:t>
                      </a:r>
                    </a:p>
                  </a:txBody>
                  <a:tcPr/>
                </a:tc>
                <a:tc hMerge="1">
                  <a:txBody>
                    <a:bodyPr/>
                    <a:lstStyle/>
                    <a:p>
                      <a:pPr algn="ctr"/>
                      <a:endParaRPr kumimoji="1" lang="ja-JP" altLang="en-US" sz="2200" dirty="0"/>
                    </a:p>
                  </a:txBody>
                  <a:tcPr/>
                </a:tc>
                <a:tc>
                  <a:txBody>
                    <a:bodyPr/>
                    <a:lstStyle/>
                    <a:p>
                      <a:pPr algn="ctr"/>
                      <a:r>
                        <a:rPr kumimoji="1" lang="ja-JP" altLang="en-US" sz="2200" dirty="0"/>
                        <a:t>ｻｰﾍﾞﾗﾝｽ</a:t>
                      </a:r>
                    </a:p>
                  </a:txBody>
                  <a:tcPr/>
                </a:tc>
                <a:tc>
                  <a:txBody>
                    <a:bodyPr/>
                    <a:lstStyle/>
                    <a:p>
                      <a:pPr algn="ctr"/>
                      <a:r>
                        <a:rPr kumimoji="1" lang="ja-JP" altLang="en-US" sz="2200" dirty="0"/>
                        <a:t>ｻｰﾍﾞﾗﾝｽ</a:t>
                      </a:r>
                    </a:p>
                  </a:txBody>
                  <a:tcPr/>
                </a:tc>
                <a:tc>
                  <a:txBody>
                    <a:bodyPr/>
                    <a:lstStyle/>
                    <a:p>
                      <a:pPr algn="ctr"/>
                      <a:r>
                        <a:rPr kumimoji="1" lang="ja-JP" altLang="en-US" sz="2200" dirty="0"/>
                        <a:t>再認証</a:t>
                      </a:r>
                    </a:p>
                  </a:txBody>
                  <a:tcPr/>
                </a:tc>
                <a:extLst>
                  <a:ext uri="{0D108BD9-81ED-4DB2-BD59-A6C34878D82A}">
                    <a16:rowId xmlns:a16="http://schemas.microsoft.com/office/drawing/2014/main" val="2617583272"/>
                  </a:ext>
                </a:extLst>
              </a:tr>
            </a:tbl>
          </a:graphicData>
        </a:graphic>
      </p:graphicFrame>
      <p:sp>
        <p:nvSpPr>
          <p:cNvPr id="6" name="吹き出し: 線 5">
            <a:extLst>
              <a:ext uri="{FF2B5EF4-FFF2-40B4-BE49-F238E27FC236}">
                <a16:creationId xmlns:a16="http://schemas.microsoft.com/office/drawing/2014/main" id="{B1D341B6-3823-4484-83C3-72D232C78D20}"/>
              </a:ext>
            </a:extLst>
          </p:cNvPr>
          <p:cNvSpPr/>
          <p:nvPr/>
        </p:nvSpPr>
        <p:spPr>
          <a:xfrm>
            <a:off x="915319" y="5610540"/>
            <a:ext cx="2940586" cy="682663"/>
          </a:xfrm>
          <a:prstGeom prst="borderCallout1">
            <a:avLst>
              <a:gd name="adj1" fmla="val -8685"/>
              <a:gd name="adj2" fmla="val 10137"/>
              <a:gd name="adj3" fmla="val -98909"/>
              <a:gd name="adj4" fmla="val 27837"/>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顧客固有要求事項についても実施する。</a:t>
            </a:r>
          </a:p>
        </p:txBody>
      </p:sp>
      <p:sp>
        <p:nvSpPr>
          <p:cNvPr id="2" name="吹き出し: 角を丸めた四角形 1">
            <a:extLst>
              <a:ext uri="{FF2B5EF4-FFF2-40B4-BE49-F238E27FC236}">
                <a16:creationId xmlns:a16="http://schemas.microsoft.com/office/drawing/2014/main" id="{6D42A9E0-6030-4B9D-92FA-1D0AA833502A}"/>
              </a:ext>
            </a:extLst>
          </p:cNvPr>
          <p:cNvSpPr/>
          <p:nvPr/>
        </p:nvSpPr>
        <p:spPr>
          <a:xfrm>
            <a:off x="4480560" y="1956669"/>
            <a:ext cx="4130040" cy="629920"/>
          </a:xfrm>
          <a:prstGeom prst="wedgeRoundRectCallout">
            <a:avLst>
              <a:gd name="adj1" fmla="val -45800"/>
              <a:gd name="adj2" fmla="val 72619"/>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rPr>
              <a:t>実施頻度はリスク分析（重要度）により変化させる。</a:t>
            </a:r>
            <a:endParaRPr lang="en-US" altLang="ja-JP" sz="2000" dirty="0">
              <a:solidFill>
                <a:schemeClr val="tx1"/>
              </a:solidFill>
            </a:endParaRPr>
          </a:p>
        </p:txBody>
      </p:sp>
    </p:spTree>
    <p:extLst>
      <p:ext uri="{BB962C8B-B14F-4D97-AF65-F5344CB8AC3E}">
        <p14:creationId xmlns:p14="http://schemas.microsoft.com/office/powerpoint/2010/main" val="2867401668"/>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プロセスアプローチによる監査チェックシート事例。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9.2.2.2</a:t>
            </a:r>
            <a:r>
              <a:rPr lang="ja-JP" altLang="en-US" sz="3000" b="1" dirty="0">
                <a:solidFill>
                  <a:schemeClr val="bg1"/>
                </a:solidFill>
              </a:rPr>
              <a:t>　品質マネジメントシステム監査</a:t>
            </a:r>
          </a:p>
        </p:txBody>
      </p:sp>
      <p:pic>
        <p:nvPicPr>
          <p:cNvPr id="10" name="図 9">
            <a:extLst>
              <a:ext uri="{FF2B5EF4-FFF2-40B4-BE49-F238E27FC236}">
                <a16:creationId xmlns:a16="http://schemas.microsoft.com/office/drawing/2014/main" id="{F4EF860D-0F72-4BE4-BEDD-7627B2DFF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20240"/>
            <a:ext cx="10515600" cy="4436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846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☑組織は、製造工程の有効性及び効率を判定するために、各</a:t>
            </a:r>
            <a:r>
              <a:rPr lang="ja-JP" altLang="en-US" sz="2000" u="sng" dirty="0"/>
              <a:t>３暦年の期間</a:t>
            </a:r>
            <a:r>
              <a:rPr lang="ja-JP" altLang="en-US" sz="2000" dirty="0"/>
              <a:t>、工程監査のための顧客固有に要求される方法を使用して、</a:t>
            </a:r>
            <a:r>
              <a:rPr lang="ja-JP" altLang="en-US" sz="2000" u="sng" dirty="0"/>
              <a:t>全ての製造工程を監査しなければならない。</a:t>
            </a:r>
            <a:endParaRPr lang="en-US" altLang="ja-JP" sz="2000" u="sng" dirty="0"/>
          </a:p>
          <a:p>
            <a:pPr marL="0" indent="0">
              <a:lnSpc>
                <a:spcPct val="100000"/>
              </a:lnSpc>
              <a:buNone/>
            </a:pPr>
            <a:r>
              <a:rPr lang="ja-JP" altLang="en-US" sz="2000" dirty="0"/>
              <a:t>☑顧客によって定められていない場合、組織は、使用する方法を決めなければならない。</a:t>
            </a:r>
            <a:endParaRPr lang="en-US" altLang="ja-JP" sz="2000" dirty="0"/>
          </a:p>
          <a:p>
            <a:pPr marL="0" indent="0">
              <a:lnSpc>
                <a:spcPct val="100000"/>
              </a:lnSpc>
              <a:buNone/>
            </a:pPr>
            <a:r>
              <a:rPr lang="ja-JP" altLang="en-US" sz="2000" dirty="0"/>
              <a:t>☑個別の各監査計画の中で、各製造工程は、</a:t>
            </a:r>
            <a:r>
              <a:rPr lang="ja-JP" altLang="en-US" sz="2000" u="sng" dirty="0"/>
              <a:t>シフト引継ぎ</a:t>
            </a:r>
            <a:r>
              <a:rPr lang="ja-JP" altLang="en-US" sz="2000" dirty="0"/>
              <a:t>の適切なサンプリングを含めて、それが行われている</a:t>
            </a:r>
            <a:r>
              <a:rPr lang="ja-JP" altLang="en-US" sz="2000" u="sng" dirty="0"/>
              <a:t>全てのシフトを監査しなければならない。</a:t>
            </a:r>
            <a:endParaRPr lang="en-US" altLang="ja-JP" sz="2000" u="sng" dirty="0"/>
          </a:p>
          <a:p>
            <a:pPr marL="0" indent="0">
              <a:lnSpc>
                <a:spcPct val="100000"/>
              </a:lnSpc>
              <a:buNone/>
            </a:pPr>
            <a:r>
              <a:rPr lang="ja-JP" altLang="en-US" sz="2000" dirty="0"/>
              <a:t>☑製造工程監査には、</a:t>
            </a:r>
            <a:r>
              <a:rPr lang="ja-JP" altLang="en-US" sz="2000" u="sng" dirty="0"/>
              <a:t>工程リスク分析（</a:t>
            </a:r>
            <a:r>
              <a:rPr lang="en-US" altLang="ja-JP" sz="2000" u="sng" dirty="0"/>
              <a:t>PFMEA</a:t>
            </a:r>
            <a:r>
              <a:rPr lang="ja-JP" altLang="en-US" sz="2000" u="sng" dirty="0"/>
              <a:t>のような）、コントロールプラン及び関連文書が効果的に実施されているか</a:t>
            </a:r>
            <a:r>
              <a:rPr lang="ja-JP" altLang="en-US" sz="2000" dirty="0"/>
              <a:t>の監査を含めなければならない。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9.2.2.3</a:t>
            </a:r>
            <a:r>
              <a:rPr kumimoji="1" lang="ja-JP" altLang="en-US" sz="3000" b="1" dirty="0">
                <a:solidFill>
                  <a:schemeClr val="tx2"/>
                </a:solidFill>
              </a:rPr>
              <a:t>　製造工程監査</a:t>
            </a:r>
          </a:p>
        </p:txBody>
      </p:sp>
    </p:spTree>
    <p:extLst>
      <p:ext uri="{BB962C8B-B14F-4D97-AF65-F5344CB8AC3E}">
        <p14:creationId xmlns:p14="http://schemas.microsoft.com/office/powerpoint/2010/main" val="3969842533"/>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製造工程監査　➠　製造工程の</a:t>
            </a:r>
            <a:r>
              <a:rPr lang="ja-JP" altLang="en-US" sz="2400" dirty="0">
                <a:solidFill>
                  <a:srgbClr val="FF0000"/>
                </a:solidFill>
                <a:effectLst>
                  <a:outerShdw blurRad="38100" dist="38100" dir="2700000" algn="tl">
                    <a:srgbClr val="000000">
                      <a:alpha val="43137"/>
                    </a:srgbClr>
                  </a:outerShdw>
                </a:effectLst>
              </a:rPr>
              <a:t>有効性</a:t>
            </a:r>
            <a:r>
              <a:rPr lang="ja-JP" altLang="en-US" sz="2400" dirty="0"/>
              <a:t>と</a:t>
            </a:r>
            <a:r>
              <a:rPr lang="ja-JP" altLang="en-US" sz="2400" dirty="0">
                <a:solidFill>
                  <a:srgbClr val="FF0000"/>
                </a:solidFill>
                <a:effectLst>
                  <a:outerShdw blurRad="38100" dist="38100" dir="2700000" algn="tl">
                    <a:srgbClr val="000000">
                      <a:alpha val="43137"/>
                    </a:srgbClr>
                  </a:outerShdw>
                </a:effectLst>
              </a:rPr>
              <a:t>効率</a:t>
            </a:r>
            <a:r>
              <a:rPr lang="ja-JP" altLang="en-US" sz="2400" dirty="0"/>
              <a:t>の判定。</a:t>
            </a:r>
            <a:endParaRPr lang="en-US" altLang="ja-JP" sz="2400" dirty="0"/>
          </a:p>
          <a:p>
            <a:pPr lvl="1">
              <a:lnSpc>
                <a:spcPct val="100000"/>
              </a:lnSpc>
              <a:buFont typeface="Wingdings" panose="05000000000000000000" pitchFamily="2" charset="2"/>
              <a:buChar char="Ø"/>
            </a:pPr>
            <a:r>
              <a:rPr lang="ja-JP" altLang="en-US" dirty="0"/>
              <a:t>コントロールプラン及び手順書通りに実施しているかだけではない。</a:t>
            </a:r>
            <a:endParaRPr lang="en-US" altLang="ja-JP" dirty="0"/>
          </a:p>
          <a:p>
            <a:pPr lvl="1">
              <a:lnSpc>
                <a:spcPct val="100000"/>
              </a:lnSpc>
              <a:buFont typeface="Wingdings" panose="05000000000000000000" pitchFamily="2" charset="2"/>
              <a:buChar char="Ø"/>
            </a:pPr>
            <a:r>
              <a:rPr lang="ja-JP" altLang="en-US" dirty="0"/>
              <a:t>結果として目標を達成しているか、効率的な生産かなど。</a:t>
            </a:r>
            <a:endParaRPr lang="en-US" altLang="ja-JP" dirty="0"/>
          </a:p>
          <a:p>
            <a:pPr marL="514350" indent="-514350">
              <a:lnSpc>
                <a:spcPct val="100000"/>
              </a:lnSpc>
              <a:buFont typeface="+mj-lt"/>
              <a:buAutoNum type="arabicPeriod"/>
            </a:pPr>
            <a:r>
              <a:rPr lang="ja-JP" altLang="en-US" sz="2400" dirty="0"/>
              <a:t>シフト引継を注視。</a:t>
            </a:r>
            <a:endParaRPr lang="en-US" altLang="ja-JP" sz="2400" dirty="0"/>
          </a:p>
          <a:p>
            <a:pPr lvl="1">
              <a:lnSpc>
                <a:spcPct val="100000"/>
              </a:lnSpc>
              <a:buFont typeface="Wingdings" panose="05000000000000000000" pitchFamily="2" charset="2"/>
              <a:buChar char="Ø"/>
            </a:pPr>
            <a:r>
              <a:rPr lang="ja-JP" altLang="en-US" dirty="0"/>
              <a:t>シフト切替えは、“重要な工程イベント”　のため、監査プログラムで全シフト及び</a:t>
            </a:r>
            <a:r>
              <a:rPr lang="ja-JP" altLang="en-US" dirty="0">
                <a:solidFill>
                  <a:srgbClr val="FF0000"/>
                </a:solidFill>
                <a:effectLst>
                  <a:outerShdw blurRad="38100" dist="38100" dir="2700000" algn="tl">
                    <a:srgbClr val="000000">
                      <a:alpha val="43137"/>
                    </a:srgbClr>
                  </a:outerShdw>
                </a:effectLst>
              </a:rPr>
              <a:t>全シフト切替</a:t>
            </a:r>
            <a:r>
              <a:rPr lang="ja-JP" altLang="en-US" dirty="0"/>
              <a:t>に対する監査を計画する。</a:t>
            </a:r>
            <a:endParaRPr lang="en-US" altLang="ja-JP" dirty="0"/>
          </a:p>
          <a:p>
            <a:pPr lvl="1">
              <a:lnSpc>
                <a:spcPct val="100000"/>
              </a:lnSpc>
              <a:buFont typeface="Wingdings" panose="05000000000000000000" pitchFamily="2" charset="2"/>
              <a:buChar char="Ø"/>
            </a:pPr>
            <a:endParaRPr lang="en-US" altLang="ja-JP" dirty="0"/>
          </a:p>
          <a:p>
            <a:pPr lvl="1">
              <a:lnSpc>
                <a:spcPct val="100000"/>
              </a:lnSpc>
              <a:buFont typeface="Wingdings" panose="05000000000000000000" pitchFamily="2" charset="2"/>
              <a:buChar char="Ø"/>
            </a:pPr>
            <a:endParaRPr lang="en-US" altLang="ja-JP" dirty="0"/>
          </a:p>
          <a:p>
            <a:pPr lvl="1">
              <a:lnSpc>
                <a:spcPct val="100000"/>
              </a:lnSpc>
              <a:buFont typeface="Wingdings" panose="05000000000000000000" pitchFamily="2" charset="2"/>
              <a:buChar char="Ø"/>
            </a:pPr>
            <a:r>
              <a:rPr lang="ja-JP" altLang="en-US" dirty="0"/>
              <a:t>あくまでも、最低限３年計画において全シフトを網羅する。その判断はリスク及び重要度等により判断する。（</a:t>
            </a:r>
            <a:r>
              <a:rPr lang="en-US" altLang="ja-JP" dirty="0"/>
              <a:t>FAQ19</a:t>
            </a:r>
            <a:r>
              <a:rPr lang="ja-JP" altLang="en-US" dirty="0"/>
              <a:t>）</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9.2.2.3</a:t>
            </a:r>
            <a:r>
              <a:rPr lang="ja-JP" altLang="en-US" sz="3000" b="1" dirty="0">
                <a:solidFill>
                  <a:schemeClr val="bg1"/>
                </a:solidFill>
              </a:rPr>
              <a:t>　製造工程監査</a:t>
            </a:r>
          </a:p>
        </p:txBody>
      </p:sp>
      <p:sp>
        <p:nvSpPr>
          <p:cNvPr id="2" name="吹き出し: 角を丸めた四角形 1">
            <a:extLst>
              <a:ext uri="{FF2B5EF4-FFF2-40B4-BE49-F238E27FC236}">
                <a16:creationId xmlns:a16="http://schemas.microsoft.com/office/drawing/2014/main" id="{3CCEFA94-CBF2-4180-A40E-8C55EB91E70F}"/>
              </a:ext>
            </a:extLst>
          </p:cNvPr>
          <p:cNvSpPr/>
          <p:nvPr/>
        </p:nvSpPr>
        <p:spPr>
          <a:xfrm>
            <a:off x="4038599" y="4085271"/>
            <a:ext cx="5734987" cy="756551"/>
          </a:xfrm>
          <a:prstGeom prst="wedgeRoundRectCallout">
            <a:avLst>
              <a:gd name="adj1" fmla="val -44493"/>
              <a:gd name="adj2" fmla="val -70551"/>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単に全シフトの監査だけではない。シフト引継時刻のサンプリング。（</a:t>
            </a:r>
            <a:r>
              <a:rPr lang="en-US" altLang="ja-JP" dirty="0">
                <a:solidFill>
                  <a:schemeClr val="tx1"/>
                </a:solidFill>
              </a:rPr>
              <a:t>1</a:t>
            </a:r>
            <a:r>
              <a:rPr lang="ja-JP" altLang="en-US" dirty="0">
                <a:solidFill>
                  <a:schemeClr val="tx1"/>
                </a:solidFill>
              </a:rPr>
              <a:t>直終了時～</a:t>
            </a:r>
            <a:r>
              <a:rPr lang="en-US" altLang="ja-JP" dirty="0">
                <a:solidFill>
                  <a:schemeClr val="tx1"/>
                </a:solidFill>
              </a:rPr>
              <a:t>2</a:t>
            </a:r>
            <a:r>
              <a:rPr lang="ja-JP" altLang="en-US" dirty="0">
                <a:solidFill>
                  <a:schemeClr val="tx1"/>
                </a:solidFill>
              </a:rPr>
              <a:t>直開始まで）</a:t>
            </a:r>
            <a:endParaRPr lang="en-US" altLang="ja-JP" dirty="0">
              <a:solidFill>
                <a:schemeClr val="tx1"/>
              </a:solidFill>
            </a:endParaRPr>
          </a:p>
        </p:txBody>
      </p:sp>
    </p:spTree>
    <p:extLst>
      <p:ext uri="{BB962C8B-B14F-4D97-AF65-F5344CB8AC3E}">
        <p14:creationId xmlns:p14="http://schemas.microsoft.com/office/powerpoint/2010/main" val="2296375924"/>
      </p:ext>
    </p:extLst>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製造工程監査チェックシート事例。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9.2.2.3</a:t>
            </a:r>
            <a:r>
              <a:rPr lang="ja-JP" altLang="en-US" sz="3000" b="1" dirty="0">
                <a:solidFill>
                  <a:schemeClr val="bg1"/>
                </a:solidFill>
              </a:rPr>
              <a:t>　製造工程監査</a:t>
            </a:r>
          </a:p>
        </p:txBody>
      </p:sp>
      <p:pic>
        <p:nvPicPr>
          <p:cNvPr id="6" name="図 5">
            <a:extLst>
              <a:ext uri="{FF2B5EF4-FFF2-40B4-BE49-F238E27FC236}">
                <a16:creationId xmlns:a16="http://schemas.microsoft.com/office/drawing/2014/main" id="{B80A03CB-4F22-4EC1-A58A-5A2EE26F4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79600"/>
            <a:ext cx="10515600"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116164"/>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dirty="0"/>
              <a:t>TKG</a:t>
            </a:r>
            <a:r>
              <a:rPr kumimoji="1" lang="ja-JP" altLang="en-US" dirty="0"/>
              <a:t>　</a:t>
            </a:r>
            <a:r>
              <a:rPr kumimoji="1" lang="en-US" altLang="ja-JP" dirty="0"/>
              <a:t>IATF16949</a:t>
            </a:r>
            <a:endParaRPr kumimoji="1" lang="ja-JP" altLang="en-US" dirty="0"/>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57962"/>
            <a:ext cx="10515600" cy="1120833"/>
          </a:xfrm>
          <a:ln w="12700">
            <a:solidFill>
              <a:schemeClr val="tx2"/>
            </a:solidFill>
          </a:ln>
        </p:spPr>
        <p:txBody>
          <a:bodyPr>
            <a:normAutofit/>
          </a:bodyPr>
          <a:lstStyle/>
          <a:p>
            <a:pPr marL="0" indent="0">
              <a:lnSpc>
                <a:spcPct val="100000"/>
              </a:lnSpc>
              <a:buNone/>
            </a:pPr>
            <a:r>
              <a:rPr lang="ja-JP" altLang="en-US" sz="2000" dirty="0"/>
              <a:t>☑組織は、規定要求事項への適合を検証するために、顧客固有の要求される方法を使用して、生産及び引き渡しの適切な段階で、製品を監査しなければならない。</a:t>
            </a:r>
            <a:r>
              <a:rPr lang="ja-JP" altLang="en-US" sz="2000" u="sng" dirty="0"/>
              <a:t>顧客によって定められていない場合、組織は、使用する方法を定めなければならない。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9.2.2.4</a:t>
            </a:r>
            <a:r>
              <a:rPr lang="ja-JP" altLang="en-US" sz="3000" b="1" dirty="0">
                <a:solidFill>
                  <a:schemeClr val="tx2"/>
                </a:solidFill>
              </a:rPr>
              <a:t>　製品監査</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617557"/>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9.2.2.4</a:t>
            </a:r>
            <a:r>
              <a:rPr lang="ja-JP" altLang="en-US" sz="3000" b="1" dirty="0">
                <a:solidFill>
                  <a:schemeClr val="bg1"/>
                </a:solidFill>
              </a:rPr>
              <a:t>　製品監査</a:t>
            </a:r>
          </a:p>
        </p:txBody>
      </p:sp>
      <p:sp>
        <p:nvSpPr>
          <p:cNvPr id="7" name="コンテンツ プレースホルダー 2">
            <a:extLst>
              <a:ext uri="{FF2B5EF4-FFF2-40B4-BE49-F238E27FC236}">
                <a16:creationId xmlns:a16="http://schemas.microsoft.com/office/drawing/2014/main" id="{507F180F-B061-4C89-B201-2AB5EF7523BA}"/>
              </a:ext>
            </a:extLst>
          </p:cNvPr>
          <p:cNvSpPr txBox="1">
            <a:spLocks/>
          </p:cNvSpPr>
          <p:nvPr/>
        </p:nvSpPr>
        <p:spPr>
          <a:xfrm>
            <a:off x="838200" y="3610393"/>
            <a:ext cx="10515600" cy="274595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FAQ20</a:t>
            </a:r>
          </a:p>
          <a:p>
            <a:pPr lvl="1">
              <a:lnSpc>
                <a:spcPct val="100000"/>
              </a:lnSpc>
              <a:buFont typeface="Wingdings" panose="05000000000000000000" pitchFamily="2" charset="2"/>
              <a:buChar char="Ø"/>
            </a:pPr>
            <a:r>
              <a:rPr lang="ja-JP" altLang="en-US" dirty="0"/>
              <a:t>製品監査の頻度は、</a:t>
            </a:r>
            <a:r>
              <a:rPr lang="ja-JP" altLang="en-US" dirty="0">
                <a:solidFill>
                  <a:srgbClr val="FF0000"/>
                </a:solidFill>
                <a:effectLst>
                  <a:outerShdw blurRad="38100" dist="38100" dir="2700000" algn="tl">
                    <a:srgbClr val="000000">
                      <a:alpha val="43137"/>
                    </a:srgbClr>
                  </a:outerShdw>
                </a:effectLst>
              </a:rPr>
              <a:t>リスク及び製品の複雑さ</a:t>
            </a:r>
            <a:r>
              <a:rPr lang="ja-JP" altLang="en-US" dirty="0"/>
              <a:t>により組織が決定する。</a:t>
            </a:r>
            <a:endParaRPr lang="en-US" altLang="ja-JP" dirty="0"/>
          </a:p>
          <a:p>
            <a:pPr marL="514350" indent="-514350">
              <a:lnSpc>
                <a:spcPct val="100000"/>
              </a:lnSpc>
              <a:buFont typeface="+mj-lt"/>
              <a:buAutoNum type="arabicPeriod"/>
            </a:pPr>
            <a:r>
              <a:rPr lang="ja-JP" altLang="en-US" sz="2400" dirty="0"/>
              <a:t>定期的な時間軸ではなく、</a:t>
            </a:r>
            <a:r>
              <a:rPr lang="ja-JP" altLang="en-US" sz="2400" dirty="0">
                <a:solidFill>
                  <a:srgbClr val="FF0000"/>
                </a:solidFill>
                <a:effectLst>
                  <a:outerShdw blurRad="38100" dist="38100" dir="2700000" algn="tl">
                    <a:srgbClr val="000000">
                      <a:alpha val="43137"/>
                    </a:srgbClr>
                  </a:outerShdw>
                </a:effectLst>
              </a:rPr>
              <a:t>対象製品の生産計画（頻度）</a:t>
            </a:r>
            <a:r>
              <a:rPr lang="ja-JP" altLang="en-US" sz="2400" dirty="0"/>
              <a:t>に合せ、監査の実施時期を調整する。</a:t>
            </a:r>
            <a:endParaRPr lang="en-US" altLang="ja-JP" sz="2400" dirty="0"/>
          </a:p>
          <a:p>
            <a:pPr marL="514350" indent="-514350">
              <a:lnSpc>
                <a:spcPct val="100000"/>
              </a:lnSpc>
              <a:buFont typeface="+mj-lt"/>
              <a:buAutoNum type="arabicPeriod"/>
            </a:pPr>
            <a:r>
              <a:rPr lang="ja-JP" altLang="en-US" sz="2400" dirty="0"/>
              <a:t>製品が多種にわたる場合、製品特性及び製造工程のファミリー化の根拠などを基にグループ分けする判断も可能。</a:t>
            </a:r>
            <a:endParaRPr lang="ja-JP" altLang="en-US" sz="2200" dirty="0"/>
          </a:p>
        </p:txBody>
      </p:sp>
      <p:sp>
        <p:nvSpPr>
          <p:cNvPr id="2" name="吹き出し: 角を丸めた四角形 1">
            <a:extLst>
              <a:ext uri="{FF2B5EF4-FFF2-40B4-BE49-F238E27FC236}">
                <a16:creationId xmlns:a16="http://schemas.microsoft.com/office/drawing/2014/main" id="{B352B99A-25D9-49F2-BA42-D4985BAA4622}"/>
              </a:ext>
            </a:extLst>
          </p:cNvPr>
          <p:cNvSpPr/>
          <p:nvPr/>
        </p:nvSpPr>
        <p:spPr>
          <a:xfrm>
            <a:off x="5374640" y="3108960"/>
            <a:ext cx="5979160" cy="709904"/>
          </a:xfrm>
          <a:prstGeom prst="wedgeRoundRectCallout">
            <a:avLst>
              <a:gd name="adj1" fmla="val -43974"/>
              <a:gd name="adj2" fmla="val 82954"/>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ファミリー化とリスクから、実施対象と頻度を判断する。（根拠を明確に。顧客との合意は必要か。）</a:t>
            </a:r>
          </a:p>
        </p:txBody>
      </p:sp>
    </p:spTree>
    <p:extLst>
      <p:ext uri="{BB962C8B-B14F-4D97-AF65-F5344CB8AC3E}">
        <p14:creationId xmlns:p14="http://schemas.microsoft.com/office/powerpoint/2010/main" val="199959795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en-US" altLang="ja-JP" sz="2400" dirty="0"/>
              <a:t>FAQ22</a:t>
            </a:r>
            <a:r>
              <a:rPr lang="ja-JP" altLang="en-US" sz="2400" dirty="0"/>
              <a:t>（製品監査とレイアウト検査の違い）</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349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9.2.2.4</a:t>
            </a:r>
            <a:r>
              <a:rPr lang="ja-JP" altLang="en-US" sz="3000" b="1" dirty="0">
                <a:solidFill>
                  <a:schemeClr val="bg1"/>
                </a:solidFill>
              </a:rPr>
              <a:t>　製品監査</a:t>
            </a:r>
          </a:p>
        </p:txBody>
      </p:sp>
      <p:graphicFrame>
        <p:nvGraphicFramePr>
          <p:cNvPr id="2" name="表 1">
            <a:extLst>
              <a:ext uri="{FF2B5EF4-FFF2-40B4-BE49-F238E27FC236}">
                <a16:creationId xmlns:a16="http://schemas.microsoft.com/office/drawing/2014/main" id="{F7429EEC-0290-4560-B721-0D51CBE02799}"/>
              </a:ext>
            </a:extLst>
          </p:cNvPr>
          <p:cNvGraphicFramePr>
            <a:graphicFrameLocks noGrp="1"/>
          </p:cNvGraphicFramePr>
          <p:nvPr>
            <p:extLst>
              <p:ext uri="{D42A27DB-BD31-4B8C-83A1-F6EECF244321}">
                <p14:modId xmlns:p14="http://schemas.microsoft.com/office/powerpoint/2010/main" val="569005054"/>
              </p:ext>
            </p:extLst>
          </p:nvPr>
        </p:nvGraphicFramePr>
        <p:xfrm>
          <a:off x="838200" y="1835471"/>
          <a:ext cx="10515600" cy="3413760"/>
        </p:xfrm>
        <a:graphic>
          <a:graphicData uri="http://schemas.openxmlformats.org/drawingml/2006/table">
            <a:tbl>
              <a:tblPr firstRow="1" bandRow="1">
                <a:tableStyleId>{5940675A-B579-460E-94D1-54222C63F5DA}</a:tableStyleId>
              </a:tblPr>
              <a:tblGrid>
                <a:gridCol w="2610080">
                  <a:extLst>
                    <a:ext uri="{9D8B030D-6E8A-4147-A177-3AD203B41FA5}">
                      <a16:colId xmlns:a16="http://schemas.microsoft.com/office/drawing/2014/main" val="3665648264"/>
                    </a:ext>
                  </a:extLst>
                </a:gridCol>
                <a:gridCol w="3844886">
                  <a:extLst>
                    <a:ext uri="{9D8B030D-6E8A-4147-A177-3AD203B41FA5}">
                      <a16:colId xmlns:a16="http://schemas.microsoft.com/office/drawing/2014/main" val="2439493703"/>
                    </a:ext>
                  </a:extLst>
                </a:gridCol>
                <a:gridCol w="4060634">
                  <a:extLst>
                    <a:ext uri="{9D8B030D-6E8A-4147-A177-3AD203B41FA5}">
                      <a16:colId xmlns:a16="http://schemas.microsoft.com/office/drawing/2014/main" val="3523052723"/>
                    </a:ext>
                  </a:extLst>
                </a:gridCol>
              </a:tblGrid>
              <a:tr h="370840">
                <a:tc>
                  <a:txBody>
                    <a:bodyPr/>
                    <a:lstStyle/>
                    <a:p>
                      <a:pPr algn="ctr"/>
                      <a:r>
                        <a:rPr kumimoji="1" lang="ja-JP" altLang="en-US" sz="2200" dirty="0"/>
                        <a:t>項目</a:t>
                      </a:r>
                    </a:p>
                  </a:txBody>
                  <a:tcPr>
                    <a:solidFill>
                      <a:schemeClr val="tx2">
                        <a:lumMod val="40000"/>
                        <a:lumOff val="60000"/>
                      </a:schemeClr>
                    </a:solidFill>
                  </a:tcPr>
                </a:tc>
                <a:tc>
                  <a:txBody>
                    <a:bodyPr/>
                    <a:lstStyle/>
                    <a:p>
                      <a:pPr algn="ctr"/>
                      <a:r>
                        <a:rPr kumimoji="1" lang="ja-JP" altLang="en-US" sz="2200" dirty="0"/>
                        <a:t>レイアウト検査</a:t>
                      </a:r>
                    </a:p>
                  </a:txBody>
                  <a:tcPr>
                    <a:solidFill>
                      <a:schemeClr val="tx2">
                        <a:lumMod val="40000"/>
                        <a:lumOff val="60000"/>
                      </a:schemeClr>
                    </a:solidFill>
                  </a:tcPr>
                </a:tc>
                <a:tc>
                  <a:txBody>
                    <a:bodyPr/>
                    <a:lstStyle/>
                    <a:p>
                      <a:pPr algn="ctr"/>
                      <a:r>
                        <a:rPr kumimoji="1" lang="ja-JP" altLang="en-US" sz="2200" dirty="0"/>
                        <a:t>製品監査</a:t>
                      </a:r>
                    </a:p>
                  </a:txBody>
                  <a:tcPr>
                    <a:solidFill>
                      <a:schemeClr val="tx2">
                        <a:lumMod val="40000"/>
                        <a:lumOff val="60000"/>
                      </a:schemeClr>
                    </a:solidFill>
                  </a:tcPr>
                </a:tc>
                <a:extLst>
                  <a:ext uri="{0D108BD9-81ED-4DB2-BD59-A6C34878D82A}">
                    <a16:rowId xmlns:a16="http://schemas.microsoft.com/office/drawing/2014/main" val="1682969794"/>
                  </a:ext>
                </a:extLst>
              </a:tr>
              <a:tr h="370840">
                <a:tc>
                  <a:txBody>
                    <a:bodyPr/>
                    <a:lstStyle/>
                    <a:p>
                      <a:r>
                        <a:rPr kumimoji="1" lang="ja-JP" altLang="en-US" sz="2200" dirty="0"/>
                        <a:t>検査基準</a:t>
                      </a:r>
                    </a:p>
                  </a:txBody>
                  <a:tcPr/>
                </a:tc>
                <a:tc>
                  <a:txBody>
                    <a:bodyPr/>
                    <a:lstStyle/>
                    <a:p>
                      <a:r>
                        <a:rPr kumimoji="1" lang="ja-JP" altLang="en-US" sz="2200" dirty="0"/>
                        <a:t>製品規格</a:t>
                      </a:r>
                    </a:p>
                  </a:txBody>
                  <a:tcPr/>
                </a:tc>
                <a:tc>
                  <a:txBody>
                    <a:bodyPr/>
                    <a:lstStyle/>
                    <a:p>
                      <a:r>
                        <a:rPr kumimoji="1" lang="ja-JP" altLang="en-US" sz="2200" dirty="0"/>
                        <a:t>製品規格</a:t>
                      </a:r>
                    </a:p>
                  </a:txBody>
                  <a:tcPr/>
                </a:tc>
                <a:extLst>
                  <a:ext uri="{0D108BD9-81ED-4DB2-BD59-A6C34878D82A}">
                    <a16:rowId xmlns:a16="http://schemas.microsoft.com/office/drawing/2014/main" val="4011446902"/>
                  </a:ext>
                </a:extLst>
              </a:tr>
              <a:tr h="370840">
                <a:tc>
                  <a:txBody>
                    <a:bodyPr/>
                    <a:lstStyle/>
                    <a:p>
                      <a:r>
                        <a:rPr kumimoji="1" lang="ja-JP" altLang="en-US" sz="2200" dirty="0"/>
                        <a:t>検査項目</a:t>
                      </a:r>
                    </a:p>
                  </a:txBody>
                  <a:tcPr/>
                </a:tc>
                <a:tc>
                  <a:txBody>
                    <a:bodyPr/>
                    <a:lstStyle/>
                    <a:p>
                      <a:r>
                        <a:rPr kumimoji="1" lang="ja-JP" altLang="en-US" sz="2200" dirty="0"/>
                        <a:t>製品規格のすべて</a:t>
                      </a:r>
                    </a:p>
                  </a:txBody>
                  <a:tcPr/>
                </a:tc>
                <a:tc>
                  <a:txBody>
                    <a:bodyPr/>
                    <a:lstStyle/>
                    <a:p>
                      <a:r>
                        <a:rPr kumimoji="1" lang="ja-JP" altLang="en-US" sz="2200" dirty="0"/>
                        <a:t>製品規格の</a:t>
                      </a:r>
                      <a:r>
                        <a:rPr kumimoji="1" lang="ja-JP" altLang="en-US" sz="2200" dirty="0">
                          <a:solidFill>
                            <a:srgbClr val="FF0000"/>
                          </a:solidFill>
                          <a:effectLst>
                            <a:outerShdw blurRad="38100" dist="38100" dir="2700000" algn="tl">
                              <a:srgbClr val="000000">
                                <a:alpha val="43137"/>
                              </a:srgbClr>
                            </a:outerShdw>
                          </a:effectLst>
                        </a:rPr>
                        <a:t>サンプリング</a:t>
                      </a:r>
                    </a:p>
                  </a:txBody>
                  <a:tcPr/>
                </a:tc>
                <a:extLst>
                  <a:ext uri="{0D108BD9-81ED-4DB2-BD59-A6C34878D82A}">
                    <a16:rowId xmlns:a16="http://schemas.microsoft.com/office/drawing/2014/main" val="3050922222"/>
                  </a:ext>
                </a:extLst>
              </a:tr>
              <a:tr h="370840">
                <a:tc>
                  <a:txBody>
                    <a:bodyPr/>
                    <a:lstStyle/>
                    <a:p>
                      <a:r>
                        <a:rPr kumimoji="1" lang="ja-JP" altLang="en-US" sz="2200" dirty="0"/>
                        <a:t>実施責任者</a:t>
                      </a:r>
                    </a:p>
                  </a:txBody>
                  <a:tcPr/>
                </a:tc>
                <a:tc>
                  <a:txBody>
                    <a:bodyPr/>
                    <a:lstStyle/>
                    <a:p>
                      <a:r>
                        <a:rPr kumimoji="1" lang="ja-JP" altLang="en-US" sz="2200" dirty="0"/>
                        <a:t>検査員</a:t>
                      </a:r>
                    </a:p>
                  </a:txBody>
                  <a:tcPr/>
                </a:tc>
                <a:tc>
                  <a:txBody>
                    <a:bodyPr/>
                    <a:lstStyle/>
                    <a:p>
                      <a:r>
                        <a:rPr kumimoji="1" lang="ja-JP" altLang="en-US" sz="2200" dirty="0">
                          <a:solidFill>
                            <a:srgbClr val="FF0000"/>
                          </a:solidFill>
                          <a:effectLst>
                            <a:outerShdw blurRad="38100" dist="38100" dir="2700000" algn="tl">
                              <a:srgbClr val="000000">
                                <a:alpha val="43137"/>
                              </a:srgbClr>
                            </a:outerShdw>
                          </a:effectLst>
                        </a:rPr>
                        <a:t>内部監査員</a:t>
                      </a:r>
                    </a:p>
                  </a:txBody>
                  <a:tcPr/>
                </a:tc>
                <a:extLst>
                  <a:ext uri="{0D108BD9-81ED-4DB2-BD59-A6C34878D82A}">
                    <a16:rowId xmlns:a16="http://schemas.microsoft.com/office/drawing/2014/main" val="1487680546"/>
                  </a:ext>
                </a:extLst>
              </a:tr>
              <a:tr h="370840">
                <a:tc>
                  <a:txBody>
                    <a:bodyPr/>
                    <a:lstStyle/>
                    <a:p>
                      <a:r>
                        <a:rPr kumimoji="1" lang="ja-JP" altLang="en-US" sz="2200" dirty="0"/>
                        <a:t>方法</a:t>
                      </a:r>
                    </a:p>
                  </a:txBody>
                  <a:tcPr/>
                </a:tc>
                <a:tc>
                  <a:txBody>
                    <a:bodyPr/>
                    <a:lstStyle/>
                    <a:p>
                      <a:r>
                        <a:rPr kumimoji="1" lang="ja-JP" altLang="en-US" sz="2200" dirty="0"/>
                        <a:t>組織が決定</a:t>
                      </a:r>
                    </a:p>
                  </a:txBody>
                  <a:tcPr/>
                </a:tc>
                <a:tc>
                  <a:txBody>
                    <a:bodyPr/>
                    <a:lstStyle/>
                    <a:p>
                      <a:r>
                        <a:rPr kumimoji="1" lang="ja-JP" altLang="en-US" sz="2200" dirty="0">
                          <a:solidFill>
                            <a:srgbClr val="FF0000"/>
                          </a:solidFill>
                          <a:effectLst>
                            <a:outerShdw blurRad="38100" dist="38100" dir="2700000" algn="tl">
                              <a:srgbClr val="000000">
                                <a:alpha val="43137"/>
                              </a:srgbClr>
                            </a:outerShdw>
                          </a:effectLst>
                        </a:rPr>
                        <a:t>顧客</a:t>
                      </a:r>
                      <a:r>
                        <a:rPr kumimoji="1" lang="ja-JP" altLang="en-US" sz="2200" dirty="0"/>
                        <a:t>が指定</a:t>
                      </a:r>
                    </a:p>
                  </a:txBody>
                  <a:tcPr/>
                </a:tc>
                <a:extLst>
                  <a:ext uri="{0D108BD9-81ED-4DB2-BD59-A6C34878D82A}">
                    <a16:rowId xmlns:a16="http://schemas.microsoft.com/office/drawing/2014/main" val="3980784564"/>
                  </a:ext>
                </a:extLst>
              </a:tr>
              <a:tr h="370840">
                <a:tc>
                  <a:txBody>
                    <a:bodyPr/>
                    <a:lstStyle/>
                    <a:p>
                      <a:r>
                        <a:rPr kumimoji="1" lang="ja-JP" altLang="en-US" sz="2200" dirty="0"/>
                        <a:t>頻度</a:t>
                      </a:r>
                    </a:p>
                  </a:txBody>
                  <a:tcPr/>
                </a:tc>
                <a:tc>
                  <a:txBody>
                    <a:bodyPr/>
                    <a:lstStyle/>
                    <a:p>
                      <a:r>
                        <a:rPr kumimoji="1" lang="ja-JP" altLang="en-US" sz="2200" dirty="0"/>
                        <a:t>顧客が指定</a:t>
                      </a:r>
                    </a:p>
                  </a:txBody>
                  <a:tcPr/>
                </a:tc>
                <a:tc>
                  <a:txBody>
                    <a:bodyPr/>
                    <a:lstStyle/>
                    <a:p>
                      <a:r>
                        <a:rPr kumimoji="1" lang="ja-JP" altLang="en-US" sz="2200" dirty="0">
                          <a:solidFill>
                            <a:srgbClr val="FF0000"/>
                          </a:solidFill>
                          <a:effectLst>
                            <a:outerShdw blurRad="38100" dist="38100" dir="2700000" algn="tl">
                              <a:srgbClr val="000000">
                                <a:alpha val="43137"/>
                              </a:srgbClr>
                            </a:outerShdw>
                          </a:effectLst>
                        </a:rPr>
                        <a:t>組織</a:t>
                      </a:r>
                      <a:r>
                        <a:rPr kumimoji="1" lang="ja-JP" altLang="en-US" sz="2200" dirty="0"/>
                        <a:t>が決定</a:t>
                      </a:r>
                    </a:p>
                  </a:txBody>
                  <a:tcPr/>
                </a:tc>
                <a:extLst>
                  <a:ext uri="{0D108BD9-81ED-4DB2-BD59-A6C34878D82A}">
                    <a16:rowId xmlns:a16="http://schemas.microsoft.com/office/drawing/2014/main" val="321375569"/>
                  </a:ext>
                </a:extLst>
              </a:tr>
              <a:tr h="370840">
                <a:tc>
                  <a:txBody>
                    <a:bodyPr/>
                    <a:lstStyle/>
                    <a:p>
                      <a:r>
                        <a:rPr kumimoji="1" lang="ja-JP" altLang="en-US" sz="2200" dirty="0"/>
                        <a:t>実施時期</a:t>
                      </a:r>
                    </a:p>
                  </a:txBody>
                  <a:tcPr/>
                </a:tc>
                <a:tc>
                  <a:txBody>
                    <a:bodyPr/>
                    <a:lstStyle/>
                    <a:p>
                      <a:r>
                        <a:rPr kumimoji="1" lang="ja-JP" altLang="en-US" sz="2200" dirty="0"/>
                        <a:t>生産の適切な段階</a:t>
                      </a:r>
                    </a:p>
                  </a:txBody>
                  <a:tcPr/>
                </a:tc>
                <a:tc>
                  <a:txBody>
                    <a:bodyPr/>
                    <a:lstStyle/>
                    <a:p>
                      <a:r>
                        <a:rPr kumimoji="1" lang="ja-JP" altLang="en-US" sz="2200" dirty="0"/>
                        <a:t>生産・引渡しの適切な段階</a:t>
                      </a:r>
                    </a:p>
                  </a:txBody>
                  <a:tcPr/>
                </a:tc>
                <a:extLst>
                  <a:ext uri="{0D108BD9-81ED-4DB2-BD59-A6C34878D82A}">
                    <a16:rowId xmlns:a16="http://schemas.microsoft.com/office/drawing/2014/main" val="535659788"/>
                  </a:ext>
                </a:extLst>
              </a:tr>
              <a:tr h="370840">
                <a:tc>
                  <a:txBody>
                    <a:bodyPr/>
                    <a:lstStyle/>
                    <a:p>
                      <a:r>
                        <a:rPr kumimoji="1" lang="en-US" altLang="ja-JP" sz="2200" dirty="0"/>
                        <a:t>CP</a:t>
                      </a:r>
                      <a:r>
                        <a:rPr kumimoji="1" lang="ja-JP" altLang="en-US" sz="2200" dirty="0" err="1"/>
                        <a:t>への</a:t>
                      </a:r>
                      <a:r>
                        <a:rPr kumimoji="1" lang="ja-JP" altLang="en-US" sz="2200" dirty="0"/>
                        <a:t>記載</a:t>
                      </a:r>
                    </a:p>
                  </a:txBody>
                  <a:tcPr/>
                </a:tc>
                <a:tc>
                  <a:txBody>
                    <a:bodyPr/>
                    <a:lstStyle/>
                    <a:p>
                      <a:r>
                        <a:rPr kumimoji="1" lang="ja-JP" altLang="en-US" sz="2200" dirty="0"/>
                        <a:t>記載</a:t>
                      </a:r>
                    </a:p>
                  </a:txBody>
                  <a:tcPr/>
                </a:tc>
                <a:tc>
                  <a:txBody>
                    <a:bodyPr/>
                    <a:lstStyle/>
                    <a:p>
                      <a:r>
                        <a:rPr kumimoji="1" lang="ja-JP" altLang="en-US" sz="2200" dirty="0">
                          <a:solidFill>
                            <a:srgbClr val="FF0000"/>
                          </a:solidFill>
                          <a:effectLst>
                            <a:outerShdw blurRad="38100" dist="38100" dir="2700000" algn="tl">
                              <a:srgbClr val="000000">
                                <a:alpha val="43137"/>
                              </a:srgbClr>
                            </a:outerShdw>
                          </a:effectLst>
                        </a:rPr>
                        <a:t>記載なし</a:t>
                      </a:r>
                    </a:p>
                  </a:txBody>
                  <a:tcPr/>
                </a:tc>
                <a:extLst>
                  <a:ext uri="{0D108BD9-81ED-4DB2-BD59-A6C34878D82A}">
                    <a16:rowId xmlns:a16="http://schemas.microsoft.com/office/drawing/2014/main" val="2702777652"/>
                  </a:ext>
                </a:extLst>
              </a:tr>
            </a:tbl>
          </a:graphicData>
        </a:graphic>
      </p:graphicFrame>
      <p:sp>
        <p:nvSpPr>
          <p:cNvPr id="3" name="吹き出し: 線 2">
            <a:extLst>
              <a:ext uri="{FF2B5EF4-FFF2-40B4-BE49-F238E27FC236}">
                <a16:creationId xmlns:a16="http://schemas.microsoft.com/office/drawing/2014/main" id="{18A38BD4-7F0E-4429-B4B3-3B5E14A94C4E}"/>
              </a:ext>
            </a:extLst>
          </p:cNvPr>
          <p:cNvSpPr/>
          <p:nvPr/>
        </p:nvSpPr>
        <p:spPr>
          <a:xfrm>
            <a:off x="4439799" y="5376231"/>
            <a:ext cx="6808424" cy="892367"/>
          </a:xfrm>
          <a:prstGeom prst="borderCallout1">
            <a:avLst>
              <a:gd name="adj1" fmla="val -3472"/>
              <a:gd name="adj2" fmla="val 74061"/>
              <a:gd name="adj3" fmla="val -67747"/>
              <a:gd name="adj4" fmla="val 67125"/>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通常は完成品置場からのサンプリングだが、完成品では検査できない場合、製造工程の途中で実施する。</a:t>
            </a:r>
          </a:p>
        </p:txBody>
      </p:sp>
      <p:sp>
        <p:nvSpPr>
          <p:cNvPr id="6" name="楕円 5">
            <a:extLst>
              <a:ext uri="{FF2B5EF4-FFF2-40B4-BE49-F238E27FC236}">
                <a16:creationId xmlns:a16="http://schemas.microsoft.com/office/drawing/2014/main" id="{FD12CBC5-72F0-44D1-AB17-E3E130F3BF1B}"/>
              </a:ext>
            </a:extLst>
          </p:cNvPr>
          <p:cNvSpPr/>
          <p:nvPr/>
        </p:nvSpPr>
        <p:spPr>
          <a:xfrm>
            <a:off x="2733040" y="3515360"/>
            <a:ext cx="6939280" cy="883920"/>
          </a:xfrm>
          <a:prstGeom prst="ellipse">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線 7">
            <a:extLst>
              <a:ext uri="{FF2B5EF4-FFF2-40B4-BE49-F238E27FC236}">
                <a16:creationId xmlns:a16="http://schemas.microsoft.com/office/drawing/2014/main" id="{BAC60B0E-9558-41B9-936C-80ED27645F49}"/>
              </a:ext>
            </a:extLst>
          </p:cNvPr>
          <p:cNvSpPr/>
          <p:nvPr/>
        </p:nvSpPr>
        <p:spPr>
          <a:xfrm>
            <a:off x="1239520" y="5376231"/>
            <a:ext cx="2570480" cy="892367"/>
          </a:xfrm>
          <a:prstGeom prst="borderCallout1">
            <a:avLst>
              <a:gd name="adj1" fmla="val -11991"/>
              <a:gd name="adj2" fmla="val 55699"/>
              <a:gd name="adj3" fmla="val -126594"/>
              <a:gd name="adj4" fmla="val 84592"/>
            </a:avLst>
          </a:prstGeom>
          <a:solidFill>
            <a:schemeClr val="tx2">
              <a:lumMod val="20000"/>
              <a:lumOff val="80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顧客が示さない場合は組織が決定する。</a:t>
            </a:r>
          </a:p>
        </p:txBody>
      </p:sp>
    </p:spTree>
    <p:extLst>
      <p:ext uri="{BB962C8B-B14F-4D97-AF65-F5344CB8AC3E}">
        <p14:creationId xmlns:p14="http://schemas.microsoft.com/office/powerpoint/2010/main" val="212142760"/>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３つの監査のまとめ</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内部監査について</a:t>
            </a:r>
          </a:p>
        </p:txBody>
      </p:sp>
      <p:graphicFrame>
        <p:nvGraphicFramePr>
          <p:cNvPr id="8" name="表 7">
            <a:extLst>
              <a:ext uri="{FF2B5EF4-FFF2-40B4-BE49-F238E27FC236}">
                <a16:creationId xmlns:a16="http://schemas.microsoft.com/office/drawing/2014/main" id="{141CC01D-A2FC-4B65-A946-ABEFECD42B7F}"/>
              </a:ext>
            </a:extLst>
          </p:cNvPr>
          <p:cNvGraphicFramePr>
            <a:graphicFrameLocks noGrp="1"/>
          </p:cNvGraphicFramePr>
          <p:nvPr>
            <p:extLst>
              <p:ext uri="{D42A27DB-BD31-4B8C-83A1-F6EECF244321}">
                <p14:modId xmlns:p14="http://schemas.microsoft.com/office/powerpoint/2010/main" val="2683082900"/>
              </p:ext>
            </p:extLst>
          </p:nvPr>
        </p:nvGraphicFramePr>
        <p:xfrm>
          <a:off x="838199" y="1832368"/>
          <a:ext cx="10515600" cy="4523981"/>
        </p:xfrm>
        <a:graphic>
          <a:graphicData uri="http://schemas.openxmlformats.org/drawingml/2006/table">
            <a:tbl>
              <a:tblPr firstRow="1" bandRow="1">
                <a:tableStyleId>{5940675A-B579-460E-94D1-54222C63F5DA}</a:tableStyleId>
              </a:tblPr>
              <a:tblGrid>
                <a:gridCol w="1563478">
                  <a:extLst>
                    <a:ext uri="{9D8B030D-6E8A-4147-A177-3AD203B41FA5}">
                      <a16:colId xmlns:a16="http://schemas.microsoft.com/office/drawing/2014/main" val="1590990436"/>
                    </a:ext>
                  </a:extLst>
                </a:gridCol>
                <a:gridCol w="2280492">
                  <a:extLst>
                    <a:ext uri="{9D8B030D-6E8A-4147-A177-3AD203B41FA5}">
                      <a16:colId xmlns:a16="http://schemas.microsoft.com/office/drawing/2014/main" val="4070613896"/>
                    </a:ext>
                  </a:extLst>
                </a:gridCol>
                <a:gridCol w="2886419">
                  <a:extLst>
                    <a:ext uri="{9D8B030D-6E8A-4147-A177-3AD203B41FA5}">
                      <a16:colId xmlns:a16="http://schemas.microsoft.com/office/drawing/2014/main" val="2345834657"/>
                    </a:ext>
                  </a:extLst>
                </a:gridCol>
                <a:gridCol w="3785211">
                  <a:extLst>
                    <a:ext uri="{9D8B030D-6E8A-4147-A177-3AD203B41FA5}">
                      <a16:colId xmlns:a16="http://schemas.microsoft.com/office/drawing/2014/main" val="3133288568"/>
                    </a:ext>
                  </a:extLst>
                </a:gridCol>
              </a:tblGrid>
              <a:tr h="426130">
                <a:tc>
                  <a:txBody>
                    <a:bodyPr/>
                    <a:lstStyle/>
                    <a:p>
                      <a:pPr algn="ctr"/>
                      <a:r>
                        <a:rPr kumimoji="1" lang="ja-JP" altLang="en-US" sz="1800" dirty="0"/>
                        <a:t>監査の種類</a:t>
                      </a:r>
                    </a:p>
                  </a:txBody>
                  <a:tcPr>
                    <a:solidFill>
                      <a:schemeClr val="tx2">
                        <a:lumMod val="20000"/>
                        <a:lumOff val="80000"/>
                      </a:schemeClr>
                    </a:solidFill>
                  </a:tcPr>
                </a:tc>
                <a:tc>
                  <a:txBody>
                    <a:bodyPr/>
                    <a:lstStyle/>
                    <a:p>
                      <a:pPr algn="ctr"/>
                      <a:r>
                        <a:rPr kumimoji="1" lang="ja-JP" altLang="en-US" sz="1800" dirty="0"/>
                        <a:t>目的</a:t>
                      </a:r>
                    </a:p>
                  </a:txBody>
                  <a:tcPr>
                    <a:solidFill>
                      <a:schemeClr val="tx2">
                        <a:lumMod val="20000"/>
                        <a:lumOff val="80000"/>
                      </a:schemeClr>
                    </a:solidFill>
                  </a:tcPr>
                </a:tc>
                <a:tc>
                  <a:txBody>
                    <a:bodyPr/>
                    <a:lstStyle/>
                    <a:p>
                      <a:pPr algn="ctr"/>
                      <a:r>
                        <a:rPr kumimoji="1" lang="ja-JP" altLang="en-US" sz="1800" dirty="0"/>
                        <a:t>対象</a:t>
                      </a:r>
                    </a:p>
                  </a:txBody>
                  <a:tcPr>
                    <a:solidFill>
                      <a:schemeClr val="tx2">
                        <a:lumMod val="20000"/>
                        <a:lumOff val="80000"/>
                      </a:schemeClr>
                    </a:solidFill>
                  </a:tcPr>
                </a:tc>
                <a:tc>
                  <a:txBody>
                    <a:bodyPr/>
                    <a:lstStyle/>
                    <a:p>
                      <a:pPr algn="ctr"/>
                      <a:r>
                        <a:rPr kumimoji="1" lang="ja-JP" altLang="en-US" sz="1800" dirty="0"/>
                        <a:t>方法・時期</a:t>
                      </a:r>
                    </a:p>
                  </a:txBody>
                  <a:tcPr>
                    <a:solidFill>
                      <a:schemeClr val="tx2">
                        <a:lumMod val="20000"/>
                        <a:lumOff val="80000"/>
                      </a:schemeClr>
                    </a:solidFill>
                  </a:tcPr>
                </a:tc>
                <a:extLst>
                  <a:ext uri="{0D108BD9-81ED-4DB2-BD59-A6C34878D82A}">
                    <a16:rowId xmlns:a16="http://schemas.microsoft.com/office/drawing/2014/main" val="1008411622"/>
                  </a:ext>
                </a:extLst>
              </a:tr>
              <a:tr h="1050731">
                <a:tc>
                  <a:txBody>
                    <a:bodyPr/>
                    <a:lstStyle/>
                    <a:p>
                      <a:r>
                        <a:rPr kumimoji="1" lang="en-US" altLang="ja-JP" sz="1800" dirty="0"/>
                        <a:t>QMS</a:t>
                      </a:r>
                      <a:r>
                        <a:rPr kumimoji="1" lang="ja-JP" altLang="en-US" sz="1800" dirty="0"/>
                        <a:t>監査</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dirty="0"/>
                        <a:t>自動車産業</a:t>
                      </a:r>
                      <a:r>
                        <a:rPr kumimoji="1" lang="en-US" altLang="ja-JP" sz="1800" dirty="0"/>
                        <a:t>QMS</a:t>
                      </a:r>
                      <a:r>
                        <a:rPr kumimoji="1" lang="ja-JP" altLang="en-US" sz="1800" dirty="0"/>
                        <a:t>規格への適合と有効性の検証</a:t>
                      </a:r>
                    </a:p>
                  </a:txBody>
                  <a:tcPr/>
                </a:tc>
                <a:tc>
                  <a:txBody>
                    <a:bodyPr/>
                    <a:lstStyle/>
                    <a:p>
                      <a:pPr marL="285750" indent="-285750">
                        <a:buFont typeface="Arial" panose="020B0604020202020204" pitchFamily="34" charset="0"/>
                        <a:buChar char="•"/>
                      </a:pPr>
                      <a:r>
                        <a:rPr kumimoji="1" lang="ja-JP" altLang="en-US" sz="1800" dirty="0"/>
                        <a:t>全てのプロセス</a:t>
                      </a:r>
                      <a:endParaRPr kumimoji="1" lang="en-US" altLang="ja-JP" sz="1800" dirty="0"/>
                    </a:p>
                    <a:p>
                      <a:pPr marL="285750" indent="-285750">
                        <a:buFont typeface="Arial" panose="020B0604020202020204" pitchFamily="34" charset="0"/>
                        <a:buChar char="•"/>
                      </a:pPr>
                      <a:r>
                        <a:rPr kumimoji="1" lang="ja-JP" altLang="en-US" sz="1800" dirty="0"/>
                        <a:t>顧客固有の</a:t>
                      </a:r>
                      <a:r>
                        <a:rPr kumimoji="1" lang="en-US" altLang="ja-JP" sz="1800" dirty="0"/>
                        <a:t>QMS</a:t>
                      </a:r>
                      <a:r>
                        <a:rPr kumimoji="1" lang="ja-JP" altLang="en-US" sz="1800" dirty="0"/>
                        <a:t>要求事項（サンプリング）</a:t>
                      </a:r>
                    </a:p>
                  </a:txBody>
                  <a:tcPr/>
                </a:tc>
                <a:tc>
                  <a:txBody>
                    <a:bodyPr/>
                    <a:lstStyle/>
                    <a:p>
                      <a:pPr marL="285750" indent="-285750">
                        <a:buFont typeface="Arial" panose="020B0604020202020204" pitchFamily="34" charset="0"/>
                        <a:buChar char="•"/>
                      </a:pPr>
                      <a:r>
                        <a:rPr kumimoji="1" lang="ja-JP" altLang="en-US" sz="1800" dirty="0"/>
                        <a:t>プロセスアプローチ方式</a:t>
                      </a:r>
                      <a:endParaRPr kumimoji="1" lang="en-US" altLang="ja-JP" sz="1800" dirty="0"/>
                    </a:p>
                    <a:p>
                      <a:pPr marL="285750" indent="-285750">
                        <a:buFont typeface="Arial" panose="020B0604020202020204" pitchFamily="34" charset="0"/>
                        <a:buChar char="•"/>
                      </a:pPr>
                      <a:r>
                        <a:rPr kumimoji="1" lang="ja-JP" altLang="en-US" sz="1800" dirty="0"/>
                        <a:t>各</a:t>
                      </a:r>
                      <a:r>
                        <a:rPr kumimoji="1" lang="en-US" altLang="ja-JP" sz="1800" dirty="0"/>
                        <a:t>3</a:t>
                      </a:r>
                      <a:r>
                        <a:rPr kumimoji="1" lang="ja-JP" altLang="en-US" sz="1800" dirty="0"/>
                        <a:t>暦年の期間の間、年次プログアムに沿って</a:t>
                      </a:r>
                    </a:p>
                  </a:txBody>
                  <a:tcPr/>
                </a:tc>
                <a:extLst>
                  <a:ext uri="{0D108BD9-81ED-4DB2-BD59-A6C34878D82A}">
                    <a16:rowId xmlns:a16="http://schemas.microsoft.com/office/drawing/2014/main" val="2683365578"/>
                  </a:ext>
                </a:extLst>
              </a:tr>
              <a:tr h="1681170">
                <a:tc>
                  <a:txBody>
                    <a:bodyPr/>
                    <a:lstStyle/>
                    <a:p>
                      <a:r>
                        <a:rPr kumimoji="1" lang="ja-JP" altLang="en-US" sz="1800" dirty="0"/>
                        <a:t>製造工程監査</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dirty="0"/>
                        <a:t>製造工程の有効性と効率の判定</a:t>
                      </a:r>
                    </a:p>
                  </a:txBody>
                  <a:tcPr/>
                </a:tc>
                <a:tc>
                  <a:txBody>
                    <a:bodyPr/>
                    <a:lstStyle/>
                    <a:p>
                      <a:pPr marL="285750" indent="-285750">
                        <a:buFont typeface="Arial" panose="020B0604020202020204" pitchFamily="34" charset="0"/>
                        <a:buChar char="•"/>
                      </a:pPr>
                      <a:r>
                        <a:rPr kumimoji="1" lang="ja-JP" altLang="en-US" sz="1800" dirty="0"/>
                        <a:t>全ての製造工程</a:t>
                      </a:r>
                      <a:endParaRPr kumimoji="1" lang="en-US" altLang="ja-JP" sz="1800" dirty="0"/>
                    </a:p>
                    <a:p>
                      <a:pPr marL="285750" indent="-285750">
                        <a:buFont typeface="Arial" panose="020B0604020202020204" pitchFamily="34" charset="0"/>
                        <a:buChar char="•"/>
                      </a:pPr>
                      <a:r>
                        <a:rPr kumimoji="1" lang="ja-JP" altLang="en-US" sz="1800" dirty="0"/>
                        <a:t>全ての勤務シフト（シフト引継のサンプリング）</a:t>
                      </a:r>
                    </a:p>
                  </a:txBody>
                  <a:tcPr/>
                </a:tc>
                <a:tc>
                  <a:txBody>
                    <a:bodyPr/>
                    <a:lstStyle/>
                    <a:p>
                      <a:pPr marL="285750" indent="-285750">
                        <a:buFont typeface="Arial" panose="020B0604020202020204" pitchFamily="34" charset="0"/>
                        <a:buChar char="•"/>
                      </a:pPr>
                      <a:r>
                        <a:rPr kumimoji="1" lang="ja-JP" altLang="en-US" sz="1800" dirty="0"/>
                        <a:t>顧客指定の方法（指定がない場合組織が決定）</a:t>
                      </a:r>
                      <a:endParaRPr kumimoji="1" lang="en-US" altLang="ja-JP" sz="1800" dirty="0"/>
                    </a:p>
                    <a:p>
                      <a:pPr marL="285750" indent="-285750">
                        <a:buFont typeface="Arial" panose="020B0604020202020204" pitchFamily="34" charset="0"/>
                        <a:buChar char="•"/>
                      </a:pPr>
                      <a:r>
                        <a:rPr kumimoji="1" lang="en-US" altLang="ja-JP" sz="1800" dirty="0"/>
                        <a:t>PFMEA</a:t>
                      </a:r>
                      <a:r>
                        <a:rPr kumimoji="1" lang="ja-JP" altLang="en-US" sz="1800" dirty="0" err="1"/>
                        <a:t>、</a:t>
                      </a:r>
                      <a:r>
                        <a:rPr kumimoji="1" lang="en-US" altLang="ja-JP" sz="1800" dirty="0"/>
                        <a:t>CP</a:t>
                      </a:r>
                      <a:r>
                        <a:rPr kumimoji="1" lang="ja-JP" altLang="en-US" sz="1800" dirty="0" err="1"/>
                        <a:t>、</a:t>
                      </a:r>
                      <a:r>
                        <a:rPr kumimoji="1" lang="ja-JP" altLang="en-US" sz="1800" dirty="0"/>
                        <a:t>関連文書が効果的に実施されているかを含める。</a:t>
                      </a:r>
                      <a:endParaRPr kumimoji="1" lang="en-US" altLang="ja-JP" sz="1800" dirty="0"/>
                    </a:p>
                    <a:p>
                      <a:pPr marL="285750" indent="-285750">
                        <a:buFont typeface="Arial" panose="020B0604020202020204" pitchFamily="34" charset="0"/>
                        <a:buChar char="•"/>
                      </a:pPr>
                      <a:r>
                        <a:rPr kumimoji="1" lang="ja-JP" altLang="en-US" sz="1800" dirty="0"/>
                        <a:t>各</a:t>
                      </a:r>
                      <a:r>
                        <a:rPr kumimoji="1" lang="en-US" altLang="ja-JP" sz="1800" dirty="0"/>
                        <a:t>3</a:t>
                      </a:r>
                      <a:r>
                        <a:rPr kumimoji="1" lang="ja-JP" altLang="en-US" sz="1800" dirty="0"/>
                        <a:t>暦年の期間</a:t>
                      </a:r>
                    </a:p>
                  </a:txBody>
                  <a:tcPr/>
                </a:tc>
                <a:extLst>
                  <a:ext uri="{0D108BD9-81ED-4DB2-BD59-A6C34878D82A}">
                    <a16:rowId xmlns:a16="http://schemas.microsoft.com/office/drawing/2014/main" val="86718099"/>
                  </a:ext>
                </a:extLst>
              </a:tr>
              <a:tr h="1365950">
                <a:tc>
                  <a:txBody>
                    <a:bodyPr/>
                    <a:lstStyle/>
                    <a:p>
                      <a:r>
                        <a:rPr kumimoji="1" lang="ja-JP" altLang="en-US" sz="1800" dirty="0"/>
                        <a:t>製品監査</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dirty="0"/>
                        <a:t>製品の規定要求事項への適合の検証（寸法・機能・包装等）</a:t>
                      </a:r>
                    </a:p>
                  </a:txBody>
                  <a:tcPr/>
                </a:tc>
                <a:tc>
                  <a:txBody>
                    <a:bodyPr/>
                    <a:lstStyle/>
                    <a:p>
                      <a:pPr marL="285750" indent="-285750">
                        <a:buFont typeface="Arial" panose="020B0604020202020204" pitchFamily="34" charset="0"/>
                        <a:buChar char="•"/>
                      </a:pPr>
                      <a:r>
                        <a:rPr kumimoji="1" lang="ja-JP" altLang="en-US" sz="1800" dirty="0"/>
                        <a:t>製品</a:t>
                      </a:r>
                    </a:p>
                  </a:txBody>
                  <a:tcPr/>
                </a:tc>
                <a:tc>
                  <a:txBody>
                    <a:bodyPr/>
                    <a:lstStyle/>
                    <a:p>
                      <a:pPr marL="285750" indent="-285750">
                        <a:buFont typeface="Arial" panose="020B0604020202020204" pitchFamily="34" charset="0"/>
                        <a:buChar char="•"/>
                      </a:pPr>
                      <a:r>
                        <a:rPr kumimoji="1" lang="ja-JP" altLang="en-US" sz="1800" dirty="0"/>
                        <a:t>顧客指定の方法（指定がない場合組織が決定）</a:t>
                      </a:r>
                      <a:endParaRPr kumimoji="1" lang="en-US" altLang="ja-JP" sz="1800" dirty="0"/>
                    </a:p>
                    <a:p>
                      <a:pPr marL="285750" indent="-285750">
                        <a:buFont typeface="Arial" panose="020B0604020202020204" pitchFamily="34" charset="0"/>
                        <a:buChar char="•"/>
                      </a:pPr>
                      <a:r>
                        <a:rPr kumimoji="1" lang="ja-JP" altLang="en-US" sz="1800" dirty="0"/>
                        <a:t>生産、引渡しの適切な段階で</a:t>
                      </a:r>
                    </a:p>
                  </a:txBody>
                  <a:tcPr/>
                </a:tc>
                <a:extLst>
                  <a:ext uri="{0D108BD9-81ED-4DB2-BD59-A6C34878D82A}">
                    <a16:rowId xmlns:a16="http://schemas.microsoft.com/office/drawing/2014/main" val="2393752648"/>
                  </a:ext>
                </a:extLst>
              </a:tr>
            </a:tbl>
          </a:graphicData>
        </a:graphic>
      </p:graphicFrame>
    </p:spTree>
    <p:extLst>
      <p:ext uri="{BB962C8B-B14F-4D97-AF65-F5344CB8AC3E}">
        <p14:creationId xmlns:p14="http://schemas.microsoft.com/office/powerpoint/2010/main" val="3375421624"/>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6"/>
            </a:pPr>
            <a:r>
              <a:rPr lang="ja-JP" altLang="en-US" sz="2400" dirty="0"/>
              <a:t>コントロールプランと製品監査の関係の一例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内部監査について</a:t>
            </a:r>
          </a:p>
        </p:txBody>
      </p:sp>
      <p:graphicFrame>
        <p:nvGraphicFramePr>
          <p:cNvPr id="2" name="表 1">
            <a:extLst>
              <a:ext uri="{FF2B5EF4-FFF2-40B4-BE49-F238E27FC236}">
                <a16:creationId xmlns:a16="http://schemas.microsoft.com/office/drawing/2014/main" id="{0AB0CFE2-14CD-4447-B0DB-39B4E250BB25}"/>
              </a:ext>
            </a:extLst>
          </p:cNvPr>
          <p:cNvGraphicFramePr>
            <a:graphicFrameLocks noGrp="1"/>
          </p:cNvGraphicFramePr>
          <p:nvPr>
            <p:extLst>
              <p:ext uri="{D42A27DB-BD31-4B8C-83A1-F6EECF244321}">
                <p14:modId xmlns:p14="http://schemas.microsoft.com/office/powerpoint/2010/main" val="3721578701"/>
              </p:ext>
            </p:extLst>
          </p:nvPr>
        </p:nvGraphicFramePr>
        <p:xfrm>
          <a:off x="838200" y="1832370"/>
          <a:ext cx="5143959" cy="4523984"/>
        </p:xfrm>
        <a:graphic>
          <a:graphicData uri="http://schemas.openxmlformats.org/drawingml/2006/table">
            <a:tbl>
              <a:tblPr firstRow="1" bandRow="1">
                <a:tableStyleId>{5940675A-B579-460E-94D1-54222C63F5DA}</a:tableStyleId>
              </a:tblPr>
              <a:tblGrid>
                <a:gridCol w="1243988">
                  <a:extLst>
                    <a:ext uri="{9D8B030D-6E8A-4147-A177-3AD203B41FA5}">
                      <a16:colId xmlns:a16="http://schemas.microsoft.com/office/drawing/2014/main" val="3452530412"/>
                    </a:ext>
                  </a:extLst>
                </a:gridCol>
                <a:gridCol w="1277957">
                  <a:extLst>
                    <a:ext uri="{9D8B030D-6E8A-4147-A177-3AD203B41FA5}">
                      <a16:colId xmlns:a16="http://schemas.microsoft.com/office/drawing/2014/main" val="3880257457"/>
                    </a:ext>
                  </a:extLst>
                </a:gridCol>
                <a:gridCol w="1311007">
                  <a:extLst>
                    <a:ext uri="{9D8B030D-6E8A-4147-A177-3AD203B41FA5}">
                      <a16:colId xmlns:a16="http://schemas.microsoft.com/office/drawing/2014/main" val="3080444568"/>
                    </a:ext>
                  </a:extLst>
                </a:gridCol>
                <a:gridCol w="1311007">
                  <a:extLst>
                    <a:ext uri="{9D8B030D-6E8A-4147-A177-3AD203B41FA5}">
                      <a16:colId xmlns:a16="http://schemas.microsoft.com/office/drawing/2014/main" val="1229714562"/>
                    </a:ext>
                  </a:extLst>
                </a:gridCol>
              </a:tblGrid>
              <a:tr h="565498">
                <a:tc>
                  <a:txBody>
                    <a:bodyPr/>
                    <a:lstStyle/>
                    <a:p>
                      <a:pPr algn="ctr"/>
                      <a:r>
                        <a:rPr kumimoji="1" lang="ja-JP" altLang="en-US" sz="1400" dirty="0"/>
                        <a:t>工程</a:t>
                      </a:r>
                    </a:p>
                  </a:txBody>
                  <a:tcPr>
                    <a:solidFill>
                      <a:schemeClr val="tx2">
                        <a:lumMod val="20000"/>
                        <a:lumOff val="80000"/>
                      </a:schemeClr>
                    </a:solidFill>
                  </a:tcPr>
                </a:tc>
                <a:tc>
                  <a:txBody>
                    <a:bodyPr/>
                    <a:lstStyle/>
                    <a:p>
                      <a:pPr algn="ctr"/>
                      <a:r>
                        <a:rPr kumimoji="1" lang="ja-JP" altLang="en-US" sz="1400" dirty="0"/>
                        <a:t>製品特性</a:t>
                      </a:r>
                    </a:p>
                  </a:txBody>
                  <a:tcPr>
                    <a:solidFill>
                      <a:schemeClr val="tx2">
                        <a:lumMod val="20000"/>
                        <a:lumOff val="80000"/>
                      </a:schemeClr>
                    </a:solidFill>
                  </a:tcPr>
                </a:tc>
                <a:tc>
                  <a:txBody>
                    <a:bodyPr/>
                    <a:lstStyle/>
                    <a:p>
                      <a:pPr algn="ctr"/>
                      <a:r>
                        <a:rPr kumimoji="1" lang="ja-JP" altLang="en-US" sz="1400" dirty="0"/>
                        <a:t>工程パラメータ</a:t>
                      </a:r>
                    </a:p>
                  </a:txBody>
                  <a:tcPr>
                    <a:solidFill>
                      <a:schemeClr val="tx2">
                        <a:lumMod val="20000"/>
                        <a:lumOff val="80000"/>
                      </a:schemeClr>
                    </a:solidFill>
                  </a:tcPr>
                </a:tc>
                <a:tc>
                  <a:txBody>
                    <a:bodyPr/>
                    <a:lstStyle/>
                    <a:p>
                      <a:pPr algn="ctr"/>
                      <a:r>
                        <a:rPr kumimoji="1" lang="en-US" altLang="ja-JP" sz="1400" dirty="0"/>
                        <a:t>CP</a:t>
                      </a:r>
                      <a:r>
                        <a:rPr kumimoji="1" lang="ja-JP" altLang="en-US" sz="1400" dirty="0"/>
                        <a:t>にない製品特性</a:t>
                      </a:r>
                    </a:p>
                  </a:txBody>
                  <a:tcPr>
                    <a:solidFill>
                      <a:schemeClr val="tx2">
                        <a:lumMod val="20000"/>
                        <a:lumOff val="80000"/>
                      </a:schemeClr>
                    </a:solidFill>
                  </a:tcPr>
                </a:tc>
                <a:extLst>
                  <a:ext uri="{0D108BD9-81ED-4DB2-BD59-A6C34878D82A}">
                    <a16:rowId xmlns:a16="http://schemas.microsoft.com/office/drawing/2014/main" val="221743891"/>
                  </a:ext>
                </a:extLst>
              </a:tr>
              <a:tr h="565498">
                <a:tc>
                  <a:txBody>
                    <a:bodyPr/>
                    <a:lstStyle/>
                    <a:p>
                      <a:r>
                        <a:rPr kumimoji="1" lang="ja-JP" altLang="en-US" sz="1400" dirty="0"/>
                        <a:t>材料受入検査</a:t>
                      </a:r>
                    </a:p>
                  </a:txBody>
                  <a:tcPr/>
                </a:tc>
                <a:tc>
                  <a:txBody>
                    <a:bodyPr/>
                    <a:lstStyle/>
                    <a:p>
                      <a:r>
                        <a:rPr kumimoji="1" lang="ja-JP" altLang="en-US" sz="1400" b="1" dirty="0"/>
                        <a:t>材料特性</a:t>
                      </a:r>
                    </a:p>
                  </a:txBody>
                  <a:tcPr/>
                </a:tc>
                <a:tc>
                  <a:txBody>
                    <a:bodyPr/>
                    <a:lstStyle/>
                    <a:p>
                      <a:r>
                        <a:rPr kumimoji="1" lang="ja-JP" altLang="en-US" sz="1400" dirty="0"/>
                        <a:t>－</a:t>
                      </a:r>
                    </a:p>
                  </a:txBody>
                  <a:tcPr/>
                </a:tc>
                <a:tc>
                  <a:txBody>
                    <a:bodyPr/>
                    <a:lstStyle/>
                    <a:p>
                      <a:endParaRPr kumimoji="1" lang="ja-JP" altLang="en-US" sz="1400"/>
                    </a:p>
                  </a:txBody>
                  <a:tcPr/>
                </a:tc>
                <a:extLst>
                  <a:ext uri="{0D108BD9-81ED-4DB2-BD59-A6C34878D82A}">
                    <a16:rowId xmlns:a16="http://schemas.microsoft.com/office/drawing/2014/main" val="3122965827"/>
                  </a:ext>
                </a:extLst>
              </a:tr>
              <a:tr h="565498">
                <a:tc>
                  <a:txBody>
                    <a:bodyPr/>
                    <a:lstStyle/>
                    <a:p>
                      <a:r>
                        <a:rPr kumimoji="1" lang="ja-JP" altLang="en-US" sz="1400" dirty="0"/>
                        <a:t>材料加工①</a:t>
                      </a:r>
                    </a:p>
                  </a:txBody>
                  <a:tcPr/>
                </a:tc>
                <a:tc>
                  <a:txBody>
                    <a:bodyPr/>
                    <a:lstStyle/>
                    <a:p>
                      <a:r>
                        <a:rPr kumimoji="1" lang="ja-JP" altLang="en-US" sz="1400" dirty="0"/>
                        <a:t>－</a:t>
                      </a:r>
                    </a:p>
                  </a:txBody>
                  <a:tcPr/>
                </a:tc>
                <a:tc>
                  <a:txBody>
                    <a:bodyPr/>
                    <a:lstStyle/>
                    <a:p>
                      <a:r>
                        <a:rPr kumimoji="1" lang="ja-JP" altLang="en-US" sz="1400" dirty="0"/>
                        <a:t>加工条件の管理</a:t>
                      </a:r>
                    </a:p>
                  </a:txBody>
                  <a:tcPr/>
                </a:tc>
                <a:tc>
                  <a:txBody>
                    <a:bodyPr/>
                    <a:lstStyle/>
                    <a:p>
                      <a:endParaRPr kumimoji="1" lang="ja-JP" altLang="en-US" sz="1400"/>
                    </a:p>
                  </a:txBody>
                  <a:tcPr/>
                </a:tc>
                <a:extLst>
                  <a:ext uri="{0D108BD9-81ED-4DB2-BD59-A6C34878D82A}">
                    <a16:rowId xmlns:a16="http://schemas.microsoft.com/office/drawing/2014/main" val="1501996812"/>
                  </a:ext>
                </a:extLst>
              </a:tr>
              <a:tr h="565498">
                <a:tc>
                  <a:txBody>
                    <a:bodyPr/>
                    <a:lstStyle/>
                    <a:p>
                      <a:r>
                        <a:rPr kumimoji="1" lang="ja-JP" altLang="en-US" sz="1400" dirty="0"/>
                        <a:t>工程内検査</a:t>
                      </a:r>
                    </a:p>
                  </a:txBody>
                  <a:tcPr/>
                </a:tc>
                <a:tc>
                  <a:txBody>
                    <a:bodyPr/>
                    <a:lstStyle/>
                    <a:p>
                      <a:r>
                        <a:rPr kumimoji="1" lang="ja-JP" altLang="en-US" sz="1400" b="1" dirty="0"/>
                        <a:t>寸法検査</a:t>
                      </a:r>
                      <a:endParaRPr kumimoji="1" lang="en-US" altLang="ja-JP" sz="1400" b="1" dirty="0"/>
                    </a:p>
                    <a:p>
                      <a:r>
                        <a:rPr kumimoji="1" lang="ja-JP" altLang="en-US" sz="1400" b="1" dirty="0"/>
                        <a:t>特性検査</a:t>
                      </a:r>
                    </a:p>
                  </a:txBody>
                  <a:tcPr/>
                </a:tc>
                <a:tc>
                  <a:txBody>
                    <a:bodyPr/>
                    <a:lstStyle/>
                    <a:p>
                      <a:r>
                        <a:rPr kumimoji="1" lang="ja-JP" altLang="en-US" sz="1400" dirty="0"/>
                        <a:t>－</a:t>
                      </a:r>
                    </a:p>
                  </a:txBody>
                  <a:tcPr/>
                </a:tc>
                <a:tc>
                  <a:txBody>
                    <a:bodyPr/>
                    <a:lstStyle/>
                    <a:p>
                      <a:endParaRPr kumimoji="1" lang="ja-JP" altLang="en-US" sz="1400"/>
                    </a:p>
                  </a:txBody>
                  <a:tcPr/>
                </a:tc>
                <a:extLst>
                  <a:ext uri="{0D108BD9-81ED-4DB2-BD59-A6C34878D82A}">
                    <a16:rowId xmlns:a16="http://schemas.microsoft.com/office/drawing/2014/main" val="3718174686"/>
                  </a:ext>
                </a:extLst>
              </a:tr>
              <a:tr h="565498">
                <a:tc>
                  <a:txBody>
                    <a:bodyPr/>
                    <a:lstStyle/>
                    <a:p>
                      <a:r>
                        <a:rPr kumimoji="1" lang="ja-JP" altLang="en-US" sz="1400" dirty="0"/>
                        <a:t>材料加工②</a:t>
                      </a:r>
                    </a:p>
                  </a:txBody>
                  <a:tcPr/>
                </a:tc>
                <a:tc>
                  <a:txBody>
                    <a:bodyPr/>
                    <a:lstStyle/>
                    <a:p>
                      <a:r>
                        <a:rPr kumimoji="1" lang="ja-JP" altLang="en-US" sz="1400" dirty="0"/>
                        <a:t>－</a:t>
                      </a:r>
                    </a:p>
                  </a:txBody>
                  <a:tcPr/>
                </a:tc>
                <a:tc>
                  <a:txBody>
                    <a:bodyPr/>
                    <a:lstStyle/>
                    <a:p>
                      <a:r>
                        <a:rPr kumimoji="1" lang="ja-JP" altLang="en-US" sz="1400" dirty="0"/>
                        <a:t>外注先で実施</a:t>
                      </a:r>
                    </a:p>
                  </a:txBody>
                  <a:tcPr/>
                </a:tc>
                <a:tc>
                  <a:txBody>
                    <a:bodyPr/>
                    <a:lstStyle/>
                    <a:p>
                      <a:endParaRPr kumimoji="1" lang="ja-JP" altLang="en-US" sz="1400" dirty="0"/>
                    </a:p>
                  </a:txBody>
                  <a:tcPr/>
                </a:tc>
                <a:extLst>
                  <a:ext uri="{0D108BD9-81ED-4DB2-BD59-A6C34878D82A}">
                    <a16:rowId xmlns:a16="http://schemas.microsoft.com/office/drawing/2014/main" val="1790671108"/>
                  </a:ext>
                </a:extLst>
              </a:tr>
              <a:tr h="565498">
                <a:tc>
                  <a:txBody>
                    <a:bodyPr/>
                    <a:lstStyle/>
                    <a:p>
                      <a:r>
                        <a:rPr kumimoji="1" lang="ja-JP" altLang="en-US" sz="1400" dirty="0"/>
                        <a:t>工程内検査</a:t>
                      </a:r>
                    </a:p>
                  </a:txBody>
                  <a:tcPr/>
                </a:tc>
                <a:tc>
                  <a:txBody>
                    <a:bodyPr/>
                    <a:lstStyle/>
                    <a:p>
                      <a:r>
                        <a:rPr kumimoji="1" lang="ja-JP" altLang="en-US" sz="1400" dirty="0"/>
                        <a:t>外注先で実施</a:t>
                      </a:r>
                    </a:p>
                  </a:txBody>
                  <a:tcPr/>
                </a:tc>
                <a:tc>
                  <a:txBody>
                    <a:bodyPr/>
                    <a:lstStyle/>
                    <a:p>
                      <a:endParaRPr kumimoji="1" lang="ja-JP" altLang="en-US" sz="1400" dirty="0"/>
                    </a:p>
                  </a:txBody>
                  <a:tcPr/>
                </a:tc>
                <a:tc>
                  <a:txBody>
                    <a:bodyPr/>
                    <a:lstStyle/>
                    <a:p>
                      <a:r>
                        <a:rPr kumimoji="1" lang="ja-JP" altLang="en-US" sz="1400" b="1" dirty="0"/>
                        <a:t>寸法検査</a:t>
                      </a:r>
                      <a:endParaRPr kumimoji="1" lang="en-US" altLang="ja-JP" sz="1400" b="1" dirty="0"/>
                    </a:p>
                    <a:p>
                      <a:r>
                        <a:rPr kumimoji="1" lang="ja-JP" altLang="en-US" sz="1400" b="1" dirty="0"/>
                        <a:t>特性検査</a:t>
                      </a:r>
                    </a:p>
                  </a:txBody>
                  <a:tcPr/>
                </a:tc>
                <a:extLst>
                  <a:ext uri="{0D108BD9-81ED-4DB2-BD59-A6C34878D82A}">
                    <a16:rowId xmlns:a16="http://schemas.microsoft.com/office/drawing/2014/main" val="2321319088"/>
                  </a:ext>
                </a:extLst>
              </a:tr>
              <a:tr h="565498">
                <a:tc>
                  <a:txBody>
                    <a:bodyPr/>
                    <a:lstStyle/>
                    <a:p>
                      <a:r>
                        <a:rPr kumimoji="1" lang="ja-JP" altLang="en-US" sz="1400" dirty="0"/>
                        <a:t>熱処理</a:t>
                      </a:r>
                    </a:p>
                  </a:txBody>
                  <a:tcPr/>
                </a:tc>
                <a:tc>
                  <a:txBody>
                    <a:bodyPr/>
                    <a:lstStyle/>
                    <a:p>
                      <a:r>
                        <a:rPr kumimoji="1" lang="ja-JP" altLang="en-US" sz="1400" dirty="0"/>
                        <a:t>－</a:t>
                      </a:r>
                    </a:p>
                  </a:txBody>
                  <a:tcPr/>
                </a:tc>
                <a:tc>
                  <a:txBody>
                    <a:bodyPr/>
                    <a:lstStyle/>
                    <a:p>
                      <a:r>
                        <a:rPr kumimoji="1" lang="ja-JP" altLang="en-US" sz="1400" dirty="0"/>
                        <a:t>温度／時間</a:t>
                      </a:r>
                    </a:p>
                  </a:txBody>
                  <a:tcPr/>
                </a:tc>
                <a:tc>
                  <a:txBody>
                    <a:bodyPr/>
                    <a:lstStyle/>
                    <a:p>
                      <a:endParaRPr kumimoji="1" lang="ja-JP" altLang="en-US" sz="1400" dirty="0"/>
                    </a:p>
                  </a:txBody>
                  <a:tcPr/>
                </a:tc>
                <a:extLst>
                  <a:ext uri="{0D108BD9-81ED-4DB2-BD59-A6C34878D82A}">
                    <a16:rowId xmlns:a16="http://schemas.microsoft.com/office/drawing/2014/main" val="2515677947"/>
                  </a:ext>
                </a:extLst>
              </a:tr>
              <a:tr h="565498">
                <a:tc>
                  <a:txBody>
                    <a:bodyPr/>
                    <a:lstStyle/>
                    <a:p>
                      <a:r>
                        <a:rPr kumimoji="1" lang="ja-JP" altLang="en-US" sz="1400" dirty="0"/>
                        <a:t>熱処理後の検査</a:t>
                      </a:r>
                    </a:p>
                  </a:txBody>
                  <a:tcPr/>
                </a:tc>
                <a:tc>
                  <a:txBody>
                    <a:bodyPr/>
                    <a:lstStyle/>
                    <a:p>
                      <a:r>
                        <a:rPr kumimoji="1" lang="en-US" altLang="ja-JP" sz="1400" dirty="0"/>
                        <a:t>※</a:t>
                      </a:r>
                      <a:r>
                        <a:rPr kumimoji="1" lang="ja-JP" altLang="en-US" sz="1400" dirty="0"/>
                        <a:t>妥当性検証済み</a:t>
                      </a:r>
                    </a:p>
                  </a:txBody>
                  <a:tcPr/>
                </a:tc>
                <a:tc>
                  <a:txBody>
                    <a:bodyPr/>
                    <a:lstStyle/>
                    <a:p>
                      <a:r>
                        <a:rPr kumimoji="1" lang="ja-JP" altLang="en-US" sz="1400" dirty="0"/>
                        <a:t>－</a:t>
                      </a:r>
                    </a:p>
                  </a:txBody>
                  <a:tcPr/>
                </a:tc>
                <a:tc>
                  <a:txBody>
                    <a:bodyPr/>
                    <a:lstStyle/>
                    <a:p>
                      <a:r>
                        <a:rPr kumimoji="1" lang="ja-JP" altLang="en-US" sz="1400" dirty="0"/>
                        <a:t>製品強度試験</a:t>
                      </a:r>
                    </a:p>
                  </a:txBody>
                  <a:tcPr/>
                </a:tc>
                <a:extLst>
                  <a:ext uri="{0D108BD9-81ED-4DB2-BD59-A6C34878D82A}">
                    <a16:rowId xmlns:a16="http://schemas.microsoft.com/office/drawing/2014/main" val="1197343661"/>
                  </a:ext>
                </a:extLst>
              </a:tr>
            </a:tbl>
          </a:graphicData>
        </a:graphic>
      </p:graphicFrame>
      <p:graphicFrame>
        <p:nvGraphicFramePr>
          <p:cNvPr id="10" name="表 9">
            <a:extLst>
              <a:ext uri="{FF2B5EF4-FFF2-40B4-BE49-F238E27FC236}">
                <a16:creationId xmlns:a16="http://schemas.microsoft.com/office/drawing/2014/main" id="{A7B6D15C-584F-45E7-8A10-F23E572A3B4F}"/>
              </a:ext>
            </a:extLst>
          </p:cNvPr>
          <p:cNvGraphicFramePr>
            <a:graphicFrameLocks noGrp="1"/>
          </p:cNvGraphicFramePr>
          <p:nvPr>
            <p:extLst>
              <p:ext uri="{D42A27DB-BD31-4B8C-83A1-F6EECF244321}">
                <p14:modId xmlns:p14="http://schemas.microsoft.com/office/powerpoint/2010/main" val="802030001"/>
              </p:ext>
            </p:extLst>
          </p:nvPr>
        </p:nvGraphicFramePr>
        <p:xfrm>
          <a:off x="6191480" y="1832368"/>
          <a:ext cx="5143959" cy="4503890"/>
        </p:xfrm>
        <a:graphic>
          <a:graphicData uri="http://schemas.openxmlformats.org/drawingml/2006/table">
            <a:tbl>
              <a:tblPr firstRow="1" bandRow="1">
                <a:tableStyleId>{5940675A-B579-460E-94D1-54222C63F5DA}</a:tableStyleId>
              </a:tblPr>
              <a:tblGrid>
                <a:gridCol w="1243988">
                  <a:extLst>
                    <a:ext uri="{9D8B030D-6E8A-4147-A177-3AD203B41FA5}">
                      <a16:colId xmlns:a16="http://schemas.microsoft.com/office/drawing/2014/main" val="3452530412"/>
                    </a:ext>
                  </a:extLst>
                </a:gridCol>
                <a:gridCol w="1277957">
                  <a:extLst>
                    <a:ext uri="{9D8B030D-6E8A-4147-A177-3AD203B41FA5}">
                      <a16:colId xmlns:a16="http://schemas.microsoft.com/office/drawing/2014/main" val="3880257457"/>
                    </a:ext>
                  </a:extLst>
                </a:gridCol>
                <a:gridCol w="1311007">
                  <a:extLst>
                    <a:ext uri="{9D8B030D-6E8A-4147-A177-3AD203B41FA5}">
                      <a16:colId xmlns:a16="http://schemas.microsoft.com/office/drawing/2014/main" val="3080444568"/>
                    </a:ext>
                  </a:extLst>
                </a:gridCol>
                <a:gridCol w="1311007">
                  <a:extLst>
                    <a:ext uri="{9D8B030D-6E8A-4147-A177-3AD203B41FA5}">
                      <a16:colId xmlns:a16="http://schemas.microsoft.com/office/drawing/2014/main" val="1229714562"/>
                    </a:ext>
                  </a:extLst>
                </a:gridCol>
              </a:tblGrid>
              <a:tr h="565498">
                <a:tc>
                  <a:txBody>
                    <a:bodyPr/>
                    <a:lstStyle/>
                    <a:p>
                      <a:pPr algn="ctr"/>
                      <a:r>
                        <a:rPr kumimoji="1" lang="ja-JP" altLang="en-US" sz="1400" dirty="0"/>
                        <a:t>工程</a:t>
                      </a:r>
                    </a:p>
                  </a:txBody>
                  <a:tcPr>
                    <a:solidFill>
                      <a:schemeClr val="tx2">
                        <a:lumMod val="20000"/>
                        <a:lumOff val="80000"/>
                      </a:schemeClr>
                    </a:solidFill>
                  </a:tcPr>
                </a:tc>
                <a:tc>
                  <a:txBody>
                    <a:bodyPr/>
                    <a:lstStyle/>
                    <a:p>
                      <a:pPr algn="ctr"/>
                      <a:r>
                        <a:rPr kumimoji="1" lang="ja-JP" altLang="en-US" sz="1400" dirty="0"/>
                        <a:t>製品特性</a:t>
                      </a:r>
                    </a:p>
                  </a:txBody>
                  <a:tcPr>
                    <a:solidFill>
                      <a:schemeClr val="tx2">
                        <a:lumMod val="20000"/>
                        <a:lumOff val="80000"/>
                      </a:schemeClr>
                    </a:solidFill>
                  </a:tcPr>
                </a:tc>
                <a:tc>
                  <a:txBody>
                    <a:bodyPr/>
                    <a:lstStyle/>
                    <a:p>
                      <a:pPr algn="ctr"/>
                      <a:r>
                        <a:rPr kumimoji="1" lang="ja-JP" altLang="en-US" sz="1400" dirty="0"/>
                        <a:t>工程パラメータ</a:t>
                      </a:r>
                    </a:p>
                  </a:txBody>
                  <a:tcPr>
                    <a:solidFill>
                      <a:schemeClr val="tx2">
                        <a:lumMod val="20000"/>
                        <a:lumOff val="80000"/>
                      </a:schemeClr>
                    </a:solidFill>
                  </a:tcPr>
                </a:tc>
                <a:tc>
                  <a:txBody>
                    <a:bodyPr/>
                    <a:lstStyle/>
                    <a:p>
                      <a:pPr algn="ctr"/>
                      <a:r>
                        <a:rPr kumimoji="1" lang="en-US" altLang="ja-JP" sz="1400" dirty="0"/>
                        <a:t>CP</a:t>
                      </a:r>
                      <a:r>
                        <a:rPr kumimoji="1" lang="ja-JP" altLang="en-US" sz="1400" dirty="0"/>
                        <a:t>にない製品特性</a:t>
                      </a:r>
                    </a:p>
                  </a:txBody>
                  <a:tcPr>
                    <a:solidFill>
                      <a:schemeClr val="tx2">
                        <a:lumMod val="20000"/>
                        <a:lumOff val="80000"/>
                      </a:schemeClr>
                    </a:solidFill>
                  </a:tcPr>
                </a:tc>
                <a:extLst>
                  <a:ext uri="{0D108BD9-81ED-4DB2-BD59-A6C34878D82A}">
                    <a16:rowId xmlns:a16="http://schemas.microsoft.com/office/drawing/2014/main" val="221743891"/>
                  </a:ext>
                </a:extLst>
              </a:tr>
              <a:tr h="565498">
                <a:tc>
                  <a:txBody>
                    <a:bodyPr/>
                    <a:lstStyle/>
                    <a:p>
                      <a:r>
                        <a:rPr kumimoji="1" lang="ja-JP" altLang="en-US" sz="1400" dirty="0"/>
                        <a:t>製品組立</a:t>
                      </a:r>
                    </a:p>
                  </a:txBody>
                  <a:tcPr/>
                </a:tc>
                <a:tc>
                  <a:txBody>
                    <a:bodyPr/>
                    <a:lstStyle/>
                    <a:p>
                      <a:r>
                        <a:rPr kumimoji="1" lang="ja-JP" altLang="en-US" sz="1400" dirty="0"/>
                        <a:t>－</a:t>
                      </a:r>
                    </a:p>
                  </a:txBody>
                  <a:tcPr/>
                </a:tc>
                <a:tc>
                  <a:txBody>
                    <a:bodyPr/>
                    <a:lstStyle/>
                    <a:p>
                      <a:r>
                        <a:rPr kumimoji="1" lang="ja-JP" altLang="en-US" sz="1400" dirty="0"/>
                        <a:t>組立機の定期点検</a:t>
                      </a:r>
                    </a:p>
                  </a:txBody>
                  <a:tcPr/>
                </a:tc>
                <a:tc>
                  <a:txBody>
                    <a:bodyPr/>
                    <a:lstStyle/>
                    <a:p>
                      <a:endParaRPr kumimoji="1" lang="ja-JP" altLang="en-US" sz="1400"/>
                    </a:p>
                  </a:txBody>
                  <a:tcPr/>
                </a:tc>
                <a:extLst>
                  <a:ext uri="{0D108BD9-81ED-4DB2-BD59-A6C34878D82A}">
                    <a16:rowId xmlns:a16="http://schemas.microsoft.com/office/drawing/2014/main" val="3122965827"/>
                  </a:ext>
                </a:extLst>
              </a:tr>
              <a:tr h="565498">
                <a:tc>
                  <a:txBody>
                    <a:bodyPr/>
                    <a:lstStyle/>
                    <a:p>
                      <a:r>
                        <a:rPr kumimoji="1" lang="ja-JP" altLang="en-US" sz="1400" dirty="0"/>
                        <a:t>最終検査①</a:t>
                      </a:r>
                    </a:p>
                  </a:txBody>
                  <a:tcPr/>
                </a:tc>
                <a:tc>
                  <a:txBody>
                    <a:bodyPr/>
                    <a:lstStyle/>
                    <a:p>
                      <a:r>
                        <a:rPr kumimoji="1" lang="ja-JP" altLang="en-US" sz="1400" b="1" dirty="0"/>
                        <a:t>寸法検査</a:t>
                      </a:r>
                      <a:endParaRPr kumimoji="1" lang="en-US" altLang="ja-JP" sz="1400" b="1" dirty="0"/>
                    </a:p>
                    <a:p>
                      <a:r>
                        <a:rPr kumimoji="1" lang="ja-JP" altLang="en-US" sz="1400" b="1" dirty="0"/>
                        <a:t>特性検査</a:t>
                      </a:r>
                    </a:p>
                  </a:txBody>
                  <a:tcPr/>
                </a:tc>
                <a:tc>
                  <a:txBody>
                    <a:bodyPr/>
                    <a:lstStyle/>
                    <a:p>
                      <a:r>
                        <a:rPr kumimoji="1" lang="ja-JP" altLang="en-US" sz="1400" dirty="0"/>
                        <a:t>－</a:t>
                      </a:r>
                    </a:p>
                  </a:txBody>
                  <a:tcPr/>
                </a:tc>
                <a:tc>
                  <a:txBody>
                    <a:bodyPr/>
                    <a:lstStyle/>
                    <a:p>
                      <a:endParaRPr kumimoji="1" lang="ja-JP" altLang="en-US" sz="1400"/>
                    </a:p>
                  </a:txBody>
                  <a:tcPr/>
                </a:tc>
                <a:extLst>
                  <a:ext uri="{0D108BD9-81ED-4DB2-BD59-A6C34878D82A}">
                    <a16:rowId xmlns:a16="http://schemas.microsoft.com/office/drawing/2014/main" val="1501996812"/>
                  </a:ext>
                </a:extLst>
              </a:tr>
              <a:tr h="565498">
                <a:tc>
                  <a:txBody>
                    <a:bodyPr/>
                    <a:lstStyle/>
                    <a:p>
                      <a:r>
                        <a:rPr kumimoji="1" lang="ja-JP" altLang="en-US" sz="1400" dirty="0"/>
                        <a:t>最終検査②</a:t>
                      </a:r>
                    </a:p>
                  </a:txBody>
                  <a:tcPr/>
                </a:tc>
                <a:tc>
                  <a:txBody>
                    <a:bodyPr/>
                    <a:lstStyle/>
                    <a:p>
                      <a:r>
                        <a:rPr kumimoji="1" lang="ja-JP" altLang="en-US" sz="1400" b="1" dirty="0"/>
                        <a:t>外観検査</a:t>
                      </a:r>
                      <a:endParaRPr kumimoji="1" lang="en-US" altLang="ja-JP" sz="1400" b="1" dirty="0"/>
                    </a:p>
                  </a:txBody>
                  <a:tcPr/>
                </a:tc>
                <a:tc>
                  <a:txBody>
                    <a:bodyPr/>
                    <a:lstStyle/>
                    <a:p>
                      <a:r>
                        <a:rPr kumimoji="1" lang="ja-JP" altLang="en-US" sz="1400" dirty="0"/>
                        <a:t>－</a:t>
                      </a:r>
                    </a:p>
                  </a:txBody>
                  <a:tcPr/>
                </a:tc>
                <a:tc>
                  <a:txBody>
                    <a:bodyPr/>
                    <a:lstStyle/>
                    <a:p>
                      <a:endParaRPr kumimoji="1" lang="ja-JP" altLang="en-US" sz="1400"/>
                    </a:p>
                  </a:txBody>
                  <a:tcPr/>
                </a:tc>
                <a:extLst>
                  <a:ext uri="{0D108BD9-81ED-4DB2-BD59-A6C34878D82A}">
                    <a16:rowId xmlns:a16="http://schemas.microsoft.com/office/drawing/2014/main" val="3718174686"/>
                  </a:ext>
                </a:extLst>
              </a:tr>
              <a:tr h="565498">
                <a:tc>
                  <a:txBody>
                    <a:bodyPr/>
                    <a:lstStyle/>
                    <a:p>
                      <a:r>
                        <a:rPr kumimoji="1" lang="ja-JP" altLang="en-US" sz="1400" dirty="0"/>
                        <a:t>包装、ラベリング、出荷</a:t>
                      </a:r>
                    </a:p>
                  </a:txBody>
                  <a:tcPr/>
                </a:tc>
                <a:tc>
                  <a:txBody>
                    <a:bodyPr/>
                    <a:lstStyle/>
                    <a:p>
                      <a:r>
                        <a:rPr kumimoji="1" lang="ja-JP" altLang="en-US" sz="1400" dirty="0"/>
                        <a:t>－</a:t>
                      </a:r>
                    </a:p>
                  </a:txBody>
                  <a:tcPr/>
                </a:tc>
                <a:tc>
                  <a:txBody>
                    <a:bodyPr/>
                    <a:lstStyle/>
                    <a:p>
                      <a:r>
                        <a:rPr kumimoji="1" lang="ja-JP" altLang="en-US" sz="1400" dirty="0"/>
                        <a:t>包装装置の定期点検</a:t>
                      </a:r>
                    </a:p>
                  </a:txBody>
                  <a:tcPr/>
                </a:tc>
                <a:tc>
                  <a:txBody>
                    <a:bodyPr/>
                    <a:lstStyle/>
                    <a:p>
                      <a:r>
                        <a:rPr kumimoji="1" lang="ja-JP" altLang="en-US" sz="1400" dirty="0"/>
                        <a:t>包装、ラベリング状態の検査</a:t>
                      </a:r>
                    </a:p>
                  </a:txBody>
                  <a:tcPr/>
                </a:tc>
                <a:extLst>
                  <a:ext uri="{0D108BD9-81ED-4DB2-BD59-A6C34878D82A}">
                    <a16:rowId xmlns:a16="http://schemas.microsoft.com/office/drawing/2014/main" val="1790671108"/>
                  </a:ext>
                </a:extLst>
              </a:tr>
              <a:tr h="565498">
                <a:tc>
                  <a:txBody>
                    <a:bodyPr/>
                    <a:lstStyle/>
                    <a:p>
                      <a:r>
                        <a:rPr kumimoji="1" lang="ja-JP" altLang="en-US" sz="1400" dirty="0"/>
                        <a:t>定期検査</a:t>
                      </a:r>
                    </a:p>
                  </a:txBody>
                  <a:tcPr/>
                </a:tc>
                <a:tc>
                  <a:txBody>
                    <a:bodyPr/>
                    <a:lstStyle/>
                    <a:p>
                      <a:r>
                        <a:rPr kumimoji="1" lang="ja-JP" altLang="en-US" sz="1400" b="1" dirty="0"/>
                        <a:t>レイアウト検査</a:t>
                      </a:r>
                      <a:endParaRPr kumimoji="1" lang="en-US" altLang="ja-JP" sz="1400" b="1" dirty="0"/>
                    </a:p>
                    <a:p>
                      <a:r>
                        <a:rPr kumimoji="1" lang="ja-JP" altLang="en-US" sz="1400" b="1" dirty="0"/>
                        <a:t>機能試験</a:t>
                      </a:r>
                      <a:endParaRPr kumimoji="1" lang="en-US" altLang="ja-JP" sz="1400" b="1" dirty="0"/>
                    </a:p>
                    <a:p>
                      <a:r>
                        <a:rPr kumimoji="1" lang="ja-JP" altLang="en-US" sz="1400" b="1" dirty="0"/>
                        <a:t>信頼性試験</a:t>
                      </a:r>
                    </a:p>
                  </a:txBody>
                  <a:tcPr/>
                </a:tc>
                <a:tc>
                  <a:txBody>
                    <a:bodyPr/>
                    <a:lstStyle/>
                    <a:p>
                      <a:endParaRPr kumimoji="1" lang="ja-JP" altLang="en-US" sz="1400" dirty="0"/>
                    </a:p>
                  </a:txBody>
                  <a:tcPr/>
                </a:tc>
                <a:tc>
                  <a:txBody>
                    <a:bodyPr/>
                    <a:lstStyle/>
                    <a:p>
                      <a:endParaRPr kumimoji="1" lang="en-US" altLang="ja-JP" sz="1400" dirty="0"/>
                    </a:p>
                  </a:txBody>
                  <a:tcPr/>
                </a:tc>
                <a:extLst>
                  <a:ext uri="{0D108BD9-81ED-4DB2-BD59-A6C34878D82A}">
                    <a16:rowId xmlns:a16="http://schemas.microsoft.com/office/drawing/2014/main" val="2321319088"/>
                  </a:ext>
                </a:extLst>
              </a:tr>
              <a:tr h="565498">
                <a:tc gridSpan="4">
                  <a:txBody>
                    <a:bodyPr/>
                    <a:lstStyle/>
                    <a:p>
                      <a:r>
                        <a:rPr kumimoji="1" lang="ja-JP" altLang="en-US" sz="1800" b="1" dirty="0"/>
                        <a:t>太字が製品監査項目と成り得る。</a:t>
                      </a:r>
                    </a:p>
                  </a:txBody>
                  <a:tcPr/>
                </a:tc>
                <a:tc hMerge="1">
                  <a:txBody>
                    <a:bodyPr/>
                    <a:lstStyle/>
                    <a:p>
                      <a:endParaRPr kumimoji="1" lang="ja-JP" altLang="en-US" sz="1400" dirty="0"/>
                    </a:p>
                  </a:txBody>
                  <a:tcPr/>
                </a:tc>
                <a:tc hMerge="1">
                  <a:txBody>
                    <a:bodyPr/>
                    <a:lstStyle/>
                    <a:p>
                      <a:endParaRPr kumimoji="1" lang="ja-JP" altLang="en-US" sz="1400" dirty="0"/>
                    </a:p>
                  </a:txBody>
                  <a:tcPr/>
                </a:tc>
                <a:tc hMerge="1">
                  <a:txBody>
                    <a:bodyPr/>
                    <a:lstStyle/>
                    <a:p>
                      <a:endParaRPr kumimoji="1" lang="ja-JP" altLang="en-US" sz="1400" dirty="0"/>
                    </a:p>
                  </a:txBody>
                  <a:tcPr/>
                </a:tc>
                <a:extLst>
                  <a:ext uri="{0D108BD9-81ED-4DB2-BD59-A6C34878D82A}">
                    <a16:rowId xmlns:a16="http://schemas.microsoft.com/office/drawing/2014/main" val="1197343661"/>
                  </a:ext>
                </a:extLst>
              </a:tr>
            </a:tbl>
          </a:graphicData>
        </a:graphic>
      </p:graphicFrame>
    </p:spTree>
    <p:extLst>
      <p:ext uri="{BB962C8B-B14F-4D97-AF65-F5344CB8AC3E}">
        <p14:creationId xmlns:p14="http://schemas.microsoft.com/office/powerpoint/2010/main" val="2024616107"/>
      </p:ext>
    </p:extLst>
  </p:cSld>
  <p:clrMapOvr>
    <a:masterClrMapping/>
  </p:clrMapOvr>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352</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3"/>
            <a:ext cx="10515600" cy="1322023"/>
          </a:xfrm>
          <a:ln w="12700">
            <a:solidFill>
              <a:schemeClr val="tx2"/>
            </a:solidFill>
          </a:ln>
        </p:spPr>
        <p:txBody>
          <a:bodyPr>
            <a:normAutofit/>
          </a:bodyPr>
          <a:lstStyle/>
          <a:p>
            <a:pPr marL="0" indent="0">
              <a:lnSpc>
                <a:spcPct val="100000"/>
              </a:lnSpc>
              <a:buNone/>
            </a:pPr>
            <a:r>
              <a:rPr lang="ja-JP" altLang="en-US" sz="2000" dirty="0"/>
              <a:t>☑マネジメントレビューは、少なくとも年次で実施しなければならない。品質マネジメントシステム及びパフォーマンスに関係する問題に影響する内部又は外部の変化による顧客要求事項への適合の</a:t>
            </a:r>
            <a:r>
              <a:rPr lang="ja-JP" altLang="en-US" sz="2000" u="sng" dirty="0"/>
              <a:t>リスクに基づいて、マネジメントレビューの頻度を増やさなければならない。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9.3.1.1</a:t>
            </a:r>
            <a:r>
              <a:rPr lang="ja-JP" altLang="en-US" sz="3000" b="1" dirty="0">
                <a:solidFill>
                  <a:schemeClr val="tx2"/>
                </a:solidFill>
              </a:rPr>
              <a:t>　マネジメントレビュー－補足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3001963"/>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9.3.1.1</a:t>
            </a:r>
            <a:r>
              <a:rPr lang="ja-JP" altLang="en-US" sz="3000" b="1" dirty="0">
                <a:solidFill>
                  <a:schemeClr val="bg1"/>
                </a:solidFill>
              </a:rPr>
              <a:t>　マネジメントレビュー－補足</a:t>
            </a:r>
          </a:p>
        </p:txBody>
      </p:sp>
      <p:sp>
        <p:nvSpPr>
          <p:cNvPr id="7" name="コンテンツ プレースホルダー 2">
            <a:extLst>
              <a:ext uri="{FF2B5EF4-FFF2-40B4-BE49-F238E27FC236}">
                <a16:creationId xmlns:a16="http://schemas.microsoft.com/office/drawing/2014/main" id="{784E86E0-6C30-413E-815C-4A4DF155E7ED}"/>
              </a:ext>
            </a:extLst>
          </p:cNvPr>
          <p:cNvSpPr txBox="1">
            <a:spLocks/>
          </p:cNvSpPr>
          <p:nvPr/>
        </p:nvSpPr>
        <p:spPr>
          <a:xfrm>
            <a:off x="838200" y="4103784"/>
            <a:ext cx="10515600" cy="225256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最低限の頻度（年次）が示されたが、本来、経営的視点における見直しは、組織の事業環境に応じてもっと短いサイクルで実施しているはず。</a:t>
            </a:r>
            <a:endParaRPr lang="en-US" altLang="ja-JP" sz="2400" dirty="0"/>
          </a:p>
          <a:p>
            <a:pPr lvl="1">
              <a:lnSpc>
                <a:spcPct val="100000"/>
              </a:lnSpc>
              <a:buFont typeface="Wingdings" panose="05000000000000000000" pitchFamily="2" charset="2"/>
              <a:buChar char="Ø"/>
            </a:pPr>
            <a:r>
              <a:rPr lang="ja-JP" altLang="en-US" dirty="0"/>
              <a:t>月次の役員会／四半期ごとの予算検証／月次の部長会など。</a:t>
            </a:r>
            <a:endParaRPr lang="en-US" altLang="ja-JP" dirty="0"/>
          </a:p>
          <a:p>
            <a:pPr marL="457200" indent="-457200">
              <a:lnSpc>
                <a:spcPct val="100000"/>
              </a:lnSpc>
              <a:buFont typeface="+mj-lt"/>
              <a:buAutoNum type="arabicPeriod"/>
            </a:pPr>
            <a:r>
              <a:rPr lang="ja-JP" altLang="en-US" sz="2400" dirty="0"/>
              <a:t>リスクに基づいて頻度を増やすとは、課題発生時の臨時を含め前述のようなこと。</a:t>
            </a:r>
          </a:p>
        </p:txBody>
      </p:sp>
    </p:spTree>
    <p:extLst>
      <p:ext uri="{BB962C8B-B14F-4D97-AF65-F5344CB8AC3E}">
        <p14:creationId xmlns:p14="http://schemas.microsoft.com/office/powerpoint/2010/main" val="1255868348"/>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00000"/>
              </a:lnSpc>
              <a:buNone/>
            </a:pPr>
            <a:r>
              <a:rPr lang="ja-JP" altLang="en-US" sz="2000" dirty="0"/>
              <a:t>☑マネジメントレビューへのインプットには、次に示すものを含めなければならない。</a:t>
            </a:r>
            <a:endParaRPr lang="en-US" altLang="ja-JP" sz="2000" dirty="0"/>
          </a:p>
          <a:p>
            <a:pPr marL="800100" lvl="1" indent="-342900">
              <a:lnSpc>
                <a:spcPct val="100000"/>
              </a:lnSpc>
              <a:buFont typeface="+mj-lt"/>
              <a:buAutoNum type="alphaLcPeriod"/>
            </a:pPr>
            <a:r>
              <a:rPr lang="ja-JP" altLang="en-US" sz="2000" dirty="0"/>
              <a:t>不良品質コスト（内部及び外部不適合のコスト）</a:t>
            </a:r>
            <a:endParaRPr lang="en-US" altLang="ja-JP" sz="2000" dirty="0"/>
          </a:p>
          <a:p>
            <a:pPr marL="800100" lvl="1" indent="-342900">
              <a:lnSpc>
                <a:spcPct val="100000"/>
              </a:lnSpc>
              <a:buFont typeface="+mj-lt"/>
              <a:buAutoNum type="alphaLcPeriod"/>
            </a:pPr>
            <a:r>
              <a:rPr lang="ja-JP" altLang="en-US" sz="2000" dirty="0"/>
              <a:t>プロセス有効性指標</a:t>
            </a:r>
            <a:endParaRPr lang="en-US" altLang="ja-JP" sz="2000" dirty="0"/>
          </a:p>
          <a:p>
            <a:pPr marL="800100" lvl="1" indent="-342900">
              <a:lnSpc>
                <a:spcPct val="100000"/>
              </a:lnSpc>
              <a:buFont typeface="+mj-lt"/>
              <a:buAutoNum type="alphaLcPeriod"/>
            </a:pPr>
            <a:r>
              <a:rPr lang="ja-JP" altLang="en-US" sz="2000" dirty="0"/>
              <a:t>製品実現のプロセスのプロセス効率性指標（該当する場合）</a:t>
            </a:r>
            <a:endParaRPr lang="en-US" altLang="ja-JP" sz="2000" dirty="0"/>
          </a:p>
          <a:p>
            <a:pPr marL="800100" lvl="1" indent="-342900">
              <a:lnSpc>
                <a:spcPct val="100000"/>
              </a:lnSpc>
              <a:buFont typeface="+mj-lt"/>
              <a:buAutoNum type="alphaLcPeriod"/>
            </a:pPr>
            <a:r>
              <a:rPr lang="ja-JP" altLang="en-US" sz="2000" dirty="0"/>
              <a:t>製品適合性</a:t>
            </a:r>
            <a:endParaRPr lang="en-US" altLang="ja-JP" sz="2000" dirty="0"/>
          </a:p>
          <a:p>
            <a:pPr marL="800100" lvl="1" indent="-342900">
              <a:lnSpc>
                <a:spcPct val="100000"/>
              </a:lnSpc>
              <a:buFont typeface="+mj-lt"/>
              <a:buAutoNum type="alphaLcPeriod"/>
            </a:pPr>
            <a:r>
              <a:rPr lang="ja-JP" altLang="en-US" sz="2000" dirty="0"/>
              <a:t>現在の操業に対する変更、及び新施設又は新製品、についての製造実現可能性評価（参照　条項</a:t>
            </a:r>
            <a:r>
              <a:rPr lang="en-US" altLang="ja-JP" sz="2000" dirty="0"/>
              <a:t>7.1.3.1</a:t>
            </a:r>
            <a:r>
              <a:rPr lang="ja-JP" altLang="en-US" sz="2000" dirty="0"/>
              <a:t>）</a:t>
            </a:r>
            <a:endParaRPr lang="en-US" altLang="ja-JP" sz="2000" dirty="0"/>
          </a:p>
          <a:p>
            <a:pPr marL="800100" lvl="1" indent="-342900">
              <a:lnSpc>
                <a:spcPct val="100000"/>
              </a:lnSpc>
              <a:buFont typeface="+mj-lt"/>
              <a:buAutoNum type="alphaLcPeriod"/>
            </a:pPr>
            <a:r>
              <a:rPr lang="ja-JP" altLang="en-US" sz="2000" dirty="0"/>
              <a:t>顧客満足（参照　</a:t>
            </a:r>
            <a:r>
              <a:rPr lang="en-US" altLang="ja-JP" sz="2000" dirty="0"/>
              <a:t>ISO9001</a:t>
            </a:r>
            <a:r>
              <a:rPr lang="ja-JP" altLang="en-US" sz="2000" dirty="0" err="1"/>
              <a:t>、</a:t>
            </a:r>
            <a:r>
              <a:rPr lang="ja-JP" altLang="en-US" sz="2000" dirty="0"/>
              <a:t>条項</a:t>
            </a:r>
            <a:r>
              <a:rPr lang="en-US" altLang="ja-JP" sz="2000" dirty="0"/>
              <a:t>9.1.2</a:t>
            </a:r>
            <a:r>
              <a:rPr lang="ja-JP" altLang="en-US" sz="2000" dirty="0"/>
              <a:t>）</a:t>
            </a:r>
            <a:endParaRPr lang="en-US" altLang="ja-JP" sz="2000" dirty="0"/>
          </a:p>
          <a:p>
            <a:pPr marL="800100" lvl="1" indent="-342900">
              <a:lnSpc>
                <a:spcPct val="100000"/>
              </a:lnSpc>
              <a:buFont typeface="+mj-lt"/>
              <a:buAutoNum type="alphaLcPeriod"/>
            </a:pPr>
            <a:r>
              <a:rPr lang="ja-JP" altLang="en-US" sz="2000" dirty="0"/>
              <a:t>保全目標に対するパフォーマンスのレビュー</a:t>
            </a:r>
            <a:endParaRPr lang="en-US" altLang="ja-JP" sz="2000" dirty="0"/>
          </a:p>
          <a:p>
            <a:pPr marL="800100" lvl="1" indent="-342900">
              <a:lnSpc>
                <a:spcPct val="100000"/>
              </a:lnSpc>
              <a:buFont typeface="+mj-lt"/>
              <a:buAutoNum type="alphaLcPeriod"/>
            </a:pPr>
            <a:r>
              <a:rPr lang="ja-JP" altLang="en-US" sz="2000" dirty="0"/>
              <a:t>補償パフォーマンス（適用される場合）</a:t>
            </a:r>
            <a:endParaRPr lang="en-US" altLang="ja-JP" sz="2000" dirty="0"/>
          </a:p>
          <a:p>
            <a:pPr marL="800100" lvl="1" indent="-342900">
              <a:lnSpc>
                <a:spcPct val="100000"/>
              </a:lnSpc>
              <a:buFont typeface="+mj-lt"/>
              <a:buAutoNum type="alphaLcPeriod"/>
            </a:pPr>
            <a:r>
              <a:rPr lang="ja-JP" altLang="en-US" sz="2000" dirty="0"/>
              <a:t>顧客スコアカードのレビュー（適用される場合）</a:t>
            </a:r>
            <a:endParaRPr lang="en-US" altLang="ja-JP" sz="2000" dirty="0"/>
          </a:p>
          <a:p>
            <a:pPr marL="800100" lvl="1" indent="-342900">
              <a:lnSpc>
                <a:spcPct val="100000"/>
              </a:lnSpc>
              <a:buFont typeface="+mj-lt"/>
              <a:buAutoNum type="alphaLcPeriod"/>
            </a:pPr>
            <a:r>
              <a:rPr lang="ja-JP" altLang="en-US" sz="2000" dirty="0"/>
              <a:t>リスク分析（</a:t>
            </a:r>
            <a:r>
              <a:rPr lang="en-US" altLang="ja-JP" sz="2000" dirty="0"/>
              <a:t>FMEA</a:t>
            </a:r>
            <a:r>
              <a:rPr lang="ja-JP" altLang="en-US" sz="2000" dirty="0"/>
              <a:t>等々）によって特定されたフィールドで起こり得る失敗の特定</a:t>
            </a:r>
            <a:endParaRPr lang="en-US" altLang="ja-JP" sz="2000" dirty="0"/>
          </a:p>
          <a:p>
            <a:pPr marL="800100" lvl="1" indent="-342900">
              <a:lnSpc>
                <a:spcPct val="100000"/>
              </a:lnSpc>
              <a:buFont typeface="+mj-lt"/>
              <a:buAutoNum type="alphaLcPeriod"/>
            </a:pPr>
            <a:r>
              <a:rPr lang="ja-JP" altLang="en-US" sz="2000" dirty="0"/>
              <a:t>フィールドでの実際に起こった失敗及びその安全又は環境に及ぼす影響</a:t>
            </a:r>
            <a:endParaRPr lang="en-US" altLang="ja-JP" sz="2000" dirty="0"/>
          </a:p>
          <a:p>
            <a:pPr marL="800100" lvl="1" indent="-342900">
              <a:lnSpc>
                <a:spcPct val="100000"/>
              </a:lnSpc>
              <a:buFont typeface="+mj-lt"/>
              <a:buAutoNum type="alphaLcPeriod"/>
            </a:pPr>
            <a:r>
              <a:rPr lang="ja-JP" altLang="en-US" sz="2000" dirty="0"/>
              <a:t>該当する製品及びプロセスの設計開発中の規定された段階における測定結果の要約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9.3.2.1</a:t>
            </a:r>
            <a:r>
              <a:rPr kumimoji="1" lang="ja-JP" altLang="en-US" sz="3000" b="1" dirty="0">
                <a:solidFill>
                  <a:schemeClr val="tx2"/>
                </a:solidFill>
              </a:rPr>
              <a:t>　マネジメントレビューへのインプット－補足</a:t>
            </a:r>
          </a:p>
        </p:txBody>
      </p:sp>
      <p:sp>
        <p:nvSpPr>
          <p:cNvPr id="2" name="四角形: 角を丸くする 1">
            <a:extLst>
              <a:ext uri="{FF2B5EF4-FFF2-40B4-BE49-F238E27FC236}">
                <a16:creationId xmlns:a16="http://schemas.microsoft.com/office/drawing/2014/main" id="{C045382E-8502-4D21-98C8-3DF30AD88F95}"/>
              </a:ext>
            </a:extLst>
          </p:cNvPr>
          <p:cNvSpPr/>
          <p:nvPr/>
        </p:nvSpPr>
        <p:spPr>
          <a:xfrm>
            <a:off x="10078720" y="741680"/>
            <a:ext cx="1275080" cy="47752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SI 13</a:t>
            </a:r>
            <a:r>
              <a:rPr kumimoji="1" lang="ja-JP" altLang="en-US" sz="1600" dirty="0">
                <a:solidFill>
                  <a:schemeClr val="tx1"/>
                </a:solidFill>
              </a:rPr>
              <a:t>・</a:t>
            </a:r>
            <a:r>
              <a:rPr kumimoji="1" lang="en-US" altLang="ja-JP" sz="1600" dirty="0">
                <a:solidFill>
                  <a:schemeClr val="tx1"/>
                </a:solidFill>
              </a:rPr>
              <a:t>16</a:t>
            </a:r>
          </a:p>
        </p:txBody>
      </p:sp>
    </p:spTree>
    <p:extLst>
      <p:ext uri="{BB962C8B-B14F-4D97-AF65-F5344CB8AC3E}">
        <p14:creationId xmlns:p14="http://schemas.microsoft.com/office/powerpoint/2010/main" val="2501627619"/>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en-US" altLang="ja-JP" sz="2400" dirty="0"/>
              <a:t>IATF</a:t>
            </a:r>
            <a:r>
              <a:rPr lang="ja-JP" altLang="en-US" sz="2400" dirty="0"/>
              <a:t>追加インプットと箇条の関係</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9.3.2.1</a:t>
            </a:r>
            <a:r>
              <a:rPr lang="ja-JP" altLang="en-US" sz="3000" b="1" dirty="0">
                <a:solidFill>
                  <a:schemeClr val="bg1"/>
                </a:solidFill>
              </a:rPr>
              <a:t>　マネジメントレビューへのインプット－補足</a:t>
            </a:r>
          </a:p>
        </p:txBody>
      </p:sp>
      <p:graphicFrame>
        <p:nvGraphicFramePr>
          <p:cNvPr id="2" name="表 1">
            <a:extLst>
              <a:ext uri="{FF2B5EF4-FFF2-40B4-BE49-F238E27FC236}">
                <a16:creationId xmlns:a16="http://schemas.microsoft.com/office/drawing/2014/main" id="{DBFB0E01-E78D-4D4F-AA21-556C1D28BF9A}"/>
              </a:ext>
            </a:extLst>
          </p:cNvPr>
          <p:cNvGraphicFramePr>
            <a:graphicFrameLocks noGrp="1"/>
          </p:cNvGraphicFramePr>
          <p:nvPr>
            <p:extLst>
              <p:ext uri="{D42A27DB-BD31-4B8C-83A1-F6EECF244321}">
                <p14:modId xmlns:p14="http://schemas.microsoft.com/office/powerpoint/2010/main" val="3645778896"/>
              </p:ext>
            </p:extLst>
          </p:nvPr>
        </p:nvGraphicFramePr>
        <p:xfrm>
          <a:off x="838200" y="1854402"/>
          <a:ext cx="10515600" cy="4501944"/>
        </p:xfrm>
        <a:graphic>
          <a:graphicData uri="http://schemas.openxmlformats.org/drawingml/2006/table">
            <a:tbl>
              <a:tblPr firstRow="1" bandRow="1">
                <a:tableStyleId>{5940675A-B579-460E-94D1-54222C63F5DA}</a:tableStyleId>
              </a:tblPr>
              <a:tblGrid>
                <a:gridCol w="682128">
                  <a:extLst>
                    <a:ext uri="{9D8B030D-6E8A-4147-A177-3AD203B41FA5}">
                      <a16:colId xmlns:a16="http://schemas.microsoft.com/office/drawing/2014/main" val="2171563779"/>
                    </a:ext>
                  </a:extLst>
                </a:gridCol>
                <a:gridCol w="7182997">
                  <a:extLst>
                    <a:ext uri="{9D8B030D-6E8A-4147-A177-3AD203B41FA5}">
                      <a16:colId xmlns:a16="http://schemas.microsoft.com/office/drawing/2014/main" val="1059241646"/>
                    </a:ext>
                  </a:extLst>
                </a:gridCol>
                <a:gridCol w="2650475">
                  <a:extLst>
                    <a:ext uri="{9D8B030D-6E8A-4147-A177-3AD203B41FA5}">
                      <a16:colId xmlns:a16="http://schemas.microsoft.com/office/drawing/2014/main" val="2018748973"/>
                    </a:ext>
                  </a:extLst>
                </a:gridCol>
              </a:tblGrid>
              <a:tr h="375162">
                <a:tc gridSpan="2">
                  <a:txBody>
                    <a:bodyPr/>
                    <a:lstStyle/>
                    <a:p>
                      <a:pPr algn="ctr"/>
                      <a:r>
                        <a:rPr kumimoji="1" lang="ja-JP" altLang="en-US" dirty="0"/>
                        <a:t>インプット</a:t>
                      </a:r>
                    </a:p>
                  </a:txBody>
                  <a:tcPr>
                    <a:solidFill>
                      <a:schemeClr val="tx2">
                        <a:lumMod val="20000"/>
                        <a:lumOff val="80000"/>
                      </a:schemeClr>
                    </a:solidFill>
                  </a:tcPr>
                </a:tc>
                <a:tc hMerge="1">
                  <a:txBody>
                    <a:bodyPr/>
                    <a:lstStyle/>
                    <a:p>
                      <a:endParaRPr kumimoji="1" lang="ja-JP" altLang="en-US" dirty="0"/>
                    </a:p>
                  </a:txBody>
                  <a:tcPr/>
                </a:tc>
                <a:tc>
                  <a:txBody>
                    <a:bodyPr/>
                    <a:lstStyle/>
                    <a:p>
                      <a:pPr algn="ctr"/>
                      <a:r>
                        <a:rPr kumimoji="1" lang="ja-JP" altLang="en-US" dirty="0"/>
                        <a:t>項番</a:t>
                      </a:r>
                    </a:p>
                  </a:txBody>
                  <a:tcPr>
                    <a:solidFill>
                      <a:schemeClr val="tx2">
                        <a:lumMod val="20000"/>
                        <a:lumOff val="80000"/>
                      </a:schemeClr>
                    </a:solidFill>
                  </a:tcPr>
                </a:tc>
                <a:extLst>
                  <a:ext uri="{0D108BD9-81ED-4DB2-BD59-A6C34878D82A}">
                    <a16:rowId xmlns:a16="http://schemas.microsoft.com/office/drawing/2014/main" val="2071110032"/>
                  </a:ext>
                </a:extLst>
              </a:tr>
              <a:tr h="375162">
                <a:tc>
                  <a:txBody>
                    <a:bodyPr/>
                    <a:lstStyle/>
                    <a:p>
                      <a:pPr algn="ctr"/>
                      <a:r>
                        <a:rPr kumimoji="1" lang="ja-JP" altLang="en-US" dirty="0"/>
                        <a:t>ａ</a:t>
                      </a:r>
                    </a:p>
                  </a:txBody>
                  <a:tcPr/>
                </a:tc>
                <a:tc>
                  <a:txBody>
                    <a:bodyPr/>
                    <a:lstStyle/>
                    <a:p>
                      <a:r>
                        <a:rPr kumimoji="1" lang="ja-JP" altLang="en-US" dirty="0"/>
                        <a:t>内部、外部の不適合コスト</a:t>
                      </a:r>
                    </a:p>
                  </a:txBody>
                  <a:tcPr/>
                </a:tc>
                <a:tc>
                  <a:txBody>
                    <a:bodyPr/>
                    <a:lstStyle/>
                    <a:p>
                      <a:r>
                        <a:rPr kumimoji="1" lang="en-US" altLang="ja-JP" dirty="0"/>
                        <a:t>8.6.1</a:t>
                      </a:r>
                      <a:r>
                        <a:rPr kumimoji="1" lang="ja-JP" altLang="en-US" dirty="0"/>
                        <a:t>／</a:t>
                      </a:r>
                      <a:r>
                        <a:rPr kumimoji="1" lang="en-US" altLang="ja-JP" dirty="0"/>
                        <a:t>9.1.2.1</a:t>
                      </a:r>
                      <a:endParaRPr kumimoji="1" lang="ja-JP" altLang="en-US" dirty="0"/>
                    </a:p>
                  </a:txBody>
                  <a:tcPr/>
                </a:tc>
                <a:extLst>
                  <a:ext uri="{0D108BD9-81ED-4DB2-BD59-A6C34878D82A}">
                    <a16:rowId xmlns:a16="http://schemas.microsoft.com/office/drawing/2014/main" val="137125587"/>
                  </a:ext>
                </a:extLst>
              </a:tr>
              <a:tr h="375162">
                <a:tc>
                  <a:txBody>
                    <a:bodyPr/>
                    <a:lstStyle/>
                    <a:p>
                      <a:pPr algn="ctr"/>
                      <a:r>
                        <a:rPr kumimoji="1" lang="ja-JP" altLang="en-US" dirty="0"/>
                        <a:t>ｂｃ</a:t>
                      </a:r>
                    </a:p>
                  </a:txBody>
                  <a:tcPr/>
                </a:tc>
                <a:tc>
                  <a:txBody>
                    <a:bodyPr/>
                    <a:lstStyle/>
                    <a:p>
                      <a:r>
                        <a:rPr kumimoji="1" lang="ja-JP" altLang="en-US" dirty="0"/>
                        <a:t>プロセスの有効性指標・効率指標の結果と対策</a:t>
                      </a:r>
                    </a:p>
                  </a:txBody>
                  <a:tcPr/>
                </a:tc>
                <a:tc>
                  <a:txBody>
                    <a:bodyPr/>
                    <a:lstStyle/>
                    <a:p>
                      <a:r>
                        <a:rPr kumimoji="1" lang="en-US" altLang="ja-JP" dirty="0"/>
                        <a:t>5.1.1.2</a:t>
                      </a:r>
                      <a:endParaRPr kumimoji="1" lang="ja-JP" altLang="en-US" dirty="0"/>
                    </a:p>
                  </a:txBody>
                  <a:tcPr/>
                </a:tc>
                <a:extLst>
                  <a:ext uri="{0D108BD9-81ED-4DB2-BD59-A6C34878D82A}">
                    <a16:rowId xmlns:a16="http://schemas.microsoft.com/office/drawing/2014/main" val="4027339934"/>
                  </a:ext>
                </a:extLst>
              </a:tr>
              <a:tr h="375162">
                <a:tc>
                  <a:txBody>
                    <a:bodyPr/>
                    <a:lstStyle/>
                    <a:p>
                      <a:pPr algn="ctr"/>
                      <a:r>
                        <a:rPr kumimoji="1" lang="ja-JP" altLang="en-US" dirty="0"/>
                        <a:t>ｄ</a:t>
                      </a:r>
                    </a:p>
                  </a:txBody>
                  <a:tcPr/>
                </a:tc>
                <a:tc>
                  <a:txBody>
                    <a:bodyPr/>
                    <a:lstStyle/>
                    <a:p>
                      <a:r>
                        <a:rPr kumimoji="1" lang="ja-JP" altLang="en-US" dirty="0"/>
                        <a:t>不良率、クレーム件数など</a:t>
                      </a:r>
                    </a:p>
                  </a:txBody>
                  <a:tcPr/>
                </a:tc>
                <a:tc>
                  <a:txBody>
                    <a:bodyPr/>
                    <a:lstStyle/>
                    <a:p>
                      <a:r>
                        <a:rPr kumimoji="1" lang="en-US" altLang="ja-JP" dirty="0"/>
                        <a:t>8.6.1</a:t>
                      </a:r>
                      <a:r>
                        <a:rPr kumimoji="1" lang="ja-JP" altLang="en-US" dirty="0"/>
                        <a:t>／</a:t>
                      </a:r>
                      <a:r>
                        <a:rPr kumimoji="1" lang="en-US" altLang="ja-JP" dirty="0"/>
                        <a:t>10.2</a:t>
                      </a:r>
                      <a:endParaRPr kumimoji="1" lang="ja-JP" altLang="en-US" dirty="0"/>
                    </a:p>
                  </a:txBody>
                  <a:tcPr/>
                </a:tc>
                <a:extLst>
                  <a:ext uri="{0D108BD9-81ED-4DB2-BD59-A6C34878D82A}">
                    <a16:rowId xmlns:a16="http://schemas.microsoft.com/office/drawing/2014/main" val="1010917858"/>
                  </a:ext>
                </a:extLst>
              </a:tr>
              <a:tr h="375162">
                <a:tc>
                  <a:txBody>
                    <a:bodyPr/>
                    <a:lstStyle/>
                    <a:p>
                      <a:pPr algn="ctr"/>
                      <a:r>
                        <a:rPr kumimoji="1" lang="ja-JP" altLang="en-US" dirty="0"/>
                        <a:t>ｅ</a:t>
                      </a:r>
                    </a:p>
                  </a:txBody>
                  <a:tcPr/>
                </a:tc>
                <a:tc>
                  <a:txBody>
                    <a:bodyPr/>
                    <a:lstStyle/>
                    <a:p>
                      <a:r>
                        <a:rPr kumimoji="1" lang="ja-JP" altLang="en-US" dirty="0"/>
                        <a:t>新規設備、新規製品及び変更に対する製造フィージビリティ評価</a:t>
                      </a:r>
                    </a:p>
                  </a:txBody>
                  <a:tcPr/>
                </a:tc>
                <a:tc>
                  <a:txBody>
                    <a:bodyPr/>
                    <a:lstStyle/>
                    <a:p>
                      <a:r>
                        <a:rPr kumimoji="1" lang="en-US" altLang="ja-JP" dirty="0"/>
                        <a:t>7.1.3.1</a:t>
                      </a:r>
                      <a:r>
                        <a:rPr kumimoji="1" lang="ja-JP" altLang="en-US" dirty="0"/>
                        <a:t>／</a:t>
                      </a:r>
                      <a:r>
                        <a:rPr kumimoji="1" lang="en-US" altLang="ja-JP" dirty="0"/>
                        <a:t>8.2.3.1.3</a:t>
                      </a:r>
                      <a:endParaRPr kumimoji="1" lang="ja-JP" altLang="en-US" dirty="0"/>
                    </a:p>
                  </a:txBody>
                  <a:tcPr/>
                </a:tc>
                <a:extLst>
                  <a:ext uri="{0D108BD9-81ED-4DB2-BD59-A6C34878D82A}">
                    <a16:rowId xmlns:a16="http://schemas.microsoft.com/office/drawing/2014/main" val="3748527772"/>
                  </a:ext>
                </a:extLst>
              </a:tr>
              <a:tr h="375162">
                <a:tc>
                  <a:txBody>
                    <a:bodyPr/>
                    <a:lstStyle/>
                    <a:p>
                      <a:pPr algn="ctr"/>
                      <a:r>
                        <a:rPr kumimoji="1" lang="ja-JP" altLang="en-US" dirty="0"/>
                        <a:t>ｆ</a:t>
                      </a:r>
                    </a:p>
                  </a:txBody>
                  <a:tcPr/>
                </a:tc>
                <a:tc>
                  <a:txBody>
                    <a:bodyPr/>
                    <a:lstStyle/>
                    <a:p>
                      <a:r>
                        <a:rPr kumimoji="1" lang="ja-JP" altLang="en-US" dirty="0"/>
                        <a:t>顧客満足情報</a:t>
                      </a:r>
                    </a:p>
                  </a:txBody>
                  <a:tcPr/>
                </a:tc>
                <a:tc>
                  <a:txBody>
                    <a:bodyPr/>
                    <a:lstStyle/>
                    <a:p>
                      <a:r>
                        <a:rPr kumimoji="1" lang="en-US" altLang="ja-JP" dirty="0"/>
                        <a:t>9.1.2</a:t>
                      </a:r>
                      <a:r>
                        <a:rPr kumimoji="1" lang="ja-JP" altLang="en-US" dirty="0"/>
                        <a:t>／</a:t>
                      </a:r>
                      <a:r>
                        <a:rPr kumimoji="1" lang="en-US" altLang="ja-JP" dirty="0"/>
                        <a:t>9.1.2.1</a:t>
                      </a:r>
                      <a:endParaRPr kumimoji="1" lang="ja-JP" altLang="en-US" dirty="0"/>
                    </a:p>
                  </a:txBody>
                  <a:tcPr/>
                </a:tc>
                <a:extLst>
                  <a:ext uri="{0D108BD9-81ED-4DB2-BD59-A6C34878D82A}">
                    <a16:rowId xmlns:a16="http://schemas.microsoft.com/office/drawing/2014/main" val="3514277292"/>
                  </a:ext>
                </a:extLst>
              </a:tr>
              <a:tr h="375162">
                <a:tc>
                  <a:txBody>
                    <a:bodyPr/>
                    <a:lstStyle/>
                    <a:p>
                      <a:pPr algn="ctr"/>
                      <a:r>
                        <a:rPr kumimoji="1" lang="ja-JP" altLang="en-US" dirty="0"/>
                        <a:t>ｇ</a:t>
                      </a:r>
                    </a:p>
                  </a:txBody>
                  <a:tcPr/>
                </a:tc>
                <a:tc>
                  <a:txBody>
                    <a:bodyPr/>
                    <a:lstStyle/>
                    <a:p>
                      <a:r>
                        <a:rPr kumimoji="1" lang="ja-JP" altLang="en-US" dirty="0"/>
                        <a:t>保全目標に対するパフォーマンス計画と結果</a:t>
                      </a:r>
                    </a:p>
                  </a:txBody>
                  <a:tcPr/>
                </a:tc>
                <a:tc>
                  <a:txBody>
                    <a:bodyPr/>
                    <a:lstStyle/>
                    <a:p>
                      <a:r>
                        <a:rPr kumimoji="1" lang="en-US" altLang="ja-JP" dirty="0"/>
                        <a:t>8.5.1.5</a:t>
                      </a:r>
                      <a:endParaRPr kumimoji="1" lang="ja-JP" altLang="en-US" dirty="0"/>
                    </a:p>
                  </a:txBody>
                  <a:tcPr/>
                </a:tc>
                <a:extLst>
                  <a:ext uri="{0D108BD9-81ED-4DB2-BD59-A6C34878D82A}">
                    <a16:rowId xmlns:a16="http://schemas.microsoft.com/office/drawing/2014/main" val="2813584075"/>
                  </a:ext>
                </a:extLst>
              </a:tr>
              <a:tr h="375162">
                <a:tc>
                  <a:txBody>
                    <a:bodyPr/>
                    <a:lstStyle/>
                    <a:p>
                      <a:pPr algn="ctr"/>
                      <a:r>
                        <a:rPr kumimoji="1" lang="ja-JP" altLang="en-US" dirty="0"/>
                        <a:t>ｈ</a:t>
                      </a:r>
                    </a:p>
                  </a:txBody>
                  <a:tcPr/>
                </a:tc>
                <a:tc>
                  <a:txBody>
                    <a:bodyPr/>
                    <a:lstStyle/>
                    <a:p>
                      <a:r>
                        <a:rPr kumimoji="1" lang="ja-JP" altLang="en-US" dirty="0"/>
                        <a:t>補償のパフォーマンス</a:t>
                      </a:r>
                    </a:p>
                  </a:txBody>
                  <a:tcPr/>
                </a:tc>
                <a:tc>
                  <a:txBody>
                    <a:bodyPr/>
                    <a:lstStyle/>
                    <a:p>
                      <a:r>
                        <a:rPr kumimoji="1" lang="en-US" altLang="ja-JP" dirty="0"/>
                        <a:t>10.2.5</a:t>
                      </a:r>
                      <a:endParaRPr kumimoji="1" lang="ja-JP" altLang="en-US" dirty="0"/>
                    </a:p>
                  </a:txBody>
                  <a:tcPr/>
                </a:tc>
                <a:extLst>
                  <a:ext uri="{0D108BD9-81ED-4DB2-BD59-A6C34878D82A}">
                    <a16:rowId xmlns:a16="http://schemas.microsoft.com/office/drawing/2014/main" val="3568852780"/>
                  </a:ext>
                </a:extLst>
              </a:tr>
              <a:tr h="375162">
                <a:tc>
                  <a:txBody>
                    <a:bodyPr/>
                    <a:lstStyle/>
                    <a:p>
                      <a:pPr algn="ctr"/>
                      <a:r>
                        <a:rPr kumimoji="1" lang="ja-JP" altLang="en-US" dirty="0"/>
                        <a:t>ｉ</a:t>
                      </a:r>
                    </a:p>
                  </a:txBody>
                  <a:tcPr/>
                </a:tc>
                <a:tc>
                  <a:txBody>
                    <a:bodyPr/>
                    <a:lstStyle/>
                    <a:p>
                      <a:r>
                        <a:rPr kumimoji="1" lang="ja-JP" altLang="en-US" dirty="0"/>
                        <a:t>顧客スコアカードの結果</a:t>
                      </a:r>
                    </a:p>
                  </a:txBody>
                  <a:tcPr/>
                </a:tc>
                <a:tc>
                  <a:txBody>
                    <a:bodyPr/>
                    <a:lstStyle/>
                    <a:p>
                      <a:r>
                        <a:rPr kumimoji="1" lang="en-US" altLang="ja-JP" dirty="0"/>
                        <a:t>9.1.2.1</a:t>
                      </a:r>
                      <a:endParaRPr kumimoji="1" lang="ja-JP" altLang="en-US" dirty="0"/>
                    </a:p>
                  </a:txBody>
                  <a:tcPr/>
                </a:tc>
                <a:extLst>
                  <a:ext uri="{0D108BD9-81ED-4DB2-BD59-A6C34878D82A}">
                    <a16:rowId xmlns:a16="http://schemas.microsoft.com/office/drawing/2014/main" val="3760199908"/>
                  </a:ext>
                </a:extLst>
              </a:tr>
              <a:tr h="375162">
                <a:tc>
                  <a:txBody>
                    <a:bodyPr/>
                    <a:lstStyle/>
                    <a:p>
                      <a:pPr algn="ctr"/>
                      <a:r>
                        <a:rPr kumimoji="1" lang="ja-JP" altLang="en-US" dirty="0"/>
                        <a:t>ｊ</a:t>
                      </a:r>
                    </a:p>
                  </a:txBody>
                  <a:tcPr/>
                </a:tc>
                <a:tc>
                  <a:txBody>
                    <a:bodyPr/>
                    <a:lstStyle/>
                    <a:p>
                      <a:r>
                        <a:rPr kumimoji="1" lang="ja-JP" altLang="en-US" dirty="0"/>
                        <a:t>リスク分析（</a:t>
                      </a:r>
                      <a:r>
                        <a:rPr kumimoji="1" lang="en-US" altLang="ja-JP" dirty="0"/>
                        <a:t>FMEA</a:t>
                      </a:r>
                      <a:r>
                        <a:rPr kumimoji="1" lang="ja-JP" altLang="en-US" dirty="0"/>
                        <a:t>）の結果、明確になった潜在的市場不具合</a:t>
                      </a:r>
                    </a:p>
                  </a:txBody>
                  <a:tcPr/>
                </a:tc>
                <a:tc>
                  <a:txBody>
                    <a:bodyPr/>
                    <a:lstStyle/>
                    <a:p>
                      <a:r>
                        <a:rPr kumimoji="1" lang="en-US" altLang="ja-JP" dirty="0"/>
                        <a:t>6.1.2.1</a:t>
                      </a:r>
                      <a:r>
                        <a:rPr kumimoji="1" lang="ja-JP" altLang="en-US" dirty="0"/>
                        <a:t>／</a:t>
                      </a:r>
                      <a:r>
                        <a:rPr kumimoji="1" lang="en-US" altLang="ja-JP" dirty="0"/>
                        <a:t>8.3.4.1</a:t>
                      </a:r>
                      <a:endParaRPr kumimoji="1" lang="ja-JP" altLang="en-US" dirty="0"/>
                    </a:p>
                  </a:txBody>
                  <a:tcPr/>
                </a:tc>
                <a:extLst>
                  <a:ext uri="{0D108BD9-81ED-4DB2-BD59-A6C34878D82A}">
                    <a16:rowId xmlns:a16="http://schemas.microsoft.com/office/drawing/2014/main" val="2986330435"/>
                  </a:ext>
                </a:extLst>
              </a:tr>
              <a:tr h="375162">
                <a:tc>
                  <a:txBody>
                    <a:bodyPr/>
                    <a:lstStyle/>
                    <a:p>
                      <a:pPr algn="ctr"/>
                      <a:r>
                        <a:rPr kumimoji="1" lang="ja-JP" altLang="en-US" dirty="0"/>
                        <a:t>ｋ</a:t>
                      </a:r>
                    </a:p>
                  </a:txBody>
                  <a:tcPr/>
                </a:tc>
                <a:tc>
                  <a:txBody>
                    <a:bodyPr/>
                    <a:lstStyle/>
                    <a:p>
                      <a:r>
                        <a:rPr kumimoji="1" lang="ja-JP" altLang="en-US" dirty="0"/>
                        <a:t>市場不具合とそれらが安全、環境に与える影響</a:t>
                      </a:r>
                    </a:p>
                  </a:txBody>
                  <a:tcPr/>
                </a:tc>
                <a:tc>
                  <a:txBody>
                    <a:bodyPr/>
                    <a:lstStyle/>
                    <a:p>
                      <a:r>
                        <a:rPr kumimoji="1" lang="en-US" altLang="ja-JP" dirty="0"/>
                        <a:t>10.2.6</a:t>
                      </a:r>
                      <a:endParaRPr kumimoji="1" lang="ja-JP" altLang="en-US" dirty="0"/>
                    </a:p>
                  </a:txBody>
                  <a:tcPr/>
                </a:tc>
                <a:extLst>
                  <a:ext uri="{0D108BD9-81ED-4DB2-BD59-A6C34878D82A}">
                    <a16:rowId xmlns:a16="http://schemas.microsoft.com/office/drawing/2014/main" val="1688976066"/>
                  </a:ext>
                </a:extLst>
              </a:tr>
              <a:tr h="375162">
                <a:tc>
                  <a:txBody>
                    <a:bodyPr/>
                    <a:lstStyle/>
                    <a:p>
                      <a:pPr algn="ctr"/>
                      <a:r>
                        <a:rPr kumimoji="1" lang="ja-JP" altLang="en-US" dirty="0"/>
                        <a:t>ｌ</a:t>
                      </a:r>
                    </a:p>
                  </a:txBody>
                  <a:tcPr/>
                </a:tc>
                <a:tc>
                  <a:txBody>
                    <a:bodyPr/>
                    <a:lstStyle/>
                    <a:p>
                      <a:r>
                        <a:rPr kumimoji="1" lang="ja-JP" altLang="en-US" dirty="0"/>
                        <a:t>設計開発の管理状況に関する要約</a:t>
                      </a:r>
                      <a:r>
                        <a:rPr kumimoji="1" lang="en-US" altLang="ja-JP" dirty="0"/>
                        <a:t>(</a:t>
                      </a:r>
                      <a:r>
                        <a:rPr kumimoji="1" lang="ja-JP" altLang="en-US" dirty="0"/>
                        <a:t>重要）情報</a:t>
                      </a:r>
                    </a:p>
                  </a:txBody>
                  <a:tcPr/>
                </a:tc>
                <a:tc>
                  <a:txBody>
                    <a:bodyPr/>
                    <a:lstStyle/>
                    <a:p>
                      <a:r>
                        <a:rPr kumimoji="1" lang="en-US" altLang="ja-JP" dirty="0"/>
                        <a:t>8.3.4.1</a:t>
                      </a:r>
                      <a:endParaRPr kumimoji="1" lang="ja-JP" altLang="en-US" dirty="0"/>
                    </a:p>
                  </a:txBody>
                  <a:tcPr/>
                </a:tc>
                <a:extLst>
                  <a:ext uri="{0D108BD9-81ED-4DB2-BD59-A6C34878D82A}">
                    <a16:rowId xmlns:a16="http://schemas.microsoft.com/office/drawing/2014/main" val="1844720331"/>
                  </a:ext>
                </a:extLst>
              </a:tr>
            </a:tbl>
          </a:graphicData>
        </a:graphic>
      </p:graphicFrame>
      <p:sp>
        <p:nvSpPr>
          <p:cNvPr id="3" name="吹き出し: 角を丸めた四角形 2">
            <a:extLst>
              <a:ext uri="{FF2B5EF4-FFF2-40B4-BE49-F238E27FC236}">
                <a16:creationId xmlns:a16="http://schemas.microsoft.com/office/drawing/2014/main" id="{3A8EDBA2-6244-45A5-99AC-7A02F69242F0}"/>
              </a:ext>
            </a:extLst>
          </p:cNvPr>
          <p:cNvSpPr/>
          <p:nvPr/>
        </p:nvSpPr>
        <p:spPr>
          <a:xfrm>
            <a:off x="5642131" y="1625885"/>
            <a:ext cx="3073400" cy="995680"/>
          </a:xfrm>
          <a:prstGeom prst="wedgeRoundRectCallout">
            <a:avLst>
              <a:gd name="adj1" fmla="val 51894"/>
              <a:gd name="adj2" fmla="val 58464"/>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rPr>
              <a:t>これらの項番における活動結果（評価、情報、記録など）をインプットする。</a:t>
            </a:r>
            <a:endParaRPr kumimoji="1" lang="ja-JP" altLang="en-US" dirty="0">
              <a:solidFill>
                <a:schemeClr val="tx1"/>
              </a:solidFill>
            </a:endParaRPr>
          </a:p>
        </p:txBody>
      </p:sp>
    </p:spTree>
    <p:extLst>
      <p:ext uri="{BB962C8B-B14F-4D97-AF65-F5344CB8AC3E}">
        <p14:creationId xmlns:p14="http://schemas.microsoft.com/office/powerpoint/2010/main" val="2758290491"/>
      </p:ext>
    </p:extLst>
  </p:cSld>
  <p:clrMapOvr>
    <a:masterClrMapping/>
  </p:clrMapOvr>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432194"/>
            <a:ext cx="10515600" cy="1046602"/>
          </a:xfrm>
          <a:ln w="12700">
            <a:solidFill>
              <a:schemeClr val="tx2"/>
            </a:solidFill>
          </a:ln>
        </p:spPr>
        <p:txBody>
          <a:bodyPr>
            <a:normAutofit/>
          </a:bodyPr>
          <a:lstStyle/>
          <a:p>
            <a:pPr marL="0" indent="0">
              <a:lnSpc>
                <a:spcPct val="100000"/>
              </a:lnSpc>
              <a:buNone/>
            </a:pPr>
            <a:r>
              <a:rPr lang="ja-JP" altLang="en-US" sz="2000" dirty="0"/>
              <a:t>☑トップマネジメントは、</a:t>
            </a:r>
            <a:r>
              <a:rPr lang="ja-JP" altLang="en-US" sz="2000" u="sng" dirty="0"/>
              <a:t>顧客のパフォーマンス目標が達成されていない場合</a:t>
            </a:r>
            <a:r>
              <a:rPr lang="ja-JP" altLang="en-US" sz="2000" dirty="0"/>
              <a:t>には、処置計画を</a:t>
            </a:r>
            <a:r>
              <a:rPr lang="ja-JP" altLang="en-US" sz="2000" b="1" dirty="0"/>
              <a:t>文書化</a:t>
            </a:r>
            <a:r>
              <a:rPr lang="ja-JP" altLang="en-US" sz="2000" dirty="0"/>
              <a:t>し実施しなければならない。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lang="en-US" altLang="ja-JP" sz="3000" b="1" dirty="0">
                <a:solidFill>
                  <a:schemeClr val="tx2"/>
                </a:solidFill>
              </a:rPr>
              <a:t>9.3.3.1</a:t>
            </a:r>
            <a:r>
              <a:rPr lang="ja-JP" altLang="en-US" sz="3000" b="1" dirty="0">
                <a:solidFill>
                  <a:schemeClr val="tx2"/>
                </a:solidFill>
              </a:rPr>
              <a:t>　マネジメントレビューからのアウトプット－補足</a:t>
            </a:r>
            <a:endParaRPr kumimoji="1" lang="ja-JP" altLang="en-US" sz="3000" b="1" dirty="0">
              <a:solidFill>
                <a:schemeClr val="tx2"/>
              </a:solidFill>
            </a:endParaRPr>
          </a:p>
        </p:txBody>
      </p:sp>
      <p:sp>
        <p:nvSpPr>
          <p:cNvPr id="6" name="タイトル 1">
            <a:extLst>
              <a:ext uri="{FF2B5EF4-FFF2-40B4-BE49-F238E27FC236}">
                <a16:creationId xmlns:a16="http://schemas.microsoft.com/office/drawing/2014/main" id="{A7429E72-0294-418D-AE02-9DE5890A2082}"/>
              </a:ext>
            </a:extLst>
          </p:cNvPr>
          <p:cNvSpPr txBox="1">
            <a:spLocks/>
          </p:cNvSpPr>
          <p:nvPr/>
        </p:nvSpPr>
        <p:spPr>
          <a:xfrm>
            <a:off x="838200" y="2759726"/>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9.3.3.1</a:t>
            </a:r>
            <a:r>
              <a:rPr lang="ja-JP" altLang="en-US" sz="3000" b="1" dirty="0">
                <a:solidFill>
                  <a:schemeClr val="bg1"/>
                </a:solidFill>
              </a:rPr>
              <a:t>　マネジメントレビューからのアウトプット－補足</a:t>
            </a:r>
          </a:p>
        </p:txBody>
      </p:sp>
      <p:sp>
        <p:nvSpPr>
          <p:cNvPr id="7" name="コンテンツ プレースホルダー 2">
            <a:extLst>
              <a:ext uri="{FF2B5EF4-FFF2-40B4-BE49-F238E27FC236}">
                <a16:creationId xmlns:a16="http://schemas.microsoft.com/office/drawing/2014/main" id="{EE622379-ABC7-4072-AFE2-ABD79468456F}"/>
              </a:ext>
            </a:extLst>
          </p:cNvPr>
          <p:cNvSpPr txBox="1">
            <a:spLocks/>
          </p:cNvSpPr>
          <p:nvPr/>
        </p:nvSpPr>
        <p:spPr>
          <a:xfrm>
            <a:off x="838200" y="3787968"/>
            <a:ext cx="10515600" cy="256838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顧客のパフォーマンス目標の未達に対する具体的指示を要求。</a:t>
            </a:r>
            <a:endParaRPr lang="en-US" altLang="ja-JP" sz="2400" dirty="0"/>
          </a:p>
          <a:p>
            <a:pPr marL="457200" indent="-457200">
              <a:lnSpc>
                <a:spcPct val="100000"/>
              </a:lnSpc>
              <a:buFont typeface="+mj-lt"/>
              <a:buAutoNum type="arabicPeriod"/>
            </a:pPr>
            <a:r>
              <a:rPr lang="ja-JP" altLang="en-US" sz="2400" dirty="0"/>
              <a:t>顧客のパフォーマンス目標（ある場合）は、</a:t>
            </a:r>
            <a:r>
              <a:rPr lang="ja-JP" altLang="en-US" sz="2400" dirty="0">
                <a:solidFill>
                  <a:srgbClr val="FF0000"/>
                </a:solidFill>
                <a:effectLst>
                  <a:outerShdw blurRad="38100" dist="38100" dir="2700000" algn="tl">
                    <a:srgbClr val="000000">
                      <a:alpha val="43137"/>
                    </a:srgbClr>
                  </a:outerShdw>
                </a:effectLst>
              </a:rPr>
              <a:t>顧客固有要求事項により、プロセス管理図のインプット（要求事項）へ</a:t>
            </a:r>
            <a:r>
              <a:rPr lang="ja-JP" altLang="en-US" sz="2400" dirty="0"/>
              <a:t>展開される。</a:t>
            </a:r>
            <a:endParaRPr lang="en-US" altLang="ja-JP" sz="2400" dirty="0"/>
          </a:p>
          <a:p>
            <a:pPr lvl="1">
              <a:lnSpc>
                <a:spcPct val="100000"/>
              </a:lnSpc>
              <a:buFont typeface="Wingdings" panose="05000000000000000000" pitchFamily="2" charset="2"/>
              <a:buChar char="Ø"/>
            </a:pPr>
            <a:r>
              <a:rPr lang="ja-JP" altLang="en-US" dirty="0"/>
              <a:t>納入不良率「</a:t>
            </a:r>
            <a:r>
              <a:rPr lang="en-US" altLang="ja-JP" dirty="0"/>
              <a:t>10ppm</a:t>
            </a:r>
            <a:r>
              <a:rPr lang="ja-JP" altLang="en-US" dirty="0"/>
              <a:t>未満」</a:t>
            </a:r>
            <a:endParaRPr lang="en-US" altLang="ja-JP" dirty="0"/>
          </a:p>
          <a:p>
            <a:pPr lvl="1">
              <a:lnSpc>
                <a:spcPct val="100000"/>
              </a:lnSpc>
              <a:buFont typeface="Wingdings" panose="05000000000000000000" pitchFamily="2" charset="2"/>
              <a:buChar char="Ø"/>
            </a:pPr>
            <a:r>
              <a:rPr lang="ja-JP" altLang="en-US" dirty="0"/>
              <a:t>部品納入評価ランク「</a:t>
            </a:r>
            <a:r>
              <a:rPr lang="en-US" altLang="ja-JP" dirty="0"/>
              <a:t>C</a:t>
            </a:r>
            <a:r>
              <a:rPr lang="ja-JP" altLang="en-US" dirty="0"/>
              <a:t>ランク以下は是正処置提出」など。</a:t>
            </a:r>
          </a:p>
        </p:txBody>
      </p:sp>
    </p:spTree>
    <p:extLst>
      <p:ext uri="{BB962C8B-B14F-4D97-AF65-F5344CB8AC3E}">
        <p14:creationId xmlns:p14="http://schemas.microsoft.com/office/powerpoint/2010/main" val="1893183690"/>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356</a:t>
            </a:fld>
            <a:endParaRPr kumimoji="1" lang="ja-JP" altLang="en-US"/>
          </a:p>
        </p:txBody>
      </p:sp>
      <p:sp>
        <p:nvSpPr>
          <p:cNvPr id="3" name="コンテンツ プレースホルダー 2">
            <a:extLst>
              <a:ext uri="{FF2B5EF4-FFF2-40B4-BE49-F238E27FC236}">
                <a16:creationId xmlns:a16="http://schemas.microsoft.com/office/drawing/2014/main" id="{766001E1-60F6-40DF-B0B3-EDB3E139B0C2}"/>
              </a:ext>
            </a:extLst>
          </p:cNvPr>
          <p:cNvSpPr>
            <a:spLocks noGrp="1"/>
          </p:cNvSpPr>
          <p:nvPr>
            <p:ph idx="1"/>
          </p:nvPr>
        </p:nvSpPr>
        <p:spPr>
          <a:xfrm>
            <a:off x="1318437" y="701750"/>
            <a:ext cx="9494876" cy="5654600"/>
          </a:xfrm>
        </p:spPr>
        <p:txBody>
          <a:bodyPr>
            <a:normAutofit/>
          </a:bodyPr>
          <a:lstStyle/>
          <a:p>
            <a:pPr marL="0" indent="0">
              <a:buNone/>
            </a:pPr>
            <a:r>
              <a:rPr kumimoji="1" lang="ja-JP" altLang="en-US" sz="2400" dirty="0">
                <a:solidFill>
                  <a:schemeClr val="tx2"/>
                </a:solidFill>
              </a:rPr>
              <a:t>０．序文</a:t>
            </a:r>
            <a:endParaRPr kumimoji="1" lang="en-US" altLang="ja-JP" sz="2400" dirty="0">
              <a:solidFill>
                <a:schemeClr val="tx2"/>
              </a:solidFill>
            </a:endParaRPr>
          </a:p>
          <a:p>
            <a:pPr marL="0" indent="0">
              <a:buNone/>
            </a:pPr>
            <a:r>
              <a:rPr lang="ja-JP" altLang="en-US" sz="2400" dirty="0">
                <a:solidFill>
                  <a:schemeClr val="tx2"/>
                </a:solidFill>
              </a:rPr>
              <a:t>１．適用範囲</a:t>
            </a:r>
            <a:endParaRPr lang="en-US" altLang="ja-JP" sz="2400" dirty="0">
              <a:solidFill>
                <a:schemeClr val="tx2"/>
              </a:solidFill>
            </a:endParaRPr>
          </a:p>
          <a:p>
            <a:pPr marL="0" indent="0">
              <a:buNone/>
            </a:pPr>
            <a:r>
              <a:rPr kumimoji="1" lang="ja-JP" altLang="en-US" sz="2400" dirty="0">
                <a:solidFill>
                  <a:schemeClr val="tx2"/>
                </a:solidFill>
              </a:rPr>
              <a:t>２．引用規格</a:t>
            </a:r>
            <a:endParaRPr kumimoji="1" lang="en-US" altLang="ja-JP" sz="2400" dirty="0">
              <a:solidFill>
                <a:schemeClr val="tx2"/>
              </a:solidFill>
            </a:endParaRPr>
          </a:p>
          <a:p>
            <a:pPr marL="0" indent="0">
              <a:buNone/>
            </a:pPr>
            <a:r>
              <a:rPr lang="ja-JP" altLang="en-US" sz="2400" dirty="0">
                <a:solidFill>
                  <a:schemeClr val="tx2"/>
                </a:solidFill>
              </a:rPr>
              <a:t>３．用語及び定義</a:t>
            </a:r>
            <a:endParaRPr lang="en-US" altLang="ja-JP" sz="2400" dirty="0">
              <a:solidFill>
                <a:schemeClr val="tx2"/>
              </a:solidFill>
            </a:endParaRPr>
          </a:p>
          <a:p>
            <a:pPr marL="0" indent="0">
              <a:buNone/>
            </a:pPr>
            <a:r>
              <a:rPr kumimoji="1" lang="ja-JP" altLang="en-US" sz="2400" dirty="0">
                <a:solidFill>
                  <a:schemeClr val="tx2"/>
                </a:solidFill>
              </a:rPr>
              <a:t>４．組織の状況</a:t>
            </a:r>
            <a:endParaRPr kumimoji="1" lang="en-US" altLang="ja-JP" sz="2400" dirty="0">
              <a:solidFill>
                <a:schemeClr val="tx2"/>
              </a:solidFill>
            </a:endParaRPr>
          </a:p>
          <a:p>
            <a:pPr marL="0" indent="0">
              <a:buNone/>
            </a:pPr>
            <a:r>
              <a:rPr lang="ja-JP" altLang="en-US" sz="2400" dirty="0">
                <a:solidFill>
                  <a:schemeClr val="tx2"/>
                </a:solidFill>
              </a:rPr>
              <a:t>５．リーダーシップ</a:t>
            </a:r>
            <a:endParaRPr lang="en-US" altLang="ja-JP" sz="2400" dirty="0">
              <a:solidFill>
                <a:schemeClr val="tx2"/>
              </a:solidFill>
            </a:endParaRPr>
          </a:p>
          <a:p>
            <a:pPr marL="0" indent="0">
              <a:buNone/>
            </a:pPr>
            <a:r>
              <a:rPr kumimoji="1" lang="ja-JP" altLang="en-US" sz="2400" dirty="0">
                <a:solidFill>
                  <a:schemeClr val="tx2"/>
                </a:solidFill>
              </a:rPr>
              <a:t>６．計画</a:t>
            </a:r>
            <a:endParaRPr kumimoji="1" lang="en-US" altLang="ja-JP" sz="2400" dirty="0">
              <a:solidFill>
                <a:schemeClr val="tx2"/>
              </a:solidFill>
            </a:endParaRPr>
          </a:p>
          <a:p>
            <a:pPr marL="0" indent="0">
              <a:buNone/>
            </a:pPr>
            <a:r>
              <a:rPr lang="ja-JP" altLang="en-US" sz="2400" dirty="0">
                <a:solidFill>
                  <a:schemeClr val="tx2"/>
                </a:solidFill>
              </a:rPr>
              <a:t>７．支援</a:t>
            </a:r>
            <a:endParaRPr lang="en-US" altLang="ja-JP" sz="2400" dirty="0">
              <a:solidFill>
                <a:schemeClr val="tx2"/>
              </a:solidFill>
            </a:endParaRPr>
          </a:p>
          <a:p>
            <a:pPr marL="0" indent="0">
              <a:buNone/>
            </a:pPr>
            <a:r>
              <a:rPr kumimoji="1" lang="ja-JP" altLang="en-US" sz="2400" dirty="0">
                <a:solidFill>
                  <a:schemeClr val="tx2"/>
                </a:solidFill>
              </a:rPr>
              <a:t>８．運用</a:t>
            </a:r>
            <a:endParaRPr kumimoji="1" lang="en-US" altLang="ja-JP" sz="2400" dirty="0">
              <a:solidFill>
                <a:schemeClr val="tx2"/>
              </a:solidFill>
            </a:endParaRPr>
          </a:p>
          <a:p>
            <a:pPr marL="0" indent="0">
              <a:buNone/>
            </a:pPr>
            <a:r>
              <a:rPr lang="ja-JP" altLang="en-US" sz="2400" dirty="0">
                <a:solidFill>
                  <a:schemeClr val="tx2"/>
                </a:solidFill>
              </a:rPr>
              <a:t>９．パフォーマンス評価</a:t>
            </a:r>
            <a:endParaRPr lang="en-US" altLang="ja-JP" sz="2400" dirty="0">
              <a:solidFill>
                <a:schemeClr val="tx2"/>
              </a:solidFill>
            </a:endParaRPr>
          </a:p>
          <a:p>
            <a:pPr marL="0" indent="0">
              <a:buNone/>
            </a:pPr>
            <a:r>
              <a:rPr kumimoji="1" lang="ja-JP" altLang="en-US" sz="4400" b="1" u="sng" dirty="0">
                <a:solidFill>
                  <a:schemeClr val="tx2"/>
                </a:solidFill>
                <a:effectLst>
                  <a:outerShdw blurRad="38100" dist="38100" dir="2700000" algn="tl">
                    <a:srgbClr val="000000">
                      <a:alpha val="43137"/>
                    </a:srgbClr>
                  </a:outerShdw>
                </a:effectLst>
              </a:rPr>
              <a:t>１０．改善</a:t>
            </a:r>
          </a:p>
        </p:txBody>
      </p:sp>
    </p:spTree>
    <p:extLst>
      <p:ext uri="{BB962C8B-B14F-4D97-AF65-F5344CB8AC3E}">
        <p14:creationId xmlns:p14="http://schemas.microsoft.com/office/powerpoint/2010/main" val="368183313"/>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メモ 11">
            <a:extLst>
              <a:ext uri="{FF2B5EF4-FFF2-40B4-BE49-F238E27FC236}">
                <a16:creationId xmlns:a16="http://schemas.microsoft.com/office/drawing/2014/main" id="{98213EBB-542A-4018-894A-BC7E7EE0A2C6}"/>
              </a:ext>
            </a:extLst>
          </p:cNvPr>
          <p:cNvSpPr/>
          <p:nvPr/>
        </p:nvSpPr>
        <p:spPr>
          <a:xfrm>
            <a:off x="4455294" y="1553379"/>
            <a:ext cx="3281412" cy="3492346"/>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lang="en-US" altLang="ja-JP" dirty="0"/>
          </a:p>
          <a:p>
            <a:endParaRPr lang="en-US" altLang="ja-JP" dirty="0"/>
          </a:p>
          <a:p>
            <a:endParaRPr lang="en-US" altLang="ja-JP" dirty="0"/>
          </a:p>
          <a:p>
            <a:endParaRPr lang="en-US" altLang="ja-JP" dirty="0"/>
          </a:p>
          <a:p>
            <a:r>
              <a:rPr lang="en-US" altLang="ja-JP" dirty="0"/>
              <a:t>10.2.3</a:t>
            </a:r>
            <a:r>
              <a:rPr lang="ja-JP" altLang="en-US" dirty="0"/>
              <a:t>　問題解決</a:t>
            </a:r>
            <a:endParaRPr lang="en-US" altLang="ja-JP" dirty="0"/>
          </a:p>
          <a:p>
            <a:r>
              <a:rPr kumimoji="1" lang="en-US" altLang="ja-JP" dirty="0"/>
              <a:t>10.2.4</a:t>
            </a:r>
            <a:r>
              <a:rPr kumimoji="1" lang="ja-JP" altLang="en-US" dirty="0"/>
              <a:t>　ポカヨケ</a:t>
            </a:r>
            <a:endParaRPr kumimoji="1" lang="en-US" altLang="ja-JP" dirty="0"/>
          </a:p>
          <a:p>
            <a:r>
              <a:rPr lang="en-US" altLang="ja-JP" dirty="0"/>
              <a:t>10.2.5</a:t>
            </a:r>
            <a:r>
              <a:rPr lang="ja-JP" altLang="en-US" dirty="0"/>
              <a:t>　補償管理システム</a:t>
            </a:r>
            <a:endParaRPr lang="en-US" altLang="ja-JP" dirty="0"/>
          </a:p>
          <a:p>
            <a:r>
              <a:rPr kumimoji="1" lang="en-US" altLang="ja-JP" dirty="0"/>
              <a:t>10.2.6</a:t>
            </a:r>
            <a:r>
              <a:rPr kumimoji="1" lang="ja-JP" altLang="en-US" dirty="0"/>
              <a:t>　顧客苦情及び市場不具合の試験・分析　</a:t>
            </a:r>
            <a:endParaRPr kumimoji="1" lang="en-US" altLang="ja-JP" dirty="0"/>
          </a:p>
        </p:txBody>
      </p:sp>
      <p:sp>
        <p:nvSpPr>
          <p:cNvPr id="15" name="四角形: メモ 14">
            <a:extLst>
              <a:ext uri="{FF2B5EF4-FFF2-40B4-BE49-F238E27FC236}">
                <a16:creationId xmlns:a16="http://schemas.microsoft.com/office/drawing/2014/main" id="{0E03B563-9B5C-4815-A8DE-9D7429050EC7}"/>
              </a:ext>
            </a:extLst>
          </p:cNvPr>
          <p:cNvSpPr/>
          <p:nvPr/>
        </p:nvSpPr>
        <p:spPr>
          <a:xfrm>
            <a:off x="8072383" y="1553380"/>
            <a:ext cx="3281412" cy="2721165"/>
          </a:xfrm>
          <a:prstGeom prst="foldedCorne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altLang="ja-JP" dirty="0"/>
          </a:p>
          <a:p>
            <a:endParaRPr kumimoji="1" lang="en-US" altLang="ja-JP" dirty="0"/>
          </a:p>
          <a:p>
            <a:endParaRPr kumimoji="1" lang="en-US" altLang="ja-JP" dirty="0"/>
          </a:p>
          <a:p>
            <a:endParaRPr kumimoji="1" lang="en-US" altLang="ja-JP" dirty="0"/>
          </a:p>
          <a:p>
            <a:endParaRPr lang="en-US" altLang="ja-JP" dirty="0"/>
          </a:p>
          <a:p>
            <a:r>
              <a:rPr kumimoji="1" lang="en-US" altLang="ja-JP" dirty="0"/>
              <a:t>10.3.1</a:t>
            </a:r>
            <a:r>
              <a:rPr kumimoji="1" lang="ja-JP" altLang="en-US" dirty="0"/>
              <a:t>　継続的改善－補足</a:t>
            </a:r>
            <a:endParaRPr kumimoji="1"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357</a:t>
            </a:fld>
            <a:endParaRPr kumimoji="1" lang="ja-JP" altLang="en-US"/>
          </a:p>
        </p:txBody>
      </p:sp>
      <p:sp>
        <p:nvSpPr>
          <p:cNvPr id="7" name="タイトル 1">
            <a:extLst>
              <a:ext uri="{FF2B5EF4-FFF2-40B4-BE49-F238E27FC236}">
                <a16:creationId xmlns:a16="http://schemas.microsoft.com/office/drawing/2014/main" id="{E2B58C6C-218E-4FFC-936A-2C7E892C4C86}"/>
              </a:ext>
            </a:extLst>
          </p:cNvPr>
          <p:cNvSpPr>
            <a:spLocks noGrp="1"/>
          </p:cNvSpPr>
          <p:nvPr>
            <p:ph type="title"/>
          </p:nvPr>
        </p:nvSpPr>
        <p:spPr>
          <a:xfrm>
            <a:off x="838200" y="365126"/>
            <a:ext cx="10515600" cy="854074"/>
          </a:xfrm>
          <a:solidFill>
            <a:schemeClr val="tx2"/>
          </a:solidFill>
        </p:spPr>
        <p:txBody>
          <a:bodyPr>
            <a:normAutofit/>
          </a:bodyPr>
          <a:lstStyle/>
          <a:p>
            <a:r>
              <a:rPr kumimoji="1" lang="ja-JP" altLang="en-US" sz="3600" dirty="0">
                <a:solidFill>
                  <a:schemeClr val="bg1"/>
                </a:solidFill>
              </a:rPr>
              <a:t>１０．改善</a:t>
            </a:r>
          </a:p>
        </p:txBody>
      </p:sp>
      <p:sp>
        <p:nvSpPr>
          <p:cNvPr id="9" name="フローチャート: 書類 8">
            <a:extLst>
              <a:ext uri="{FF2B5EF4-FFF2-40B4-BE49-F238E27FC236}">
                <a16:creationId xmlns:a16="http://schemas.microsoft.com/office/drawing/2014/main" id="{48AA47D7-E260-4650-9B53-8CB6AC5DBDE6}"/>
              </a:ext>
            </a:extLst>
          </p:cNvPr>
          <p:cNvSpPr/>
          <p:nvPr/>
        </p:nvSpPr>
        <p:spPr>
          <a:xfrm>
            <a:off x="4455293" y="1553379"/>
            <a:ext cx="3281413" cy="1299990"/>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10.2</a:t>
            </a:r>
            <a:r>
              <a:rPr lang="ja-JP" altLang="en-US" sz="2000" b="1" dirty="0">
                <a:solidFill>
                  <a:schemeClr val="tx1"/>
                </a:solidFill>
              </a:rPr>
              <a:t>　不適合及び是正処置</a:t>
            </a:r>
            <a:endParaRPr lang="en-US" altLang="ja-JP" sz="2000" b="1" dirty="0">
              <a:solidFill>
                <a:schemeClr val="tx1"/>
              </a:solidFill>
            </a:endParaRPr>
          </a:p>
          <a:p>
            <a:r>
              <a:rPr lang="en-US" altLang="ja-JP" dirty="0">
                <a:solidFill>
                  <a:schemeClr val="tx1"/>
                </a:solidFill>
              </a:rPr>
              <a:t>10.2.1</a:t>
            </a:r>
          </a:p>
          <a:p>
            <a:r>
              <a:rPr lang="en-US" altLang="ja-JP" dirty="0">
                <a:solidFill>
                  <a:schemeClr val="tx1"/>
                </a:solidFill>
              </a:rPr>
              <a:t>10.2.2</a:t>
            </a:r>
          </a:p>
        </p:txBody>
      </p:sp>
      <p:sp>
        <p:nvSpPr>
          <p:cNvPr id="11" name="フローチャート: 書類 10">
            <a:extLst>
              <a:ext uri="{FF2B5EF4-FFF2-40B4-BE49-F238E27FC236}">
                <a16:creationId xmlns:a16="http://schemas.microsoft.com/office/drawing/2014/main" id="{EB6D8318-EDC8-4898-9544-734215E3885E}"/>
              </a:ext>
            </a:extLst>
          </p:cNvPr>
          <p:cNvSpPr/>
          <p:nvPr/>
        </p:nvSpPr>
        <p:spPr>
          <a:xfrm>
            <a:off x="838201" y="1553379"/>
            <a:ext cx="3281413" cy="1299989"/>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en-US" altLang="ja-JP" sz="2000" b="1" dirty="0">
                <a:solidFill>
                  <a:schemeClr val="tx1"/>
                </a:solidFill>
              </a:rPr>
              <a:t>10.1</a:t>
            </a:r>
            <a:r>
              <a:rPr kumimoji="1" lang="ja-JP" altLang="en-US" sz="2000" b="1" dirty="0">
                <a:solidFill>
                  <a:schemeClr val="tx1"/>
                </a:solidFill>
              </a:rPr>
              <a:t>　一般</a:t>
            </a:r>
            <a:r>
              <a:rPr kumimoji="1" lang="ja-JP" altLang="en-US" dirty="0">
                <a:solidFill>
                  <a:schemeClr val="tx1"/>
                </a:solidFill>
              </a:rPr>
              <a:t>　</a:t>
            </a:r>
          </a:p>
        </p:txBody>
      </p:sp>
      <p:sp>
        <p:nvSpPr>
          <p:cNvPr id="16" name="フローチャート: 書類 15">
            <a:extLst>
              <a:ext uri="{FF2B5EF4-FFF2-40B4-BE49-F238E27FC236}">
                <a16:creationId xmlns:a16="http://schemas.microsoft.com/office/drawing/2014/main" id="{14E35A39-BE88-4AE0-997F-D3E1B6013E00}"/>
              </a:ext>
            </a:extLst>
          </p:cNvPr>
          <p:cNvSpPr/>
          <p:nvPr/>
        </p:nvSpPr>
        <p:spPr>
          <a:xfrm>
            <a:off x="8072382" y="1553380"/>
            <a:ext cx="3281413" cy="1299990"/>
          </a:xfrm>
          <a:prstGeom prst="flowChartDocumen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2000" b="1" dirty="0">
                <a:solidFill>
                  <a:schemeClr val="tx1"/>
                </a:solidFill>
              </a:rPr>
              <a:t>10.3</a:t>
            </a:r>
            <a:r>
              <a:rPr lang="ja-JP" altLang="en-US" sz="2000" b="1" dirty="0">
                <a:solidFill>
                  <a:schemeClr val="tx1"/>
                </a:solidFill>
              </a:rPr>
              <a:t>　継続的改善</a:t>
            </a:r>
            <a:endParaRPr lang="en-US" altLang="ja-JP" sz="2000" b="1" dirty="0">
              <a:solidFill>
                <a:schemeClr val="tx1"/>
              </a:solidFill>
            </a:endParaRPr>
          </a:p>
        </p:txBody>
      </p:sp>
    </p:spTree>
    <p:extLst>
      <p:ext uri="{BB962C8B-B14F-4D97-AF65-F5344CB8AC3E}">
        <p14:creationId xmlns:p14="http://schemas.microsoft.com/office/powerpoint/2010/main" val="3883599516"/>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358</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lnSpcReduction="10000"/>
          </a:bodyPr>
          <a:lstStyle/>
          <a:p>
            <a:pPr marL="0" indent="0">
              <a:lnSpc>
                <a:spcPct val="100000"/>
              </a:lnSpc>
              <a:buNone/>
            </a:pPr>
            <a:r>
              <a:rPr lang="ja-JP" altLang="en-US" sz="2000" dirty="0"/>
              <a:t>☑組織は、次の事項を含む、</a:t>
            </a:r>
            <a:r>
              <a:rPr lang="ja-JP" altLang="en-US" sz="2000" dirty="0">
                <a:solidFill>
                  <a:srgbClr val="FF0000"/>
                </a:solidFill>
              </a:rPr>
              <a:t>再発を防止する</a:t>
            </a:r>
            <a:r>
              <a:rPr lang="ja-JP" altLang="en-US" sz="2000" dirty="0"/>
              <a:t>問題解決の方法を</a:t>
            </a:r>
            <a:r>
              <a:rPr lang="ja-JP" altLang="en-US" sz="2000" b="1" dirty="0"/>
              <a:t>文書化したプロセス</a:t>
            </a:r>
            <a:r>
              <a:rPr lang="ja-JP" altLang="en-US" sz="2000" dirty="0"/>
              <a:t>をもたなければならない。</a:t>
            </a:r>
            <a:endParaRPr lang="en-US" altLang="ja-JP" sz="2000" dirty="0"/>
          </a:p>
          <a:p>
            <a:pPr marL="800100" lvl="1" indent="-342900">
              <a:lnSpc>
                <a:spcPct val="100000"/>
              </a:lnSpc>
              <a:buFont typeface="+mj-lt"/>
              <a:buAutoNum type="alphaLcPeriod"/>
            </a:pPr>
            <a:r>
              <a:rPr lang="ja-JP" altLang="en-US" sz="2000" dirty="0"/>
              <a:t>問題の様々なタイプ及び規模に対する定められた</a:t>
            </a:r>
            <a:r>
              <a:rPr lang="ja-JP" altLang="en-US" sz="2000" u="sng" dirty="0"/>
              <a:t>アプローチの仕方</a:t>
            </a:r>
            <a:r>
              <a:rPr lang="ja-JP" altLang="en-US" sz="2000" dirty="0"/>
              <a:t>（例　新製品開発、現行製造問題、市場不具合、監査所見）</a:t>
            </a:r>
            <a:endParaRPr lang="en-US" altLang="ja-JP" sz="2000" dirty="0"/>
          </a:p>
          <a:p>
            <a:pPr marL="800100" lvl="1" indent="-342900">
              <a:lnSpc>
                <a:spcPct val="100000"/>
              </a:lnSpc>
              <a:buFont typeface="+mj-lt"/>
              <a:buAutoNum type="alphaLcPeriod"/>
            </a:pPr>
            <a:r>
              <a:rPr lang="ja-JP" altLang="en-US" sz="2000" dirty="0"/>
              <a:t>不適合なアウトプット（</a:t>
            </a:r>
            <a:r>
              <a:rPr lang="en-US" altLang="ja-JP" sz="2000" dirty="0"/>
              <a:t>ISO9001</a:t>
            </a:r>
            <a:r>
              <a:rPr lang="ja-JP" altLang="en-US" sz="2000" dirty="0"/>
              <a:t>の</a:t>
            </a:r>
            <a:r>
              <a:rPr lang="en-US" altLang="ja-JP" sz="2000" dirty="0"/>
              <a:t>8.7</a:t>
            </a:r>
            <a:r>
              <a:rPr lang="ja-JP" altLang="en-US" sz="2000" dirty="0"/>
              <a:t>参照）の管理に必要な、</a:t>
            </a:r>
            <a:r>
              <a:rPr lang="ja-JP" altLang="en-US" sz="2000" u="sng" dirty="0"/>
              <a:t>封じ込め、暫定処置及び関係する活動</a:t>
            </a:r>
            <a:endParaRPr lang="en-US" altLang="ja-JP" sz="2000" u="sng" dirty="0"/>
          </a:p>
          <a:p>
            <a:pPr marL="800100" lvl="1" indent="-342900">
              <a:lnSpc>
                <a:spcPct val="100000"/>
              </a:lnSpc>
              <a:buFont typeface="+mj-lt"/>
              <a:buAutoNum type="alphaLcPeriod"/>
            </a:pPr>
            <a:r>
              <a:rPr lang="ja-JP" altLang="en-US" sz="2000" u="sng" dirty="0"/>
              <a:t>根本原因分析、使用される方法論、分析及び結果</a:t>
            </a:r>
            <a:endParaRPr lang="en-US" altLang="ja-JP" sz="2000" u="sng" dirty="0"/>
          </a:p>
          <a:p>
            <a:pPr marL="800100" lvl="1" indent="-342900">
              <a:lnSpc>
                <a:spcPct val="100000"/>
              </a:lnSpc>
              <a:buFont typeface="+mj-lt"/>
              <a:buAutoNum type="alphaLcPeriod"/>
            </a:pPr>
            <a:r>
              <a:rPr lang="ja-JP" altLang="en-US" sz="2000" dirty="0"/>
              <a:t>類似のプロセス及び製品への影響を考慮することを含む、</a:t>
            </a:r>
            <a:r>
              <a:rPr lang="ja-JP" altLang="en-US" sz="2000" u="sng" dirty="0"/>
              <a:t>体系的是正処置</a:t>
            </a:r>
            <a:r>
              <a:rPr lang="ja-JP" altLang="en-US" sz="2000" dirty="0"/>
              <a:t>の実施</a:t>
            </a:r>
            <a:endParaRPr lang="en-US" altLang="ja-JP" sz="2000" dirty="0"/>
          </a:p>
          <a:p>
            <a:pPr marL="800100" lvl="1" indent="-342900">
              <a:lnSpc>
                <a:spcPct val="100000"/>
              </a:lnSpc>
              <a:buFont typeface="+mj-lt"/>
              <a:buAutoNum type="alphaLcPeriod"/>
            </a:pPr>
            <a:r>
              <a:rPr lang="ja-JP" altLang="en-US" sz="2000" dirty="0"/>
              <a:t>実施された是正処置の</a:t>
            </a:r>
            <a:r>
              <a:rPr lang="ja-JP" altLang="en-US" sz="2000" u="sng" dirty="0"/>
              <a:t>有効性検証</a:t>
            </a:r>
            <a:endParaRPr lang="en-US" altLang="ja-JP" sz="2000" u="sng" dirty="0"/>
          </a:p>
          <a:p>
            <a:pPr marL="800100" lvl="1" indent="-342900">
              <a:lnSpc>
                <a:spcPct val="100000"/>
              </a:lnSpc>
              <a:buFont typeface="+mj-lt"/>
              <a:buAutoNum type="alphaLcPeriod"/>
            </a:pPr>
            <a:r>
              <a:rPr lang="ja-JP" altLang="en-US" sz="2000" dirty="0"/>
              <a:t>適切な文書化した情報（例　</a:t>
            </a:r>
            <a:r>
              <a:rPr lang="en-US" altLang="ja-JP" sz="2000" u="sng" dirty="0"/>
              <a:t>PFMEA</a:t>
            </a:r>
            <a:r>
              <a:rPr lang="ja-JP" altLang="en-US" sz="2000" u="sng" dirty="0" err="1"/>
              <a:t>、</a:t>
            </a:r>
            <a:r>
              <a:rPr lang="ja-JP" altLang="en-US" sz="2000" u="sng" dirty="0"/>
              <a:t>コントロールプラン）のレビュー</a:t>
            </a:r>
            <a:r>
              <a:rPr lang="ja-JP" altLang="en-US" sz="2000" dirty="0"/>
              <a:t>及び、必要に応じた更新</a:t>
            </a:r>
            <a:endParaRPr lang="en-US" altLang="ja-JP" sz="2000" dirty="0"/>
          </a:p>
          <a:p>
            <a:pPr marL="0" indent="0">
              <a:lnSpc>
                <a:spcPct val="100000"/>
              </a:lnSpc>
              <a:buNone/>
            </a:pPr>
            <a:r>
              <a:rPr lang="ja-JP" altLang="en-US" sz="2000" dirty="0"/>
              <a:t>☑</a:t>
            </a:r>
            <a:r>
              <a:rPr lang="ja-JP" altLang="en-US" sz="2000" u="sng" dirty="0"/>
              <a:t>顧客が固有の規定されたプロセス、ツール、又は問題解決のシステムをもっている場合</a:t>
            </a:r>
            <a:r>
              <a:rPr lang="ja-JP" altLang="en-US" sz="2000" dirty="0"/>
              <a:t>、顧客によって他に承認がない限り、組織は、そのプロセス、ツール、又はシステムを使用しなければならない。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10.2.3</a:t>
            </a:r>
            <a:r>
              <a:rPr kumimoji="1" lang="ja-JP" altLang="en-US" sz="3000" b="1" dirty="0">
                <a:solidFill>
                  <a:schemeClr val="tx2"/>
                </a:solidFill>
              </a:rPr>
              <a:t>　問題解決</a:t>
            </a:r>
          </a:p>
        </p:txBody>
      </p:sp>
    </p:spTree>
    <p:extLst>
      <p:ext uri="{BB962C8B-B14F-4D97-AF65-F5344CB8AC3E}">
        <p14:creationId xmlns:p14="http://schemas.microsoft.com/office/powerpoint/2010/main" val="388170190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77108"/>
            <a:ext cx="10515600" cy="497924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是正処置の実施について、問題解決プロセスをもって実施する。</a:t>
            </a:r>
            <a:endParaRPr lang="en-US" altLang="ja-JP" sz="2400" dirty="0"/>
          </a:p>
          <a:p>
            <a:pPr lvl="1">
              <a:lnSpc>
                <a:spcPct val="100000"/>
              </a:lnSpc>
              <a:buFont typeface="Wingdings" panose="05000000000000000000" pitchFamily="2" charset="2"/>
              <a:buChar char="Ø"/>
            </a:pPr>
            <a:r>
              <a:rPr lang="ja-JP" altLang="en-US" dirty="0"/>
              <a:t>是正処置規定及び是正処置様式の中に盛り込んで実施すべき。</a:t>
            </a:r>
            <a:endParaRPr lang="en-US" altLang="ja-JP" dirty="0"/>
          </a:p>
          <a:p>
            <a:pPr lvl="1">
              <a:lnSpc>
                <a:spcPct val="100000"/>
              </a:lnSpc>
              <a:buFont typeface="Wingdings" panose="05000000000000000000" pitchFamily="2" charset="2"/>
              <a:buChar char="Ø"/>
            </a:pPr>
            <a:r>
              <a:rPr lang="ja-JP" altLang="en-US" dirty="0"/>
              <a:t>一般的に顧客固有の様式が指定されている場合が多い。</a:t>
            </a:r>
            <a:endParaRPr lang="en-US" altLang="ja-JP" dirty="0"/>
          </a:p>
          <a:p>
            <a:pPr marL="457200" indent="-457200">
              <a:lnSpc>
                <a:spcPct val="100000"/>
              </a:lnSpc>
              <a:buFont typeface="+mj-lt"/>
              <a:buAutoNum type="arabicPeriod"/>
            </a:pPr>
            <a:r>
              <a:rPr lang="ja-JP" altLang="en-US" sz="2400" dirty="0"/>
              <a:t>ｃ）について。</a:t>
            </a:r>
            <a:endParaRPr lang="en-US" altLang="ja-JP" sz="2400" dirty="0"/>
          </a:p>
          <a:p>
            <a:pPr lvl="1">
              <a:lnSpc>
                <a:spcPct val="100000"/>
              </a:lnSpc>
              <a:buFont typeface="Wingdings" panose="05000000000000000000" pitchFamily="2" charset="2"/>
              <a:buChar char="Ø"/>
            </a:pPr>
            <a:r>
              <a:rPr lang="ja-JP" altLang="en-US" dirty="0"/>
              <a:t>特性要因図、</a:t>
            </a:r>
            <a:r>
              <a:rPr lang="en-US" altLang="ja-JP" dirty="0"/>
              <a:t>FTA</a:t>
            </a:r>
            <a:r>
              <a:rPr lang="ja-JP" altLang="en-US" dirty="0" err="1"/>
              <a:t>、</a:t>
            </a:r>
            <a:r>
              <a:rPr lang="ja-JP" altLang="en-US" dirty="0"/>
              <a:t>なぜなぜ分析など。</a:t>
            </a:r>
            <a:endParaRPr lang="en-US" altLang="ja-JP" dirty="0"/>
          </a:p>
          <a:p>
            <a:pPr marL="514350" indent="-514350">
              <a:lnSpc>
                <a:spcPct val="100000"/>
              </a:lnSpc>
              <a:buFont typeface="+mj-lt"/>
              <a:buAutoNum type="arabicPeriod"/>
            </a:pPr>
            <a:r>
              <a:rPr lang="ja-JP" altLang="en-US" sz="2400" dirty="0"/>
              <a:t>ｄ）について。</a:t>
            </a:r>
            <a:endParaRPr lang="en-US" altLang="ja-JP" sz="2400" dirty="0"/>
          </a:p>
          <a:p>
            <a:pPr lvl="1">
              <a:lnSpc>
                <a:spcPct val="100000"/>
              </a:lnSpc>
              <a:buFont typeface="Wingdings" panose="05000000000000000000" pitchFamily="2" charset="2"/>
              <a:buChar char="Ø"/>
            </a:pPr>
            <a:r>
              <a:rPr lang="en-US" altLang="ja-JP" dirty="0"/>
              <a:t>8D</a:t>
            </a:r>
            <a:r>
              <a:rPr lang="ja-JP" altLang="en-US" dirty="0"/>
              <a:t>レポートなど。</a:t>
            </a:r>
            <a:endParaRPr lang="en-US" altLang="ja-JP" dirty="0"/>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359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10.2.3</a:t>
            </a:r>
            <a:r>
              <a:rPr lang="ja-JP" altLang="en-US" sz="3000" b="1" dirty="0">
                <a:solidFill>
                  <a:schemeClr val="bg1"/>
                </a:solidFill>
              </a:rPr>
              <a:t>　問題解決</a:t>
            </a:r>
          </a:p>
        </p:txBody>
      </p:sp>
      <p:graphicFrame>
        <p:nvGraphicFramePr>
          <p:cNvPr id="3" name="表 2">
            <a:extLst>
              <a:ext uri="{FF2B5EF4-FFF2-40B4-BE49-F238E27FC236}">
                <a16:creationId xmlns:a16="http://schemas.microsoft.com/office/drawing/2014/main" id="{C532489A-BB22-41E8-A38E-80C981C60E55}"/>
              </a:ext>
            </a:extLst>
          </p:cNvPr>
          <p:cNvGraphicFramePr>
            <a:graphicFrameLocks noGrp="1"/>
          </p:cNvGraphicFramePr>
          <p:nvPr>
            <p:extLst>
              <p:ext uri="{D42A27DB-BD31-4B8C-83A1-F6EECF244321}">
                <p14:modId xmlns:p14="http://schemas.microsoft.com/office/powerpoint/2010/main" val="2437236586"/>
              </p:ext>
            </p:extLst>
          </p:nvPr>
        </p:nvGraphicFramePr>
        <p:xfrm>
          <a:off x="4186410" y="3558448"/>
          <a:ext cx="7167390" cy="2788371"/>
        </p:xfrm>
        <a:graphic>
          <a:graphicData uri="http://schemas.openxmlformats.org/drawingml/2006/table">
            <a:tbl>
              <a:tblPr firstRow="1" bandRow="1">
                <a:tableStyleId>{5940675A-B579-460E-94D1-54222C63F5DA}</a:tableStyleId>
              </a:tblPr>
              <a:tblGrid>
                <a:gridCol w="605927">
                  <a:extLst>
                    <a:ext uri="{9D8B030D-6E8A-4147-A177-3AD203B41FA5}">
                      <a16:colId xmlns:a16="http://schemas.microsoft.com/office/drawing/2014/main" val="3450806719"/>
                    </a:ext>
                  </a:extLst>
                </a:gridCol>
                <a:gridCol w="6561463">
                  <a:extLst>
                    <a:ext uri="{9D8B030D-6E8A-4147-A177-3AD203B41FA5}">
                      <a16:colId xmlns:a16="http://schemas.microsoft.com/office/drawing/2014/main" val="1720153986"/>
                    </a:ext>
                  </a:extLst>
                </a:gridCol>
              </a:tblGrid>
              <a:tr h="309819">
                <a:tc>
                  <a:txBody>
                    <a:bodyPr/>
                    <a:lstStyle/>
                    <a:p>
                      <a:pPr algn="ctr"/>
                      <a:r>
                        <a:rPr kumimoji="1" lang="ja-JP" altLang="en-US" sz="1400" dirty="0"/>
                        <a:t>０</a:t>
                      </a:r>
                    </a:p>
                  </a:txBody>
                  <a:tcPr>
                    <a:solidFill>
                      <a:schemeClr val="tx2">
                        <a:lumMod val="20000"/>
                        <a:lumOff val="80000"/>
                      </a:schemeClr>
                    </a:solidFill>
                  </a:tcPr>
                </a:tc>
                <a:tc>
                  <a:txBody>
                    <a:bodyPr/>
                    <a:lstStyle/>
                    <a:p>
                      <a:r>
                        <a:rPr kumimoji="1" lang="ja-JP" altLang="en-US" sz="1400" dirty="0"/>
                        <a:t>計画、前提条件、スケジュールの作成</a:t>
                      </a:r>
                    </a:p>
                  </a:txBody>
                  <a:tcPr>
                    <a:solidFill>
                      <a:schemeClr val="tx2">
                        <a:lumMod val="20000"/>
                        <a:lumOff val="80000"/>
                      </a:schemeClr>
                    </a:solidFill>
                  </a:tcPr>
                </a:tc>
                <a:extLst>
                  <a:ext uri="{0D108BD9-81ED-4DB2-BD59-A6C34878D82A}">
                    <a16:rowId xmlns:a16="http://schemas.microsoft.com/office/drawing/2014/main" val="581545890"/>
                  </a:ext>
                </a:extLst>
              </a:tr>
              <a:tr h="309819">
                <a:tc>
                  <a:txBody>
                    <a:bodyPr/>
                    <a:lstStyle/>
                    <a:p>
                      <a:pPr algn="ctr"/>
                      <a:r>
                        <a:rPr kumimoji="1" lang="ja-JP" altLang="en-US" sz="1400" dirty="0"/>
                        <a:t>１</a:t>
                      </a:r>
                    </a:p>
                  </a:txBody>
                  <a:tcPr>
                    <a:solidFill>
                      <a:schemeClr val="tx2">
                        <a:lumMod val="20000"/>
                        <a:lumOff val="80000"/>
                      </a:schemeClr>
                    </a:solidFill>
                  </a:tcPr>
                </a:tc>
                <a:tc>
                  <a:txBody>
                    <a:bodyPr/>
                    <a:lstStyle/>
                    <a:p>
                      <a:r>
                        <a:rPr kumimoji="1" lang="ja-JP" altLang="en-US" sz="1400" dirty="0"/>
                        <a:t>チーム編成</a:t>
                      </a:r>
                    </a:p>
                  </a:txBody>
                  <a:tcPr>
                    <a:solidFill>
                      <a:schemeClr val="tx2">
                        <a:lumMod val="20000"/>
                        <a:lumOff val="80000"/>
                      </a:schemeClr>
                    </a:solidFill>
                  </a:tcPr>
                </a:tc>
                <a:extLst>
                  <a:ext uri="{0D108BD9-81ED-4DB2-BD59-A6C34878D82A}">
                    <a16:rowId xmlns:a16="http://schemas.microsoft.com/office/drawing/2014/main" val="1651167623"/>
                  </a:ext>
                </a:extLst>
              </a:tr>
              <a:tr h="309819">
                <a:tc>
                  <a:txBody>
                    <a:bodyPr/>
                    <a:lstStyle/>
                    <a:p>
                      <a:pPr algn="ctr"/>
                      <a:r>
                        <a:rPr kumimoji="1" lang="ja-JP" altLang="en-US" sz="1400" dirty="0"/>
                        <a:t>２</a:t>
                      </a:r>
                    </a:p>
                  </a:txBody>
                  <a:tcPr>
                    <a:solidFill>
                      <a:schemeClr val="tx2">
                        <a:lumMod val="20000"/>
                        <a:lumOff val="80000"/>
                      </a:schemeClr>
                    </a:solidFill>
                  </a:tcPr>
                </a:tc>
                <a:tc>
                  <a:txBody>
                    <a:bodyPr/>
                    <a:lstStyle/>
                    <a:p>
                      <a:r>
                        <a:rPr kumimoji="1" lang="ja-JP" altLang="en-US" sz="1400" dirty="0"/>
                        <a:t>問題の客観的事実の詳述（</a:t>
                      </a:r>
                      <a:r>
                        <a:rPr kumimoji="1" lang="en-US" altLang="ja-JP" sz="1400" dirty="0"/>
                        <a:t>5W2H</a:t>
                      </a:r>
                      <a:r>
                        <a:rPr kumimoji="1" lang="ja-JP" altLang="en-US" sz="1400" dirty="0"/>
                        <a:t>／５</a:t>
                      </a:r>
                      <a:r>
                        <a:rPr kumimoji="1" lang="en-US" altLang="ja-JP" sz="1400" dirty="0"/>
                        <a:t>Why</a:t>
                      </a:r>
                      <a:r>
                        <a:rPr kumimoji="1" lang="ja-JP" altLang="en-US" sz="1400" dirty="0"/>
                        <a:t>などを用いて説明）</a:t>
                      </a:r>
                    </a:p>
                  </a:txBody>
                  <a:tcPr>
                    <a:solidFill>
                      <a:schemeClr val="tx2">
                        <a:lumMod val="20000"/>
                        <a:lumOff val="80000"/>
                      </a:schemeClr>
                    </a:solidFill>
                  </a:tcPr>
                </a:tc>
                <a:extLst>
                  <a:ext uri="{0D108BD9-81ED-4DB2-BD59-A6C34878D82A}">
                    <a16:rowId xmlns:a16="http://schemas.microsoft.com/office/drawing/2014/main" val="147024058"/>
                  </a:ext>
                </a:extLst>
              </a:tr>
              <a:tr h="309819">
                <a:tc>
                  <a:txBody>
                    <a:bodyPr/>
                    <a:lstStyle/>
                    <a:p>
                      <a:pPr algn="ctr"/>
                      <a:r>
                        <a:rPr kumimoji="1" lang="ja-JP" altLang="en-US" sz="1400" dirty="0"/>
                        <a:t>３</a:t>
                      </a:r>
                    </a:p>
                  </a:txBody>
                  <a:tcPr>
                    <a:solidFill>
                      <a:schemeClr val="tx2">
                        <a:lumMod val="20000"/>
                        <a:lumOff val="80000"/>
                      </a:schemeClr>
                    </a:solidFill>
                  </a:tcPr>
                </a:tc>
                <a:tc>
                  <a:txBody>
                    <a:bodyPr/>
                    <a:lstStyle/>
                    <a:p>
                      <a:r>
                        <a:rPr kumimoji="1" lang="ja-JP" altLang="en-US" sz="1400" dirty="0"/>
                        <a:t>修正、封じ込め（顧客への影響を最少にする応急処置）の実施</a:t>
                      </a:r>
                    </a:p>
                  </a:txBody>
                  <a:tcPr>
                    <a:solidFill>
                      <a:schemeClr val="tx2">
                        <a:lumMod val="20000"/>
                        <a:lumOff val="80000"/>
                      </a:schemeClr>
                    </a:solidFill>
                  </a:tcPr>
                </a:tc>
                <a:extLst>
                  <a:ext uri="{0D108BD9-81ED-4DB2-BD59-A6C34878D82A}">
                    <a16:rowId xmlns:a16="http://schemas.microsoft.com/office/drawing/2014/main" val="655632466"/>
                  </a:ext>
                </a:extLst>
              </a:tr>
              <a:tr h="309819">
                <a:tc>
                  <a:txBody>
                    <a:bodyPr/>
                    <a:lstStyle/>
                    <a:p>
                      <a:pPr algn="ctr"/>
                      <a:r>
                        <a:rPr kumimoji="1" lang="ja-JP" altLang="en-US" sz="1400" dirty="0"/>
                        <a:t>４</a:t>
                      </a:r>
                    </a:p>
                  </a:txBody>
                  <a:tcPr>
                    <a:solidFill>
                      <a:schemeClr val="tx2">
                        <a:lumMod val="20000"/>
                        <a:lumOff val="80000"/>
                      </a:schemeClr>
                    </a:solidFill>
                  </a:tcPr>
                </a:tc>
                <a:tc>
                  <a:txBody>
                    <a:bodyPr/>
                    <a:lstStyle/>
                    <a:p>
                      <a:r>
                        <a:rPr kumimoji="1" lang="ja-JP" altLang="en-US" sz="1400" dirty="0"/>
                        <a:t>根本原因の特定</a:t>
                      </a:r>
                    </a:p>
                  </a:txBody>
                  <a:tcPr>
                    <a:solidFill>
                      <a:schemeClr val="tx2">
                        <a:lumMod val="20000"/>
                        <a:lumOff val="80000"/>
                      </a:schemeClr>
                    </a:solidFill>
                  </a:tcPr>
                </a:tc>
                <a:extLst>
                  <a:ext uri="{0D108BD9-81ED-4DB2-BD59-A6C34878D82A}">
                    <a16:rowId xmlns:a16="http://schemas.microsoft.com/office/drawing/2014/main" val="238314642"/>
                  </a:ext>
                </a:extLst>
              </a:tr>
              <a:tr h="309819">
                <a:tc>
                  <a:txBody>
                    <a:bodyPr/>
                    <a:lstStyle/>
                    <a:p>
                      <a:pPr algn="ctr"/>
                      <a:r>
                        <a:rPr kumimoji="1" lang="ja-JP" altLang="en-US" sz="1400" dirty="0"/>
                        <a:t>５</a:t>
                      </a:r>
                    </a:p>
                  </a:txBody>
                  <a:tcPr>
                    <a:solidFill>
                      <a:schemeClr val="tx2">
                        <a:lumMod val="20000"/>
                        <a:lumOff val="80000"/>
                      </a:schemeClr>
                    </a:solidFill>
                  </a:tcPr>
                </a:tc>
                <a:tc>
                  <a:txBody>
                    <a:bodyPr/>
                    <a:lstStyle/>
                    <a:p>
                      <a:r>
                        <a:rPr kumimoji="1" lang="ja-JP" altLang="en-US" sz="1400" dirty="0"/>
                        <a:t>根本原因を除去する処置の決定（是正処置）</a:t>
                      </a:r>
                    </a:p>
                  </a:txBody>
                  <a:tcPr>
                    <a:solidFill>
                      <a:schemeClr val="tx2">
                        <a:lumMod val="20000"/>
                        <a:lumOff val="80000"/>
                      </a:schemeClr>
                    </a:solidFill>
                  </a:tcPr>
                </a:tc>
                <a:extLst>
                  <a:ext uri="{0D108BD9-81ED-4DB2-BD59-A6C34878D82A}">
                    <a16:rowId xmlns:a16="http://schemas.microsoft.com/office/drawing/2014/main" val="2369666588"/>
                  </a:ext>
                </a:extLst>
              </a:tr>
              <a:tr h="309819">
                <a:tc>
                  <a:txBody>
                    <a:bodyPr/>
                    <a:lstStyle/>
                    <a:p>
                      <a:pPr algn="ctr"/>
                      <a:r>
                        <a:rPr kumimoji="1" lang="ja-JP" altLang="en-US" sz="1400" dirty="0"/>
                        <a:t>６</a:t>
                      </a:r>
                    </a:p>
                  </a:txBody>
                  <a:tcPr>
                    <a:solidFill>
                      <a:schemeClr val="tx2">
                        <a:lumMod val="20000"/>
                        <a:lumOff val="80000"/>
                      </a:schemeClr>
                    </a:solidFill>
                  </a:tcPr>
                </a:tc>
                <a:tc>
                  <a:txBody>
                    <a:bodyPr/>
                    <a:lstStyle/>
                    <a:p>
                      <a:r>
                        <a:rPr kumimoji="1" lang="ja-JP" altLang="en-US" sz="1400" dirty="0"/>
                        <a:t>対策の実施</a:t>
                      </a:r>
                    </a:p>
                  </a:txBody>
                  <a:tcPr>
                    <a:solidFill>
                      <a:schemeClr val="tx2">
                        <a:lumMod val="20000"/>
                        <a:lumOff val="80000"/>
                      </a:schemeClr>
                    </a:solidFill>
                  </a:tcPr>
                </a:tc>
                <a:extLst>
                  <a:ext uri="{0D108BD9-81ED-4DB2-BD59-A6C34878D82A}">
                    <a16:rowId xmlns:a16="http://schemas.microsoft.com/office/drawing/2014/main" val="240415007"/>
                  </a:ext>
                </a:extLst>
              </a:tr>
              <a:tr h="309819">
                <a:tc>
                  <a:txBody>
                    <a:bodyPr/>
                    <a:lstStyle/>
                    <a:p>
                      <a:pPr algn="ctr"/>
                      <a:r>
                        <a:rPr kumimoji="1" lang="ja-JP" altLang="en-US" sz="1400" dirty="0"/>
                        <a:t>７</a:t>
                      </a:r>
                    </a:p>
                  </a:txBody>
                  <a:tcPr>
                    <a:solidFill>
                      <a:schemeClr val="tx2">
                        <a:lumMod val="20000"/>
                        <a:lumOff val="80000"/>
                      </a:schemeClr>
                    </a:solidFill>
                  </a:tcPr>
                </a:tc>
                <a:tc>
                  <a:txBody>
                    <a:bodyPr/>
                    <a:lstStyle/>
                    <a:p>
                      <a:r>
                        <a:rPr kumimoji="1" lang="ja-JP" altLang="en-US" sz="1400" dirty="0"/>
                        <a:t>適用した処置の標準化（文書化）</a:t>
                      </a:r>
                    </a:p>
                  </a:txBody>
                  <a:tcPr>
                    <a:solidFill>
                      <a:schemeClr val="tx2">
                        <a:lumMod val="20000"/>
                        <a:lumOff val="80000"/>
                      </a:schemeClr>
                    </a:solidFill>
                  </a:tcPr>
                </a:tc>
                <a:extLst>
                  <a:ext uri="{0D108BD9-81ED-4DB2-BD59-A6C34878D82A}">
                    <a16:rowId xmlns:a16="http://schemas.microsoft.com/office/drawing/2014/main" val="1031546015"/>
                  </a:ext>
                </a:extLst>
              </a:tr>
              <a:tr h="309819">
                <a:tc>
                  <a:txBody>
                    <a:bodyPr/>
                    <a:lstStyle/>
                    <a:p>
                      <a:pPr algn="ctr"/>
                      <a:r>
                        <a:rPr kumimoji="1" lang="ja-JP" altLang="en-US" sz="1400" dirty="0"/>
                        <a:t>８</a:t>
                      </a:r>
                    </a:p>
                  </a:txBody>
                  <a:tcPr>
                    <a:solidFill>
                      <a:schemeClr val="tx2">
                        <a:lumMod val="20000"/>
                        <a:lumOff val="80000"/>
                      </a:schemeClr>
                    </a:solidFill>
                  </a:tcPr>
                </a:tc>
                <a:tc>
                  <a:txBody>
                    <a:bodyPr/>
                    <a:lstStyle/>
                    <a:p>
                      <a:r>
                        <a:rPr kumimoji="1" lang="ja-JP" altLang="en-US" sz="1400" dirty="0"/>
                        <a:t>チームの貢献の明文化</a:t>
                      </a:r>
                    </a:p>
                  </a:txBody>
                  <a:tcPr>
                    <a:solidFill>
                      <a:schemeClr val="tx2">
                        <a:lumMod val="20000"/>
                        <a:lumOff val="80000"/>
                      </a:schemeClr>
                    </a:solidFill>
                  </a:tcPr>
                </a:tc>
                <a:extLst>
                  <a:ext uri="{0D108BD9-81ED-4DB2-BD59-A6C34878D82A}">
                    <a16:rowId xmlns:a16="http://schemas.microsoft.com/office/drawing/2014/main" val="511785996"/>
                  </a:ext>
                </a:extLst>
              </a:tr>
            </a:tbl>
          </a:graphicData>
        </a:graphic>
      </p:graphicFrame>
      <p:sp>
        <p:nvSpPr>
          <p:cNvPr id="6" name="矢印: 上向き折線 5">
            <a:extLst>
              <a:ext uri="{FF2B5EF4-FFF2-40B4-BE49-F238E27FC236}">
                <a16:creationId xmlns:a16="http://schemas.microsoft.com/office/drawing/2014/main" id="{A5219F2D-564A-4B8A-BE15-E740AB7EA315}"/>
              </a:ext>
            </a:extLst>
          </p:cNvPr>
          <p:cNvSpPr/>
          <p:nvPr/>
        </p:nvSpPr>
        <p:spPr>
          <a:xfrm rot="5400000">
            <a:off x="3054425" y="4536198"/>
            <a:ext cx="627962" cy="765672"/>
          </a:xfrm>
          <a:prstGeom prst="bentUpArrow">
            <a:avLst>
              <a:gd name="adj1" fmla="val 50000"/>
              <a:gd name="adj2" fmla="val 35638"/>
              <a:gd name="adj3" fmla="val 398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吹き出し: 角を丸めた四角形 1">
            <a:extLst>
              <a:ext uri="{FF2B5EF4-FFF2-40B4-BE49-F238E27FC236}">
                <a16:creationId xmlns:a16="http://schemas.microsoft.com/office/drawing/2014/main" id="{A0AC2ECA-DD32-4243-9A54-D947A6A7594D}"/>
              </a:ext>
            </a:extLst>
          </p:cNvPr>
          <p:cNvSpPr/>
          <p:nvPr/>
        </p:nvSpPr>
        <p:spPr>
          <a:xfrm>
            <a:off x="6959600" y="2616529"/>
            <a:ext cx="4394200" cy="932388"/>
          </a:xfrm>
          <a:prstGeom prst="wedgeRoundRectCallout">
            <a:avLst>
              <a:gd name="adj1" fmla="val 4264"/>
              <a:gd name="adj2" fmla="val -6911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是正処置の範囲内として考えてよいが、原因究明の甘さ、有効性検証の不備などは厳しく見直す必要あり。</a:t>
            </a:r>
          </a:p>
        </p:txBody>
      </p:sp>
    </p:spTree>
    <p:extLst>
      <p:ext uri="{BB962C8B-B14F-4D97-AF65-F5344CB8AC3E}">
        <p14:creationId xmlns:p14="http://schemas.microsoft.com/office/powerpoint/2010/main" val="2471327983"/>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77108"/>
            <a:ext cx="10515600" cy="4979242"/>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en-US" altLang="ja-JP" sz="2400" dirty="0"/>
              <a:t>QC</a:t>
            </a:r>
            <a:r>
              <a:rPr lang="ja-JP" altLang="en-US" sz="2400" dirty="0"/>
              <a:t>７つ道具と問題解決</a:t>
            </a: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r>
              <a:rPr lang="ja-JP" altLang="en-US" sz="1600" dirty="0"/>
              <a:t>◎：効果大　○：効果あり</a:t>
            </a:r>
            <a:endParaRPr lang="en-US" altLang="ja-JP" sz="1600" dirty="0"/>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10.2.3</a:t>
            </a:r>
            <a:r>
              <a:rPr lang="ja-JP" altLang="en-US" sz="3000" b="1" dirty="0">
                <a:solidFill>
                  <a:schemeClr val="bg1"/>
                </a:solidFill>
              </a:rPr>
              <a:t>　問題解決</a:t>
            </a:r>
          </a:p>
        </p:txBody>
      </p:sp>
      <p:graphicFrame>
        <p:nvGraphicFramePr>
          <p:cNvPr id="2" name="表 1">
            <a:extLst>
              <a:ext uri="{FF2B5EF4-FFF2-40B4-BE49-F238E27FC236}">
                <a16:creationId xmlns:a16="http://schemas.microsoft.com/office/drawing/2014/main" id="{4FB8AC2E-0CE3-48B5-B255-02B20CFA40FB}"/>
              </a:ext>
            </a:extLst>
          </p:cNvPr>
          <p:cNvGraphicFramePr>
            <a:graphicFrameLocks noGrp="1"/>
          </p:cNvGraphicFramePr>
          <p:nvPr>
            <p:extLst>
              <p:ext uri="{D42A27DB-BD31-4B8C-83A1-F6EECF244321}">
                <p14:modId xmlns:p14="http://schemas.microsoft.com/office/powerpoint/2010/main" val="4234955772"/>
              </p:ext>
            </p:extLst>
          </p:nvPr>
        </p:nvGraphicFramePr>
        <p:xfrm>
          <a:off x="838199" y="1843386"/>
          <a:ext cx="10515600" cy="4028607"/>
        </p:xfrm>
        <a:graphic>
          <a:graphicData uri="http://schemas.openxmlformats.org/drawingml/2006/table">
            <a:tbl>
              <a:tblPr firstRow="1" bandRow="1">
                <a:tableStyleId>{5940675A-B579-460E-94D1-54222C63F5DA}</a:tableStyleId>
              </a:tblPr>
              <a:tblGrid>
                <a:gridCol w="2768601">
                  <a:extLst>
                    <a:ext uri="{9D8B030D-6E8A-4147-A177-3AD203B41FA5}">
                      <a16:colId xmlns:a16="http://schemas.microsoft.com/office/drawing/2014/main" val="3713429841"/>
                    </a:ext>
                  </a:extLst>
                </a:gridCol>
                <a:gridCol w="1981200">
                  <a:extLst>
                    <a:ext uri="{9D8B030D-6E8A-4147-A177-3AD203B41FA5}">
                      <a16:colId xmlns:a16="http://schemas.microsoft.com/office/drawing/2014/main" val="796100275"/>
                    </a:ext>
                  </a:extLst>
                </a:gridCol>
                <a:gridCol w="1960880">
                  <a:extLst>
                    <a:ext uri="{9D8B030D-6E8A-4147-A177-3AD203B41FA5}">
                      <a16:colId xmlns:a16="http://schemas.microsoft.com/office/drawing/2014/main" val="1629120873"/>
                    </a:ext>
                  </a:extLst>
                </a:gridCol>
                <a:gridCol w="1930400">
                  <a:extLst>
                    <a:ext uri="{9D8B030D-6E8A-4147-A177-3AD203B41FA5}">
                      <a16:colId xmlns:a16="http://schemas.microsoft.com/office/drawing/2014/main" val="2099828927"/>
                    </a:ext>
                  </a:extLst>
                </a:gridCol>
                <a:gridCol w="1874519">
                  <a:extLst>
                    <a:ext uri="{9D8B030D-6E8A-4147-A177-3AD203B41FA5}">
                      <a16:colId xmlns:a16="http://schemas.microsoft.com/office/drawing/2014/main" val="1195019727"/>
                    </a:ext>
                  </a:extLst>
                </a:gridCol>
              </a:tblGrid>
              <a:tr h="447623">
                <a:tc>
                  <a:txBody>
                    <a:bodyPr/>
                    <a:lstStyle/>
                    <a:p>
                      <a:pPr algn="ctr"/>
                      <a:endParaRPr kumimoji="1" lang="ja-JP" altLang="en-US" sz="2000" dirty="0"/>
                    </a:p>
                  </a:txBody>
                  <a:tcPr anchor="ctr">
                    <a:solidFill>
                      <a:schemeClr val="tx2">
                        <a:lumMod val="20000"/>
                        <a:lumOff val="80000"/>
                      </a:schemeClr>
                    </a:solidFill>
                  </a:tcPr>
                </a:tc>
                <a:tc>
                  <a:txBody>
                    <a:bodyPr/>
                    <a:lstStyle/>
                    <a:p>
                      <a:pPr algn="ctr"/>
                      <a:r>
                        <a:rPr kumimoji="1" lang="ja-JP" altLang="en-US" sz="2000" dirty="0"/>
                        <a:t>現状分析</a:t>
                      </a:r>
                    </a:p>
                  </a:txBody>
                  <a:tcPr anchor="ctr">
                    <a:solidFill>
                      <a:schemeClr val="tx2">
                        <a:lumMod val="20000"/>
                        <a:lumOff val="80000"/>
                      </a:schemeClr>
                    </a:solidFill>
                  </a:tcPr>
                </a:tc>
                <a:tc>
                  <a:txBody>
                    <a:bodyPr/>
                    <a:lstStyle/>
                    <a:p>
                      <a:pPr algn="ctr"/>
                      <a:r>
                        <a:rPr kumimoji="1" lang="ja-JP" altLang="en-US" sz="2000" dirty="0"/>
                        <a:t>原因調査</a:t>
                      </a:r>
                    </a:p>
                  </a:txBody>
                  <a:tcPr anchor="ctr">
                    <a:solidFill>
                      <a:schemeClr val="tx2">
                        <a:lumMod val="20000"/>
                        <a:lumOff val="80000"/>
                      </a:schemeClr>
                    </a:solidFill>
                  </a:tcPr>
                </a:tc>
                <a:tc>
                  <a:txBody>
                    <a:bodyPr/>
                    <a:lstStyle/>
                    <a:p>
                      <a:pPr algn="ctr"/>
                      <a:r>
                        <a:rPr kumimoji="1" lang="ja-JP" altLang="en-US" sz="2000" dirty="0"/>
                        <a:t>対策案作成</a:t>
                      </a:r>
                    </a:p>
                  </a:txBody>
                  <a:tcPr anchor="ctr">
                    <a:solidFill>
                      <a:schemeClr val="tx2">
                        <a:lumMod val="20000"/>
                        <a:lumOff val="80000"/>
                      </a:schemeClr>
                    </a:solidFill>
                  </a:tcPr>
                </a:tc>
                <a:tc>
                  <a:txBody>
                    <a:bodyPr/>
                    <a:lstStyle/>
                    <a:p>
                      <a:pPr algn="ctr"/>
                      <a:r>
                        <a:rPr kumimoji="1" lang="ja-JP" altLang="en-US" sz="2000" dirty="0"/>
                        <a:t>効果の確認</a:t>
                      </a:r>
                    </a:p>
                  </a:txBody>
                  <a:tcPr anchor="ctr">
                    <a:solidFill>
                      <a:schemeClr val="tx2">
                        <a:lumMod val="20000"/>
                        <a:lumOff val="80000"/>
                      </a:schemeClr>
                    </a:solidFill>
                  </a:tcPr>
                </a:tc>
                <a:extLst>
                  <a:ext uri="{0D108BD9-81ED-4DB2-BD59-A6C34878D82A}">
                    <a16:rowId xmlns:a16="http://schemas.microsoft.com/office/drawing/2014/main" val="2430537761"/>
                  </a:ext>
                </a:extLst>
              </a:tr>
              <a:tr h="447623">
                <a:tc>
                  <a:txBody>
                    <a:bodyPr/>
                    <a:lstStyle/>
                    <a:p>
                      <a:pPr algn="ctr"/>
                      <a:r>
                        <a:rPr kumimoji="1" lang="ja-JP" altLang="en-US" sz="2000" dirty="0"/>
                        <a:t>グラフ</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4172984278"/>
                  </a:ext>
                </a:extLst>
              </a:tr>
              <a:tr h="447623">
                <a:tc>
                  <a:txBody>
                    <a:bodyPr/>
                    <a:lstStyle/>
                    <a:p>
                      <a:pPr algn="ctr"/>
                      <a:r>
                        <a:rPr kumimoji="1" lang="ja-JP" altLang="en-US" sz="2000" dirty="0"/>
                        <a:t>ヒストグラム</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3057685524"/>
                  </a:ext>
                </a:extLst>
              </a:tr>
              <a:tr h="447623">
                <a:tc>
                  <a:txBody>
                    <a:bodyPr/>
                    <a:lstStyle/>
                    <a:p>
                      <a:pPr algn="ctr"/>
                      <a:r>
                        <a:rPr kumimoji="1" lang="ja-JP" altLang="en-US" sz="2000" dirty="0"/>
                        <a:t>パレート図</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extLst>
                  <a:ext uri="{0D108BD9-81ED-4DB2-BD59-A6C34878D82A}">
                    <a16:rowId xmlns:a16="http://schemas.microsoft.com/office/drawing/2014/main" val="1846314686"/>
                  </a:ext>
                </a:extLst>
              </a:tr>
              <a:tr h="447623">
                <a:tc>
                  <a:txBody>
                    <a:bodyPr/>
                    <a:lstStyle/>
                    <a:p>
                      <a:pPr algn="ctr"/>
                      <a:r>
                        <a:rPr kumimoji="1" lang="ja-JP" altLang="en-US" sz="2000" dirty="0"/>
                        <a:t>特性要因図</a:t>
                      </a:r>
                    </a:p>
                  </a:txBody>
                  <a:tcPr anchor="ctr">
                    <a:solidFill>
                      <a:schemeClr val="tx2">
                        <a:lumMod val="20000"/>
                        <a:lumOff val="80000"/>
                      </a:schemeClr>
                    </a:solidFill>
                  </a:tcPr>
                </a:tc>
                <a:tc>
                  <a:txBody>
                    <a:bodyPr/>
                    <a:lstStyle/>
                    <a:p>
                      <a:pPr algn="ctr"/>
                      <a:endParaRPr kumimoji="1" lang="ja-JP" altLang="en-US" sz="2000"/>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tc>
                  <a:txBody>
                    <a:bodyPr/>
                    <a:lstStyle/>
                    <a:p>
                      <a:pPr algn="ctr"/>
                      <a:endParaRPr kumimoji="1" lang="ja-JP" altLang="en-US" sz="2000" dirty="0"/>
                    </a:p>
                  </a:txBody>
                  <a:tcPr anchor="ctr"/>
                </a:tc>
                <a:extLst>
                  <a:ext uri="{0D108BD9-81ED-4DB2-BD59-A6C34878D82A}">
                    <a16:rowId xmlns:a16="http://schemas.microsoft.com/office/drawing/2014/main" val="2684329650"/>
                  </a:ext>
                </a:extLst>
              </a:tr>
              <a:tr h="447623">
                <a:tc>
                  <a:txBody>
                    <a:bodyPr/>
                    <a:lstStyle/>
                    <a:p>
                      <a:pPr algn="ctr"/>
                      <a:r>
                        <a:rPr kumimoji="1" lang="ja-JP" altLang="en-US" sz="2000" dirty="0"/>
                        <a:t>チェックシート</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1606721038"/>
                  </a:ext>
                </a:extLst>
              </a:tr>
              <a:tr h="447623">
                <a:tc>
                  <a:txBody>
                    <a:bodyPr/>
                    <a:lstStyle/>
                    <a:p>
                      <a:pPr algn="ctr"/>
                      <a:r>
                        <a:rPr kumimoji="1" lang="ja-JP" altLang="en-US" sz="2000" dirty="0"/>
                        <a:t>層別</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1340502898"/>
                  </a:ext>
                </a:extLst>
              </a:tr>
              <a:tr h="447623">
                <a:tc>
                  <a:txBody>
                    <a:bodyPr/>
                    <a:lstStyle/>
                    <a:p>
                      <a:pPr algn="ctr"/>
                      <a:r>
                        <a:rPr kumimoji="1" lang="ja-JP" altLang="en-US" sz="2000" dirty="0"/>
                        <a:t>散布図</a:t>
                      </a:r>
                    </a:p>
                  </a:txBody>
                  <a:tcPr anchor="ctr">
                    <a:solidFill>
                      <a:schemeClr val="tx2">
                        <a:lumMod val="20000"/>
                        <a:lumOff val="80000"/>
                      </a:schemeClr>
                    </a:solidFill>
                  </a:tcPr>
                </a:tc>
                <a:tc>
                  <a:txBody>
                    <a:bodyPr/>
                    <a:lstStyle/>
                    <a:p>
                      <a:pPr algn="ctr"/>
                      <a:endParaRPr kumimoji="1" lang="ja-JP" altLang="en-US" sz="2000"/>
                    </a:p>
                  </a:txBody>
                  <a:tcPr anchor="ct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extLst>
                  <a:ext uri="{0D108BD9-81ED-4DB2-BD59-A6C34878D82A}">
                    <a16:rowId xmlns:a16="http://schemas.microsoft.com/office/drawing/2014/main" val="2671073336"/>
                  </a:ext>
                </a:extLst>
              </a:tr>
              <a:tr h="447623">
                <a:tc>
                  <a:txBody>
                    <a:bodyPr/>
                    <a:lstStyle/>
                    <a:p>
                      <a:pPr algn="ctr"/>
                      <a:r>
                        <a:rPr kumimoji="1" lang="ja-JP" altLang="en-US" sz="2000" dirty="0"/>
                        <a:t>管理図</a:t>
                      </a:r>
                    </a:p>
                  </a:txBody>
                  <a:tcPr anchor="ctr">
                    <a:solidFill>
                      <a:schemeClr val="tx2">
                        <a:lumMod val="20000"/>
                        <a:lumOff val="80000"/>
                      </a:schemeClr>
                    </a:solidFill>
                  </a:tcPr>
                </a:tc>
                <a:tc>
                  <a:txBody>
                    <a:bodyPr/>
                    <a:lstStyle/>
                    <a:p>
                      <a:pPr algn="ctr"/>
                      <a:r>
                        <a:rPr kumimoji="1" lang="ja-JP" altLang="en-US" sz="2000" dirty="0"/>
                        <a:t>◎</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tc>
                  <a:txBody>
                    <a:bodyPr/>
                    <a:lstStyle/>
                    <a:p>
                      <a:pPr algn="ctr"/>
                      <a:r>
                        <a:rPr kumimoji="1" lang="ja-JP" altLang="en-US" sz="2000" dirty="0"/>
                        <a:t>◎</a:t>
                      </a:r>
                    </a:p>
                  </a:txBody>
                  <a:tcPr anchor="ctr"/>
                </a:tc>
                <a:extLst>
                  <a:ext uri="{0D108BD9-81ED-4DB2-BD59-A6C34878D82A}">
                    <a16:rowId xmlns:a16="http://schemas.microsoft.com/office/drawing/2014/main" val="1509001236"/>
                  </a:ext>
                </a:extLst>
              </a:tr>
            </a:tbl>
          </a:graphicData>
        </a:graphic>
      </p:graphicFrame>
    </p:spTree>
    <p:extLst>
      <p:ext uri="{BB962C8B-B14F-4D97-AF65-F5344CB8AC3E}">
        <p14:creationId xmlns:p14="http://schemas.microsoft.com/office/powerpoint/2010/main" val="488032297"/>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361</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☑組織は、適切なポカヨケ手法の活用について決定する</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☑採用された手法の詳細は、</a:t>
            </a:r>
            <a:r>
              <a:rPr lang="ja-JP" altLang="en-US" sz="2000" u="sng" dirty="0"/>
              <a:t>プロセスリスク分析（</a:t>
            </a:r>
            <a:r>
              <a:rPr lang="en-US" altLang="ja-JP" sz="2000" u="sng" dirty="0"/>
              <a:t>PFMEA</a:t>
            </a:r>
            <a:r>
              <a:rPr lang="ja-JP" altLang="en-US" sz="2000" u="sng" dirty="0"/>
              <a:t>のような）に</a:t>
            </a:r>
            <a:r>
              <a:rPr lang="ja-JP" altLang="en-US" sz="2000" b="1" u="sng" dirty="0"/>
              <a:t>文書化</a:t>
            </a:r>
            <a:r>
              <a:rPr lang="ja-JP" altLang="en-US" sz="2000" u="sng" dirty="0"/>
              <a:t>し、試験頻度はコントロールプランに</a:t>
            </a:r>
            <a:r>
              <a:rPr lang="ja-JP" altLang="en-US" sz="2000" b="1" u="sng" dirty="0"/>
              <a:t>文書化</a:t>
            </a:r>
            <a:r>
              <a:rPr lang="ja-JP" altLang="en-US" sz="2000" u="sng" dirty="0"/>
              <a:t>しなければならない。</a:t>
            </a:r>
            <a:endParaRPr lang="en-US" altLang="ja-JP" sz="2000" u="sng" dirty="0"/>
          </a:p>
          <a:p>
            <a:pPr marL="0" indent="0">
              <a:lnSpc>
                <a:spcPct val="100000"/>
              </a:lnSpc>
              <a:buNone/>
            </a:pPr>
            <a:r>
              <a:rPr lang="ja-JP" altLang="en-US" sz="2000" dirty="0"/>
              <a:t>☑そのプロセスには、ポカヨケ装置の故障又は模擬故障の</a:t>
            </a:r>
            <a:r>
              <a:rPr lang="ja-JP" altLang="en-US" sz="2000" u="sng" dirty="0"/>
              <a:t>テストを含めなければならない。</a:t>
            </a:r>
            <a:endParaRPr lang="en-US" altLang="ja-JP" sz="2000" u="sng" dirty="0"/>
          </a:p>
          <a:p>
            <a:pPr marL="0" indent="0">
              <a:lnSpc>
                <a:spcPct val="100000"/>
              </a:lnSpc>
              <a:buNone/>
            </a:pPr>
            <a:r>
              <a:rPr lang="ja-JP" altLang="en-US" sz="2000" dirty="0"/>
              <a:t>☑記録は維持しなければならない。</a:t>
            </a:r>
            <a:endParaRPr lang="en-US" altLang="ja-JP" sz="2000" dirty="0"/>
          </a:p>
          <a:p>
            <a:pPr marL="0" indent="0">
              <a:lnSpc>
                <a:spcPct val="100000"/>
              </a:lnSpc>
              <a:buNone/>
            </a:pPr>
            <a:r>
              <a:rPr lang="ja-JP" altLang="en-US" sz="2000" dirty="0"/>
              <a:t>☑</a:t>
            </a:r>
            <a:r>
              <a:rPr lang="ja-JP" altLang="en-US" sz="2000" u="sng" dirty="0"/>
              <a:t>チャレンジ部品が使用される場合、実現可能であれば、識別し、管理し、検証し、及び校正しなければならない。</a:t>
            </a:r>
            <a:endParaRPr lang="en-US" altLang="ja-JP" sz="2000" u="sng" dirty="0"/>
          </a:p>
          <a:p>
            <a:pPr marL="0" indent="0">
              <a:lnSpc>
                <a:spcPct val="100000"/>
              </a:lnSpc>
              <a:buNone/>
            </a:pPr>
            <a:r>
              <a:rPr lang="ja-JP" altLang="en-US" sz="2000" dirty="0"/>
              <a:t>☑ポカヨケ装置の故障には、対応計画をもたなければならない。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10.2.4</a:t>
            </a:r>
            <a:r>
              <a:rPr kumimoji="1" lang="ja-JP" altLang="en-US" sz="3000" b="1" dirty="0">
                <a:solidFill>
                  <a:schemeClr val="tx2"/>
                </a:solidFill>
              </a:rPr>
              <a:t>　ポカヨケ</a:t>
            </a:r>
          </a:p>
        </p:txBody>
      </p:sp>
    </p:spTree>
    <p:extLst>
      <p:ext uri="{BB962C8B-B14F-4D97-AF65-F5344CB8AC3E}">
        <p14:creationId xmlns:p14="http://schemas.microsoft.com/office/powerpoint/2010/main" val="624649526"/>
      </p:ext>
    </p:extLst>
  </p:cSld>
  <p:clrMapOvr>
    <a:masterClrMapping/>
  </p:clrMapOvr>
  <p:timing>
    <p:tnLst>
      <p:par>
        <p:cTn id="1" dur="indefinite" restart="never" nodeType="tmRoot"/>
      </p:par>
    </p:tn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lnSpc>
                <a:spcPct val="100000"/>
              </a:lnSpc>
              <a:buFont typeface="+mj-lt"/>
              <a:buAutoNum type="arabicPeriod"/>
            </a:pPr>
            <a:r>
              <a:rPr lang="ja-JP" altLang="en-US" sz="2400" dirty="0"/>
              <a:t>ポカヨケの重要性。</a:t>
            </a:r>
            <a:endParaRPr lang="en-US" altLang="ja-JP" sz="2400" dirty="0"/>
          </a:p>
          <a:p>
            <a:pPr lvl="1">
              <a:lnSpc>
                <a:spcPct val="100000"/>
              </a:lnSpc>
              <a:buFont typeface="Wingdings" panose="05000000000000000000" pitchFamily="2" charset="2"/>
              <a:buChar char="Ø"/>
            </a:pPr>
            <a:r>
              <a:rPr lang="ja-JP" altLang="en-US" sz="2200" dirty="0"/>
              <a:t>人為的ミスを「０」にすることはできない。</a:t>
            </a:r>
            <a:endParaRPr lang="en-US" altLang="ja-JP" sz="2200" dirty="0"/>
          </a:p>
          <a:p>
            <a:pPr lvl="1">
              <a:lnSpc>
                <a:spcPct val="100000"/>
              </a:lnSpc>
              <a:buFont typeface="Wingdings" panose="05000000000000000000" pitchFamily="2" charset="2"/>
              <a:buChar char="Ø"/>
            </a:pPr>
            <a:r>
              <a:rPr lang="ja-JP" altLang="en-US" sz="2200" dirty="0"/>
              <a:t>顧客への影響は「０」にできる。（しなければならない。）</a:t>
            </a:r>
            <a:endParaRPr lang="en-US" altLang="ja-JP" sz="2200" dirty="0"/>
          </a:p>
          <a:p>
            <a:pPr lvl="1">
              <a:lnSpc>
                <a:spcPct val="100000"/>
              </a:lnSpc>
              <a:buFont typeface="Wingdings" panose="05000000000000000000" pitchFamily="2" charset="2"/>
              <a:buChar char="Ø"/>
            </a:pPr>
            <a:r>
              <a:rPr lang="ja-JP" altLang="en-US" sz="2200" dirty="0"/>
              <a:t>この矛盾を補うことが「ポカヨケ」である。</a:t>
            </a:r>
            <a:endParaRPr lang="en-US" altLang="ja-JP" sz="2200" dirty="0"/>
          </a:p>
          <a:p>
            <a:pPr lvl="1">
              <a:lnSpc>
                <a:spcPct val="100000"/>
              </a:lnSpc>
              <a:buFont typeface="Wingdings" panose="05000000000000000000" pitchFamily="2" charset="2"/>
              <a:buChar char="Ø"/>
            </a:pPr>
            <a:r>
              <a:rPr lang="ja-JP" altLang="en-US" sz="2200" dirty="0"/>
              <a:t>人為的ミスに対する是正処置は「教育訓練の徹底」ではない。</a:t>
            </a:r>
            <a:endParaRPr lang="en-US" altLang="ja-JP" sz="2200" dirty="0"/>
          </a:p>
          <a:p>
            <a:pPr lvl="1">
              <a:lnSpc>
                <a:spcPct val="100000"/>
              </a:lnSpc>
              <a:buFont typeface="Wingdings" panose="05000000000000000000" pitchFamily="2" charset="2"/>
              <a:buChar char="Ø"/>
            </a:pPr>
            <a:r>
              <a:rPr lang="ja-JP" altLang="en-US" sz="2200" dirty="0"/>
              <a:t>ポカヨケは</a:t>
            </a:r>
            <a:r>
              <a:rPr lang="ja-JP" altLang="en-US" sz="2200" dirty="0">
                <a:solidFill>
                  <a:srgbClr val="FF0000"/>
                </a:solidFill>
                <a:effectLst>
                  <a:outerShdw blurRad="38100" dist="38100" dir="2700000" algn="tl">
                    <a:srgbClr val="000000">
                      <a:alpha val="43137"/>
                    </a:srgbClr>
                  </a:outerShdw>
                </a:effectLst>
              </a:rPr>
              <a:t>「不具合検出」のためではなく「不具合予防」のため</a:t>
            </a:r>
            <a:r>
              <a:rPr lang="ja-JP" altLang="en-US" sz="2200" dirty="0"/>
              <a:t>に使う。</a:t>
            </a:r>
            <a:endParaRPr lang="en-US" altLang="ja-JP" sz="2200" dirty="0"/>
          </a:p>
          <a:p>
            <a:pPr marL="457200" indent="-457200">
              <a:lnSpc>
                <a:spcPct val="100000"/>
              </a:lnSpc>
              <a:buFont typeface="+mj-lt"/>
              <a:buAutoNum type="arabicPeriod"/>
            </a:pPr>
            <a:r>
              <a:rPr lang="ja-JP" altLang="en-US" sz="2400" dirty="0"/>
              <a:t>ポカヨケの文書化と運用。</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10.2.4</a:t>
            </a:r>
            <a:r>
              <a:rPr lang="ja-JP" altLang="en-US" sz="3000" b="1" dirty="0">
                <a:solidFill>
                  <a:schemeClr val="bg1"/>
                </a:solidFill>
              </a:rPr>
              <a:t>　ポカヨケ</a:t>
            </a:r>
          </a:p>
        </p:txBody>
      </p:sp>
      <p:graphicFrame>
        <p:nvGraphicFramePr>
          <p:cNvPr id="2" name="表 1">
            <a:extLst>
              <a:ext uri="{FF2B5EF4-FFF2-40B4-BE49-F238E27FC236}">
                <a16:creationId xmlns:a16="http://schemas.microsoft.com/office/drawing/2014/main" id="{7467ABB0-5FC8-4431-B729-44A6FFD825FD}"/>
              </a:ext>
            </a:extLst>
          </p:cNvPr>
          <p:cNvGraphicFramePr>
            <a:graphicFrameLocks noGrp="1"/>
          </p:cNvGraphicFramePr>
          <p:nvPr>
            <p:extLst>
              <p:ext uri="{D42A27DB-BD31-4B8C-83A1-F6EECF244321}">
                <p14:modId xmlns:p14="http://schemas.microsoft.com/office/powerpoint/2010/main" val="64708862"/>
              </p:ext>
            </p:extLst>
          </p:nvPr>
        </p:nvGraphicFramePr>
        <p:xfrm>
          <a:off x="1257758" y="4263336"/>
          <a:ext cx="9230300" cy="853440"/>
        </p:xfrm>
        <a:graphic>
          <a:graphicData uri="http://schemas.openxmlformats.org/drawingml/2006/table">
            <a:tbl>
              <a:tblPr firstRow="1" bandRow="1">
                <a:tableStyleId>{5940675A-B579-460E-94D1-54222C63F5DA}</a:tableStyleId>
              </a:tblPr>
              <a:tblGrid>
                <a:gridCol w="4615150">
                  <a:extLst>
                    <a:ext uri="{9D8B030D-6E8A-4147-A177-3AD203B41FA5}">
                      <a16:colId xmlns:a16="http://schemas.microsoft.com/office/drawing/2014/main" val="4008958744"/>
                    </a:ext>
                  </a:extLst>
                </a:gridCol>
                <a:gridCol w="4615150">
                  <a:extLst>
                    <a:ext uri="{9D8B030D-6E8A-4147-A177-3AD203B41FA5}">
                      <a16:colId xmlns:a16="http://schemas.microsoft.com/office/drawing/2014/main" val="2512237345"/>
                    </a:ext>
                  </a:extLst>
                </a:gridCol>
              </a:tblGrid>
              <a:tr h="370840">
                <a:tc>
                  <a:txBody>
                    <a:bodyPr/>
                    <a:lstStyle/>
                    <a:p>
                      <a:r>
                        <a:rPr kumimoji="1" lang="ja-JP" altLang="en-US" sz="2200" dirty="0"/>
                        <a:t>ポカヨケの可能性・必要性</a:t>
                      </a:r>
                    </a:p>
                  </a:txBody>
                  <a:tcPr>
                    <a:solidFill>
                      <a:schemeClr val="tx2">
                        <a:lumMod val="20000"/>
                        <a:lumOff val="80000"/>
                      </a:schemeClr>
                    </a:solidFill>
                  </a:tcPr>
                </a:tc>
                <a:tc>
                  <a:txBody>
                    <a:bodyPr/>
                    <a:lstStyle/>
                    <a:p>
                      <a:r>
                        <a:rPr kumimoji="1" lang="ja-JP" altLang="en-US" sz="2200" dirty="0"/>
                        <a:t>工程</a:t>
                      </a:r>
                      <a:r>
                        <a:rPr kumimoji="1" lang="en-US" altLang="ja-JP" sz="2200" dirty="0"/>
                        <a:t>FMEA</a:t>
                      </a:r>
                      <a:endParaRPr kumimoji="1" lang="ja-JP" altLang="en-US" sz="2200" dirty="0"/>
                    </a:p>
                  </a:txBody>
                  <a:tcPr>
                    <a:solidFill>
                      <a:schemeClr val="tx2">
                        <a:lumMod val="20000"/>
                        <a:lumOff val="80000"/>
                      </a:schemeClr>
                    </a:solidFill>
                  </a:tcPr>
                </a:tc>
                <a:extLst>
                  <a:ext uri="{0D108BD9-81ED-4DB2-BD59-A6C34878D82A}">
                    <a16:rowId xmlns:a16="http://schemas.microsoft.com/office/drawing/2014/main" val="3571466526"/>
                  </a:ext>
                </a:extLst>
              </a:tr>
              <a:tr h="370840">
                <a:tc>
                  <a:txBody>
                    <a:bodyPr/>
                    <a:lstStyle/>
                    <a:p>
                      <a:r>
                        <a:rPr kumimoji="1" lang="ja-JP" altLang="en-US" sz="2200" dirty="0"/>
                        <a:t>ポカヨケの運用・試験</a:t>
                      </a:r>
                    </a:p>
                  </a:txBody>
                  <a:tcPr>
                    <a:solidFill>
                      <a:schemeClr val="tx2">
                        <a:lumMod val="20000"/>
                        <a:lumOff val="80000"/>
                      </a:schemeClr>
                    </a:solidFill>
                  </a:tcPr>
                </a:tc>
                <a:tc>
                  <a:txBody>
                    <a:bodyPr/>
                    <a:lstStyle/>
                    <a:p>
                      <a:r>
                        <a:rPr kumimoji="1" lang="ja-JP" altLang="en-US" sz="2200" dirty="0"/>
                        <a:t>コントロールプラン／試験記録</a:t>
                      </a:r>
                    </a:p>
                  </a:txBody>
                  <a:tcPr>
                    <a:solidFill>
                      <a:schemeClr val="tx2">
                        <a:lumMod val="20000"/>
                        <a:lumOff val="80000"/>
                      </a:schemeClr>
                    </a:solidFill>
                  </a:tcPr>
                </a:tc>
                <a:extLst>
                  <a:ext uri="{0D108BD9-81ED-4DB2-BD59-A6C34878D82A}">
                    <a16:rowId xmlns:a16="http://schemas.microsoft.com/office/drawing/2014/main" val="3562879481"/>
                  </a:ext>
                </a:extLst>
              </a:tr>
            </a:tbl>
          </a:graphicData>
        </a:graphic>
      </p:graphicFrame>
      <p:sp>
        <p:nvSpPr>
          <p:cNvPr id="3" name="矢印: 上向き折線 2">
            <a:extLst>
              <a:ext uri="{FF2B5EF4-FFF2-40B4-BE49-F238E27FC236}">
                <a16:creationId xmlns:a16="http://schemas.microsoft.com/office/drawing/2014/main" id="{55B94CA2-1D5A-4C0E-B6E9-71B6ED21171C}"/>
              </a:ext>
            </a:extLst>
          </p:cNvPr>
          <p:cNvSpPr/>
          <p:nvPr/>
        </p:nvSpPr>
        <p:spPr>
          <a:xfrm rot="5400000">
            <a:off x="2022104" y="5238521"/>
            <a:ext cx="605928" cy="550843"/>
          </a:xfrm>
          <a:prstGeom prst="bentUpArrow">
            <a:avLst>
              <a:gd name="adj1" fmla="val 37297"/>
              <a:gd name="adj2" fmla="val 41620"/>
              <a:gd name="adj3" fmla="val 342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566B5A6D-6D93-4E21-8C5F-2A37EA311F1D}"/>
              </a:ext>
            </a:extLst>
          </p:cNvPr>
          <p:cNvSpPr/>
          <p:nvPr/>
        </p:nvSpPr>
        <p:spPr>
          <a:xfrm>
            <a:off x="2760133" y="5210978"/>
            <a:ext cx="5943192" cy="1013552"/>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solidFill>
                  <a:schemeClr val="tx1"/>
                </a:solidFill>
              </a:rPr>
              <a:t>コントロールプランへの文書化必須</a:t>
            </a:r>
            <a:endParaRPr kumimoji="1" lang="en-US" altLang="ja-JP" sz="2200" dirty="0">
              <a:solidFill>
                <a:schemeClr val="tx1"/>
              </a:solidFill>
            </a:endParaRPr>
          </a:p>
          <a:p>
            <a:pPr algn="ctr"/>
            <a:r>
              <a:rPr lang="ja-JP" altLang="en-US" sz="2200" dirty="0">
                <a:solidFill>
                  <a:schemeClr val="tx1"/>
                </a:solidFill>
              </a:rPr>
              <a:t>（適切に機能することのテストを含め）</a:t>
            </a:r>
            <a:endParaRPr kumimoji="1" lang="ja-JP" altLang="en-US" sz="2200" dirty="0">
              <a:solidFill>
                <a:schemeClr val="tx1"/>
              </a:solidFill>
            </a:endParaRPr>
          </a:p>
        </p:txBody>
      </p:sp>
    </p:spTree>
    <p:extLst>
      <p:ext uri="{BB962C8B-B14F-4D97-AF65-F5344CB8AC3E}">
        <p14:creationId xmlns:p14="http://schemas.microsoft.com/office/powerpoint/2010/main" val="3853613580"/>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定義。</a:t>
            </a: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r>
              <a:rPr lang="ja-JP" altLang="en-US" sz="2400" dirty="0"/>
              <a:t>ポカヨケの事例。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10.2.4</a:t>
            </a:r>
            <a:r>
              <a:rPr lang="ja-JP" altLang="en-US" sz="3000" b="1" dirty="0">
                <a:solidFill>
                  <a:schemeClr val="bg1"/>
                </a:solidFill>
              </a:rPr>
              <a:t>　ポカヨケ</a:t>
            </a:r>
          </a:p>
        </p:txBody>
      </p:sp>
      <p:graphicFrame>
        <p:nvGraphicFramePr>
          <p:cNvPr id="8" name="表 7">
            <a:extLst>
              <a:ext uri="{FF2B5EF4-FFF2-40B4-BE49-F238E27FC236}">
                <a16:creationId xmlns:a16="http://schemas.microsoft.com/office/drawing/2014/main" id="{024E3BC5-9302-4171-9973-9C248F3D2C53}"/>
              </a:ext>
            </a:extLst>
          </p:cNvPr>
          <p:cNvGraphicFramePr>
            <a:graphicFrameLocks noGrp="1"/>
          </p:cNvGraphicFramePr>
          <p:nvPr>
            <p:extLst>
              <p:ext uri="{D42A27DB-BD31-4B8C-83A1-F6EECF244321}">
                <p14:modId xmlns:p14="http://schemas.microsoft.com/office/powerpoint/2010/main" val="1739083138"/>
              </p:ext>
            </p:extLst>
          </p:nvPr>
        </p:nvGraphicFramePr>
        <p:xfrm>
          <a:off x="838200" y="1806767"/>
          <a:ext cx="10515600" cy="1506801"/>
        </p:xfrm>
        <a:graphic>
          <a:graphicData uri="http://schemas.openxmlformats.org/drawingml/2006/table">
            <a:tbl>
              <a:tblPr firstRow="1" bandRow="1">
                <a:tableStyleId>{5940675A-B579-460E-94D1-54222C63F5DA}</a:tableStyleId>
              </a:tblPr>
              <a:tblGrid>
                <a:gridCol w="1905001">
                  <a:extLst>
                    <a:ext uri="{9D8B030D-6E8A-4147-A177-3AD203B41FA5}">
                      <a16:colId xmlns:a16="http://schemas.microsoft.com/office/drawing/2014/main" val="114413052"/>
                    </a:ext>
                  </a:extLst>
                </a:gridCol>
                <a:gridCol w="8610599">
                  <a:extLst>
                    <a:ext uri="{9D8B030D-6E8A-4147-A177-3AD203B41FA5}">
                      <a16:colId xmlns:a16="http://schemas.microsoft.com/office/drawing/2014/main" val="4078837079"/>
                    </a:ext>
                  </a:extLst>
                </a:gridCol>
              </a:tblGrid>
              <a:tr h="455241">
                <a:tc>
                  <a:txBody>
                    <a:bodyPr/>
                    <a:lstStyle/>
                    <a:p>
                      <a:r>
                        <a:rPr kumimoji="1" lang="ja-JP" altLang="en-US" sz="2100" dirty="0"/>
                        <a:t>ポカヨケ</a:t>
                      </a:r>
                    </a:p>
                  </a:txBody>
                  <a:tcPr>
                    <a:solidFill>
                      <a:schemeClr val="tx2">
                        <a:lumMod val="20000"/>
                        <a:lumOff val="80000"/>
                      </a:schemeClr>
                    </a:solidFill>
                  </a:tcPr>
                </a:tc>
                <a:tc>
                  <a:txBody>
                    <a:bodyPr/>
                    <a:lstStyle/>
                    <a:p>
                      <a:r>
                        <a:rPr kumimoji="1" lang="ja-JP" altLang="en-US" sz="2100" dirty="0"/>
                        <a:t>不適合製品の製造を</a:t>
                      </a:r>
                      <a:r>
                        <a:rPr kumimoji="1" lang="ja-JP" altLang="en-US" sz="2100" dirty="0">
                          <a:solidFill>
                            <a:srgbClr val="FF0000"/>
                          </a:solidFill>
                          <a:effectLst>
                            <a:outerShdw blurRad="38100" dist="38100" dir="2700000" algn="tl">
                              <a:srgbClr val="000000">
                                <a:alpha val="43137"/>
                              </a:srgbClr>
                            </a:outerShdw>
                          </a:effectLst>
                        </a:rPr>
                        <a:t>予防</a:t>
                      </a:r>
                      <a:r>
                        <a:rPr kumimoji="1" lang="ja-JP" altLang="en-US" sz="2100" dirty="0"/>
                        <a:t>するための、製品及び製造工程の設計。</a:t>
                      </a:r>
                    </a:p>
                  </a:txBody>
                  <a:tcPr>
                    <a:solidFill>
                      <a:schemeClr val="tx2">
                        <a:lumMod val="20000"/>
                        <a:lumOff val="80000"/>
                      </a:schemeClr>
                    </a:solidFill>
                  </a:tcPr>
                </a:tc>
                <a:extLst>
                  <a:ext uri="{0D108BD9-81ED-4DB2-BD59-A6C34878D82A}">
                    <a16:rowId xmlns:a16="http://schemas.microsoft.com/office/drawing/2014/main" val="1001872556"/>
                  </a:ext>
                </a:extLst>
              </a:tr>
              <a:tr h="751283">
                <a:tc>
                  <a:txBody>
                    <a:bodyPr/>
                    <a:lstStyle/>
                    <a:p>
                      <a:r>
                        <a:rPr kumimoji="1" lang="ja-JP" altLang="en-US" sz="2100" dirty="0"/>
                        <a:t>チャレンジ部品</a:t>
                      </a:r>
                    </a:p>
                  </a:txBody>
                  <a:tcPr>
                    <a:solidFill>
                      <a:schemeClr val="tx2">
                        <a:lumMod val="20000"/>
                        <a:lumOff val="80000"/>
                      </a:schemeClr>
                    </a:solidFill>
                  </a:tcPr>
                </a:tc>
                <a:tc>
                  <a:txBody>
                    <a:bodyPr/>
                    <a:lstStyle/>
                    <a:p>
                      <a:r>
                        <a:rPr kumimoji="1" lang="ja-JP" altLang="en-US" sz="2100" dirty="0"/>
                        <a:t>ポカヨケ装置の機能又は点検治具、マスターなどの妥当性確認に使用する、既知の仕様・校正された標準にトレースされた、期待された結果を持つ部品</a:t>
                      </a:r>
                    </a:p>
                  </a:txBody>
                  <a:tcPr>
                    <a:solidFill>
                      <a:schemeClr val="tx2">
                        <a:lumMod val="20000"/>
                        <a:lumOff val="80000"/>
                      </a:schemeClr>
                    </a:solidFill>
                  </a:tcPr>
                </a:tc>
                <a:extLst>
                  <a:ext uri="{0D108BD9-81ED-4DB2-BD59-A6C34878D82A}">
                    <a16:rowId xmlns:a16="http://schemas.microsoft.com/office/drawing/2014/main" val="2953624915"/>
                  </a:ext>
                </a:extLst>
              </a:tr>
            </a:tbl>
          </a:graphicData>
        </a:graphic>
      </p:graphicFrame>
      <p:graphicFrame>
        <p:nvGraphicFramePr>
          <p:cNvPr id="3" name="表 2">
            <a:extLst>
              <a:ext uri="{FF2B5EF4-FFF2-40B4-BE49-F238E27FC236}">
                <a16:creationId xmlns:a16="http://schemas.microsoft.com/office/drawing/2014/main" id="{520A1EDD-7135-40C7-9598-34989F7E87B5}"/>
              </a:ext>
            </a:extLst>
          </p:cNvPr>
          <p:cNvGraphicFramePr>
            <a:graphicFrameLocks noGrp="1"/>
          </p:cNvGraphicFramePr>
          <p:nvPr>
            <p:extLst>
              <p:ext uri="{D42A27DB-BD31-4B8C-83A1-F6EECF244321}">
                <p14:modId xmlns:p14="http://schemas.microsoft.com/office/powerpoint/2010/main" val="2803023523"/>
              </p:ext>
            </p:extLst>
          </p:nvPr>
        </p:nvGraphicFramePr>
        <p:xfrm>
          <a:off x="838199" y="3776276"/>
          <a:ext cx="10515600" cy="260604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735656239"/>
                    </a:ext>
                  </a:extLst>
                </a:gridCol>
                <a:gridCol w="5257800">
                  <a:extLst>
                    <a:ext uri="{9D8B030D-6E8A-4147-A177-3AD203B41FA5}">
                      <a16:colId xmlns:a16="http://schemas.microsoft.com/office/drawing/2014/main" val="3219222966"/>
                    </a:ext>
                  </a:extLst>
                </a:gridCol>
              </a:tblGrid>
              <a:tr h="399884">
                <a:tc>
                  <a:txBody>
                    <a:bodyPr/>
                    <a:lstStyle/>
                    <a:p>
                      <a:pPr algn="ctr"/>
                      <a:r>
                        <a:rPr kumimoji="1" lang="ja-JP" altLang="en-US" sz="2100" dirty="0"/>
                        <a:t>注意式ポカヨケ</a:t>
                      </a:r>
                    </a:p>
                  </a:txBody>
                  <a:tcPr>
                    <a:solidFill>
                      <a:schemeClr val="tx2">
                        <a:lumMod val="20000"/>
                        <a:lumOff val="80000"/>
                      </a:schemeClr>
                    </a:solidFill>
                  </a:tcPr>
                </a:tc>
                <a:tc>
                  <a:txBody>
                    <a:bodyPr/>
                    <a:lstStyle/>
                    <a:p>
                      <a:pPr algn="ctr"/>
                      <a:r>
                        <a:rPr kumimoji="1" lang="ja-JP" altLang="en-US" sz="2100" dirty="0"/>
                        <a:t>強制式ポカヨケ</a:t>
                      </a:r>
                    </a:p>
                  </a:txBody>
                  <a:tcPr>
                    <a:solidFill>
                      <a:schemeClr val="tx2">
                        <a:lumMod val="20000"/>
                        <a:lumOff val="80000"/>
                      </a:schemeClr>
                    </a:solidFill>
                  </a:tcPr>
                </a:tc>
                <a:extLst>
                  <a:ext uri="{0D108BD9-81ED-4DB2-BD59-A6C34878D82A}">
                    <a16:rowId xmlns:a16="http://schemas.microsoft.com/office/drawing/2014/main" val="572171822"/>
                  </a:ext>
                </a:extLst>
              </a:tr>
              <a:tr h="690211">
                <a:tc>
                  <a:txBody>
                    <a:bodyPr/>
                    <a:lstStyle/>
                    <a:p>
                      <a:r>
                        <a:rPr kumimoji="1" lang="ja-JP" altLang="en-US" sz="2100" dirty="0"/>
                        <a:t>自動車のライトをつけたままでエンジンを止めると警告音が鳴る。</a:t>
                      </a:r>
                    </a:p>
                  </a:txBody>
                  <a:tcPr/>
                </a:tc>
                <a:tc>
                  <a:txBody>
                    <a:bodyPr/>
                    <a:lstStyle/>
                    <a:p>
                      <a:r>
                        <a:rPr kumimoji="1" lang="ja-JP" altLang="en-US" sz="2100" dirty="0"/>
                        <a:t>車のライトをつけたままでエンジンを止めると自動的にライトが消える。</a:t>
                      </a:r>
                    </a:p>
                  </a:txBody>
                  <a:tcPr/>
                </a:tc>
                <a:extLst>
                  <a:ext uri="{0D108BD9-81ED-4DB2-BD59-A6C34878D82A}">
                    <a16:rowId xmlns:a16="http://schemas.microsoft.com/office/drawing/2014/main" val="2767611842"/>
                  </a:ext>
                </a:extLst>
              </a:tr>
              <a:tr h="399884">
                <a:tc>
                  <a:txBody>
                    <a:bodyPr/>
                    <a:lstStyle/>
                    <a:p>
                      <a:r>
                        <a:rPr kumimoji="1" lang="ja-JP" altLang="en-US" sz="2100" dirty="0"/>
                        <a:t>外観検査の基準に限度見本を準備する。</a:t>
                      </a:r>
                    </a:p>
                  </a:txBody>
                  <a:tcPr/>
                </a:tc>
                <a:tc>
                  <a:txBody>
                    <a:bodyPr/>
                    <a:lstStyle/>
                    <a:p>
                      <a:r>
                        <a:rPr kumimoji="1" lang="ja-JP" altLang="en-US" sz="2100" dirty="0"/>
                        <a:t>外観検査を目視検査から画像処理装置に変える。</a:t>
                      </a:r>
                    </a:p>
                  </a:txBody>
                  <a:tcPr/>
                </a:tc>
                <a:extLst>
                  <a:ext uri="{0D108BD9-81ED-4DB2-BD59-A6C34878D82A}">
                    <a16:rowId xmlns:a16="http://schemas.microsoft.com/office/drawing/2014/main" val="3831680244"/>
                  </a:ext>
                </a:extLst>
              </a:tr>
              <a:tr h="690211">
                <a:tc>
                  <a:txBody>
                    <a:bodyPr/>
                    <a:lstStyle/>
                    <a:p>
                      <a:r>
                        <a:rPr kumimoji="1" lang="ja-JP" altLang="en-US" sz="2100" dirty="0"/>
                        <a:t>機械の条件入力結果（数値）が視認できるようにモニターに表示する。</a:t>
                      </a:r>
                    </a:p>
                  </a:txBody>
                  <a:tcPr/>
                </a:tc>
                <a:tc>
                  <a:txBody>
                    <a:bodyPr/>
                    <a:lstStyle/>
                    <a:p>
                      <a:r>
                        <a:rPr kumimoji="1" lang="ja-JP" altLang="en-US" sz="2100" dirty="0"/>
                        <a:t>あり得ない機械の条件入力がされるとモニターからアラームが発生する。</a:t>
                      </a:r>
                    </a:p>
                  </a:txBody>
                  <a:tcPr/>
                </a:tc>
                <a:extLst>
                  <a:ext uri="{0D108BD9-81ED-4DB2-BD59-A6C34878D82A}">
                    <a16:rowId xmlns:a16="http://schemas.microsoft.com/office/drawing/2014/main" val="947903655"/>
                  </a:ext>
                </a:extLst>
              </a:tr>
            </a:tbl>
          </a:graphicData>
        </a:graphic>
      </p:graphicFrame>
    </p:spTree>
    <p:extLst>
      <p:ext uri="{BB962C8B-B14F-4D97-AF65-F5344CB8AC3E}">
        <p14:creationId xmlns:p14="http://schemas.microsoft.com/office/powerpoint/2010/main" val="4061716489"/>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364</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77108"/>
            <a:ext cx="10515600" cy="2214391"/>
          </a:xfrm>
          <a:ln w="12700">
            <a:solidFill>
              <a:schemeClr val="tx2"/>
            </a:solidFill>
          </a:ln>
        </p:spPr>
        <p:txBody>
          <a:bodyPr>
            <a:normAutofit/>
          </a:bodyPr>
          <a:lstStyle/>
          <a:p>
            <a:pPr marL="0" indent="0">
              <a:lnSpc>
                <a:spcPct val="100000"/>
              </a:lnSpc>
              <a:buNone/>
            </a:pPr>
            <a:r>
              <a:rPr lang="ja-JP" altLang="en-US" sz="2000" dirty="0"/>
              <a:t>☑組織の</a:t>
            </a:r>
            <a:r>
              <a:rPr lang="ja-JP" altLang="en-US" sz="2000" u="sng" dirty="0"/>
              <a:t>製品に対して補償を要求される場合</a:t>
            </a:r>
            <a:r>
              <a:rPr lang="ja-JP" altLang="en-US" sz="2000" dirty="0"/>
              <a:t>、組織は、補償管理プロセスを実施しなければならない。</a:t>
            </a:r>
            <a:endParaRPr lang="en-US" altLang="ja-JP" sz="2000" dirty="0"/>
          </a:p>
          <a:p>
            <a:pPr marL="0" indent="0">
              <a:lnSpc>
                <a:spcPct val="100000"/>
              </a:lnSpc>
              <a:buNone/>
            </a:pPr>
            <a:r>
              <a:rPr lang="ja-JP" altLang="en-US" sz="2000" dirty="0"/>
              <a:t>☑組織は、</a:t>
            </a:r>
            <a:r>
              <a:rPr lang="en-US" altLang="ja-JP" sz="2000" dirty="0"/>
              <a:t>NTF</a:t>
            </a:r>
            <a:r>
              <a:rPr lang="ja-JP" altLang="en-US" sz="2000" dirty="0"/>
              <a:t>（</a:t>
            </a:r>
            <a:r>
              <a:rPr lang="en-US" altLang="ja-JP" sz="2000" dirty="0"/>
              <a:t>no trouble found</a:t>
            </a:r>
            <a:r>
              <a:rPr lang="ja-JP" altLang="en-US" sz="2000" dirty="0"/>
              <a:t>）を含めて、そのプロセスに補償部品分析の方法を含めなければならない。</a:t>
            </a:r>
            <a:endParaRPr lang="en-US" altLang="ja-JP" sz="2000" dirty="0"/>
          </a:p>
          <a:p>
            <a:pPr marL="0" indent="0">
              <a:lnSpc>
                <a:spcPct val="100000"/>
              </a:lnSpc>
              <a:buNone/>
            </a:pPr>
            <a:r>
              <a:rPr lang="ja-JP" altLang="en-US" sz="2000" dirty="0"/>
              <a:t>☑顧客に規定されている場合、組織は、その要求される補償管理プロセスを実施しなければならない。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10.2.5</a:t>
            </a:r>
            <a:r>
              <a:rPr kumimoji="1" lang="ja-JP" altLang="en-US" sz="3000" b="1" dirty="0">
                <a:solidFill>
                  <a:schemeClr val="tx2"/>
                </a:solidFill>
              </a:rPr>
              <a:t>　補償管理システム</a:t>
            </a:r>
          </a:p>
        </p:txBody>
      </p:sp>
      <p:sp>
        <p:nvSpPr>
          <p:cNvPr id="6" name="タイトル 1">
            <a:extLst>
              <a:ext uri="{FF2B5EF4-FFF2-40B4-BE49-F238E27FC236}">
                <a16:creationId xmlns:a16="http://schemas.microsoft.com/office/drawing/2014/main" id="{543EBA4C-BBB5-49D9-A5EC-D498F9706B2B}"/>
              </a:ext>
            </a:extLst>
          </p:cNvPr>
          <p:cNvSpPr txBox="1">
            <a:spLocks/>
          </p:cNvSpPr>
          <p:nvPr/>
        </p:nvSpPr>
        <p:spPr>
          <a:xfrm>
            <a:off x="838200" y="3756369"/>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10.2.5</a:t>
            </a:r>
            <a:r>
              <a:rPr lang="ja-JP" altLang="en-US" sz="3000" b="1" dirty="0">
                <a:solidFill>
                  <a:schemeClr val="bg1"/>
                </a:solidFill>
              </a:rPr>
              <a:t>　補償管理システム</a:t>
            </a:r>
          </a:p>
        </p:txBody>
      </p:sp>
      <p:sp>
        <p:nvSpPr>
          <p:cNvPr id="7" name="コンテンツ プレースホルダー 2">
            <a:extLst>
              <a:ext uri="{FF2B5EF4-FFF2-40B4-BE49-F238E27FC236}">
                <a16:creationId xmlns:a16="http://schemas.microsoft.com/office/drawing/2014/main" id="{D55C4781-4F27-4F9E-8FEE-42438BADBA86}"/>
              </a:ext>
            </a:extLst>
          </p:cNvPr>
          <p:cNvSpPr txBox="1">
            <a:spLocks/>
          </p:cNvSpPr>
          <p:nvPr/>
        </p:nvSpPr>
        <p:spPr>
          <a:xfrm>
            <a:off x="838200" y="4713383"/>
            <a:ext cx="10515600" cy="1642967"/>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補償期間における無償修理等については、</a:t>
            </a:r>
            <a:r>
              <a:rPr lang="en-US" altLang="ja-JP" sz="2400" dirty="0"/>
              <a:t>OEM</a:t>
            </a:r>
            <a:r>
              <a:rPr lang="ja-JP" altLang="en-US" sz="2400" dirty="0"/>
              <a:t>が</a:t>
            </a:r>
            <a:r>
              <a:rPr lang="en-US" altLang="ja-JP" sz="2400" dirty="0"/>
              <a:t>Tier1</a:t>
            </a:r>
            <a:r>
              <a:rPr lang="ja-JP" altLang="en-US" sz="2400" dirty="0"/>
              <a:t>へ補償要求し、それ以降は顧客が供給者（組織）へ補償要求に関して個別要求する。</a:t>
            </a:r>
            <a:endParaRPr lang="en-US" altLang="ja-JP" sz="2400" dirty="0"/>
          </a:p>
          <a:p>
            <a:pPr marL="457200" indent="-457200">
              <a:lnSpc>
                <a:spcPct val="100000"/>
              </a:lnSpc>
              <a:buFont typeface="+mj-lt"/>
              <a:buAutoNum type="arabicPeriod"/>
            </a:pPr>
            <a:r>
              <a:rPr lang="en-US" altLang="ja-JP" sz="2400" dirty="0"/>
              <a:t>NTF</a:t>
            </a:r>
            <a:r>
              <a:rPr lang="ja-JP" altLang="en-US" sz="2400" dirty="0"/>
              <a:t>（ユーザーで生じた現象が再現しない）の場合に</a:t>
            </a:r>
            <a:r>
              <a:rPr lang="ja-JP" altLang="en-US" sz="2400" dirty="0">
                <a:solidFill>
                  <a:srgbClr val="FF0000"/>
                </a:solidFill>
                <a:effectLst>
                  <a:outerShdw blurRad="38100" dist="38100" dir="2700000" algn="tl">
                    <a:srgbClr val="000000">
                      <a:alpha val="43137"/>
                    </a:srgbClr>
                  </a:outerShdw>
                </a:effectLst>
              </a:rPr>
              <a:t>正当性を立証する</a:t>
            </a:r>
            <a:r>
              <a:rPr lang="ja-JP" altLang="en-US" sz="2400" dirty="0"/>
              <a:t>技術的な分析手順などを決めておく。</a:t>
            </a:r>
            <a:endParaRPr lang="en-US" altLang="ja-JP" sz="2400" dirty="0"/>
          </a:p>
        </p:txBody>
      </p:sp>
    </p:spTree>
    <p:extLst>
      <p:ext uri="{BB962C8B-B14F-4D97-AF65-F5344CB8AC3E}">
        <p14:creationId xmlns:p14="http://schemas.microsoft.com/office/powerpoint/2010/main" val="2555524779"/>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365</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388125"/>
            <a:ext cx="10515600" cy="2467779"/>
          </a:xfrm>
          <a:ln w="12700">
            <a:solidFill>
              <a:schemeClr val="tx2"/>
            </a:solidFill>
          </a:ln>
        </p:spPr>
        <p:txBody>
          <a:bodyPr>
            <a:normAutofit/>
          </a:bodyPr>
          <a:lstStyle/>
          <a:p>
            <a:pPr marL="0" indent="0">
              <a:lnSpc>
                <a:spcPct val="100000"/>
              </a:lnSpc>
              <a:buNone/>
            </a:pPr>
            <a:r>
              <a:rPr lang="ja-JP" altLang="en-US" sz="2000" dirty="0"/>
              <a:t>☑組織は、</a:t>
            </a:r>
            <a:r>
              <a:rPr lang="ja-JP" altLang="en-US" sz="2000" u="sng" dirty="0"/>
              <a:t>顧客苦情及び市場不具合に対して、回収された部品を含めて、分析しなければならない。</a:t>
            </a:r>
            <a:endParaRPr lang="en-US" altLang="ja-JP" sz="2000" u="sng" dirty="0"/>
          </a:p>
          <a:p>
            <a:pPr marL="0" indent="0">
              <a:lnSpc>
                <a:spcPct val="100000"/>
              </a:lnSpc>
              <a:buNone/>
            </a:pPr>
            <a:r>
              <a:rPr lang="ja-JP" altLang="en-US" sz="2000" dirty="0"/>
              <a:t>☑そして、再発防止のために問題解決及び</a:t>
            </a:r>
            <a:r>
              <a:rPr lang="ja-JP" altLang="en-US" sz="2000" u="sng" dirty="0"/>
              <a:t>是正処置を開始しなければならない。</a:t>
            </a:r>
            <a:endParaRPr lang="en-US" altLang="ja-JP" sz="2000" u="sng" dirty="0"/>
          </a:p>
          <a:p>
            <a:pPr marL="0" indent="0">
              <a:lnSpc>
                <a:spcPct val="100000"/>
              </a:lnSpc>
              <a:buNone/>
            </a:pPr>
            <a:r>
              <a:rPr lang="ja-JP" altLang="en-US" sz="2000" dirty="0"/>
              <a:t>☑顧客に要求された場合は、これには、</a:t>
            </a:r>
            <a:r>
              <a:rPr lang="ja-JP" altLang="en-US" sz="2000" u="sng" dirty="0"/>
              <a:t>顧客の最終製品内での、組織の製品の組込みソフトウェアの相互作用の分析</a:t>
            </a:r>
            <a:r>
              <a:rPr lang="ja-JP" altLang="en-US" sz="2000" dirty="0"/>
              <a:t>を含めなければならない。</a:t>
            </a:r>
            <a:endParaRPr lang="en-US" altLang="ja-JP" sz="2000" dirty="0"/>
          </a:p>
          <a:p>
            <a:pPr marL="0" indent="0">
              <a:lnSpc>
                <a:spcPct val="100000"/>
              </a:lnSpc>
              <a:buNone/>
            </a:pPr>
            <a:r>
              <a:rPr lang="ja-JP" altLang="en-US" sz="2000" dirty="0"/>
              <a:t>☑組織は、試験／分析の結果を、顧客及び組織内にも伝達しなければならない。</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10.2.6</a:t>
            </a:r>
            <a:r>
              <a:rPr kumimoji="1" lang="ja-JP" altLang="en-US" sz="3000" b="1" dirty="0">
                <a:solidFill>
                  <a:schemeClr val="tx2"/>
                </a:solidFill>
              </a:rPr>
              <a:t>　顧客苦情及び市場不具合の試験・分析</a:t>
            </a:r>
          </a:p>
        </p:txBody>
      </p:sp>
      <p:sp>
        <p:nvSpPr>
          <p:cNvPr id="6" name="タイトル 1">
            <a:extLst>
              <a:ext uri="{FF2B5EF4-FFF2-40B4-BE49-F238E27FC236}">
                <a16:creationId xmlns:a16="http://schemas.microsoft.com/office/drawing/2014/main" id="{B5E68E31-985E-461A-AAB5-5C0CD3CA2571}"/>
              </a:ext>
            </a:extLst>
          </p:cNvPr>
          <p:cNvSpPr txBox="1">
            <a:spLocks/>
          </p:cNvSpPr>
          <p:nvPr/>
        </p:nvSpPr>
        <p:spPr>
          <a:xfrm>
            <a:off x="838200" y="4024829"/>
            <a:ext cx="10515600" cy="854074"/>
          </a:xfrm>
          <a:prstGeom prst="rect">
            <a:avLst/>
          </a:prstGeom>
          <a:solidFill>
            <a:schemeClr val="tx2"/>
          </a:solidFill>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000" b="1" dirty="0">
                <a:solidFill>
                  <a:schemeClr val="bg1"/>
                </a:solidFill>
              </a:rPr>
              <a:t>10.2.6</a:t>
            </a:r>
            <a:r>
              <a:rPr lang="ja-JP" altLang="en-US" sz="3000" b="1" dirty="0">
                <a:solidFill>
                  <a:schemeClr val="bg1"/>
                </a:solidFill>
              </a:rPr>
              <a:t>　顧客苦情及び市場不具合の試験・分析</a:t>
            </a:r>
          </a:p>
        </p:txBody>
      </p:sp>
      <p:sp>
        <p:nvSpPr>
          <p:cNvPr id="7" name="コンテンツ プレースホルダー 2">
            <a:extLst>
              <a:ext uri="{FF2B5EF4-FFF2-40B4-BE49-F238E27FC236}">
                <a16:creationId xmlns:a16="http://schemas.microsoft.com/office/drawing/2014/main" id="{C3A84D70-BB33-48C5-B7A6-69DAC52BCAED}"/>
              </a:ext>
            </a:extLst>
          </p:cNvPr>
          <p:cNvSpPr txBox="1">
            <a:spLocks/>
          </p:cNvSpPr>
          <p:nvPr/>
        </p:nvSpPr>
        <p:spPr>
          <a:xfrm>
            <a:off x="838200" y="4957591"/>
            <a:ext cx="10515600" cy="1398760"/>
          </a:xfrm>
          <a:prstGeom prst="rect">
            <a:avLst/>
          </a:prstGeom>
          <a:ln w="12700">
            <a:solidFill>
              <a:schemeClr val="tx2"/>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10.2</a:t>
            </a:r>
            <a:r>
              <a:rPr lang="ja-JP" altLang="en-US" sz="2400" dirty="0"/>
              <a:t>（是正処置）、</a:t>
            </a:r>
            <a:r>
              <a:rPr lang="en-US" altLang="ja-JP" sz="2400" dirty="0"/>
              <a:t>10.2.3</a:t>
            </a:r>
            <a:r>
              <a:rPr lang="ja-JP" altLang="en-US" sz="2400" dirty="0"/>
              <a:t>（問題解決）を行うきっかけの一つとして苦情及び市場不具合部品がある。</a:t>
            </a:r>
            <a:endParaRPr lang="en-US" altLang="ja-JP" sz="2400" dirty="0"/>
          </a:p>
          <a:p>
            <a:pPr>
              <a:lnSpc>
                <a:spcPct val="100000"/>
              </a:lnSpc>
              <a:buFont typeface="Wingdings" panose="05000000000000000000" pitchFamily="2" charset="2"/>
              <a:buChar char="ü"/>
            </a:pPr>
            <a:r>
              <a:rPr lang="ja-JP" altLang="en-US" sz="2200" dirty="0"/>
              <a:t>日本の場合、市場不具合に対する販売者及びメーカーの責任は慣習的だが、契約社会の欧米は異なる。　➠　</a:t>
            </a:r>
            <a:r>
              <a:rPr lang="en-US" altLang="ja-JP" sz="2200" dirty="0"/>
              <a:t>IATF</a:t>
            </a:r>
            <a:r>
              <a:rPr lang="ja-JP" altLang="en-US" sz="2200" dirty="0"/>
              <a:t>規格にて要求する。</a:t>
            </a:r>
            <a:endParaRPr lang="en-US" altLang="ja-JP" sz="2200" dirty="0"/>
          </a:p>
        </p:txBody>
      </p:sp>
    </p:spTree>
    <p:extLst>
      <p:ext uri="{BB962C8B-B14F-4D97-AF65-F5344CB8AC3E}">
        <p14:creationId xmlns:p14="http://schemas.microsoft.com/office/powerpoint/2010/main" val="262897959"/>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366</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832350"/>
          </a:xfrm>
          <a:ln w="12700">
            <a:solidFill>
              <a:schemeClr val="tx2"/>
            </a:solidFill>
          </a:ln>
        </p:spPr>
        <p:txBody>
          <a:bodyPr>
            <a:normAutofit/>
          </a:bodyPr>
          <a:lstStyle/>
          <a:p>
            <a:pPr marL="0" indent="0">
              <a:lnSpc>
                <a:spcPct val="100000"/>
              </a:lnSpc>
              <a:buNone/>
            </a:pPr>
            <a:r>
              <a:rPr lang="ja-JP" altLang="en-US" sz="2000" dirty="0"/>
              <a:t>☑組織は、継続的改善の</a:t>
            </a:r>
            <a:r>
              <a:rPr lang="ja-JP" altLang="en-US" sz="2000" b="1" dirty="0"/>
              <a:t>文書化したプロセス</a:t>
            </a:r>
            <a:r>
              <a:rPr lang="ja-JP" altLang="en-US" sz="2000" dirty="0"/>
              <a:t>をもたなければならない。</a:t>
            </a:r>
            <a:endParaRPr lang="en-US" altLang="ja-JP" sz="2000" dirty="0"/>
          </a:p>
          <a:p>
            <a:pPr marL="0" indent="0">
              <a:lnSpc>
                <a:spcPct val="100000"/>
              </a:lnSpc>
              <a:buNone/>
            </a:pPr>
            <a:r>
              <a:rPr lang="ja-JP" altLang="en-US" sz="2000" dirty="0"/>
              <a:t>☑組織は、このプロセスに次の事項を含めなければならない。</a:t>
            </a:r>
            <a:endParaRPr lang="en-US" altLang="ja-JP" sz="2000" dirty="0"/>
          </a:p>
          <a:p>
            <a:pPr marL="800100" lvl="1" indent="-342900">
              <a:lnSpc>
                <a:spcPct val="100000"/>
              </a:lnSpc>
              <a:buFont typeface="+mj-lt"/>
              <a:buAutoNum type="alphaLcPeriod"/>
            </a:pPr>
            <a:r>
              <a:rPr lang="ja-JP" altLang="en-US" sz="2000" dirty="0"/>
              <a:t>使用される方法論、目標、評価指標、有効性及び文書化した情報の明確化</a:t>
            </a:r>
            <a:endParaRPr lang="en-US" altLang="ja-JP" sz="2000" dirty="0"/>
          </a:p>
          <a:p>
            <a:pPr marL="800100" lvl="1" indent="-342900">
              <a:lnSpc>
                <a:spcPct val="100000"/>
              </a:lnSpc>
              <a:buFont typeface="+mj-lt"/>
              <a:buAutoNum type="alphaLcPeriod"/>
            </a:pPr>
            <a:r>
              <a:rPr lang="ja-JP" altLang="en-US" sz="2000" dirty="0"/>
              <a:t>工程ばらつき及び無駄の削減に重点を置いた、製造工程の改善計画</a:t>
            </a:r>
            <a:endParaRPr lang="en-US" altLang="ja-JP" sz="2000" dirty="0"/>
          </a:p>
          <a:p>
            <a:pPr marL="800100" lvl="1" indent="-342900">
              <a:lnSpc>
                <a:spcPct val="100000"/>
              </a:lnSpc>
              <a:buFont typeface="+mj-lt"/>
              <a:buAutoNum type="alphaLcPeriod"/>
            </a:pPr>
            <a:r>
              <a:rPr lang="ja-JP" altLang="en-US" sz="2000" dirty="0"/>
              <a:t>リスク分析（</a:t>
            </a:r>
            <a:r>
              <a:rPr lang="en-US" altLang="ja-JP" sz="2000" dirty="0"/>
              <a:t>FMEA</a:t>
            </a:r>
            <a:r>
              <a:rPr lang="ja-JP" altLang="en-US" sz="2000" dirty="0"/>
              <a:t>のような）</a:t>
            </a:r>
            <a:endParaRPr lang="en-US" altLang="ja-JP" sz="2000" dirty="0"/>
          </a:p>
          <a:p>
            <a:pPr marL="0" indent="0">
              <a:lnSpc>
                <a:spcPct val="100000"/>
              </a:lnSpc>
              <a:buNone/>
            </a:pPr>
            <a:r>
              <a:rPr lang="ja-JP" altLang="en-US" sz="2000" dirty="0"/>
              <a:t>注記　継続的改善は、</a:t>
            </a:r>
            <a:r>
              <a:rPr lang="ja-JP" altLang="en-US" sz="2000" u="sng" dirty="0"/>
              <a:t>製造工程が統計的に能力をもち安定してから、又は製品特性が予測可能で顧客要求事項を満たしてから、実施される。</a:t>
            </a:r>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bg1"/>
          </a:solidFill>
          <a:ln w="38100">
            <a:solidFill>
              <a:schemeClr val="tx2"/>
            </a:solidFill>
          </a:ln>
        </p:spPr>
        <p:txBody>
          <a:bodyPr>
            <a:normAutofit/>
          </a:bodyPr>
          <a:lstStyle/>
          <a:p>
            <a:r>
              <a:rPr kumimoji="1" lang="en-US" altLang="ja-JP" sz="3000" b="1" dirty="0">
                <a:solidFill>
                  <a:schemeClr val="tx2"/>
                </a:solidFill>
              </a:rPr>
              <a:t>10.3.1</a:t>
            </a:r>
            <a:r>
              <a:rPr kumimoji="1" lang="ja-JP" altLang="en-US" sz="3000" b="1" dirty="0">
                <a:solidFill>
                  <a:schemeClr val="tx2"/>
                </a:solidFill>
              </a:rPr>
              <a:t>　継続的改善－補足</a:t>
            </a:r>
          </a:p>
        </p:txBody>
      </p:sp>
    </p:spTree>
    <p:extLst>
      <p:ext uri="{BB962C8B-B14F-4D97-AF65-F5344CB8AC3E}">
        <p14:creationId xmlns:p14="http://schemas.microsoft.com/office/powerpoint/2010/main" val="277708034"/>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継続的改善活動に対する詳細補足。</a:t>
            </a:r>
            <a:endParaRPr lang="en-US" altLang="ja-JP" sz="2400" dirty="0"/>
          </a:p>
          <a:p>
            <a:pPr marL="914400" lvl="1" indent="-457200">
              <a:lnSpc>
                <a:spcPct val="100000"/>
              </a:lnSpc>
              <a:buFont typeface="+mj-lt"/>
              <a:buAutoNum type="alphaLcPeriod"/>
            </a:pPr>
            <a:r>
              <a:rPr lang="ja-JP" altLang="en-US" dirty="0"/>
              <a:t>例えば、</a:t>
            </a:r>
            <a:endParaRPr lang="en-US" altLang="ja-JP" dirty="0"/>
          </a:p>
          <a:p>
            <a:pPr marL="914400" lvl="1" indent="-457200">
              <a:lnSpc>
                <a:spcPct val="100000"/>
              </a:lnSpc>
              <a:buFont typeface="+mj-lt"/>
              <a:buAutoNum type="alphaLcPeriod"/>
            </a:pPr>
            <a:endParaRPr lang="en-US" altLang="ja-JP" dirty="0"/>
          </a:p>
          <a:p>
            <a:pPr marL="914400" lvl="1" indent="-457200">
              <a:lnSpc>
                <a:spcPct val="100000"/>
              </a:lnSpc>
              <a:buFont typeface="+mj-lt"/>
              <a:buAutoNum type="alphaLcPeriod"/>
            </a:pPr>
            <a:endParaRPr lang="en-US" altLang="ja-JP" dirty="0"/>
          </a:p>
          <a:p>
            <a:pPr marL="914400" lvl="1" indent="-457200">
              <a:lnSpc>
                <a:spcPct val="100000"/>
              </a:lnSpc>
              <a:buFont typeface="+mj-lt"/>
              <a:buAutoNum type="alphaLcPeriod"/>
            </a:pPr>
            <a:r>
              <a:rPr lang="en-US" altLang="ja-JP" dirty="0"/>
              <a:t>IATF</a:t>
            </a:r>
            <a:r>
              <a:rPr lang="en-US" altLang="ja-JP" sz="2400" dirty="0"/>
              <a:t>16949</a:t>
            </a:r>
            <a:r>
              <a:rPr lang="ja-JP" altLang="en-US" sz="2400" dirty="0"/>
              <a:t>は製造サイトに適用するため工程改善は必須且つ重要。顧客が重視している特殊特性などの改善を優先させるべき。</a:t>
            </a:r>
            <a:endParaRPr lang="en-US" altLang="ja-JP" sz="2400" dirty="0"/>
          </a:p>
          <a:p>
            <a:pPr marL="914400" lvl="1" indent="-457200">
              <a:lnSpc>
                <a:spcPct val="100000"/>
              </a:lnSpc>
              <a:buFont typeface="+mj-lt"/>
              <a:buAutoNum type="alphaLcPeriod"/>
            </a:pPr>
            <a:r>
              <a:rPr lang="en-US" altLang="ja-JP" dirty="0"/>
              <a:t>FMEA</a:t>
            </a:r>
            <a:r>
              <a:rPr lang="ja-JP" altLang="en-US" sz="2400" dirty="0"/>
              <a:t>は常に改善のインプット。</a:t>
            </a:r>
            <a:endParaRPr lang="en-US" altLang="ja-JP" sz="2400" dirty="0"/>
          </a:p>
          <a:p>
            <a:pPr marL="457200" indent="-457200">
              <a:lnSpc>
                <a:spcPct val="100000"/>
              </a:lnSpc>
              <a:buFont typeface="+mj-lt"/>
              <a:buAutoNum type="arabicPeriod"/>
            </a:pPr>
            <a:r>
              <a:rPr lang="ja-JP" altLang="en-US" sz="2400" dirty="0"/>
              <a:t>製造工程の是正と改善の境界。</a:t>
            </a:r>
            <a:r>
              <a:rPr lang="ja-JP" altLang="en-US" sz="2000" dirty="0"/>
              <a:t>（</a:t>
            </a:r>
            <a:r>
              <a:rPr lang="en-US" altLang="ja-JP" sz="2000" dirty="0"/>
              <a:t>10.3.1</a:t>
            </a:r>
            <a:r>
              <a:rPr lang="ja-JP" altLang="en-US" sz="2000" dirty="0"/>
              <a:t>注記）</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en-US" altLang="ja-JP" sz="3000" b="1" dirty="0">
                <a:solidFill>
                  <a:schemeClr val="bg1"/>
                </a:solidFill>
              </a:rPr>
              <a:t>10.3.1</a:t>
            </a:r>
            <a:r>
              <a:rPr lang="ja-JP" altLang="en-US" sz="3000" b="1" dirty="0">
                <a:solidFill>
                  <a:schemeClr val="bg1"/>
                </a:solidFill>
              </a:rPr>
              <a:t>　継続的改善</a:t>
            </a:r>
          </a:p>
        </p:txBody>
      </p:sp>
      <p:graphicFrame>
        <p:nvGraphicFramePr>
          <p:cNvPr id="2" name="表 1">
            <a:extLst>
              <a:ext uri="{FF2B5EF4-FFF2-40B4-BE49-F238E27FC236}">
                <a16:creationId xmlns:a16="http://schemas.microsoft.com/office/drawing/2014/main" id="{1085EF71-FF19-4089-B9BD-5C7676FA2C57}"/>
              </a:ext>
            </a:extLst>
          </p:cNvPr>
          <p:cNvGraphicFramePr>
            <a:graphicFrameLocks noGrp="1"/>
          </p:cNvGraphicFramePr>
          <p:nvPr>
            <p:extLst>
              <p:ext uri="{D42A27DB-BD31-4B8C-83A1-F6EECF244321}">
                <p14:modId xmlns:p14="http://schemas.microsoft.com/office/powerpoint/2010/main" val="808209876"/>
              </p:ext>
            </p:extLst>
          </p:nvPr>
        </p:nvGraphicFramePr>
        <p:xfrm>
          <a:off x="3180080" y="1846144"/>
          <a:ext cx="8173720" cy="1188720"/>
        </p:xfrm>
        <a:graphic>
          <a:graphicData uri="http://schemas.openxmlformats.org/drawingml/2006/table">
            <a:tbl>
              <a:tblPr firstRow="1" bandRow="1">
                <a:tableStyleId>{5940675A-B579-460E-94D1-54222C63F5DA}</a:tableStyleId>
              </a:tblPr>
              <a:tblGrid>
                <a:gridCol w="2083953">
                  <a:extLst>
                    <a:ext uri="{9D8B030D-6E8A-4147-A177-3AD203B41FA5}">
                      <a16:colId xmlns:a16="http://schemas.microsoft.com/office/drawing/2014/main" val="2035071579"/>
                    </a:ext>
                  </a:extLst>
                </a:gridCol>
                <a:gridCol w="6089767">
                  <a:extLst>
                    <a:ext uri="{9D8B030D-6E8A-4147-A177-3AD203B41FA5}">
                      <a16:colId xmlns:a16="http://schemas.microsoft.com/office/drawing/2014/main" val="479357206"/>
                    </a:ext>
                  </a:extLst>
                </a:gridCol>
              </a:tblGrid>
              <a:tr h="370840">
                <a:tc>
                  <a:txBody>
                    <a:bodyPr/>
                    <a:lstStyle/>
                    <a:p>
                      <a:r>
                        <a:rPr kumimoji="1" lang="ja-JP" altLang="en-US" sz="2000" dirty="0"/>
                        <a:t>内部監査</a:t>
                      </a:r>
                    </a:p>
                  </a:txBody>
                  <a:tcPr>
                    <a:solidFill>
                      <a:schemeClr val="tx2">
                        <a:lumMod val="20000"/>
                        <a:lumOff val="80000"/>
                      </a:schemeClr>
                    </a:solidFill>
                  </a:tcPr>
                </a:tc>
                <a:tc>
                  <a:txBody>
                    <a:bodyPr/>
                    <a:lstStyle/>
                    <a:p>
                      <a:r>
                        <a:rPr kumimoji="1" lang="en-US" altLang="ja-JP" sz="2000" dirty="0"/>
                        <a:t>QMS</a:t>
                      </a:r>
                      <a:r>
                        <a:rPr kumimoji="1" lang="ja-JP" altLang="en-US" sz="2000" dirty="0"/>
                        <a:t>の有効性に対する改善点の検出。</a:t>
                      </a:r>
                    </a:p>
                  </a:txBody>
                  <a:tcPr>
                    <a:solidFill>
                      <a:schemeClr val="tx2">
                        <a:lumMod val="20000"/>
                        <a:lumOff val="80000"/>
                      </a:schemeClr>
                    </a:solidFill>
                  </a:tcPr>
                </a:tc>
                <a:extLst>
                  <a:ext uri="{0D108BD9-81ED-4DB2-BD59-A6C34878D82A}">
                    <a16:rowId xmlns:a16="http://schemas.microsoft.com/office/drawing/2014/main" val="1882433052"/>
                  </a:ext>
                </a:extLst>
              </a:tr>
              <a:tr h="370840">
                <a:tc>
                  <a:txBody>
                    <a:bodyPr/>
                    <a:lstStyle/>
                    <a:p>
                      <a:r>
                        <a:rPr kumimoji="1" lang="ja-JP" altLang="en-US" sz="2000" dirty="0"/>
                        <a:t>データ分析</a:t>
                      </a:r>
                    </a:p>
                  </a:txBody>
                  <a:tcPr>
                    <a:solidFill>
                      <a:schemeClr val="tx2">
                        <a:lumMod val="20000"/>
                        <a:lumOff val="80000"/>
                      </a:schemeClr>
                    </a:solidFill>
                  </a:tcPr>
                </a:tc>
                <a:tc>
                  <a:txBody>
                    <a:bodyPr/>
                    <a:lstStyle/>
                    <a:p>
                      <a:r>
                        <a:rPr kumimoji="1" lang="ja-JP" altLang="en-US" sz="2000" dirty="0"/>
                        <a:t>改善の機会を見つける情報の提供。</a:t>
                      </a:r>
                    </a:p>
                  </a:txBody>
                  <a:tcPr>
                    <a:solidFill>
                      <a:schemeClr val="tx2">
                        <a:lumMod val="20000"/>
                        <a:lumOff val="80000"/>
                      </a:schemeClr>
                    </a:solidFill>
                  </a:tcPr>
                </a:tc>
                <a:extLst>
                  <a:ext uri="{0D108BD9-81ED-4DB2-BD59-A6C34878D82A}">
                    <a16:rowId xmlns:a16="http://schemas.microsoft.com/office/drawing/2014/main" val="1408451281"/>
                  </a:ext>
                </a:extLst>
              </a:tr>
              <a:tr h="370840">
                <a:tc>
                  <a:txBody>
                    <a:bodyPr/>
                    <a:lstStyle/>
                    <a:p>
                      <a:r>
                        <a:rPr kumimoji="1" lang="ja-JP" altLang="en-US" sz="2000" dirty="0"/>
                        <a:t>予防処置</a:t>
                      </a:r>
                    </a:p>
                  </a:txBody>
                  <a:tcPr>
                    <a:solidFill>
                      <a:schemeClr val="tx2">
                        <a:lumMod val="20000"/>
                        <a:lumOff val="80000"/>
                      </a:schemeClr>
                    </a:solidFill>
                  </a:tcPr>
                </a:tc>
                <a:tc>
                  <a:txBody>
                    <a:bodyPr/>
                    <a:lstStyle/>
                    <a:p>
                      <a:r>
                        <a:rPr kumimoji="1" lang="ja-JP" altLang="en-US" sz="2000" dirty="0"/>
                        <a:t>潜在的な問題点の検出と改善点の検出。</a:t>
                      </a:r>
                    </a:p>
                  </a:txBody>
                  <a:tcPr>
                    <a:solidFill>
                      <a:schemeClr val="tx2">
                        <a:lumMod val="20000"/>
                        <a:lumOff val="80000"/>
                      </a:schemeClr>
                    </a:solidFill>
                  </a:tcPr>
                </a:tc>
                <a:extLst>
                  <a:ext uri="{0D108BD9-81ED-4DB2-BD59-A6C34878D82A}">
                    <a16:rowId xmlns:a16="http://schemas.microsoft.com/office/drawing/2014/main" val="1921416137"/>
                  </a:ext>
                </a:extLst>
              </a:tr>
            </a:tbl>
          </a:graphicData>
        </a:graphic>
      </p:graphicFrame>
      <p:sp>
        <p:nvSpPr>
          <p:cNvPr id="3" name="正方形/長方形 2">
            <a:extLst>
              <a:ext uri="{FF2B5EF4-FFF2-40B4-BE49-F238E27FC236}">
                <a16:creationId xmlns:a16="http://schemas.microsoft.com/office/drawing/2014/main" id="{DA455367-BA91-40E8-8805-F1464322F038}"/>
              </a:ext>
            </a:extLst>
          </p:cNvPr>
          <p:cNvSpPr/>
          <p:nvPr/>
        </p:nvSpPr>
        <p:spPr>
          <a:xfrm>
            <a:off x="5648960" y="4917440"/>
            <a:ext cx="894080" cy="14389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dirty="0">
                <a:solidFill>
                  <a:schemeClr val="tx1"/>
                </a:solidFill>
              </a:rPr>
              <a:t>安定し、</a:t>
            </a:r>
            <a:endParaRPr kumimoji="1" lang="en-US" altLang="ja-JP" dirty="0">
              <a:solidFill>
                <a:schemeClr val="tx1"/>
              </a:solidFill>
            </a:endParaRPr>
          </a:p>
          <a:p>
            <a:r>
              <a:rPr lang="ja-JP" altLang="en-US" dirty="0">
                <a:solidFill>
                  <a:schemeClr val="tx1"/>
                </a:solidFill>
              </a:rPr>
              <a:t>能力がある。</a:t>
            </a:r>
            <a:endParaRPr kumimoji="1" lang="ja-JP" altLang="en-US" dirty="0">
              <a:solidFill>
                <a:schemeClr val="tx1"/>
              </a:solidFill>
            </a:endParaRPr>
          </a:p>
        </p:txBody>
      </p:sp>
      <p:sp>
        <p:nvSpPr>
          <p:cNvPr id="6" name="四角形: 角を丸くする 5">
            <a:extLst>
              <a:ext uri="{FF2B5EF4-FFF2-40B4-BE49-F238E27FC236}">
                <a16:creationId xmlns:a16="http://schemas.microsoft.com/office/drawing/2014/main" id="{BA382AFC-BE7A-4B11-876F-726776804D6E}"/>
              </a:ext>
            </a:extLst>
          </p:cNvPr>
          <p:cNvSpPr/>
          <p:nvPr/>
        </p:nvSpPr>
        <p:spPr>
          <a:xfrm>
            <a:off x="1727200" y="5513942"/>
            <a:ext cx="3921760" cy="84240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安定していない。</a:t>
            </a:r>
            <a:endParaRPr kumimoji="1" lang="en-US" altLang="ja-JP" dirty="0">
              <a:solidFill>
                <a:schemeClr val="tx1"/>
              </a:solidFill>
            </a:endParaRPr>
          </a:p>
          <a:p>
            <a:pPr algn="ctr"/>
            <a:r>
              <a:rPr lang="ja-JP" altLang="en-US" dirty="0">
                <a:solidFill>
                  <a:schemeClr val="tx1"/>
                </a:solidFill>
              </a:rPr>
              <a:t>能力がない。</a:t>
            </a:r>
            <a:endParaRPr kumimoji="1" lang="ja-JP" altLang="en-US" dirty="0">
              <a:solidFill>
                <a:schemeClr val="tx1"/>
              </a:solidFill>
            </a:endParaRPr>
          </a:p>
        </p:txBody>
      </p:sp>
      <p:sp>
        <p:nvSpPr>
          <p:cNvPr id="8" name="四角形: 角を丸くする 7">
            <a:extLst>
              <a:ext uri="{FF2B5EF4-FFF2-40B4-BE49-F238E27FC236}">
                <a16:creationId xmlns:a16="http://schemas.microsoft.com/office/drawing/2014/main" id="{4F5B0A00-AB3B-4FB1-A842-6800F3800470}"/>
              </a:ext>
            </a:extLst>
          </p:cNvPr>
          <p:cNvSpPr/>
          <p:nvPr/>
        </p:nvSpPr>
        <p:spPr>
          <a:xfrm>
            <a:off x="6537960" y="5513942"/>
            <a:ext cx="3926840" cy="84240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更なるレベルアップ</a:t>
            </a:r>
            <a:r>
              <a:rPr lang="ja-JP" altLang="en-US" dirty="0">
                <a:solidFill>
                  <a:schemeClr val="tx1"/>
                </a:solidFill>
              </a:rPr>
              <a:t>。</a:t>
            </a:r>
            <a:endParaRPr kumimoji="1" lang="ja-JP" altLang="en-US" dirty="0">
              <a:solidFill>
                <a:schemeClr val="tx1"/>
              </a:solidFill>
            </a:endParaRPr>
          </a:p>
        </p:txBody>
      </p:sp>
      <p:sp>
        <p:nvSpPr>
          <p:cNvPr id="11" name="矢印: 五方向 10">
            <a:extLst>
              <a:ext uri="{FF2B5EF4-FFF2-40B4-BE49-F238E27FC236}">
                <a16:creationId xmlns:a16="http://schemas.microsoft.com/office/drawing/2014/main" id="{C2A3BE56-0ECC-4020-806E-9742E62FC6E1}"/>
              </a:ext>
            </a:extLst>
          </p:cNvPr>
          <p:cNvSpPr/>
          <p:nvPr/>
        </p:nvSpPr>
        <p:spPr>
          <a:xfrm>
            <a:off x="1727200" y="4917440"/>
            <a:ext cx="3921760" cy="51816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要求を満たすための是正処置</a:t>
            </a:r>
          </a:p>
        </p:txBody>
      </p:sp>
      <p:sp>
        <p:nvSpPr>
          <p:cNvPr id="13" name="矢印: 五方向 12">
            <a:extLst>
              <a:ext uri="{FF2B5EF4-FFF2-40B4-BE49-F238E27FC236}">
                <a16:creationId xmlns:a16="http://schemas.microsoft.com/office/drawing/2014/main" id="{905206BD-0357-4451-9D9E-C560E59D6651}"/>
              </a:ext>
            </a:extLst>
          </p:cNvPr>
          <p:cNvSpPr/>
          <p:nvPr/>
        </p:nvSpPr>
        <p:spPr>
          <a:xfrm>
            <a:off x="6543040" y="4917440"/>
            <a:ext cx="3921760" cy="51816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継続的改善</a:t>
            </a:r>
          </a:p>
        </p:txBody>
      </p:sp>
    </p:spTree>
    <p:extLst>
      <p:ext uri="{BB962C8B-B14F-4D97-AF65-F5344CB8AC3E}">
        <p14:creationId xmlns:p14="http://schemas.microsoft.com/office/powerpoint/2010/main" val="1088149494"/>
      </p:ext>
    </p:extLst>
  </p:cSld>
  <p:clrMapOvr>
    <a:masterClrMapping/>
  </p:clrMapOvr>
  <p:timing>
    <p:tnLst>
      <p:par>
        <p:cTn id="1" dur="indefinite" restart="never" nodeType="tmRoot"/>
      </p:par>
    </p:tn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55AAEB-0C52-484D-9D40-A5827E440F3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BC78C42-C84D-457E-9407-1CFEA14F4AD5}"/>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B759D3F8-1CA6-4220-A8D9-02FF903301E2}"/>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FEC2D83D-84C8-45CE-AA9D-04EFBC7CE9D5}"/>
              </a:ext>
            </a:extLst>
          </p:cNvPr>
          <p:cNvSpPr>
            <a:spLocks noGrp="1"/>
          </p:cNvSpPr>
          <p:nvPr>
            <p:ph type="sldNum" sz="quarter" idx="12"/>
          </p:nvPr>
        </p:nvSpPr>
        <p:spPr/>
        <p:txBody>
          <a:bodyPr/>
          <a:lstStyle/>
          <a:p>
            <a:fld id="{F599B491-871B-4465-93C9-200AD56BCEBF}" type="slidenum">
              <a:rPr kumimoji="1" lang="ja-JP" altLang="en-US" smtClean="0"/>
              <a:t>368</a:t>
            </a:fld>
            <a:endParaRPr kumimoji="1" lang="ja-JP" altLang="en-US"/>
          </a:p>
        </p:txBody>
      </p:sp>
    </p:spTree>
    <p:extLst>
      <p:ext uri="{BB962C8B-B14F-4D97-AF65-F5344CB8AC3E}">
        <p14:creationId xmlns:p14="http://schemas.microsoft.com/office/powerpoint/2010/main" val="4073375462"/>
      </p:ext>
    </p:extLst>
  </p:cSld>
  <p:clrMapOvr>
    <a:masterClrMapping/>
  </p:clrMapOvr>
  <p:timing>
    <p:tnLst>
      <p:par>
        <p:cTn id="1" dur="indefinite" restart="never" nodeType="tmRoot"/>
      </p:par>
    </p:tnLst>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kumimoji="1" lang="ja-JP" altLang="en-US" dirty="0">
                <a:solidFill>
                  <a:schemeClr val="bg1"/>
                </a:solidFill>
              </a:rPr>
              <a:t>この資料の構成</a:t>
            </a: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1916706495"/>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369</a:t>
            </a:fld>
            <a:endParaRPr kumimoji="1" lang="ja-JP" altLang="en-US"/>
          </a:p>
        </p:txBody>
      </p:sp>
    </p:spTree>
    <p:extLst>
      <p:ext uri="{BB962C8B-B14F-4D97-AF65-F5344CB8AC3E}">
        <p14:creationId xmlns:p14="http://schemas.microsoft.com/office/powerpoint/2010/main" val="2845329609"/>
      </p:ext>
    </p:extLst>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3374577634"/>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370</a:t>
            </a:fld>
            <a:endParaRPr kumimoji="1" lang="ja-JP" altLang="en-US"/>
          </a:p>
        </p:txBody>
      </p:sp>
    </p:spTree>
    <p:extLst>
      <p:ext uri="{BB962C8B-B14F-4D97-AF65-F5344CB8AC3E}">
        <p14:creationId xmlns:p14="http://schemas.microsoft.com/office/powerpoint/2010/main" val="103478426"/>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IATF16949</a:t>
            </a:r>
            <a:r>
              <a:rPr lang="ja-JP" altLang="en-US" sz="2400" dirty="0"/>
              <a:t>の狙い。（</a:t>
            </a:r>
            <a:r>
              <a:rPr lang="en-US" altLang="ja-JP" sz="2400" dirty="0"/>
              <a:t> international</a:t>
            </a:r>
            <a:r>
              <a:rPr lang="ja-JP" altLang="en-US" sz="2400" dirty="0"/>
              <a:t> </a:t>
            </a:r>
            <a:r>
              <a:rPr lang="en-US" altLang="ja-JP" sz="2400" dirty="0"/>
              <a:t>automotive</a:t>
            </a:r>
            <a:r>
              <a:rPr lang="ja-JP" altLang="en-US" sz="2400" dirty="0"/>
              <a:t> </a:t>
            </a:r>
            <a:r>
              <a:rPr lang="en-US" altLang="ja-JP" sz="2400" dirty="0"/>
              <a:t>task</a:t>
            </a:r>
            <a:r>
              <a:rPr lang="ja-JP" altLang="en-US" sz="2400" dirty="0"/>
              <a:t> </a:t>
            </a:r>
            <a:r>
              <a:rPr lang="en-US" altLang="ja-JP" sz="2400" dirty="0"/>
              <a:t>force</a:t>
            </a:r>
            <a:r>
              <a:rPr lang="ja-JP" altLang="en-US" sz="2400" dirty="0"/>
              <a:t>）</a:t>
            </a:r>
            <a:endParaRPr lang="en-US" altLang="ja-JP" sz="2400" dirty="0"/>
          </a:p>
          <a:p>
            <a:pPr lvl="1">
              <a:lnSpc>
                <a:spcPct val="100000"/>
              </a:lnSpc>
              <a:buFont typeface="Wingdings" panose="05000000000000000000" pitchFamily="2" charset="2"/>
              <a:buChar char="Ø"/>
            </a:pPr>
            <a:r>
              <a:rPr lang="ja-JP" altLang="en-US" dirty="0"/>
              <a:t>不適合の検出：✖</a:t>
            </a:r>
            <a:endParaRPr lang="en-US" altLang="ja-JP" dirty="0"/>
          </a:p>
          <a:p>
            <a:pPr lvl="1">
              <a:lnSpc>
                <a:spcPct val="100000"/>
              </a:lnSpc>
              <a:buFont typeface="Wingdings" panose="05000000000000000000" pitchFamily="2" charset="2"/>
              <a:buChar char="Ø"/>
            </a:pPr>
            <a:r>
              <a:rPr lang="ja-JP" altLang="en-US" dirty="0"/>
              <a:t>不具合の予防、製造工程のばらつきとムダの削減：</a:t>
            </a:r>
            <a:endParaRPr lang="en-US" altLang="ja-JP" dirty="0"/>
          </a:p>
          <a:p>
            <a:pPr marL="514350" indent="-514350">
              <a:lnSpc>
                <a:spcPct val="100000"/>
              </a:lnSpc>
              <a:buFont typeface="+mj-lt"/>
              <a:buAutoNum type="arabicPeriod"/>
            </a:pPr>
            <a:r>
              <a:rPr lang="ja-JP" altLang="en-US" sz="2400" dirty="0"/>
              <a:t>そのために具体的な技術手法が必要となる。（</a:t>
            </a:r>
            <a:r>
              <a:rPr lang="en-US" altLang="ja-JP" sz="2400" dirty="0"/>
              <a:t>IATF</a:t>
            </a:r>
            <a:r>
              <a:rPr lang="ja-JP" altLang="en-US" sz="2400" dirty="0"/>
              <a:t>が事前準備　➠　コアツール：</a:t>
            </a:r>
            <a:r>
              <a:rPr lang="en-US" altLang="ja-JP" sz="2400" dirty="0"/>
              <a:t>AIAG</a:t>
            </a:r>
            <a:r>
              <a:rPr lang="ja-JP" altLang="en-US" sz="2400" dirty="0"/>
              <a:t> （</a:t>
            </a:r>
            <a:r>
              <a:rPr lang="en-US" altLang="ja-JP" sz="2400" dirty="0"/>
              <a:t>automotive industry action group</a:t>
            </a:r>
            <a:r>
              <a:rPr lang="ja-JP" altLang="en-US" sz="2400" dirty="0"/>
              <a:t>）発行マニュアルに基づく）</a:t>
            </a:r>
            <a:endParaRPr lang="en-US" altLang="ja-JP" sz="2400" dirty="0"/>
          </a:p>
          <a:p>
            <a:pPr marL="514350" indent="-514350">
              <a:lnSpc>
                <a:spcPct val="100000"/>
              </a:lnSpc>
              <a:buFont typeface="+mj-lt"/>
              <a:buAutoNum type="arabicPeriod"/>
            </a:pPr>
            <a:r>
              <a:rPr lang="ja-JP" altLang="en-US" sz="2400" dirty="0"/>
              <a:t>コアツールは</a:t>
            </a:r>
            <a:r>
              <a:rPr lang="en-US" altLang="ja-JP" sz="2400" dirty="0"/>
              <a:t>IATF16949</a:t>
            </a:r>
            <a:r>
              <a:rPr lang="ja-JP" altLang="en-US" sz="2400" dirty="0"/>
              <a:t>要求事項に対応するための　“参照文書”。（</a:t>
            </a:r>
            <a:r>
              <a:rPr lang="en-US" altLang="ja-JP" sz="2400" dirty="0"/>
              <a:t>PPAP</a:t>
            </a:r>
            <a:r>
              <a:rPr lang="ja-JP" altLang="en-US" sz="2400" dirty="0"/>
              <a:t>を除く）</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ＩＡＴＦ１６９４９とコアツール</a:t>
            </a:r>
          </a:p>
        </p:txBody>
      </p:sp>
      <p:sp>
        <p:nvSpPr>
          <p:cNvPr id="3" name="フローチャート: 結合子 2">
            <a:extLst>
              <a:ext uri="{FF2B5EF4-FFF2-40B4-BE49-F238E27FC236}">
                <a16:creationId xmlns:a16="http://schemas.microsoft.com/office/drawing/2014/main" id="{01B36FC1-5174-4E3A-AB5D-691344990D00}"/>
              </a:ext>
            </a:extLst>
          </p:cNvPr>
          <p:cNvSpPr/>
          <p:nvPr/>
        </p:nvSpPr>
        <p:spPr>
          <a:xfrm>
            <a:off x="8758410" y="2203373"/>
            <a:ext cx="352539" cy="363557"/>
          </a:xfrm>
          <a:prstGeom prst="flowChartConnector">
            <a:avLst/>
          </a:prstGeom>
          <a:noFill/>
          <a:ln w="57150">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93214061"/>
      </p:ext>
    </p:extLst>
  </p:cSld>
  <p:clrMapOvr>
    <a:masterClrMapping/>
  </p:clrMapOvr>
  <p:timing>
    <p:tnLst>
      <p:par>
        <p:cTn id="1" dur="indefinite" restart="never" nodeType="tmRoot"/>
      </p:par>
    </p:tnLst>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コアツールの概要</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ＩＡＴＦ１６９４９とコアツール</a:t>
            </a:r>
          </a:p>
        </p:txBody>
      </p:sp>
      <p:graphicFrame>
        <p:nvGraphicFramePr>
          <p:cNvPr id="2" name="表 1">
            <a:extLst>
              <a:ext uri="{FF2B5EF4-FFF2-40B4-BE49-F238E27FC236}">
                <a16:creationId xmlns:a16="http://schemas.microsoft.com/office/drawing/2014/main" id="{859410A1-CABA-40D3-ACD7-C53700EC386A}"/>
              </a:ext>
            </a:extLst>
          </p:cNvPr>
          <p:cNvGraphicFramePr>
            <a:graphicFrameLocks noGrp="1"/>
          </p:cNvGraphicFramePr>
          <p:nvPr>
            <p:extLst>
              <p:ext uri="{D42A27DB-BD31-4B8C-83A1-F6EECF244321}">
                <p14:modId xmlns:p14="http://schemas.microsoft.com/office/powerpoint/2010/main" val="1924893669"/>
              </p:ext>
            </p:extLst>
          </p:nvPr>
        </p:nvGraphicFramePr>
        <p:xfrm>
          <a:off x="838199" y="1788302"/>
          <a:ext cx="10515600" cy="4568049"/>
        </p:xfrm>
        <a:graphic>
          <a:graphicData uri="http://schemas.openxmlformats.org/drawingml/2006/table">
            <a:tbl>
              <a:tblPr firstRow="1" bandRow="1">
                <a:tableStyleId>{5940675A-B579-460E-94D1-54222C63F5DA}</a:tableStyleId>
              </a:tblPr>
              <a:tblGrid>
                <a:gridCol w="2896519">
                  <a:extLst>
                    <a:ext uri="{9D8B030D-6E8A-4147-A177-3AD203B41FA5}">
                      <a16:colId xmlns:a16="http://schemas.microsoft.com/office/drawing/2014/main" val="925378724"/>
                    </a:ext>
                  </a:extLst>
                </a:gridCol>
                <a:gridCol w="7619081">
                  <a:extLst>
                    <a:ext uri="{9D8B030D-6E8A-4147-A177-3AD203B41FA5}">
                      <a16:colId xmlns:a16="http://schemas.microsoft.com/office/drawing/2014/main" val="287885403"/>
                    </a:ext>
                  </a:extLst>
                </a:gridCol>
              </a:tblGrid>
              <a:tr h="410228">
                <a:tc>
                  <a:txBody>
                    <a:bodyPr/>
                    <a:lstStyle/>
                    <a:p>
                      <a:pPr algn="ctr"/>
                      <a:r>
                        <a:rPr kumimoji="1" lang="ja-JP" altLang="en-US" dirty="0"/>
                        <a:t>コアツール</a:t>
                      </a:r>
                    </a:p>
                  </a:txBody>
                  <a:tcPr>
                    <a:solidFill>
                      <a:schemeClr val="tx2">
                        <a:lumMod val="40000"/>
                        <a:lumOff val="60000"/>
                      </a:schemeClr>
                    </a:solidFill>
                  </a:tcPr>
                </a:tc>
                <a:tc>
                  <a:txBody>
                    <a:bodyPr/>
                    <a:lstStyle/>
                    <a:p>
                      <a:pPr algn="ctr"/>
                      <a:r>
                        <a:rPr kumimoji="1" lang="ja-JP" altLang="en-US" dirty="0"/>
                        <a:t>概要</a:t>
                      </a:r>
                    </a:p>
                  </a:txBody>
                  <a:tcPr>
                    <a:solidFill>
                      <a:schemeClr val="tx2">
                        <a:lumMod val="40000"/>
                        <a:lumOff val="60000"/>
                      </a:schemeClr>
                    </a:solidFill>
                  </a:tcPr>
                </a:tc>
                <a:extLst>
                  <a:ext uri="{0D108BD9-81ED-4DB2-BD59-A6C34878D82A}">
                    <a16:rowId xmlns:a16="http://schemas.microsoft.com/office/drawing/2014/main" val="1014504043"/>
                  </a:ext>
                </a:extLst>
              </a:tr>
              <a:tr h="933655">
                <a:tc>
                  <a:txBody>
                    <a:bodyPr/>
                    <a:lstStyle/>
                    <a:p>
                      <a:r>
                        <a:rPr kumimoji="1" lang="en-US" altLang="ja-JP" sz="1800" dirty="0"/>
                        <a:t>APQP</a:t>
                      </a:r>
                      <a:r>
                        <a:rPr kumimoji="1" lang="ja-JP" altLang="en-US" sz="1800" dirty="0"/>
                        <a:t>（先行製品品質計画）</a:t>
                      </a:r>
                      <a:r>
                        <a:rPr kumimoji="1" lang="en-US" altLang="ja-JP" sz="1800" dirty="0"/>
                        <a:t>&amp;CP</a:t>
                      </a:r>
                      <a:r>
                        <a:rPr kumimoji="1" lang="ja-JP" altLang="en-US" sz="1800" dirty="0"/>
                        <a:t>（コントロールプラン）</a:t>
                      </a:r>
                    </a:p>
                  </a:txBody>
                  <a:tcPr/>
                </a:tc>
                <a:tc>
                  <a:txBody>
                    <a:bodyPr/>
                    <a:lstStyle/>
                    <a:p>
                      <a:r>
                        <a:rPr kumimoji="1" lang="ja-JP" altLang="en-US" sz="1800" dirty="0"/>
                        <a:t>新製品の設計開発の手順を述べたもので、</a:t>
                      </a:r>
                      <a:r>
                        <a:rPr kumimoji="1" lang="en-US" altLang="ja-JP" sz="1800" dirty="0"/>
                        <a:t>APQP</a:t>
                      </a:r>
                      <a:r>
                        <a:rPr kumimoji="1" lang="ja-JP" altLang="en-US" sz="1800" dirty="0"/>
                        <a:t>は以降のコアツールと関係する</a:t>
                      </a:r>
                    </a:p>
                  </a:txBody>
                  <a:tcPr/>
                </a:tc>
                <a:extLst>
                  <a:ext uri="{0D108BD9-81ED-4DB2-BD59-A6C34878D82A}">
                    <a16:rowId xmlns:a16="http://schemas.microsoft.com/office/drawing/2014/main" val="3184267250"/>
                  </a:ext>
                </a:extLst>
              </a:tr>
              <a:tr h="708066">
                <a:tc>
                  <a:txBody>
                    <a:bodyPr/>
                    <a:lstStyle/>
                    <a:p>
                      <a:r>
                        <a:rPr kumimoji="1" lang="en-US" altLang="ja-JP" sz="1800" dirty="0"/>
                        <a:t>PPAP</a:t>
                      </a:r>
                      <a:r>
                        <a:rPr kumimoji="1" lang="ja-JP" altLang="en-US" sz="1800" dirty="0"/>
                        <a:t>（生産部品承認プロセス）</a:t>
                      </a:r>
                    </a:p>
                  </a:txBody>
                  <a:tcPr/>
                </a:tc>
                <a:tc>
                  <a:txBody>
                    <a:bodyPr/>
                    <a:lstStyle/>
                    <a:p>
                      <a:r>
                        <a:rPr kumimoji="1" lang="ja-JP" altLang="en-US" sz="1800" dirty="0"/>
                        <a:t>自動車生産用の量産品を顧客に出荷するために、顧客の承認を得る手順を述べたもの</a:t>
                      </a:r>
                    </a:p>
                  </a:txBody>
                  <a:tcPr/>
                </a:tc>
                <a:extLst>
                  <a:ext uri="{0D108BD9-81ED-4DB2-BD59-A6C34878D82A}">
                    <a16:rowId xmlns:a16="http://schemas.microsoft.com/office/drawing/2014/main" val="1327987036"/>
                  </a:ext>
                </a:extLst>
              </a:tr>
              <a:tr h="689740">
                <a:tc>
                  <a:txBody>
                    <a:bodyPr/>
                    <a:lstStyle/>
                    <a:p>
                      <a:r>
                        <a:rPr kumimoji="1" lang="ja-JP" altLang="en-US" sz="1800" dirty="0"/>
                        <a:t>サービス</a:t>
                      </a:r>
                      <a:r>
                        <a:rPr kumimoji="1" lang="en-US" altLang="ja-JP" sz="1800" dirty="0"/>
                        <a:t>PPAP</a:t>
                      </a:r>
                      <a:r>
                        <a:rPr kumimoji="1" lang="ja-JP" altLang="en-US" sz="1800" dirty="0"/>
                        <a:t>（サービス生産部品承認プロセス）</a:t>
                      </a:r>
                    </a:p>
                  </a:txBody>
                  <a:tcPr/>
                </a:tc>
                <a:tc>
                  <a:txBody>
                    <a:bodyPr/>
                    <a:lstStyle/>
                    <a:p>
                      <a:r>
                        <a:rPr kumimoji="1" lang="ja-JP" altLang="en-US" sz="1800" dirty="0"/>
                        <a:t>自動車のサービス用の製品（サービスパーツ）を顧客に出荷するために、顧客の承認を得る手順を述べたもの。（</a:t>
                      </a:r>
                      <a:r>
                        <a:rPr kumimoji="1" lang="en-US" altLang="ja-JP" sz="1800" dirty="0"/>
                        <a:t>PPAP+</a:t>
                      </a:r>
                      <a:r>
                        <a:rPr kumimoji="1" lang="ja-JP" altLang="en-US" sz="1800" dirty="0"/>
                        <a:t>サービス固有要求）</a:t>
                      </a:r>
                    </a:p>
                  </a:txBody>
                  <a:tcPr/>
                </a:tc>
                <a:extLst>
                  <a:ext uri="{0D108BD9-81ED-4DB2-BD59-A6C34878D82A}">
                    <a16:rowId xmlns:a16="http://schemas.microsoft.com/office/drawing/2014/main" val="1648105558"/>
                  </a:ext>
                </a:extLst>
              </a:tr>
              <a:tr h="708066">
                <a:tc>
                  <a:txBody>
                    <a:bodyPr/>
                    <a:lstStyle/>
                    <a:p>
                      <a:r>
                        <a:rPr kumimoji="1" lang="en-US" altLang="ja-JP" sz="1800" dirty="0"/>
                        <a:t>FMEA</a:t>
                      </a:r>
                      <a:r>
                        <a:rPr kumimoji="1" lang="ja-JP" altLang="en-US" sz="1800" dirty="0"/>
                        <a:t>（潜在的故障モード影響解析）</a:t>
                      </a:r>
                    </a:p>
                  </a:txBody>
                  <a:tcPr/>
                </a:tc>
                <a:tc>
                  <a:txBody>
                    <a:bodyPr/>
                    <a:lstStyle/>
                    <a:p>
                      <a:r>
                        <a:rPr kumimoji="1" lang="ja-JP" altLang="en-US" sz="1800" dirty="0"/>
                        <a:t>製品又は製造工程で発生する可能性のある故障を予測して、設計段階でリスクを低減させる技法　</a:t>
                      </a:r>
                      <a:r>
                        <a:rPr kumimoji="1" lang="en-US" altLang="ja-JP" sz="1800" u="sng" dirty="0"/>
                        <a:t>※</a:t>
                      </a:r>
                      <a:r>
                        <a:rPr kumimoji="1" lang="ja-JP" altLang="en-US" sz="1800" u="sng" dirty="0"/>
                        <a:t>現在、</a:t>
                      </a:r>
                      <a:r>
                        <a:rPr kumimoji="1" lang="en-US" altLang="ja-JP" sz="1800" u="sng" dirty="0"/>
                        <a:t>AIAG</a:t>
                      </a:r>
                      <a:r>
                        <a:rPr kumimoji="1" lang="ja-JP" altLang="en-US" sz="1800" u="sng" dirty="0"/>
                        <a:t>と</a:t>
                      </a:r>
                      <a:r>
                        <a:rPr kumimoji="1" lang="en-US" altLang="ja-JP" sz="1800" u="sng" dirty="0"/>
                        <a:t>AIAG&amp;VDA</a:t>
                      </a:r>
                      <a:r>
                        <a:rPr kumimoji="1" lang="ja-JP" altLang="en-US" sz="1800" u="sng" dirty="0"/>
                        <a:t>併用</a:t>
                      </a:r>
                    </a:p>
                  </a:txBody>
                  <a:tcPr/>
                </a:tc>
                <a:extLst>
                  <a:ext uri="{0D108BD9-81ED-4DB2-BD59-A6C34878D82A}">
                    <a16:rowId xmlns:a16="http://schemas.microsoft.com/office/drawing/2014/main" val="3808900636"/>
                  </a:ext>
                </a:extLst>
              </a:tr>
              <a:tr h="410228">
                <a:tc>
                  <a:txBody>
                    <a:bodyPr/>
                    <a:lstStyle/>
                    <a:p>
                      <a:r>
                        <a:rPr kumimoji="1" lang="en-US" altLang="ja-JP" sz="1800" dirty="0"/>
                        <a:t>SPC</a:t>
                      </a:r>
                      <a:r>
                        <a:rPr kumimoji="1" lang="ja-JP" altLang="en-US" sz="1800" dirty="0"/>
                        <a:t>（統計的工程管理）</a:t>
                      </a:r>
                    </a:p>
                  </a:txBody>
                  <a:tcPr/>
                </a:tc>
                <a:tc>
                  <a:txBody>
                    <a:bodyPr/>
                    <a:lstStyle/>
                    <a:p>
                      <a:r>
                        <a:rPr kumimoji="1" lang="ja-JP" altLang="en-US" sz="1800" dirty="0"/>
                        <a:t>製造工程を安定させ、かつ工程能力を向上させるための技法</a:t>
                      </a:r>
                    </a:p>
                  </a:txBody>
                  <a:tcPr/>
                </a:tc>
                <a:extLst>
                  <a:ext uri="{0D108BD9-81ED-4DB2-BD59-A6C34878D82A}">
                    <a16:rowId xmlns:a16="http://schemas.microsoft.com/office/drawing/2014/main" val="736154584"/>
                  </a:ext>
                </a:extLst>
              </a:tr>
              <a:tr h="708066">
                <a:tc>
                  <a:txBody>
                    <a:bodyPr/>
                    <a:lstStyle/>
                    <a:p>
                      <a:r>
                        <a:rPr kumimoji="1" lang="en-US" altLang="ja-JP" sz="1800" dirty="0"/>
                        <a:t>MSA</a:t>
                      </a:r>
                      <a:r>
                        <a:rPr kumimoji="1" lang="ja-JP" altLang="en-US" sz="1800" dirty="0"/>
                        <a:t>（測定システム解析）</a:t>
                      </a:r>
                    </a:p>
                  </a:txBody>
                  <a:tcPr/>
                </a:tc>
                <a:tc>
                  <a:txBody>
                    <a:bodyPr/>
                    <a:lstStyle/>
                    <a:p>
                      <a:r>
                        <a:rPr kumimoji="1" lang="ja-JP" altLang="en-US" sz="1800" dirty="0"/>
                        <a:t>測定器、測定者、測定環境などの測定システムの変動（測定結果のばらつき）を解析する技法</a:t>
                      </a:r>
                    </a:p>
                  </a:txBody>
                  <a:tcPr/>
                </a:tc>
                <a:extLst>
                  <a:ext uri="{0D108BD9-81ED-4DB2-BD59-A6C34878D82A}">
                    <a16:rowId xmlns:a16="http://schemas.microsoft.com/office/drawing/2014/main" val="1334620672"/>
                  </a:ext>
                </a:extLst>
              </a:tr>
            </a:tbl>
          </a:graphicData>
        </a:graphic>
      </p:graphicFrame>
    </p:spTree>
    <p:extLst>
      <p:ext uri="{BB962C8B-B14F-4D97-AF65-F5344CB8AC3E}">
        <p14:creationId xmlns:p14="http://schemas.microsoft.com/office/powerpoint/2010/main" val="326655084"/>
      </p:ext>
    </p:extLst>
  </p:cSld>
  <p:clrMapOvr>
    <a:masterClrMapping/>
  </p:clrMapOvr>
  <p:timing>
    <p:tnLst>
      <p:par>
        <p:cTn id="1" dur="indefinite" restart="never" nodeType="tmRoot"/>
      </p:par>
    </p:tnLst>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APQP</a:t>
            </a:r>
            <a:r>
              <a:rPr lang="ja-JP" altLang="en-US" sz="2400" dirty="0"/>
              <a:t>のアウトプット項目のほとんどは</a:t>
            </a:r>
            <a:r>
              <a:rPr lang="en-US" altLang="ja-JP" sz="2400" dirty="0"/>
              <a:t>IATF16949</a:t>
            </a:r>
            <a:r>
              <a:rPr lang="ja-JP" altLang="en-US" sz="2400" dirty="0"/>
              <a:t>規格要求事項となっている。（特殊特性、技術仕様書、コントロールプラン・・・</a:t>
            </a:r>
            <a:r>
              <a:rPr lang="en-US" altLang="ja-JP" sz="2400" dirty="0"/>
              <a:t>APQP</a:t>
            </a:r>
            <a:r>
              <a:rPr lang="ja-JP" altLang="en-US" sz="2400" dirty="0"/>
              <a:t>の項で後述）</a:t>
            </a:r>
            <a:endParaRPr lang="en-US" altLang="ja-JP" sz="2400" dirty="0"/>
          </a:p>
          <a:p>
            <a:pPr marL="457200" lvl="1" indent="0">
              <a:lnSpc>
                <a:spcPct val="100000"/>
              </a:lnSpc>
              <a:buNone/>
            </a:pPr>
            <a:r>
              <a:rPr lang="ja-JP" altLang="en-US" dirty="0"/>
              <a:t>➠　</a:t>
            </a:r>
            <a:r>
              <a:rPr lang="en-US" altLang="ja-JP" dirty="0"/>
              <a:t>APQP</a:t>
            </a:r>
            <a:r>
              <a:rPr lang="ja-JP" altLang="en-US" dirty="0"/>
              <a:t>は</a:t>
            </a:r>
            <a:r>
              <a:rPr lang="en-US" altLang="ja-JP" dirty="0"/>
              <a:t>IATF16949</a:t>
            </a:r>
            <a:r>
              <a:rPr lang="ja-JP" altLang="en-US" dirty="0"/>
              <a:t>要求事項を製品実現プロセスに従って述べたもの。</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ＡＰＱＰ＆ＣＰとＩＡＴＦ１６９４９要求事項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879849837"/>
              </p:ext>
            </p:extLst>
          </p:nvPr>
        </p:nvGraphicFramePr>
        <p:xfrm>
          <a:off x="838199" y="3308630"/>
          <a:ext cx="10515600" cy="3047719"/>
        </p:xfrm>
        <a:graphic>
          <a:graphicData uri="http://schemas.openxmlformats.org/drawingml/2006/table">
            <a:tbl>
              <a:tblPr firstRow="1" bandRow="1">
                <a:tableStyleId>{5940675A-B579-460E-94D1-54222C63F5DA}</a:tableStyleId>
              </a:tblPr>
              <a:tblGrid>
                <a:gridCol w="2962620">
                  <a:extLst>
                    <a:ext uri="{9D8B030D-6E8A-4147-A177-3AD203B41FA5}">
                      <a16:colId xmlns:a16="http://schemas.microsoft.com/office/drawing/2014/main" val="2165821717"/>
                    </a:ext>
                  </a:extLst>
                </a:gridCol>
                <a:gridCol w="7552980">
                  <a:extLst>
                    <a:ext uri="{9D8B030D-6E8A-4147-A177-3AD203B41FA5}">
                      <a16:colId xmlns:a16="http://schemas.microsoft.com/office/drawing/2014/main" val="413740914"/>
                    </a:ext>
                  </a:extLst>
                </a:gridCol>
              </a:tblGrid>
              <a:tr h="38558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665533">
                <a:tc>
                  <a:txBody>
                    <a:bodyPr/>
                    <a:lstStyle/>
                    <a:p>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2292563387"/>
                  </a:ext>
                </a:extLst>
              </a:tr>
              <a:tr h="665533">
                <a:tc>
                  <a:txBody>
                    <a:bodyPr/>
                    <a:lstStyle/>
                    <a:p>
                      <a:r>
                        <a:rPr kumimoji="1" lang="en-US" altLang="ja-JP" dirty="0"/>
                        <a:t>7.2.4</a:t>
                      </a:r>
                      <a:r>
                        <a:rPr kumimoji="1" lang="ja-JP" altLang="en-US" dirty="0"/>
                        <a:t>　第二者監査員の力量</a:t>
                      </a:r>
                    </a:p>
                  </a:txBody>
                  <a:tcPr>
                    <a:lnB w="12700" cap="flat" cmpd="sng" algn="ctr">
                      <a:solidFill>
                        <a:schemeClr val="tx1"/>
                      </a:solidFill>
                      <a:prstDash val="solid"/>
                      <a:round/>
                      <a:headEnd type="none" w="med" len="med"/>
                      <a:tailEnd type="none" w="med" len="med"/>
                    </a:lnB>
                  </a:tcPr>
                </a:tc>
                <a:tc>
                  <a:txBody>
                    <a:bodyPr/>
                    <a:lstStyle/>
                    <a:p>
                      <a:r>
                        <a:rPr kumimoji="1" lang="ja-JP" altLang="en-US" dirty="0"/>
                        <a:t>第二者監査員は、適格性確認に対する顧客要求事項を満たし、</a:t>
                      </a:r>
                      <a:r>
                        <a:rPr kumimoji="1" lang="ja-JP" altLang="en-US" dirty="0">
                          <a:solidFill>
                            <a:srgbClr val="FF0000"/>
                          </a:solidFill>
                        </a:rPr>
                        <a:t>該当する</a:t>
                      </a:r>
                      <a:endParaRPr kumimoji="1" lang="en-US" altLang="ja-JP" dirty="0">
                        <a:solidFill>
                          <a:srgbClr val="FF0000"/>
                        </a:solidFill>
                      </a:endParaRPr>
                    </a:p>
                    <a:p>
                      <a:r>
                        <a:rPr kumimoji="1" lang="ja-JP" altLang="en-US" dirty="0">
                          <a:solidFill>
                            <a:srgbClr val="FF0000"/>
                          </a:solidFill>
                        </a:rPr>
                        <a:t>コアツール</a:t>
                      </a:r>
                      <a:r>
                        <a:rPr kumimoji="1" lang="ja-JP" altLang="en-US" dirty="0"/>
                        <a:t>要求事項の力量を実証する。</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4492090"/>
                  </a:ext>
                </a:extLst>
              </a:tr>
              <a:tr h="665533">
                <a:tc>
                  <a:txBody>
                    <a:bodyPr/>
                    <a:lstStyle/>
                    <a:p>
                      <a:r>
                        <a:rPr kumimoji="1" lang="en-US" altLang="ja-JP" b="0" u="none" dirty="0"/>
                        <a:t>8.3.2.1</a:t>
                      </a:r>
                      <a:r>
                        <a:rPr kumimoji="1" lang="ja-JP" altLang="en-US" b="0" u="none" dirty="0"/>
                        <a:t>　設計・開発の計画－補足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kumimoji="1" lang="ja-JP" altLang="en-US" b="0" u="none" dirty="0"/>
                        <a:t>部門横断的アプローチで推進する例には、プロジェクトマネジメント（例えば、</a:t>
                      </a:r>
                      <a:r>
                        <a:rPr kumimoji="1" lang="en-US" altLang="ja-JP" b="0" u="none" dirty="0">
                          <a:solidFill>
                            <a:srgbClr val="FF0000"/>
                          </a:solidFill>
                        </a:rPr>
                        <a:t>APQP</a:t>
                      </a:r>
                      <a:r>
                        <a:rPr kumimoji="1" lang="ja-JP" altLang="en-US" b="0" u="none" dirty="0"/>
                        <a:t>または</a:t>
                      </a:r>
                      <a:r>
                        <a:rPr kumimoji="1" lang="en-US" altLang="ja-JP" b="0" u="none" dirty="0"/>
                        <a:t>VDA-RGA</a:t>
                      </a:r>
                      <a:r>
                        <a:rPr kumimoji="1" lang="ja-JP" altLang="en-US" b="0" u="none" dirty="0"/>
                        <a:t>）がある。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58611776"/>
                  </a:ext>
                </a:extLst>
              </a:tr>
              <a:tr h="665533">
                <a:tc>
                  <a:txBody>
                    <a:bodyPr/>
                    <a:lstStyle/>
                    <a:p>
                      <a:r>
                        <a:rPr kumimoji="1" lang="en-US" altLang="ja-JP" dirty="0"/>
                        <a:t>9.1.1.2</a:t>
                      </a:r>
                      <a:r>
                        <a:rPr kumimoji="1" lang="ja-JP" altLang="en-US" dirty="0"/>
                        <a:t>　統計的ツールの特定</a:t>
                      </a:r>
                    </a:p>
                  </a:txBody>
                  <a:tcPr>
                    <a:lnT w="12700" cap="flat" cmpd="sng" algn="ctr">
                      <a:solidFill>
                        <a:schemeClr val="tx1"/>
                      </a:solidFill>
                      <a:prstDash val="solid"/>
                      <a:round/>
                      <a:headEnd type="none" w="med" len="med"/>
                      <a:tailEnd type="none" w="med" len="med"/>
                    </a:lnT>
                  </a:tcPr>
                </a:tc>
                <a:tc>
                  <a:txBody>
                    <a:bodyPr/>
                    <a:lstStyle/>
                    <a:p>
                      <a:r>
                        <a:rPr kumimoji="1" lang="ja-JP" altLang="en-US" dirty="0"/>
                        <a:t>適切な統計的ツールが、</a:t>
                      </a:r>
                      <a:r>
                        <a:rPr kumimoji="1" lang="ja-JP" altLang="en-US" dirty="0">
                          <a:solidFill>
                            <a:srgbClr val="FF0000"/>
                          </a:solidFill>
                        </a:rPr>
                        <a:t>先行製品品質計画</a:t>
                      </a:r>
                      <a:r>
                        <a:rPr kumimoji="1" lang="ja-JP" altLang="en-US" dirty="0"/>
                        <a:t>プロセスの一部として含まれる。</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52894290"/>
                  </a:ext>
                </a:extLst>
              </a:tr>
            </a:tbl>
          </a:graphicData>
        </a:graphic>
      </p:graphicFrame>
    </p:spTree>
    <p:extLst>
      <p:ext uri="{BB962C8B-B14F-4D97-AF65-F5344CB8AC3E}">
        <p14:creationId xmlns:p14="http://schemas.microsoft.com/office/powerpoint/2010/main" val="2663067689"/>
      </p:ext>
    </p:extLst>
  </p:cSld>
  <p:clrMapOvr>
    <a:masterClrMapping/>
  </p:clrMapOvr>
  <p:timing>
    <p:tnLst>
      <p:par>
        <p:cTn id="1" dur="indefinite" restart="never" nodeType="tmRoot"/>
      </p:par>
    </p:tnLst>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コントロールプランは、製品と製造工程の管理方法を記述した文書で、</a:t>
            </a:r>
            <a:r>
              <a:rPr lang="en-US" altLang="ja-JP" sz="2400" dirty="0"/>
              <a:t>IATF16949</a:t>
            </a:r>
            <a:r>
              <a:rPr lang="ja-JP" altLang="en-US" sz="2400" dirty="0"/>
              <a:t>の中で最も重要な文書の一つ。</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ＡＰＱＰ＆ＣＰとＩＡＴＦ１６９４９要求事項</a:t>
            </a:r>
          </a:p>
        </p:txBody>
      </p:sp>
      <p:graphicFrame>
        <p:nvGraphicFramePr>
          <p:cNvPr id="3" name="表 2">
            <a:extLst>
              <a:ext uri="{FF2B5EF4-FFF2-40B4-BE49-F238E27FC236}">
                <a16:creationId xmlns:a16="http://schemas.microsoft.com/office/drawing/2014/main" id="{CF1FC237-1176-4303-8379-047EF241B3FF}"/>
              </a:ext>
            </a:extLst>
          </p:cNvPr>
          <p:cNvGraphicFramePr>
            <a:graphicFrameLocks noGrp="1"/>
          </p:cNvGraphicFramePr>
          <p:nvPr>
            <p:extLst>
              <p:ext uri="{D42A27DB-BD31-4B8C-83A1-F6EECF244321}">
                <p14:modId xmlns:p14="http://schemas.microsoft.com/office/powerpoint/2010/main" val="1001513117"/>
              </p:ext>
            </p:extLst>
          </p:nvPr>
        </p:nvGraphicFramePr>
        <p:xfrm>
          <a:off x="838199" y="2173893"/>
          <a:ext cx="10515600" cy="4182455"/>
        </p:xfrm>
        <a:graphic>
          <a:graphicData uri="http://schemas.openxmlformats.org/drawingml/2006/table">
            <a:tbl>
              <a:tblPr firstRow="1" bandRow="1">
                <a:tableStyleId>{5940675A-B579-460E-94D1-54222C63F5DA}</a:tableStyleId>
              </a:tblPr>
              <a:tblGrid>
                <a:gridCol w="2378726">
                  <a:extLst>
                    <a:ext uri="{9D8B030D-6E8A-4147-A177-3AD203B41FA5}">
                      <a16:colId xmlns:a16="http://schemas.microsoft.com/office/drawing/2014/main" val="2259541356"/>
                    </a:ext>
                  </a:extLst>
                </a:gridCol>
                <a:gridCol w="8136874">
                  <a:extLst>
                    <a:ext uri="{9D8B030D-6E8A-4147-A177-3AD203B41FA5}">
                      <a16:colId xmlns:a16="http://schemas.microsoft.com/office/drawing/2014/main" val="4163422114"/>
                    </a:ext>
                  </a:extLst>
                </a:gridCol>
              </a:tblGrid>
              <a:tr h="427642">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398807974"/>
                  </a:ext>
                </a:extLst>
              </a:tr>
              <a:tr h="738123">
                <a:tc>
                  <a:txBody>
                    <a:bodyPr/>
                    <a:lstStyle/>
                    <a:p>
                      <a:r>
                        <a:rPr kumimoji="1" lang="en-US" altLang="ja-JP" dirty="0"/>
                        <a:t>4.4.1.2</a:t>
                      </a:r>
                      <a:r>
                        <a:rPr kumimoji="1" lang="ja-JP" altLang="en-US" dirty="0"/>
                        <a:t>　製品安全</a:t>
                      </a:r>
                    </a:p>
                  </a:txBody>
                  <a:tcPr/>
                </a:tc>
                <a:tc>
                  <a:txBody>
                    <a:bodyPr/>
                    <a:lstStyle/>
                    <a:p>
                      <a:r>
                        <a:rPr kumimoji="1" lang="ja-JP" altLang="en-US" dirty="0"/>
                        <a:t>製品安全に関係する製品と製造工程の運用管理に対する文書化したプロセスをもつ。これには</a:t>
                      </a:r>
                      <a:r>
                        <a:rPr kumimoji="1" lang="ja-JP" altLang="en-US" dirty="0">
                          <a:solidFill>
                            <a:srgbClr val="FF0000"/>
                          </a:solidFill>
                        </a:rPr>
                        <a:t>コントロールプラン</a:t>
                      </a:r>
                      <a:r>
                        <a:rPr kumimoji="1" lang="ja-JP" altLang="en-US" dirty="0"/>
                        <a:t>の特別承認を含める。</a:t>
                      </a:r>
                    </a:p>
                  </a:txBody>
                  <a:tcPr/>
                </a:tc>
                <a:extLst>
                  <a:ext uri="{0D108BD9-81ED-4DB2-BD59-A6C34878D82A}">
                    <a16:rowId xmlns:a16="http://schemas.microsoft.com/office/drawing/2014/main" val="2176103049"/>
                  </a:ext>
                </a:extLst>
              </a:tr>
              <a:tr h="1054460">
                <a:tc>
                  <a:txBody>
                    <a:bodyPr/>
                    <a:lstStyle/>
                    <a:p>
                      <a:r>
                        <a:rPr kumimoji="1" lang="en-US" altLang="ja-JP" dirty="0"/>
                        <a:t>7.1.3.1</a:t>
                      </a:r>
                      <a:r>
                        <a:rPr kumimoji="1" lang="ja-JP" altLang="en-US" dirty="0"/>
                        <a:t>　工場、施設および設備の計画</a:t>
                      </a:r>
                    </a:p>
                  </a:txBody>
                  <a:tcPr/>
                </a:tc>
                <a:tc>
                  <a:txBody>
                    <a:bodyPr/>
                    <a:lstStyle/>
                    <a:p>
                      <a:r>
                        <a:rPr kumimoji="1" lang="ja-JP" altLang="en-US" dirty="0"/>
                        <a:t>リスクに関連する定期的再評価を含めて、工程承認中に行われた変更、</a:t>
                      </a:r>
                      <a:r>
                        <a:rPr kumimoji="1" lang="ja-JP" altLang="en-US" dirty="0">
                          <a:solidFill>
                            <a:srgbClr val="FF0000"/>
                          </a:solidFill>
                        </a:rPr>
                        <a:t>コントロールプラン</a:t>
                      </a:r>
                      <a:r>
                        <a:rPr kumimoji="1" lang="ja-JP" altLang="en-US" dirty="0"/>
                        <a:t>の維持、及び作業の段取り替え検証を取り入れるために、工程の有効性を維持する。</a:t>
                      </a:r>
                    </a:p>
                  </a:txBody>
                  <a:tcPr/>
                </a:tc>
                <a:extLst>
                  <a:ext uri="{0D108BD9-81ED-4DB2-BD59-A6C34878D82A}">
                    <a16:rowId xmlns:a16="http://schemas.microsoft.com/office/drawing/2014/main" val="839771783"/>
                  </a:ext>
                </a:extLst>
              </a:tr>
              <a:tr h="485984">
                <a:tc rowSpan="2">
                  <a:txBody>
                    <a:bodyPr/>
                    <a:lstStyle/>
                    <a:p>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1124162530"/>
                  </a:ext>
                </a:extLst>
              </a:tr>
              <a:tr h="738123">
                <a:tc vMerge="1">
                  <a:txBody>
                    <a:bodyPr/>
                    <a:lstStyle/>
                    <a:p>
                      <a:endParaRPr kumimoji="1" lang="ja-JP" altLang="en-US" dirty="0"/>
                    </a:p>
                  </a:txBody>
                  <a:tcPr/>
                </a:tc>
                <a:tc>
                  <a:txBody>
                    <a:bodyPr/>
                    <a:lstStyle/>
                    <a:p>
                      <a:r>
                        <a:rPr kumimoji="1" lang="ja-JP" altLang="en-US" dirty="0"/>
                        <a:t>製造工程監査員は、監査対象となる製造工程の</a:t>
                      </a:r>
                      <a:r>
                        <a:rPr kumimoji="1" lang="ja-JP" altLang="en-US" dirty="0">
                          <a:solidFill>
                            <a:srgbClr val="FF0000"/>
                          </a:solidFill>
                        </a:rPr>
                        <a:t>コントロールプラン</a:t>
                      </a:r>
                      <a:r>
                        <a:rPr kumimoji="1" lang="ja-JP" altLang="en-US" dirty="0"/>
                        <a:t>を含む、専門的理解を実証する。</a:t>
                      </a:r>
                    </a:p>
                  </a:txBody>
                  <a:tcPr/>
                </a:tc>
                <a:extLst>
                  <a:ext uri="{0D108BD9-81ED-4DB2-BD59-A6C34878D82A}">
                    <a16:rowId xmlns:a16="http://schemas.microsoft.com/office/drawing/2014/main" val="62752251"/>
                  </a:ext>
                </a:extLst>
              </a:tr>
              <a:tr h="738123">
                <a:tc>
                  <a:txBody>
                    <a:bodyPr/>
                    <a:lstStyle/>
                    <a:p>
                      <a:r>
                        <a:rPr kumimoji="1" lang="en-US" altLang="ja-JP" dirty="0"/>
                        <a:t>7.2.4</a:t>
                      </a:r>
                      <a:r>
                        <a:rPr kumimoji="1" lang="ja-JP" altLang="en-US" dirty="0"/>
                        <a:t>　第二者監査員の力量</a:t>
                      </a:r>
                    </a:p>
                  </a:txBody>
                  <a:tcPr/>
                </a:tc>
                <a:tc>
                  <a:txBody>
                    <a:bodyPr/>
                    <a:lstStyle/>
                    <a:p>
                      <a:r>
                        <a:rPr kumimoji="1" lang="ja-JP" altLang="en-US" dirty="0"/>
                        <a:t>製造工程監査員は、監査対象となる製造工程の</a:t>
                      </a:r>
                      <a:r>
                        <a:rPr kumimoji="1" lang="ja-JP" altLang="en-US" dirty="0">
                          <a:solidFill>
                            <a:srgbClr val="FF0000"/>
                          </a:solidFill>
                        </a:rPr>
                        <a:t>コントロールプラン</a:t>
                      </a:r>
                      <a:r>
                        <a:rPr kumimoji="1" lang="ja-JP" altLang="en-US" dirty="0"/>
                        <a:t>を含む、専門的理解を実証する。</a:t>
                      </a:r>
                    </a:p>
                  </a:txBody>
                  <a:tcPr/>
                </a:tc>
                <a:extLst>
                  <a:ext uri="{0D108BD9-81ED-4DB2-BD59-A6C34878D82A}">
                    <a16:rowId xmlns:a16="http://schemas.microsoft.com/office/drawing/2014/main" val="3113601758"/>
                  </a:ext>
                </a:extLst>
              </a:tr>
            </a:tbl>
          </a:graphicData>
        </a:graphic>
      </p:graphicFrame>
    </p:spTree>
    <p:extLst>
      <p:ext uri="{BB962C8B-B14F-4D97-AF65-F5344CB8AC3E}">
        <p14:creationId xmlns:p14="http://schemas.microsoft.com/office/powerpoint/2010/main" val="3831193436"/>
      </p:ext>
    </p:extLst>
  </p:cSld>
  <p:clrMapOvr>
    <a:masterClrMapping/>
  </p:clrMapOvr>
  <p:timing>
    <p:tnLst>
      <p:par>
        <p:cTn id="1" dur="indefinite" restart="never" nodeType="tmRoot"/>
      </p:par>
    </p:tnLst>
  </p:timing>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ＡＰＱＰ＆ＣＰとＩＡＴＦ１６９４９要求事項</a:t>
            </a:r>
          </a:p>
        </p:txBody>
      </p:sp>
      <p:graphicFrame>
        <p:nvGraphicFramePr>
          <p:cNvPr id="3" name="表 2">
            <a:extLst>
              <a:ext uri="{FF2B5EF4-FFF2-40B4-BE49-F238E27FC236}">
                <a16:creationId xmlns:a16="http://schemas.microsoft.com/office/drawing/2014/main" id="{CF1FC237-1176-4303-8379-047EF241B3FF}"/>
              </a:ext>
            </a:extLst>
          </p:cNvPr>
          <p:cNvGraphicFramePr>
            <a:graphicFrameLocks noGrp="1"/>
          </p:cNvGraphicFramePr>
          <p:nvPr>
            <p:extLst>
              <p:ext uri="{D42A27DB-BD31-4B8C-83A1-F6EECF244321}">
                <p14:modId xmlns:p14="http://schemas.microsoft.com/office/powerpoint/2010/main" val="2404482413"/>
              </p:ext>
            </p:extLst>
          </p:nvPr>
        </p:nvGraphicFramePr>
        <p:xfrm>
          <a:off x="838200" y="1344059"/>
          <a:ext cx="10515600" cy="5012292"/>
        </p:xfrm>
        <a:graphic>
          <a:graphicData uri="http://schemas.openxmlformats.org/drawingml/2006/table">
            <a:tbl>
              <a:tblPr firstRow="1" bandRow="1">
                <a:tableStyleId>{5940675A-B579-460E-94D1-54222C63F5DA}</a:tableStyleId>
              </a:tblPr>
              <a:tblGrid>
                <a:gridCol w="2929570">
                  <a:extLst>
                    <a:ext uri="{9D8B030D-6E8A-4147-A177-3AD203B41FA5}">
                      <a16:colId xmlns:a16="http://schemas.microsoft.com/office/drawing/2014/main" val="2259541356"/>
                    </a:ext>
                  </a:extLst>
                </a:gridCol>
                <a:gridCol w="7586030">
                  <a:extLst>
                    <a:ext uri="{9D8B030D-6E8A-4147-A177-3AD203B41FA5}">
                      <a16:colId xmlns:a16="http://schemas.microsoft.com/office/drawing/2014/main" val="4163422114"/>
                    </a:ext>
                  </a:extLst>
                </a:gridCol>
              </a:tblGrid>
              <a:tr h="436604">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398807974"/>
                  </a:ext>
                </a:extLst>
              </a:tr>
              <a:tr h="6928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7.5.3.2.2</a:t>
                      </a:r>
                      <a:r>
                        <a:rPr kumimoji="1" lang="ja-JP" altLang="en-US" dirty="0"/>
                        <a:t>　技術仕様書</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技術規格・仕様書の変更が、</a:t>
                      </a:r>
                      <a:r>
                        <a:rPr kumimoji="1" lang="ja-JP" altLang="en-US" dirty="0">
                          <a:solidFill>
                            <a:srgbClr val="FF0000"/>
                          </a:solidFill>
                        </a:rPr>
                        <a:t>コントロールプラン</a:t>
                      </a:r>
                      <a:r>
                        <a:rPr kumimoji="1" lang="ja-JP" altLang="en-US" dirty="0"/>
                        <a:t>のような生産部品承認プロセスに影響する場合、顧客の生産部品の再承認が要求される。</a:t>
                      </a:r>
                    </a:p>
                  </a:txBody>
                  <a:tcPr/>
                </a:tc>
                <a:extLst>
                  <a:ext uri="{0D108BD9-81ED-4DB2-BD59-A6C34878D82A}">
                    <a16:rowId xmlns:a16="http://schemas.microsoft.com/office/drawing/2014/main" val="2176103049"/>
                  </a:ext>
                </a:extLst>
              </a:tr>
              <a:tr h="6928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8.3.2.1</a:t>
                      </a:r>
                      <a:r>
                        <a:rPr kumimoji="1" lang="ja-JP" altLang="en-US" dirty="0"/>
                        <a:t>　設計・開発の計画－補足</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部門横断的アプローチで推進する例には、製造工程リスク分析の実施及びレビュー（例えば、</a:t>
                      </a:r>
                      <a:r>
                        <a:rPr kumimoji="1" lang="ja-JP" altLang="en-US" dirty="0">
                          <a:solidFill>
                            <a:srgbClr val="FF0000"/>
                          </a:solidFill>
                        </a:rPr>
                        <a:t>コントロールプラン</a:t>
                      </a:r>
                      <a:r>
                        <a:rPr kumimoji="1" lang="ja-JP" altLang="en-US" dirty="0"/>
                        <a:t>）がある。</a:t>
                      </a:r>
                    </a:p>
                  </a:txBody>
                  <a:tcPr/>
                </a:tc>
                <a:extLst>
                  <a:ext uri="{0D108BD9-81ED-4DB2-BD59-A6C34878D82A}">
                    <a16:rowId xmlns:a16="http://schemas.microsoft.com/office/drawing/2014/main" val="166450861"/>
                  </a:ext>
                </a:extLst>
              </a:tr>
              <a:tr h="692889">
                <a:tc>
                  <a:txBody>
                    <a:bodyPr/>
                    <a:lstStyle/>
                    <a:p>
                      <a:r>
                        <a:rPr kumimoji="1" lang="en-US" altLang="ja-JP" dirty="0"/>
                        <a:t>8.3.3.3</a:t>
                      </a:r>
                      <a:r>
                        <a:rPr kumimoji="1" lang="ja-JP" altLang="en-US" dirty="0"/>
                        <a:t>　特殊特性</a:t>
                      </a:r>
                    </a:p>
                  </a:txBody>
                  <a:tcPr/>
                </a:tc>
                <a:tc>
                  <a:txBody>
                    <a:bodyPr/>
                    <a:lstStyle/>
                    <a:p>
                      <a:r>
                        <a:rPr kumimoji="1" lang="ja-JP" altLang="en-US" dirty="0"/>
                        <a:t>特殊特性を特定するプロセスを確立し、文書化し、実施する。特殊特性を</a:t>
                      </a:r>
                      <a:r>
                        <a:rPr kumimoji="1" lang="ja-JP" altLang="en-US" dirty="0">
                          <a:solidFill>
                            <a:srgbClr val="FF0000"/>
                          </a:solidFill>
                        </a:rPr>
                        <a:t>コントロールプラン</a:t>
                      </a:r>
                      <a:r>
                        <a:rPr kumimoji="1" lang="ja-JP" altLang="en-US" dirty="0"/>
                        <a:t>に含める。</a:t>
                      </a:r>
                    </a:p>
                  </a:txBody>
                  <a:tcPr/>
                </a:tc>
                <a:extLst>
                  <a:ext uri="{0D108BD9-81ED-4DB2-BD59-A6C34878D82A}">
                    <a16:rowId xmlns:a16="http://schemas.microsoft.com/office/drawing/2014/main" val="839771783"/>
                  </a:ext>
                </a:extLst>
              </a:tr>
              <a:tr h="753590">
                <a:tc>
                  <a:txBody>
                    <a:bodyPr/>
                    <a:lstStyle/>
                    <a:p>
                      <a:r>
                        <a:rPr kumimoji="1" lang="en-US" altLang="ja-JP" dirty="0"/>
                        <a:t>8.3.4.3</a:t>
                      </a:r>
                      <a:r>
                        <a:rPr kumimoji="1" lang="ja-JP" altLang="en-US" dirty="0"/>
                        <a:t>　試作プログラム</a:t>
                      </a:r>
                    </a:p>
                  </a:txBody>
                  <a:tcPr/>
                </a:tc>
                <a:tc>
                  <a:txBody>
                    <a:bodyPr/>
                    <a:lstStyle/>
                    <a:p>
                      <a:r>
                        <a:rPr kumimoji="1" lang="ja-JP" altLang="en-US" dirty="0"/>
                        <a:t>顧客から要求される場合、試作プログラム及び試作</a:t>
                      </a:r>
                      <a:r>
                        <a:rPr kumimoji="1" lang="ja-JP" altLang="en-US" dirty="0">
                          <a:solidFill>
                            <a:srgbClr val="FF0000"/>
                          </a:solidFill>
                        </a:rPr>
                        <a:t>コントロールプラン</a:t>
                      </a:r>
                      <a:r>
                        <a:rPr kumimoji="1" lang="ja-JP" altLang="en-US" dirty="0"/>
                        <a:t>をもつ。</a:t>
                      </a:r>
                    </a:p>
                  </a:txBody>
                  <a:tcPr/>
                </a:tc>
                <a:extLst>
                  <a:ext uri="{0D108BD9-81ED-4DB2-BD59-A6C34878D82A}">
                    <a16:rowId xmlns:a16="http://schemas.microsoft.com/office/drawing/2014/main" val="1124162530"/>
                  </a:ext>
                </a:extLst>
              </a:tr>
              <a:tr h="753590">
                <a:tc>
                  <a:txBody>
                    <a:bodyPr/>
                    <a:lstStyle/>
                    <a:p>
                      <a:r>
                        <a:rPr kumimoji="1" lang="en-US" altLang="ja-JP" dirty="0"/>
                        <a:t>8.3.5.2</a:t>
                      </a:r>
                      <a:r>
                        <a:rPr kumimoji="1" lang="ja-JP" altLang="en-US" dirty="0"/>
                        <a:t>　製造工程設計からのアウトプット</a:t>
                      </a:r>
                    </a:p>
                  </a:txBody>
                  <a:tcPr/>
                </a:tc>
                <a:tc>
                  <a:txBody>
                    <a:bodyPr/>
                    <a:lstStyle/>
                    <a:p>
                      <a:r>
                        <a:rPr kumimoji="1" lang="ja-JP" altLang="en-US" dirty="0"/>
                        <a:t>製造工程設計からのアウトプットには、</a:t>
                      </a:r>
                      <a:r>
                        <a:rPr kumimoji="1" lang="ja-JP" altLang="en-US" dirty="0">
                          <a:solidFill>
                            <a:srgbClr val="FF0000"/>
                          </a:solidFill>
                        </a:rPr>
                        <a:t>コントロールプラン</a:t>
                      </a:r>
                      <a:r>
                        <a:rPr kumimoji="1" lang="ja-JP" altLang="en-US" dirty="0"/>
                        <a:t>などを含める。</a:t>
                      </a:r>
                    </a:p>
                  </a:txBody>
                  <a:tcPr/>
                </a:tc>
                <a:extLst>
                  <a:ext uri="{0D108BD9-81ED-4DB2-BD59-A6C34878D82A}">
                    <a16:rowId xmlns:a16="http://schemas.microsoft.com/office/drawing/2014/main" val="3113601758"/>
                  </a:ext>
                </a:extLst>
              </a:tr>
              <a:tr h="989841">
                <a:tc>
                  <a:txBody>
                    <a:bodyPr/>
                    <a:lstStyle/>
                    <a:p>
                      <a:r>
                        <a:rPr kumimoji="1" lang="en-US" altLang="ja-JP" b="0" dirty="0"/>
                        <a:t>8.5.1.1</a:t>
                      </a:r>
                      <a:r>
                        <a:rPr kumimoji="1" lang="ja-JP" altLang="en-US" b="0" dirty="0"/>
                        <a:t>　</a:t>
                      </a:r>
                      <a:r>
                        <a:rPr kumimoji="1" lang="ja-JP" altLang="en-US" b="0" dirty="0">
                          <a:solidFill>
                            <a:srgbClr val="FF0000"/>
                          </a:solidFill>
                        </a:rPr>
                        <a:t>コントロールプラン</a:t>
                      </a:r>
                    </a:p>
                  </a:txBody>
                  <a:tcPr>
                    <a:solidFill>
                      <a:schemeClr val="accent4">
                        <a:lumMod val="20000"/>
                        <a:lumOff val="80000"/>
                      </a:schemeClr>
                    </a:solidFill>
                  </a:tcPr>
                </a:tc>
                <a:tc>
                  <a:txBody>
                    <a:bodyPr/>
                    <a:lstStyle/>
                    <a:p>
                      <a:r>
                        <a:rPr kumimoji="1" lang="ja-JP" altLang="en-US" b="0" dirty="0"/>
                        <a:t>コントロールプランは、該当する製造サイト及び全ての供給する製品に対して、システム、サブシステム、構成部品又は材料のレベルで、バルク材料を含めて策定する。</a:t>
                      </a:r>
                    </a:p>
                  </a:txBody>
                  <a:tcPr>
                    <a:solidFill>
                      <a:schemeClr val="accent4">
                        <a:lumMod val="20000"/>
                        <a:lumOff val="80000"/>
                      </a:schemeClr>
                    </a:solidFill>
                  </a:tcPr>
                </a:tc>
                <a:extLst>
                  <a:ext uri="{0D108BD9-81ED-4DB2-BD59-A6C34878D82A}">
                    <a16:rowId xmlns:a16="http://schemas.microsoft.com/office/drawing/2014/main" val="2027381411"/>
                  </a:ext>
                </a:extLst>
              </a:tr>
            </a:tbl>
          </a:graphicData>
        </a:graphic>
      </p:graphicFrame>
    </p:spTree>
    <p:extLst>
      <p:ext uri="{BB962C8B-B14F-4D97-AF65-F5344CB8AC3E}">
        <p14:creationId xmlns:p14="http://schemas.microsoft.com/office/powerpoint/2010/main" val="1815610562"/>
      </p:ext>
    </p:extLst>
  </p:cSld>
  <p:clrMapOvr>
    <a:masterClrMapping/>
  </p:clrMapOvr>
  <p:timing>
    <p:tnLst>
      <p:par>
        <p:cTn id="1" dur="indefinite" restart="never" nodeType="tmRoot"/>
      </p:par>
    </p:tnLst>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ＡＰＱＰ＆ＣＰとＩＡＴＦ１６９４９要求事項</a:t>
            </a:r>
          </a:p>
        </p:txBody>
      </p:sp>
      <p:graphicFrame>
        <p:nvGraphicFramePr>
          <p:cNvPr id="3" name="表 2">
            <a:extLst>
              <a:ext uri="{FF2B5EF4-FFF2-40B4-BE49-F238E27FC236}">
                <a16:creationId xmlns:a16="http://schemas.microsoft.com/office/drawing/2014/main" id="{CF1FC237-1176-4303-8379-047EF241B3FF}"/>
              </a:ext>
            </a:extLst>
          </p:cNvPr>
          <p:cNvGraphicFramePr>
            <a:graphicFrameLocks noGrp="1"/>
          </p:cNvGraphicFramePr>
          <p:nvPr>
            <p:extLst>
              <p:ext uri="{D42A27DB-BD31-4B8C-83A1-F6EECF244321}">
                <p14:modId xmlns:p14="http://schemas.microsoft.com/office/powerpoint/2010/main" val="506696977"/>
              </p:ext>
            </p:extLst>
          </p:nvPr>
        </p:nvGraphicFramePr>
        <p:xfrm>
          <a:off x="838200" y="1344058"/>
          <a:ext cx="10515600" cy="5012294"/>
        </p:xfrm>
        <a:graphic>
          <a:graphicData uri="http://schemas.openxmlformats.org/drawingml/2006/table">
            <a:tbl>
              <a:tblPr firstRow="1" bandRow="1">
                <a:tableStyleId>{5940675A-B579-460E-94D1-54222C63F5DA}</a:tableStyleId>
              </a:tblPr>
              <a:tblGrid>
                <a:gridCol w="2466861">
                  <a:extLst>
                    <a:ext uri="{9D8B030D-6E8A-4147-A177-3AD203B41FA5}">
                      <a16:colId xmlns:a16="http://schemas.microsoft.com/office/drawing/2014/main" val="2259541356"/>
                    </a:ext>
                  </a:extLst>
                </a:gridCol>
                <a:gridCol w="8048739">
                  <a:extLst>
                    <a:ext uri="{9D8B030D-6E8A-4147-A177-3AD203B41FA5}">
                      <a16:colId xmlns:a16="http://schemas.microsoft.com/office/drawing/2014/main" val="4163422114"/>
                    </a:ext>
                  </a:extLst>
                </a:gridCol>
              </a:tblGrid>
              <a:tr h="391706">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398807974"/>
                  </a:ext>
                </a:extLst>
              </a:tr>
              <a:tr h="685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0" dirty="0"/>
                        <a:t>8.5.1.1</a:t>
                      </a:r>
                      <a:r>
                        <a:rPr kumimoji="1" lang="ja-JP" altLang="en-US" b="0" dirty="0"/>
                        <a:t>　</a:t>
                      </a:r>
                      <a:r>
                        <a:rPr kumimoji="1" lang="ja-JP" altLang="en-US" b="0" dirty="0">
                          <a:solidFill>
                            <a:srgbClr val="FF0000"/>
                          </a:solidFill>
                        </a:rPr>
                        <a:t>コントロールプラン</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0" dirty="0"/>
                        <a:t>量産試作及び量産に対して、製造工程のリスク分析のアウトプット（</a:t>
                      </a:r>
                      <a:r>
                        <a:rPr kumimoji="1" lang="en-US" altLang="ja-JP" b="0" dirty="0"/>
                        <a:t>FMEA</a:t>
                      </a:r>
                      <a:r>
                        <a:rPr kumimoji="1" lang="ja-JP" altLang="en-US" b="0" dirty="0"/>
                        <a:t>のような）からの情報を反映する、コントロールプランを作成する。</a:t>
                      </a:r>
                    </a:p>
                  </a:txBody>
                  <a:tcPr>
                    <a:solidFill>
                      <a:schemeClr val="accent4">
                        <a:lumMod val="20000"/>
                        <a:lumOff val="80000"/>
                      </a:schemeClr>
                    </a:solidFill>
                  </a:tcPr>
                </a:tc>
                <a:extLst>
                  <a:ext uri="{0D108BD9-81ED-4DB2-BD59-A6C34878D82A}">
                    <a16:rowId xmlns:a16="http://schemas.microsoft.com/office/drawing/2014/main" val="839771783"/>
                  </a:ext>
                </a:extLst>
              </a:tr>
              <a:tr h="685486">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8.5.6.1.1</a:t>
                      </a:r>
                      <a:r>
                        <a:rPr kumimoji="1" lang="ja-JP" altLang="en-US" dirty="0"/>
                        <a:t>　工程管理の一時的変更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rPr>
                        <a:t>コントロールプラン</a:t>
                      </a:r>
                      <a:r>
                        <a:rPr kumimoji="1" lang="ja-JP" altLang="en-US" dirty="0"/>
                        <a:t>に引用され、承認された代替工程管理方法のリストを作成し、定期的にレビューする。</a:t>
                      </a:r>
                    </a:p>
                  </a:txBody>
                  <a:tcPr/>
                </a:tc>
                <a:extLst>
                  <a:ext uri="{0D108BD9-81ED-4DB2-BD59-A6C34878D82A}">
                    <a16:rowId xmlns:a16="http://schemas.microsoft.com/office/drawing/2014/main" val="3999552328"/>
                  </a:ext>
                </a:extLst>
              </a:tr>
              <a:tr h="685486">
                <a:tc vMerge="1">
                  <a:txBody>
                    <a:bodyPr/>
                    <a:lstStyle/>
                    <a:p>
                      <a:endParaRPr kumimoji="1" lang="ja-JP" altLang="en-US" dirty="0"/>
                    </a:p>
                  </a:txBody>
                  <a:tcPr/>
                </a:tc>
                <a:tc>
                  <a:txBody>
                    <a:bodyPr/>
                    <a:lstStyle/>
                    <a:p>
                      <a:r>
                        <a:rPr kumimoji="1" lang="ja-JP" altLang="en-US" dirty="0">
                          <a:solidFill>
                            <a:srgbClr val="FF0000"/>
                          </a:solidFill>
                        </a:rPr>
                        <a:t>コントロールプラン</a:t>
                      </a:r>
                      <a:r>
                        <a:rPr kumimoji="1" lang="ja-JP" altLang="en-US" dirty="0"/>
                        <a:t>に定められた標準作業の実施を検証するため、代替工程管理の運用を日常的にレビューする。</a:t>
                      </a:r>
                    </a:p>
                  </a:txBody>
                  <a:tcPr/>
                </a:tc>
                <a:extLst>
                  <a:ext uri="{0D108BD9-81ED-4DB2-BD59-A6C34878D82A}">
                    <a16:rowId xmlns:a16="http://schemas.microsoft.com/office/drawing/2014/main" val="1124162530"/>
                  </a:ext>
                </a:extLst>
              </a:tr>
              <a:tr h="979264">
                <a:tc>
                  <a:txBody>
                    <a:bodyPr/>
                    <a:lstStyle/>
                    <a:p>
                      <a:r>
                        <a:rPr kumimoji="1" lang="en-US" altLang="ja-JP" dirty="0"/>
                        <a:t>8.6.1</a:t>
                      </a:r>
                      <a:r>
                        <a:rPr kumimoji="1" lang="ja-JP" altLang="en-US" dirty="0"/>
                        <a:t>　製品・サービスのリリース－補足</a:t>
                      </a:r>
                    </a:p>
                  </a:txBody>
                  <a:tcPr/>
                </a:tc>
                <a:tc>
                  <a:txBody>
                    <a:bodyPr/>
                    <a:lstStyle/>
                    <a:p>
                      <a:r>
                        <a:rPr kumimoji="1" lang="ja-JP" altLang="en-US" dirty="0"/>
                        <a:t>製品・サービスの要求事項が満たされていることを検証するための計画した取決めが、</a:t>
                      </a:r>
                      <a:r>
                        <a:rPr kumimoji="1" lang="ja-JP" altLang="en-US" dirty="0">
                          <a:solidFill>
                            <a:srgbClr val="FF0000"/>
                          </a:solidFill>
                        </a:rPr>
                        <a:t>コントロールプラン</a:t>
                      </a:r>
                      <a:r>
                        <a:rPr kumimoji="1" lang="ja-JP" altLang="en-US" dirty="0"/>
                        <a:t>を網羅し、かつ、</a:t>
                      </a:r>
                      <a:r>
                        <a:rPr kumimoji="1" lang="ja-JP" altLang="en-US" dirty="0">
                          <a:solidFill>
                            <a:srgbClr val="FF0000"/>
                          </a:solidFill>
                        </a:rPr>
                        <a:t>コントロールプラン</a:t>
                      </a:r>
                      <a:r>
                        <a:rPr kumimoji="1" lang="ja-JP" altLang="en-US" dirty="0"/>
                        <a:t>に規定されたように文書化されていることを確実にする。</a:t>
                      </a:r>
                    </a:p>
                  </a:txBody>
                  <a:tcPr/>
                </a:tc>
                <a:extLst>
                  <a:ext uri="{0D108BD9-81ED-4DB2-BD59-A6C34878D82A}">
                    <a16:rowId xmlns:a16="http://schemas.microsoft.com/office/drawing/2014/main" val="3113601758"/>
                  </a:ext>
                </a:extLst>
              </a:tr>
              <a:tr h="792433">
                <a:tc>
                  <a:txBody>
                    <a:bodyPr/>
                    <a:lstStyle/>
                    <a:p>
                      <a:r>
                        <a:rPr kumimoji="1" lang="en-US" altLang="ja-JP" dirty="0"/>
                        <a:t>8.6.2</a:t>
                      </a:r>
                      <a:r>
                        <a:rPr kumimoji="1" lang="ja-JP" altLang="en-US" dirty="0"/>
                        <a:t>　レイアウト検査・機能試験</a:t>
                      </a:r>
                    </a:p>
                  </a:txBody>
                  <a:tcPr/>
                </a:tc>
                <a:tc>
                  <a:txBody>
                    <a:bodyPr/>
                    <a:lstStyle/>
                    <a:p>
                      <a:r>
                        <a:rPr kumimoji="1" lang="ja-JP" altLang="en-US" dirty="0"/>
                        <a:t>レイアウト検査及び顧客の材料・性能の技術規格に対する機能検証は、</a:t>
                      </a:r>
                      <a:r>
                        <a:rPr kumimoji="1" lang="ja-JP" altLang="en-US" dirty="0">
                          <a:solidFill>
                            <a:srgbClr val="FF0000"/>
                          </a:solidFill>
                        </a:rPr>
                        <a:t>コントロールプラン</a:t>
                      </a:r>
                      <a:r>
                        <a:rPr kumimoji="1" lang="ja-JP" altLang="en-US" dirty="0"/>
                        <a:t>に規定されたとおりに、各製品に対して実行する。</a:t>
                      </a:r>
                    </a:p>
                  </a:txBody>
                  <a:tcPr/>
                </a:tc>
                <a:extLst>
                  <a:ext uri="{0D108BD9-81ED-4DB2-BD59-A6C34878D82A}">
                    <a16:rowId xmlns:a16="http://schemas.microsoft.com/office/drawing/2014/main" val="2027381411"/>
                  </a:ext>
                </a:extLst>
              </a:tr>
              <a:tr h="792433">
                <a:tc>
                  <a:txBody>
                    <a:bodyPr/>
                    <a:lstStyle/>
                    <a:p>
                      <a:r>
                        <a:rPr kumimoji="1" lang="en-US" altLang="ja-JP" dirty="0"/>
                        <a:t>8.7.1.4</a:t>
                      </a:r>
                      <a:r>
                        <a:rPr kumimoji="1" lang="ja-JP" altLang="en-US" dirty="0"/>
                        <a:t>　手直し製品の管理</a:t>
                      </a:r>
                    </a:p>
                  </a:txBody>
                  <a:tcPr/>
                </a:tc>
                <a:tc>
                  <a:txBody>
                    <a:bodyPr/>
                    <a:lstStyle/>
                    <a:p>
                      <a:r>
                        <a:rPr kumimoji="1" lang="ja-JP" altLang="en-US" dirty="0">
                          <a:solidFill>
                            <a:srgbClr val="FF0000"/>
                          </a:solidFill>
                        </a:rPr>
                        <a:t>コントロールプラン</a:t>
                      </a:r>
                      <a:r>
                        <a:rPr kumimoji="1" lang="ja-JP" altLang="en-US" dirty="0"/>
                        <a:t>に従って、原仕様への適合を検証する手直し確認の文書化したプロセスをもつ。</a:t>
                      </a:r>
                    </a:p>
                  </a:txBody>
                  <a:tcPr/>
                </a:tc>
                <a:extLst>
                  <a:ext uri="{0D108BD9-81ED-4DB2-BD59-A6C34878D82A}">
                    <a16:rowId xmlns:a16="http://schemas.microsoft.com/office/drawing/2014/main" val="1317442097"/>
                  </a:ext>
                </a:extLst>
              </a:tr>
            </a:tbl>
          </a:graphicData>
        </a:graphic>
      </p:graphicFrame>
    </p:spTree>
    <p:extLst>
      <p:ext uri="{BB962C8B-B14F-4D97-AF65-F5344CB8AC3E}">
        <p14:creationId xmlns:p14="http://schemas.microsoft.com/office/powerpoint/2010/main" val="4225677624"/>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ＡＰＱＰ＆ＣＰとＩＡＴＦ１６９４９要求事項</a:t>
            </a:r>
          </a:p>
        </p:txBody>
      </p:sp>
      <p:graphicFrame>
        <p:nvGraphicFramePr>
          <p:cNvPr id="3" name="表 2">
            <a:extLst>
              <a:ext uri="{FF2B5EF4-FFF2-40B4-BE49-F238E27FC236}">
                <a16:creationId xmlns:a16="http://schemas.microsoft.com/office/drawing/2014/main" id="{CF1FC237-1176-4303-8379-047EF241B3FF}"/>
              </a:ext>
            </a:extLst>
          </p:cNvPr>
          <p:cNvGraphicFramePr>
            <a:graphicFrameLocks noGrp="1"/>
          </p:cNvGraphicFramePr>
          <p:nvPr>
            <p:extLst>
              <p:ext uri="{D42A27DB-BD31-4B8C-83A1-F6EECF244321}">
                <p14:modId xmlns:p14="http://schemas.microsoft.com/office/powerpoint/2010/main" val="2968061877"/>
              </p:ext>
            </p:extLst>
          </p:nvPr>
        </p:nvGraphicFramePr>
        <p:xfrm>
          <a:off x="838200" y="1344058"/>
          <a:ext cx="10515600" cy="4296153"/>
        </p:xfrm>
        <a:graphic>
          <a:graphicData uri="http://schemas.openxmlformats.org/drawingml/2006/table">
            <a:tbl>
              <a:tblPr firstRow="1" bandRow="1">
                <a:tableStyleId>{5940675A-B579-460E-94D1-54222C63F5DA}</a:tableStyleId>
              </a:tblPr>
              <a:tblGrid>
                <a:gridCol w="2466861">
                  <a:extLst>
                    <a:ext uri="{9D8B030D-6E8A-4147-A177-3AD203B41FA5}">
                      <a16:colId xmlns:a16="http://schemas.microsoft.com/office/drawing/2014/main" val="2259541356"/>
                    </a:ext>
                  </a:extLst>
                </a:gridCol>
                <a:gridCol w="8048739">
                  <a:extLst>
                    <a:ext uri="{9D8B030D-6E8A-4147-A177-3AD203B41FA5}">
                      <a16:colId xmlns:a16="http://schemas.microsoft.com/office/drawing/2014/main" val="4163422114"/>
                    </a:ext>
                  </a:extLst>
                </a:gridCol>
              </a:tblGrid>
              <a:tr h="385815">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398807974"/>
                  </a:ext>
                </a:extLst>
              </a:tr>
              <a:tr h="6751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8.7.1.5</a:t>
                      </a:r>
                      <a:r>
                        <a:rPr kumimoji="1" lang="ja-JP" altLang="en-US" dirty="0"/>
                        <a:t>　修理製品の管理</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rPr>
                        <a:t>コントロールプラン</a:t>
                      </a:r>
                      <a:r>
                        <a:rPr kumimoji="1" lang="ja-JP" altLang="en-US" dirty="0"/>
                        <a:t>に従って、修理確認の文書化したプロセスをもつ。</a:t>
                      </a:r>
                    </a:p>
                  </a:txBody>
                  <a:tcPr/>
                </a:tc>
                <a:extLst>
                  <a:ext uri="{0D108BD9-81ED-4DB2-BD59-A6C34878D82A}">
                    <a16:rowId xmlns:a16="http://schemas.microsoft.com/office/drawing/2014/main" val="1124162530"/>
                  </a:ext>
                </a:extLst>
              </a:tr>
              <a:tr h="6751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9.1.1.1</a:t>
                      </a:r>
                      <a:r>
                        <a:rPr kumimoji="1" lang="ja-JP" altLang="en-US" dirty="0"/>
                        <a:t>　製造工程の監視及び測定</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統計的に能力不足又は不安定な特性に対して、</a:t>
                      </a:r>
                      <a:r>
                        <a:rPr kumimoji="1" lang="ja-JP" altLang="en-US" dirty="0">
                          <a:solidFill>
                            <a:srgbClr val="FF0000"/>
                          </a:solidFill>
                        </a:rPr>
                        <a:t>コントロールプラン</a:t>
                      </a:r>
                      <a:r>
                        <a:rPr kumimoji="1" lang="ja-JP" altLang="en-US" dirty="0"/>
                        <a:t>に記載された対応計画を開始する。</a:t>
                      </a:r>
                    </a:p>
                  </a:txBody>
                  <a:tcPr/>
                </a:tc>
                <a:extLst>
                  <a:ext uri="{0D108BD9-81ED-4DB2-BD59-A6C34878D82A}">
                    <a16:rowId xmlns:a16="http://schemas.microsoft.com/office/drawing/2014/main" val="3113601758"/>
                  </a:ext>
                </a:extLst>
              </a:tr>
              <a:tr h="6751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9.2.2.3</a:t>
                      </a:r>
                      <a:r>
                        <a:rPr kumimoji="1" lang="ja-JP" altLang="en-US" dirty="0"/>
                        <a:t>　製造工程監査</a:t>
                      </a:r>
                    </a:p>
                  </a:txBody>
                  <a:tcPr/>
                </a:tc>
                <a:tc>
                  <a:txBody>
                    <a:bodyPr/>
                    <a:lstStyle/>
                    <a:p>
                      <a:r>
                        <a:rPr kumimoji="1" lang="ja-JP" altLang="en-US" dirty="0"/>
                        <a:t>製造工程監査には、</a:t>
                      </a:r>
                      <a:r>
                        <a:rPr kumimoji="1" lang="ja-JP" altLang="en-US" dirty="0">
                          <a:solidFill>
                            <a:srgbClr val="FF0000"/>
                          </a:solidFill>
                        </a:rPr>
                        <a:t>コントロールプラン</a:t>
                      </a:r>
                      <a:r>
                        <a:rPr kumimoji="1" lang="ja-JP" altLang="en-US" dirty="0"/>
                        <a:t>が効果的に実施されていることの監査を含める。</a:t>
                      </a:r>
                    </a:p>
                  </a:txBody>
                  <a:tcPr/>
                </a:tc>
                <a:extLst>
                  <a:ext uri="{0D108BD9-81ED-4DB2-BD59-A6C34878D82A}">
                    <a16:rowId xmlns:a16="http://schemas.microsoft.com/office/drawing/2014/main" val="318448362"/>
                  </a:ext>
                </a:extLst>
              </a:tr>
              <a:tr h="675175">
                <a:tc>
                  <a:txBody>
                    <a:bodyPr/>
                    <a:lstStyle/>
                    <a:p>
                      <a:r>
                        <a:rPr kumimoji="1" lang="en-US" altLang="ja-JP" dirty="0"/>
                        <a:t>10.2.3</a:t>
                      </a:r>
                      <a:r>
                        <a:rPr kumimoji="1" lang="ja-JP" altLang="en-US" dirty="0"/>
                        <a:t>　問題解決</a:t>
                      </a:r>
                    </a:p>
                  </a:txBody>
                  <a:tcPr/>
                </a:tc>
                <a:tc>
                  <a:txBody>
                    <a:bodyPr/>
                    <a:lstStyle/>
                    <a:p>
                      <a:r>
                        <a:rPr kumimoji="1" lang="ja-JP" altLang="en-US" dirty="0"/>
                        <a:t>文書化した情報（例えば、</a:t>
                      </a:r>
                      <a:r>
                        <a:rPr kumimoji="1" lang="ja-JP" altLang="en-US" dirty="0">
                          <a:solidFill>
                            <a:srgbClr val="FF0000"/>
                          </a:solidFill>
                        </a:rPr>
                        <a:t>コントロールプラン</a:t>
                      </a:r>
                      <a:r>
                        <a:rPr kumimoji="1" lang="ja-JP" altLang="en-US" dirty="0"/>
                        <a:t>）のレビュー及び更新を含む、問題解決の文書化したプロセスをもつ。</a:t>
                      </a:r>
                    </a:p>
                  </a:txBody>
                  <a:tcPr/>
                </a:tc>
                <a:extLst>
                  <a:ext uri="{0D108BD9-81ED-4DB2-BD59-A6C34878D82A}">
                    <a16:rowId xmlns:a16="http://schemas.microsoft.com/office/drawing/2014/main" val="2027381411"/>
                  </a:ext>
                </a:extLst>
              </a:tr>
              <a:tr h="542422">
                <a:tc rowSpan="2">
                  <a:txBody>
                    <a:bodyPr/>
                    <a:lstStyle/>
                    <a:p>
                      <a:r>
                        <a:rPr kumimoji="1" lang="en-US" altLang="ja-JP" dirty="0"/>
                        <a:t>10.2.4</a:t>
                      </a:r>
                      <a:r>
                        <a:rPr kumimoji="1" lang="ja-JP" altLang="en-US" dirty="0"/>
                        <a:t>　ポカヨケ</a:t>
                      </a:r>
                    </a:p>
                  </a:txBody>
                  <a:tcPr/>
                </a:tc>
                <a:tc>
                  <a:txBody>
                    <a:bodyPr/>
                    <a:lstStyle/>
                    <a:p>
                      <a:r>
                        <a:rPr kumimoji="1" lang="ja-JP" altLang="en-US" dirty="0"/>
                        <a:t>ポカヨケ手法の活用について決定する文書化したプロセスをもつ。</a:t>
                      </a:r>
                    </a:p>
                  </a:txBody>
                  <a:tcPr/>
                </a:tc>
                <a:extLst>
                  <a:ext uri="{0D108BD9-81ED-4DB2-BD59-A6C34878D82A}">
                    <a16:rowId xmlns:a16="http://schemas.microsoft.com/office/drawing/2014/main" val="1935069047"/>
                  </a:ext>
                </a:extLst>
              </a:tr>
              <a:tr h="667216">
                <a:tc vMerge="1">
                  <a:txBody>
                    <a:bodyPr/>
                    <a:lstStyle/>
                    <a:p>
                      <a:endParaRPr kumimoji="1" lang="ja-JP" altLang="en-US" dirty="0"/>
                    </a:p>
                  </a:txBody>
                  <a:tcPr/>
                </a:tc>
                <a:tc>
                  <a:txBody>
                    <a:bodyPr/>
                    <a:lstStyle/>
                    <a:p>
                      <a:r>
                        <a:rPr kumimoji="1" lang="ja-JP" altLang="en-US" dirty="0"/>
                        <a:t>採用された手法の試験頻度は、</a:t>
                      </a:r>
                      <a:r>
                        <a:rPr kumimoji="1" lang="ja-JP" altLang="en-US" dirty="0">
                          <a:solidFill>
                            <a:srgbClr val="FF0000"/>
                          </a:solidFill>
                        </a:rPr>
                        <a:t>コントロールプラン</a:t>
                      </a:r>
                      <a:r>
                        <a:rPr kumimoji="1" lang="ja-JP" altLang="en-US" dirty="0"/>
                        <a:t>に文書化する。</a:t>
                      </a:r>
                    </a:p>
                  </a:txBody>
                  <a:tcPr/>
                </a:tc>
                <a:extLst>
                  <a:ext uri="{0D108BD9-81ED-4DB2-BD59-A6C34878D82A}">
                    <a16:rowId xmlns:a16="http://schemas.microsoft.com/office/drawing/2014/main" val="3331898325"/>
                  </a:ext>
                </a:extLst>
              </a:tr>
            </a:tbl>
          </a:graphicData>
        </a:graphic>
      </p:graphicFrame>
    </p:spTree>
    <p:extLst>
      <p:ext uri="{BB962C8B-B14F-4D97-AF65-F5344CB8AC3E}">
        <p14:creationId xmlns:p14="http://schemas.microsoft.com/office/powerpoint/2010/main" val="2060316441"/>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PPAP</a:t>
            </a:r>
            <a:r>
              <a:rPr lang="ja-JP" altLang="en-US" sz="2400" dirty="0"/>
              <a:t>は　“</a:t>
            </a:r>
            <a:r>
              <a:rPr lang="en-US" altLang="ja-JP" sz="2400" dirty="0"/>
              <a:t>IATF16949</a:t>
            </a:r>
            <a:r>
              <a:rPr lang="ja-JP" altLang="en-US" sz="2400" dirty="0"/>
              <a:t>要求事項”　の位置付け。（他のレファレンスマニュアルは　“参照事項”）</a:t>
            </a:r>
          </a:p>
          <a:p>
            <a:pPr marL="457200" indent="-457200">
              <a:lnSpc>
                <a:spcPct val="100000"/>
              </a:lnSpc>
              <a:buFont typeface="+mj-lt"/>
              <a:buAutoNum type="arabicPeriod"/>
            </a:pPr>
            <a:r>
              <a:rPr lang="ja-JP" altLang="en-US" sz="2400" dirty="0"/>
              <a:t>通常、顧客固有要求事項の重要要素として文書化（顧客文書）される。</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ＰＰＡＰとＩＡＴＦ１６９４９要求事項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2682764078"/>
              </p:ext>
            </p:extLst>
          </p:nvPr>
        </p:nvGraphicFramePr>
        <p:xfrm>
          <a:off x="838200" y="2680669"/>
          <a:ext cx="10515600" cy="3675681"/>
        </p:xfrm>
        <a:graphic>
          <a:graphicData uri="http://schemas.openxmlformats.org/drawingml/2006/table">
            <a:tbl>
              <a:tblPr firstRow="1" bandRow="1">
                <a:tableStyleId>{5940675A-B579-460E-94D1-54222C63F5DA}</a:tableStyleId>
              </a:tblPr>
              <a:tblGrid>
                <a:gridCol w="2896518">
                  <a:extLst>
                    <a:ext uri="{9D8B030D-6E8A-4147-A177-3AD203B41FA5}">
                      <a16:colId xmlns:a16="http://schemas.microsoft.com/office/drawing/2014/main" val="2165821717"/>
                    </a:ext>
                  </a:extLst>
                </a:gridCol>
                <a:gridCol w="7619082">
                  <a:extLst>
                    <a:ext uri="{9D8B030D-6E8A-4147-A177-3AD203B41FA5}">
                      <a16:colId xmlns:a16="http://schemas.microsoft.com/office/drawing/2014/main" val="413740914"/>
                    </a:ext>
                  </a:extLst>
                </a:gridCol>
              </a:tblGrid>
              <a:tr h="381686">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658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2292563387"/>
                  </a:ext>
                </a:extLst>
              </a:tr>
              <a:tr h="658799">
                <a:tc>
                  <a:txBody>
                    <a:bodyPr/>
                    <a:lstStyle/>
                    <a:p>
                      <a:r>
                        <a:rPr kumimoji="1" lang="en-US" altLang="ja-JP" dirty="0"/>
                        <a:t>7.2.4</a:t>
                      </a:r>
                      <a:r>
                        <a:rPr kumimoji="1" lang="ja-JP" altLang="en-US" dirty="0"/>
                        <a:t>　第二者監査員の力量</a:t>
                      </a:r>
                    </a:p>
                  </a:txBody>
                  <a:tcPr/>
                </a:tc>
                <a:tc>
                  <a:txBody>
                    <a:bodyPr/>
                    <a:lstStyle/>
                    <a:p>
                      <a:r>
                        <a:rPr kumimoji="1" lang="ja-JP" altLang="en-US" dirty="0"/>
                        <a:t>第二者監査員は、適格性確認に対する顧客要求事項を満たし、</a:t>
                      </a:r>
                      <a:r>
                        <a:rPr kumimoji="1" lang="ja-JP" altLang="en-US" dirty="0">
                          <a:solidFill>
                            <a:srgbClr val="FF0000"/>
                          </a:solidFill>
                        </a:rPr>
                        <a:t>該当する</a:t>
                      </a:r>
                    </a:p>
                    <a:p>
                      <a:r>
                        <a:rPr kumimoji="1" lang="ja-JP" altLang="en-US" dirty="0">
                          <a:solidFill>
                            <a:srgbClr val="FF0000"/>
                          </a:solidFill>
                        </a:rPr>
                        <a:t>コアツール</a:t>
                      </a:r>
                      <a:r>
                        <a:rPr kumimoji="1" lang="ja-JP" altLang="en-US" dirty="0"/>
                        <a:t>要求事項の力量を実証する。</a:t>
                      </a:r>
                    </a:p>
                  </a:txBody>
                  <a:tcPr/>
                </a:tc>
                <a:extLst>
                  <a:ext uri="{0D108BD9-81ED-4DB2-BD59-A6C34878D82A}">
                    <a16:rowId xmlns:a16="http://schemas.microsoft.com/office/drawing/2014/main" val="3374492090"/>
                  </a:ext>
                </a:extLst>
              </a:tr>
              <a:tr h="658799">
                <a:tc>
                  <a:txBody>
                    <a:bodyPr/>
                    <a:lstStyle/>
                    <a:p>
                      <a:r>
                        <a:rPr kumimoji="1" lang="en-US" altLang="ja-JP" dirty="0"/>
                        <a:t>7.5.3.2.2</a:t>
                      </a:r>
                      <a:r>
                        <a:rPr kumimoji="1" lang="ja-JP" altLang="en-US" dirty="0"/>
                        <a:t>　技術仕様書</a:t>
                      </a:r>
                    </a:p>
                  </a:txBody>
                  <a:tcPr/>
                </a:tc>
                <a:tc>
                  <a:txBody>
                    <a:bodyPr/>
                    <a:lstStyle/>
                    <a:p>
                      <a:r>
                        <a:rPr kumimoji="1" lang="ja-JP" altLang="en-US" dirty="0"/>
                        <a:t>技術規格／仕様書の変更は、</a:t>
                      </a:r>
                      <a:r>
                        <a:rPr kumimoji="1" lang="ja-JP" altLang="en-US" dirty="0">
                          <a:solidFill>
                            <a:srgbClr val="FF0000"/>
                          </a:solidFill>
                        </a:rPr>
                        <a:t>生産部品承認プロセス</a:t>
                      </a:r>
                      <a:r>
                        <a:rPr kumimoji="1" lang="ja-JP" altLang="en-US" dirty="0"/>
                        <a:t>文書に影響する場合、顧客の生産部品承認の再承認記録が要求される。</a:t>
                      </a:r>
                    </a:p>
                  </a:txBody>
                  <a:tcPr/>
                </a:tc>
                <a:extLst>
                  <a:ext uri="{0D108BD9-81ED-4DB2-BD59-A6C34878D82A}">
                    <a16:rowId xmlns:a16="http://schemas.microsoft.com/office/drawing/2014/main" val="4258611776"/>
                  </a:ext>
                </a:extLst>
              </a:tr>
              <a:tr h="658799">
                <a:tc>
                  <a:txBody>
                    <a:bodyPr/>
                    <a:lstStyle/>
                    <a:p>
                      <a:r>
                        <a:rPr kumimoji="1" lang="en-US" altLang="ja-JP" b="0" dirty="0"/>
                        <a:t>8.3.4.4</a:t>
                      </a:r>
                      <a:r>
                        <a:rPr kumimoji="1" lang="ja-JP" altLang="en-US" b="0" dirty="0"/>
                        <a:t>　</a:t>
                      </a:r>
                      <a:r>
                        <a:rPr kumimoji="1" lang="ja-JP" altLang="en-US" b="0" dirty="0">
                          <a:solidFill>
                            <a:srgbClr val="FF0000"/>
                          </a:solidFill>
                        </a:rPr>
                        <a:t>製品承認プロセス</a:t>
                      </a:r>
                    </a:p>
                  </a:txBody>
                  <a:tcPr>
                    <a:solidFill>
                      <a:schemeClr val="accent4">
                        <a:lumMod val="20000"/>
                        <a:lumOff val="80000"/>
                      </a:schemeClr>
                    </a:solidFill>
                  </a:tcPr>
                </a:tc>
                <a:tc>
                  <a:txBody>
                    <a:bodyPr/>
                    <a:lstStyle/>
                    <a:p>
                      <a:r>
                        <a:rPr kumimoji="1" lang="ja-JP" altLang="en-US" b="0" dirty="0"/>
                        <a:t>顧客に要求される場合、出荷に先立って、文書化した顧客の製品承認を取得する。</a:t>
                      </a:r>
                    </a:p>
                  </a:txBody>
                  <a:tcPr>
                    <a:solidFill>
                      <a:schemeClr val="accent4">
                        <a:lumMod val="20000"/>
                        <a:lumOff val="80000"/>
                      </a:schemeClr>
                    </a:solidFill>
                  </a:tcPr>
                </a:tc>
                <a:extLst>
                  <a:ext uri="{0D108BD9-81ED-4DB2-BD59-A6C34878D82A}">
                    <a16:rowId xmlns:a16="http://schemas.microsoft.com/office/drawing/2014/main" val="552894290"/>
                  </a:ext>
                </a:extLst>
              </a:tr>
              <a:tr h="658799">
                <a:tc>
                  <a:txBody>
                    <a:bodyPr/>
                    <a:lstStyle/>
                    <a:p>
                      <a:r>
                        <a:rPr kumimoji="1" lang="en-US" altLang="ja-JP" dirty="0"/>
                        <a:t>9.1.1.1</a:t>
                      </a:r>
                      <a:r>
                        <a:rPr kumimoji="1" lang="ja-JP" altLang="en-US" dirty="0"/>
                        <a:t>　製造工程の監視及び測定</a:t>
                      </a:r>
                    </a:p>
                  </a:txBody>
                  <a:tcPr/>
                </a:tc>
                <a:tc>
                  <a:txBody>
                    <a:bodyPr/>
                    <a:lstStyle/>
                    <a:p>
                      <a:r>
                        <a:rPr kumimoji="1" lang="ja-JP" altLang="en-US" dirty="0"/>
                        <a:t>顧客の</a:t>
                      </a:r>
                      <a:r>
                        <a:rPr kumimoji="1" lang="ja-JP" altLang="en-US" dirty="0">
                          <a:solidFill>
                            <a:srgbClr val="FF0000"/>
                          </a:solidFill>
                        </a:rPr>
                        <a:t>部品承認プロセス</a:t>
                      </a:r>
                      <a:r>
                        <a:rPr kumimoji="1" lang="ja-JP" altLang="en-US" dirty="0"/>
                        <a:t>要求事項で規定された製造工程能力（</a:t>
                      </a:r>
                      <a:r>
                        <a:rPr kumimoji="1" lang="en-US" altLang="ja-JP" dirty="0" err="1"/>
                        <a:t>Cpk</a:t>
                      </a:r>
                      <a:r>
                        <a:rPr kumimoji="1" lang="ja-JP" altLang="en-US" dirty="0"/>
                        <a:t>）又は製造工程性能（</a:t>
                      </a:r>
                      <a:r>
                        <a:rPr kumimoji="1" lang="en-US" altLang="ja-JP" dirty="0" err="1"/>
                        <a:t>Ppk</a:t>
                      </a:r>
                      <a:r>
                        <a:rPr kumimoji="1" lang="ja-JP" altLang="en-US" dirty="0"/>
                        <a:t>）の結果を維持する。</a:t>
                      </a:r>
                    </a:p>
                  </a:txBody>
                  <a:tcPr/>
                </a:tc>
                <a:extLst>
                  <a:ext uri="{0D108BD9-81ED-4DB2-BD59-A6C34878D82A}">
                    <a16:rowId xmlns:a16="http://schemas.microsoft.com/office/drawing/2014/main" val="3928542182"/>
                  </a:ext>
                </a:extLst>
              </a:tr>
            </a:tbl>
          </a:graphicData>
        </a:graphic>
      </p:graphicFrame>
    </p:spTree>
    <p:extLst>
      <p:ext uri="{BB962C8B-B14F-4D97-AF65-F5344CB8AC3E}">
        <p14:creationId xmlns:p14="http://schemas.microsoft.com/office/powerpoint/2010/main" val="3034835149"/>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FMEA</a:t>
            </a:r>
            <a:r>
              <a:rPr lang="ja-JP" altLang="en-US" sz="2400" dirty="0"/>
              <a:t>は設計ツールのみならず、製造工程管理、変更管理、是正処置及び安全管理など、種々の項目で活用を求めている。</a:t>
            </a:r>
          </a:p>
          <a:p>
            <a:pPr marL="457200" indent="-457200">
              <a:lnSpc>
                <a:spcPct val="100000"/>
              </a:lnSpc>
              <a:buFont typeface="+mj-lt"/>
              <a:buAutoNum type="arabicPeriod"/>
            </a:pPr>
            <a:r>
              <a:rPr lang="ja-JP" altLang="en-US" sz="2400" dirty="0"/>
              <a:t>自動車産業に於けるリスク分析とは、基本的に</a:t>
            </a:r>
            <a:r>
              <a:rPr lang="en-US" altLang="ja-JP" sz="2400" dirty="0"/>
              <a:t>FMEA</a:t>
            </a:r>
            <a:r>
              <a:rPr lang="ja-JP" altLang="en-US" sz="2400" dirty="0"/>
              <a:t>によるもの。</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379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ＦＭＥＡとＩＡＴＦ１６９４９要求事項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2055073796"/>
              </p:ext>
            </p:extLst>
          </p:nvPr>
        </p:nvGraphicFramePr>
        <p:xfrm>
          <a:off x="838200" y="2680668"/>
          <a:ext cx="10515600" cy="3675682"/>
        </p:xfrm>
        <a:graphic>
          <a:graphicData uri="http://schemas.openxmlformats.org/drawingml/2006/table">
            <a:tbl>
              <a:tblPr firstRow="1" bandRow="1">
                <a:tableStyleId>{5940675A-B579-460E-94D1-54222C63F5DA}</a:tableStyleId>
              </a:tblPr>
              <a:tblGrid>
                <a:gridCol w="2466860">
                  <a:extLst>
                    <a:ext uri="{9D8B030D-6E8A-4147-A177-3AD203B41FA5}">
                      <a16:colId xmlns:a16="http://schemas.microsoft.com/office/drawing/2014/main" val="2165821717"/>
                    </a:ext>
                  </a:extLst>
                </a:gridCol>
                <a:gridCol w="8048740">
                  <a:extLst>
                    <a:ext uri="{9D8B030D-6E8A-4147-A177-3AD203B41FA5}">
                      <a16:colId xmlns:a16="http://schemas.microsoft.com/office/drawing/2014/main" val="413740914"/>
                    </a:ext>
                  </a:extLst>
                </a:gridCol>
              </a:tblGrid>
              <a:tr h="41069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708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4.4.1.2</a:t>
                      </a:r>
                      <a:r>
                        <a:rPr kumimoji="1" lang="ja-JP" altLang="en-US" dirty="0"/>
                        <a:t>　製品安全</a:t>
                      </a:r>
                    </a:p>
                  </a:txBody>
                  <a:tcPr/>
                </a:tc>
                <a:tc>
                  <a:txBody>
                    <a:bodyPr/>
                    <a:lstStyle/>
                    <a:p>
                      <a:r>
                        <a:rPr kumimoji="1" lang="ja-JP" altLang="en-US" dirty="0"/>
                        <a:t>製品安全に関係する製品と製造工程の運用管理に対する文書化したプロセスをもつ。これには</a:t>
                      </a:r>
                      <a:r>
                        <a:rPr kumimoji="1" lang="en-US" altLang="ja-JP" dirty="0">
                          <a:solidFill>
                            <a:srgbClr val="FF0000"/>
                          </a:solidFill>
                        </a:rPr>
                        <a:t>FMEA</a:t>
                      </a:r>
                      <a:r>
                        <a:rPr kumimoji="1" lang="ja-JP" altLang="en-US" dirty="0">
                          <a:solidFill>
                            <a:srgbClr val="FF0000"/>
                          </a:solidFill>
                        </a:rPr>
                        <a:t>（設計／工程）</a:t>
                      </a:r>
                      <a:r>
                        <a:rPr kumimoji="1" lang="ja-JP" altLang="en-US" dirty="0"/>
                        <a:t>に対する特別承認を含める。</a:t>
                      </a:r>
                    </a:p>
                  </a:txBody>
                  <a:tcPr/>
                </a:tc>
                <a:extLst>
                  <a:ext uri="{0D108BD9-81ED-4DB2-BD59-A6C34878D82A}">
                    <a16:rowId xmlns:a16="http://schemas.microsoft.com/office/drawing/2014/main" val="2292563387"/>
                  </a:ext>
                </a:extLst>
              </a:tr>
              <a:tr h="429493">
                <a:tc rowSpan="2">
                  <a:txBody>
                    <a:bodyPr/>
                    <a:lstStyle/>
                    <a:p>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3374492090"/>
                  </a:ext>
                </a:extLst>
              </a:tr>
              <a:tr h="708873">
                <a:tc vMerge="1">
                  <a:txBody>
                    <a:bodyPr/>
                    <a:lstStyle/>
                    <a:p>
                      <a:endParaRPr kumimoji="1" lang="ja-JP" altLang="en-US" dirty="0"/>
                    </a:p>
                  </a:txBody>
                  <a:tcPr/>
                </a:tc>
                <a:tc>
                  <a:txBody>
                    <a:bodyPr/>
                    <a:lstStyle/>
                    <a:p>
                      <a:r>
                        <a:rPr kumimoji="1" lang="ja-JP" altLang="en-US" dirty="0"/>
                        <a:t>製造工程監査員は、監査対象となる製造工程の、工程リスク分析（</a:t>
                      </a:r>
                      <a:r>
                        <a:rPr kumimoji="1" lang="en-US" altLang="ja-JP" dirty="0">
                          <a:solidFill>
                            <a:srgbClr val="FF0000"/>
                          </a:solidFill>
                        </a:rPr>
                        <a:t>PFMEA</a:t>
                      </a:r>
                      <a:r>
                        <a:rPr kumimoji="1" lang="ja-JP" altLang="en-US" dirty="0"/>
                        <a:t>のような）を含む、専門的理解を実証する。</a:t>
                      </a:r>
                    </a:p>
                  </a:txBody>
                  <a:tcPr/>
                </a:tc>
                <a:extLst>
                  <a:ext uri="{0D108BD9-81ED-4DB2-BD59-A6C34878D82A}">
                    <a16:rowId xmlns:a16="http://schemas.microsoft.com/office/drawing/2014/main" val="4258611776"/>
                  </a:ext>
                </a:extLst>
              </a:tr>
              <a:tr h="708873">
                <a:tc>
                  <a:txBody>
                    <a:bodyPr/>
                    <a:lstStyle/>
                    <a:p>
                      <a:r>
                        <a:rPr kumimoji="1" lang="en-US" altLang="ja-JP" dirty="0"/>
                        <a:t>7.2.4</a:t>
                      </a:r>
                      <a:r>
                        <a:rPr kumimoji="1" lang="ja-JP" altLang="en-US" dirty="0"/>
                        <a:t>　第二者監査員の力量</a:t>
                      </a:r>
                    </a:p>
                  </a:txBody>
                  <a:tcPr/>
                </a:tc>
                <a:tc>
                  <a:txBody>
                    <a:bodyPr/>
                    <a:lstStyle/>
                    <a:p>
                      <a:r>
                        <a:rPr kumimoji="1" lang="ja-JP" altLang="en-US" dirty="0"/>
                        <a:t>第二者監査員は、適格性確認に対する顧客要求事項を満たし、</a:t>
                      </a:r>
                      <a:r>
                        <a:rPr kumimoji="1" lang="ja-JP" altLang="en-US" dirty="0">
                          <a:solidFill>
                            <a:srgbClr val="FF0000"/>
                          </a:solidFill>
                        </a:rPr>
                        <a:t>該当する</a:t>
                      </a:r>
                    </a:p>
                    <a:p>
                      <a:r>
                        <a:rPr kumimoji="1" lang="ja-JP" altLang="en-US" dirty="0">
                          <a:solidFill>
                            <a:srgbClr val="FF0000"/>
                          </a:solidFill>
                        </a:rPr>
                        <a:t>コアツール</a:t>
                      </a:r>
                      <a:r>
                        <a:rPr kumimoji="1" lang="ja-JP" altLang="en-US" dirty="0"/>
                        <a:t>要求事項の力量を実証する。</a:t>
                      </a:r>
                    </a:p>
                  </a:txBody>
                  <a:tcPr/>
                </a:tc>
                <a:extLst>
                  <a:ext uri="{0D108BD9-81ED-4DB2-BD59-A6C34878D82A}">
                    <a16:rowId xmlns:a16="http://schemas.microsoft.com/office/drawing/2014/main" val="552894290"/>
                  </a:ext>
                </a:extLst>
              </a:tr>
              <a:tr h="708873">
                <a:tc>
                  <a:txBody>
                    <a:bodyPr/>
                    <a:lstStyle/>
                    <a:p>
                      <a:r>
                        <a:rPr kumimoji="1" lang="en-US" altLang="ja-JP" dirty="0"/>
                        <a:t>7.5.3.2.2</a:t>
                      </a:r>
                      <a:r>
                        <a:rPr kumimoji="1" lang="ja-JP" altLang="en-US" dirty="0"/>
                        <a:t>　技術仕様書</a:t>
                      </a:r>
                    </a:p>
                  </a:txBody>
                  <a:tcPr/>
                </a:tc>
                <a:tc>
                  <a:txBody>
                    <a:bodyPr/>
                    <a:lstStyle/>
                    <a:p>
                      <a:r>
                        <a:rPr kumimoji="1" lang="ja-JP" altLang="en-US" dirty="0"/>
                        <a:t>技術規格・仕様書の変更は、リスク分析（</a:t>
                      </a:r>
                      <a:r>
                        <a:rPr kumimoji="1" lang="en-US" altLang="ja-JP" dirty="0">
                          <a:solidFill>
                            <a:srgbClr val="FF0000"/>
                          </a:solidFill>
                        </a:rPr>
                        <a:t>FMEA</a:t>
                      </a:r>
                      <a:r>
                        <a:rPr kumimoji="1" lang="ja-JP" altLang="en-US" dirty="0"/>
                        <a:t>のような）のような生産部品承認プロセス文書に影響する場合、顧客の生産部品の再承認が要求される。</a:t>
                      </a:r>
                    </a:p>
                  </a:txBody>
                  <a:tcPr/>
                </a:tc>
                <a:extLst>
                  <a:ext uri="{0D108BD9-81ED-4DB2-BD59-A6C34878D82A}">
                    <a16:rowId xmlns:a16="http://schemas.microsoft.com/office/drawing/2014/main" val="3928542182"/>
                  </a:ext>
                </a:extLst>
              </a:tr>
            </a:tbl>
          </a:graphicData>
        </a:graphic>
      </p:graphicFrame>
    </p:spTree>
    <p:extLst>
      <p:ext uri="{BB962C8B-B14F-4D97-AF65-F5344CB8AC3E}">
        <p14:creationId xmlns:p14="http://schemas.microsoft.com/office/powerpoint/2010/main" val="3526512003"/>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ＦＭＥＡとＩＡＴＦ１６９４９要求事項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1723990829"/>
              </p:ext>
            </p:extLst>
          </p:nvPr>
        </p:nvGraphicFramePr>
        <p:xfrm>
          <a:off x="838200" y="1344058"/>
          <a:ext cx="10515600" cy="5012292"/>
        </p:xfrm>
        <a:graphic>
          <a:graphicData uri="http://schemas.openxmlformats.org/drawingml/2006/table">
            <a:tbl>
              <a:tblPr firstRow="1" bandRow="1">
                <a:tableStyleId>{5940675A-B579-460E-94D1-54222C63F5DA}</a:tableStyleId>
              </a:tblPr>
              <a:tblGrid>
                <a:gridCol w="2742282">
                  <a:extLst>
                    <a:ext uri="{9D8B030D-6E8A-4147-A177-3AD203B41FA5}">
                      <a16:colId xmlns:a16="http://schemas.microsoft.com/office/drawing/2014/main" val="2165821717"/>
                    </a:ext>
                  </a:extLst>
                </a:gridCol>
                <a:gridCol w="7773318">
                  <a:extLst>
                    <a:ext uri="{9D8B030D-6E8A-4147-A177-3AD203B41FA5}">
                      <a16:colId xmlns:a16="http://schemas.microsoft.com/office/drawing/2014/main" val="413740914"/>
                    </a:ext>
                  </a:extLst>
                </a:gridCol>
              </a:tblGrid>
              <a:tr h="450283">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10025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8.3.2.1</a:t>
                      </a:r>
                      <a:r>
                        <a:rPr kumimoji="1" lang="ja-JP" altLang="en-US" dirty="0"/>
                        <a:t>　設計・開発の計画－補足</a:t>
                      </a:r>
                    </a:p>
                  </a:txBody>
                  <a:tcPr/>
                </a:tc>
                <a:tc>
                  <a:txBody>
                    <a:bodyPr/>
                    <a:lstStyle/>
                    <a:p>
                      <a:r>
                        <a:rPr kumimoji="1" lang="ja-JP" altLang="en-US" dirty="0"/>
                        <a:t>部門横断的アプローチで推進する例には、下記がある。</a:t>
                      </a:r>
                      <a:endParaRPr kumimoji="1" lang="en-US" altLang="ja-JP" dirty="0"/>
                    </a:p>
                    <a:p>
                      <a:r>
                        <a:rPr kumimoji="1" lang="ja-JP" altLang="en-US" dirty="0"/>
                        <a:t>・製品設計リスク分析（</a:t>
                      </a:r>
                      <a:r>
                        <a:rPr kumimoji="1" lang="en-US" altLang="ja-JP" dirty="0">
                          <a:solidFill>
                            <a:srgbClr val="FF0000"/>
                          </a:solidFill>
                        </a:rPr>
                        <a:t>FMEA</a:t>
                      </a:r>
                      <a:r>
                        <a:rPr kumimoji="1" lang="ja-JP" altLang="en-US" dirty="0"/>
                        <a:t>）の実施及びレビュー</a:t>
                      </a:r>
                      <a:endParaRPr kumimoji="1" lang="en-US" altLang="ja-JP" dirty="0"/>
                    </a:p>
                    <a:p>
                      <a:r>
                        <a:rPr kumimoji="1" lang="ja-JP" altLang="en-US" dirty="0"/>
                        <a:t>・製造工程リスク分析の実施及びレビュー（例えば、</a:t>
                      </a:r>
                      <a:r>
                        <a:rPr kumimoji="1" lang="en-US" altLang="ja-JP" dirty="0">
                          <a:solidFill>
                            <a:srgbClr val="FF0000"/>
                          </a:solidFill>
                        </a:rPr>
                        <a:t>FMEA</a:t>
                      </a:r>
                      <a:r>
                        <a:rPr kumimoji="1" lang="ja-JP" altLang="en-US" dirty="0"/>
                        <a:t>）</a:t>
                      </a:r>
                    </a:p>
                  </a:txBody>
                  <a:tcPr/>
                </a:tc>
                <a:extLst>
                  <a:ext uri="{0D108BD9-81ED-4DB2-BD59-A6C34878D82A}">
                    <a16:rowId xmlns:a16="http://schemas.microsoft.com/office/drawing/2014/main" val="2292563387"/>
                  </a:ext>
                </a:extLst>
              </a:tr>
              <a:tr h="1002537">
                <a:tc>
                  <a:txBody>
                    <a:bodyPr/>
                    <a:lstStyle/>
                    <a:p>
                      <a:r>
                        <a:rPr kumimoji="1" lang="en-US" altLang="ja-JP" dirty="0"/>
                        <a:t>8.3.3.3</a:t>
                      </a:r>
                      <a:r>
                        <a:rPr kumimoji="1" lang="ja-JP" altLang="en-US" dirty="0"/>
                        <a:t>　特殊特性</a:t>
                      </a:r>
                    </a:p>
                  </a:txBody>
                  <a:tcPr/>
                </a:tc>
                <a:tc>
                  <a:txBody>
                    <a:bodyPr/>
                    <a:lstStyle/>
                    <a:p>
                      <a:r>
                        <a:rPr kumimoji="1" lang="ja-JP" altLang="en-US" dirty="0"/>
                        <a:t>特殊特性を特定するプロセスを確立する。</a:t>
                      </a:r>
                      <a:endParaRPr kumimoji="1" lang="en-US" altLang="ja-JP" dirty="0"/>
                    </a:p>
                    <a:p>
                      <a:r>
                        <a:rPr kumimoji="1" lang="ja-JP" altLang="en-US" dirty="0"/>
                        <a:t>それにはリスク分析（</a:t>
                      </a:r>
                      <a:r>
                        <a:rPr kumimoji="1" lang="en-US" altLang="ja-JP" dirty="0">
                          <a:solidFill>
                            <a:srgbClr val="FF0000"/>
                          </a:solidFill>
                        </a:rPr>
                        <a:t>FMEA</a:t>
                      </a:r>
                      <a:r>
                        <a:rPr kumimoji="1" lang="ja-JP" altLang="en-US" dirty="0"/>
                        <a:t>のような）における特殊特性の文書化を含める。</a:t>
                      </a:r>
                    </a:p>
                  </a:txBody>
                  <a:tcPr/>
                </a:tc>
                <a:extLst>
                  <a:ext uri="{0D108BD9-81ED-4DB2-BD59-A6C34878D82A}">
                    <a16:rowId xmlns:a16="http://schemas.microsoft.com/office/drawing/2014/main" val="3374492090"/>
                  </a:ext>
                </a:extLst>
              </a:tr>
              <a:tr h="777199">
                <a:tc>
                  <a:txBody>
                    <a:bodyPr/>
                    <a:lstStyle/>
                    <a:p>
                      <a:r>
                        <a:rPr kumimoji="1" lang="en-US" altLang="ja-JP" b="0" dirty="0"/>
                        <a:t>8.3.5.1</a:t>
                      </a:r>
                      <a:r>
                        <a:rPr kumimoji="1" lang="ja-JP" altLang="en-US" b="0" dirty="0"/>
                        <a:t>　設計・開発からのアウトプット－補足</a:t>
                      </a:r>
                    </a:p>
                  </a:txBody>
                  <a:tcPr>
                    <a:solidFill>
                      <a:schemeClr val="accent4">
                        <a:lumMod val="20000"/>
                        <a:lumOff val="80000"/>
                      </a:schemeClr>
                    </a:solidFill>
                  </a:tcPr>
                </a:tc>
                <a:tc>
                  <a:txBody>
                    <a:bodyPr/>
                    <a:lstStyle/>
                    <a:p>
                      <a:r>
                        <a:rPr kumimoji="1" lang="ja-JP" altLang="en-US" b="0" dirty="0"/>
                        <a:t>製品設計からのアウトプットには、設計リスク分析（</a:t>
                      </a:r>
                      <a:r>
                        <a:rPr kumimoji="1" lang="en-US" altLang="ja-JP" b="0" dirty="0">
                          <a:solidFill>
                            <a:srgbClr val="FF0000"/>
                          </a:solidFill>
                        </a:rPr>
                        <a:t>DFMEA</a:t>
                      </a:r>
                      <a:r>
                        <a:rPr kumimoji="1" lang="ja-JP" altLang="en-US" b="0" dirty="0"/>
                        <a:t>）を含める。</a:t>
                      </a:r>
                    </a:p>
                  </a:txBody>
                  <a:tcPr>
                    <a:solidFill>
                      <a:schemeClr val="accent4">
                        <a:lumMod val="20000"/>
                        <a:lumOff val="80000"/>
                      </a:schemeClr>
                    </a:solidFill>
                  </a:tcPr>
                </a:tc>
                <a:extLst>
                  <a:ext uri="{0D108BD9-81ED-4DB2-BD59-A6C34878D82A}">
                    <a16:rowId xmlns:a16="http://schemas.microsoft.com/office/drawing/2014/main" val="4258611776"/>
                  </a:ext>
                </a:extLst>
              </a:tr>
              <a:tr h="777199">
                <a:tc>
                  <a:txBody>
                    <a:bodyPr/>
                    <a:lstStyle/>
                    <a:p>
                      <a:r>
                        <a:rPr kumimoji="1" lang="en-US" altLang="ja-JP" b="0" dirty="0"/>
                        <a:t>8.3.5.2</a:t>
                      </a:r>
                      <a:r>
                        <a:rPr kumimoji="1" lang="ja-JP" altLang="en-US" b="0" dirty="0"/>
                        <a:t>　製造工程設計からのアウトプット</a:t>
                      </a:r>
                    </a:p>
                  </a:txBody>
                  <a:tcPr>
                    <a:solidFill>
                      <a:schemeClr val="accent4">
                        <a:lumMod val="20000"/>
                        <a:lumOff val="80000"/>
                      </a:schemeClr>
                    </a:solidFill>
                  </a:tcPr>
                </a:tc>
                <a:tc>
                  <a:txBody>
                    <a:bodyPr/>
                    <a:lstStyle/>
                    <a:p>
                      <a:r>
                        <a:rPr kumimoji="1" lang="ja-JP" altLang="en-US" b="0" dirty="0"/>
                        <a:t>製造工程設計からのアウトプットには、製造工程</a:t>
                      </a:r>
                      <a:r>
                        <a:rPr kumimoji="1" lang="en-US" altLang="ja-JP" b="0" dirty="0"/>
                        <a:t>FMEA</a:t>
                      </a:r>
                      <a:r>
                        <a:rPr kumimoji="1" lang="ja-JP" altLang="en-US" b="0" dirty="0"/>
                        <a:t>（</a:t>
                      </a:r>
                      <a:r>
                        <a:rPr kumimoji="1" lang="en-US" altLang="ja-JP" b="0" dirty="0">
                          <a:solidFill>
                            <a:srgbClr val="FF0000"/>
                          </a:solidFill>
                        </a:rPr>
                        <a:t>PFMEA</a:t>
                      </a:r>
                      <a:r>
                        <a:rPr kumimoji="1" lang="ja-JP" altLang="en-US" b="0" dirty="0"/>
                        <a:t>）を含める。</a:t>
                      </a:r>
                    </a:p>
                  </a:txBody>
                  <a:tcPr>
                    <a:solidFill>
                      <a:schemeClr val="accent4">
                        <a:lumMod val="20000"/>
                        <a:lumOff val="80000"/>
                      </a:schemeClr>
                    </a:solidFill>
                  </a:tcPr>
                </a:tc>
                <a:extLst>
                  <a:ext uri="{0D108BD9-81ED-4DB2-BD59-A6C34878D82A}">
                    <a16:rowId xmlns:a16="http://schemas.microsoft.com/office/drawing/2014/main" val="552894290"/>
                  </a:ext>
                </a:extLst>
              </a:tr>
              <a:tr h="1002537">
                <a:tc>
                  <a:txBody>
                    <a:bodyPr/>
                    <a:lstStyle/>
                    <a:p>
                      <a:r>
                        <a:rPr kumimoji="1" lang="en-US" altLang="ja-JP" dirty="0"/>
                        <a:t>8.5.1.1</a:t>
                      </a:r>
                      <a:r>
                        <a:rPr kumimoji="1" lang="ja-JP" altLang="en-US" dirty="0"/>
                        <a:t>　コントロールプラン</a:t>
                      </a:r>
                    </a:p>
                  </a:txBody>
                  <a:tcPr/>
                </a:tc>
                <a:tc>
                  <a:txBody>
                    <a:bodyPr/>
                    <a:lstStyle/>
                    <a:p>
                      <a:r>
                        <a:rPr kumimoji="1" lang="ja-JP" altLang="en-US" dirty="0"/>
                        <a:t>量産試作及び量産に対して、製造工程のリスク分析のアウトプット（</a:t>
                      </a:r>
                      <a:r>
                        <a:rPr kumimoji="1" lang="en-US" altLang="ja-JP" dirty="0">
                          <a:solidFill>
                            <a:srgbClr val="FF0000"/>
                          </a:solidFill>
                        </a:rPr>
                        <a:t>FMEA</a:t>
                      </a:r>
                      <a:r>
                        <a:rPr kumimoji="1" lang="ja-JP" altLang="en-US" dirty="0"/>
                        <a:t>のような）からの情報を反映する、コントロールプランを作成する。</a:t>
                      </a:r>
                    </a:p>
                  </a:txBody>
                  <a:tcPr/>
                </a:tc>
                <a:extLst>
                  <a:ext uri="{0D108BD9-81ED-4DB2-BD59-A6C34878D82A}">
                    <a16:rowId xmlns:a16="http://schemas.microsoft.com/office/drawing/2014/main" val="3928542182"/>
                  </a:ext>
                </a:extLst>
              </a:tr>
            </a:tbl>
          </a:graphicData>
        </a:graphic>
      </p:graphicFrame>
    </p:spTree>
    <p:extLst>
      <p:ext uri="{BB962C8B-B14F-4D97-AF65-F5344CB8AC3E}">
        <p14:creationId xmlns:p14="http://schemas.microsoft.com/office/powerpoint/2010/main" val="3800283886"/>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ＦＭＥＡとＩＡＴＦ１６９４９要求事項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4030973163"/>
              </p:ext>
            </p:extLst>
          </p:nvPr>
        </p:nvGraphicFramePr>
        <p:xfrm>
          <a:off x="838200" y="1344058"/>
          <a:ext cx="10515600" cy="5012291"/>
        </p:xfrm>
        <a:graphic>
          <a:graphicData uri="http://schemas.openxmlformats.org/drawingml/2006/table">
            <a:tbl>
              <a:tblPr firstRow="1" bandRow="1">
                <a:tableStyleId>{5940675A-B579-460E-94D1-54222C63F5DA}</a:tableStyleId>
              </a:tblPr>
              <a:tblGrid>
                <a:gridCol w="2742282">
                  <a:extLst>
                    <a:ext uri="{9D8B030D-6E8A-4147-A177-3AD203B41FA5}">
                      <a16:colId xmlns:a16="http://schemas.microsoft.com/office/drawing/2014/main" val="2165821717"/>
                    </a:ext>
                  </a:extLst>
                </a:gridCol>
                <a:gridCol w="7773318">
                  <a:extLst>
                    <a:ext uri="{9D8B030D-6E8A-4147-A177-3AD203B41FA5}">
                      <a16:colId xmlns:a16="http://schemas.microsoft.com/office/drawing/2014/main" val="413740914"/>
                    </a:ext>
                  </a:extLst>
                </a:gridCol>
              </a:tblGrid>
              <a:tr h="45830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7415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8.5.6.1.1</a:t>
                      </a:r>
                      <a:r>
                        <a:rPr kumimoji="1" lang="ja-JP" altLang="en-US" dirty="0"/>
                        <a:t>　工程管理の一時的変更</a:t>
                      </a:r>
                    </a:p>
                  </a:txBody>
                  <a:tcPr/>
                </a:tc>
                <a:tc>
                  <a:txBody>
                    <a:bodyPr/>
                    <a:lstStyle/>
                    <a:p>
                      <a:r>
                        <a:rPr kumimoji="1" lang="ja-JP" altLang="en-US" dirty="0"/>
                        <a:t>代替管理方法の使用を運用管理するプロセスを文書化する。このプロセスにリスク分析（</a:t>
                      </a:r>
                      <a:r>
                        <a:rPr kumimoji="1" lang="en-US" altLang="ja-JP" dirty="0">
                          <a:solidFill>
                            <a:srgbClr val="FF0000"/>
                          </a:solidFill>
                        </a:rPr>
                        <a:t>FMEA</a:t>
                      </a:r>
                      <a:r>
                        <a:rPr kumimoji="1" lang="ja-JP" altLang="en-US" dirty="0"/>
                        <a:t>のような）にもとづいて、内部承認を含める。</a:t>
                      </a:r>
                    </a:p>
                  </a:txBody>
                  <a:tcPr/>
                </a:tc>
                <a:extLst>
                  <a:ext uri="{0D108BD9-81ED-4DB2-BD59-A6C34878D82A}">
                    <a16:rowId xmlns:a16="http://schemas.microsoft.com/office/drawing/2014/main" val="2292563387"/>
                  </a:ext>
                </a:extLst>
              </a:tr>
              <a:tr h="695216">
                <a:tc>
                  <a:txBody>
                    <a:bodyPr/>
                    <a:lstStyle/>
                    <a:p>
                      <a:r>
                        <a:rPr kumimoji="1" lang="en-US" altLang="ja-JP" dirty="0"/>
                        <a:t>8.7.1.4</a:t>
                      </a:r>
                      <a:r>
                        <a:rPr kumimoji="1" lang="ja-JP" altLang="en-US" dirty="0"/>
                        <a:t>　手直し製品の管理</a:t>
                      </a:r>
                    </a:p>
                  </a:txBody>
                  <a:tcPr/>
                </a:tc>
                <a:tc>
                  <a:txBody>
                    <a:bodyPr/>
                    <a:lstStyle/>
                    <a:p>
                      <a:r>
                        <a:rPr kumimoji="1" lang="ja-JP" altLang="en-US" dirty="0"/>
                        <a:t>手直し工程におけるリスクを評価するために、リスク分析（</a:t>
                      </a:r>
                      <a:r>
                        <a:rPr kumimoji="1" lang="en-US" altLang="ja-JP" dirty="0">
                          <a:solidFill>
                            <a:srgbClr val="FF0000"/>
                          </a:solidFill>
                        </a:rPr>
                        <a:t>FMEA</a:t>
                      </a:r>
                      <a:r>
                        <a:rPr kumimoji="1" lang="ja-JP" altLang="en-US" dirty="0"/>
                        <a:t>のような）の方法論を活用する。</a:t>
                      </a:r>
                    </a:p>
                  </a:txBody>
                  <a:tcPr/>
                </a:tc>
                <a:extLst>
                  <a:ext uri="{0D108BD9-81ED-4DB2-BD59-A6C34878D82A}">
                    <a16:rowId xmlns:a16="http://schemas.microsoft.com/office/drawing/2014/main" val="3374492090"/>
                  </a:ext>
                </a:extLst>
              </a:tr>
              <a:tr h="706430">
                <a:tc>
                  <a:txBody>
                    <a:bodyPr/>
                    <a:lstStyle/>
                    <a:p>
                      <a:r>
                        <a:rPr kumimoji="1" lang="en-US" altLang="ja-JP" dirty="0"/>
                        <a:t>8.7.1.5</a:t>
                      </a:r>
                      <a:r>
                        <a:rPr kumimoji="1" lang="ja-JP" altLang="en-US" dirty="0"/>
                        <a:t>　修理製品の管理</a:t>
                      </a:r>
                    </a:p>
                  </a:txBody>
                  <a:tcPr/>
                </a:tc>
                <a:tc>
                  <a:txBody>
                    <a:bodyPr/>
                    <a:lstStyle/>
                    <a:p>
                      <a:r>
                        <a:rPr kumimoji="1" lang="ja-JP" altLang="en-US" dirty="0"/>
                        <a:t>修理工程におけるリスクを評価するために、リスク分析（</a:t>
                      </a:r>
                      <a:r>
                        <a:rPr kumimoji="1" lang="en-US" altLang="ja-JP" dirty="0">
                          <a:solidFill>
                            <a:srgbClr val="FF0000"/>
                          </a:solidFill>
                        </a:rPr>
                        <a:t>FMEA</a:t>
                      </a:r>
                      <a:r>
                        <a:rPr kumimoji="1" lang="ja-JP" altLang="en-US" dirty="0"/>
                        <a:t>のような）の方法論を活用する。</a:t>
                      </a:r>
                    </a:p>
                  </a:txBody>
                  <a:tcPr/>
                </a:tc>
                <a:extLst>
                  <a:ext uri="{0D108BD9-81ED-4DB2-BD59-A6C34878D82A}">
                    <a16:rowId xmlns:a16="http://schemas.microsoft.com/office/drawing/2014/main" val="4258611776"/>
                  </a:ext>
                </a:extLst>
              </a:tr>
              <a:tr h="695217">
                <a:tc>
                  <a:txBody>
                    <a:bodyPr/>
                    <a:lstStyle/>
                    <a:p>
                      <a:r>
                        <a:rPr kumimoji="1" lang="en-US" altLang="ja-JP" dirty="0"/>
                        <a:t>9.1.1.1</a:t>
                      </a:r>
                      <a:r>
                        <a:rPr kumimoji="1" lang="ja-JP" altLang="en-US" dirty="0"/>
                        <a:t>　製造工程の監視及び測定</a:t>
                      </a:r>
                    </a:p>
                  </a:txBody>
                  <a:tcPr/>
                </a:tc>
                <a:tc>
                  <a:txBody>
                    <a:bodyPr/>
                    <a:lstStyle/>
                    <a:p>
                      <a:r>
                        <a:rPr kumimoji="1" lang="en-US" altLang="ja-JP" dirty="0">
                          <a:solidFill>
                            <a:srgbClr val="FF0000"/>
                          </a:solidFill>
                        </a:rPr>
                        <a:t>PFMEA</a:t>
                      </a:r>
                      <a:r>
                        <a:rPr kumimoji="1" lang="ja-JP" altLang="en-US" dirty="0"/>
                        <a:t>が実施されることを確実にする。　</a:t>
                      </a:r>
                      <a:r>
                        <a:rPr kumimoji="1" lang="en-US" altLang="ja-JP" sz="1600" dirty="0"/>
                        <a:t>※</a:t>
                      </a:r>
                      <a:r>
                        <a:rPr kumimoji="1" lang="ja-JP" altLang="en-US" sz="1600" dirty="0"/>
                        <a:t>工程フロー～</a:t>
                      </a:r>
                      <a:r>
                        <a:rPr kumimoji="1" lang="en-US" altLang="ja-JP" sz="1600" dirty="0"/>
                        <a:t>PFMEA</a:t>
                      </a:r>
                      <a:r>
                        <a:rPr kumimoji="1" lang="ja-JP" altLang="en-US" sz="1600" dirty="0"/>
                        <a:t>～コントロールプランに従い製造されているということ。</a:t>
                      </a:r>
                    </a:p>
                  </a:txBody>
                  <a:tcPr/>
                </a:tc>
                <a:extLst>
                  <a:ext uri="{0D108BD9-81ED-4DB2-BD59-A6C34878D82A}">
                    <a16:rowId xmlns:a16="http://schemas.microsoft.com/office/drawing/2014/main" val="552894290"/>
                  </a:ext>
                </a:extLst>
              </a:tr>
              <a:tr h="695217">
                <a:tc>
                  <a:txBody>
                    <a:bodyPr/>
                    <a:lstStyle/>
                    <a:p>
                      <a:r>
                        <a:rPr kumimoji="1" lang="en-US" altLang="ja-JP" dirty="0"/>
                        <a:t>9.2.2.3</a:t>
                      </a:r>
                      <a:r>
                        <a:rPr kumimoji="1" lang="ja-JP" altLang="en-US" dirty="0"/>
                        <a:t>　製造工程監査</a:t>
                      </a:r>
                    </a:p>
                  </a:txBody>
                  <a:tcPr/>
                </a:tc>
                <a:tc>
                  <a:txBody>
                    <a:bodyPr/>
                    <a:lstStyle/>
                    <a:p>
                      <a:r>
                        <a:rPr kumimoji="1" lang="ja-JP" altLang="en-US" dirty="0"/>
                        <a:t>製造工程監査には、工程リスク分析（</a:t>
                      </a:r>
                      <a:r>
                        <a:rPr kumimoji="1" lang="en-US" altLang="ja-JP" dirty="0">
                          <a:solidFill>
                            <a:srgbClr val="FF0000"/>
                          </a:solidFill>
                        </a:rPr>
                        <a:t>PFMEA</a:t>
                      </a:r>
                      <a:r>
                        <a:rPr kumimoji="1" lang="ja-JP" altLang="en-US" dirty="0"/>
                        <a:t>のような）が効果的に実施されていることの監査を含める。</a:t>
                      </a:r>
                    </a:p>
                  </a:txBody>
                  <a:tcPr/>
                </a:tc>
                <a:extLst>
                  <a:ext uri="{0D108BD9-81ED-4DB2-BD59-A6C34878D82A}">
                    <a16:rowId xmlns:a16="http://schemas.microsoft.com/office/drawing/2014/main" val="3928542182"/>
                  </a:ext>
                </a:extLst>
              </a:tr>
              <a:tr h="1020401">
                <a:tc>
                  <a:txBody>
                    <a:bodyPr/>
                    <a:lstStyle/>
                    <a:p>
                      <a:r>
                        <a:rPr kumimoji="1" lang="en-US" altLang="ja-JP" dirty="0"/>
                        <a:t>9.3.2.1</a:t>
                      </a:r>
                      <a:r>
                        <a:rPr kumimoji="1" lang="ja-JP" altLang="en-US" dirty="0"/>
                        <a:t>　マネジメントレビューへのインプット－補足</a:t>
                      </a:r>
                    </a:p>
                  </a:txBody>
                  <a:tcPr/>
                </a:tc>
                <a:tc>
                  <a:txBody>
                    <a:bodyPr/>
                    <a:lstStyle/>
                    <a:p>
                      <a:r>
                        <a:rPr kumimoji="1" lang="ja-JP" altLang="en-US" dirty="0"/>
                        <a:t>マネジメントレビューへのインプットには、リスク分析（</a:t>
                      </a:r>
                      <a:r>
                        <a:rPr kumimoji="1" lang="en-US" altLang="ja-JP" dirty="0">
                          <a:solidFill>
                            <a:srgbClr val="FF0000"/>
                          </a:solidFill>
                        </a:rPr>
                        <a:t>PFMEA</a:t>
                      </a:r>
                      <a:r>
                        <a:rPr kumimoji="1" lang="ja-JP" altLang="en-US" dirty="0"/>
                        <a:t>にような）を通じて明確にされた潜在的市場不具合の特定を含める。</a:t>
                      </a:r>
                    </a:p>
                  </a:txBody>
                  <a:tcPr/>
                </a:tc>
                <a:extLst>
                  <a:ext uri="{0D108BD9-81ED-4DB2-BD59-A6C34878D82A}">
                    <a16:rowId xmlns:a16="http://schemas.microsoft.com/office/drawing/2014/main" val="1065539619"/>
                  </a:ext>
                </a:extLst>
              </a:tr>
            </a:tbl>
          </a:graphicData>
        </a:graphic>
      </p:graphicFrame>
    </p:spTree>
    <p:extLst>
      <p:ext uri="{BB962C8B-B14F-4D97-AF65-F5344CB8AC3E}">
        <p14:creationId xmlns:p14="http://schemas.microsoft.com/office/powerpoint/2010/main" val="2319887463"/>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ＦＭＥＡとＩＡＴＦ１６９４９要求事項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697128350"/>
              </p:ext>
            </p:extLst>
          </p:nvPr>
        </p:nvGraphicFramePr>
        <p:xfrm>
          <a:off x="838200" y="1344058"/>
          <a:ext cx="10515600" cy="2601456"/>
        </p:xfrm>
        <a:graphic>
          <a:graphicData uri="http://schemas.openxmlformats.org/drawingml/2006/table">
            <a:tbl>
              <a:tblPr firstRow="1" bandRow="1">
                <a:tableStyleId>{5940675A-B579-460E-94D1-54222C63F5DA}</a:tableStyleId>
              </a:tblPr>
              <a:tblGrid>
                <a:gridCol w="2742282">
                  <a:extLst>
                    <a:ext uri="{9D8B030D-6E8A-4147-A177-3AD203B41FA5}">
                      <a16:colId xmlns:a16="http://schemas.microsoft.com/office/drawing/2014/main" val="2165821717"/>
                    </a:ext>
                  </a:extLst>
                </a:gridCol>
                <a:gridCol w="7773318">
                  <a:extLst>
                    <a:ext uri="{9D8B030D-6E8A-4147-A177-3AD203B41FA5}">
                      <a16:colId xmlns:a16="http://schemas.microsoft.com/office/drawing/2014/main" val="413740914"/>
                    </a:ext>
                  </a:extLst>
                </a:gridCol>
              </a:tblGrid>
              <a:tr h="45830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7415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10.2.3</a:t>
                      </a:r>
                      <a:r>
                        <a:rPr kumimoji="1" lang="ja-JP" altLang="en-US" dirty="0"/>
                        <a:t>　問題解決</a:t>
                      </a:r>
                    </a:p>
                  </a:txBody>
                  <a:tcPr/>
                </a:tc>
                <a:tc>
                  <a:txBody>
                    <a:bodyPr/>
                    <a:lstStyle/>
                    <a:p>
                      <a:r>
                        <a:rPr kumimoji="1" lang="ja-JP" altLang="en-US" dirty="0"/>
                        <a:t>適切な文書化した情報（例えば、</a:t>
                      </a:r>
                      <a:r>
                        <a:rPr kumimoji="1" lang="en-US" altLang="ja-JP" dirty="0">
                          <a:solidFill>
                            <a:srgbClr val="FF0000"/>
                          </a:solidFill>
                        </a:rPr>
                        <a:t>PFMEA</a:t>
                      </a:r>
                      <a:r>
                        <a:rPr kumimoji="1" lang="ja-JP" altLang="en-US" dirty="0"/>
                        <a:t>）のレビュー及び更新を含む、問題解決の方法を文書化したプロセスをもつ。</a:t>
                      </a:r>
                    </a:p>
                  </a:txBody>
                  <a:tcPr/>
                </a:tc>
                <a:extLst>
                  <a:ext uri="{0D108BD9-81ED-4DB2-BD59-A6C34878D82A}">
                    <a16:rowId xmlns:a16="http://schemas.microsoft.com/office/drawing/2014/main" val="2292563387"/>
                  </a:ext>
                </a:extLst>
              </a:tr>
              <a:tr h="695216">
                <a:tc>
                  <a:txBody>
                    <a:bodyPr/>
                    <a:lstStyle/>
                    <a:p>
                      <a:r>
                        <a:rPr kumimoji="1" lang="en-US" altLang="ja-JP" dirty="0"/>
                        <a:t>10.2.4</a:t>
                      </a:r>
                      <a:r>
                        <a:rPr kumimoji="1" lang="ja-JP" altLang="en-US" dirty="0"/>
                        <a:t>　ポカヨケ</a:t>
                      </a:r>
                    </a:p>
                  </a:txBody>
                  <a:tcPr/>
                </a:tc>
                <a:tc>
                  <a:txBody>
                    <a:bodyPr/>
                    <a:lstStyle/>
                    <a:p>
                      <a:r>
                        <a:rPr kumimoji="1" lang="ja-JP" altLang="en-US" dirty="0"/>
                        <a:t>ポカヨケ手法の詳細は、プロセスリスク分析（</a:t>
                      </a:r>
                      <a:r>
                        <a:rPr kumimoji="1" lang="en-US" altLang="ja-JP" dirty="0">
                          <a:solidFill>
                            <a:srgbClr val="FF0000"/>
                          </a:solidFill>
                        </a:rPr>
                        <a:t>PFMEA</a:t>
                      </a:r>
                      <a:r>
                        <a:rPr kumimoji="1" lang="ja-JP" altLang="en-US" dirty="0"/>
                        <a:t>のような）に文書化する。</a:t>
                      </a:r>
                    </a:p>
                  </a:txBody>
                  <a:tcPr/>
                </a:tc>
                <a:extLst>
                  <a:ext uri="{0D108BD9-81ED-4DB2-BD59-A6C34878D82A}">
                    <a16:rowId xmlns:a16="http://schemas.microsoft.com/office/drawing/2014/main" val="3374492090"/>
                  </a:ext>
                </a:extLst>
              </a:tr>
              <a:tr h="706430">
                <a:tc>
                  <a:txBody>
                    <a:bodyPr/>
                    <a:lstStyle/>
                    <a:p>
                      <a:r>
                        <a:rPr kumimoji="1" lang="en-US" altLang="ja-JP" dirty="0"/>
                        <a:t>10.3.1</a:t>
                      </a:r>
                      <a:r>
                        <a:rPr kumimoji="1" lang="ja-JP" altLang="en-US" dirty="0"/>
                        <a:t>　継続的改善－補足</a:t>
                      </a:r>
                    </a:p>
                  </a:txBody>
                  <a:tcPr/>
                </a:tc>
                <a:tc>
                  <a:txBody>
                    <a:bodyPr/>
                    <a:lstStyle/>
                    <a:p>
                      <a:r>
                        <a:rPr kumimoji="1" lang="ja-JP" altLang="en-US" dirty="0"/>
                        <a:t>継続的改善の文書化したプロセスをもつ。このプロセスには、リスク分析（</a:t>
                      </a:r>
                      <a:r>
                        <a:rPr kumimoji="1" lang="en-US" altLang="ja-JP" dirty="0">
                          <a:solidFill>
                            <a:srgbClr val="FF0000"/>
                          </a:solidFill>
                        </a:rPr>
                        <a:t>FMEA</a:t>
                      </a:r>
                      <a:r>
                        <a:rPr kumimoji="1" lang="ja-JP" altLang="en-US" dirty="0"/>
                        <a:t>のような）を含める。</a:t>
                      </a:r>
                    </a:p>
                  </a:txBody>
                  <a:tcPr/>
                </a:tc>
                <a:extLst>
                  <a:ext uri="{0D108BD9-81ED-4DB2-BD59-A6C34878D82A}">
                    <a16:rowId xmlns:a16="http://schemas.microsoft.com/office/drawing/2014/main" val="4258611776"/>
                  </a:ext>
                </a:extLst>
              </a:tr>
            </a:tbl>
          </a:graphicData>
        </a:graphic>
      </p:graphicFrame>
    </p:spTree>
    <p:extLst>
      <p:ext uri="{BB962C8B-B14F-4D97-AF65-F5344CB8AC3E}">
        <p14:creationId xmlns:p14="http://schemas.microsoft.com/office/powerpoint/2010/main" val="2065600576"/>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製造工程の管理に</a:t>
            </a:r>
            <a:r>
              <a:rPr lang="en-US" altLang="ja-JP" sz="2400" dirty="0"/>
              <a:t>SPC</a:t>
            </a:r>
            <a:r>
              <a:rPr lang="ja-JP" altLang="en-US" sz="2400" dirty="0"/>
              <a:t>は不可欠。</a:t>
            </a:r>
            <a:endParaRPr lang="en-US" altLang="ja-JP" sz="2400" dirty="0"/>
          </a:p>
          <a:p>
            <a:pPr marL="457200" indent="-457200">
              <a:lnSpc>
                <a:spcPct val="100000"/>
              </a:lnSpc>
              <a:buFont typeface="+mj-lt"/>
              <a:buAutoNum type="arabicPeriod"/>
            </a:pPr>
            <a:r>
              <a:rPr lang="en-US" altLang="ja-JP" sz="2400" dirty="0"/>
              <a:t>IATF16949</a:t>
            </a:r>
            <a:r>
              <a:rPr lang="ja-JP" altLang="en-US" sz="2400" dirty="0"/>
              <a:t>の狙いである不適合の予防と製造工程のばらつきとムダの削減のために活用する。</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ＳＰＣとＩＡＴＦ１６９４９要求事項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4205834655"/>
              </p:ext>
            </p:extLst>
          </p:nvPr>
        </p:nvGraphicFramePr>
        <p:xfrm>
          <a:off x="838200" y="2680668"/>
          <a:ext cx="10515600" cy="3246189"/>
        </p:xfrm>
        <a:graphic>
          <a:graphicData uri="http://schemas.openxmlformats.org/drawingml/2006/table">
            <a:tbl>
              <a:tblPr firstRow="1" bandRow="1">
                <a:tableStyleId>{5940675A-B579-460E-94D1-54222C63F5DA}</a:tableStyleId>
              </a:tblPr>
              <a:tblGrid>
                <a:gridCol w="2532961">
                  <a:extLst>
                    <a:ext uri="{9D8B030D-6E8A-4147-A177-3AD203B41FA5}">
                      <a16:colId xmlns:a16="http://schemas.microsoft.com/office/drawing/2014/main" val="2165821717"/>
                    </a:ext>
                  </a:extLst>
                </a:gridCol>
                <a:gridCol w="7982639">
                  <a:extLst>
                    <a:ext uri="{9D8B030D-6E8A-4147-A177-3AD203B41FA5}">
                      <a16:colId xmlns:a16="http://schemas.microsoft.com/office/drawing/2014/main" val="413740914"/>
                    </a:ext>
                  </a:extLst>
                </a:gridCol>
              </a:tblGrid>
              <a:tr h="41069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708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2292563387"/>
                  </a:ext>
                </a:extLst>
              </a:tr>
              <a:tr h="708873">
                <a:tc>
                  <a:txBody>
                    <a:bodyPr/>
                    <a:lstStyle/>
                    <a:p>
                      <a:r>
                        <a:rPr kumimoji="1" lang="en-US" altLang="ja-JP" dirty="0"/>
                        <a:t>7.2.4</a:t>
                      </a:r>
                      <a:r>
                        <a:rPr kumimoji="1" lang="ja-JP" altLang="en-US" dirty="0"/>
                        <a:t>　第二者監査員</a:t>
                      </a:r>
                    </a:p>
                  </a:txBody>
                  <a:tcPr/>
                </a:tc>
                <a:tc>
                  <a:txBody>
                    <a:bodyPr/>
                    <a:lstStyle/>
                    <a:p>
                      <a:r>
                        <a:rPr kumimoji="1" lang="ja-JP" altLang="en-US" dirty="0"/>
                        <a:t>第二者監査員は、適格性確認に対する顧客要求事項を満たし、</a:t>
                      </a:r>
                      <a:r>
                        <a:rPr kumimoji="1" lang="ja-JP" altLang="en-US" dirty="0">
                          <a:solidFill>
                            <a:srgbClr val="FF0000"/>
                          </a:solidFill>
                        </a:rPr>
                        <a:t>該当する</a:t>
                      </a:r>
                    </a:p>
                    <a:p>
                      <a:r>
                        <a:rPr kumimoji="1" lang="ja-JP" altLang="en-US" dirty="0">
                          <a:solidFill>
                            <a:srgbClr val="FF0000"/>
                          </a:solidFill>
                        </a:rPr>
                        <a:t>コアツール</a:t>
                      </a:r>
                      <a:r>
                        <a:rPr kumimoji="1" lang="ja-JP" altLang="en-US" dirty="0"/>
                        <a:t>要求事項の力量を実証する。</a:t>
                      </a:r>
                    </a:p>
                  </a:txBody>
                  <a:tcPr/>
                </a:tc>
                <a:extLst>
                  <a:ext uri="{0D108BD9-81ED-4DB2-BD59-A6C34878D82A}">
                    <a16:rowId xmlns:a16="http://schemas.microsoft.com/office/drawing/2014/main" val="4258611776"/>
                  </a:ext>
                </a:extLst>
              </a:tr>
              <a:tr h="708873">
                <a:tc>
                  <a:txBody>
                    <a:bodyPr/>
                    <a:lstStyle/>
                    <a:p>
                      <a:r>
                        <a:rPr kumimoji="1" lang="en-US" altLang="ja-JP" dirty="0"/>
                        <a:t>8.3.5.2</a:t>
                      </a:r>
                      <a:r>
                        <a:rPr kumimoji="1" lang="ja-JP" altLang="en-US" dirty="0"/>
                        <a:t>　製造工程設計からのアウトプット</a:t>
                      </a:r>
                    </a:p>
                  </a:txBody>
                  <a:tcPr/>
                </a:tc>
                <a:tc>
                  <a:txBody>
                    <a:bodyPr/>
                    <a:lstStyle/>
                    <a:p>
                      <a:r>
                        <a:rPr kumimoji="1" lang="ja-JP" altLang="en-US" dirty="0"/>
                        <a:t>製造工程設計からのアウトプットには、</a:t>
                      </a:r>
                      <a:r>
                        <a:rPr kumimoji="1" lang="ja-JP" altLang="en-US" dirty="0">
                          <a:solidFill>
                            <a:srgbClr val="FF0000"/>
                          </a:solidFill>
                        </a:rPr>
                        <a:t>工程承認の合否判定基準</a:t>
                      </a:r>
                      <a:r>
                        <a:rPr kumimoji="1" lang="ja-JP" altLang="en-US" dirty="0"/>
                        <a:t>を含める。</a:t>
                      </a:r>
                    </a:p>
                  </a:txBody>
                  <a:tcPr/>
                </a:tc>
                <a:extLst>
                  <a:ext uri="{0D108BD9-81ED-4DB2-BD59-A6C34878D82A}">
                    <a16:rowId xmlns:a16="http://schemas.microsoft.com/office/drawing/2014/main" val="552894290"/>
                  </a:ext>
                </a:extLst>
              </a:tr>
              <a:tr h="708873">
                <a:tc>
                  <a:txBody>
                    <a:bodyPr/>
                    <a:lstStyle/>
                    <a:p>
                      <a:r>
                        <a:rPr kumimoji="1" lang="en-US" altLang="ja-JP" dirty="0"/>
                        <a:t>8.5.1.3</a:t>
                      </a:r>
                      <a:r>
                        <a:rPr kumimoji="1" lang="ja-JP" altLang="en-US" dirty="0"/>
                        <a:t>　作業の段取り替え検証</a:t>
                      </a:r>
                    </a:p>
                  </a:txBody>
                  <a:tcPr/>
                </a:tc>
                <a:tc>
                  <a:txBody>
                    <a:bodyPr/>
                    <a:lstStyle/>
                    <a:p>
                      <a:r>
                        <a:rPr kumimoji="1" lang="ja-JP" altLang="en-US" dirty="0"/>
                        <a:t>検証方法に</a:t>
                      </a:r>
                      <a:r>
                        <a:rPr kumimoji="1" lang="ja-JP" altLang="en-US" dirty="0">
                          <a:solidFill>
                            <a:srgbClr val="FF0000"/>
                          </a:solidFill>
                        </a:rPr>
                        <a:t>統計的方法</a:t>
                      </a:r>
                      <a:r>
                        <a:rPr kumimoji="1" lang="ja-JP" altLang="en-US" dirty="0"/>
                        <a:t>を使用する。</a:t>
                      </a:r>
                    </a:p>
                  </a:txBody>
                  <a:tcPr/>
                </a:tc>
                <a:extLst>
                  <a:ext uri="{0D108BD9-81ED-4DB2-BD59-A6C34878D82A}">
                    <a16:rowId xmlns:a16="http://schemas.microsoft.com/office/drawing/2014/main" val="3928542182"/>
                  </a:ext>
                </a:extLst>
              </a:tr>
            </a:tbl>
          </a:graphicData>
        </a:graphic>
      </p:graphicFrame>
    </p:spTree>
    <p:extLst>
      <p:ext uri="{BB962C8B-B14F-4D97-AF65-F5344CB8AC3E}">
        <p14:creationId xmlns:p14="http://schemas.microsoft.com/office/powerpoint/2010/main" val="1065391474"/>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ＳＰＣとＩＡＴＦ１６９４９要求事項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2858576435"/>
              </p:ext>
            </p:extLst>
          </p:nvPr>
        </p:nvGraphicFramePr>
        <p:xfrm>
          <a:off x="838200" y="1344058"/>
          <a:ext cx="10515600" cy="5012294"/>
        </p:xfrm>
        <a:graphic>
          <a:graphicData uri="http://schemas.openxmlformats.org/drawingml/2006/table">
            <a:tbl>
              <a:tblPr firstRow="1" bandRow="1">
                <a:tableStyleId>{5940675A-B579-460E-94D1-54222C63F5DA}</a:tableStyleId>
              </a:tblPr>
              <a:tblGrid>
                <a:gridCol w="2532961">
                  <a:extLst>
                    <a:ext uri="{9D8B030D-6E8A-4147-A177-3AD203B41FA5}">
                      <a16:colId xmlns:a16="http://schemas.microsoft.com/office/drawing/2014/main" val="2165821717"/>
                    </a:ext>
                  </a:extLst>
                </a:gridCol>
                <a:gridCol w="7982639">
                  <a:extLst>
                    <a:ext uri="{9D8B030D-6E8A-4147-A177-3AD203B41FA5}">
                      <a16:colId xmlns:a16="http://schemas.microsoft.com/office/drawing/2014/main" val="413740914"/>
                    </a:ext>
                  </a:extLst>
                </a:gridCol>
              </a:tblGrid>
              <a:tr h="422743">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729666">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0" dirty="0"/>
                        <a:t>9.1.1.1</a:t>
                      </a:r>
                      <a:r>
                        <a:rPr kumimoji="1" lang="ja-JP" altLang="en-US" b="0" dirty="0"/>
                        <a:t>　製造工程の監視及び測定</a:t>
                      </a:r>
                    </a:p>
                  </a:txBody>
                  <a:tcPr>
                    <a:solidFill>
                      <a:schemeClr val="accent4">
                        <a:lumMod val="20000"/>
                        <a:lumOff val="80000"/>
                      </a:schemeClr>
                    </a:solidFill>
                  </a:tcPr>
                </a:tc>
                <a:tc>
                  <a:txBody>
                    <a:bodyPr/>
                    <a:lstStyle/>
                    <a:p>
                      <a:r>
                        <a:rPr kumimoji="1" lang="ja-JP" altLang="en-US" b="0" dirty="0"/>
                        <a:t>全ての新規製造工程に対し、工程能力を検証し、特殊特性の管理を含む工程管理への追加インプットを提供するために、</a:t>
                      </a:r>
                      <a:r>
                        <a:rPr kumimoji="1" lang="ja-JP" altLang="en-US" b="0" dirty="0">
                          <a:solidFill>
                            <a:srgbClr val="FF0000"/>
                          </a:solidFill>
                        </a:rPr>
                        <a:t>工程調査</a:t>
                      </a:r>
                      <a:r>
                        <a:rPr kumimoji="1" lang="ja-JP" altLang="en-US" b="0" dirty="0"/>
                        <a:t>を実施する。</a:t>
                      </a:r>
                    </a:p>
                  </a:txBody>
                  <a:tcPr>
                    <a:solidFill>
                      <a:schemeClr val="accent4">
                        <a:lumMod val="20000"/>
                        <a:lumOff val="80000"/>
                      </a:schemeClr>
                    </a:solidFill>
                  </a:tcPr>
                </a:tc>
                <a:extLst>
                  <a:ext uri="{0D108BD9-81ED-4DB2-BD59-A6C34878D82A}">
                    <a16:rowId xmlns:a16="http://schemas.microsoft.com/office/drawing/2014/main" val="2292563387"/>
                  </a:ext>
                </a:extLst>
              </a:tr>
              <a:tr h="729666">
                <a:tc vMerge="1">
                  <a:txBody>
                    <a:bodyPr/>
                    <a:lstStyle/>
                    <a:p>
                      <a:endParaRPr kumimoji="1" lang="ja-JP" altLang="en-US" dirty="0"/>
                    </a:p>
                  </a:txBody>
                  <a:tcPr/>
                </a:tc>
                <a:tc>
                  <a:txBody>
                    <a:bodyPr/>
                    <a:lstStyle/>
                    <a:p>
                      <a:r>
                        <a:rPr kumimoji="1" lang="ja-JP" altLang="en-US" b="0" dirty="0"/>
                        <a:t>顧客の部品承認プロセス要求事項で規定された</a:t>
                      </a:r>
                      <a:r>
                        <a:rPr kumimoji="1" lang="ja-JP" altLang="en-US" b="0" dirty="0">
                          <a:solidFill>
                            <a:srgbClr val="FF0000"/>
                          </a:solidFill>
                        </a:rPr>
                        <a:t>製造工程能力（</a:t>
                      </a:r>
                      <a:r>
                        <a:rPr kumimoji="1" lang="en-US" altLang="ja-JP" b="0" dirty="0" err="1">
                          <a:solidFill>
                            <a:srgbClr val="FF0000"/>
                          </a:solidFill>
                        </a:rPr>
                        <a:t>Cpk</a:t>
                      </a:r>
                      <a:r>
                        <a:rPr kumimoji="1" lang="ja-JP" altLang="en-US" b="0" dirty="0">
                          <a:solidFill>
                            <a:srgbClr val="FF0000"/>
                          </a:solidFill>
                        </a:rPr>
                        <a:t>）又は製造工程性能（</a:t>
                      </a:r>
                      <a:r>
                        <a:rPr kumimoji="1" lang="en-US" altLang="ja-JP" b="0" dirty="0" err="1">
                          <a:solidFill>
                            <a:srgbClr val="FF0000"/>
                          </a:solidFill>
                        </a:rPr>
                        <a:t>Ppk</a:t>
                      </a:r>
                      <a:r>
                        <a:rPr kumimoji="1" lang="ja-JP" altLang="en-US" b="0" dirty="0">
                          <a:solidFill>
                            <a:srgbClr val="FF0000"/>
                          </a:solidFill>
                        </a:rPr>
                        <a:t>）</a:t>
                      </a:r>
                      <a:r>
                        <a:rPr kumimoji="1" lang="ja-JP" altLang="en-US" b="0" dirty="0"/>
                        <a:t>の結果を維持する。</a:t>
                      </a:r>
                    </a:p>
                  </a:txBody>
                  <a:tcPr>
                    <a:solidFill>
                      <a:schemeClr val="accent4">
                        <a:lumMod val="20000"/>
                        <a:lumOff val="80000"/>
                      </a:schemeClr>
                    </a:solidFill>
                  </a:tcPr>
                </a:tc>
                <a:extLst>
                  <a:ext uri="{0D108BD9-81ED-4DB2-BD59-A6C34878D82A}">
                    <a16:rowId xmlns:a16="http://schemas.microsoft.com/office/drawing/2014/main" val="4258611776"/>
                  </a:ext>
                </a:extLst>
              </a:tr>
              <a:tr h="729666">
                <a:tc vMerge="1">
                  <a:txBody>
                    <a:bodyPr/>
                    <a:lstStyle/>
                    <a:p>
                      <a:endParaRPr kumimoji="1" lang="ja-JP" altLang="en-US" dirty="0"/>
                    </a:p>
                  </a:txBody>
                  <a:tcPr/>
                </a:tc>
                <a:tc>
                  <a:txBody>
                    <a:bodyPr/>
                    <a:lstStyle/>
                    <a:p>
                      <a:r>
                        <a:rPr kumimoji="1" lang="ja-JP" altLang="en-US" b="0" dirty="0">
                          <a:solidFill>
                            <a:srgbClr val="FF0000"/>
                          </a:solidFill>
                        </a:rPr>
                        <a:t>統計的に能力不足又は不安定な特性</a:t>
                      </a:r>
                      <a:r>
                        <a:rPr kumimoji="1" lang="ja-JP" altLang="en-US" b="0" dirty="0"/>
                        <a:t>に対して、コントロールプランに記載された対応計画を開始する。</a:t>
                      </a:r>
                    </a:p>
                  </a:txBody>
                  <a:tcPr>
                    <a:solidFill>
                      <a:schemeClr val="accent4">
                        <a:lumMod val="20000"/>
                        <a:lumOff val="80000"/>
                      </a:schemeClr>
                    </a:solidFill>
                  </a:tcPr>
                </a:tc>
                <a:extLst>
                  <a:ext uri="{0D108BD9-81ED-4DB2-BD59-A6C34878D82A}">
                    <a16:rowId xmlns:a16="http://schemas.microsoft.com/office/drawing/2014/main" val="552894290"/>
                  </a:ext>
                </a:extLst>
              </a:tr>
              <a:tr h="729666">
                <a:tc>
                  <a:txBody>
                    <a:bodyPr/>
                    <a:lstStyle/>
                    <a:p>
                      <a:r>
                        <a:rPr kumimoji="1" lang="en-US" altLang="ja-JP" dirty="0"/>
                        <a:t>9.1.1.2</a:t>
                      </a:r>
                      <a:r>
                        <a:rPr kumimoji="1" lang="ja-JP" altLang="en-US" dirty="0"/>
                        <a:t>　統計的ツールの特定</a:t>
                      </a:r>
                    </a:p>
                  </a:txBody>
                  <a:tcPr/>
                </a:tc>
                <a:tc>
                  <a:txBody>
                    <a:bodyPr/>
                    <a:lstStyle/>
                    <a:p>
                      <a:r>
                        <a:rPr kumimoji="1" lang="ja-JP" altLang="en-US" dirty="0"/>
                        <a:t>適切な</a:t>
                      </a:r>
                      <a:r>
                        <a:rPr kumimoji="1" lang="ja-JP" altLang="en-US" dirty="0">
                          <a:solidFill>
                            <a:srgbClr val="FF0000"/>
                          </a:solidFill>
                        </a:rPr>
                        <a:t>統計的ツール</a:t>
                      </a:r>
                      <a:r>
                        <a:rPr kumimoji="1" lang="ja-JP" altLang="en-US" dirty="0"/>
                        <a:t>が先行製品品質計画プロセスの一部として含まれていることを検証する。</a:t>
                      </a:r>
                    </a:p>
                  </a:txBody>
                  <a:tcPr/>
                </a:tc>
                <a:extLst>
                  <a:ext uri="{0D108BD9-81ED-4DB2-BD59-A6C34878D82A}">
                    <a16:rowId xmlns:a16="http://schemas.microsoft.com/office/drawing/2014/main" val="3928542182"/>
                  </a:ext>
                </a:extLst>
              </a:tr>
              <a:tr h="941221">
                <a:tc>
                  <a:txBody>
                    <a:bodyPr/>
                    <a:lstStyle/>
                    <a:p>
                      <a:r>
                        <a:rPr kumimoji="1" lang="en-US" altLang="ja-JP" dirty="0"/>
                        <a:t>9.1.1.3</a:t>
                      </a:r>
                      <a:r>
                        <a:rPr kumimoji="1" lang="ja-JP" altLang="en-US" dirty="0"/>
                        <a:t>　統計概念の適用</a:t>
                      </a:r>
                    </a:p>
                  </a:txBody>
                  <a:tcPr/>
                </a:tc>
                <a:tc>
                  <a:txBody>
                    <a:bodyPr/>
                    <a:lstStyle/>
                    <a:p>
                      <a:r>
                        <a:rPr kumimoji="1" lang="ja-JP" altLang="en-US" dirty="0"/>
                        <a:t>ばらつき、管理（安定性）、工程能力及び過剰調整によって起きる結果のような</a:t>
                      </a:r>
                      <a:r>
                        <a:rPr kumimoji="1" lang="ja-JP" altLang="en-US" dirty="0">
                          <a:solidFill>
                            <a:srgbClr val="FF0000"/>
                          </a:solidFill>
                        </a:rPr>
                        <a:t>統計概念</a:t>
                      </a:r>
                      <a:r>
                        <a:rPr kumimoji="1" lang="ja-JP" altLang="en-US" dirty="0"/>
                        <a:t>は、統計データの収集、分析及び管理に携わる従業員に理解され、使用される。</a:t>
                      </a:r>
                    </a:p>
                  </a:txBody>
                  <a:tcPr/>
                </a:tc>
                <a:extLst>
                  <a:ext uri="{0D108BD9-81ED-4DB2-BD59-A6C34878D82A}">
                    <a16:rowId xmlns:a16="http://schemas.microsoft.com/office/drawing/2014/main" val="541704111"/>
                  </a:ext>
                </a:extLst>
              </a:tr>
              <a:tr h="729666">
                <a:tc>
                  <a:txBody>
                    <a:bodyPr/>
                    <a:lstStyle/>
                    <a:p>
                      <a:r>
                        <a:rPr kumimoji="1" lang="en-US" altLang="ja-JP" dirty="0"/>
                        <a:t>10.3.1</a:t>
                      </a:r>
                      <a:r>
                        <a:rPr kumimoji="1" lang="ja-JP" altLang="en-US" dirty="0"/>
                        <a:t>　継続的改善－補足</a:t>
                      </a:r>
                    </a:p>
                  </a:txBody>
                  <a:tcPr/>
                </a:tc>
                <a:tc>
                  <a:txBody>
                    <a:bodyPr/>
                    <a:lstStyle/>
                    <a:p>
                      <a:r>
                        <a:rPr kumimoji="1" lang="ja-JP" altLang="en-US" dirty="0"/>
                        <a:t>継続的改善は、製造工程が</a:t>
                      </a:r>
                      <a:r>
                        <a:rPr kumimoji="1" lang="ja-JP" altLang="en-US" dirty="0">
                          <a:solidFill>
                            <a:srgbClr val="FF0000"/>
                          </a:solidFill>
                        </a:rPr>
                        <a:t>統計的に能力をもち安定</a:t>
                      </a:r>
                      <a:r>
                        <a:rPr kumimoji="1" lang="ja-JP" altLang="en-US" dirty="0"/>
                        <a:t>してから、又は製品特性が予測可能で顧客要求事項を満たしてから、実施される。</a:t>
                      </a:r>
                    </a:p>
                  </a:txBody>
                  <a:tcPr/>
                </a:tc>
                <a:extLst>
                  <a:ext uri="{0D108BD9-81ED-4DB2-BD59-A6C34878D82A}">
                    <a16:rowId xmlns:a16="http://schemas.microsoft.com/office/drawing/2014/main" val="2718395327"/>
                  </a:ext>
                </a:extLst>
              </a:tr>
            </a:tbl>
          </a:graphicData>
        </a:graphic>
      </p:graphicFrame>
    </p:spTree>
    <p:extLst>
      <p:ext uri="{BB962C8B-B14F-4D97-AF65-F5344CB8AC3E}">
        <p14:creationId xmlns:p14="http://schemas.microsoft.com/office/powerpoint/2010/main" val="36478751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PPAP</a:t>
            </a:r>
            <a:r>
              <a:rPr lang="ja-JP" altLang="en-US" sz="2400" dirty="0"/>
              <a:t>以外は　“参照マニュアル”　であるが、</a:t>
            </a:r>
            <a:r>
              <a:rPr lang="en-US" altLang="ja-JP" sz="2400" dirty="0"/>
              <a:t>MSA</a:t>
            </a:r>
            <a:r>
              <a:rPr lang="ja-JP" altLang="en-US" sz="2400" dirty="0"/>
              <a:t>は　“要求事項に近い位置付け”　である。（</a:t>
            </a:r>
            <a:r>
              <a:rPr lang="en-US" altLang="ja-JP" sz="2400" dirty="0"/>
              <a:t>7.1.5.1.1</a:t>
            </a:r>
            <a:r>
              <a:rPr lang="ja-JP" altLang="en-US" sz="2400" dirty="0"/>
              <a:t>）</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2000" b="1" dirty="0">
                <a:solidFill>
                  <a:schemeClr val="bg1"/>
                </a:solidFill>
              </a:rPr>
              <a:t>１．</a:t>
            </a:r>
            <a:r>
              <a:rPr lang="en-US" altLang="ja-JP" sz="2000" b="1" dirty="0">
                <a:solidFill>
                  <a:schemeClr val="bg1"/>
                </a:solidFill>
              </a:rPr>
              <a:t>IATF16949</a:t>
            </a:r>
            <a:r>
              <a:rPr lang="ja-JP" altLang="en-US" sz="2000" b="1" dirty="0">
                <a:solidFill>
                  <a:schemeClr val="bg1"/>
                </a:solidFill>
              </a:rPr>
              <a:t>とコアツール</a:t>
            </a:r>
            <a:r>
              <a:rPr lang="en-US" altLang="ja-JP" sz="3000" b="1" dirty="0">
                <a:solidFill>
                  <a:schemeClr val="bg1"/>
                </a:solidFill>
              </a:rPr>
              <a:t/>
            </a:r>
            <a:br>
              <a:rPr lang="en-US" altLang="ja-JP" sz="3000" b="1" dirty="0">
                <a:solidFill>
                  <a:schemeClr val="bg1"/>
                </a:solidFill>
              </a:rPr>
            </a:br>
            <a:r>
              <a:rPr lang="ja-JP" altLang="en-US" sz="3000" b="1" dirty="0">
                <a:solidFill>
                  <a:schemeClr val="bg1"/>
                </a:solidFill>
              </a:rPr>
              <a:t>ＭＳＡとＩＡＴＦ１６９４９要求事項</a:t>
            </a:r>
          </a:p>
        </p:txBody>
      </p:sp>
      <p:graphicFrame>
        <p:nvGraphicFramePr>
          <p:cNvPr id="2" name="表 1">
            <a:extLst>
              <a:ext uri="{FF2B5EF4-FFF2-40B4-BE49-F238E27FC236}">
                <a16:creationId xmlns:a16="http://schemas.microsoft.com/office/drawing/2014/main" id="{5C1D130B-8B3F-4837-9BC1-466C555A5380}"/>
              </a:ext>
            </a:extLst>
          </p:cNvPr>
          <p:cNvGraphicFramePr>
            <a:graphicFrameLocks noGrp="1"/>
          </p:cNvGraphicFramePr>
          <p:nvPr>
            <p:extLst>
              <p:ext uri="{D42A27DB-BD31-4B8C-83A1-F6EECF244321}">
                <p14:modId xmlns:p14="http://schemas.microsoft.com/office/powerpoint/2010/main" val="3604951143"/>
              </p:ext>
            </p:extLst>
          </p:nvPr>
        </p:nvGraphicFramePr>
        <p:xfrm>
          <a:off x="838200" y="2258458"/>
          <a:ext cx="10515600" cy="4097892"/>
        </p:xfrm>
        <a:graphic>
          <a:graphicData uri="http://schemas.openxmlformats.org/drawingml/2006/table">
            <a:tbl>
              <a:tblPr firstRow="1" bandRow="1">
                <a:tableStyleId>{5940675A-B579-460E-94D1-54222C63F5DA}</a:tableStyleId>
              </a:tblPr>
              <a:tblGrid>
                <a:gridCol w="2532961">
                  <a:extLst>
                    <a:ext uri="{9D8B030D-6E8A-4147-A177-3AD203B41FA5}">
                      <a16:colId xmlns:a16="http://schemas.microsoft.com/office/drawing/2014/main" val="2165821717"/>
                    </a:ext>
                  </a:extLst>
                </a:gridCol>
                <a:gridCol w="7982639">
                  <a:extLst>
                    <a:ext uri="{9D8B030D-6E8A-4147-A177-3AD203B41FA5}">
                      <a16:colId xmlns:a16="http://schemas.microsoft.com/office/drawing/2014/main" val="413740914"/>
                    </a:ext>
                  </a:extLst>
                </a:gridCol>
              </a:tblGrid>
              <a:tr h="505627">
                <a:tc>
                  <a:txBody>
                    <a:bodyPr/>
                    <a:lstStyle/>
                    <a:p>
                      <a:pPr algn="ctr"/>
                      <a:r>
                        <a:rPr kumimoji="1" lang="ja-JP" altLang="en-US" dirty="0"/>
                        <a:t>項目</a:t>
                      </a:r>
                    </a:p>
                  </a:txBody>
                  <a:tcPr>
                    <a:solidFill>
                      <a:schemeClr val="tx2">
                        <a:lumMod val="40000"/>
                        <a:lumOff val="60000"/>
                      </a:schemeClr>
                    </a:solidFill>
                  </a:tcPr>
                </a:tc>
                <a:tc>
                  <a:txBody>
                    <a:bodyPr/>
                    <a:lstStyle/>
                    <a:p>
                      <a:pPr algn="ctr"/>
                      <a:r>
                        <a:rPr kumimoji="1" lang="ja-JP" altLang="en-US" dirty="0"/>
                        <a:t>要求事項の概要</a:t>
                      </a:r>
                    </a:p>
                  </a:txBody>
                  <a:tcPr>
                    <a:solidFill>
                      <a:schemeClr val="tx2">
                        <a:lumMod val="40000"/>
                        <a:lumOff val="60000"/>
                      </a:schemeClr>
                    </a:solidFill>
                  </a:tcPr>
                </a:tc>
                <a:extLst>
                  <a:ext uri="{0D108BD9-81ED-4DB2-BD59-A6C34878D82A}">
                    <a16:rowId xmlns:a16="http://schemas.microsoft.com/office/drawing/2014/main" val="797757204"/>
                  </a:ext>
                </a:extLst>
              </a:tr>
              <a:tr h="87272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0" dirty="0"/>
                        <a:t>7.1.5.1.1</a:t>
                      </a:r>
                      <a:r>
                        <a:rPr kumimoji="1" lang="ja-JP" altLang="en-US" b="0" dirty="0"/>
                        <a:t>　</a:t>
                      </a:r>
                      <a:r>
                        <a:rPr kumimoji="1" lang="ja-JP" altLang="en-US" b="0" dirty="0">
                          <a:solidFill>
                            <a:srgbClr val="FF0000"/>
                          </a:solidFill>
                        </a:rPr>
                        <a:t>測定システム解析</a:t>
                      </a:r>
                    </a:p>
                  </a:txBody>
                  <a:tcPr>
                    <a:solidFill>
                      <a:schemeClr val="accent4">
                        <a:lumMod val="20000"/>
                        <a:lumOff val="80000"/>
                      </a:schemeClr>
                    </a:solidFill>
                  </a:tcPr>
                </a:tc>
                <a:tc>
                  <a:txBody>
                    <a:bodyPr/>
                    <a:lstStyle/>
                    <a:p>
                      <a:r>
                        <a:rPr kumimoji="1" lang="ja-JP" altLang="en-US" b="0" dirty="0"/>
                        <a:t>コントロールプランに特定されている各種の検査、測定及び試験設備システムの、結果に存在するばらつきを解析するために、統計的調査を実施する。</a:t>
                      </a:r>
                    </a:p>
                  </a:txBody>
                  <a:tcPr>
                    <a:solidFill>
                      <a:schemeClr val="accent4">
                        <a:lumMod val="20000"/>
                        <a:lumOff val="80000"/>
                      </a:schemeClr>
                    </a:solidFill>
                  </a:tcPr>
                </a:tc>
                <a:extLst>
                  <a:ext uri="{0D108BD9-81ED-4DB2-BD59-A6C34878D82A}">
                    <a16:rowId xmlns:a16="http://schemas.microsoft.com/office/drawing/2014/main" val="2292563387"/>
                  </a:ext>
                </a:extLst>
              </a:tr>
              <a:tr h="482002">
                <a:tc vMerge="1">
                  <a:txBody>
                    <a:bodyPr/>
                    <a:lstStyle/>
                    <a:p>
                      <a:endParaRPr kumimoji="1" lang="ja-JP" altLang="en-US" dirty="0"/>
                    </a:p>
                  </a:txBody>
                  <a:tcPr/>
                </a:tc>
                <a:tc>
                  <a:txBody>
                    <a:bodyPr/>
                    <a:lstStyle/>
                    <a:p>
                      <a:r>
                        <a:rPr kumimoji="1" lang="ja-JP" altLang="en-US" b="0" dirty="0"/>
                        <a:t>使用する解析方法と合否判定基準は、</a:t>
                      </a:r>
                      <a:r>
                        <a:rPr kumimoji="1" lang="en-US" altLang="ja-JP" b="0" dirty="0"/>
                        <a:t>MSA</a:t>
                      </a:r>
                      <a:r>
                        <a:rPr kumimoji="1" lang="ja-JP" altLang="en-US" b="0" dirty="0"/>
                        <a:t>参照マニュアルに適合する。</a:t>
                      </a:r>
                    </a:p>
                  </a:txBody>
                  <a:tcPr>
                    <a:solidFill>
                      <a:schemeClr val="accent4">
                        <a:lumMod val="20000"/>
                        <a:lumOff val="80000"/>
                      </a:schemeClr>
                    </a:solidFill>
                  </a:tcPr>
                </a:tc>
                <a:extLst>
                  <a:ext uri="{0D108BD9-81ED-4DB2-BD59-A6C34878D82A}">
                    <a16:rowId xmlns:a16="http://schemas.microsoft.com/office/drawing/2014/main" val="4258611776"/>
                  </a:ext>
                </a:extLst>
              </a:tr>
              <a:tr h="492094">
                <a:tc vMerge="1">
                  <a:txBody>
                    <a:bodyPr/>
                    <a:lstStyle/>
                    <a:p>
                      <a:endParaRPr kumimoji="1" lang="ja-JP" altLang="en-US" dirty="0"/>
                    </a:p>
                  </a:txBody>
                  <a:tcPr/>
                </a:tc>
                <a:tc>
                  <a:txBody>
                    <a:bodyPr/>
                    <a:lstStyle/>
                    <a:p>
                      <a:r>
                        <a:rPr kumimoji="1" lang="ja-JP" altLang="en-US" b="0" dirty="0"/>
                        <a:t>顧客が承認した場合は、他の解析方法及び合否判定基準を使用してもよい。</a:t>
                      </a:r>
                    </a:p>
                  </a:txBody>
                  <a:tcPr>
                    <a:solidFill>
                      <a:schemeClr val="accent4">
                        <a:lumMod val="20000"/>
                        <a:lumOff val="80000"/>
                      </a:schemeClr>
                    </a:solidFill>
                  </a:tcPr>
                </a:tc>
                <a:extLst>
                  <a:ext uri="{0D108BD9-81ED-4DB2-BD59-A6C34878D82A}">
                    <a16:rowId xmlns:a16="http://schemas.microsoft.com/office/drawing/2014/main" val="552894290"/>
                  </a:ext>
                </a:extLst>
              </a:tr>
              <a:tr h="872723">
                <a:tc>
                  <a:txBody>
                    <a:bodyPr/>
                    <a:lstStyle/>
                    <a:p>
                      <a:r>
                        <a:rPr kumimoji="1" lang="en-US" altLang="ja-JP" dirty="0"/>
                        <a:t>7.2.3</a:t>
                      </a:r>
                      <a:r>
                        <a:rPr kumimoji="1" lang="ja-JP" altLang="en-US" dirty="0"/>
                        <a:t>　内部監査員の力量</a:t>
                      </a:r>
                    </a:p>
                  </a:txBody>
                  <a:tcPr/>
                </a:tc>
                <a:tc>
                  <a:txBody>
                    <a:bodyPr/>
                    <a:lstStyle/>
                    <a:p>
                      <a:r>
                        <a:rPr kumimoji="1" lang="ja-JP" altLang="en-US" dirty="0"/>
                        <a:t>監査員（</a:t>
                      </a:r>
                      <a:r>
                        <a:rPr kumimoji="1" lang="en-US" altLang="ja-JP" dirty="0"/>
                        <a:t>QMS</a:t>
                      </a:r>
                      <a:r>
                        <a:rPr kumimoji="1" lang="ja-JP" altLang="en-US" dirty="0"/>
                        <a:t>／製造工程／製品）は、</a:t>
                      </a:r>
                      <a:r>
                        <a:rPr kumimoji="1" lang="ja-JP" altLang="en-US" dirty="0">
                          <a:solidFill>
                            <a:srgbClr val="FF0000"/>
                          </a:solidFill>
                        </a:rPr>
                        <a:t>該当するコアツール</a:t>
                      </a:r>
                      <a:r>
                        <a:rPr kumimoji="1" lang="ja-JP" altLang="en-US" dirty="0"/>
                        <a:t>の力量を実証する。</a:t>
                      </a:r>
                    </a:p>
                  </a:txBody>
                  <a:tcPr/>
                </a:tc>
                <a:extLst>
                  <a:ext uri="{0D108BD9-81ED-4DB2-BD59-A6C34878D82A}">
                    <a16:rowId xmlns:a16="http://schemas.microsoft.com/office/drawing/2014/main" val="4126224366"/>
                  </a:ext>
                </a:extLst>
              </a:tr>
              <a:tr h="872723">
                <a:tc>
                  <a:txBody>
                    <a:bodyPr/>
                    <a:lstStyle/>
                    <a:p>
                      <a:r>
                        <a:rPr kumimoji="1" lang="en-US" altLang="ja-JP" dirty="0"/>
                        <a:t>7.2.4</a:t>
                      </a:r>
                      <a:r>
                        <a:rPr kumimoji="1" lang="ja-JP" altLang="en-US" dirty="0"/>
                        <a:t>　第二者監査員の力量</a:t>
                      </a:r>
                    </a:p>
                  </a:txBody>
                  <a:tcPr/>
                </a:tc>
                <a:tc>
                  <a:txBody>
                    <a:bodyPr/>
                    <a:lstStyle/>
                    <a:p>
                      <a:r>
                        <a:rPr kumimoji="1" lang="ja-JP" altLang="en-US" dirty="0"/>
                        <a:t>第二者監査員は、適格性確認に対する顧客要求事項を満たし、</a:t>
                      </a:r>
                      <a:r>
                        <a:rPr kumimoji="1" lang="ja-JP" altLang="en-US" dirty="0">
                          <a:solidFill>
                            <a:srgbClr val="FF0000"/>
                          </a:solidFill>
                        </a:rPr>
                        <a:t>該当する</a:t>
                      </a:r>
                    </a:p>
                    <a:p>
                      <a:r>
                        <a:rPr kumimoji="1" lang="ja-JP" altLang="en-US" dirty="0">
                          <a:solidFill>
                            <a:srgbClr val="FF0000"/>
                          </a:solidFill>
                        </a:rPr>
                        <a:t>コアツール</a:t>
                      </a:r>
                      <a:r>
                        <a:rPr kumimoji="1" lang="ja-JP" altLang="en-US" dirty="0"/>
                        <a:t>要求事項の力量を実証する。</a:t>
                      </a:r>
                    </a:p>
                  </a:txBody>
                  <a:tcPr/>
                </a:tc>
                <a:extLst>
                  <a:ext uri="{0D108BD9-81ED-4DB2-BD59-A6C34878D82A}">
                    <a16:rowId xmlns:a16="http://schemas.microsoft.com/office/drawing/2014/main" val="1083329058"/>
                  </a:ext>
                </a:extLst>
              </a:tr>
            </a:tbl>
          </a:graphicData>
        </a:graphic>
      </p:graphicFrame>
    </p:spTree>
    <p:extLst>
      <p:ext uri="{BB962C8B-B14F-4D97-AF65-F5344CB8AC3E}">
        <p14:creationId xmlns:p14="http://schemas.microsoft.com/office/powerpoint/2010/main" val="4153845579"/>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575564242"/>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386</a:t>
            </a:fld>
            <a:endParaRPr kumimoji="1" lang="ja-JP" altLang="en-US"/>
          </a:p>
        </p:txBody>
      </p:sp>
    </p:spTree>
    <p:extLst>
      <p:ext uri="{BB962C8B-B14F-4D97-AF65-F5344CB8AC3E}">
        <p14:creationId xmlns:p14="http://schemas.microsoft.com/office/powerpoint/2010/main" val="3594707148"/>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ＡＰＱＰとは（</a:t>
            </a:r>
            <a:r>
              <a:rPr lang="en-US" altLang="ja-JP" sz="2400" dirty="0"/>
              <a:t>advanced</a:t>
            </a:r>
            <a:r>
              <a:rPr lang="ja-JP" altLang="en-US" sz="2400" dirty="0"/>
              <a:t>　</a:t>
            </a:r>
            <a:r>
              <a:rPr lang="en-US" altLang="ja-JP" sz="2400" dirty="0"/>
              <a:t>product</a:t>
            </a:r>
            <a:r>
              <a:rPr lang="ja-JP" altLang="en-US" sz="2400" dirty="0"/>
              <a:t>　</a:t>
            </a:r>
            <a:r>
              <a:rPr lang="en-US" altLang="ja-JP" sz="2400" dirty="0"/>
              <a:t>quality</a:t>
            </a:r>
            <a:r>
              <a:rPr lang="ja-JP" altLang="en-US" sz="2400" dirty="0"/>
              <a:t>　</a:t>
            </a:r>
            <a:r>
              <a:rPr lang="en-US" altLang="ja-JP" sz="2400" dirty="0"/>
              <a:t>planning</a:t>
            </a:r>
            <a:r>
              <a:rPr lang="ja-JP" altLang="en-US" sz="2400" dirty="0"/>
              <a:t>）</a:t>
            </a:r>
            <a:endParaRPr lang="en-US" altLang="ja-JP" sz="2400" dirty="0"/>
          </a:p>
          <a:p>
            <a:pPr lvl="1">
              <a:lnSpc>
                <a:spcPct val="100000"/>
              </a:lnSpc>
              <a:buFont typeface="Wingdings" panose="05000000000000000000" pitchFamily="2" charset="2"/>
              <a:buChar char="Ø"/>
            </a:pPr>
            <a:r>
              <a:rPr lang="ja-JP" altLang="en-US" dirty="0"/>
              <a:t>新製品に関する品質計画のこと。</a:t>
            </a:r>
            <a:endParaRPr lang="en-US" altLang="ja-JP" dirty="0"/>
          </a:p>
          <a:p>
            <a:pPr lvl="1">
              <a:lnSpc>
                <a:spcPct val="100000"/>
              </a:lnSpc>
              <a:buFont typeface="Wingdings" panose="05000000000000000000" pitchFamily="2" charset="2"/>
              <a:buChar char="Ø"/>
            </a:pPr>
            <a:r>
              <a:rPr lang="ja-JP" altLang="en-US" dirty="0"/>
              <a:t>新製品の開発段階から量産までの製品実現を決められた段階（フェーズ）に従い達成していく。</a:t>
            </a:r>
            <a:endParaRPr lang="en-US" altLang="ja-JP" dirty="0"/>
          </a:p>
          <a:p>
            <a:pPr marL="514350" indent="-514350">
              <a:lnSpc>
                <a:spcPct val="100000"/>
              </a:lnSpc>
              <a:buFont typeface="+mj-lt"/>
              <a:buAutoNum type="arabicPeriod"/>
            </a:pPr>
            <a:r>
              <a:rPr lang="ja-JP" altLang="en-US" sz="2400" dirty="0"/>
              <a:t>ＡＰＱＰの特徴</a:t>
            </a:r>
            <a:endParaRPr lang="en-US" altLang="ja-JP" sz="2400" dirty="0"/>
          </a:p>
          <a:p>
            <a:pPr lvl="1">
              <a:lnSpc>
                <a:spcPct val="100000"/>
              </a:lnSpc>
              <a:buFont typeface="Wingdings" panose="05000000000000000000" pitchFamily="2" charset="2"/>
              <a:buChar char="Ø"/>
            </a:pPr>
            <a:r>
              <a:rPr lang="en-US" altLang="ja-JP" dirty="0"/>
              <a:t>APQP</a:t>
            </a:r>
            <a:r>
              <a:rPr lang="ja-JP" altLang="en-US" dirty="0"/>
              <a:t>の狙いは、不適合の検出ではなく、</a:t>
            </a:r>
            <a:r>
              <a:rPr lang="ja-JP" altLang="en-US" dirty="0">
                <a:solidFill>
                  <a:srgbClr val="FF0000"/>
                </a:solidFill>
                <a:effectLst>
                  <a:outerShdw blurRad="38100" dist="38100" dir="2700000" algn="tl">
                    <a:srgbClr val="000000">
                      <a:alpha val="43137"/>
                    </a:srgbClr>
                  </a:outerShdw>
                </a:effectLst>
              </a:rPr>
              <a:t>不適合の予防</a:t>
            </a:r>
            <a:r>
              <a:rPr lang="ja-JP" altLang="en-US" dirty="0"/>
              <a:t>と継続的改善。</a:t>
            </a:r>
            <a:endParaRPr lang="en-US" altLang="ja-JP" dirty="0"/>
          </a:p>
          <a:p>
            <a:pPr lvl="1">
              <a:lnSpc>
                <a:spcPct val="100000"/>
              </a:lnSpc>
              <a:buFont typeface="Wingdings" panose="05000000000000000000" pitchFamily="2" charset="2"/>
              <a:buChar char="Ø"/>
            </a:pPr>
            <a:r>
              <a:rPr lang="en-US" altLang="ja-JP" dirty="0"/>
              <a:t>APQP</a:t>
            </a:r>
            <a:r>
              <a:rPr lang="ja-JP" altLang="en-US" dirty="0"/>
              <a:t>は、</a:t>
            </a:r>
            <a:r>
              <a:rPr lang="ja-JP" altLang="en-US" dirty="0">
                <a:solidFill>
                  <a:srgbClr val="FF0000"/>
                </a:solidFill>
                <a:effectLst>
                  <a:outerShdw blurRad="38100" dist="38100" dir="2700000" algn="tl">
                    <a:srgbClr val="000000">
                      <a:alpha val="43137"/>
                    </a:srgbClr>
                  </a:outerShdw>
                </a:effectLst>
              </a:rPr>
              <a:t>部門横断的アプローチ</a:t>
            </a:r>
            <a:r>
              <a:rPr lang="ja-JP" altLang="en-US" dirty="0"/>
              <a:t>（</a:t>
            </a:r>
            <a:r>
              <a:rPr lang="en-US" altLang="ja-JP" dirty="0"/>
              <a:t>APQP</a:t>
            </a:r>
            <a:r>
              <a:rPr lang="ja-JP" altLang="en-US" dirty="0"/>
              <a:t>チーム）により進める。</a:t>
            </a:r>
            <a:endParaRPr lang="en-US" altLang="ja-JP" dirty="0"/>
          </a:p>
          <a:p>
            <a:pPr lvl="1">
              <a:lnSpc>
                <a:spcPct val="100000"/>
              </a:lnSpc>
              <a:buFont typeface="Wingdings" panose="05000000000000000000" pitchFamily="2" charset="2"/>
              <a:buChar char="Ø"/>
            </a:pPr>
            <a:r>
              <a:rPr lang="en-US" altLang="ja-JP" dirty="0"/>
              <a:t>APQP</a:t>
            </a:r>
            <a:r>
              <a:rPr lang="ja-JP" altLang="en-US" dirty="0"/>
              <a:t>は、</a:t>
            </a:r>
            <a:r>
              <a:rPr lang="ja-JP" altLang="en-US" dirty="0">
                <a:solidFill>
                  <a:srgbClr val="FF0000"/>
                </a:solidFill>
                <a:effectLst>
                  <a:outerShdw blurRad="38100" dist="38100" dir="2700000" algn="tl">
                    <a:srgbClr val="000000">
                      <a:alpha val="43137"/>
                    </a:srgbClr>
                  </a:outerShdw>
                </a:effectLst>
              </a:rPr>
              <a:t>同時並行型エンジニアリング</a:t>
            </a:r>
            <a:r>
              <a:rPr lang="ja-JP" altLang="en-US" dirty="0"/>
              <a:t>で進める。（クリティカルパス管理）</a:t>
            </a:r>
            <a:endParaRPr lang="en-US" altLang="ja-JP" dirty="0"/>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２．ＡＰＱＰ（ＡＰＱＰとは／目的）</a:t>
            </a:r>
          </a:p>
        </p:txBody>
      </p:sp>
      <p:sp>
        <p:nvSpPr>
          <p:cNvPr id="2" name="矢印: 下 1">
            <a:extLst>
              <a:ext uri="{FF2B5EF4-FFF2-40B4-BE49-F238E27FC236}">
                <a16:creationId xmlns:a16="http://schemas.microsoft.com/office/drawing/2014/main" id="{AA740F08-B930-4CAF-9108-E79A6B23020F}"/>
              </a:ext>
            </a:extLst>
          </p:cNvPr>
          <p:cNvSpPr/>
          <p:nvPr/>
        </p:nvSpPr>
        <p:spPr>
          <a:xfrm>
            <a:off x="5370136" y="5002514"/>
            <a:ext cx="1451728" cy="207390"/>
          </a:xfrm>
          <a:prstGeom prst="downArrow">
            <a:avLst>
              <a:gd name="adj1" fmla="val 69246"/>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17C8E0C-E029-44BE-AA20-ECF4CBC80905}"/>
              </a:ext>
            </a:extLst>
          </p:cNvPr>
          <p:cNvSpPr/>
          <p:nvPr/>
        </p:nvSpPr>
        <p:spPr>
          <a:xfrm>
            <a:off x="1873250" y="5334381"/>
            <a:ext cx="8445500" cy="897492"/>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不適合の「早期発見」を「漏れなく」「早く」行う。</a:t>
            </a:r>
          </a:p>
        </p:txBody>
      </p:sp>
    </p:spTree>
    <p:extLst>
      <p:ext uri="{BB962C8B-B14F-4D97-AF65-F5344CB8AC3E}">
        <p14:creationId xmlns:p14="http://schemas.microsoft.com/office/powerpoint/2010/main" val="3667505906"/>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２．ＡＰＱＰ（概要）</a:t>
            </a:r>
          </a:p>
        </p:txBody>
      </p:sp>
      <p:graphicFrame>
        <p:nvGraphicFramePr>
          <p:cNvPr id="2" name="表 2">
            <a:extLst>
              <a:ext uri="{FF2B5EF4-FFF2-40B4-BE49-F238E27FC236}">
                <a16:creationId xmlns:a16="http://schemas.microsoft.com/office/drawing/2014/main" id="{674EE79B-D990-44F3-A30A-8346C76898A2}"/>
              </a:ext>
            </a:extLst>
          </p:cNvPr>
          <p:cNvGraphicFramePr>
            <a:graphicFrameLocks noGrp="1"/>
          </p:cNvGraphicFramePr>
          <p:nvPr>
            <p:extLst>
              <p:ext uri="{D42A27DB-BD31-4B8C-83A1-F6EECF244321}">
                <p14:modId xmlns:p14="http://schemas.microsoft.com/office/powerpoint/2010/main" val="466937809"/>
              </p:ext>
            </p:extLst>
          </p:nvPr>
        </p:nvGraphicFramePr>
        <p:xfrm>
          <a:off x="838200" y="1557064"/>
          <a:ext cx="10515600" cy="4328160"/>
        </p:xfrm>
        <a:graphic>
          <a:graphicData uri="http://schemas.openxmlformats.org/drawingml/2006/table">
            <a:tbl>
              <a:tblPr firstRow="1" bandRow="1">
                <a:tableStyleId>{5940675A-B579-460E-94D1-54222C63F5DA}</a:tableStyleId>
              </a:tblPr>
              <a:tblGrid>
                <a:gridCol w="2280385">
                  <a:extLst>
                    <a:ext uri="{9D8B030D-6E8A-4147-A177-3AD203B41FA5}">
                      <a16:colId xmlns:a16="http://schemas.microsoft.com/office/drawing/2014/main" val="1170308338"/>
                    </a:ext>
                  </a:extLst>
                </a:gridCol>
                <a:gridCol w="8235215">
                  <a:extLst>
                    <a:ext uri="{9D8B030D-6E8A-4147-A177-3AD203B41FA5}">
                      <a16:colId xmlns:a16="http://schemas.microsoft.com/office/drawing/2014/main" val="4029020826"/>
                    </a:ext>
                  </a:extLst>
                </a:gridCol>
              </a:tblGrid>
              <a:tr h="370840">
                <a:tc>
                  <a:txBody>
                    <a:bodyPr/>
                    <a:lstStyle/>
                    <a:p>
                      <a:pPr algn="ctr"/>
                      <a:r>
                        <a:rPr kumimoji="1" lang="ja-JP" altLang="en-US" sz="2000" dirty="0">
                          <a:solidFill>
                            <a:schemeClr val="tx1"/>
                          </a:solidFill>
                        </a:rPr>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525870041"/>
                  </a:ext>
                </a:extLst>
              </a:tr>
              <a:tr h="370840">
                <a:tc>
                  <a:txBody>
                    <a:bodyPr/>
                    <a:lstStyle/>
                    <a:p>
                      <a:r>
                        <a:rPr kumimoji="1" lang="en-US" altLang="ja-JP" sz="2000" dirty="0">
                          <a:solidFill>
                            <a:schemeClr val="tx1"/>
                          </a:solidFill>
                        </a:rPr>
                        <a:t>APQP</a:t>
                      </a:r>
                      <a:r>
                        <a:rPr kumimoji="1" lang="ja-JP" altLang="en-US" sz="2000" dirty="0">
                          <a:solidFill>
                            <a:schemeClr val="tx1"/>
                          </a:solidFill>
                        </a:rPr>
                        <a:t>とは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とは、顧客がその製品に満足することを保証するために必要な</a:t>
                      </a:r>
                      <a:r>
                        <a:rPr kumimoji="1" lang="ja-JP" altLang="en-US" sz="2000" dirty="0">
                          <a:solidFill>
                            <a:srgbClr val="FF0000"/>
                          </a:solidFill>
                          <a:effectLst>
                            <a:outerShdw blurRad="38100" dist="38100" dir="2700000" algn="tl">
                              <a:srgbClr val="000000">
                                <a:alpha val="43137"/>
                              </a:srgbClr>
                            </a:outerShdw>
                          </a:effectLst>
                        </a:rPr>
                        <a:t>フェーズと実施事項を定義し、確実に運用する</a:t>
                      </a:r>
                      <a:r>
                        <a:rPr kumimoji="1" lang="ja-JP" altLang="en-US" sz="2000" dirty="0">
                          <a:solidFill>
                            <a:schemeClr val="tx1"/>
                          </a:solidFill>
                        </a:rPr>
                        <a:t>ことをいう。新製品品質計画のこと。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331474"/>
                  </a:ext>
                </a:extLst>
              </a:tr>
              <a:tr h="370840">
                <a:tc>
                  <a:txBody>
                    <a:bodyPr/>
                    <a:lstStyle/>
                    <a:p>
                      <a:r>
                        <a:rPr kumimoji="1" lang="en-US" altLang="ja-JP" sz="2000" dirty="0">
                          <a:solidFill>
                            <a:schemeClr val="tx1"/>
                          </a:solidFill>
                        </a:rPr>
                        <a:t>APQP</a:t>
                      </a:r>
                      <a:r>
                        <a:rPr kumimoji="1" lang="ja-JP" altLang="en-US" sz="2000" dirty="0">
                          <a:solidFill>
                            <a:schemeClr val="tx1"/>
                          </a:solidFill>
                        </a:rPr>
                        <a:t>のねらいとメリット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の全てのフェーズを期日通り完了することを保証するために、</a:t>
                      </a:r>
                      <a:r>
                        <a:rPr kumimoji="1" lang="ja-JP" altLang="en-US" sz="2000" dirty="0">
                          <a:solidFill>
                            <a:srgbClr val="FF0000"/>
                          </a:solidFill>
                          <a:effectLst>
                            <a:outerShdw blurRad="38100" dist="38100" dir="2700000" algn="tl">
                              <a:srgbClr val="000000">
                                <a:alpha val="43137"/>
                              </a:srgbClr>
                            </a:outerShdw>
                          </a:effectLst>
                        </a:rPr>
                        <a:t>関係者間の情報伝達</a:t>
                      </a:r>
                      <a:r>
                        <a:rPr kumimoji="1" lang="ja-JP" altLang="en-US" sz="2000" dirty="0">
                          <a:solidFill>
                            <a:schemeClr val="tx1"/>
                          </a:solidFill>
                        </a:rPr>
                        <a:t>を円滑にする。</a:t>
                      </a:r>
                      <a:endParaRPr kumimoji="1" lang="en-US" altLang="ja-JP" sz="2000" dirty="0">
                        <a:solidFill>
                          <a:schemeClr val="tx1"/>
                        </a:solidFill>
                      </a:endParaRPr>
                    </a:p>
                    <a:p>
                      <a:pPr marL="457200" indent="-457200">
                        <a:buFont typeface="+mj-ea"/>
                        <a:buAutoNum type="circleNumDbPlain"/>
                      </a:pPr>
                      <a:r>
                        <a:rPr kumimoji="1" lang="ja-JP" altLang="en-US" sz="2000" dirty="0">
                          <a:solidFill>
                            <a:srgbClr val="FF0000"/>
                          </a:solidFill>
                          <a:effectLst>
                            <a:outerShdw blurRad="38100" dist="38100" dir="2700000" algn="tl">
                              <a:srgbClr val="000000">
                                <a:alpha val="43137"/>
                              </a:srgbClr>
                            </a:outerShdw>
                          </a:effectLst>
                        </a:rPr>
                        <a:t>経営資源を顧客満足のために割り振る。</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a:pPr>
                      <a:r>
                        <a:rPr kumimoji="1" lang="ja-JP" altLang="en-US" sz="2000" dirty="0">
                          <a:solidFill>
                            <a:schemeClr val="tx1"/>
                          </a:solidFill>
                        </a:rPr>
                        <a:t>必要な変更を早い段階で明確にし実施し、</a:t>
                      </a:r>
                      <a:r>
                        <a:rPr kumimoji="1" lang="ja-JP" altLang="en-US" sz="2000" dirty="0">
                          <a:solidFill>
                            <a:srgbClr val="FF0000"/>
                          </a:solidFill>
                          <a:effectLst>
                            <a:outerShdw blurRad="38100" dist="38100" dir="2700000" algn="tl">
                              <a:srgbClr val="000000">
                                <a:alpha val="43137"/>
                              </a:srgbClr>
                            </a:outerShdw>
                          </a:effectLst>
                        </a:rPr>
                        <a:t>遅い段階での変更を防止</a:t>
                      </a:r>
                      <a:r>
                        <a:rPr kumimoji="1" lang="ja-JP" altLang="en-US" sz="2000" dirty="0">
                          <a:solidFill>
                            <a:schemeClr val="tx1"/>
                          </a:solidFill>
                        </a:rPr>
                        <a:t>する。</a:t>
                      </a:r>
                      <a:endParaRPr kumimoji="1" lang="en-US" altLang="ja-JP" sz="2000" dirty="0">
                        <a:solidFill>
                          <a:schemeClr val="tx1"/>
                        </a:solidFill>
                      </a:endParaRPr>
                    </a:p>
                    <a:p>
                      <a:pPr marL="457200" indent="-457200">
                        <a:buFont typeface="+mj-ea"/>
                        <a:buAutoNum type="circleNumDbPlain"/>
                      </a:pPr>
                      <a:r>
                        <a:rPr kumimoji="1" lang="ja-JP" altLang="en-US" sz="2000" dirty="0">
                          <a:solidFill>
                            <a:schemeClr val="tx1"/>
                          </a:solidFill>
                        </a:rPr>
                        <a:t>優良製品を最低コストで期日通りに供給する。いわゆる</a:t>
                      </a:r>
                      <a:r>
                        <a:rPr kumimoji="1" lang="en-US" altLang="ja-JP" sz="2000" dirty="0">
                          <a:solidFill>
                            <a:schemeClr val="tx1"/>
                          </a:solidFill>
                        </a:rPr>
                        <a:t>QCD</a:t>
                      </a:r>
                      <a:r>
                        <a:rPr kumimoji="1" lang="ja-JP" altLang="en-US" sz="2000" dirty="0">
                          <a:solidFill>
                            <a:schemeClr val="tx1"/>
                          </a:solidFill>
                        </a:rPr>
                        <a:t>（品質、コスト、納期）のこと。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182801"/>
                  </a:ext>
                </a:extLst>
              </a:tr>
              <a:tr h="370840">
                <a:tc>
                  <a:txBody>
                    <a:bodyPr/>
                    <a:lstStyle/>
                    <a:p>
                      <a:r>
                        <a:rPr kumimoji="1" lang="ja-JP" altLang="en-US" sz="2000" dirty="0">
                          <a:solidFill>
                            <a:schemeClr val="tx1"/>
                          </a:solidFill>
                        </a:rPr>
                        <a:t>経営者の役割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を成功させるためには、経営者のコミットメントが不可欠である。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461744"/>
                  </a:ext>
                </a:extLst>
              </a:tr>
            </a:tbl>
          </a:graphicData>
        </a:graphic>
      </p:graphicFrame>
    </p:spTree>
    <p:extLst>
      <p:ext uri="{BB962C8B-B14F-4D97-AF65-F5344CB8AC3E}">
        <p14:creationId xmlns:p14="http://schemas.microsoft.com/office/powerpoint/2010/main" val="2893231743"/>
      </p:ext>
    </p:extLst>
  </p:cSld>
  <p:clrMapOvr>
    <a:masterClrMapping/>
  </p:clrMapOvr>
  <p:timing>
    <p:tnLst>
      <p:par>
        <p:cTn id="1" dur="indefinite" restart="never" nodeType="tmRoot"/>
      </p:par>
    </p:tnLst>
  </p:timing>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389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２．ＡＰＱＰ（概要）</a:t>
            </a:r>
          </a:p>
        </p:txBody>
      </p:sp>
      <p:graphicFrame>
        <p:nvGraphicFramePr>
          <p:cNvPr id="2" name="表 2">
            <a:extLst>
              <a:ext uri="{FF2B5EF4-FFF2-40B4-BE49-F238E27FC236}">
                <a16:creationId xmlns:a16="http://schemas.microsoft.com/office/drawing/2014/main" id="{674EE79B-D990-44F3-A30A-8346C76898A2}"/>
              </a:ext>
            </a:extLst>
          </p:cNvPr>
          <p:cNvGraphicFramePr>
            <a:graphicFrameLocks noGrp="1"/>
          </p:cNvGraphicFramePr>
          <p:nvPr>
            <p:extLst>
              <p:ext uri="{D42A27DB-BD31-4B8C-83A1-F6EECF244321}">
                <p14:modId xmlns:p14="http://schemas.microsoft.com/office/powerpoint/2010/main" val="1591033882"/>
              </p:ext>
            </p:extLst>
          </p:nvPr>
        </p:nvGraphicFramePr>
        <p:xfrm>
          <a:off x="838200" y="1557064"/>
          <a:ext cx="10515600" cy="4846320"/>
        </p:xfrm>
        <a:graphic>
          <a:graphicData uri="http://schemas.openxmlformats.org/drawingml/2006/table">
            <a:tbl>
              <a:tblPr firstRow="1" bandRow="1">
                <a:tableStyleId>{5940675A-B579-460E-94D1-54222C63F5DA}</a:tableStyleId>
              </a:tblPr>
              <a:tblGrid>
                <a:gridCol w="2280385">
                  <a:extLst>
                    <a:ext uri="{9D8B030D-6E8A-4147-A177-3AD203B41FA5}">
                      <a16:colId xmlns:a16="http://schemas.microsoft.com/office/drawing/2014/main" val="1170308338"/>
                    </a:ext>
                  </a:extLst>
                </a:gridCol>
                <a:gridCol w="8235215">
                  <a:extLst>
                    <a:ext uri="{9D8B030D-6E8A-4147-A177-3AD203B41FA5}">
                      <a16:colId xmlns:a16="http://schemas.microsoft.com/office/drawing/2014/main" val="4029020826"/>
                    </a:ext>
                  </a:extLst>
                </a:gridCol>
              </a:tblGrid>
              <a:tr h="370840">
                <a:tc>
                  <a:txBody>
                    <a:bodyPr/>
                    <a:lstStyle/>
                    <a:p>
                      <a:pPr algn="ctr"/>
                      <a:r>
                        <a:rPr kumimoji="1" lang="ja-JP" altLang="en-US" sz="2000" dirty="0">
                          <a:solidFill>
                            <a:schemeClr val="tx1"/>
                          </a:solidFill>
                        </a:rPr>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525870041"/>
                  </a:ext>
                </a:extLst>
              </a:tr>
              <a:tr h="370840">
                <a:tc>
                  <a:txBody>
                    <a:bodyPr/>
                    <a:lstStyle/>
                    <a:p>
                      <a:r>
                        <a:rPr kumimoji="1" lang="en-US" altLang="ja-JP" sz="2000" dirty="0">
                          <a:solidFill>
                            <a:schemeClr val="tx1"/>
                          </a:solidFill>
                        </a:rPr>
                        <a:t>APQP</a:t>
                      </a:r>
                      <a:r>
                        <a:rPr kumimoji="1" lang="ja-JP" altLang="en-US" sz="2000" dirty="0">
                          <a:solidFill>
                            <a:schemeClr val="tx1"/>
                          </a:solidFill>
                        </a:rPr>
                        <a:t>チーム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活動の最初のステップとして、</a:t>
                      </a:r>
                      <a:r>
                        <a:rPr kumimoji="1" lang="en-US" altLang="ja-JP" sz="2000" dirty="0">
                          <a:solidFill>
                            <a:schemeClr val="tx1"/>
                          </a:solidFill>
                        </a:rPr>
                        <a:t>APQP</a:t>
                      </a:r>
                      <a:r>
                        <a:rPr kumimoji="1" lang="ja-JP" altLang="en-US" sz="2000" dirty="0">
                          <a:solidFill>
                            <a:schemeClr val="tx1"/>
                          </a:solidFill>
                        </a:rPr>
                        <a:t>プロジェクトのプロセスオーナーを選任する。</a:t>
                      </a:r>
                      <a:endParaRPr kumimoji="1" lang="en-US" altLang="ja-JP" sz="2000" dirty="0">
                        <a:solidFill>
                          <a:schemeClr val="tx1"/>
                        </a:solidFill>
                      </a:endParaRPr>
                    </a:p>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を効果的に進めるために、</a:t>
                      </a:r>
                      <a:r>
                        <a:rPr kumimoji="1" lang="ja-JP" altLang="en-US" sz="2000" dirty="0">
                          <a:solidFill>
                            <a:srgbClr val="FF0000"/>
                          </a:solidFill>
                          <a:effectLst>
                            <a:outerShdw blurRad="38100" dist="38100" dir="2700000" algn="tl">
                              <a:srgbClr val="000000">
                                <a:alpha val="43137"/>
                              </a:srgbClr>
                            </a:outerShdw>
                          </a:effectLst>
                        </a:rPr>
                        <a:t>部門横断的チーム</a:t>
                      </a:r>
                      <a:r>
                        <a:rPr kumimoji="1" lang="ja-JP" altLang="en-US" sz="2000" dirty="0">
                          <a:solidFill>
                            <a:schemeClr val="tx1"/>
                          </a:solidFill>
                        </a:rPr>
                        <a:t>を編成する。</a:t>
                      </a:r>
                      <a:endParaRPr kumimoji="1" lang="en-US" altLang="ja-JP" sz="2000" dirty="0">
                        <a:solidFill>
                          <a:schemeClr val="tx1"/>
                        </a:solidFill>
                      </a:endParaRPr>
                    </a:p>
                    <a:p>
                      <a:pPr marL="457200" indent="-457200">
                        <a:buFont typeface="+mj-ea"/>
                        <a:buAutoNum type="circleNumDbPlain"/>
                      </a:pPr>
                      <a:r>
                        <a:rPr kumimoji="1" lang="ja-JP" altLang="en-US" sz="2000" dirty="0">
                          <a:solidFill>
                            <a:schemeClr val="tx1"/>
                          </a:solidFill>
                        </a:rPr>
                        <a:t>このチームには、技術、製造、資材管理、購買、品質、人事、営業、技術サービス、</a:t>
                      </a:r>
                      <a:r>
                        <a:rPr kumimoji="1" lang="ja-JP" altLang="en-US" sz="2000" dirty="0">
                          <a:solidFill>
                            <a:srgbClr val="FF0000"/>
                          </a:solidFill>
                          <a:effectLst>
                            <a:outerShdw blurRad="38100" dist="38100" dir="2700000" algn="tl">
                              <a:srgbClr val="000000">
                                <a:alpha val="43137"/>
                              </a:srgbClr>
                            </a:outerShdw>
                          </a:effectLst>
                        </a:rPr>
                        <a:t>供給者及び顧客</a:t>
                      </a:r>
                      <a:r>
                        <a:rPr kumimoji="1" lang="ja-JP" altLang="en-US" sz="2000" dirty="0">
                          <a:solidFill>
                            <a:schemeClr val="tx1"/>
                          </a:solidFill>
                        </a:rPr>
                        <a:t>などの、各部門の代表を、必要に応じて含める。</a:t>
                      </a:r>
                      <a:endParaRPr kumimoji="1" lang="en-US" altLang="ja-JP" sz="2000" dirty="0">
                        <a:solidFill>
                          <a:schemeClr val="tx1"/>
                        </a:solidFill>
                      </a:endParaRPr>
                    </a:p>
                    <a:p>
                      <a:pPr marL="457200" indent="-457200">
                        <a:buFont typeface="+mj-ea"/>
                        <a:buAutoNum type="circleNumDbPlain"/>
                      </a:pPr>
                      <a:r>
                        <a:rPr kumimoji="1" lang="ja-JP" altLang="en-US" sz="2000" dirty="0">
                          <a:solidFill>
                            <a:schemeClr val="tx1"/>
                          </a:solidFill>
                        </a:rPr>
                        <a:t>尚、プロセスオーナー及び部門横断チームメンバーは、</a:t>
                      </a:r>
                      <a:r>
                        <a:rPr kumimoji="1" lang="ja-JP" altLang="en-US" sz="2000" dirty="0">
                          <a:solidFill>
                            <a:srgbClr val="FF0000"/>
                          </a:solidFill>
                          <a:effectLst>
                            <a:outerShdw blurRad="38100" dist="38100" dir="2700000" algn="tl">
                              <a:srgbClr val="000000">
                                <a:alpha val="43137"/>
                              </a:srgbClr>
                            </a:outerShdw>
                          </a:effectLst>
                        </a:rPr>
                        <a:t>各フェー毎に適したメンバーに変更</a:t>
                      </a:r>
                      <a:r>
                        <a:rPr kumimoji="1" lang="ja-JP" altLang="en-US" sz="2000" dirty="0">
                          <a:solidFill>
                            <a:schemeClr val="tx1"/>
                          </a:solidFill>
                        </a:rPr>
                        <a:t>してもよい。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331474"/>
                  </a:ext>
                </a:extLst>
              </a:tr>
              <a:tr h="370840">
                <a:tc>
                  <a:txBody>
                    <a:bodyPr/>
                    <a:lstStyle/>
                    <a:p>
                      <a:r>
                        <a:rPr kumimoji="1" lang="ja-JP" altLang="en-US" sz="2000" dirty="0">
                          <a:solidFill>
                            <a:schemeClr val="tx1"/>
                          </a:solidFill>
                        </a:rPr>
                        <a:t>同時並行型エンジニアリング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solidFill>
                            <a:schemeClr val="tx1"/>
                          </a:solidFill>
                        </a:rPr>
                        <a:t>同時並行型エンジニアリングは、</a:t>
                      </a:r>
                      <a:r>
                        <a:rPr kumimoji="1" lang="en-US" altLang="ja-JP" sz="2000" dirty="0">
                          <a:solidFill>
                            <a:schemeClr val="tx1"/>
                          </a:solidFill>
                        </a:rPr>
                        <a:t>APQP</a:t>
                      </a:r>
                      <a:r>
                        <a:rPr kumimoji="1" lang="ja-JP" altLang="en-US" sz="2000" dirty="0">
                          <a:solidFill>
                            <a:schemeClr val="tx1"/>
                          </a:solidFill>
                        </a:rPr>
                        <a:t>のあるフェーズが完了してから、次のフェーズに入るという逐次処理型エンジニアリングに代わるものである。</a:t>
                      </a:r>
                      <a:endParaRPr kumimoji="1" lang="en-US" altLang="ja-JP" sz="2000" dirty="0">
                        <a:solidFill>
                          <a:schemeClr val="tx1"/>
                        </a:solidFill>
                      </a:endParaRPr>
                    </a:p>
                    <a:p>
                      <a:pPr marL="457200" indent="-457200">
                        <a:buFont typeface="+mj-ea"/>
                        <a:buAutoNum type="circleNumDbPlain"/>
                      </a:pPr>
                      <a:r>
                        <a:rPr kumimoji="1" lang="ja-JP" altLang="en-US" sz="2000" dirty="0">
                          <a:solidFill>
                            <a:schemeClr val="tx1"/>
                          </a:solidFill>
                        </a:rPr>
                        <a:t>同時並行型エンジニアリングの目的は、</a:t>
                      </a:r>
                      <a:r>
                        <a:rPr kumimoji="1" lang="ja-JP" altLang="en-US" sz="2000" dirty="0">
                          <a:solidFill>
                            <a:srgbClr val="FF0000"/>
                          </a:solidFill>
                          <a:effectLst>
                            <a:outerShdw blurRad="38100" dist="38100" dir="2700000" algn="tl">
                              <a:srgbClr val="000000">
                                <a:alpha val="43137"/>
                              </a:srgbClr>
                            </a:outerShdw>
                          </a:effectLst>
                        </a:rPr>
                        <a:t>優れた製品の生産開始を迅速化する</a:t>
                      </a:r>
                      <a:r>
                        <a:rPr kumimoji="1" lang="ja-JP" altLang="en-US" sz="2000" dirty="0">
                          <a:solidFill>
                            <a:schemeClr val="tx1"/>
                          </a:solidFill>
                        </a:rPr>
                        <a:t>ためである。</a:t>
                      </a:r>
                      <a:endParaRPr kumimoji="1" lang="en-US" altLang="ja-JP" sz="2000" dirty="0">
                        <a:solidFill>
                          <a:schemeClr val="tx1"/>
                        </a:solidFill>
                      </a:endParaRPr>
                    </a:p>
                    <a:p>
                      <a:r>
                        <a:rPr kumimoji="1" lang="en-US" altLang="ja-JP" sz="2000" dirty="0">
                          <a:solidFill>
                            <a:schemeClr val="tx1"/>
                          </a:solidFill>
                        </a:rPr>
                        <a:t>※APQP</a:t>
                      </a:r>
                      <a:r>
                        <a:rPr kumimoji="1" lang="ja-JP" altLang="en-US" sz="2000" dirty="0">
                          <a:solidFill>
                            <a:schemeClr val="tx1"/>
                          </a:solidFill>
                        </a:rPr>
                        <a:t>の各フェーズが、</a:t>
                      </a:r>
                      <a:r>
                        <a:rPr kumimoji="1" lang="en-US" altLang="ja-JP" sz="2000" dirty="0">
                          <a:solidFill>
                            <a:schemeClr val="tx1"/>
                          </a:solidFill>
                        </a:rPr>
                        <a:t>PDCA</a:t>
                      </a:r>
                      <a:r>
                        <a:rPr kumimoji="1" lang="ja-JP" altLang="en-US" sz="2000" dirty="0">
                          <a:solidFill>
                            <a:schemeClr val="tx1"/>
                          </a:solidFill>
                        </a:rPr>
                        <a:t>改善サイクルで構成されている。</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182801"/>
                  </a:ext>
                </a:extLst>
              </a:tr>
            </a:tbl>
          </a:graphicData>
        </a:graphic>
      </p:graphicFrame>
    </p:spTree>
    <p:extLst>
      <p:ext uri="{BB962C8B-B14F-4D97-AF65-F5344CB8AC3E}">
        <p14:creationId xmlns:p14="http://schemas.microsoft.com/office/powerpoint/2010/main" val="419299597"/>
      </p:ext>
    </p:extLst>
  </p:cSld>
  <p:clrMapOvr>
    <a:masterClrMapping/>
  </p:clrMapOvr>
  <p:timing>
    <p:tnLst>
      <p:par>
        <p:cTn id="1" dur="indefinite" restart="never" nodeType="tmRoot"/>
      </p:par>
    </p:tnLst>
  </p:timing>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２．ＡＰＱＰ（概要）</a:t>
            </a:r>
          </a:p>
        </p:txBody>
      </p:sp>
      <p:graphicFrame>
        <p:nvGraphicFramePr>
          <p:cNvPr id="2" name="表 2">
            <a:extLst>
              <a:ext uri="{FF2B5EF4-FFF2-40B4-BE49-F238E27FC236}">
                <a16:creationId xmlns:a16="http://schemas.microsoft.com/office/drawing/2014/main" id="{674EE79B-D990-44F3-A30A-8346C76898A2}"/>
              </a:ext>
            </a:extLst>
          </p:cNvPr>
          <p:cNvGraphicFramePr>
            <a:graphicFrameLocks noGrp="1"/>
          </p:cNvGraphicFramePr>
          <p:nvPr>
            <p:extLst>
              <p:ext uri="{D42A27DB-BD31-4B8C-83A1-F6EECF244321}">
                <p14:modId xmlns:p14="http://schemas.microsoft.com/office/powerpoint/2010/main" val="1822992646"/>
              </p:ext>
            </p:extLst>
          </p:nvPr>
        </p:nvGraphicFramePr>
        <p:xfrm>
          <a:off x="838200" y="1557064"/>
          <a:ext cx="10515600" cy="2316480"/>
        </p:xfrm>
        <a:graphic>
          <a:graphicData uri="http://schemas.openxmlformats.org/drawingml/2006/table">
            <a:tbl>
              <a:tblPr firstRow="1" bandRow="1">
                <a:tableStyleId>{5940675A-B579-460E-94D1-54222C63F5DA}</a:tableStyleId>
              </a:tblPr>
              <a:tblGrid>
                <a:gridCol w="2280385">
                  <a:extLst>
                    <a:ext uri="{9D8B030D-6E8A-4147-A177-3AD203B41FA5}">
                      <a16:colId xmlns:a16="http://schemas.microsoft.com/office/drawing/2014/main" val="1170308338"/>
                    </a:ext>
                  </a:extLst>
                </a:gridCol>
                <a:gridCol w="8235215">
                  <a:extLst>
                    <a:ext uri="{9D8B030D-6E8A-4147-A177-3AD203B41FA5}">
                      <a16:colId xmlns:a16="http://schemas.microsoft.com/office/drawing/2014/main" val="4029020826"/>
                    </a:ext>
                  </a:extLst>
                </a:gridCol>
              </a:tblGrid>
              <a:tr h="370840">
                <a:tc>
                  <a:txBody>
                    <a:bodyPr/>
                    <a:lstStyle/>
                    <a:p>
                      <a:pPr algn="ctr"/>
                      <a:r>
                        <a:rPr kumimoji="1" lang="ja-JP" altLang="en-US" sz="2000" dirty="0">
                          <a:solidFill>
                            <a:schemeClr val="tx1"/>
                          </a:solidFill>
                        </a:rPr>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525870041"/>
                  </a:ext>
                </a:extLst>
              </a:tr>
              <a:tr h="370840">
                <a:tc>
                  <a:txBody>
                    <a:bodyPr/>
                    <a:lstStyle/>
                    <a:p>
                      <a:r>
                        <a:rPr kumimoji="1" lang="en-US" altLang="ja-JP" sz="2000" dirty="0">
                          <a:solidFill>
                            <a:schemeClr val="tx1"/>
                          </a:solidFill>
                        </a:rPr>
                        <a:t>APQP</a:t>
                      </a:r>
                      <a:r>
                        <a:rPr kumimoji="1" lang="ja-JP" altLang="en-US" sz="2000" dirty="0">
                          <a:solidFill>
                            <a:schemeClr val="tx1"/>
                          </a:solidFill>
                        </a:rPr>
                        <a:t>タイミングチャート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solidFill>
                            <a:schemeClr val="tx1"/>
                          </a:solidFill>
                        </a:rPr>
                        <a:t>APQP</a:t>
                      </a:r>
                      <a:r>
                        <a:rPr kumimoji="1" lang="ja-JP" altLang="en-US" sz="2000" dirty="0">
                          <a:solidFill>
                            <a:schemeClr val="tx1"/>
                          </a:solidFill>
                        </a:rPr>
                        <a:t>タイミングチャートを、</a:t>
                      </a:r>
                      <a:r>
                        <a:rPr kumimoji="1" lang="en-US" altLang="ja-JP" sz="2000" dirty="0">
                          <a:solidFill>
                            <a:schemeClr val="tx1"/>
                          </a:solidFill>
                        </a:rPr>
                        <a:t>APQP</a:t>
                      </a:r>
                      <a:r>
                        <a:rPr kumimoji="1" lang="ja-JP" altLang="en-US" sz="2000" dirty="0">
                          <a:solidFill>
                            <a:schemeClr val="tx1"/>
                          </a:solidFill>
                        </a:rPr>
                        <a:t>チームとして策定する。</a:t>
                      </a:r>
                      <a:endParaRPr kumimoji="1" lang="en-US" altLang="ja-JP" sz="2000" dirty="0">
                        <a:solidFill>
                          <a:schemeClr val="tx1"/>
                        </a:solidFill>
                      </a:endParaRPr>
                    </a:p>
                    <a:p>
                      <a:pPr marL="457200" indent="-457200">
                        <a:buFont typeface="+mj-ea"/>
                        <a:buAutoNum type="circleNumDbPlain"/>
                      </a:pPr>
                      <a:r>
                        <a:rPr kumimoji="1" lang="ja-JP" altLang="en-US" sz="2000" dirty="0">
                          <a:solidFill>
                            <a:schemeClr val="tx1"/>
                          </a:solidFill>
                        </a:rPr>
                        <a:t>このチャートは、次のように利用できる。</a:t>
                      </a:r>
                      <a:endParaRPr kumimoji="1" lang="en-US" altLang="ja-JP" sz="2000" dirty="0">
                        <a:solidFill>
                          <a:schemeClr val="tx1"/>
                        </a:solidFill>
                      </a:endParaRPr>
                    </a:p>
                    <a:p>
                      <a:r>
                        <a:rPr kumimoji="1" lang="ja-JP" altLang="en-US" sz="2000" dirty="0">
                          <a:solidFill>
                            <a:schemeClr val="tx1"/>
                          </a:solidFill>
                        </a:rPr>
                        <a:t>・</a:t>
                      </a:r>
                      <a:r>
                        <a:rPr kumimoji="1" lang="en-US" altLang="ja-JP" sz="2000" dirty="0">
                          <a:solidFill>
                            <a:schemeClr val="tx1"/>
                          </a:solidFill>
                        </a:rPr>
                        <a:t>APQP</a:t>
                      </a:r>
                      <a:r>
                        <a:rPr kumimoji="1" lang="ja-JP" altLang="en-US" sz="2000" dirty="0">
                          <a:solidFill>
                            <a:schemeClr val="tx1"/>
                          </a:solidFill>
                        </a:rPr>
                        <a:t>チームが進捗状況をフォローしたり、会議の議題を設定したりする際の基準文書となる。</a:t>
                      </a:r>
                      <a:endParaRPr kumimoji="1" lang="en-US" altLang="ja-JP" sz="2000" dirty="0">
                        <a:solidFill>
                          <a:schemeClr val="tx1"/>
                        </a:solidFill>
                      </a:endParaRPr>
                    </a:p>
                    <a:p>
                      <a:r>
                        <a:rPr kumimoji="1" lang="ja-JP" altLang="en-US" sz="2000" dirty="0">
                          <a:solidFill>
                            <a:schemeClr val="tx1"/>
                          </a:solidFill>
                        </a:rPr>
                        <a:t>・現状報告を容易にするため、各イベントについて　“開始日”　と　“完了日”　を設定し、実際の進捗を記録する。</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331474"/>
                  </a:ext>
                </a:extLst>
              </a:tr>
            </a:tbl>
          </a:graphicData>
        </a:graphic>
      </p:graphicFrame>
    </p:spTree>
    <p:extLst>
      <p:ext uri="{BB962C8B-B14F-4D97-AF65-F5344CB8AC3E}">
        <p14:creationId xmlns:p14="http://schemas.microsoft.com/office/powerpoint/2010/main" val="3066076811"/>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APQP</a:t>
            </a:r>
            <a:r>
              <a:rPr lang="ja-JP" altLang="en-US" sz="2400" dirty="0"/>
              <a:t>のフェーズは、次の５つで構成される。</a:t>
            </a:r>
            <a:endParaRPr lang="en-US" altLang="ja-JP" sz="2400" dirty="0"/>
          </a:p>
          <a:p>
            <a:pPr marL="914400" lvl="1" indent="-457200">
              <a:lnSpc>
                <a:spcPct val="100000"/>
              </a:lnSpc>
              <a:buFont typeface="+mj-ea"/>
              <a:buAutoNum type="circleNumDbPlain"/>
            </a:pPr>
            <a:r>
              <a:rPr lang="ja-JP" altLang="en-US" dirty="0"/>
              <a:t>プログラムの計画・定義</a:t>
            </a:r>
            <a:endParaRPr lang="en-US" altLang="ja-JP" dirty="0"/>
          </a:p>
          <a:p>
            <a:pPr marL="914400" lvl="1" indent="-457200">
              <a:lnSpc>
                <a:spcPct val="100000"/>
              </a:lnSpc>
              <a:buFont typeface="+mj-ea"/>
              <a:buAutoNum type="circleNumDbPlain"/>
            </a:pPr>
            <a:r>
              <a:rPr lang="ja-JP" altLang="en-US" dirty="0"/>
              <a:t>製品の設計・開発</a:t>
            </a:r>
            <a:endParaRPr lang="en-US" altLang="ja-JP" dirty="0"/>
          </a:p>
          <a:p>
            <a:pPr marL="914400" lvl="1" indent="-457200">
              <a:lnSpc>
                <a:spcPct val="100000"/>
              </a:lnSpc>
              <a:buFont typeface="+mj-ea"/>
              <a:buAutoNum type="circleNumDbPlain"/>
            </a:pPr>
            <a:r>
              <a:rPr lang="ja-JP" altLang="en-US" dirty="0"/>
              <a:t>プロセス（製造工程）の設計・開発</a:t>
            </a:r>
            <a:endParaRPr lang="en-US" altLang="ja-JP" dirty="0"/>
          </a:p>
          <a:p>
            <a:pPr marL="914400" lvl="1" indent="-457200">
              <a:lnSpc>
                <a:spcPct val="100000"/>
              </a:lnSpc>
              <a:buFont typeface="+mj-ea"/>
              <a:buAutoNum type="circleNumDbPlain"/>
            </a:pPr>
            <a:r>
              <a:rPr lang="ja-JP" altLang="en-US" dirty="0"/>
              <a:t>製品・プロセスの妥当性確認</a:t>
            </a:r>
            <a:endParaRPr lang="en-US" altLang="ja-JP" dirty="0"/>
          </a:p>
          <a:p>
            <a:pPr marL="914400" lvl="1" indent="-457200">
              <a:lnSpc>
                <a:spcPct val="100000"/>
              </a:lnSpc>
              <a:buFont typeface="+mj-ea"/>
              <a:buAutoNum type="circleNumDbPlain"/>
            </a:pPr>
            <a:r>
              <a:rPr lang="ja-JP" altLang="en-US" dirty="0"/>
              <a:t>量産・改善</a:t>
            </a:r>
            <a:endParaRPr lang="en-US" altLang="ja-JP" dirty="0"/>
          </a:p>
          <a:p>
            <a:pPr marL="457200" indent="-457200">
              <a:lnSpc>
                <a:spcPct val="100000"/>
              </a:lnSpc>
              <a:buFont typeface="+mj-ea"/>
              <a:buAutoNum type="arabicPeriod"/>
            </a:pPr>
            <a:r>
              <a:rPr lang="en-US" altLang="ja-JP" sz="2400" dirty="0"/>
              <a:t>APQP</a:t>
            </a:r>
            <a:r>
              <a:rPr lang="ja-JP" altLang="en-US" sz="2400" dirty="0"/>
              <a:t>には、次の４つのコアツール活動が含まれる。</a:t>
            </a:r>
            <a:endParaRPr lang="en-US" altLang="ja-JP" sz="2400" dirty="0"/>
          </a:p>
          <a:p>
            <a:pPr marL="914400" lvl="1" indent="-457200">
              <a:lnSpc>
                <a:spcPct val="100000"/>
              </a:lnSpc>
              <a:buFont typeface="+mj-ea"/>
              <a:buAutoNum type="circleNumDbPlain"/>
            </a:pPr>
            <a:r>
              <a:rPr lang="en-US" altLang="ja-JP" dirty="0"/>
              <a:t>PPAP</a:t>
            </a:r>
          </a:p>
          <a:p>
            <a:pPr marL="914400" lvl="1" indent="-457200">
              <a:lnSpc>
                <a:spcPct val="100000"/>
              </a:lnSpc>
              <a:buFont typeface="+mj-ea"/>
              <a:buAutoNum type="circleNumDbPlain"/>
            </a:pPr>
            <a:r>
              <a:rPr lang="en-US" altLang="ja-JP" dirty="0"/>
              <a:t>FMEA</a:t>
            </a:r>
          </a:p>
          <a:p>
            <a:pPr marL="914400" lvl="1" indent="-457200">
              <a:lnSpc>
                <a:spcPct val="100000"/>
              </a:lnSpc>
              <a:buFont typeface="+mj-ea"/>
              <a:buAutoNum type="circleNumDbPlain"/>
            </a:pPr>
            <a:r>
              <a:rPr lang="en-US" altLang="ja-JP" dirty="0"/>
              <a:t>SPC</a:t>
            </a:r>
          </a:p>
          <a:p>
            <a:pPr marL="914400" lvl="1" indent="-457200">
              <a:lnSpc>
                <a:spcPct val="100000"/>
              </a:lnSpc>
              <a:buFont typeface="+mj-ea"/>
              <a:buAutoNum type="circleNumDbPlain"/>
            </a:pPr>
            <a:r>
              <a:rPr lang="en-US" altLang="ja-JP" dirty="0"/>
              <a:t>MSA</a:t>
            </a:r>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a:t>
            </a:r>
          </a:p>
        </p:txBody>
      </p:sp>
    </p:spTree>
    <p:extLst>
      <p:ext uri="{BB962C8B-B14F-4D97-AF65-F5344CB8AC3E}">
        <p14:creationId xmlns:p14="http://schemas.microsoft.com/office/powerpoint/2010/main" val="808894651"/>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a:t>
            </a:r>
          </a:p>
        </p:txBody>
      </p:sp>
      <p:graphicFrame>
        <p:nvGraphicFramePr>
          <p:cNvPr id="2" name="表 2">
            <a:extLst>
              <a:ext uri="{FF2B5EF4-FFF2-40B4-BE49-F238E27FC236}">
                <a16:creationId xmlns:a16="http://schemas.microsoft.com/office/drawing/2014/main" id="{68D46D69-5686-4EE6-99FD-10DF8105FF57}"/>
              </a:ext>
            </a:extLst>
          </p:cNvPr>
          <p:cNvGraphicFramePr>
            <a:graphicFrameLocks noGrp="1"/>
          </p:cNvGraphicFramePr>
          <p:nvPr>
            <p:extLst>
              <p:ext uri="{D42A27DB-BD31-4B8C-83A1-F6EECF244321}">
                <p14:modId xmlns:p14="http://schemas.microsoft.com/office/powerpoint/2010/main" val="3714777256"/>
              </p:ext>
            </p:extLst>
          </p:nvPr>
        </p:nvGraphicFramePr>
        <p:xfrm>
          <a:off x="1395662" y="1489687"/>
          <a:ext cx="9452010" cy="1005840"/>
        </p:xfrm>
        <a:graphic>
          <a:graphicData uri="http://schemas.openxmlformats.org/drawingml/2006/table">
            <a:tbl>
              <a:tblPr firstRow="1" bandRow="1">
                <a:tableStyleId>{5940675A-B579-460E-94D1-54222C63F5DA}</a:tableStyleId>
              </a:tblPr>
              <a:tblGrid>
                <a:gridCol w="1890402">
                  <a:extLst>
                    <a:ext uri="{9D8B030D-6E8A-4147-A177-3AD203B41FA5}">
                      <a16:colId xmlns:a16="http://schemas.microsoft.com/office/drawing/2014/main" val="414103317"/>
                    </a:ext>
                  </a:extLst>
                </a:gridCol>
                <a:gridCol w="1890402">
                  <a:extLst>
                    <a:ext uri="{9D8B030D-6E8A-4147-A177-3AD203B41FA5}">
                      <a16:colId xmlns:a16="http://schemas.microsoft.com/office/drawing/2014/main" val="187808984"/>
                    </a:ext>
                  </a:extLst>
                </a:gridCol>
                <a:gridCol w="1890402">
                  <a:extLst>
                    <a:ext uri="{9D8B030D-6E8A-4147-A177-3AD203B41FA5}">
                      <a16:colId xmlns:a16="http://schemas.microsoft.com/office/drawing/2014/main" val="2008980813"/>
                    </a:ext>
                  </a:extLst>
                </a:gridCol>
                <a:gridCol w="1890402">
                  <a:extLst>
                    <a:ext uri="{9D8B030D-6E8A-4147-A177-3AD203B41FA5}">
                      <a16:colId xmlns:a16="http://schemas.microsoft.com/office/drawing/2014/main" val="890623968"/>
                    </a:ext>
                  </a:extLst>
                </a:gridCol>
                <a:gridCol w="1890402">
                  <a:extLst>
                    <a:ext uri="{9D8B030D-6E8A-4147-A177-3AD203B41FA5}">
                      <a16:colId xmlns:a16="http://schemas.microsoft.com/office/drawing/2014/main" val="2189817486"/>
                    </a:ext>
                  </a:extLst>
                </a:gridCol>
              </a:tblGrid>
              <a:tr h="343090">
                <a:tc>
                  <a:txBody>
                    <a:bodyPr/>
                    <a:lstStyle/>
                    <a:p>
                      <a:pPr algn="ctr"/>
                      <a:r>
                        <a:rPr kumimoji="1" lang="ja-JP" altLang="en-US" sz="1800" dirty="0">
                          <a:solidFill>
                            <a:schemeClr val="bg1"/>
                          </a:solidFill>
                        </a:rPr>
                        <a:t>フェーズ１</a:t>
                      </a:r>
                    </a:p>
                  </a:txBody>
                  <a:tcPr>
                    <a:solidFill>
                      <a:schemeClr val="tx2"/>
                    </a:solidFill>
                  </a:tcPr>
                </a:tc>
                <a:tc>
                  <a:txBody>
                    <a:bodyPr/>
                    <a:lstStyle/>
                    <a:p>
                      <a:pPr algn="ctr"/>
                      <a:r>
                        <a:rPr kumimoji="1" lang="ja-JP" altLang="en-US" sz="1800" dirty="0">
                          <a:solidFill>
                            <a:schemeClr val="bg1"/>
                          </a:solidFill>
                        </a:rPr>
                        <a:t>フェーズ２</a:t>
                      </a:r>
                    </a:p>
                  </a:txBody>
                  <a:tcPr>
                    <a:solidFill>
                      <a:schemeClr val="tx2"/>
                    </a:solidFill>
                  </a:tcPr>
                </a:tc>
                <a:tc>
                  <a:txBody>
                    <a:bodyPr/>
                    <a:lstStyle/>
                    <a:p>
                      <a:pPr algn="ctr"/>
                      <a:r>
                        <a:rPr kumimoji="1" lang="ja-JP" altLang="en-US" sz="1800" dirty="0">
                          <a:solidFill>
                            <a:schemeClr val="bg1"/>
                          </a:solidFill>
                        </a:rPr>
                        <a:t>フェーズ３</a:t>
                      </a:r>
                    </a:p>
                  </a:txBody>
                  <a:tcPr>
                    <a:solidFill>
                      <a:schemeClr val="tx2"/>
                    </a:solidFill>
                  </a:tcPr>
                </a:tc>
                <a:tc>
                  <a:txBody>
                    <a:bodyPr/>
                    <a:lstStyle/>
                    <a:p>
                      <a:pPr algn="ctr"/>
                      <a:r>
                        <a:rPr kumimoji="1" lang="ja-JP" altLang="en-US" sz="1800" dirty="0">
                          <a:solidFill>
                            <a:schemeClr val="bg1"/>
                          </a:solidFill>
                        </a:rPr>
                        <a:t>フェーズ４</a:t>
                      </a:r>
                    </a:p>
                  </a:txBody>
                  <a:tcPr>
                    <a:solidFill>
                      <a:schemeClr val="tx2"/>
                    </a:solidFill>
                  </a:tcPr>
                </a:tc>
                <a:tc>
                  <a:txBody>
                    <a:bodyPr/>
                    <a:lstStyle/>
                    <a:p>
                      <a:pPr algn="ctr"/>
                      <a:r>
                        <a:rPr kumimoji="1" lang="ja-JP" altLang="en-US" sz="1800" dirty="0">
                          <a:solidFill>
                            <a:schemeClr val="bg1"/>
                          </a:solidFill>
                        </a:rPr>
                        <a:t>フェーズ５</a:t>
                      </a:r>
                    </a:p>
                  </a:txBody>
                  <a:tcPr>
                    <a:solidFill>
                      <a:schemeClr val="tx2"/>
                    </a:solidFill>
                  </a:tcPr>
                </a:tc>
                <a:extLst>
                  <a:ext uri="{0D108BD9-81ED-4DB2-BD59-A6C34878D82A}">
                    <a16:rowId xmlns:a16="http://schemas.microsoft.com/office/drawing/2014/main" val="951256648"/>
                  </a:ext>
                </a:extLst>
              </a:tr>
              <a:tr h="592183">
                <a:tc>
                  <a:txBody>
                    <a:bodyPr/>
                    <a:lstStyle/>
                    <a:p>
                      <a:pPr algn="ctr"/>
                      <a:endParaRPr kumimoji="1" lang="en-US" altLang="ja-JP" sz="1800" dirty="0"/>
                    </a:p>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extLst>
                  <a:ext uri="{0D108BD9-81ED-4DB2-BD59-A6C34878D82A}">
                    <a16:rowId xmlns:a16="http://schemas.microsoft.com/office/drawing/2014/main" val="4225181308"/>
                  </a:ext>
                </a:extLst>
              </a:tr>
            </a:tbl>
          </a:graphicData>
        </a:graphic>
      </p:graphicFrame>
      <p:graphicFrame>
        <p:nvGraphicFramePr>
          <p:cNvPr id="8" name="表 2">
            <a:extLst>
              <a:ext uri="{FF2B5EF4-FFF2-40B4-BE49-F238E27FC236}">
                <a16:creationId xmlns:a16="http://schemas.microsoft.com/office/drawing/2014/main" id="{446C472F-6B94-4900-A53F-617ECE537D21}"/>
              </a:ext>
            </a:extLst>
          </p:cNvPr>
          <p:cNvGraphicFramePr>
            <a:graphicFrameLocks noGrp="1"/>
          </p:cNvGraphicFramePr>
          <p:nvPr>
            <p:extLst>
              <p:ext uri="{D42A27DB-BD31-4B8C-83A1-F6EECF244321}">
                <p14:modId xmlns:p14="http://schemas.microsoft.com/office/powerpoint/2010/main" val="2611058037"/>
              </p:ext>
            </p:extLst>
          </p:nvPr>
        </p:nvGraphicFramePr>
        <p:xfrm>
          <a:off x="1395662" y="2496541"/>
          <a:ext cx="9452010" cy="3859809"/>
        </p:xfrm>
        <a:graphic>
          <a:graphicData uri="http://schemas.openxmlformats.org/drawingml/2006/table">
            <a:tbl>
              <a:tblPr firstRow="1" bandRow="1">
                <a:tableStyleId>{5940675A-B579-460E-94D1-54222C63F5DA}</a:tableStyleId>
              </a:tblPr>
              <a:tblGrid>
                <a:gridCol w="1890402">
                  <a:extLst>
                    <a:ext uri="{9D8B030D-6E8A-4147-A177-3AD203B41FA5}">
                      <a16:colId xmlns:a16="http://schemas.microsoft.com/office/drawing/2014/main" val="414103317"/>
                    </a:ext>
                  </a:extLst>
                </a:gridCol>
                <a:gridCol w="1890402">
                  <a:extLst>
                    <a:ext uri="{9D8B030D-6E8A-4147-A177-3AD203B41FA5}">
                      <a16:colId xmlns:a16="http://schemas.microsoft.com/office/drawing/2014/main" val="187808984"/>
                    </a:ext>
                  </a:extLst>
                </a:gridCol>
                <a:gridCol w="1890402">
                  <a:extLst>
                    <a:ext uri="{9D8B030D-6E8A-4147-A177-3AD203B41FA5}">
                      <a16:colId xmlns:a16="http://schemas.microsoft.com/office/drawing/2014/main" val="2008980813"/>
                    </a:ext>
                  </a:extLst>
                </a:gridCol>
                <a:gridCol w="1890402">
                  <a:extLst>
                    <a:ext uri="{9D8B030D-6E8A-4147-A177-3AD203B41FA5}">
                      <a16:colId xmlns:a16="http://schemas.microsoft.com/office/drawing/2014/main" val="890623968"/>
                    </a:ext>
                  </a:extLst>
                </a:gridCol>
                <a:gridCol w="1890402">
                  <a:extLst>
                    <a:ext uri="{9D8B030D-6E8A-4147-A177-3AD203B41FA5}">
                      <a16:colId xmlns:a16="http://schemas.microsoft.com/office/drawing/2014/main" val="2189817486"/>
                    </a:ext>
                  </a:extLst>
                </a:gridCol>
              </a:tblGrid>
              <a:tr h="3859809">
                <a:tc>
                  <a:txBody>
                    <a:bodyPr/>
                    <a:lstStyle/>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tc>
                  <a:txBody>
                    <a:bodyPr/>
                    <a:lstStyle/>
                    <a:p>
                      <a:pPr algn="ctr"/>
                      <a:endParaRPr kumimoji="1" lang="ja-JP" altLang="en-US" sz="1800" dirty="0"/>
                    </a:p>
                  </a:txBody>
                  <a:tcPr/>
                </a:tc>
                <a:extLst>
                  <a:ext uri="{0D108BD9-81ED-4DB2-BD59-A6C34878D82A}">
                    <a16:rowId xmlns:a16="http://schemas.microsoft.com/office/drawing/2014/main" val="4225181308"/>
                  </a:ext>
                </a:extLst>
              </a:tr>
            </a:tbl>
          </a:graphicData>
        </a:graphic>
      </p:graphicFrame>
      <p:sp>
        <p:nvSpPr>
          <p:cNvPr id="6" name="矢印: 五方向 5">
            <a:extLst>
              <a:ext uri="{FF2B5EF4-FFF2-40B4-BE49-F238E27FC236}">
                <a16:creationId xmlns:a16="http://schemas.microsoft.com/office/drawing/2014/main" id="{43272C8B-DD44-43BE-ABFD-7652E45BD04F}"/>
              </a:ext>
            </a:extLst>
          </p:cNvPr>
          <p:cNvSpPr/>
          <p:nvPr/>
        </p:nvSpPr>
        <p:spPr>
          <a:xfrm>
            <a:off x="838199" y="2938696"/>
            <a:ext cx="2829561" cy="365125"/>
          </a:xfrm>
          <a:prstGeom prst="homePlate">
            <a:avLst>
              <a:gd name="adj" fmla="val 1482"/>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プログラムの計画・定義</a:t>
            </a:r>
          </a:p>
        </p:txBody>
      </p:sp>
      <p:sp>
        <p:nvSpPr>
          <p:cNvPr id="10" name="矢印: 五方向 9">
            <a:extLst>
              <a:ext uri="{FF2B5EF4-FFF2-40B4-BE49-F238E27FC236}">
                <a16:creationId xmlns:a16="http://schemas.microsoft.com/office/drawing/2014/main" id="{2CF69834-87B9-4650-83D5-BE6F0FD34F1C}"/>
              </a:ext>
            </a:extLst>
          </p:cNvPr>
          <p:cNvSpPr/>
          <p:nvPr/>
        </p:nvSpPr>
        <p:spPr>
          <a:xfrm>
            <a:off x="2936239" y="3299622"/>
            <a:ext cx="2829561" cy="365125"/>
          </a:xfrm>
          <a:prstGeom prst="homePlat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製品の設計・開発</a:t>
            </a:r>
          </a:p>
        </p:txBody>
      </p:sp>
      <p:sp>
        <p:nvSpPr>
          <p:cNvPr id="11" name="矢印: 五方向 10">
            <a:extLst>
              <a:ext uri="{FF2B5EF4-FFF2-40B4-BE49-F238E27FC236}">
                <a16:creationId xmlns:a16="http://schemas.microsoft.com/office/drawing/2014/main" id="{C7D522A0-C893-47CA-9E70-20B7454593D6}"/>
              </a:ext>
            </a:extLst>
          </p:cNvPr>
          <p:cNvSpPr/>
          <p:nvPr/>
        </p:nvSpPr>
        <p:spPr>
          <a:xfrm>
            <a:off x="2936238" y="3665761"/>
            <a:ext cx="4775201" cy="365125"/>
          </a:xfrm>
          <a:prstGeom prst="homePlat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プロセスの設計・開発</a:t>
            </a:r>
          </a:p>
        </p:txBody>
      </p:sp>
      <p:sp>
        <p:nvSpPr>
          <p:cNvPr id="12" name="矢印: 五方向 11">
            <a:extLst>
              <a:ext uri="{FF2B5EF4-FFF2-40B4-BE49-F238E27FC236}">
                <a16:creationId xmlns:a16="http://schemas.microsoft.com/office/drawing/2014/main" id="{7ADE383E-81E4-47C7-B107-084BA6F067ED}"/>
              </a:ext>
            </a:extLst>
          </p:cNvPr>
          <p:cNvSpPr/>
          <p:nvPr/>
        </p:nvSpPr>
        <p:spPr>
          <a:xfrm>
            <a:off x="4496064" y="4027701"/>
            <a:ext cx="4599541" cy="365125"/>
          </a:xfrm>
          <a:prstGeom prst="homePlat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製品・プロセスの</a:t>
            </a:r>
            <a:r>
              <a:rPr lang="ja-JP" altLang="en-US" dirty="0">
                <a:solidFill>
                  <a:schemeClr val="tx1"/>
                </a:solidFill>
              </a:rPr>
              <a:t>妥当性確認</a:t>
            </a:r>
            <a:endParaRPr kumimoji="1" lang="ja-JP" altLang="en-US" dirty="0">
              <a:solidFill>
                <a:schemeClr val="tx1"/>
              </a:solidFill>
            </a:endParaRPr>
          </a:p>
        </p:txBody>
      </p:sp>
      <p:sp>
        <p:nvSpPr>
          <p:cNvPr id="13" name="矢印: 五方向 12">
            <a:extLst>
              <a:ext uri="{FF2B5EF4-FFF2-40B4-BE49-F238E27FC236}">
                <a16:creationId xmlns:a16="http://schemas.microsoft.com/office/drawing/2014/main" id="{B220EE7C-D4D2-4A9C-9FD9-DA0CB9D733D4}"/>
              </a:ext>
            </a:extLst>
          </p:cNvPr>
          <p:cNvSpPr/>
          <p:nvPr/>
        </p:nvSpPr>
        <p:spPr>
          <a:xfrm>
            <a:off x="8153400" y="4392826"/>
            <a:ext cx="3200400" cy="365125"/>
          </a:xfrm>
          <a:prstGeom prst="homePlate">
            <a:avLst>
              <a:gd name="adj" fmla="val 1482"/>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量産・改善</a:t>
            </a:r>
          </a:p>
        </p:txBody>
      </p:sp>
      <p:sp>
        <p:nvSpPr>
          <p:cNvPr id="14" name="正方形/長方形 13">
            <a:extLst>
              <a:ext uri="{FF2B5EF4-FFF2-40B4-BE49-F238E27FC236}">
                <a16:creationId xmlns:a16="http://schemas.microsoft.com/office/drawing/2014/main" id="{DC885066-0264-4EDC-8F47-5E77922C780A}"/>
              </a:ext>
            </a:extLst>
          </p:cNvPr>
          <p:cNvSpPr/>
          <p:nvPr/>
        </p:nvSpPr>
        <p:spPr>
          <a:xfrm>
            <a:off x="838199" y="1861274"/>
            <a:ext cx="1344327" cy="6352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製品検討</a:t>
            </a:r>
            <a:endParaRPr kumimoji="1" lang="en-US" altLang="ja-JP" b="1" dirty="0">
              <a:solidFill>
                <a:schemeClr val="tx1"/>
              </a:solidFill>
            </a:endParaRPr>
          </a:p>
          <a:p>
            <a:pPr algn="ctr"/>
            <a:r>
              <a:rPr kumimoji="1" lang="ja-JP" altLang="en-US" b="1" dirty="0">
                <a:solidFill>
                  <a:schemeClr val="tx1"/>
                </a:solidFill>
              </a:rPr>
              <a:t>開始・承認</a:t>
            </a:r>
          </a:p>
        </p:txBody>
      </p:sp>
      <p:sp>
        <p:nvSpPr>
          <p:cNvPr id="15" name="正方形/長方形 14">
            <a:extLst>
              <a:ext uri="{FF2B5EF4-FFF2-40B4-BE49-F238E27FC236}">
                <a16:creationId xmlns:a16="http://schemas.microsoft.com/office/drawing/2014/main" id="{9F62B6DC-0E2F-4AD0-B73E-7D0C0A168FFD}"/>
              </a:ext>
            </a:extLst>
          </p:cNvPr>
          <p:cNvSpPr/>
          <p:nvPr/>
        </p:nvSpPr>
        <p:spPr>
          <a:xfrm>
            <a:off x="2450833" y="1932856"/>
            <a:ext cx="1668779" cy="492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プログラム</a:t>
            </a:r>
            <a:endParaRPr lang="en-US" altLang="ja-JP" b="1" dirty="0">
              <a:solidFill>
                <a:schemeClr val="tx1"/>
              </a:solidFill>
            </a:endParaRPr>
          </a:p>
          <a:p>
            <a:pPr algn="ctr"/>
            <a:r>
              <a:rPr lang="ja-JP" altLang="en-US" b="1" dirty="0">
                <a:solidFill>
                  <a:schemeClr val="tx1"/>
                </a:solidFill>
              </a:rPr>
              <a:t>承認</a:t>
            </a:r>
            <a:endParaRPr kumimoji="1" lang="en-US" altLang="ja-JP" b="1" dirty="0">
              <a:solidFill>
                <a:schemeClr val="tx1"/>
              </a:solidFill>
            </a:endParaRPr>
          </a:p>
        </p:txBody>
      </p:sp>
      <p:sp>
        <p:nvSpPr>
          <p:cNvPr id="16" name="正方形/長方形 15">
            <a:extLst>
              <a:ext uri="{FF2B5EF4-FFF2-40B4-BE49-F238E27FC236}">
                <a16:creationId xmlns:a16="http://schemas.microsoft.com/office/drawing/2014/main" id="{8B7796F9-ACE3-4089-A7CC-3637FE68C4F2}"/>
              </a:ext>
            </a:extLst>
          </p:cNvPr>
          <p:cNvSpPr/>
          <p:nvPr/>
        </p:nvSpPr>
        <p:spPr>
          <a:xfrm>
            <a:off x="4677074" y="1937623"/>
            <a:ext cx="969411" cy="492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試作</a:t>
            </a:r>
            <a:endParaRPr lang="en-US" altLang="ja-JP" b="1" dirty="0">
              <a:solidFill>
                <a:schemeClr val="tx1"/>
              </a:solidFill>
            </a:endParaRPr>
          </a:p>
        </p:txBody>
      </p:sp>
      <p:sp>
        <p:nvSpPr>
          <p:cNvPr id="17" name="正方形/長方形 16">
            <a:extLst>
              <a:ext uri="{FF2B5EF4-FFF2-40B4-BE49-F238E27FC236}">
                <a16:creationId xmlns:a16="http://schemas.microsoft.com/office/drawing/2014/main" id="{97D0C04B-880F-498E-8E2E-D4E122223F9F}"/>
              </a:ext>
            </a:extLst>
          </p:cNvPr>
          <p:cNvSpPr/>
          <p:nvPr/>
        </p:nvSpPr>
        <p:spPr>
          <a:xfrm>
            <a:off x="6447455" y="1932856"/>
            <a:ext cx="1161783" cy="492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量産試作</a:t>
            </a:r>
            <a:endParaRPr lang="en-US" altLang="ja-JP" b="1" dirty="0">
              <a:solidFill>
                <a:schemeClr val="tx1"/>
              </a:solidFill>
            </a:endParaRPr>
          </a:p>
        </p:txBody>
      </p:sp>
      <p:sp>
        <p:nvSpPr>
          <p:cNvPr id="18" name="正方形/長方形 17">
            <a:extLst>
              <a:ext uri="{FF2B5EF4-FFF2-40B4-BE49-F238E27FC236}">
                <a16:creationId xmlns:a16="http://schemas.microsoft.com/office/drawing/2014/main" id="{A1C3B516-BAA4-4C87-B7F7-A4459906035B}"/>
              </a:ext>
            </a:extLst>
          </p:cNvPr>
          <p:cNvSpPr/>
          <p:nvPr/>
        </p:nvSpPr>
        <p:spPr>
          <a:xfrm>
            <a:off x="8410208" y="1937623"/>
            <a:ext cx="1161783" cy="492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量産開始</a:t>
            </a:r>
            <a:endParaRPr lang="en-US" altLang="ja-JP" b="1" dirty="0">
              <a:solidFill>
                <a:schemeClr val="tx1"/>
              </a:solidFill>
            </a:endParaRPr>
          </a:p>
        </p:txBody>
      </p:sp>
      <p:sp>
        <p:nvSpPr>
          <p:cNvPr id="19" name="矢印: 五方向 18">
            <a:extLst>
              <a:ext uri="{FF2B5EF4-FFF2-40B4-BE49-F238E27FC236}">
                <a16:creationId xmlns:a16="http://schemas.microsoft.com/office/drawing/2014/main" id="{2941FDCD-4305-4A4D-8E92-7008BC684CE1}"/>
              </a:ext>
            </a:extLst>
          </p:cNvPr>
          <p:cNvSpPr/>
          <p:nvPr/>
        </p:nvSpPr>
        <p:spPr>
          <a:xfrm>
            <a:off x="9442382" y="2938696"/>
            <a:ext cx="1911419" cy="365125"/>
          </a:xfrm>
          <a:prstGeom prst="homePlate">
            <a:avLst>
              <a:gd name="adj" fmla="val 1482"/>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計画</a:t>
            </a:r>
          </a:p>
        </p:txBody>
      </p:sp>
      <p:graphicFrame>
        <p:nvGraphicFramePr>
          <p:cNvPr id="20" name="図表 19">
            <a:extLst>
              <a:ext uri="{FF2B5EF4-FFF2-40B4-BE49-F238E27FC236}">
                <a16:creationId xmlns:a16="http://schemas.microsoft.com/office/drawing/2014/main" id="{5D9EE9FB-0723-4B19-9FA4-5811BF56B2E6}"/>
              </a:ext>
            </a:extLst>
          </p:cNvPr>
          <p:cNvGraphicFramePr/>
          <p:nvPr>
            <p:extLst>
              <p:ext uri="{D42A27DB-BD31-4B8C-83A1-F6EECF244321}">
                <p14:modId xmlns:p14="http://schemas.microsoft.com/office/powerpoint/2010/main" val="347923557"/>
              </p:ext>
            </p:extLst>
          </p:nvPr>
        </p:nvGraphicFramePr>
        <p:xfrm>
          <a:off x="1395662" y="2239873"/>
          <a:ext cx="9452009" cy="9145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四角形: 角を丸くする 21">
            <a:extLst>
              <a:ext uri="{FF2B5EF4-FFF2-40B4-BE49-F238E27FC236}">
                <a16:creationId xmlns:a16="http://schemas.microsoft.com/office/drawing/2014/main" id="{7EE90F14-5875-44F9-BD6C-570D92178A52}"/>
              </a:ext>
            </a:extLst>
          </p:cNvPr>
          <p:cNvSpPr/>
          <p:nvPr/>
        </p:nvSpPr>
        <p:spPr>
          <a:xfrm>
            <a:off x="7076440" y="4838226"/>
            <a:ext cx="4277360" cy="288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ＰＰＡＰ</a:t>
            </a:r>
          </a:p>
        </p:txBody>
      </p:sp>
      <p:sp>
        <p:nvSpPr>
          <p:cNvPr id="23" name="四角形: 角を丸くする 22">
            <a:extLst>
              <a:ext uri="{FF2B5EF4-FFF2-40B4-BE49-F238E27FC236}">
                <a16:creationId xmlns:a16="http://schemas.microsoft.com/office/drawing/2014/main" id="{B88B98F3-BD43-499B-9DCE-53C224D01CAB}"/>
              </a:ext>
            </a:extLst>
          </p:cNvPr>
          <p:cNvSpPr/>
          <p:nvPr/>
        </p:nvSpPr>
        <p:spPr>
          <a:xfrm>
            <a:off x="3296920" y="5126984"/>
            <a:ext cx="8056880" cy="288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設計ＦＭＥＡ</a:t>
            </a:r>
          </a:p>
        </p:txBody>
      </p:sp>
      <p:sp>
        <p:nvSpPr>
          <p:cNvPr id="24" name="四角形: 角を丸くする 23">
            <a:extLst>
              <a:ext uri="{FF2B5EF4-FFF2-40B4-BE49-F238E27FC236}">
                <a16:creationId xmlns:a16="http://schemas.microsoft.com/office/drawing/2014/main" id="{C8781FBE-4A7F-4875-8322-DE2142ED733B}"/>
              </a:ext>
            </a:extLst>
          </p:cNvPr>
          <p:cNvSpPr/>
          <p:nvPr/>
        </p:nvSpPr>
        <p:spPr>
          <a:xfrm>
            <a:off x="5186680" y="5428211"/>
            <a:ext cx="6167120" cy="288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工程ＦＭＥＡ</a:t>
            </a:r>
          </a:p>
        </p:txBody>
      </p:sp>
      <p:sp>
        <p:nvSpPr>
          <p:cNvPr id="25" name="四角形: 角を丸くする 24">
            <a:extLst>
              <a:ext uri="{FF2B5EF4-FFF2-40B4-BE49-F238E27FC236}">
                <a16:creationId xmlns:a16="http://schemas.microsoft.com/office/drawing/2014/main" id="{B2C265EC-3009-499B-8D25-832FF14E15EE}"/>
              </a:ext>
            </a:extLst>
          </p:cNvPr>
          <p:cNvSpPr/>
          <p:nvPr/>
        </p:nvSpPr>
        <p:spPr>
          <a:xfrm>
            <a:off x="3296920" y="5724990"/>
            <a:ext cx="8056880" cy="288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ＳＰＣ</a:t>
            </a:r>
          </a:p>
        </p:txBody>
      </p:sp>
      <p:sp>
        <p:nvSpPr>
          <p:cNvPr id="26" name="四角形: 角を丸くする 25">
            <a:extLst>
              <a:ext uri="{FF2B5EF4-FFF2-40B4-BE49-F238E27FC236}">
                <a16:creationId xmlns:a16="http://schemas.microsoft.com/office/drawing/2014/main" id="{BF52C847-F2DB-4545-A964-F6DC38459806}"/>
              </a:ext>
            </a:extLst>
          </p:cNvPr>
          <p:cNvSpPr/>
          <p:nvPr/>
        </p:nvSpPr>
        <p:spPr>
          <a:xfrm>
            <a:off x="7076440" y="6020805"/>
            <a:ext cx="4277360" cy="288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ＭＳＡ</a:t>
            </a:r>
          </a:p>
        </p:txBody>
      </p:sp>
      <p:sp>
        <p:nvSpPr>
          <p:cNvPr id="3" name="楕円 2">
            <a:extLst>
              <a:ext uri="{FF2B5EF4-FFF2-40B4-BE49-F238E27FC236}">
                <a16:creationId xmlns:a16="http://schemas.microsoft.com/office/drawing/2014/main" id="{B0D1A947-A07A-4CFD-806F-B1829888CADF}"/>
              </a:ext>
            </a:extLst>
          </p:cNvPr>
          <p:cNvSpPr/>
          <p:nvPr/>
        </p:nvSpPr>
        <p:spPr>
          <a:xfrm>
            <a:off x="3311222" y="1489687"/>
            <a:ext cx="1804339" cy="4866663"/>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吹き出し: 線 6">
            <a:extLst>
              <a:ext uri="{FF2B5EF4-FFF2-40B4-BE49-F238E27FC236}">
                <a16:creationId xmlns:a16="http://schemas.microsoft.com/office/drawing/2014/main" id="{72F64723-5B39-45CC-9646-AF1CB1569EB7}"/>
              </a:ext>
            </a:extLst>
          </p:cNvPr>
          <p:cNvSpPr/>
          <p:nvPr/>
        </p:nvSpPr>
        <p:spPr>
          <a:xfrm>
            <a:off x="838199" y="4392826"/>
            <a:ext cx="2401904" cy="1436473"/>
          </a:xfrm>
          <a:prstGeom prst="borderCallout1">
            <a:avLst>
              <a:gd name="adj1" fmla="val -4099"/>
              <a:gd name="adj2" fmla="val 65224"/>
              <a:gd name="adj3" fmla="val -16672"/>
              <a:gd name="adj4" fmla="val 99482"/>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rgbClr val="FF0000"/>
                </a:solidFill>
              </a:rPr>
              <a:t>製品設計開発を顧客が行う場合、フェーズ２が概ね不要となるが、フェーズ１は存在する。</a:t>
            </a:r>
          </a:p>
        </p:txBody>
      </p:sp>
    </p:spTree>
    <p:extLst>
      <p:ext uri="{BB962C8B-B14F-4D97-AF65-F5344CB8AC3E}">
        <p14:creationId xmlns:p14="http://schemas.microsoft.com/office/powerpoint/2010/main" val="1326957702"/>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7136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各フェーズのアウトプットは、次のフェーズのインプットになる。</a:t>
            </a:r>
            <a:endParaRPr lang="en-US" altLang="ja-JP" dirty="0"/>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２．ＡＰＱＰ（フェーズのｉｎ・ｏｕｔ）</a:t>
            </a:r>
          </a:p>
        </p:txBody>
      </p:sp>
      <p:graphicFrame>
        <p:nvGraphicFramePr>
          <p:cNvPr id="2" name="表 2">
            <a:extLst>
              <a:ext uri="{FF2B5EF4-FFF2-40B4-BE49-F238E27FC236}">
                <a16:creationId xmlns:a16="http://schemas.microsoft.com/office/drawing/2014/main" id="{171B919B-6C68-4014-94AD-B63B92478D7E}"/>
              </a:ext>
            </a:extLst>
          </p:cNvPr>
          <p:cNvGraphicFramePr>
            <a:graphicFrameLocks noGrp="1"/>
          </p:cNvGraphicFramePr>
          <p:nvPr>
            <p:extLst>
              <p:ext uri="{D42A27DB-BD31-4B8C-83A1-F6EECF244321}">
                <p14:modId xmlns:p14="http://schemas.microsoft.com/office/powerpoint/2010/main" val="2983986028"/>
              </p:ext>
            </p:extLst>
          </p:nvPr>
        </p:nvGraphicFramePr>
        <p:xfrm>
          <a:off x="838200" y="2115329"/>
          <a:ext cx="10515600" cy="3718560"/>
        </p:xfrm>
        <a:graphic>
          <a:graphicData uri="http://schemas.openxmlformats.org/drawingml/2006/table">
            <a:tbl>
              <a:tblPr firstRow="1" bandRow="1">
                <a:tableStyleId>{5940675A-B579-460E-94D1-54222C63F5DA}</a:tableStyleId>
              </a:tblPr>
              <a:tblGrid>
                <a:gridCol w="2270760">
                  <a:extLst>
                    <a:ext uri="{9D8B030D-6E8A-4147-A177-3AD203B41FA5}">
                      <a16:colId xmlns:a16="http://schemas.microsoft.com/office/drawing/2014/main" val="2546434834"/>
                    </a:ext>
                  </a:extLst>
                </a:gridCol>
                <a:gridCol w="770021">
                  <a:extLst>
                    <a:ext uri="{9D8B030D-6E8A-4147-A177-3AD203B41FA5}">
                      <a16:colId xmlns:a16="http://schemas.microsoft.com/office/drawing/2014/main" val="1726089203"/>
                    </a:ext>
                  </a:extLst>
                </a:gridCol>
                <a:gridCol w="7474819">
                  <a:extLst>
                    <a:ext uri="{9D8B030D-6E8A-4147-A177-3AD203B41FA5}">
                      <a16:colId xmlns:a16="http://schemas.microsoft.com/office/drawing/2014/main" val="1142352447"/>
                    </a:ext>
                  </a:extLst>
                </a:gridCol>
              </a:tblGrid>
              <a:tr h="370840">
                <a:tc>
                  <a:txBody>
                    <a:bodyPr/>
                    <a:lstStyle/>
                    <a:p>
                      <a:pPr algn="ctr"/>
                      <a:r>
                        <a:rPr kumimoji="1" lang="ja-JP" altLang="en-US" sz="2000" dirty="0"/>
                        <a:t>フェーズ</a:t>
                      </a:r>
                    </a:p>
                  </a:txBody>
                  <a:tcPr>
                    <a:solidFill>
                      <a:schemeClr val="tx2">
                        <a:lumMod val="40000"/>
                        <a:lumOff val="60000"/>
                      </a:schemeClr>
                    </a:solidFill>
                  </a:tcPr>
                </a:tc>
                <a:tc gridSpan="2">
                  <a:txBody>
                    <a:bodyPr/>
                    <a:lstStyle/>
                    <a:p>
                      <a:pPr algn="ctr"/>
                      <a:r>
                        <a:rPr kumimoji="1" lang="ja-JP" altLang="en-US" sz="2000" dirty="0"/>
                        <a:t>インプット・アウトプット</a:t>
                      </a:r>
                    </a:p>
                  </a:txBody>
                  <a:tcPr>
                    <a:solidFill>
                      <a:schemeClr val="tx2">
                        <a:lumMod val="40000"/>
                        <a:lumOff val="60000"/>
                      </a:schemeClr>
                    </a:solidFill>
                  </a:tcPr>
                </a:tc>
                <a:tc hMerge="1">
                  <a:txBody>
                    <a:bodyPr/>
                    <a:lstStyle/>
                    <a:p>
                      <a:pPr algn="ct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2960469645"/>
                  </a:ext>
                </a:extLst>
              </a:tr>
              <a:tr h="370840">
                <a:tc rowSpan="2">
                  <a:txBody>
                    <a:bodyPr/>
                    <a:lstStyle/>
                    <a:p>
                      <a:r>
                        <a:rPr kumimoji="1" lang="ja-JP" altLang="en-US" sz="2000" b="1" dirty="0"/>
                        <a:t>フェーズ１</a:t>
                      </a:r>
                      <a:endParaRPr kumimoji="1" lang="en-US" altLang="ja-JP" sz="2000" b="1" dirty="0"/>
                    </a:p>
                    <a:p>
                      <a:r>
                        <a:rPr kumimoji="1" lang="ja-JP" altLang="en-US" sz="2000" dirty="0"/>
                        <a:t>プログラムの計画・定義</a:t>
                      </a:r>
                    </a:p>
                  </a:txBody>
                  <a:tcPr/>
                </a:tc>
                <a:tc>
                  <a:txBody>
                    <a:bodyPr/>
                    <a:lstStyle/>
                    <a:p>
                      <a:r>
                        <a:rPr kumimoji="1" lang="en-US" altLang="ja-JP" sz="2000" dirty="0"/>
                        <a:t>In</a:t>
                      </a:r>
                      <a:endParaRPr kumimoji="1" lang="ja-JP" altLang="en-US" sz="2000" dirty="0"/>
                    </a:p>
                  </a:txBody>
                  <a:tcPr/>
                </a:tc>
                <a:tc>
                  <a:txBody>
                    <a:bodyPr/>
                    <a:lstStyle/>
                    <a:p>
                      <a:r>
                        <a:rPr kumimoji="1" lang="ja-JP" altLang="en-US" sz="2000" dirty="0"/>
                        <a:t>・顧客の声　　・事業計画</a:t>
                      </a:r>
                      <a:r>
                        <a:rPr kumimoji="1" lang="en-US" altLang="ja-JP" sz="2000" dirty="0"/>
                        <a:t>/</a:t>
                      </a:r>
                      <a:r>
                        <a:rPr kumimoji="1" lang="ja-JP" altLang="en-US" sz="2000" dirty="0"/>
                        <a:t>マーケティング　　・製品</a:t>
                      </a:r>
                      <a:r>
                        <a:rPr kumimoji="1" lang="en-US" altLang="ja-JP" sz="2000" dirty="0"/>
                        <a:t>/</a:t>
                      </a:r>
                      <a:r>
                        <a:rPr kumimoji="1" lang="ja-JP" altLang="en-US" sz="2000" dirty="0"/>
                        <a:t>プロセスのベンチマーク　　・製品</a:t>
                      </a:r>
                      <a:r>
                        <a:rPr kumimoji="1" lang="en-US" altLang="ja-JP" sz="2000" dirty="0"/>
                        <a:t>/</a:t>
                      </a:r>
                      <a:r>
                        <a:rPr kumimoji="1" lang="ja-JP" altLang="en-US" sz="2000" dirty="0"/>
                        <a:t>プロセスの前提条件</a:t>
                      </a:r>
                      <a:endParaRPr kumimoji="1" lang="en-US" altLang="ja-JP" sz="2000" dirty="0"/>
                    </a:p>
                    <a:p>
                      <a:r>
                        <a:rPr kumimoji="1" lang="ja-JP" altLang="en-US" sz="2000" dirty="0"/>
                        <a:t>・製品信頼性調査　　・顧客インプット</a:t>
                      </a:r>
                    </a:p>
                  </a:txBody>
                  <a:tcPr/>
                </a:tc>
                <a:extLst>
                  <a:ext uri="{0D108BD9-81ED-4DB2-BD59-A6C34878D82A}">
                    <a16:rowId xmlns:a16="http://schemas.microsoft.com/office/drawing/2014/main" val="2213851327"/>
                  </a:ext>
                </a:extLst>
              </a:tr>
              <a:tr h="370840">
                <a:tc vMerge="1">
                  <a:txBody>
                    <a:bodyPr/>
                    <a:lstStyle/>
                    <a:p>
                      <a:endParaRPr kumimoji="1" lang="en-US" altLang="ja-JP" sz="2000" dirty="0"/>
                    </a:p>
                  </a:txBody>
                  <a:tcPr/>
                </a:tc>
                <a:tc>
                  <a:txBody>
                    <a:bodyPr/>
                    <a:lstStyle/>
                    <a:p>
                      <a:r>
                        <a:rPr kumimoji="1" lang="en-US" altLang="ja-JP" sz="2000" dirty="0"/>
                        <a:t>Out</a:t>
                      </a:r>
                      <a:endParaRPr kumimoji="1" lang="ja-JP" altLang="en-US" sz="2000" dirty="0"/>
                    </a:p>
                  </a:txBody>
                  <a:tcPr/>
                </a:tc>
                <a:tc>
                  <a:txBody>
                    <a:bodyPr/>
                    <a:lstStyle/>
                    <a:p>
                      <a:r>
                        <a:rPr kumimoji="1" lang="ja-JP" altLang="en-US" sz="2000" dirty="0"/>
                        <a:t>・設計到達目標　　・信頼性目標</a:t>
                      </a:r>
                      <a:r>
                        <a:rPr kumimoji="1" lang="en-US" altLang="ja-JP" sz="2000" dirty="0"/>
                        <a:t>/</a:t>
                      </a:r>
                      <a:r>
                        <a:rPr kumimoji="1" lang="ja-JP" altLang="en-US" sz="2000" dirty="0"/>
                        <a:t>品質目標　　・暫定材料明細表　　・暫定プロセスフロー図　　・特殊製品特性</a:t>
                      </a:r>
                      <a:r>
                        <a:rPr kumimoji="1" lang="en-US" altLang="ja-JP" sz="2000" dirty="0"/>
                        <a:t>/</a:t>
                      </a:r>
                      <a:r>
                        <a:rPr kumimoji="1" lang="ja-JP" altLang="en-US" sz="2000" dirty="0"/>
                        <a:t>特殊プロセス特性の暫定リスト　　・製品保証計画書　　・経営者の支援</a:t>
                      </a:r>
                    </a:p>
                  </a:txBody>
                  <a:tcPr/>
                </a:tc>
                <a:extLst>
                  <a:ext uri="{0D108BD9-81ED-4DB2-BD59-A6C34878D82A}">
                    <a16:rowId xmlns:a16="http://schemas.microsoft.com/office/drawing/2014/main" val="2639175999"/>
                  </a:ext>
                </a:extLst>
              </a:tr>
              <a:tr h="370840">
                <a:tc>
                  <a:txBody>
                    <a:bodyPr/>
                    <a:lstStyle/>
                    <a:p>
                      <a:r>
                        <a:rPr kumimoji="1" lang="ja-JP" altLang="en-US" sz="2000" b="1" dirty="0"/>
                        <a:t>フェーズ２</a:t>
                      </a:r>
                      <a:endParaRPr kumimoji="1" lang="en-US" altLang="ja-JP" sz="2000" b="1" dirty="0"/>
                    </a:p>
                    <a:p>
                      <a:r>
                        <a:rPr kumimoji="1" lang="ja-JP" altLang="en-US" sz="2000" dirty="0"/>
                        <a:t>製品の設計・開発</a:t>
                      </a:r>
                    </a:p>
                  </a:txBody>
                  <a:tcPr/>
                </a:tc>
                <a:tc>
                  <a:txBody>
                    <a:bodyPr/>
                    <a:lstStyle/>
                    <a:p>
                      <a:r>
                        <a:rPr kumimoji="1" lang="en-US" altLang="ja-JP" sz="2000" dirty="0"/>
                        <a:t>Out</a:t>
                      </a:r>
                      <a:endParaRPr kumimoji="1" lang="ja-JP" altLang="en-US" sz="2000" dirty="0"/>
                    </a:p>
                  </a:txBody>
                  <a:tcPr/>
                </a:tc>
                <a:tc>
                  <a:txBody>
                    <a:bodyPr/>
                    <a:lstStyle/>
                    <a:p>
                      <a:r>
                        <a:rPr kumimoji="1" lang="ja-JP" altLang="en-US" sz="2000" dirty="0"/>
                        <a:t>・設計</a:t>
                      </a:r>
                      <a:r>
                        <a:rPr kumimoji="1" lang="en-US" altLang="ja-JP" sz="2000" dirty="0"/>
                        <a:t>FMEA</a:t>
                      </a:r>
                      <a:r>
                        <a:rPr kumimoji="1" lang="ja-JP" altLang="en-US" sz="2000" dirty="0"/>
                        <a:t>　　・製造性</a:t>
                      </a:r>
                      <a:r>
                        <a:rPr kumimoji="1" lang="en-US" altLang="ja-JP" sz="2000" dirty="0"/>
                        <a:t>/</a:t>
                      </a:r>
                      <a:r>
                        <a:rPr kumimoji="1" lang="ja-JP" altLang="en-US" sz="2000" dirty="0"/>
                        <a:t>組立性考慮設計　　・設計検証</a:t>
                      </a:r>
                      <a:endParaRPr kumimoji="1" lang="en-US" altLang="ja-JP" sz="2000" dirty="0"/>
                    </a:p>
                    <a:p>
                      <a:r>
                        <a:rPr kumimoji="1" lang="ja-JP" altLang="en-US" sz="2000" dirty="0"/>
                        <a:t>・デザインレビュー　　・試作</a:t>
                      </a:r>
                      <a:r>
                        <a:rPr kumimoji="1" lang="en-US" altLang="ja-JP" sz="2000" dirty="0"/>
                        <a:t>CP</a:t>
                      </a:r>
                      <a:r>
                        <a:rPr kumimoji="1" lang="ja-JP" altLang="en-US" sz="2000" dirty="0"/>
                        <a:t>　　・図面　　・技術仕様書</a:t>
                      </a:r>
                      <a:endParaRPr kumimoji="1" lang="en-US" altLang="ja-JP" sz="2000" dirty="0"/>
                    </a:p>
                    <a:p>
                      <a:r>
                        <a:rPr kumimoji="1" lang="ja-JP" altLang="en-US" sz="2000" dirty="0"/>
                        <a:t>・材料仕様書　　・図面製品特性</a:t>
                      </a:r>
                      <a:r>
                        <a:rPr kumimoji="1" lang="en-US" altLang="ja-JP" sz="2000" dirty="0"/>
                        <a:t>/</a:t>
                      </a:r>
                      <a:r>
                        <a:rPr kumimoji="1" lang="ja-JP" altLang="en-US" sz="2000" dirty="0"/>
                        <a:t>特殊プロセス特性の暫定リスト　　・製品保証計画書　　・経営者の支援</a:t>
                      </a:r>
                    </a:p>
                  </a:txBody>
                  <a:tcPr/>
                </a:tc>
                <a:extLst>
                  <a:ext uri="{0D108BD9-81ED-4DB2-BD59-A6C34878D82A}">
                    <a16:rowId xmlns:a16="http://schemas.microsoft.com/office/drawing/2014/main" val="2243425499"/>
                  </a:ext>
                </a:extLst>
              </a:tr>
            </a:tbl>
          </a:graphicData>
        </a:graphic>
      </p:graphicFrame>
    </p:spTree>
    <p:extLst>
      <p:ext uri="{BB962C8B-B14F-4D97-AF65-F5344CB8AC3E}">
        <p14:creationId xmlns:p14="http://schemas.microsoft.com/office/powerpoint/2010/main" val="808682943"/>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２．ＡＰＱＰ（フェーズのｉｎ・ｏｕｔ）</a:t>
            </a:r>
          </a:p>
        </p:txBody>
      </p:sp>
      <p:graphicFrame>
        <p:nvGraphicFramePr>
          <p:cNvPr id="2" name="表 2">
            <a:extLst>
              <a:ext uri="{FF2B5EF4-FFF2-40B4-BE49-F238E27FC236}">
                <a16:creationId xmlns:a16="http://schemas.microsoft.com/office/drawing/2014/main" id="{171B919B-6C68-4014-94AD-B63B92478D7E}"/>
              </a:ext>
            </a:extLst>
          </p:cNvPr>
          <p:cNvGraphicFramePr>
            <a:graphicFrameLocks noGrp="1"/>
          </p:cNvGraphicFramePr>
          <p:nvPr>
            <p:extLst>
              <p:ext uri="{D42A27DB-BD31-4B8C-83A1-F6EECF244321}">
                <p14:modId xmlns:p14="http://schemas.microsoft.com/office/powerpoint/2010/main" val="3790822067"/>
              </p:ext>
            </p:extLst>
          </p:nvPr>
        </p:nvGraphicFramePr>
        <p:xfrm>
          <a:off x="838200" y="1470437"/>
          <a:ext cx="10515600" cy="3718560"/>
        </p:xfrm>
        <a:graphic>
          <a:graphicData uri="http://schemas.openxmlformats.org/drawingml/2006/table">
            <a:tbl>
              <a:tblPr firstRow="1" bandRow="1">
                <a:tableStyleId>{5940675A-B579-460E-94D1-54222C63F5DA}</a:tableStyleId>
              </a:tblPr>
              <a:tblGrid>
                <a:gridCol w="2270760">
                  <a:extLst>
                    <a:ext uri="{9D8B030D-6E8A-4147-A177-3AD203B41FA5}">
                      <a16:colId xmlns:a16="http://schemas.microsoft.com/office/drawing/2014/main" val="2546434834"/>
                    </a:ext>
                  </a:extLst>
                </a:gridCol>
                <a:gridCol w="770021">
                  <a:extLst>
                    <a:ext uri="{9D8B030D-6E8A-4147-A177-3AD203B41FA5}">
                      <a16:colId xmlns:a16="http://schemas.microsoft.com/office/drawing/2014/main" val="1726089203"/>
                    </a:ext>
                  </a:extLst>
                </a:gridCol>
                <a:gridCol w="7474819">
                  <a:extLst>
                    <a:ext uri="{9D8B030D-6E8A-4147-A177-3AD203B41FA5}">
                      <a16:colId xmlns:a16="http://schemas.microsoft.com/office/drawing/2014/main" val="1142352447"/>
                    </a:ext>
                  </a:extLst>
                </a:gridCol>
              </a:tblGrid>
              <a:tr h="370840">
                <a:tc>
                  <a:txBody>
                    <a:bodyPr/>
                    <a:lstStyle/>
                    <a:p>
                      <a:pPr algn="ctr"/>
                      <a:r>
                        <a:rPr kumimoji="1" lang="ja-JP" altLang="en-US" sz="2000" dirty="0"/>
                        <a:t>フェーズ</a:t>
                      </a:r>
                    </a:p>
                  </a:txBody>
                  <a:tcPr>
                    <a:solidFill>
                      <a:schemeClr val="tx2">
                        <a:lumMod val="40000"/>
                        <a:lumOff val="60000"/>
                      </a:schemeClr>
                    </a:solidFill>
                  </a:tcPr>
                </a:tc>
                <a:tc gridSpan="2">
                  <a:txBody>
                    <a:bodyPr/>
                    <a:lstStyle/>
                    <a:p>
                      <a:pPr algn="ctr"/>
                      <a:r>
                        <a:rPr kumimoji="1" lang="ja-JP" altLang="en-US" sz="2000" dirty="0"/>
                        <a:t>インプット・アウトプット</a:t>
                      </a:r>
                    </a:p>
                  </a:txBody>
                  <a:tcPr>
                    <a:solidFill>
                      <a:schemeClr val="tx2">
                        <a:lumMod val="40000"/>
                        <a:lumOff val="60000"/>
                      </a:schemeClr>
                    </a:solidFill>
                  </a:tcPr>
                </a:tc>
                <a:tc hMerge="1">
                  <a:txBody>
                    <a:bodyPr/>
                    <a:lstStyle/>
                    <a:p>
                      <a:pPr algn="ct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2960469645"/>
                  </a:ext>
                </a:extLst>
              </a:tr>
              <a:tr h="370840">
                <a:tc>
                  <a:txBody>
                    <a:bodyPr/>
                    <a:lstStyle/>
                    <a:p>
                      <a:r>
                        <a:rPr kumimoji="1" lang="ja-JP" altLang="en-US" sz="2000" b="1" dirty="0"/>
                        <a:t>フェーズ３</a:t>
                      </a:r>
                      <a:endParaRPr kumimoji="1" lang="en-US" altLang="ja-JP" sz="2000" b="1" dirty="0"/>
                    </a:p>
                    <a:p>
                      <a:r>
                        <a:rPr kumimoji="1" lang="ja-JP" altLang="en-US" sz="2000" b="0" dirty="0"/>
                        <a:t>プロセスの設計・開発</a:t>
                      </a:r>
                      <a:endParaRPr kumimoji="1" lang="en-US" altLang="ja-JP" sz="2000" b="0" dirty="0"/>
                    </a:p>
                  </a:txBody>
                  <a:tcPr/>
                </a:tc>
                <a:tc>
                  <a:txBody>
                    <a:bodyPr/>
                    <a:lstStyle/>
                    <a:p>
                      <a:r>
                        <a:rPr kumimoji="1" lang="en-US" altLang="ja-JP" sz="2000" dirty="0"/>
                        <a:t>Out</a:t>
                      </a:r>
                      <a:endParaRPr kumimoji="1" lang="ja-JP" altLang="en-US" sz="2000" dirty="0"/>
                    </a:p>
                  </a:txBody>
                  <a:tcPr/>
                </a:tc>
                <a:tc>
                  <a:txBody>
                    <a:bodyPr/>
                    <a:lstStyle/>
                    <a:p>
                      <a:r>
                        <a:rPr kumimoji="1" lang="ja-JP" altLang="en-US" sz="2000" dirty="0"/>
                        <a:t>・梱包規格</a:t>
                      </a:r>
                      <a:r>
                        <a:rPr kumimoji="1" lang="en-US" altLang="ja-JP" sz="2000" dirty="0"/>
                        <a:t>/</a:t>
                      </a:r>
                      <a:r>
                        <a:rPr kumimoji="1" lang="ja-JP" altLang="en-US" sz="2000" dirty="0"/>
                        <a:t>仕様書　　・製品</a:t>
                      </a:r>
                      <a:r>
                        <a:rPr kumimoji="1" lang="en-US" altLang="ja-JP" sz="2000" dirty="0"/>
                        <a:t>/</a:t>
                      </a:r>
                      <a:r>
                        <a:rPr kumimoji="1" lang="ja-JP" altLang="en-US" sz="2000" dirty="0"/>
                        <a:t>プロセスの</a:t>
                      </a:r>
                      <a:r>
                        <a:rPr kumimoji="1" lang="en-US" altLang="ja-JP" sz="2000" dirty="0"/>
                        <a:t>QMS</a:t>
                      </a:r>
                      <a:r>
                        <a:rPr kumimoji="1" lang="ja-JP" altLang="en-US" sz="2000" dirty="0"/>
                        <a:t>レビュー</a:t>
                      </a:r>
                      <a:endParaRPr kumimoji="1" lang="en-US" altLang="ja-JP" sz="2000" dirty="0"/>
                    </a:p>
                    <a:p>
                      <a:r>
                        <a:rPr kumimoji="1" lang="ja-JP" altLang="en-US" sz="2000" dirty="0"/>
                        <a:t>・プロセスフロー図　　・フロアプランレイアウト</a:t>
                      </a:r>
                      <a:endParaRPr kumimoji="1" lang="en-US" altLang="ja-JP" sz="2000" dirty="0"/>
                    </a:p>
                    <a:p>
                      <a:r>
                        <a:rPr kumimoji="1" lang="ja-JP" altLang="en-US" sz="2000" dirty="0"/>
                        <a:t>・特性マトリクス　　・工程</a:t>
                      </a:r>
                      <a:r>
                        <a:rPr kumimoji="1" lang="en-US" altLang="ja-JP" sz="2000" dirty="0"/>
                        <a:t>FMEA</a:t>
                      </a:r>
                      <a:r>
                        <a:rPr kumimoji="1" lang="ja-JP" altLang="en-US" sz="2000" dirty="0"/>
                        <a:t>　　・量産試作</a:t>
                      </a:r>
                      <a:r>
                        <a:rPr kumimoji="1" lang="en-US" altLang="ja-JP" sz="2000" dirty="0"/>
                        <a:t>CP</a:t>
                      </a:r>
                    </a:p>
                    <a:p>
                      <a:r>
                        <a:rPr kumimoji="1" lang="ja-JP" altLang="en-US" sz="2000" dirty="0"/>
                        <a:t>・プロセス指示書　　・</a:t>
                      </a:r>
                      <a:r>
                        <a:rPr kumimoji="1" lang="en-US" altLang="ja-JP" sz="2000" dirty="0"/>
                        <a:t>MSA</a:t>
                      </a:r>
                      <a:r>
                        <a:rPr kumimoji="1" lang="ja-JP" altLang="en-US" sz="2000" dirty="0"/>
                        <a:t>計画書</a:t>
                      </a:r>
                      <a:endParaRPr kumimoji="1" lang="en-US" altLang="ja-JP" sz="2000" dirty="0"/>
                    </a:p>
                    <a:p>
                      <a:r>
                        <a:rPr kumimoji="1" lang="ja-JP" altLang="en-US" sz="2000" dirty="0"/>
                        <a:t>・工程能力予備調査計画書　　・経営者の支援</a:t>
                      </a:r>
                      <a:endParaRPr kumimoji="1" lang="en-US" altLang="ja-JP" sz="2000" dirty="0"/>
                    </a:p>
                  </a:txBody>
                  <a:tcPr/>
                </a:tc>
                <a:extLst>
                  <a:ext uri="{0D108BD9-81ED-4DB2-BD59-A6C34878D82A}">
                    <a16:rowId xmlns:a16="http://schemas.microsoft.com/office/drawing/2014/main" val="2213851327"/>
                  </a:ext>
                </a:extLst>
              </a:tr>
              <a:tr h="370840">
                <a:tc>
                  <a:txBody>
                    <a:bodyPr/>
                    <a:lstStyle/>
                    <a:p>
                      <a:r>
                        <a:rPr kumimoji="1" lang="ja-JP" altLang="en-US" sz="2000" b="1" dirty="0"/>
                        <a:t>フェーズ４</a:t>
                      </a:r>
                      <a:endParaRPr kumimoji="1" lang="en-US" altLang="ja-JP" sz="2000" b="1" dirty="0"/>
                    </a:p>
                    <a:p>
                      <a:r>
                        <a:rPr kumimoji="1" lang="ja-JP" altLang="en-US" sz="2000" b="0" dirty="0"/>
                        <a:t>製品・プロセスの妥当性確認</a:t>
                      </a:r>
                      <a:endParaRPr kumimoji="1" lang="en-US" altLang="ja-JP" sz="2000" b="0" dirty="0"/>
                    </a:p>
                  </a:txBody>
                  <a:tcPr/>
                </a:tc>
                <a:tc>
                  <a:txBody>
                    <a:bodyPr/>
                    <a:lstStyle/>
                    <a:p>
                      <a:r>
                        <a:rPr kumimoji="1" lang="en-US" altLang="ja-JP" sz="2000" dirty="0"/>
                        <a:t>Out</a:t>
                      </a:r>
                      <a:endParaRPr kumimoji="1" lang="ja-JP" altLang="en-US" sz="2000" dirty="0"/>
                    </a:p>
                  </a:txBody>
                  <a:tcPr/>
                </a:tc>
                <a:tc>
                  <a:txBody>
                    <a:bodyPr/>
                    <a:lstStyle/>
                    <a:p>
                      <a:r>
                        <a:rPr kumimoji="1" lang="ja-JP" altLang="en-US" sz="2000" dirty="0"/>
                        <a:t>・実質的生産　　・</a:t>
                      </a:r>
                      <a:r>
                        <a:rPr kumimoji="1" lang="en-US" altLang="ja-JP" sz="2000" dirty="0"/>
                        <a:t>MSA</a:t>
                      </a:r>
                      <a:r>
                        <a:rPr kumimoji="1" lang="ja-JP" altLang="en-US" sz="2000" dirty="0"/>
                        <a:t>　　・工程能力予備調査（</a:t>
                      </a:r>
                      <a:r>
                        <a:rPr kumimoji="1" lang="en-US" altLang="ja-JP" sz="2000" dirty="0" err="1"/>
                        <a:t>Cpk</a:t>
                      </a:r>
                      <a:r>
                        <a:rPr kumimoji="1" lang="ja-JP" altLang="en-US" sz="2000" dirty="0"/>
                        <a:t>）</a:t>
                      </a:r>
                      <a:endParaRPr kumimoji="1" lang="en-US" altLang="ja-JP" sz="2000" dirty="0"/>
                    </a:p>
                    <a:p>
                      <a:r>
                        <a:rPr kumimoji="1" lang="ja-JP" altLang="en-US" sz="2000" dirty="0"/>
                        <a:t>・量産の妥当性確認試験　　・梱包評価　　・量産</a:t>
                      </a:r>
                      <a:r>
                        <a:rPr kumimoji="1" lang="en-US" altLang="ja-JP" sz="2000" dirty="0"/>
                        <a:t>CP</a:t>
                      </a:r>
                    </a:p>
                    <a:p>
                      <a:r>
                        <a:rPr kumimoji="1" lang="ja-JP" altLang="en-US" sz="2000" dirty="0"/>
                        <a:t>・</a:t>
                      </a:r>
                      <a:r>
                        <a:rPr kumimoji="1" lang="en-US" altLang="ja-JP" sz="2000" dirty="0"/>
                        <a:t>PPAP</a:t>
                      </a:r>
                      <a:r>
                        <a:rPr kumimoji="1" lang="ja-JP" altLang="en-US" sz="2000" dirty="0"/>
                        <a:t>　　・品質計画承認　　・経営者の支援</a:t>
                      </a:r>
                      <a:endParaRPr kumimoji="1" lang="en-US" altLang="ja-JP" sz="2000" dirty="0"/>
                    </a:p>
                  </a:txBody>
                  <a:tcPr/>
                </a:tc>
                <a:extLst>
                  <a:ext uri="{0D108BD9-81ED-4DB2-BD59-A6C34878D82A}">
                    <a16:rowId xmlns:a16="http://schemas.microsoft.com/office/drawing/2014/main" val="2243425499"/>
                  </a:ext>
                </a:extLst>
              </a:tr>
              <a:tr h="370840">
                <a:tc>
                  <a:txBody>
                    <a:bodyPr/>
                    <a:lstStyle/>
                    <a:p>
                      <a:r>
                        <a:rPr kumimoji="1" lang="ja-JP" altLang="en-US" sz="2000" b="1" dirty="0"/>
                        <a:t>フェーズ５</a:t>
                      </a:r>
                      <a:endParaRPr kumimoji="1" lang="en-US" altLang="ja-JP" sz="2000" b="1" dirty="0"/>
                    </a:p>
                    <a:p>
                      <a:r>
                        <a:rPr kumimoji="1" lang="ja-JP" altLang="en-US" sz="2000" b="0" dirty="0"/>
                        <a:t>量産・改善</a:t>
                      </a:r>
                      <a:endParaRPr kumimoji="1" lang="en-US" altLang="ja-JP" sz="2000" b="0" dirty="0"/>
                    </a:p>
                  </a:txBody>
                  <a:tcPr/>
                </a:tc>
                <a:tc>
                  <a:txBody>
                    <a:bodyPr/>
                    <a:lstStyle/>
                    <a:p>
                      <a:r>
                        <a:rPr kumimoji="1" lang="en-US" altLang="ja-JP" sz="2000" dirty="0"/>
                        <a:t>Out</a:t>
                      </a:r>
                      <a:endParaRPr kumimoji="1" lang="ja-JP" altLang="en-US" sz="2000" dirty="0"/>
                    </a:p>
                  </a:txBody>
                  <a:tcPr/>
                </a:tc>
                <a:tc>
                  <a:txBody>
                    <a:bodyPr/>
                    <a:lstStyle/>
                    <a:p>
                      <a:r>
                        <a:rPr kumimoji="1" lang="ja-JP" altLang="en-US" sz="2000" dirty="0"/>
                        <a:t>・変動の減少　　・顧客満足の向上　　・引渡し</a:t>
                      </a:r>
                      <a:r>
                        <a:rPr kumimoji="1" lang="en-US" altLang="ja-JP" sz="2000" dirty="0"/>
                        <a:t>/</a:t>
                      </a:r>
                      <a:r>
                        <a:rPr kumimoji="1" lang="ja-JP" altLang="en-US" sz="2000" dirty="0"/>
                        <a:t>サービスの改善　　・学んだ教訓</a:t>
                      </a:r>
                      <a:r>
                        <a:rPr kumimoji="1" lang="en-US" altLang="ja-JP" sz="2000" dirty="0"/>
                        <a:t>/</a:t>
                      </a:r>
                      <a:r>
                        <a:rPr kumimoji="1" lang="ja-JP" altLang="en-US" sz="2000" dirty="0"/>
                        <a:t>ベストプラクティスの効果的な利用</a:t>
                      </a:r>
                      <a:endParaRPr kumimoji="1" lang="en-US" altLang="ja-JP" sz="2000" dirty="0"/>
                    </a:p>
                  </a:txBody>
                  <a:tcPr/>
                </a:tc>
                <a:extLst>
                  <a:ext uri="{0D108BD9-81ED-4DB2-BD59-A6C34878D82A}">
                    <a16:rowId xmlns:a16="http://schemas.microsoft.com/office/drawing/2014/main" val="479711556"/>
                  </a:ext>
                </a:extLst>
              </a:tr>
            </a:tbl>
          </a:graphicData>
        </a:graphic>
      </p:graphicFrame>
    </p:spTree>
    <p:extLst>
      <p:ext uri="{BB962C8B-B14F-4D97-AF65-F5344CB8AC3E}">
        <p14:creationId xmlns:p14="http://schemas.microsoft.com/office/powerpoint/2010/main" val="102508685"/>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229429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フェーズ１の最初に明確にすること。</a:t>
            </a:r>
            <a:endParaRPr lang="en-US" altLang="ja-JP" sz="2400" dirty="0"/>
          </a:p>
          <a:p>
            <a:pPr marL="914400" lvl="1" indent="-457200">
              <a:lnSpc>
                <a:spcPct val="100000"/>
              </a:lnSpc>
              <a:buFont typeface="+mj-ea"/>
              <a:buAutoNum type="circleNumDbPlain"/>
            </a:pPr>
            <a:r>
              <a:rPr lang="ja-JP" altLang="en-US" dirty="0"/>
              <a:t>チームリーダーの選任と</a:t>
            </a:r>
            <a:r>
              <a:rPr lang="en-US" altLang="ja-JP" dirty="0"/>
              <a:t>APQP</a:t>
            </a:r>
            <a:r>
              <a:rPr lang="ja-JP" altLang="en-US" dirty="0"/>
              <a:t>チームの編成。（部門横断的編成）</a:t>
            </a:r>
            <a:endParaRPr lang="en-US" altLang="ja-JP" dirty="0"/>
          </a:p>
          <a:p>
            <a:pPr marL="914400" lvl="1" indent="-457200">
              <a:lnSpc>
                <a:spcPct val="100000"/>
              </a:lnSpc>
              <a:buFont typeface="+mj-ea"/>
              <a:buAutoNum type="circleNumDbPlain"/>
            </a:pPr>
            <a:r>
              <a:rPr lang="en-US" altLang="ja-JP" dirty="0"/>
              <a:t>APQP</a:t>
            </a:r>
            <a:r>
              <a:rPr lang="ja-JP" altLang="en-US" dirty="0"/>
              <a:t>の対象。（顧客及び製品など）</a:t>
            </a:r>
            <a:endParaRPr lang="en-US" altLang="ja-JP" dirty="0"/>
          </a:p>
          <a:p>
            <a:pPr marL="914400" lvl="1" indent="-457200">
              <a:lnSpc>
                <a:spcPct val="100000"/>
              </a:lnSpc>
              <a:buFont typeface="+mj-ea"/>
              <a:buAutoNum type="circleNumDbPlain"/>
            </a:pPr>
            <a:r>
              <a:rPr lang="en-US" altLang="ja-JP" dirty="0"/>
              <a:t>APQP</a:t>
            </a:r>
            <a:r>
              <a:rPr lang="ja-JP" altLang="en-US" dirty="0"/>
              <a:t>タイミングチャートの作成。</a:t>
            </a:r>
            <a:endParaRPr lang="en-US" altLang="ja-JP" dirty="0"/>
          </a:p>
          <a:p>
            <a:pPr marL="457200" indent="-457200">
              <a:lnSpc>
                <a:spcPct val="100000"/>
              </a:lnSpc>
              <a:buFont typeface="+mj-ea"/>
              <a:buAutoNum type="arabicPeriod"/>
            </a:pPr>
            <a:r>
              <a:rPr lang="ja-JP" altLang="en-US" sz="2400" dirty="0"/>
              <a:t>フェーズ１の詳細なインプット</a:t>
            </a:r>
            <a:endParaRPr lang="en-US" altLang="ja-JP" sz="2400" dirty="0"/>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675803598"/>
              </p:ext>
            </p:extLst>
          </p:nvPr>
        </p:nvGraphicFramePr>
        <p:xfrm>
          <a:off x="838199" y="3638349"/>
          <a:ext cx="10515600" cy="170688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顧客の声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外部顧客と内部顧客の声を考慮する。</a:t>
                      </a:r>
                      <a:endParaRPr kumimoji="1" lang="en-US" altLang="ja-JP" sz="2000" dirty="0"/>
                    </a:p>
                    <a:p>
                      <a:pPr marL="457200" indent="-457200">
                        <a:buFont typeface="+mj-ea"/>
                        <a:buAutoNum type="circleNumDbPlain"/>
                      </a:pPr>
                      <a:r>
                        <a:rPr kumimoji="1" lang="ja-JP" altLang="en-US" sz="2000" dirty="0"/>
                        <a:t>市場調査を行う。</a:t>
                      </a:r>
                      <a:endParaRPr kumimoji="1" lang="en-US" altLang="ja-JP" sz="2000" dirty="0"/>
                    </a:p>
                    <a:p>
                      <a:pPr marL="457200" indent="-457200">
                        <a:buFont typeface="+mj-ea"/>
                        <a:buAutoNum type="circleNumDbPlain"/>
                      </a:pPr>
                      <a:r>
                        <a:rPr kumimoji="1" lang="ja-JP" altLang="en-US" sz="2000" dirty="0"/>
                        <a:t>過去の品質情報を調査する。</a:t>
                      </a:r>
                      <a:endParaRPr kumimoji="1" lang="en-US" altLang="ja-JP" sz="2000" dirty="0"/>
                    </a:p>
                    <a:p>
                      <a:pPr marL="457200" indent="-457200">
                        <a:buFont typeface="+mj-ea"/>
                        <a:buAutoNum type="circleNumDbPlain"/>
                      </a:pPr>
                      <a:r>
                        <a:rPr kumimoji="1" lang="en-US" altLang="ja-JP" sz="2000" dirty="0"/>
                        <a:t>APQP</a:t>
                      </a:r>
                      <a:r>
                        <a:rPr kumimoji="1" lang="ja-JP" altLang="en-US" sz="2000" dirty="0"/>
                        <a:t>チームの経験を調査する。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bl>
          </a:graphicData>
        </a:graphic>
      </p:graphicFrame>
    </p:spTree>
    <p:extLst>
      <p:ext uri="{BB962C8B-B14F-4D97-AF65-F5344CB8AC3E}">
        <p14:creationId xmlns:p14="http://schemas.microsoft.com/office/powerpoint/2010/main" val="254275498"/>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912384445"/>
              </p:ext>
            </p:extLst>
          </p:nvPr>
        </p:nvGraphicFramePr>
        <p:xfrm>
          <a:off x="838200" y="1434164"/>
          <a:ext cx="10515600" cy="4541520"/>
        </p:xfrm>
        <a:graphic>
          <a:graphicData uri="http://schemas.openxmlformats.org/drawingml/2006/table">
            <a:tbl>
              <a:tblPr firstRow="1" bandRow="1">
                <a:tableStyleId>{5940675A-B579-460E-94D1-54222C63F5DA}</a:tableStyleId>
              </a:tblPr>
              <a:tblGrid>
                <a:gridCol w="2328512">
                  <a:extLst>
                    <a:ext uri="{9D8B030D-6E8A-4147-A177-3AD203B41FA5}">
                      <a16:colId xmlns:a16="http://schemas.microsoft.com/office/drawing/2014/main" val="3548991875"/>
                    </a:ext>
                  </a:extLst>
                </a:gridCol>
                <a:gridCol w="818708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事業計画・マーケティング戦略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顧客の事業計画を調査し、マーケティング戦略を作成する。</a:t>
                      </a:r>
                      <a:endParaRPr kumimoji="1" lang="en-US" altLang="ja-JP" sz="2000" dirty="0"/>
                    </a:p>
                    <a:p>
                      <a:pPr marL="457200" indent="-457200">
                        <a:buFont typeface="+mj-ea"/>
                        <a:buAutoNum type="circleNumDbPlain"/>
                      </a:pPr>
                      <a:r>
                        <a:rPr kumimoji="1" lang="ja-JP" altLang="en-US" sz="2000" dirty="0"/>
                        <a:t>事業計画では、</a:t>
                      </a:r>
                      <a:r>
                        <a:rPr kumimoji="1" lang="en-US" altLang="ja-JP" sz="2000" dirty="0"/>
                        <a:t>APQP</a:t>
                      </a:r>
                      <a:r>
                        <a:rPr kumimoji="1" lang="ja-JP" altLang="en-US" sz="2000" dirty="0"/>
                        <a:t>に影響を及ぼす条件（スケジュール、コスト、投資、製品の位置付け、研究開発資源など）を明確にする。</a:t>
                      </a:r>
                      <a:endParaRPr kumimoji="1" lang="en-US" altLang="ja-JP" sz="2000" dirty="0"/>
                    </a:p>
                    <a:p>
                      <a:pPr marL="457200" indent="-457200">
                        <a:buFont typeface="+mj-ea"/>
                        <a:buAutoNum type="circleNumDbPlain"/>
                      </a:pPr>
                      <a:r>
                        <a:rPr kumimoji="1" lang="ja-JP" altLang="en-US" sz="2000" dirty="0"/>
                        <a:t>マーケティング戦略によって、対象顧客、セールスポイント及び競争相手を明確にする。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製品・製造工程のベンチマークデータ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ベンチマーク（基準となるもの）によって、製品・製造工程の目標を設定するための条件が明確になる。</a:t>
                      </a:r>
                      <a:endParaRPr kumimoji="1" lang="en-US" altLang="ja-JP" sz="2000" dirty="0"/>
                    </a:p>
                    <a:p>
                      <a:pPr marL="457200" indent="-457200">
                        <a:buFont typeface="+mj-ea"/>
                        <a:buAutoNum type="circleNumDbPlain"/>
                      </a:pPr>
                      <a:r>
                        <a:rPr kumimoji="1" lang="ja-JP" altLang="en-US" sz="2000" dirty="0"/>
                        <a:t>研究開発の状況からも、ベンチマーク情報が得られる。</a:t>
                      </a:r>
                      <a:endParaRPr kumimoji="1" lang="en-US" altLang="ja-JP" sz="2000" dirty="0"/>
                    </a:p>
                    <a:p>
                      <a:pPr marL="457200" indent="-457200">
                        <a:buFont typeface="+mj-ea"/>
                        <a:buAutoNum type="circleNumDbPlain"/>
                      </a:pPr>
                      <a:r>
                        <a:rPr kumimoji="1" lang="ja-JP" altLang="en-US" sz="2000" dirty="0"/>
                        <a:t>ベンチマークを成功させる方法には、次のものがある。</a:t>
                      </a:r>
                      <a:endParaRPr kumimoji="1" lang="en-US" altLang="ja-JP" sz="2000" dirty="0"/>
                    </a:p>
                    <a:p>
                      <a:pPr marL="800100" lvl="1" indent="-342900">
                        <a:buFont typeface="Arial" panose="020B0604020202020204" pitchFamily="34" charset="0"/>
                        <a:buChar char="•"/>
                      </a:pPr>
                      <a:r>
                        <a:rPr kumimoji="1" lang="ja-JP" altLang="en-US" sz="2000" dirty="0"/>
                        <a:t>適切なベンチマークの設定</a:t>
                      </a:r>
                      <a:endParaRPr kumimoji="1" lang="en-US" altLang="ja-JP" sz="2000" dirty="0"/>
                    </a:p>
                    <a:p>
                      <a:pPr marL="800100" lvl="1" indent="-342900">
                        <a:buFont typeface="Arial" panose="020B0604020202020204" pitchFamily="34" charset="0"/>
                        <a:buChar char="•"/>
                      </a:pPr>
                      <a:r>
                        <a:rPr kumimoji="1" lang="ja-JP" altLang="en-US" sz="2000" dirty="0"/>
                        <a:t>現状とベンチマークとの間のギャップの理由の理解</a:t>
                      </a:r>
                      <a:endParaRPr kumimoji="1" lang="en-US" altLang="ja-JP" sz="2000" dirty="0"/>
                    </a:p>
                    <a:p>
                      <a:pPr marL="800100" lvl="1" indent="-342900">
                        <a:buFont typeface="Arial" panose="020B0604020202020204" pitchFamily="34" charset="0"/>
                        <a:buChar char="•"/>
                      </a:pPr>
                      <a:r>
                        <a:rPr kumimoji="1" lang="ja-JP" altLang="en-US" sz="2000" dirty="0"/>
                        <a:t>ギャップを小さくする、ベンチマークに到達する、又はベンチマークを超える計画</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060993"/>
                  </a:ext>
                </a:extLst>
              </a:tr>
            </a:tbl>
          </a:graphicData>
        </a:graphic>
      </p:graphicFrame>
    </p:spTree>
    <p:extLst>
      <p:ext uri="{BB962C8B-B14F-4D97-AF65-F5344CB8AC3E}">
        <p14:creationId xmlns:p14="http://schemas.microsoft.com/office/powerpoint/2010/main" val="1471217589"/>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3998406684"/>
              </p:ext>
            </p:extLst>
          </p:nvPr>
        </p:nvGraphicFramePr>
        <p:xfrm>
          <a:off x="838200" y="1434164"/>
          <a:ext cx="10515600" cy="3108960"/>
        </p:xfrm>
        <a:graphic>
          <a:graphicData uri="http://schemas.openxmlformats.org/drawingml/2006/table">
            <a:tbl>
              <a:tblPr firstRow="1" bandRow="1">
                <a:tableStyleId>{5940675A-B579-460E-94D1-54222C63F5DA}</a:tableStyleId>
              </a:tblPr>
              <a:tblGrid>
                <a:gridCol w="2328512">
                  <a:extLst>
                    <a:ext uri="{9D8B030D-6E8A-4147-A177-3AD203B41FA5}">
                      <a16:colId xmlns:a16="http://schemas.microsoft.com/office/drawing/2014/main" val="3548991875"/>
                    </a:ext>
                  </a:extLst>
                </a:gridCol>
                <a:gridCol w="818708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製品・製造工程の前提条件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製品の特徴、設計・製造工程の前提条件を明確にする。</a:t>
                      </a:r>
                      <a:endParaRPr kumimoji="1" lang="en-US" altLang="ja-JP" sz="2000" dirty="0"/>
                    </a:p>
                    <a:p>
                      <a:pPr marL="457200" indent="-457200">
                        <a:buFont typeface="+mj-ea"/>
                        <a:buAutoNum type="circleNumDbPlain"/>
                      </a:pPr>
                      <a:r>
                        <a:rPr kumimoji="1" lang="ja-JP" altLang="en-US" sz="2000" dirty="0"/>
                        <a:t>これには、技術革新、先進技術、信頼性評価及び新技術が含まれる。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製品の信頼性調査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指定期間内における製品の修理・交換の頻度及び長期信頼性・耐久性試験の結果を考慮する。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060993"/>
                  </a:ext>
                </a:extLst>
              </a:tr>
              <a:tr h="370840">
                <a:tc>
                  <a:txBody>
                    <a:bodyPr/>
                    <a:lstStyle/>
                    <a:p>
                      <a:r>
                        <a:rPr kumimoji="1" lang="ja-JP" altLang="en-US" sz="2000" dirty="0"/>
                        <a:t>顧客インプット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製品に対する顧客のニーズと期待をまとめる。</a:t>
                      </a:r>
                      <a:endParaRPr kumimoji="1" lang="en-US" altLang="ja-JP" sz="2000" dirty="0"/>
                    </a:p>
                    <a:p>
                      <a:pPr marL="457200" indent="-457200">
                        <a:buFont typeface="+mj-ea"/>
                        <a:buAutoNum type="circleNumDbPlain"/>
                      </a:pPr>
                      <a:r>
                        <a:rPr kumimoji="1" lang="ja-JP" altLang="en-US" sz="2000" dirty="0"/>
                        <a:t>顧客の声は、顧客の定性的な要求と期待、また顧客インプットは、顧客の具体的・定量的な要求と考えると良い。</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703705"/>
                  </a:ext>
                </a:extLst>
              </a:tr>
            </a:tbl>
          </a:graphicData>
        </a:graphic>
      </p:graphicFrame>
    </p:spTree>
    <p:extLst>
      <p:ext uri="{BB962C8B-B14F-4D97-AF65-F5344CB8AC3E}">
        <p14:creationId xmlns:p14="http://schemas.microsoft.com/office/powerpoint/2010/main" val="2932026513"/>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9"/>
            <a:ext cx="10515600" cy="48474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フェーズ１の詳細なアウトプット</a:t>
            </a:r>
            <a:endParaRPr lang="en-US" altLang="ja-JP" sz="2400" dirty="0"/>
          </a:p>
          <a:p>
            <a:pPr marL="514350" indent="-514350">
              <a:lnSpc>
                <a:spcPct val="100000"/>
              </a:lnSpc>
              <a:buFont typeface="+mj-lt"/>
              <a:buAutoNum type="arabicPeriod" startAt="3"/>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350883009"/>
              </p:ext>
            </p:extLst>
          </p:nvPr>
        </p:nvGraphicFramePr>
        <p:xfrm>
          <a:off x="838200" y="1828801"/>
          <a:ext cx="10515600" cy="381000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設計目標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設計目標として、顧客の要求・期待を定量的にまとめる。</a:t>
                      </a:r>
                      <a:endParaRPr kumimoji="1" lang="en-US" altLang="ja-JP" sz="2000" dirty="0"/>
                    </a:p>
                    <a:p>
                      <a:pPr marL="457200" indent="-457200">
                        <a:buFont typeface="+mj-ea"/>
                        <a:buAutoNum type="circleNumDbPlain"/>
                      </a:pPr>
                      <a:r>
                        <a:rPr kumimoji="1" lang="ja-JP" altLang="en-US" sz="2000" dirty="0"/>
                        <a:t>顧客の声には、法規制要求事項も含まれる。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信頼性目標・品質目標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信頼性目標は、顧客の要求と期待、</a:t>
                      </a:r>
                      <a:r>
                        <a:rPr kumimoji="1" lang="en-US" altLang="ja-JP" sz="2000" dirty="0"/>
                        <a:t>APQP</a:t>
                      </a:r>
                      <a:r>
                        <a:rPr kumimoji="1" lang="ja-JP" altLang="en-US" sz="2000" dirty="0"/>
                        <a:t>の目的及び信頼性ベンチマークに基づいて設定される。</a:t>
                      </a:r>
                      <a:endParaRPr kumimoji="1" lang="en-US" altLang="ja-JP" sz="2000" dirty="0"/>
                    </a:p>
                    <a:p>
                      <a:pPr marL="457200" indent="-457200">
                        <a:buFont typeface="+mj-ea"/>
                        <a:buAutoNum type="circleNumDbPlain"/>
                      </a:pPr>
                      <a:r>
                        <a:rPr kumimoji="1" lang="ja-JP" altLang="en-US" sz="2000" dirty="0"/>
                        <a:t>品質目標は、</a:t>
                      </a:r>
                      <a:r>
                        <a:rPr kumimoji="1" lang="en-US" altLang="ja-JP" sz="2000" dirty="0"/>
                        <a:t>ppm</a:t>
                      </a:r>
                      <a:r>
                        <a:rPr kumimoji="1" lang="ja-JP" altLang="en-US" sz="2000" dirty="0"/>
                        <a:t>（不良率）、問題水準又はスクラップ量削減などの指標に基づいたものとする。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428321"/>
                  </a:ext>
                </a:extLst>
              </a:tr>
              <a:tr h="370840">
                <a:tc>
                  <a:txBody>
                    <a:bodyPr/>
                    <a:lstStyle/>
                    <a:p>
                      <a:r>
                        <a:rPr kumimoji="1" lang="ja-JP" altLang="en-US" sz="2000" dirty="0"/>
                        <a:t>暫定材料明細表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製品・製造工程の前提条件を基に、暫定材料明細表を作成する。これには供給者のリストを含める。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2743847"/>
                  </a:ext>
                </a:extLst>
              </a:tr>
              <a:tr h="370840">
                <a:tc>
                  <a:txBody>
                    <a:bodyPr/>
                    <a:lstStyle/>
                    <a:p>
                      <a:r>
                        <a:rPr kumimoji="1" lang="ja-JP" altLang="en-US" sz="2000" dirty="0"/>
                        <a:t>暫定プロセスフロー図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暫定材料明細表及び製品・製造工程の前提条件を基に、暫定プロセスフロー図を作成する。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494671"/>
                  </a:ext>
                </a:extLst>
              </a:tr>
            </a:tbl>
          </a:graphicData>
        </a:graphic>
      </p:graphicFrame>
    </p:spTree>
    <p:extLst>
      <p:ext uri="{BB962C8B-B14F-4D97-AF65-F5344CB8AC3E}">
        <p14:creationId xmlns:p14="http://schemas.microsoft.com/office/powerpoint/2010/main" val="1846985672"/>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399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978321980"/>
              </p:ext>
            </p:extLst>
          </p:nvPr>
        </p:nvGraphicFramePr>
        <p:xfrm>
          <a:off x="838200" y="1443790"/>
          <a:ext cx="10515600" cy="45415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特殊製品特性・特殊プロセス特性の暫定リスト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特殊製品特性・特殊プロセス特性は、顧客が特定し、更に組織が追加する。</a:t>
                      </a:r>
                      <a:endParaRPr kumimoji="1" lang="en-US" altLang="ja-JP" sz="2000" dirty="0"/>
                    </a:p>
                    <a:p>
                      <a:pPr marL="457200" indent="-457200">
                        <a:buFont typeface="+mj-ea"/>
                        <a:buAutoNum type="circleNumDbPlain"/>
                      </a:pPr>
                      <a:r>
                        <a:rPr kumimoji="1" lang="ja-JP" altLang="en-US" sz="2000" dirty="0"/>
                        <a:t>特殊特性を特定するためのインプット情報の例には、次のものが含まれる。</a:t>
                      </a:r>
                      <a:endParaRPr kumimoji="1" lang="en-US" altLang="ja-JP" sz="2000" dirty="0"/>
                    </a:p>
                    <a:p>
                      <a:pPr marL="800100" lvl="1" indent="-342900">
                        <a:buFont typeface="Arial" panose="020B0604020202020204" pitchFamily="34" charset="0"/>
                        <a:buChar char="•"/>
                      </a:pPr>
                      <a:r>
                        <a:rPr kumimoji="1" lang="ja-JP" altLang="en-US" sz="2000" dirty="0"/>
                        <a:t>顧客のニーズ・期待の分析を基にした製品の前提条件</a:t>
                      </a:r>
                      <a:endParaRPr kumimoji="1" lang="en-US" altLang="ja-JP" sz="2000" dirty="0"/>
                    </a:p>
                    <a:p>
                      <a:pPr marL="800100" lvl="1" indent="-342900">
                        <a:buFont typeface="Arial" panose="020B0604020202020204" pitchFamily="34" charset="0"/>
                        <a:buChar char="•"/>
                      </a:pPr>
                      <a:r>
                        <a:rPr kumimoji="1" lang="ja-JP" altLang="en-US" sz="2000" dirty="0"/>
                        <a:t>信頼性到達目標及び要求事項の特定</a:t>
                      </a:r>
                      <a:endParaRPr kumimoji="1" lang="en-US" altLang="ja-JP" sz="2000" dirty="0"/>
                    </a:p>
                    <a:p>
                      <a:pPr marL="800100" lvl="1" indent="-342900">
                        <a:buFont typeface="Arial" panose="020B0604020202020204" pitchFamily="34" charset="0"/>
                        <a:buChar char="•"/>
                      </a:pPr>
                      <a:r>
                        <a:rPr kumimoji="1" lang="ja-JP" altLang="en-US" sz="2000" dirty="0"/>
                        <a:t>想定する製造プロセスにおける特殊プロセス特性の特定</a:t>
                      </a:r>
                      <a:endParaRPr kumimoji="1" lang="en-US" altLang="ja-JP" sz="2000" dirty="0"/>
                    </a:p>
                    <a:p>
                      <a:pPr marL="800100" lvl="1" indent="-342900">
                        <a:buFont typeface="Arial" panose="020B0604020202020204" pitchFamily="34" charset="0"/>
                        <a:buChar char="•"/>
                      </a:pPr>
                      <a:r>
                        <a:rPr kumimoji="1" lang="ja-JP" altLang="en-US" sz="2000" dirty="0"/>
                        <a:t>類似製品の</a:t>
                      </a:r>
                      <a:r>
                        <a:rPr kumimoji="1" lang="en-US" altLang="ja-JP" sz="2000" dirty="0"/>
                        <a:t>FMEA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製品保証計画書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製品保証計画書は、設計目標を設計要求事項に変換したものであり、顧客のニーズ・期待に基づく。</a:t>
                      </a:r>
                      <a:endParaRPr kumimoji="1" lang="en-US" altLang="ja-JP" sz="2000" dirty="0"/>
                    </a:p>
                    <a:p>
                      <a:pPr marL="457200" indent="-457200">
                        <a:buFont typeface="+mj-ea"/>
                        <a:buAutoNum type="circleNumDbPlain"/>
                      </a:pPr>
                      <a:r>
                        <a:rPr kumimoji="1" lang="ja-JP" altLang="en-US" sz="2000" dirty="0"/>
                        <a:t>製品保証計画書には、次の事項を含める。</a:t>
                      </a:r>
                      <a:endParaRPr kumimoji="1" lang="en-US" altLang="ja-JP" sz="2000" dirty="0"/>
                    </a:p>
                    <a:p>
                      <a:pPr marL="800100" lvl="1" indent="-342900">
                        <a:buFont typeface="Arial" panose="020B0604020202020204" pitchFamily="34" charset="0"/>
                        <a:buChar char="•"/>
                      </a:pPr>
                      <a:r>
                        <a:rPr kumimoji="1" lang="en-US" altLang="ja-JP" sz="2000" dirty="0"/>
                        <a:t>APQP</a:t>
                      </a:r>
                      <a:r>
                        <a:rPr kumimoji="1" lang="ja-JP" altLang="en-US" sz="2000" dirty="0"/>
                        <a:t>プログラム要求事項の概要</a:t>
                      </a:r>
                      <a:endParaRPr kumimoji="1" lang="en-US" altLang="ja-JP" sz="2000" dirty="0"/>
                    </a:p>
                    <a:p>
                      <a:pPr marL="800100" lvl="1" indent="-342900">
                        <a:buFont typeface="Arial" panose="020B0604020202020204" pitchFamily="34" charset="0"/>
                        <a:buChar char="•"/>
                      </a:pPr>
                      <a:r>
                        <a:rPr kumimoji="1" lang="ja-JP" altLang="en-US" sz="2000" dirty="0"/>
                        <a:t>信頼性・耐久性目標及び要求事項の特定</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428321"/>
                  </a:ext>
                </a:extLst>
              </a:tr>
            </a:tbl>
          </a:graphicData>
        </a:graphic>
      </p:graphicFrame>
    </p:spTree>
    <p:extLst>
      <p:ext uri="{BB962C8B-B14F-4D97-AF65-F5344CB8AC3E}">
        <p14:creationId xmlns:p14="http://schemas.microsoft.com/office/powerpoint/2010/main" val="3776099754"/>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1985971319"/>
              </p:ext>
            </p:extLst>
          </p:nvPr>
        </p:nvGraphicFramePr>
        <p:xfrm>
          <a:off x="838200" y="1463040"/>
          <a:ext cx="10515600" cy="39319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製品保証計画書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00100" lvl="1" indent="-342900">
                        <a:buFont typeface="Arial" panose="020B0604020202020204" pitchFamily="34" charset="0"/>
                        <a:buChar char="•"/>
                      </a:pPr>
                      <a:r>
                        <a:rPr kumimoji="1" lang="ja-JP" altLang="en-US" sz="2000" dirty="0"/>
                        <a:t>新技術、複雑さ、材料、適用、環境、梱包、サービス及び製造要求事項</a:t>
                      </a:r>
                      <a:endParaRPr kumimoji="1" lang="en-US" altLang="ja-JP" sz="2000" dirty="0"/>
                    </a:p>
                    <a:p>
                      <a:pPr marL="800100" lvl="1" indent="-342900">
                        <a:buFont typeface="Arial" panose="020B0604020202020204" pitchFamily="34" charset="0"/>
                        <a:buChar char="•"/>
                      </a:pPr>
                      <a:r>
                        <a:rPr kumimoji="1" lang="en-US" altLang="ja-JP" sz="2000" dirty="0"/>
                        <a:t>FMEA</a:t>
                      </a:r>
                      <a:r>
                        <a:rPr kumimoji="1" lang="ja-JP" altLang="en-US" sz="2000" dirty="0"/>
                        <a:t>の利用など</a:t>
                      </a:r>
                      <a:endParaRPr kumimoji="1" lang="en-US" altLang="ja-JP" sz="2000" dirty="0"/>
                    </a:p>
                    <a:p>
                      <a:pPr marL="457200" indent="-457200">
                        <a:buFont typeface="+mj-ea"/>
                        <a:buAutoNum type="circleNumDbPlain" startAt="3"/>
                      </a:pPr>
                      <a:r>
                        <a:rPr kumimoji="1" lang="ja-JP" altLang="en-US" sz="2000" dirty="0"/>
                        <a:t>製品保証計画書は、新製品の設計・開発計画書に相当する。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経営者の支援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経営者の製品品質計画会議への参加は不可欠である。</a:t>
                      </a:r>
                      <a:endParaRPr kumimoji="1" lang="en-US" altLang="ja-JP" sz="2000" dirty="0"/>
                    </a:p>
                    <a:p>
                      <a:pPr marL="457200" indent="-457200">
                        <a:buFont typeface="+mj-ea"/>
                        <a:buAutoNum type="circleNumDbPlain"/>
                      </a:pPr>
                      <a:r>
                        <a:rPr kumimoji="1" lang="en-US" altLang="ja-JP" sz="2000" dirty="0"/>
                        <a:t>APQP</a:t>
                      </a:r>
                      <a:r>
                        <a:rPr kumimoji="1" lang="ja-JP" altLang="en-US" sz="2000" dirty="0"/>
                        <a:t>の各フェーズの終了時に、経営者に最新情報を提供する。</a:t>
                      </a:r>
                      <a:endParaRPr kumimoji="1" lang="en-US" altLang="ja-JP" sz="2000" dirty="0"/>
                    </a:p>
                    <a:p>
                      <a:pPr marL="457200" indent="-457200">
                        <a:buFont typeface="+mj-ea"/>
                        <a:buAutoNum type="circleNumDbPlain"/>
                      </a:pPr>
                      <a:r>
                        <a:rPr kumimoji="1" lang="ja-JP" altLang="en-US" sz="2000" dirty="0">
                          <a:solidFill>
                            <a:schemeClr val="tx1"/>
                          </a:solidFill>
                          <a:effectLst/>
                        </a:rPr>
                        <a:t>重要なことは、</a:t>
                      </a:r>
                      <a:r>
                        <a:rPr kumimoji="1" lang="ja-JP" altLang="en-US" sz="2000" dirty="0">
                          <a:solidFill>
                            <a:srgbClr val="FF0000"/>
                          </a:solidFill>
                          <a:effectLst>
                            <a:outerShdw blurRad="38100" dist="38100" dir="2700000" algn="tl">
                              <a:srgbClr val="000000">
                                <a:alpha val="43137"/>
                              </a:srgbClr>
                            </a:outerShdw>
                          </a:effectLst>
                        </a:rPr>
                        <a:t>要求事項が満たされていること及び懸念事項が文書化され、解決のスケジュールが立てられていることを実証することによって、経営者の支援を得る</a:t>
                      </a:r>
                      <a:r>
                        <a:rPr kumimoji="1" lang="ja-JP" altLang="en-US" sz="2000" dirty="0">
                          <a:solidFill>
                            <a:schemeClr val="tx1"/>
                          </a:solidFill>
                          <a:effectLst/>
                        </a:rPr>
                        <a:t>ことである。</a:t>
                      </a:r>
                      <a:endParaRPr kumimoji="1" lang="en-US" altLang="ja-JP" sz="2000" dirty="0">
                        <a:solidFill>
                          <a:schemeClr val="tx1"/>
                        </a:solidFill>
                        <a:effectLst/>
                      </a:endParaRPr>
                    </a:p>
                    <a:p>
                      <a:pPr marL="457200" indent="-457200">
                        <a:buFont typeface="+mj-ea"/>
                        <a:buAutoNum type="circleNumDbPlain"/>
                      </a:pPr>
                      <a:r>
                        <a:rPr kumimoji="1" lang="ja-JP" altLang="en-US" sz="2000" dirty="0"/>
                        <a:t>必要な生産能力を確保するための経営資源及び人員配置に関する、</a:t>
                      </a:r>
                      <a:r>
                        <a:rPr kumimoji="1" lang="en-US" altLang="ja-JP" sz="2000" dirty="0"/>
                        <a:t>APQP</a:t>
                      </a:r>
                      <a:r>
                        <a:rPr kumimoji="1" lang="ja-JP" altLang="en-US" sz="2000" dirty="0"/>
                        <a:t>プログラムのスケジュールが含まれる。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428321"/>
                  </a:ext>
                </a:extLst>
              </a:tr>
            </a:tbl>
          </a:graphicData>
        </a:graphic>
      </p:graphicFrame>
    </p:spTree>
    <p:extLst>
      <p:ext uri="{BB962C8B-B14F-4D97-AF65-F5344CB8AC3E}">
        <p14:creationId xmlns:p14="http://schemas.microsoft.com/office/powerpoint/2010/main" val="71973002"/>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２．ＡＰＱＰ（フェーズ１）</a:t>
            </a:r>
          </a:p>
        </p:txBody>
      </p:sp>
      <p:pic>
        <p:nvPicPr>
          <p:cNvPr id="6" name="図 5">
            <a:extLst>
              <a:ext uri="{FF2B5EF4-FFF2-40B4-BE49-F238E27FC236}">
                <a16:creationId xmlns:a16="http://schemas.microsoft.com/office/drawing/2014/main" id="{D6208465-7504-46A3-9770-E75EE24B2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295400"/>
            <a:ext cx="10515599" cy="5062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770788"/>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2499360"/>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フェーズ２の要点。</a:t>
            </a:r>
            <a:endParaRPr lang="en-US" altLang="ja-JP" sz="2400" dirty="0"/>
          </a:p>
          <a:p>
            <a:pPr marL="914400" lvl="1" indent="-457200">
              <a:lnSpc>
                <a:spcPct val="100000"/>
              </a:lnSpc>
              <a:buFont typeface="+mj-ea"/>
              <a:buAutoNum type="circleNumDbPlain"/>
            </a:pPr>
            <a:r>
              <a:rPr lang="ja-JP" altLang="en-US" dirty="0"/>
              <a:t>フェーズ２は「製品の設計・開発」であるため、最初に設計</a:t>
            </a:r>
            <a:r>
              <a:rPr lang="en-US" altLang="ja-JP" dirty="0"/>
              <a:t>FMEA</a:t>
            </a:r>
            <a:r>
              <a:rPr lang="ja-JP" altLang="en-US" dirty="0"/>
              <a:t>を実施することが重要。</a:t>
            </a:r>
            <a:endParaRPr lang="en-US" altLang="ja-JP" dirty="0"/>
          </a:p>
          <a:p>
            <a:pPr marL="914400" lvl="1" indent="-457200">
              <a:lnSpc>
                <a:spcPct val="100000"/>
              </a:lnSpc>
              <a:buFont typeface="+mj-ea"/>
              <a:buAutoNum type="circleNumDbPlain"/>
            </a:pPr>
            <a:r>
              <a:rPr lang="ja-JP" altLang="en-US" dirty="0"/>
              <a:t>フェーズ２の段階で、製造性及び組立性の検討を含める。</a:t>
            </a:r>
            <a:endParaRPr lang="en-US" altLang="ja-JP" dirty="0"/>
          </a:p>
          <a:p>
            <a:pPr marL="914400" lvl="1" indent="-457200">
              <a:lnSpc>
                <a:spcPct val="100000"/>
              </a:lnSpc>
              <a:buFont typeface="+mj-ea"/>
              <a:buAutoNum type="circleNumDbPlain"/>
            </a:pPr>
            <a:r>
              <a:rPr lang="ja-JP" altLang="en-US" dirty="0"/>
              <a:t>最後に、製品実現の可能性について結論を出す。</a:t>
            </a:r>
            <a:endParaRPr lang="en-US" altLang="ja-JP" dirty="0"/>
          </a:p>
          <a:p>
            <a:pPr marL="457200" indent="-457200">
              <a:lnSpc>
                <a:spcPct val="100000"/>
              </a:lnSpc>
              <a:buFont typeface="+mj-ea"/>
              <a:buAutoNum type="arabicPeriod"/>
            </a:pPr>
            <a:r>
              <a:rPr lang="ja-JP" altLang="en-US" sz="2400" dirty="0"/>
              <a:t>フェーズ２の詳細なアウトプット。</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586216097"/>
              </p:ext>
            </p:extLst>
          </p:nvPr>
        </p:nvGraphicFramePr>
        <p:xfrm>
          <a:off x="838200" y="3840677"/>
          <a:ext cx="10515600" cy="24993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設計</a:t>
                      </a:r>
                      <a:r>
                        <a:rPr kumimoji="1" lang="en-US" altLang="ja-JP" sz="2000" dirty="0"/>
                        <a:t>FMEA</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設計</a:t>
                      </a:r>
                      <a:r>
                        <a:rPr kumimoji="1" lang="en-US" altLang="ja-JP" sz="2000" dirty="0"/>
                        <a:t>FMEA</a:t>
                      </a:r>
                      <a:r>
                        <a:rPr kumimoji="1" lang="ja-JP" altLang="en-US" sz="2000" dirty="0"/>
                        <a:t>は、発生する可能性のある故障の確率と、その故障が発生した場合の影響を評価するための解析的手法である。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製造性・組立性を考慮した設計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設計機能（製品特性）と製造・組立の容易さの関係の最適化を検討する。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設計検証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製品設計の結果が、</a:t>
                      </a:r>
                      <a:r>
                        <a:rPr kumimoji="1" lang="en-US" altLang="ja-JP" sz="2000" dirty="0"/>
                        <a:t>APQP</a:t>
                      </a:r>
                      <a:r>
                        <a:rPr kumimoji="1" lang="ja-JP" altLang="en-US" sz="2000" dirty="0"/>
                        <a:t>フェーズ１のアウトプットである、顧客要求事項を満たしていることを検証する。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565088"/>
                  </a:ext>
                </a:extLst>
              </a:tr>
            </a:tbl>
          </a:graphicData>
        </a:graphic>
      </p:graphicFrame>
    </p:spTree>
    <p:extLst>
      <p:ext uri="{BB962C8B-B14F-4D97-AF65-F5344CB8AC3E}">
        <p14:creationId xmlns:p14="http://schemas.microsoft.com/office/powerpoint/2010/main" val="2037285478"/>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199887103"/>
              </p:ext>
            </p:extLst>
          </p:nvPr>
        </p:nvGraphicFramePr>
        <p:xfrm>
          <a:off x="838200" y="1472862"/>
          <a:ext cx="10515600" cy="48463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デザインレビュー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デザインレビューは、設計技術部門が主催する定期的なレビュー会議である。</a:t>
                      </a:r>
                      <a:endParaRPr kumimoji="1" lang="en-US" altLang="ja-JP" sz="2000" dirty="0"/>
                    </a:p>
                    <a:p>
                      <a:pPr marL="457200" indent="-457200">
                        <a:buFont typeface="+mj-ea"/>
                        <a:buAutoNum type="circleNumDbPlain"/>
                      </a:pPr>
                      <a:r>
                        <a:rPr kumimoji="1" lang="ja-JP" altLang="en-US" sz="2000" dirty="0"/>
                        <a:t>デザインレビューには、次の項目に対する評価を含める。</a:t>
                      </a:r>
                      <a:endParaRPr kumimoji="1" lang="en-US" altLang="ja-JP" sz="2000" dirty="0"/>
                    </a:p>
                    <a:p>
                      <a:pPr marL="800100" lvl="1" indent="-342900">
                        <a:buFont typeface="Arial" panose="020B0604020202020204" pitchFamily="34" charset="0"/>
                        <a:buChar char="•"/>
                      </a:pPr>
                      <a:r>
                        <a:rPr kumimoji="1" lang="ja-JP" altLang="en-US" sz="2000" dirty="0"/>
                        <a:t>設計・機能要求事項</a:t>
                      </a:r>
                      <a:endParaRPr kumimoji="1" lang="en-US" altLang="ja-JP" sz="2000" dirty="0"/>
                    </a:p>
                    <a:p>
                      <a:pPr marL="800100" lvl="1" indent="-342900">
                        <a:buFont typeface="Arial" panose="020B0604020202020204" pitchFamily="34" charset="0"/>
                        <a:buChar char="•"/>
                      </a:pPr>
                      <a:r>
                        <a:rPr kumimoji="1" lang="ja-JP" altLang="en-US" sz="2000" dirty="0"/>
                        <a:t>信頼性の到達目標</a:t>
                      </a:r>
                      <a:endParaRPr kumimoji="1" lang="en-US" altLang="ja-JP" sz="2000" dirty="0"/>
                    </a:p>
                    <a:p>
                      <a:pPr marL="800100" lvl="1" indent="-342900">
                        <a:buFont typeface="Arial" panose="020B0604020202020204" pitchFamily="34" charset="0"/>
                        <a:buChar char="•"/>
                      </a:pPr>
                      <a:r>
                        <a:rPr kumimoji="1" lang="ja-JP" altLang="en-US" sz="2000" dirty="0"/>
                        <a:t>コンピューターシュミレーション及びベンチマークテスト結果</a:t>
                      </a:r>
                      <a:endParaRPr kumimoji="1" lang="en-US" altLang="ja-JP" sz="2000" dirty="0"/>
                    </a:p>
                    <a:p>
                      <a:pPr marL="800100" lvl="1" indent="-342900">
                        <a:buFont typeface="Arial" panose="020B0604020202020204" pitchFamily="34" charset="0"/>
                        <a:buChar char="•"/>
                      </a:pPr>
                      <a:r>
                        <a:rPr kumimoji="1" lang="ja-JP" altLang="en-US" sz="2000" dirty="0"/>
                        <a:t>設計</a:t>
                      </a:r>
                      <a:r>
                        <a:rPr kumimoji="1" lang="en-US" altLang="ja-JP" sz="2000" dirty="0"/>
                        <a:t>FMEA</a:t>
                      </a:r>
                    </a:p>
                    <a:p>
                      <a:pPr marL="800100" lvl="1" indent="-342900">
                        <a:buFont typeface="Arial" panose="020B0604020202020204" pitchFamily="34" charset="0"/>
                        <a:buChar char="•"/>
                      </a:pPr>
                      <a:r>
                        <a:rPr kumimoji="1" lang="ja-JP" altLang="en-US" sz="2000" dirty="0"/>
                        <a:t>製造性・組立性を考慮した設計のレビュー</a:t>
                      </a:r>
                      <a:endParaRPr kumimoji="1" lang="en-US" altLang="ja-JP" sz="2000" dirty="0"/>
                    </a:p>
                    <a:p>
                      <a:pPr marL="800100" lvl="1" indent="-342900">
                        <a:buFont typeface="Arial" panose="020B0604020202020204" pitchFamily="34" charset="0"/>
                        <a:buChar char="•"/>
                      </a:pPr>
                      <a:r>
                        <a:rPr kumimoji="1" lang="ja-JP" altLang="en-US" sz="2000" dirty="0"/>
                        <a:t>実験計画法（</a:t>
                      </a:r>
                      <a:r>
                        <a:rPr kumimoji="1" lang="en-US" altLang="ja-JP" sz="2000" dirty="0"/>
                        <a:t>DOE</a:t>
                      </a:r>
                      <a:r>
                        <a:rPr kumimoji="1" lang="ja-JP" altLang="en-US" sz="2000" dirty="0"/>
                        <a:t>）など</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試作コントロールプラン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試作コントロールプランは、試作段階における寸法測定、材料・機能試験について記述したものである。</a:t>
                      </a:r>
                      <a:endParaRPr kumimoji="1" lang="en-US" altLang="ja-JP" sz="2000" dirty="0"/>
                    </a:p>
                    <a:p>
                      <a:pPr marL="457200" indent="-457200">
                        <a:buFont typeface="+mj-ea"/>
                        <a:buAutoNum type="circleNumDbPlain"/>
                      </a:pPr>
                      <a:r>
                        <a:rPr kumimoji="1" lang="ja-JP" altLang="en-US" sz="2000" dirty="0"/>
                        <a:t>次の事項について、試作品をレビューする。</a:t>
                      </a:r>
                      <a:endParaRPr kumimoji="1" lang="en-US" altLang="ja-JP" sz="2000" dirty="0"/>
                    </a:p>
                    <a:p>
                      <a:pPr marL="800100" lvl="1" indent="-342900">
                        <a:buFont typeface="Arial" panose="020B0604020202020204" pitchFamily="34" charset="0"/>
                        <a:buChar char="•"/>
                      </a:pPr>
                      <a:r>
                        <a:rPr kumimoji="1" lang="ja-JP" altLang="en-US" sz="2000" dirty="0"/>
                        <a:t>製品・サービスが、要求通りの仕様書及びデータを満たしていることを保証する。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3834587071"/>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4215452909"/>
              </p:ext>
            </p:extLst>
          </p:nvPr>
        </p:nvGraphicFramePr>
        <p:xfrm>
          <a:off x="838200" y="1472862"/>
          <a:ext cx="10515600" cy="42367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試作コントロールプラン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00100" lvl="1" indent="-342900">
                        <a:buFont typeface="Arial" panose="020B0604020202020204" pitchFamily="34" charset="0"/>
                        <a:buChar char="•"/>
                      </a:pPr>
                      <a:r>
                        <a:rPr kumimoji="1" lang="ja-JP" altLang="en-US" sz="2000" dirty="0"/>
                        <a:t>特殊製品特性・特殊プロセス特性に特別の注意を払う。</a:t>
                      </a:r>
                      <a:endParaRPr kumimoji="1" lang="en-US" altLang="ja-JP" sz="2000" dirty="0"/>
                    </a:p>
                    <a:p>
                      <a:pPr marL="800100" lvl="1" indent="-342900">
                        <a:buFont typeface="Arial" panose="020B0604020202020204" pitchFamily="34" charset="0"/>
                        <a:buChar char="•"/>
                      </a:pPr>
                      <a:r>
                        <a:rPr kumimoji="1" lang="ja-JP" altLang="en-US" sz="2000" dirty="0"/>
                        <a:t>暫定的な工程パラメータ及び梱包要求事項を設定する。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図面（数学的データ含む）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顧客が設計を行った場合でも、組織には図面を検討する責任がある。</a:t>
                      </a:r>
                      <a:endParaRPr kumimoji="1" lang="en-US" altLang="ja-JP" sz="2000" dirty="0"/>
                    </a:p>
                    <a:p>
                      <a:pPr marL="457200" indent="-457200">
                        <a:buFont typeface="+mj-ea"/>
                        <a:buAutoNum type="circleNumDbPlain"/>
                      </a:pPr>
                      <a:r>
                        <a:rPr kumimoji="1" lang="ja-JP" altLang="en-US" sz="2000" dirty="0"/>
                        <a:t>顧客の図面が存在しない場合、組付け、機能、耐久性及び法規制要求事項に影響する特性を決定するために、管理用の図面をレビューする。</a:t>
                      </a:r>
                      <a:endParaRPr kumimoji="1" lang="en-US" altLang="ja-JP" sz="2000" dirty="0"/>
                    </a:p>
                    <a:p>
                      <a:pPr marL="457200" indent="-457200">
                        <a:buFont typeface="+mj-ea"/>
                        <a:buAutoNum type="circleNumDbPlain"/>
                      </a:pPr>
                      <a:r>
                        <a:rPr kumimoji="1" lang="ja-JP" altLang="en-US" sz="2000" dirty="0"/>
                        <a:t>実現可能性及び業界の製造・測定規格との一貫性を保証するために寸法評価を行う。</a:t>
                      </a:r>
                      <a:endParaRPr kumimoji="1" lang="en-US" altLang="ja-JP" sz="2000" dirty="0"/>
                    </a:p>
                    <a:p>
                      <a:pPr marL="457200" indent="-457200">
                        <a:buFont typeface="+mj-ea"/>
                        <a:buAutoNum type="circleNumDbPlain"/>
                      </a:pPr>
                      <a:r>
                        <a:rPr kumimoji="1" lang="ja-JP" altLang="en-US" sz="2000" dirty="0"/>
                        <a:t>（該当する場合）効果的な双方向コミュニケーションを可能にするために、数学的データを顧客のシステムで扱える形にすることを保証する。（顧客と共通の</a:t>
                      </a:r>
                      <a:r>
                        <a:rPr kumimoji="1" lang="en-US" altLang="ja-JP" sz="2000" dirty="0"/>
                        <a:t>CAD</a:t>
                      </a:r>
                      <a:r>
                        <a:rPr kumimoji="1" lang="ja-JP" altLang="en-US" sz="2000" dirty="0"/>
                        <a:t>システムなど）</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405014189"/>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667916456"/>
              </p:ext>
            </p:extLst>
          </p:nvPr>
        </p:nvGraphicFramePr>
        <p:xfrm>
          <a:off x="838200" y="1472862"/>
          <a:ext cx="10515600" cy="37185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技術仕様書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仕様書の詳細なレビューと理解は、対象となっているコンポーネント又は組立品の機能、耐久性及び外観に関する要求事項を特定するのに役立つ。</a:t>
                      </a:r>
                      <a:endParaRPr kumimoji="1" lang="en-US" altLang="ja-JP" sz="2000" dirty="0"/>
                    </a:p>
                    <a:p>
                      <a:pPr marL="457200" indent="-457200">
                        <a:buFont typeface="+mj-ea"/>
                        <a:buAutoNum type="circleNumDbPlain"/>
                      </a:pPr>
                      <a:r>
                        <a:rPr kumimoji="1" lang="ja-JP" altLang="en-US" sz="2000" dirty="0"/>
                        <a:t>どの特性が機能、耐久性及び外観に関する要求事項の満足に影響するかをけっていする。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材料仕様書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図面・性能仕様書に加えて、物理的性質、性能、環境、取扱い及び貯蔵の各要求事項に関連する特殊特性について、材料仕様書をレビューする。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図面・仕様書の変更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図面及び仕様書の変更が必要となる場合、その変更が影響する部門に速やかに伝えられ、適切に文書化されることを確実にする。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2230249"/>
                  </a:ext>
                </a:extLst>
              </a:tr>
            </a:tbl>
          </a:graphicData>
        </a:graphic>
      </p:graphicFrame>
    </p:spTree>
    <p:extLst>
      <p:ext uri="{BB962C8B-B14F-4D97-AF65-F5344CB8AC3E}">
        <p14:creationId xmlns:p14="http://schemas.microsoft.com/office/powerpoint/2010/main" val="3812236672"/>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746144450"/>
              </p:ext>
            </p:extLst>
          </p:nvPr>
        </p:nvGraphicFramePr>
        <p:xfrm>
          <a:off x="838200" y="1472862"/>
          <a:ext cx="10515600" cy="46329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新規の装置・治工具・施設に関する要求事項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設計</a:t>
                      </a:r>
                      <a:r>
                        <a:rPr kumimoji="1" lang="en-US" altLang="ja-JP" sz="2000" dirty="0"/>
                        <a:t>FMEA</a:t>
                      </a:r>
                      <a:r>
                        <a:rPr kumimoji="1" lang="ja-JP" altLang="en-US" sz="2000" dirty="0"/>
                        <a:t>、製品保証計画書及びデザインレビューにおいて、新規装置・施設が、生産能力要求事項を満たすことを確認する。</a:t>
                      </a:r>
                      <a:endParaRPr kumimoji="1" lang="en-US" altLang="ja-JP" sz="2000" dirty="0"/>
                    </a:p>
                    <a:p>
                      <a:pPr marL="457200" indent="-457200">
                        <a:buFont typeface="+mj-ea"/>
                        <a:buAutoNum type="circleNumDbPlain"/>
                      </a:pPr>
                      <a:r>
                        <a:rPr kumimoji="1" lang="ja-JP" altLang="en-US" sz="2000" dirty="0"/>
                        <a:t>これらの要求事項をタイミングチャートに追加する。</a:t>
                      </a:r>
                      <a:endParaRPr kumimoji="1" lang="en-US" altLang="ja-JP" sz="2000" dirty="0"/>
                    </a:p>
                    <a:p>
                      <a:pPr marL="457200" indent="-457200">
                        <a:buFont typeface="+mj-ea"/>
                        <a:buAutoNum type="circleNumDbPlain"/>
                      </a:pPr>
                      <a:r>
                        <a:rPr kumimoji="1" lang="ja-JP" altLang="en-US" sz="2000" dirty="0"/>
                        <a:t>新規の装置・治工具が、必要な性能を備え、期日通りに引渡しが行われることを保証する。</a:t>
                      </a:r>
                      <a:endParaRPr kumimoji="1" lang="en-US" altLang="ja-JP" sz="2000" dirty="0"/>
                    </a:p>
                    <a:p>
                      <a:pPr marL="457200" indent="-457200">
                        <a:buFont typeface="+mj-ea"/>
                        <a:buAutoNum type="circleNumDbPlain"/>
                      </a:pPr>
                      <a:r>
                        <a:rPr kumimoji="1" lang="ja-JP" altLang="en-US" sz="2000" dirty="0"/>
                        <a:t>量産テストの予定期日前に施設が完成することを確実にするために、進捗状況を監視する。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特殊製品特性・特殊プロセス特性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フェーズ１で特定した暫定リストを検討する。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ゲージ・試験装置の要求事項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ゲージ・試験装置に関する要求事項を明確にする。</a:t>
                      </a:r>
                      <a:endParaRPr kumimoji="1" lang="en-US" altLang="ja-JP" sz="2000" dirty="0"/>
                    </a:p>
                    <a:p>
                      <a:pPr marL="457200" indent="-457200">
                        <a:buFont typeface="+mj-ea"/>
                        <a:buAutoNum type="circleNumDbPlain"/>
                      </a:pPr>
                      <a:r>
                        <a:rPr kumimoji="1" lang="ja-JP" altLang="en-US" sz="2000" dirty="0"/>
                        <a:t>これらの要求事項をタイミングチャートに追加する。</a:t>
                      </a:r>
                      <a:endParaRPr kumimoji="1" lang="en-US" altLang="ja-JP" sz="2000" dirty="0"/>
                    </a:p>
                    <a:p>
                      <a:pPr marL="457200" indent="-457200">
                        <a:buFont typeface="+mj-ea"/>
                        <a:buAutoNum type="circleNumDbPlain"/>
                      </a:pPr>
                      <a:r>
                        <a:rPr kumimoji="1" lang="ja-JP" altLang="en-US" sz="2000" dirty="0"/>
                        <a:t>要求されるタイミングが満たされていることを保証するために、進捗状況を監視する。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1299113"/>
                  </a:ext>
                </a:extLst>
              </a:tr>
            </a:tbl>
          </a:graphicData>
        </a:graphic>
      </p:graphicFrame>
    </p:spTree>
    <p:extLst>
      <p:ext uri="{BB962C8B-B14F-4D97-AF65-F5344CB8AC3E}">
        <p14:creationId xmlns:p14="http://schemas.microsoft.com/office/powerpoint/2010/main" val="2804524551"/>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824508217"/>
              </p:ext>
            </p:extLst>
          </p:nvPr>
        </p:nvGraphicFramePr>
        <p:xfrm>
          <a:off x="838200" y="1472862"/>
          <a:ext cx="10515600" cy="262128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実現可能性検討報告書及び経営者の支援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製品設計案の実現可能性を評価する。</a:t>
                      </a:r>
                      <a:endParaRPr kumimoji="1" lang="en-US" altLang="ja-JP" sz="2000" dirty="0"/>
                    </a:p>
                    <a:p>
                      <a:pPr marL="457200" indent="-457200">
                        <a:buFont typeface="+mj-ea"/>
                        <a:buAutoNum type="circleNumDbPlain"/>
                      </a:pPr>
                      <a:r>
                        <a:rPr kumimoji="1" lang="ja-JP" altLang="en-US" sz="2000" dirty="0">
                          <a:solidFill>
                            <a:srgbClr val="FF0000"/>
                          </a:solidFill>
                          <a:effectLst>
                            <a:outerShdw blurRad="38100" dist="38100" dir="2700000" algn="tl">
                              <a:srgbClr val="000000">
                                <a:alpha val="43137"/>
                              </a:srgbClr>
                            </a:outerShdw>
                          </a:effectLst>
                        </a:rPr>
                        <a:t>顧客が設計した場合でも、組織には設計の実現可能性を評価する義務がある。</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a:pPr>
                      <a:r>
                        <a:rPr kumimoji="1" lang="ja-JP" altLang="en-US" sz="2000" dirty="0"/>
                        <a:t>この設計案によって、十分な数量の製品を期日通りに、顧客に受け入れられるコストで、製造、組立、試験、梱包及び引渡しができるという確信を得る。</a:t>
                      </a:r>
                      <a:endParaRPr kumimoji="1" lang="en-US" altLang="ja-JP" sz="2000" dirty="0"/>
                    </a:p>
                    <a:p>
                      <a:pPr marL="457200" indent="-457200">
                        <a:buFont typeface="+mj-ea"/>
                        <a:buAutoNum type="circleNumDbPlain"/>
                      </a:pPr>
                      <a:r>
                        <a:rPr kumimoji="1" lang="ja-JP" altLang="en-US" sz="2000" dirty="0"/>
                        <a:t>実現可能性検討報告書の項目参照。</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bl>
          </a:graphicData>
        </a:graphic>
      </p:graphicFrame>
    </p:spTree>
    <p:extLst>
      <p:ext uri="{BB962C8B-B14F-4D97-AF65-F5344CB8AC3E}">
        <p14:creationId xmlns:p14="http://schemas.microsoft.com/office/powerpoint/2010/main" val="4157454188"/>
      </p:ext>
    </p:extLst>
  </p:cSld>
  <p:clrMapOvr>
    <a:masterClrMapping/>
  </p:clrMapOvr>
  <p:timing>
    <p:tnLst>
      <p:par>
        <p:cTn id="1" dur="indefinite" restart="never" nodeType="tmRoot"/>
      </p:par>
    </p:tnLst>
  </p:timing>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２．ＡＰＱＰ（フェーズ２）</a:t>
            </a:r>
          </a:p>
        </p:txBody>
      </p:sp>
      <p:pic>
        <p:nvPicPr>
          <p:cNvPr id="8" name="図 7">
            <a:extLst>
              <a:ext uri="{FF2B5EF4-FFF2-40B4-BE49-F238E27FC236}">
                <a16:creationId xmlns:a16="http://schemas.microsoft.com/office/drawing/2014/main" id="{3BC464FF-5113-40A3-8B6C-699089B21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84015"/>
            <a:ext cx="10515600" cy="4972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074641"/>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6"/>
            <a:ext cx="10515600" cy="5012294"/>
          </a:xfrm>
          <a:prstGeom prst="rect">
            <a:avLst/>
          </a:prstGeom>
          <a:ln w="12700">
            <a:solidFill>
              <a:schemeClr val="tx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フェーズ３の要点。</a:t>
            </a:r>
            <a:endParaRPr lang="en-US" altLang="ja-JP" sz="2400" dirty="0"/>
          </a:p>
          <a:p>
            <a:pPr marL="914400" lvl="1" indent="-457200">
              <a:lnSpc>
                <a:spcPct val="100000"/>
              </a:lnSpc>
              <a:buFont typeface="+mj-ea"/>
              <a:buAutoNum type="circleNumDbPlain"/>
            </a:pPr>
            <a:r>
              <a:rPr lang="ja-JP" altLang="en-US" dirty="0"/>
              <a:t>フェーズ３は「プロセスの設計・開発」であるため、プロセスフローをレビューし、工程</a:t>
            </a:r>
            <a:r>
              <a:rPr lang="en-US" altLang="ja-JP" dirty="0"/>
              <a:t>FMEA</a:t>
            </a:r>
            <a:r>
              <a:rPr lang="ja-JP" altLang="en-US" dirty="0"/>
              <a:t>を行うことが重要。</a:t>
            </a:r>
            <a:endParaRPr lang="en-US" altLang="ja-JP" dirty="0"/>
          </a:p>
          <a:p>
            <a:pPr marL="914400" lvl="1" indent="-45720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フェーズ２と３は、同時に進行することが多く</a:t>
            </a:r>
            <a:r>
              <a:rPr lang="ja-JP" altLang="en-US" dirty="0"/>
              <a:t>、必ずしもフェーズ２の最終アウトプットが、フェーズ３のインプットになるとは限らない。</a:t>
            </a:r>
            <a:endParaRPr lang="en-US" altLang="ja-JP" dirty="0"/>
          </a:p>
          <a:p>
            <a:pPr marL="914400" lvl="1" indent="-457200">
              <a:lnSpc>
                <a:spcPct val="100000"/>
              </a:lnSpc>
              <a:buFont typeface="+mj-ea"/>
              <a:buAutoNum type="circleNumDbPlain"/>
            </a:pPr>
            <a:r>
              <a:rPr lang="ja-JP" altLang="en-US" dirty="0"/>
              <a:t>フェーズ４で実施する計画をフェーズ３で作成しておく。</a:t>
            </a:r>
            <a:endParaRPr lang="en-US" altLang="ja-JP" dirty="0"/>
          </a:p>
          <a:p>
            <a:pPr lvl="2">
              <a:lnSpc>
                <a:spcPct val="100000"/>
              </a:lnSpc>
            </a:pPr>
            <a:r>
              <a:rPr lang="ja-JP" altLang="en-US" sz="2400" dirty="0"/>
              <a:t>量産試作コントロールプラン</a:t>
            </a:r>
            <a:endParaRPr lang="en-US" altLang="ja-JP" sz="2400" dirty="0"/>
          </a:p>
          <a:p>
            <a:pPr lvl="2">
              <a:lnSpc>
                <a:spcPct val="100000"/>
              </a:lnSpc>
            </a:pPr>
            <a:r>
              <a:rPr lang="ja-JP" altLang="en-US" sz="2400" dirty="0"/>
              <a:t>測定システム解析（</a:t>
            </a:r>
            <a:r>
              <a:rPr lang="en-US" altLang="ja-JP" sz="2400" dirty="0"/>
              <a:t>MSA</a:t>
            </a:r>
            <a:r>
              <a:rPr lang="ja-JP" altLang="en-US" sz="2400" dirty="0"/>
              <a:t>）</a:t>
            </a:r>
            <a:endParaRPr lang="en-US" altLang="ja-JP" sz="2400" dirty="0"/>
          </a:p>
          <a:p>
            <a:pPr lvl="2">
              <a:lnSpc>
                <a:spcPct val="100000"/>
              </a:lnSpc>
            </a:pPr>
            <a:r>
              <a:rPr lang="ja-JP" altLang="en-US" sz="2400" dirty="0"/>
              <a:t>工程能力予備調査（</a:t>
            </a:r>
            <a:r>
              <a:rPr lang="en-US" altLang="ja-JP" sz="2400" dirty="0" err="1"/>
              <a:t>Cpk</a:t>
            </a:r>
            <a:r>
              <a:rPr lang="ja-JP" altLang="en-US" sz="2400" dirty="0"/>
              <a:t>）</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409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２．ＡＰＱＰ（フェーズ３）</a:t>
            </a:r>
          </a:p>
        </p:txBody>
      </p:sp>
    </p:spTree>
    <p:extLst>
      <p:ext uri="{BB962C8B-B14F-4D97-AF65-F5344CB8AC3E}">
        <p14:creationId xmlns:p14="http://schemas.microsoft.com/office/powerpoint/2010/main" val="806178764"/>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46549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フェーズ３の詳細なアウトプット。</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３．ＡＰＱＰ（フェーズ３）</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454046934"/>
              </p:ext>
            </p:extLst>
          </p:nvPr>
        </p:nvGraphicFramePr>
        <p:xfrm>
          <a:off x="838200" y="1809549"/>
          <a:ext cx="10515600" cy="46329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梱包規格・仕様書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製品の梱包仕様書は、通常、顧客から提示される。</a:t>
                      </a:r>
                      <a:endParaRPr kumimoji="1" lang="en-US" altLang="ja-JP" sz="2000" dirty="0"/>
                    </a:p>
                    <a:p>
                      <a:pPr marL="457200" indent="-457200">
                        <a:buFont typeface="+mj-ea"/>
                        <a:buAutoNum type="circleNumDbPlain"/>
                      </a:pPr>
                      <a:r>
                        <a:rPr kumimoji="1" lang="ja-JP" altLang="en-US" sz="2000" dirty="0">
                          <a:solidFill>
                            <a:srgbClr val="FF0000"/>
                          </a:solidFill>
                          <a:effectLst>
                            <a:outerShdw blurRad="38100" dist="38100" dir="2700000" algn="tl">
                              <a:srgbClr val="000000">
                                <a:alpha val="43137"/>
                              </a:srgbClr>
                            </a:outerShdw>
                          </a:effectLst>
                        </a:rPr>
                        <a:t>顧客から提示されない場合、製品が顧客によって使用される時まで、その完全性を確保する梱包を設計する。</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a:pPr>
                      <a:r>
                        <a:rPr kumimoji="1" lang="ja-JP" altLang="en-US" sz="2000" dirty="0"/>
                        <a:t>個々の製品梱包（内部の仕切りを含む）が設計され、開発されていることを確実にする。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製品・プロセスの品質システムのレビュー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製造事業所の品質マネジメントシステムをレビューする。</a:t>
                      </a:r>
                      <a:endParaRPr kumimoji="1" lang="en-US" altLang="ja-JP" sz="2000" dirty="0"/>
                    </a:p>
                    <a:p>
                      <a:pPr marL="457200" indent="-457200">
                        <a:buFont typeface="+mj-ea"/>
                        <a:buAutoNum type="circleNumDbPlain"/>
                      </a:pPr>
                      <a:r>
                        <a:rPr kumimoji="1" lang="ja-JP" altLang="en-US" sz="2000" dirty="0"/>
                        <a:t>製品を生産するために追加の管理や手順変更が必要な場合は更新し、文書化し、コントロールプランに含める。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プロセスフロー図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プロセスフロー図は、製造・組立プロセスの始めから終わりまでの機械、材料、方法及び人員の変動源の分析に使うことができる。</a:t>
                      </a:r>
                      <a:endParaRPr kumimoji="1" lang="en-US" altLang="ja-JP" sz="2000" dirty="0"/>
                    </a:p>
                    <a:p>
                      <a:pPr marL="457200" indent="-457200">
                        <a:buFont typeface="+mj-ea"/>
                        <a:buAutoNum type="circleNumDbPlain"/>
                      </a:pPr>
                      <a:r>
                        <a:rPr kumimoji="1" lang="ja-JP" altLang="en-US" sz="2000" dirty="0"/>
                        <a:t>プロセスフロー図は、組織の</a:t>
                      </a:r>
                      <a:r>
                        <a:rPr kumimoji="1" lang="en-US" altLang="ja-JP" sz="2000" dirty="0"/>
                        <a:t>APQP</a:t>
                      </a:r>
                      <a:r>
                        <a:rPr kumimoji="1" lang="ja-JP" altLang="en-US" sz="2000" dirty="0"/>
                        <a:t>チームが工程</a:t>
                      </a:r>
                      <a:r>
                        <a:rPr kumimoji="1" lang="en-US" altLang="ja-JP" sz="2000" dirty="0"/>
                        <a:t>FMEA</a:t>
                      </a:r>
                      <a:r>
                        <a:rPr kumimoji="1" lang="ja-JP" altLang="en-US" sz="2000" dirty="0"/>
                        <a:t>を実施し、コントロールプランを作成する際に、プロセスに焦点を絞るのに役立つ。</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565088"/>
                  </a:ext>
                </a:extLst>
              </a:tr>
            </a:tbl>
          </a:graphicData>
        </a:graphic>
      </p:graphicFrame>
    </p:spTree>
    <p:extLst>
      <p:ext uri="{BB962C8B-B14F-4D97-AF65-F5344CB8AC3E}">
        <p14:creationId xmlns:p14="http://schemas.microsoft.com/office/powerpoint/2010/main" val="2781553560"/>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２．ＡＰＱＰ（フェーズ３）</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1938954215"/>
              </p:ext>
            </p:extLst>
          </p:nvPr>
        </p:nvGraphicFramePr>
        <p:xfrm>
          <a:off x="838200" y="1405017"/>
          <a:ext cx="10515600" cy="45415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フロアプランレイアウト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検査場所、管理図の置場所、外観見本の利用しやすさ、応急修理場所及び不適合品の保管場所などの重要な管理方法が、適切かどうかを確認するため、フロアプランレイアウトを作成する。</a:t>
                      </a:r>
                      <a:endParaRPr kumimoji="1" lang="en-US" altLang="ja-JP" sz="2000" dirty="0"/>
                    </a:p>
                    <a:p>
                      <a:pPr marL="457200" indent="-457200">
                        <a:buFont typeface="+mj-ea"/>
                        <a:buAutoNum type="circleNumDbPlain"/>
                      </a:pPr>
                      <a:r>
                        <a:rPr kumimoji="1" lang="ja-JP" altLang="en-US" sz="2000" dirty="0"/>
                        <a:t>フロアプランレイアウトは、部材の搬送、取扱い及びフロアスペースの有効活用という点で最適化する方法で開発する。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特性マトリクス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特性マトリクスは、工程パラメータと作業工程の関係を表すために推奨される解析的手法である。</a:t>
                      </a: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graphicFrame>
        <p:nvGraphicFramePr>
          <p:cNvPr id="3" name="表 5">
            <a:extLst>
              <a:ext uri="{FF2B5EF4-FFF2-40B4-BE49-F238E27FC236}">
                <a16:creationId xmlns:a16="http://schemas.microsoft.com/office/drawing/2014/main" id="{B344AA10-3861-4513-AEBC-EFD18991A9AD}"/>
              </a:ext>
            </a:extLst>
          </p:cNvPr>
          <p:cNvGraphicFramePr>
            <a:graphicFrameLocks noGrp="1"/>
          </p:cNvGraphicFramePr>
          <p:nvPr>
            <p:extLst>
              <p:ext uri="{D42A27DB-BD31-4B8C-83A1-F6EECF244321}">
                <p14:modId xmlns:p14="http://schemas.microsoft.com/office/powerpoint/2010/main" val="1372291004"/>
              </p:ext>
            </p:extLst>
          </p:nvPr>
        </p:nvGraphicFramePr>
        <p:xfrm>
          <a:off x="3125972" y="4148453"/>
          <a:ext cx="8227828" cy="1798084"/>
        </p:xfrm>
        <a:graphic>
          <a:graphicData uri="http://schemas.openxmlformats.org/drawingml/2006/table">
            <a:tbl>
              <a:tblPr firstRow="1" bandRow="1">
                <a:tableStyleId>{5940675A-B579-460E-94D1-54222C63F5DA}</a:tableStyleId>
              </a:tblPr>
              <a:tblGrid>
                <a:gridCol w="2056957">
                  <a:extLst>
                    <a:ext uri="{9D8B030D-6E8A-4147-A177-3AD203B41FA5}">
                      <a16:colId xmlns:a16="http://schemas.microsoft.com/office/drawing/2014/main" val="3304180599"/>
                    </a:ext>
                  </a:extLst>
                </a:gridCol>
                <a:gridCol w="2056957">
                  <a:extLst>
                    <a:ext uri="{9D8B030D-6E8A-4147-A177-3AD203B41FA5}">
                      <a16:colId xmlns:a16="http://schemas.microsoft.com/office/drawing/2014/main" val="2089697660"/>
                    </a:ext>
                  </a:extLst>
                </a:gridCol>
                <a:gridCol w="2056957">
                  <a:extLst>
                    <a:ext uri="{9D8B030D-6E8A-4147-A177-3AD203B41FA5}">
                      <a16:colId xmlns:a16="http://schemas.microsoft.com/office/drawing/2014/main" val="2756043017"/>
                    </a:ext>
                  </a:extLst>
                </a:gridCol>
                <a:gridCol w="2056957">
                  <a:extLst>
                    <a:ext uri="{9D8B030D-6E8A-4147-A177-3AD203B41FA5}">
                      <a16:colId xmlns:a16="http://schemas.microsoft.com/office/drawing/2014/main" val="32548869"/>
                    </a:ext>
                  </a:extLst>
                </a:gridCol>
              </a:tblGrid>
              <a:tr h="449521">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2000" dirty="0"/>
                        <a:t>Ａ寸法</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2000" dirty="0"/>
                        <a:t>Ｂ寸法</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2000" dirty="0"/>
                        <a:t>Ｃ特性</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3969471"/>
                  </a:ext>
                </a:extLst>
              </a:tr>
              <a:tr h="449521">
                <a:tc>
                  <a:txBody>
                    <a:bodyPr/>
                    <a:lstStyle/>
                    <a:p>
                      <a:r>
                        <a:rPr kumimoji="1" lang="ja-JP" altLang="en-US" sz="2000" dirty="0"/>
                        <a:t>工程１</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2000" dirty="0"/>
                        <a:t>○</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3416077"/>
                  </a:ext>
                </a:extLst>
              </a:tr>
              <a:tr h="449521">
                <a:tc>
                  <a:txBody>
                    <a:bodyPr/>
                    <a:lstStyle/>
                    <a:p>
                      <a:r>
                        <a:rPr kumimoji="1" lang="ja-JP" altLang="en-US" sz="2000" dirty="0"/>
                        <a:t>工程２</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496442"/>
                  </a:ext>
                </a:extLst>
              </a:tr>
              <a:tr h="449521">
                <a:tc>
                  <a:txBody>
                    <a:bodyPr/>
                    <a:lstStyle/>
                    <a:p>
                      <a:r>
                        <a:rPr kumimoji="1" lang="ja-JP" altLang="en-US" sz="2000" dirty="0"/>
                        <a:t>工程３</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kumimoji="1" lang="ja-JP" altLang="en-US" sz="20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2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2163456"/>
                  </a:ext>
                </a:extLst>
              </a:tr>
            </a:tbl>
          </a:graphicData>
        </a:graphic>
      </p:graphicFrame>
    </p:spTree>
    <p:extLst>
      <p:ext uri="{BB962C8B-B14F-4D97-AF65-F5344CB8AC3E}">
        <p14:creationId xmlns:p14="http://schemas.microsoft.com/office/powerpoint/2010/main" val="543396904"/>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２．ＡＰＱＰ（フェーズ３）</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3740220184"/>
              </p:ext>
            </p:extLst>
          </p:nvPr>
        </p:nvGraphicFramePr>
        <p:xfrm>
          <a:off x="838200" y="1410689"/>
          <a:ext cx="10515600" cy="45415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工程</a:t>
                      </a:r>
                      <a:r>
                        <a:rPr kumimoji="1" lang="en-US" altLang="ja-JP" sz="2000" dirty="0"/>
                        <a:t>FMEA</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工程</a:t>
                      </a:r>
                      <a:r>
                        <a:rPr kumimoji="1" lang="en-US" altLang="ja-JP" sz="2000" dirty="0"/>
                        <a:t>FMEA</a:t>
                      </a:r>
                      <a:r>
                        <a:rPr kumimoji="1" lang="ja-JP" altLang="en-US" sz="2000" dirty="0"/>
                        <a:t>は、新規又は変更された製造工程のリスク評価・分析方法である。</a:t>
                      </a:r>
                      <a:endParaRPr kumimoji="1" lang="en-US" altLang="ja-JP" sz="2000" dirty="0"/>
                    </a:p>
                    <a:p>
                      <a:pPr marL="457200" indent="-457200">
                        <a:buFont typeface="+mj-ea"/>
                        <a:buAutoNum type="circleNumDbPlain"/>
                      </a:pPr>
                      <a:r>
                        <a:rPr kumimoji="1" lang="ja-JP" altLang="en-US" sz="2000" dirty="0"/>
                        <a:t>工程</a:t>
                      </a:r>
                      <a:r>
                        <a:rPr kumimoji="1" lang="en-US" altLang="ja-JP" sz="2000" dirty="0"/>
                        <a:t>FMEA</a:t>
                      </a:r>
                      <a:r>
                        <a:rPr kumimoji="1" lang="ja-JP" altLang="en-US" sz="2000" dirty="0"/>
                        <a:t>は、新規又は変更された製品の潜在的なプロセス問題を予測、解決又は関することが目的である。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量産試作コントロールプラン（</a:t>
                      </a:r>
                      <a:r>
                        <a:rPr kumimoji="1" lang="en-US" altLang="ja-JP" sz="2000" dirty="0"/>
                        <a:t>CP</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量産試作</a:t>
                      </a:r>
                      <a:r>
                        <a:rPr kumimoji="1" lang="en-US" altLang="ja-JP" sz="2000" dirty="0"/>
                        <a:t>CP</a:t>
                      </a:r>
                      <a:r>
                        <a:rPr kumimoji="1" lang="ja-JP" altLang="en-US" sz="2000" dirty="0"/>
                        <a:t>は、試作後、かつ量産前に行われる寸法測定及び材料・機能試験について記述したものである。</a:t>
                      </a:r>
                      <a:endParaRPr kumimoji="1" lang="en-US" altLang="ja-JP" sz="2000" dirty="0"/>
                    </a:p>
                    <a:p>
                      <a:pPr marL="457200" indent="-457200">
                        <a:buFont typeface="+mj-ea"/>
                        <a:buAutoNum type="circleNumDbPlain"/>
                      </a:pPr>
                      <a:r>
                        <a:rPr kumimoji="1" lang="ja-JP" altLang="en-US" sz="2000" dirty="0"/>
                        <a:t>量産試作</a:t>
                      </a:r>
                      <a:r>
                        <a:rPr kumimoji="1" lang="en-US" altLang="ja-JP" sz="2000" dirty="0"/>
                        <a:t>CP</a:t>
                      </a:r>
                      <a:r>
                        <a:rPr kumimoji="1" lang="ja-JP" altLang="en-US" sz="2000" dirty="0"/>
                        <a:t>には、量産プロセスの妥当性が確認されるまでに実施すべき、追加の製品・プロセスの管理を含む。</a:t>
                      </a:r>
                      <a:endParaRPr kumimoji="1" lang="en-US" altLang="ja-JP" sz="2000" dirty="0"/>
                    </a:p>
                    <a:p>
                      <a:pPr marL="457200" indent="-457200">
                        <a:buFont typeface="+mj-ea"/>
                        <a:buAutoNum type="circleNumDbPlain"/>
                      </a:pPr>
                      <a:r>
                        <a:rPr kumimoji="1" lang="ja-JP" altLang="en-US" sz="2000" dirty="0"/>
                        <a:t>量産試作</a:t>
                      </a:r>
                      <a:r>
                        <a:rPr kumimoji="1" lang="en-US" altLang="ja-JP" sz="2000" dirty="0"/>
                        <a:t>CP</a:t>
                      </a:r>
                      <a:r>
                        <a:rPr kumimoji="1" lang="ja-JP" altLang="en-US" sz="2000" dirty="0"/>
                        <a:t>の目的は、量産前又は量産初期に起こり得る不適合を封じ込めることである。</a:t>
                      </a:r>
                      <a:endParaRPr kumimoji="1" lang="en-US" altLang="ja-JP" sz="2000" dirty="0"/>
                    </a:p>
                    <a:p>
                      <a:pPr marL="457200" indent="-457200">
                        <a:buFont typeface="+mj-ea"/>
                        <a:buAutoNum type="circleNumDbPlain"/>
                      </a:pPr>
                      <a:r>
                        <a:rPr kumimoji="1" lang="ja-JP" altLang="en-US" sz="2000" dirty="0"/>
                        <a:t>量産試作</a:t>
                      </a:r>
                      <a:r>
                        <a:rPr kumimoji="1" lang="en-US" altLang="ja-JP" sz="2000" dirty="0"/>
                        <a:t>CP</a:t>
                      </a:r>
                      <a:r>
                        <a:rPr kumimoji="1" lang="ja-JP" altLang="en-US" sz="2000" dirty="0"/>
                        <a:t>を充実させる項目として、次の例がある。</a:t>
                      </a:r>
                      <a:endParaRPr kumimoji="1" lang="en-US" altLang="ja-JP" sz="2000" dirty="0"/>
                    </a:p>
                    <a:p>
                      <a:pPr marL="0" indent="0">
                        <a:buFontTx/>
                        <a:buNone/>
                      </a:pPr>
                      <a:r>
                        <a:rPr kumimoji="1" lang="ja-JP" altLang="en-US" sz="2000" dirty="0"/>
                        <a:t>　　・検査頻度の増加　　・ロバスト（頑健）な統計的評価</a:t>
                      </a:r>
                      <a:endParaRPr kumimoji="1" lang="en-US" altLang="ja-JP" sz="2000" dirty="0"/>
                    </a:p>
                    <a:p>
                      <a:pPr marL="0" indent="0">
                        <a:buFontTx/>
                        <a:buNone/>
                      </a:pPr>
                      <a:r>
                        <a:rPr kumimoji="1" lang="ja-JP" altLang="en-US" sz="2000" dirty="0"/>
                        <a:t>　　・監査の強化　　　　・エラー防止機器の特定</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423645116"/>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２．ＡＰＱＰ（フェーズ３）</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857536785"/>
              </p:ext>
            </p:extLst>
          </p:nvPr>
        </p:nvGraphicFramePr>
        <p:xfrm>
          <a:off x="838200" y="1448042"/>
          <a:ext cx="10515600" cy="384048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プロセス指示書（作業手順書）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プロセス指示書は、作業に直接の責任を負う作業者にとって、十分にわかりやすく詳細に記述されたものとする。</a:t>
                      </a:r>
                      <a:endParaRPr kumimoji="1" lang="en-US" altLang="ja-JP" sz="2000" dirty="0"/>
                    </a:p>
                    <a:p>
                      <a:pPr marL="457200" indent="-457200">
                        <a:buFont typeface="+mj-ea"/>
                        <a:buAutoNum type="circleNumDbPlain"/>
                      </a:pPr>
                      <a:r>
                        <a:rPr kumimoji="1" lang="ja-JP" altLang="en-US" sz="2000" dirty="0"/>
                        <a:t>この指示書は、次の情報を基に作成する。</a:t>
                      </a:r>
                      <a:endParaRPr kumimoji="1" lang="en-US" altLang="ja-JP" sz="2000" dirty="0"/>
                    </a:p>
                    <a:p>
                      <a:pPr marL="0" indent="0">
                        <a:buFont typeface="+mj-ea"/>
                        <a:buNone/>
                      </a:pPr>
                      <a:r>
                        <a:rPr kumimoji="1" lang="ja-JP" altLang="en-US" sz="2000" dirty="0"/>
                        <a:t>　　・</a:t>
                      </a:r>
                      <a:r>
                        <a:rPr kumimoji="1" lang="en-US" altLang="ja-JP" sz="2000" dirty="0"/>
                        <a:t>FMEA</a:t>
                      </a:r>
                      <a:r>
                        <a:rPr kumimoji="1" lang="ja-JP" altLang="en-US" sz="2000" dirty="0"/>
                        <a:t>　　・</a:t>
                      </a:r>
                      <a:r>
                        <a:rPr kumimoji="1" lang="en-US" altLang="ja-JP" sz="2000" dirty="0"/>
                        <a:t>CP</a:t>
                      </a:r>
                      <a:r>
                        <a:rPr kumimoji="1" lang="ja-JP" altLang="en-US" sz="2000" dirty="0"/>
                        <a:t>　　・図面、性能仕様書、材料仕様書</a:t>
                      </a:r>
                      <a:endParaRPr kumimoji="1" lang="en-US" altLang="ja-JP" sz="2000" dirty="0"/>
                    </a:p>
                    <a:p>
                      <a:pPr marL="0" indent="0">
                        <a:buFont typeface="+mj-ea"/>
                        <a:buNone/>
                      </a:pPr>
                      <a:r>
                        <a:rPr kumimoji="1" lang="ja-JP" altLang="en-US" sz="2000" dirty="0"/>
                        <a:t>　　・目視標準　　・プロセスフロー図　　・特性マトリクス</a:t>
                      </a:r>
                      <a:endParaRPr kumimoji="1" lang="en-US" altLang="ja-JP" sz="2000" dirty="0"/>
                    </a:p>
                    <a:p>
                      <a:pPr marL="0" indent="0">
                        <a:buFont typeface="+mj-ea"/>
                        <a:buNone/>
                      </a:pPr>
                      <a:r>
                        <a:rPr kumimoji="1" lang="ja-JP" altLang="en-US" sz="2000" dirty="0"/>
                        <a:t>　　・フロアプランレイアウト　　・梱包規格／仕様書</a:t>
                      </a:r>
                      <a:endParaRPr kumimoji="1" lang="en-US" altLang="ja-JP" sz="2000" dirty="0"/>
                    </a:p>
                    <a:p>
                      <a:pPr marL="0" indent="0">
                        <a:buFont typeface="+mj-ea"/>
                        <a:buNone/>
                      </a:pPr>
                      <a:r>
                        <a:rPr kumimoji="1" lang="ja-JP" altLang="en-US" sz="2000" dirty="0"/>
                        <a:t>　　・工程パラメータ　　・プロセス／製品に関する専門性</a:t>
                      </a:r>
                      <a:endParaRPr kumimoji="1" lang="en-US" altLang="ja-JP" sz="2000" dirty="0"/>
                    </a:p>
                    <a:p>
                      <a:pPr marL="0" indent="0">
                        <a:buFont typeface="+mj-ea"/>
                        <a:buNone/>
                      </a:pPr>
                      <a:r>
                        <a:rPr kumimoji="1" lang="ja-JP" altLang="en-US" sz="2000" dirty="0"/>
                        <a:t>　　・取扱い要求事項　　・担当作業者</a:t>
                      </a:r>
                      <a:endParaRPr kumimoji="1" lang="en-US" altLang="ja-JP" sz="2000" dirty="0"/>
                    </a:p>
                    <a:p>
                      <a:pPr marL="457200" indent="-457200">
                        <a:buFont typeface="+mj-ea"/>
                        <a:buAutoNum type="circleNumDbPlain" startAt="3"/>
                      </a:pPr>
                      <a:r>
                        <a:rPr kumimoji="1" lang="ja-JP" altLang="en-US" sz="2000" dirty="0"/>
                        <a:t>標準作業手順に関するプロセス指示書を掲示する。</a:t>
                      </a:r>
                      <a:endParaRPr kumimoji="1" lang="en-US" altLang="ja-JP" sz="2000" dirty="0"/>
                    </a:p>
                    <a:p>
                      <a:pPr marL="457200" indent="-457200">
                        <a:buFont typeface="+mj-ea"/>
                        <a:buAutoNum type="circleNumDbPlain" startAt="3"/>
                      </a:pPr>
                      <a:r>
                        <a:rPr kumimoji="1" lang="ja-JP" altLang="en-US" sz="2000" dirty="0"/>
                        <a:t>これには機械速度、送り、サイクル時間、治工具などの設定パラメータを含める。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2509184964"/>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２．ＡＰＱＰ（フェーズ３）</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1213296016"/>
              </p:ext>
            </p:extLst>
          </p:nvPr>
        </p:nvGraphicFramePr>
        <p:xfrm>
          <a:off x="838200" y="1418590"/>
          <a:ext cx="10515600" cy="49377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測定システム解析（</a:t>
                      </a:r>
                      <a:r>
                        <a:rPr kumimoji="1" lang="en-US" altLang="ja-JP" sz="2000" dirty="0"/>
                        <a:t>MSA</a:t>
                      </a:r>
                      <a:r>
                        <a:rPr kumimoji="1" lang="ja-JP" altLang="en-US" sz="2000" dirty="0"/>
                        <a:t>）計画書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必要な測定システム解析の実施計画書を、測定補助具も含めて開発する。</a:t>
                      </a:r>
                      <a:endParaRPr kumimoji="1" lang="en-US" altLang="ja-JP" sz="2000" dirty="0"/>
                    </a:p>
                    <a:p>
                      <a:pPr marL="457200" indent="-457200">
                        <a:buFont typeface="+mj-ea"/>
                        <a:buAutoNum type="circleNumDbPlain"/>
                      </a:pPr>
                      <a:r>
                        <a:rPr kumimoji="1" lang="ja-JP" altLang="en-US" sz="2000" dirty="0"/>
                        <a:t>この計画書には、要求される測定・試験に適した試験所適用範囲、使用する具体的な測定解析方法（</a:t>
                      </a:r>
                      <a:r>
                        <a:rPr kumimoji="1" lang="en-US" altLang="ja-JP" sz="2000" dirty="0"/>
                        <a:t>GRR</a:t>
                      </a:r>
                      <a:r>
                        <a:rPr kumimoji="1" lang="ja-JP" altLang="en-US" sz="2000" dirty="0"/>
                        <a:t>など）とそれらに対する責任を含める。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工程能力予備調査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工程能力予備調査計画書を作成する。</a:t>
                      </a:r>
                      <a:endParaRPr kumimoji="1" lang="en-US" altLang="ja-JP" sz="2000" dirty="0"/>
                    </a:p>
                    <a:p>
                      <a:pPr marL="457200" indent="-457200">
                        <a:buFont typeface="+mj-ea"/>
                        <a:buAutoNum type="circleNumDbPlain"/>
                      </a:pPr>
                      <a:r>
                        <a:rPr kumimoji="1" lang="en-US" altLang="ja-JP" sz="2000" dirty="0"/>
                        <a:t>CP</a:t>
                      </a:r>
                      <a:r>
                        <a:rPr kumimoji="1" lang="ja-JP" altLang="en-US" sz="2000" dirty="0"/>
                        <a:t>で特定された特性が、この工程能力予備調査計画書の基礎となる。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821566"/>
                  </a:ext>
                </a:extLst>
              </a:tr>
              <a:tr h="370840">
                <a:tc>
                  <a:txBody>
                    <a:bodyPr/>
                    <a:lstStyle/>
                    <a:p>
                      <a:r>
                        <a:rPr kumimoji="1" lang="ja-JP" altLang="en-US" sz="2000" dirty="0"/>
                        <a:t>経営者の支援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プロセスの設計・開発段階の終了時に、経営者のコミットメントのためのレビューを行う。</a:t>
                      </a:r>
                      <a:endParaRPr kumimoji="1" lang="en-US" altLang="ja-JP" sz="2000" dirty="0"/>
                    </a:p>
                    <a:p>
                      <a:pPr marL="457200" indent="-457200">
                        <a:buFont typeface="+mj-ea"/>
                        <a:buAutoNum type="circleNumDbPlain"/>
                      </a:pPr>
                      <a:r>
                        <a:rPr kumimoji="1" lang="ja-JP" altLang="en-US" sz="2000" dirty="0"/>
                        <a:t>このレビューは、未解決問題解決の助けとなる支援を得るだけでなく、上層経営陣に情報提供するためにも重要である。</a:t>
                      </a:r>
                      <a:endParaRPr kumimoji="1" lang="en-US" altLang="ja-JP" sz="2000" dirty="0"/>
                    </a:p>
                    <a:p>
                      <a:pPr marL="457200" indent="-457200">
                        <a:buFont typeface="+mj-ea"/>
                        <a:buAutoNum type="circleNumDbPlain"/>
                      </a:pPr>
                      <a:r>
                        <a:rPr kumimoji="1" lang="ja-JP" altLang="en-US" sz="2000" dirty="0"/>
                        <a:t>経営者の支援には、計画内容の確定、並びに必要な生産能力を満たすための経営資源と人員の提供を含む。</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85560"/>
                  </a:ext>
                </a:extLst>
              </a:tr>
            </a:tbl>
          </a:graphicData>
        </a:graphic>
      </p:graphicFrame>
    </p:spTree>
    <p:extLst>
      <p:ext uri="{BB962C8B-B14F-4D97-AF65-F5344CB8AC3E}">
        <p14:creationId xmlns:p14="http://schemas.microsoft.com/office/powerpoint/2010/main" val="1267666804"/>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6"/>
            <a:ext cx="10515600" cy="5012294"/>
          </a:xfrm>
          <a:prstGeom prst="rect">
            <a:avLst/>
          </a:prstGeom>
          <a:ln w="12700">
            <a:solidFill>
              <a:schemeClr val="tx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フェーズ４の要点。</a:t>
            </a:r>
            <a:endParaRPr lang="en-US" altLang="ja-JP" sz="2400" dirty="0"/>
          </a:p>
          <a:p>
            <a:pPr marL="914400" lvl="1" indent="-45720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フェーズ４は「製品及び工程の設計・開発に対する妥当性確認」である。</a:t>
            </a:r>
            <a:r>
              <a:rPr lang="ja-JP" altLang="en-US" dirty="0"/>
              <a:t>従って、インプットは次のものとなる。</a:t>
            </a:r>
            <a:endParaRPr lang="en-US" altLang="ja-JP" dirty="0"/>
          </a:p>
          <a:p>
            <a:pPr lvl="2">
              <a:lnSpc>
                <a:spcPct val="100000"/>
              </a:lnSpc>
            </a:pPr>
            <a:r>
              <a:rPr lang="ja-JP" altLang="en-US" sz="2400" dirty="0"/>
              <a:t>フェーズ３のアウトプット</a:t>
            </a:r>
            <a:endParaRPr lang="en-US" altLang="ja-JP" sz="2400" dirty="0"/>
          </a:p>
          <a:p>
            <a:pPr lvl="2">
              <a:lnSpc>
                <a:spcPct val="100000"/>
              </a:lnSpc>
            </a:pPr>
            <a:r>
              <a:rPr lang="ja-JP" altLang="en-US" sz="2400" dirty="0"/>
              <a:t>フェーズ２のアウトプット（の場合もある。）</a:t>
            </a:r>
            <a:endParaRPr lang="en-US" altLang="ja-JP" sz="2400" dirty="0"/>
          </a:p>
          <a:p>
            <a:pPr marL="971550" lvl="1" indent="-514350">
              <a:lnSpc>
                <a:spcPct val="100000"/>
              </a:lnSpc>
              <a:buFont typeface="+mj-ea"/>
              <a:buAutoNum type="circleNumDbPlain"/>
            </a:pPr>
            <a:r>
              <a:rPr lang="ja-JP" altLang="en-US" dirty="0"/>
              <a:t>フェーズ３で作成した</a:t>
            </a:r>
            <a:r>
              <a:rPr lang="en-US" altLang="ja-JP" dirty="0"/>
              <a:t>CP</a:t>
            </a:r>
            <a:r>
              <a:rPr lang="ja-JP" altLang="en-US" dirty="0"/>
              <a:t>に従った量産試作により、次の評価を行う。</a:t>
            </a:r>
            <a:endParaRPr lang="en-US" altLang="ja-JP" dirty="0"/>
          </a:p>
          <a:p>
            <a:pPr lvl="2">
              <a:lnSpc>
                <a:spcPct val="100000"/>
              </a:lnSpc>
            </a:pPr>
            <a:r>
              <a:rPr lang="ja-JP" altLang="en-US" sz="2400" dirty="0"/>
              <a:t>製品特性</a:t>
            </a:r>
            <a:endParaRPr lang="en-US" altLang="ja-JP" sz="2400" dirty="0"/>
          </a:p>
          <a:p>
            <a:pPr lvl="2">
              <a:lnSpc>
                <a:spcPct val="100000"/>
              </a:lnSpc>
            </a:pPr>
            <a:r>
              <a:rPr lang="ja-JP" altLang="en-US" sz="2400" dirty="0"/>
              <a:t>測定システム解析</a:t>
            </a:r>
            <a:endParaRPr lang="en-US" altLang="ja-JP" sz="2400" dirty="0"/>
          </a:p>
          <a:p>
            <a:pPr lvl="2">
              <a:lnSpc>
                <a:spcPct val="100000"/>
              </a:lnSpc>
            </a:pPr>
            <a:r>
              <a:rPr lang="ja-JP" altLang="en-US" sz="2400" dirty="0"/>
              <a:t>工程能力予備調査</a:t>
            </a:r>
            <a:endParaRPr lang="en-US" altLang="ja-JP" sz="2400" dirty="0"/>
          </a:p>
          <a:p>
            <a:pPr lvl="2">
              <a:lnSpc>
                <a:spcPct val="100000"/>
              </a:lnSpc>
            </a:pPr>
            <a:r>
              <a:rPr lang="ja-JP" altLang="en-US" sz="2400" dirty="0"/>
              <a:t>量産の妥当性確認</a:t>
            </a:r>
            <a:endParaRPr lang="en-US" altLang="ja-JP" sz="2400" dirty="0"/>
          </a:p>
          <a:p>
            <a:pPr lvl="2">
              <a:lnSpc>
                <a:spcPct val="100000"/>
              </a:lnSpc>
            </a:pPr>
            <a:r>
              <a:rPr lang="ja-JP" altLang="en-US" sz="2400" dirty="0"/>
              <a:t>梱包評価</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spTree>
    <p:extLst>
      <p:ext uri="{BB962C8B-B14F-4D97-AF65-F5344CB8AC3E}">
        <p14:creationId xmlns:p14="http://schemas.microsoft.com/office/powerpoint/2010/main" val="3203529053"/>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6"/>
            <a:ext cx="10515600" cy="2084944"/>
          </a:xfrm>
          <a:prstGeom prst="rect">
            <a:avLst/>
          </a:prstGeom>
          <a:ln w="12700">
            <a:solidFill>
              <a:schemeClr val="tx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3"/>
            </a:pPr>
            <a:r>
              <a:rPr lang="ja-JP" altLang="en-US" dirty="0"/>
              <a:t>フェーズ４の最終段階で量産</a:t>
            </a:r>
            <a:r>
              <a:rPr lang="en-US" altLang="ja-JP" dirty="0"/>
              <a:t>CP</a:t>
            </a:r>
            <a:r>
              <a:rPr lang="ja-JP" altLang="en-US" dirty="0"/>
              <a:t>を作成し、これまでの</a:t>
            </a:r>
            <a:r>
              <a:rPr lang="en-US" altLang="ja-JP" dirty="0"/>
              <a:t>APQP</a:t>
            </a:r>
            <a:r>
              <a:rPr lang="ja-JP" altLang="en-US" dirty="0"/>
              <a:t>アウトプットを顧客へ提出できるように整理する。</a:t>
            </a:r>
            <a:endParaRPr lang="en-US" altLang="ja-JP" dirty="0"/>
          </a:p>
          <a:p>
            <a:pPr marL="914400" lvl="1" indent="-457200">
              <a:lnSpc>
                <a:spcPct val="100000"/>
              </a:lnSpc>
              <a:buFont typeface="+mj-ea"/>
              <a:buAutoNum type="circleNumDbPlain" startAt="3"/>
            </a:pPr>
            <a:r>
              <a:rPr lang="ja-JP" altLang="en-US" dirty="0"/>
              <a:t>最後に経営者の参画を得て、製品品質計画総括書を作成し、組織としての最終承認を得る。</a:t>
            </a:r>
            <a:endParaRPr lang="en-US" altLang="ja-JP" dirty="0"/>
          </a:p>
          <a:p>
            <a:pPr marL="514350" indent="-514350">
              <a:lnSpc>
                <a:spcPct val="100000"/>
              </a:lnSpc>
              <a:buFont typeface="+mj-lt"/>
              <a:buAutoNum type="arabicPeriod" startAt="2"/>
            </a:pPr>
            <a:r>
              <a:rPr lang="ja-JP" altLang="en-US" sz="2400" dirty="0"/>
              <a:t>フェーズ４の詳細なアウトプット</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graphicFrame>
        <p:nvGraphicFramePr>
          <p:cNvPr id="6" name="表 2">
            <a:extLst>
              <a:ext uri="{FF2B5EF4-FFF2-40B4-BE49-F238E27FC236}">
                <a16:creationId xmlns:a16="http://schemas.microsoft.com/office/drawing/2014/main" id="{EE1F05A2-C6A1-4412-8F77-5A120A454226}"/>
              </a:ext>
            </a:extLst>
          </p:cNvPr>
          <p:cNvGraphicFramePr>
            <a:graphicFrameLocks noGrp="1"/>
          </p:cNvGraphicFramePr>
          <p:nvPr>
            <p:extLst>
              <p:ext uri="{D42A27DB-BD31-4B8C-83A1-F6EECF244321}">
                <p14:modId xmlns:p14="http://schemas.microsoft.com/office/powerpoint/2010/main" val="4012338715"/>
              </p:ext>
            </p:extLst>
          </p:nvPr>
        </p:nvGraphicFramePr>
        <p:xfrm>
          <a:off x="838200" y="3429000"/>
          <a:ext cx="10515600" cy="2926080"/>
        </p:xfrm>
        <a:graphic>
          <a:graphicData uri="http://schemas.openxmlformats.org/drawingml/2006/table">
            <a:tbl>
              <a:tblPr firstRow="1" bandRow="1">
                <a:tableStyleId>{5940675A-B579-460E-94D1-54222C63F5DA}</a:tableStyleId>
              </a:tblPr>
              <a:tblGrid>
                <a:gridCol w="2117651">
                  <a:extLst>
                    <a:ext uri="{9D8B030D-6E8A-4147-A177-3AD203B41FA5}">
                      <a16:colId xmlns:a16="http://schemas.microsoft.com/office/drawing/2014/main" val="3548991875"/>
                    </a:ext>
                  </a:extLst>
                </a:gridCol>
                <a:gridCol w="8397949">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実質的生産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実質的生産は、基本的に</a:t>
                      </a:r>
                      <a:r>
                        <a:rPr kumimoji="1" lang="ja-JP" altLang="en-US" sz="2000" dirty="0">
                          <a:solidFill>
                            <a:srgbClr val="FF0000"/>
                          </a:solidFill>
                          <a:effectLst>
                            <a:outerShdw blurRad="38100" dist="38100" dir="2700000" algn="tl">
                              <a:srgbClr val="000000">
                                <a:alpha val="43137"/>
                              </a:srgbClr>
                            </a:outerShdw>
                          </a:effectLst>
                        </a:rPr>
                        <a:t>量産用治工具、量産設備、量産環境（作業者を含む）、施設、量産用ゲージ及び生産能率を用いて実施</a:t>
                      </a:r>
                      <a:r>
                        <a:rPr kumimoji="1" lang="ja-JP" altLang="en-US" sz="2000" dirty="0"/>
                        <a:t>する。</a:t>
                      </a:r>
                      <a:endParaRPr kumimoji="1" lang="en-US" altLang="ja-JP" sz="2000" dirty="0"/>
                    </a:p>
                    <a:p>
                      <a:pPr marL="457200" indent="-457200">
                        <a:buFont typeface="+mj-ea"/>
                        <a:buAutoNum type="circleNumDbPlain"/>
                      </a:pPr>
                      <a:r>
                        <a:rPr kumimoji="1" lang="ja-JP" altLang="en-US" sz="2000" dirty="0"/>
                        <a:t>実質的生産の最少数量は、通常顧客が決定する。</a:t>
                      </a:r>
                      <a:endParaRPr kumimoji="1" lang="en-US" altLang="ja-JP" sz="2000" dirty="0"/>
                    </a:p>
                    <a:p>
                      <a:pPr marL="457200" indent="-457200">
                        <a:buFont typeface="+mj-ea"/>
                        <a:buAutoNum type="circleNumDbPlain"/>
                      </a:pPr>
                      <a:r>
                        <a:rPr kumimoji="1" lang="ja-JP" altLang="en-US" sz="2000" dirty="0"/>
                        <a:t>実質的生産のアウトプット製品は、次のために使用される。</a:t>
                      </a:r>
                      <a:endParaRPr kumimoji="1" lang="en-US" altLang="ja-JP" sz="2000" dirty="0"/>
                    </a:p>
                    <a:p>
                      <a:pPr marL="0" indent="0">
                        <a:buFontTx/>
                        <a:buNone/>
                      </a:pPr>
                      <a:r>
                        <a:rPr kumimoji="1" lang="ja-JP" altLang="en-US" sz="2000" dirty="0"/>
                        <a:t>　　・工程能力予備調査　　　　　・梱包評価</a:t>
                      </a:r>
                      <a:endParaRPr kumimoji="1" lang="en-US" altLang="ja-JP" sz="2000" dirty="0"/>
                    </a:p>
                    <a:p>
                      <a:pPr marL="0" indent="0">
                        <a:buFontTx/>
                        <a:buNone/>
                      </a:pPr>
                      <a:r>
                        <a:rPr kumimoji="1" lang="ja-JP" altLang="en-US" sz="2000" dirty="0"/>
                        <a:t>　　・測定システム解析　　　　　・生産能率実証</a:t>
                      </a:r>
                      <a:endParaRPr kumimoji="1" lang="en-US" altLang="ja-JP" sz="2000" dirty="0"/>
                    </a:p>
                    <a:p>
                      <a:pPr marL="0" indent="0">
                        <a:buFontTx/>
                        <a:buNone/>
                      </a:pPr>
                      <a:r>
                        <a:rPr kumimoji="1" lang="ja-JP" altLang="en-US" sz="2000" dirty="0"/>
                        <a:t>　　・プロセスレビュー　　　　　・生産部品サンプル（承認）</a:t>
                      </a:r>
                      <a:endParaRPr kumimoji="1" lang="en-US" altLang="ja-JP" sz="2000" dirty="0"/>
                    </a:p>
                    <a:p>
                      <a:pPr marL="0" indent="0">
                        <a:buFontTx/>
                        <a:buNone/>
                      </a:pPr>
                      <a:r>
                        <a:rPr kumimoji="1" lang="ja-JP" altLang="en-US" sz="2000" dirty="0"/>
                        <a:t>　　・量産の妥当性確認試験　　　・マスターサンプル</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791046667"/>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658037699"/>
              </p:ext>
            </p:extLst>
          </p:nvPr>
        </p:nvGraphicFramePr>
        <p:xfrm>
          <a:off x="838200" y="1418590"/>
          <a:ext cx="10515600" cy="43281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測定システム解析（</a:t>
                      </a:r>
                      <a:r>
                        <a:rPr kumimoji="1" lang="en-US" altLang="ja-JP" sz="2000" dirty="0"/>
                        <a:t>MSA</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t>CP</a:t>
                      </a:r>
                      <a:r>
                        <a:rPr kumimoji="1" lang="ja-JP" altLang="en-US" sz="2000" dirty="0"/>
                        <a:t>で特定された特性を技術仕様書に照らして評価する際には、指定された監視・測定装置並びに方法を用いる。</a:t>
                      </a:r>
                      <a:endParaRPr kumimoji="1" lang="en-US" altLang="ja-JP" sz="2000" dirty="0"/>
                    </a:p>
                    <a:p>
                      <a:pPr marL="457200" indent="-457200">
                        <a:buFont typeface="+mj-ea"/>
                        <a:buAutoNum type="circleNumDbPlain"/>
                      </a:pPr>
                      <a:r>
                        <a:rPr kumimoji="1" lang="ja-JP" altLang="en-US" sz="2000" dirty="0"/>
                        <a:t>これらの装置及び方法に対して、実質的生産の間又はその実施前に、</a:t>
                      </a:r>
                      <a:r>
                        <a:rPr kumimoji="1" lang="en-US" altLang="ja-JP" sz="2000" dirty="0"/>
                        <a:t>MSA</a:t>
                      </a:r>
                      <a:r>
                        <a:rPr kumimoji="1" lang="ja-JP" altLang="en-US" sz="2000" dirty="0"/>
                        <a:t>を行う。</a:t>
                      </a:r>
                      <a:endParaRPr kumimoji="1" lang="en-US" altLang="ja-JP" sz="2000" dirty="0"/>
                    </a:p>
                    <a:p>
                      <a:pPr marL="0" indent="0">
                        <a:buFontTx/>
                        <a:buNone/>
                      </a:pPr>
                      <a:r>
                        <a:rPr kumimoji="1" lang="en-US" altLang="ja-JP" sz="2000" dirty="0"/>
                        <a:t>※</a:t>
                      </a:r>
                      <a:r>
                        <a:rPr kumimoji="1" lang="ja-JP" altLang="en-US" sz="2000" dirty="0"/>
                        <a:t>６．</a:t>
                      </a:r>
                      <a:r>
                        <a:rPr kumimoji="1" lang="en-US" altLang="ja-JP" sz="2000" dirty="0"/>
                        <a:t>MSA</a:t>
                      </a:r>
                      <a:r>
                        <a:rPr kumimoji="1" lang="ja-JP" altLang="en-US" sz="2000" dirty="0"/>
                        <a:t>解説参照。</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工程能力予備調査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工程能力予備調査を、</a:t>
                      </a:r>
                      <a:r>
                        <a:rPr kumimoji="1" lang="en-US" altLang="ja-JP" sz="2000" dirty="0"/>
                        <a:t>CP</a:t>
                      </a:r>
                      <a:r>
                        <a:rPr kumimoji="1" lang="ja-JP" altLang="en-US" sz="2000" dirty="0"/>
                        <a:t>で特定した特性に対して実施する。</a:t>
                      </a:r>
                      <a:endParaRPr kumimoji="1" lang="en-US" altLang="ja-JP" sz="2000" dirty="0"/>
                    </a:p>
                    <a:p>
                      <a:pPr marL="0" indent="0">
                        <a:buFontTx/>
                        <a:buNone/>
                      </a:pPr>
                      <a:r>
                        <a:rPr kumimoji="1" lang="en-US" altLang="ja-JP" sz="2000" dirty="0"/>
                        <a:t>※</a:t>
                      </a:r>
                      <a:r>
                        <a:rPr kumimoji="1" lang="ja-JP" altLang="en-US" sz="2000" dirty="0"/>
                        <a:t>５．</a:t>
                      </a:r>
                      <a:r>
                        <a:rPr kumimoji="1" lang="en-US" altLang="ja-JP" sz="2000" dirty="0"/>
                        <a:t>SPC</a:t>
                      </a:r>
                      <a:r>
                        <a:rPr kumimoji="1" lang="ja-JP" altLang="en-US" sz="2000" dirty="0"/>
                        <a:t>解説参照。</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821566"/>
                  </a:ext>
                </a:extLst>
              </a:tr>
              <a:tr h="370840">
                <a:tc>
                  <a:txBody>
                    <a:bodyPr/>
                    <a:lstStyle/>
                    <a:p>
                      <a:r>
                        <a:rPr kumimoji="1" lang="ja-JP" altLang="en-US" sz="2000" dirty="0"/>
                        <a:t>生産部品承認（</a:t>
                      </a:r>
                      <a:r>
                        <a:rPr kumimoji="1" lang="en-US" altLang="ja-JP" sz="2000" dirty="0"/>
                        <a:t>PPAP</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t>PPAP</a:t>
                      </a:r>
                      <a:r>
                        <a:rPr kumimoji="1" lang="ja-JP" altLang="en-US" sz="2000" dirty="0"/>
                        <a:t>の目的は、組織がすべての顧客の技術設計文書・仕様要求事項を適切に理解し、製造プロセスは実際の量産において、指定の生産能率でこれらの要求事項を満たして製品を安定して生産する能力を有している証拠を提供することである。</a:t>
                      </a:r>
                      <a:endParaRPr kumimoji="1" lang="en-US" altLang="ja-JP" sz="2000" dirty="0"/>
                    </a:p>
                    <a:p>
                      <a:pPr marL="0" indent="0">
                        <a:buFontTx/>
                        <a:buNone/>
                      </a:pPr>
                      <a:r>
                        <a:rPr kumimoji="1" lang="en-US" altLang="ja-JP" sz="2000" dirty="0"/>
                        <a:t>※</a:t>
                      </a:r>
                      <a:r>
                        <a:rPr kumimoji="1" lang="ja-JP" altLang="en-US" sz="2000" dirty="0"/>
                        <a:t>３．</a:t>
                      </a:r>
                      <a:r>
                        <a:rPr kumimoji="1" lang="en-US" altLang="ja-JP" sz="2000" dirty="0"/>
                        <a:t>PPAP</a:t>
                      </a:r>
                      <a:r>
                        <a:rPr kumimoji="1" lang="ja-JP" altLang="en-US" sz="2000" dirty="0"/>
                        <a:t>解説参照。</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85560"/>
                  </a:ext>
                </a:extLst>
              </a:tr>
            </a:tbl>
          </a:graphicData>
        </a:graphic>
      </p:graphicFrame>
    </p:spTree>
    <p:extLst>
      <p:ext uri="{BB962C8B-B14F-4D97-AF65-F5344CB8AC3E}">
        <p14:creationId xmlns:p14="http://schemas.microsoft.com/office/powerpoint/2010/main" val="1024011860"/>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168075636"/>
              </p:ext>
            </p:extLst>
          </p:nvPr>
        </p:nvGraphicFramePr>
        <p:xfrm>
          <a:off x="838200" y="1418590"/>
          <a:ext cx="10515600" cy="43281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量産の妥当性確認試験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量産用の治工具・プロセスで製造された製品が、顧客の技術規格（外観要求事項を含む）を満たしていることの妥当性を確認する。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梱包評価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すべての出荷状態及び輸送状態において、製品を通常の輸送中の損傷や有害な環境要因から保護できるかどうかを評価する。</a:t>
                      </a:r>
                      <a:endParaRPr kumimoji="1" lang="en-US" altLang="ja-JP" sz="2000" dirty="0"/>
                    </a:p>
                    <a:p>
                      <a:pPr marL="457200" indent="-457200">
                        <a:buFont typeface="+mj-ea"/>
                        <a:buAutoNum type="circleNumDbPlain"/>
                      </a:pPr>
                      <a:r>
                        <a:rPr kumimoji="1" lang="ja-JP" altLang="en-US" sz="2000" dirty="0"/>
                        <a:t>顧客が梱包方法を指定する場合でも、組織による評価は必要である。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821566"/>
                  </a:ext>
                </a:extLst>
              </a:tr>
              <a:tr h="370840">
                <a:tc>
                  <a:txBody>
                    <a:bodyPr/>
                    <a:lstStyle/>
                    <a:p>
                      <a:r>
                        <a:rPr kumimoji="1" lang="ja-JP" altLang="en-US" sz="2000" dirty="0"/>
                        <a:t>量産</a:t>
                      </a:r>
                      <a:r>
                        <a:rPr kumimoji="1" lang="en-US" altLang="ja-JP" sz="2000" dirty="0"/>
                        <a:t>CP</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量産</a:t>
                      </a:r>
                      <a:r>
                        <a:rPr kumimoji="1" lang="en-US" altLang="ja-JP" sz="2000" dirty="0"/>
                        <a:t>CP</a:t>
                      </a:r>
                      <a:r>
                        <a:rPr kumimoji="1" lang="ja-JP" altLang="en-US" sz="2000" dirty="0"/>
                        <a:t>は、量産段階の製品・プロセスを管理するシステムについて記述した文書である。</a:t>
                      </a:r>
                      <a:endParaRPr kumimoji="1" lang="en-US" altLang="ja-JP" sz="2000" dirty="0"/>
                    </a:p>
                    <a:p>
                      <a:pPr marL="457200" indent="-457200">
                        <a:buFont typeface="+mj-ea"/>
                        <a:buAutoNum type="circleNumDbPlain"/>
                      </a:pPr>
                      <a:r>
                        <a:rPr kumimoji="1" lang="ja-JP" altLang="en-US" sz="2000" dirty="0">
                          <a:solidFill>
                            <a:srgbClr val="FF0000"/>
                          </a:solidFill>
                          <a:effectLst>
                            <a:outerShdw blurRad="38100" dist="38100" dir="2700000" algn="tl">
                              <a:srgbClr val="000000">
                                <a:alpha val="43137"/>
                              </a:srgbClr>
                            </a:outerShdw>
                          </a:effectLst>
                        </a:rPr>
                        <a:t>量産</a:t>
                      </a:r>
                      <a:r>
                        <a:rPr kumimoji="1" lang="en-US" altLang="ja-JP" sz="2000" dirty="0">
                          <a:solidFill>
                            <a:srgbClr val="FF0000"/>
                          </a:solidFill>
                          <a:effectLst>
                            <a:outerShdw blurRad="38100" dist="38100" dir="2700000" algn="tl">
                              <a:srgbClr val="000000">
                                <a:alpha val="43137"/>
                              </a:srgbClr>
                            </a:outerShdw>
                          </a:effectLst>
                        </a:rPr>
                        <a:t>CP</a:t>
                      </a:r>
                      <a:r>
                        <a:rPr kumimoji="1" lang="ja-JP" altLang="en-US" sz="2000" dirty="0">
                          <a:solidFill>
                            <a:srgbClr val="FF0000"/>
                          </a:solidFill>
                          <a:effectLst>
                            <a:outerShdw blurRad="38100" dist="38100" dir="2700000" algn="tl">
                              <a:srgbClr val="000000">
                                <a:alpha val="43137"/>
                              </a:srgbClr>
                            </a:outerShdw>
                          </a:effectLst>
                        </a:rPr>
                        <a:t>は生きた文書であり、常に最新の内容に更新する。</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a:pPr>
                      <a:r>
                        <a:rPr kumimoji="1" lang="en-US" altLang="ja-JP" sz="2000" dirty="0"/>
                        <a:t>CP</a:t>
                      </a:r>
                      <a:r>
                        <a:rPr kumimoji="1" lang="ja-JP" altLang="en-US" sz="2000" dirty="0"/>
                        <a:t>の内容については、</a:t>
                      </a:r>
                      <a:r>
                        <a:rPr kumimoji="1" lang="en-US" altLang="ja-JP" sz="2000" dirty="0"/>
                        <a:t>IATF16949</a:t>
                      </a:r>
                      <a:r>
                        <a:rPr kumimoji="1" lang="ja-JP" altLang="en-US" sz="2000" dirty="0"/>
                        <a:t>規格書の附属書</a:t>
                      </a:r>
                      <a:r>
                        <a:rPr kumimoji="1" lang="en-US" altLang="ja-JP" sz="2000" dirty="0"/>
                        <a:t>A</a:t>
                      </a:r>
                      <a:r>
                        <a:rPr kumimoji="1" lang="ja-JP" altLang="en-US" sz="2000" dirty="0"/>
                        <a:t>及び</a:t>
                      </a:r>
                      <a:r>
                        <a:rPr kumimoji="1" lang="en-US" altLang="ja-JP" sz="2000" dirty="0"/>
                        <a:t>APQP</a:t>
                      </a:r>
                      <a:r>
                        <a:rPr kumimoji="1" lang="ja-JP" altLang="en-US" sz="2000" dirty="0"/>
                        <a:t>参照マニュアルに記載されている。</a:t>
                      </a:r>
                      <a:endParaRPr kumimoji="1" lang="en-US" altLang="ja-JP" sz="2000" dirty="0"/>
                    </a:p>
                    <a:p>
                      <a:pPr marL="457200" indent="-457200">
                        <a:buFont typeface="+mj-ea"/>
                        <a:buAutoNum type="circleNumDbPlain"/>
                      </a:pPr>
                      <a:r>
                        <a:rPr kumimoji="1" lang="ja-JP" altLang="en-US" sz="2000" dirty="0"/>
                        <a:t>量産</a:t>
                      </a:r>
                      <a:r>
                        <a:rPr kumimoji="1" lang="en-US" altLang="ja-JP" sz="2000" dirty="0"/>
                        <a:t>CP</a:t>
                      </a:r>
                      <a:r>
                        <a:rPr kumimoji="1" lang="ja-JP" altLang="en-US" sz="2000" dirty="0"/>
                        <a:t>は、顧客の承認が必要なことが多い。</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385560"/>
                  </a:ext>
                </a:extLst>
              </a:tr>
            </a:tbl>
          </a:graphicData>
        </a:graphic>
      </p:graphicFrame>
    </p:spTree>
    <p:extLst>
      <p:ext uri="{BB962C8B-B14F-4D97-AF65-F5344CB8AC3E}">
        <p14:creationId xmlns:p14="http://schemas.microsoft.com/office/powerpoint/2010/main" val="3604738223"/>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419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2008361777"/>
              </p:ext>
            </p:extLst>
          </p:nvPr>
        </p:nvGraphicFramePr>
        <p:xfrm>
          <a:off x="838200" y="1418590"/>
          <a:ext cx="10515600" cy="505968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品質計画承認署名及び経営者の支援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en-US" altLang="ja-JP" sz="2000" dirty="0"/>
                        <a:t>APQP</a:t>
                      </a:r>
                      <a:r>
                        <a:rPr kumimoji="1" lang="ja-JP" altLang="en-US" sz="2000" dirty="0"/>
                        <a:t>チームは製造事業所でレビューを行い、正式な承認署名のための調整を行う。</a:t>
                      </a:r>
                      <a:endParaRPr kumimoji="1" lang="en-US" altLang="ja-JP" sz="2000" dirty="0"/>
                    </a:p>
                    <a:p>
                      <a:pPr marL="457200" indent="-457200">
                        <a:buFont typeface="+mj-ea"/>
                        <a:buAutoNum type="circleNumDbPlain"/>
                      </a:pPr>
                      <a:r>
                        <a:rPr kumimoji="1" lang="ja-JP" altLang="en-US" sz="2000" dirty="0"/>
                        <a:t>製品品質承認署名によって、適切な</a:t>
                      </a:r>
                      <a:r>
                        <a:rPr kumimoji="1" lang="en-US" altLang="ja-JP" sz="2000" dirty="0"/>
                        <a:t>APQP</a:t>
                      </a:r>
                      <a:r>
                        <a:rPr kumimoji="1" lang="ja-JP" altLang="en-US" sz="2000" dirty="0"/>
                        <a:t>活動が完了していることが経営者に示される。</a:t>
                      </a:r>
                      <a:endParaRPr kumimoji="1" lang="en-US" altLang="ja-JP" sz="2000" dirty="0"/>
                    </a:p>
                    <a:p>
                      <a:pPr marL="457200" indent="-457200">
                        <a:buFont typeface="+mj-ea"/>
                        <a:buAutoNum type="circleNumDbPlain"/>
                      </a:pPr>
                      <a:r>
                        <a:rPr kumimoji="1" lang="ja-JP" altLang="en-US" sz="2000" dirty="0"/>
                        <a:t>承認署名は初品出荷の前に行い、次の事項のレビューを含む。</a:t>
                      </a:r>
                      <a:endParaRPr kumimoji="1" lang="en-US" altLang="ja-JP" sz="2000" dirty="0"/>
                    </a:p>
                    <a:p>
                      <a:pPr marL="914400" lvl="1" indent="-457200">
                        <a:buFont typeface="Arial" panose="020B0604020202020204" pitchFamily="34" charset="0"/>
                        <a:buChar char="•"/>
                      </a:pPr>
                      <a:r>
                        <a:rPr kumimoji="1" lang="ja-JP" altLang="en-US" sz="2000" dirty="0"/>
                        <a:t>製造プロセスは、プロセスフロー図に従っている。</a:t>
                      </a:r>
                      <a:endParaRPr kumimoji="1" lang="en-US" altLang="ja-JP" sz="2000" dirty="0"/>
                    </a:p>
                    <a:p>
                      <a:pPr marL="914400" lvl="1" indent="-457200">
                        <a:buFont typeface="Arial" panose="020B0604020202020204" pitchFamily="34" charset="0"/>
                        <a:buChar char="•"/>
                      </a:pPr>
                      <a:r>
                        <a:rPr kumimoji="1" lang="ja-JP" altLang="en-US" sz="2000" dirty="0"/>
                        <a:t>各作業は、</a:t>
                      </a:r>
                      <a:r>
                        <a:rPr kumimoji="1" lang="en-US" altLang="ja-JP" sz="2000" dirty="0"/>
                        <a:t>CP</a:t>
                      </a:r>
                      <a:r>
                        <a:rPr kumimoji="1" lang="ja-JP" altLang="en-US" sz="2000" dirty="0"/>
                        <a:t>に従って実施されている。</a:t>
                      </a:r>
                      <a:endParaRPr kumimoji="1" lang="en-US" altLang="ja-JP" sz="2000" dirty="0"/>
                    </a:p>
                    <a:p>
                      <a:pPr marL="914400" lvl="1" indent="-457200">
                        <a:buFont typeface="Arial" panose="020B0604020202020204" pitchFamily="34" charset="0"/>
                        <a:buChar char="•"/>
                      </a:pPr>
                      <a:r>
                        <a:rPr kumimoji="1" lang="ja-JP" altLang="en-US" sz="2000" dirty="0"/>
                        <a:t>プロセス指示書には、</a:t>
                      </a:r>
                      <a:r>
                        <a:rPr kumimoji="1" lang="en-US" altLang="ja-JP" sz="2000" dirty="0"/>
                        <a:t>CP</a:t>
                      </a:r>
                      <a:r>
                        <a:rPr kumimoji="1" lang="ja-JP" altLang="en-US" sz="2000" dirty="0"/>
                        <a:t>で規定されたすべての特殊特性が記載されており、又すべての工程</a:t>
                      </a:r>
                      <a:r>
                        <a:rPr kumimoji="1" lang="en-US" altLang="ja-JP" sz="2000" dirty="0"/>
                        <a:t>FMEA</a:t>
                      </a:r>
                      <a:r>
                        <a:rPr kumimoji="1" lang="ja-JP" altLang="en-US" sz="2000" dirty="0"/>
                        <a:t>の推奨処置が対処されている。</a:t>
                      </a:r>
                      <a:endParaRPr kumimoji="1" lang="en-US" altLang="ja-JP" sz="2000" dirty="0"/>
                    </a:p>
                    <a:p>
                      <a:pPr marL="914400" lvl="1" indent="-457200">
                        <a:buFont typeface="Arial" panose="020B0604020202020204" pitchFamily="34" charset="0"/>
                        <a:buChar char="•"/>
                      </a:pPr>
                      <a:r>
                        <a:rPr kumimoji="1" lang="ja-JP" altLang="en-US" sz="2000" dirty="0"/>
                        <a:t>プロセス指示書、工程</a:t>
                      </a:r>
                      <a:r>
                        <a:rPr kumimoji="1" lang="en-US" altLang="ja-JP" sz="2000" dirty="0"/>
                        <a:t>FMEA</a:t>
                      </a:r>
                      <a:r>
                        <a:rPr kumimoji="1" lang="ja-JP" altLang="en-US" sz="2000" dirty="0"/>
                        <a:t>及びプロセスフロー図を</a:t>
                      </a:r>
                      <a:r>
                        <a:rPr kumimoji="1" lang="en-US" altLang="ja-JP" sz="2000" dirty="0"/>
                        <a:t>CP</a:t>
                      </a:r>
                      <a:r>
                        <a:rPr kumimoji="1" lang="ja-JP" altLang="en-US" sz="2000" dirty="0"/>
                        <a:t>と比較する。</a:t>
                      </a:r>
                      <a:endParaRPr kumimoji="1" lang="en-US" altLang="ja-JP" sz="2000" dirty="0"/>
                    </a:p>
                    <a:p>
                      <a:pPr marL="914400" lvl="1" indent="-457200">
                        <a:buFont typeface="Arial" panose="020B0604020202020204" pitchFamily="34" charset="0"/>
                        <a:buChar char="•"/>
                      </a:pPr>
                      <a:r>
                        <a:rPr kumimoji="1" lang="en-US" altLang="ja-JP" sz="2000" dirty="0"/>
                        <a:t>CP</a:t>
                      </a:r>
                      <a:r>
                        <a:rPr kumimoji="1" lang="ja-JP" altLang="en-US" sz="2000" dirty="0"/>
                        <a:t>により、特別なゲージ、治具、試験装置又は機器が必要とされる場合、繰返し性・再現性（</a:t>
                      </a:r>
                      <a:r>
                        <a:rPr kumimoji="1" lang="en-US" altLang="ja-JP" sz="2000" dirty="0"/>
                        <a:t>GRR</a:t>
                      </a:r>
                      <a:r>
                        <a:rPr kumimoji="1" lang="ja-JP" altLang="en-US" sz="2000" dirty="0"/>
                        <a:t>）並びに適切な使用について検証する。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1979468434"/>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140383996"/>
              </p:ext>
            </p:extLst>
          </p:nvPr>
        </p:nvGraphicFramePr>
        <p:xfrm>
          <a:off x="838200" y="1418590"/>
          <a:ext cx="10515600" cy="201168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品質計画承認署名及び経営者の支援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00100" lvl="1" indent="-342900">
                        <a:buFont typeface="Arial" panose="020B0604020202020204" pitchFamily="34" charset="0"/>
                        <a:buChar char="•"/>
                      </a:pPr>
                      <a:r>
                        <a:rPr kumimoji="1" lang="ja-JP" altLang="en-US" sz="2000" dirty="0"/>
                        <a:t>要求される生産能力の実証には、量産用のプロセス、装置及び要員を用いる。</a:t>
                      </a:r>
                      <a:endParaRPr kumimoji="1" lang="en-US" altLang="ja-JP" sz="2000" dirty="0"/>
                    </a:p>
                    <a:p>
                      <a:pPr marL="457200" lvl="0" indent="-457200">
                        <a:buFont typeface="+mj-ea"/>
                        <a:buAutoNum type="circleNumDbPlain" startAt="4"/>
                      </a:pPr>
                      <a:r>
                        <a:rPr kumimoji="1" lang="ja-JP" altLang="en-US" sz="2000" dirty="0"/>
                        <a:t>承認署名の完了に際し、</a:t>
                      </a:r>
                      <a:r>
                        <a:rPr kumimoji="1" lang="en-US" altLang="ja-JP" sz="2000" dirty="0"/>
                        <a:t>APQP</a:t>
                      </a:r>
                      <a:r>
                        <a:rPr kumimoji="1" lang="ja-JP" altLang="en-US" sz="2000" dirty="0"/>
                        <a:t>プログラムの状況の情報を経営者に伝え、未解決問題に対する経営者の支援を獲得するために、経営者とのレビューを行う。</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931034811"/>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２．ＡＰＱＰ（フェーズ４）</a:t>
            </a:r>
          </a:p>
        </p:txBody>
      </p:sp>
      <p:pic>
        <p:nvPicPr>
          <p:cNvPr id="6" name="図 5">
            <a:extLst>
              <a:ext uri="{FF2B5EF4-FFF2-40B4-BE49-F238E27FC236}">
                <a16:creationId xmlns:a16="http://schemas.microsoft.com/office/drawing/2014/main" id="{9699C8D9-2101-4B7A-B486-CE80DA573C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07805"/>
            <a:ext cx="10515600" cy="5048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468173"/>
      </p:ext>
    </p:extLst>
  </p:cSld>
  <p:clrMapOvr>
    <a:masterClrMapping/>
  </p:clrMapOvr>
  <p:timing>
    <p:tnLst>
      <p:par>
        <p:cTn id="1" dur="indefinite" restart="never" nodeType="tmRoot"/>
      </p:par>
    </p:tnLst>
  </p:timing>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6"/>
            <a:ext cx="10515600" cy="5012294"/>
          </a:xfrm>
          <a:prstGeom prst="rect">
            <a:avLst/>
          </a:prstGeom>
          <a:ln w="12700">
            <a:solidFill>
              <a:schemeClr val="tx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フェーズ５の要点。</a:t>
            </a:r>
            <a:endParaRPr lang="en-US" altLang="ja-JP" sz="2400" dirty="0"/>
          </a:p>
          <a:p>
            <a:pPr marL="914400" lvl="1" indent="-457200">
              <a:lnSpc>
                <a:spcPct val="100000"/>
              </a:lnSpc>
              <a:buFont typeface="+mj-ea"/>
              <a:buAutoNum type="circleNumDbPlain"/>
            </a:pPr>
            <a:r>
              <a:rPr lang="ja-JP" altLang="en-US" dirty="0"/>
              <a:t>フェーズ５は「量産・改善（フィードバック・評価・是正）」であり、継続的な改善を行う。</a:t>
            </a:r>
            <a:endParaRPr lang="en-US" altLang="ja-JP" dirty="0"/>
          </a:p>
          <a:p>
            <a:pPr marL="914400" lvl="1" indent="-457200">
              <a:lnSpc>
                <a:spcPct val="100000"/>
              </a:lnSpc>
              <a:buFont typeface="+mj-ea"/>
              <a:buAutoNum type="circleNumDbPlain"/>
            </a:pPr>
            <a:r>
              <a:rPr lang="ja-JP" altLang="en-US" dirty="0"/>
              <a:t>主な継続的な改善（フェーズ５のアウトプット）事項。</a:t>
            </a:r>
            <a:endParaRPr lang="en-US" altLang="ja-JP" dirty="0"/>
          </a:p>
          <a:p>
            <a:pPr lvl="2">
              <a:lnSpc>
                <a:spcPct val="100000"/>
              </a:lnSpc>
            </a:pPr>
            <a:r>
              <a:rPr lang="ja-JP" altLang="en-US" sz="2400" dirty="0"/>
              <a:t>工程変動の減少</a:t>
            </a:r>
            <a:endParaRPr lang="en-US" altLang="ja-JP" sz="2400" dirty="0"/>
          </a:p>
          <a:p>
            <a:pPr lvl="2">
              <a:lnSpc>
                <a:spcPct val="100000"/>
              </a:lnSpc>
            </a:pPr>
            <a:r>
              <a:rPr lang="ja-JP" altLang="en-US" sz="2400" dirty="0"/>
              <a:t>顧客満足の向上</a:t>
            </a:r>
            <a:endParaRPr lang="en-US" altLang="ja-JP" sz="2400" dirty="0"/>
          </a:p>
          <a:p>
            <a:pPr lvl="2">
              <a:lnSpc>
                <a:spcPct val="100000"/>
              </a:lnSpc>
            </a:pPr>
            <a:r>
              <a:rPr lang="ja-JP" altLang="en-US" sz="2400" dirty="0"/>
              <a:t>引渡し及びサービスの改善</a:t>
            </a:r>
            <a:endParaRPr lang="en-US" altLang="ja-JP" sz="2400" dirty="0"/>
          </a:p>
          <a:p>
            <a:pPr lvl="2">
              <a:lnSpc>
                <a:spcPct val="100000"/>
              </a:lnSpc>
            </a:pPr>
            <a:r>
              <a:rPr lang="ja-JP" altLang="en-US" sz="2400" dirty="0"/>
              <a:t>学んだことの効果的活用</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２．ＡＰＱＰ（フェーズ５）</a:t>
            </a:r>
          </a:p>
        </p:txBody>
      </p:sp>
    </p:spTree>
    <p:extLst>
      <p:ext uri="{BB962C8B-B14F-4D97-AF65-F5344CB8AC3E}">
        <p14:creationId xmlns:p14="http://schemas.microsoft.com/office/powerpoint/2010/main" val="1910433737"/>
      </p:ext>
    </p:extLst>
  </p:cSld>
  <p:clrMapOvr>
    <a:masterClrMapping/>
  </p:clrMapOvr>
  <p:timing>
    <p:tnLst>
      <p:par>
        <p:cTn id="1" dur="indefinite" restart="never" nodeType="tmRoot"/>
      </p:par>
    </p:tnLst>
  </p:timing>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46549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フェーズ５の詳細なアウトプット。</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３．ＡＰＱＰ（フェーズ５）</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1891354687"/>
              </p:ext>
            </p:extLst>
          </p:nvPr>
        </p:nvGraphicFramePr>
        <p:xfrm>
          <a:off x="838200" y="1809549"/>
          <a:ext cx="10515600" cy="432816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r>
                        <a:rPr kumimoji="1" lang="ja-JP" altLang="en-US" sz="2000" dirty="0"/>
                        <a:t>工程変動の減少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工程変動を減少させるツールとして、管理図などの統計的手法を用いる。</a:t>
                      </a:r>
                      <a:endParaRPr kumimoji="1" lang="en-US" altLang="ja-JP" sz="2000" dirty="0"/>
                    </a:p>
                    <a:p>
                      <a:pPr marL="457200" indent="-457200">
                        <a:buFont typeface="+mj-ea"/>
                        <a:buAutoNum type="circleNumDbPlain"/>
                      </a:pPr>
                      <a:r>
                        <a:rPr kumimoji="1" lang="ja-JP" altLang="en-US" sz="2000" dirty="0"/>
                        <a:t>継続的改善を進めるためには、変動の特別原因だけでなく、共通原因の理解及びこれらの変動源を減少させる方策を追及する。</a:t>
                      </a:r>
                      <a:endParaRPr kumimoji="1" lang="en-US" altLang="ja-JP" sz="2000" dirty="0"/>
                    </a:p>
                    <a:p>
                      <a:pPr marL="457200" indent="-457200">
                        <a:buFont typeface="+mj-ea"/>
                        <a:buAutoNum type="circleNumDbPlain"/>
                      </a:pPr>
                      <a:r>
                        <a:rPr kumimoji="1" lang="ja-JP" altLang="en-US" sz="2000" dirty="0"/>
                        <a:t>共通原因を減少させ、除去することによって、コスト削減という付加的な利益が得られる。</a:t>
                      </a:r>
                      <a:endParaRPr kumimoji="1" lang="en-US" altLang="ja-JP" sz="2000" dirty="0"/>
                    </a:p>
                    <a:p>
                      <a:pPr marL="457200" indent="-457200">
                        <a:buFont typeface="+mj-ea"/>
                        <a:buAutoNum type="circleNumDbPlain"/>
                      </a:pPr>
                      <a:r>
                        <a:rPr kumimoji="1" lang="ja-JP" altLang="en-US" sz="2000" dirty="0"/>
                        <a:t>品質を改善し、コストを削減するために、組織は価値分析や変動の減少というツールを利用する。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顧客満足の向上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製品・サービスの詳細な計画活動及び実証された工程能力は、顧客満足の重要な構成要素である。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r h="370840">
                <a:tc>
                  <a:txBody>
                    <a:bodyPr/>
                    <a:lstStyle/>
                    <a:p>
                      <a:r>
                        <a:rPr kumimoji="1" lang="ja-JP" altLang="en-US" sz="2000" dirty="0"/>
                        <a:t>引渡し及びサービスの改善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顧客による部品交換やサービス業務も、品質、コスト、引き渡しに関する要求事項を満たさなければならない。</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565088"/>
                  </a:ext>
                </a:extLst>
              </a:tr>
            </a:tbl>
          </a:graphicData>
        </a:graphic>
      </p:graphicFrame>
    </p:spTree>
    <p:extLst>
      <p:ext uri="{BB962C8B-B14F-4D97-AF65-F5344CB8AC3E}">
        <p14:creationId xmlns:p14="http://schemas.microsoft.com/office/powerpoint/2010/main" val="4289569052"/>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３．ＡＰＱＰ（フェーズ５）</a:t>
            </a:r>
          </a:p>
        </p:txBody>
      </p:sp>
      <p:graphicFrame>
        <p:nvGraphicFramePr>
          <p:cNvPr id="2" name="表 2">
            <a:extLst>
              <a:ext uri="{FF2B5EF4-FFF2-40B4-BE49-F238E27FC236}">
                <a16:creationId xmlns:a16="http://schemas.microsoft.com/office/drawing/2014/main" id="{36CDD11E-039C-4732-AE74-2E07350AF7BC}"/>
              </a:ext>
            </a:extLst>
          </p:cNvPr>
          <p:cNvGraphicFramePr>
            <a:graphicFrameLocks noGrp="1"/>
          </p:cNvGraphicFramePr>
          <p:nvPr>
            <p:extLst>
              <p:ext uri="{D42A27DB-BD31-4B8C-83A1-F6EECF244321}">
                <p14:modId xmlns:p14="http://schemas.microsoft.com/office/powerpoint/2010/main" val="3792270450"/>
              </p:ext>
            </p:extLst>
          </p:nvPr>
        </p:nvGraphicFramePr>
        <p:xfrm>
          <a:off x="838200" y="1395663"/>
          <a:ext cx="10515600" cy="4541520"/>
        </p:xfrm>
        <a:graphic>
          <a:graphicData uri="http://schemas.openxmlformats.org/drawingml/2006/table">
            <a:tbl>
              <a:tblPr firstRow="1" bandRow="1">
                <a:tableStyleId>{5940675A-B579-460E-94D1-54222C63F5DA}</a:tableStyleId>
              </a:tblPr>
              <a:tblGrid>
                <a:gridCol w="2309262">
                  <a:extLst>
                    <a:ext uri="{9D8B030D-6E8A-4147-A177-3AD203B41FA5}">
                      <a16:colId xmlns:a16="http://schemas.microsoft.com/office/drawing/2014/main" val="3548991875"/>
                    </a:ext>
                  </a:extLst>
                </a:gridCol>
                <a:gridCol w="8206338">
                  <a:extLst>
                    <a:ext uri="{9D8B030D-6E8A-4147-A177-3AD203B41FA5}">
                      <a16:colId xmlns:a16="http://schemas.microsoft.com/office/drawing/2014/main" val="3423132061"/>
                    </a:ext>
                  </a:extLst>
                </a:gridCol>
              </a:tblGrid>
              <a:tr h="370840">
                <a:tc>
                  <a:txBody>
                    <a:bodyPr/>
                    <a:lstStyle/>
                    <a:p>
                      <a:pPr algn="ctr"/>
                      <a:r>
                        <a:rPr kumimoji="1" lang="ja-JP" altLang="en-US" sz="2000" dirty="0"/>
                        <a:t>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831571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引渡し及びサービスの改善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startAt="2"/>
                      </a:pPr>
                      <a:r>
                        <a:rPr kumimoji="1" lang="ja-JP" altLang="en-US" sz="2000" dirty="0"/>
                        <a:t>到達目標は初回品質である。しかし、市場で問題又は不具合が発生した場合、組織と顧客は、問題を是正するために、効果的なパートナーシップを組むことが不可欠である。</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646221"/>
                  </a:ext>
                </a:extLst>
              </a:tr>
              <a:tr h="370840">
                <a:tc>
                  <a:txBody>
                    <a:bodyPr/>
                    <a:lstStyle/>
                    <a:p>
                      <a:r>
                        <a:rPr kumimoji="1" lang="ja-JP" altLang="en-US" sz="2000" dirty="0"/>
                        <a:t>学んだ教訓・ベストプラクティスの効果的な活用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学んだ教訓やベストプラクティスの一覧は、知識の獲得、保持及び応用に役立つ。</a:t>
                      </a:r>
                      <a:endParaRPr kumimoji="1" lang="en-US" altLang="ja-JP" sz="2000" dirty="0"/>
                    </a:p>
                    <a:p>
                      <a:pPr marL="457200" indent="-457200">
                        <a:buFont typeface="+mj-ea"/>
                        <a:buAutoNum type="circleNumDbPlain"/>
                      </a:pPr>
                      <a:r>
                        <a:rPr kumimoji="1" lang="ja-JP" altLang="en-US" sz="2000" dirty="0"/>
                        <a:t>学んだ教訓・ベストプラクティスへのインプットは、次のものを含む様々な方法から得ることができる。</a:t>
                      </a:r>
                      <a:endParaRPr kumimoji="1" lang="en-US" altLang="ja-JP" sz="2000" dirty="0"/>
                    </a:p>
                    <a:p>
                      <a:pPr marL="914400" lvl="1" indent="-457200">
                        <a:buFont typeface="Arial" panose="020B0604020202020204" pitchFamily="34" charset="0"/>
                        <a:buChar char="•"/>
                      </a:pPr>
                      <a:r>
                        <a:rPr kumimoji="1" lang="ja-JP" altLang="en-US" sz="2000" dirty="0"/>
                        <a:t>成功事例・失敗事例のレビュー（</a:t>
                      </a:r>
                      <a:r>
                        <a:rPr kumimoji="1" lang="en-US" altLang="ja-JP" sz="2000" dirty="0"/>
                        <a:t>TGW</a:t>
                      </a:r>
                      <a:r>
                        <a:rPr kumimoji="1" lang="ja-JP" altLang="en-US" sz="2000" dirty="0"/>
                        <a:t>（高品質）だけでなく</a:t>
                      </a:r>
                      <a:r>
                        <a:rPr kumimoji="1" lang="en-US" altLang="ja-JP" sz="2000" dirty="0"/>
                        <a:t>TGR</a:t>
                      </a:r>
                      <a:r>
                        <a:rPr kumimoji="1" lang="ja-JP" altLang="en-US" sz="2000" dirty="0"/>
                        <a:t>（魅力））</a:t>
                      </a:r>
                      <a:endParaRPr kumimoji="1" lang="en-US" altLang="ja-JP" sz="2000" dirty="0"/>
                    </a:p>
                    <a:p>
                      <a:pPr marL="914400" lvl="1" indent="-457200">
                        <a:buFont typeface="Arial" panose="020B0604020202020204" pitchFamily="34" charset="0"/>
                        <a:buChar char="•"/>
                      </a:pPr>
                      <a:r>
                        <a:rPr kumimoji="1" lang="ja-JP" altLang="en-US" sz="2000" dirty="0"/>
                        <a:t>保証及び他のパフォーマンス指標のデータ</a:t>
                      </a:r>
                      <a:endParaRPr kumimoji="1" lang="en-US" altLang="ja-JP" sz="2000" dirty="0"/>
                    </a:p>
                    <a:p>
                      <a:pPr marL="914400" lvl="1" indent="-457200">
                        <a:buFont typeface="Arial" panose="020B0604020202020204" pitchFamily="34" charset="0"/>
                        <a:buChar char="•"/>
                      </a:pPr>
                      <a:r>
                        <a:rPr kumimoji="1" lang="ja-JP" altLang="en-US" sz="2000" dirty="0"/>
                        <a:t>是正処置計画</a:t>
                      </a:r>
                      <a:endParaRPr kumimoji="1" lang="en-US" altLang="ja-JP" sz="2000" dirty="0"/>
                    </a:p>
                    <a:p>
                      <a:pPr marL="914400" lvl="1" indent="-457200">
                        <a:buFont typeface="Arial" panose="020B0604020202020204" pitchFamily="34" charset="0"/>
                        <a:buChar char="•"/>
                      </a:pPr>
                      <a:r>
                        <a:rPr kumimoji="1" lang="ja-JP" altLang="en-US" sz="2000" dirty="0"/>
                        <a:t>類似の製品・プロセスの研究</a:t>
                      </a:r>
                      <a:endParaRPr kumimoji="1" lang="en-US" altLang="ja-JP" sz="2000" dirty="0"/>
                    </a:p>
                    <a:p>
                      <a:pPr marL="914400" lvl="1" indent="-457200">
                        <a:buFont typeface="Arial" panose="020B0604020202020204" pitchFamily="34" charset="0"/>
                        <a:buChar char="•"/>
                      </a:pPr>
                      <a:r>
                        <a:rPr kumimoji="1" lang="en-US" altLang="ja-JP" sz="2000" dirty="0"/>
                        <a:t>FMEA</a:t>
                      </a:r>
                      <a:r>
                        <a:rPr kumimoji="1" lang="ja-JP" altLang="en-US" sz="2000" dirty="0"/>
                        <a:t>の調査</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780421"/>
                  </a:ext>
                </a:extLst>
              </a:tr>
            </a:tbl>
          </a:graphicData>
        </a:graphic>
      </p:graphicFrame>
    </p:spTree>
    <p:extLst>
      <p:ext uri="{BB962C8B-B14F-4D97-AF65-F5344CB8AC3E}">
        <p14:creationId xmlns:p14="http://schemas.microsoft.com/office/powerpoint/2010/main" val="3993936299"/>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425</a:t>
            </a:fld>
            <a:endParaRPr kumimoji="1" lang="ja-JP" altLang="en-US"/>
          </a:p>
        </p:txBody>
      </p:sp>
      <p:graphicFrame>
        <p:nvGraphicFramePr>
          <p:cNvPr id="6" name="コンテンツ プレースホルダー 5">
            <a:extLst>
              <a:ext uri="{FF2B5EF4-FFF2-40B4-BE49-F238E27FC236}">
                <a16:creationId xmlns:a16="http://schemas.microsoft.com/office/drawing/2014/main" id="{E7AEC779-B073-45FF-8472-EC84D19A44FE}"/>
              </a:ext>
            </a:extLst>
          </p:cNvPr>
          <p:cNvGraphicFramePr>
            <a:graphicFrameLocks noGrp="1"/>
          </p:cNvGraphicFramePr>
          <p:nvPr>
            <p:ph idx="1"/>
            <p:extLst>
              <p:ext uri="{D42A27DB-BD31-4B8C-83A1-F6EECF244321}">
                <p14:modId xmlns:p14="http://schemas.microsoft.com/office/powerpoint/2010/main" val="762649344"/>
              </p:ext>
            </p:extLst>
          </p:nvPr>
        </p:nvGraphicFramePr>
        <p:xfrm>
          <a:off x="838200" y="1825624"/>
          <a:ext cx="10515600" cy="4499716"/>
        </p:xfrm>
        <a:graphic>
          <a:graphicData uri="http://schemas.openxmlformats.org/drawingml/2006/table">
            <a:tbl>
              <a:tblPr firstRow="1" bandRow="1">
                <a:tableStyleId>{5940675A-B579-460E-94D1-54222C63F5DA}</a:tableStyleId>
              </a:tblPr>
              <a:tblGrid>
                <a:gridCol w="3326176">
                  <a:extLst>
                    <a:ext uri="{9D8B030D-6E8A-4147-A177-3AD203B41FA5}">
                      <a16:colId xmlns:a16="http://schemas.microsoft.com/office/drawing/2014/main" val="3558499961"/>
                    </a:ext>
                  </a:extLst>
                </a:gridCol>
                <a:gridCol w="4021157">
                  <a:extLst>
                    <a:ext uri="{9D8B030D-6E8A-4147-A177-3AD203B41FA5}">
                      <a16:colId xmlns:a16="http://schemas.microsoft.com/office/drawing/2014/main" val="3736031077"/>
                    </a:ext>
                  </a:extLst>
                </a:gridCol>
                <a:gridCol w="3168267">
                  <a:extLst>
                    <a:ext uri="{9D8B030D-6E8A-4147-A177-3AD203B41FA5}">
                      <a16:colId xmlns:a16="http://schemas.microsoft.com/office/drawing/2014/main" val="158899406"/>
                    </a:ext>
                  </a:extLst>
                </a:gridCol>
              </a:tblGrid>
              <a:tr h="3098916">
                <a:tc>
                  <a:txBody>
                    <a:bodyPr/>
                    <a:lstStyle/>
                    <a:p>
                      <a:endParaRPr kumimoji="1" lang="en-US" altLang="ja-JP" sz="1600" dirty="0"/>
                    </a:p>
                    <a:p>
                      <a:r>
                        <a:rPr kumimoji="1" lang="ja-JP" altLang="en-US" sz="1600" dirty="0"/>
                        <a:t>・顧客の声</a:t>
                      </a:r>
                      <a:endParaRPr kumimoji="1" lang="en-US" altLang="ja-JP" sz="1600" dirty="0"/>
                    </a:p>
                    <a:p>
                      <a:r>
                        <a:rPr kumimoji="1" lang="ja-JP" altLang="en-US" sz="1600" dirty="0"/>
                        <a:t>・事業計画書、市場戦略</a:t>
                      </a:r>
                      <a:endParaRPr kumimoji="1" lang="en-US" altLang="ja-JP" sz="1600" dirty="0"/>
                    </a:p>
                    <a:p>
                      <a:r>
                        <a:rPr kumimoji="1" lang="ja-JP" altLang="en-US" sz="1600" dirty="0"/>
                        <a:t>・製品及び工程のベンチマーク</a:t>
                      </a:r>
                      <a:endParaRPr kumimoji="1" lang="en-US" altLang="ja-JP" sz="1600" dirty="0"/>
                    </a:p>
                    <a:p>
                      <a:r>
                        <a:rPr kumimoji="1" lang="ja-JP" altLang="en-US" sz="1600" dirty="0"/>
                        <a:t>・製品及び工程の前提条件</a:t>
                      </a:r>
                      <a:endParaRPr kumimoji="1" lang="en-US" altLang="ja-JP" sz="1600" dirty="0"/>
                    </a:p>
                    <a:p>
                      <a:r>
                        <a:rPr kumimoji="1" lang="ja-JP" altLang="en-US" sz="1600" dirty="0"/>
                        <a:t>・設計目標</a:t>
                      </a:r>
                      <a:endParaRPr kumimoji="1" lang="en-US" altLang="ja-JP" sz="1600" dirty="0"/>
                    </a:p>
                    <a:p>
                      <a:r>
                        <a:rPr kumimoji="1" lang="ja-JP" altLang="en-US" sz="1600" dirty="0"/>
                        <a:t>・信頼性目標と品質目標</a:t>
                      </a:r>
                      <a:endParaRPr kumimoji="1" lang="en-US" altLang="ja-JP" sz="1600" dirty="0"/>
                    </a:p>
                    <a:p>
                      <a:r>
                        <a:rPr kumimoji="1" lang="ja-JP" altLang="en-US" sz="1600" dirty="0"/>
                        <a:t>・初期材料表</a:t>
                      </a:r>
                      <a:endParaRPr kumimoji="1" lang="en-US" altLang="ja-JP" sz="1600" dirty="0"/>
                    </a:p>
                    <a:p>
                      <a:r>
                        <a:rPr kumimoji="1" lang="ja-JP" altLang="en-US" sz="1600" dirty="0"/>
                        <a:t>・初期工程フローチャート</a:t>
                      </a:r>
                      <a:endParaRPr kumimoji="1" lang="en-US" altLang="ja-JP" sz="1600" dirty="0"/>
                    </a:p>
                    <a:p>
                      <a:r>
                        <a:rPr kumimoji="1" lang="ja-JP" altLang="en-US" sz="1600" dirty="0"/>
                        <a:t>・初期特殊特性リスト</a:t>
                      </a:r>
                      <a:endParaRPr kumimoji="1" lang="en-US" altLang="ja-JP" sz="1600" dirty="0"/>
                    </a:p>
                    <a:p>
                      <a:r>
                        <a:rPr kumimoji="1" lang="ja-JP" altLang="en-US" sz="1600" dirty="0"/>
                        <a:t>・製品保証計画書</a:t>
                      </a:r>
                      <a:endParaRPr kumimoji="1" lang="en-US" altLang="ja-JP" sz="1600" dirty="0"/>
                    </a:p>
                    <a:p>
                      <a:r>
                        <a:rPr kumimoji="1" lang="ja-JP" altLang="en-US" sz="1600" dirty="0"/>
                        <a:t>・経営者の支援</a:t>
                      </a:r>
                    </a:p>
                  </a:txBody>
                  <a:tcPr/>
                </a:tc>
                <a:tc>
                  <a:txBody>
                    <a:bodyPr/>
                    <a:lstStyle/>
                    <a:p>
                      <a:endParaRPr kumimoji="1" lang="en-US" altLang="ja-JP" sz="1600" dirty="0"/>
                    </a:p>
                    <a:p>
                      <a:r>
                        <a:rPr kumimoji="1" lang="ja-JP" altLang="en-US" sz="1600" dirty="0"/>
                        <a:t>・</a:t>
                      </a:r>
                      <a:r>
                        <a:rPr kumimoji="1" lang="en-US" altLang="ja-JP" sz="1600" dirty="0"/>
                        <a:t>DFMEA</a:t>
                      </a:r>
                    </a:p>
                    <a:p>
                      <a:r>
                        <a:rPr kumimoji="1" lang="ja-JP" altLang="en-US" sz="1600" dirty="0"/>
                        <a:t>・</a:t>
                      </a:r>
                      <a:r>
                        <a:rPr kumimoji="1" lang="en-US" altLang="ja-JP" sz="1600" dirty="0"/>
                        <a:t>DFM</a:t>
                      </a:r>
                      <a:r>
                        <a:rPr kumimoji="1" lang="ja-JP" altLang="en-US" sz="1600" dirty="0"/>
                        <a:t>／</a:t>
                      </a:r>
                      <a:r>
                        <a:rPr kumimoji="1" lang="en-US" altLang="ja-JP" sz="1600" dirty="0"/>
                        <a:t>DFA</a:t>
                      </a:r>
                    </a:p>
                    <a:p>
                      <a:r>
                        <a:rPr kumimoji="1" lang="ja-JP" altLang="en-US" sz="1600" dirty="0"/>
                        <a:t>・設計検証、設計審査</a:t>
                      </a:r>
                      <a:endParaRPr kumimoji="1" lang="en-US" altLang="ja-JP" sz="1600" dirty="0"/>
                    </a:p>
                    <a:p>
                      <a:r>
                        <a:rPr kumimoji="1" lang="ja-JP" altLang="en-US" sz="1600" dirty="0"/>
                        <a:t>・試作～</a:t>
                      </a:r>
                      <a:r>
                        <a:rPr kumimoji="1" lang="en-US" altLang="ja-JP" sz="1600" dirty="0"/>
                        <a:t>CP</a:t>
                      </a:r>
                    </a:p>
                    <a:p>
                      <a:r>
                        <a:rPr kumimoji="1" lang="ja-JP" altLang="en-US" sz="1600" dirty="0"/>
                        <a:t>・技術図面（含む</a:t>
                      </a:r>
                      <a:r>
                        <a:rPr kumimoji="1" lang="en-US" altLang="ja-JP" sz="1600" dirty="0"/>
                        <a:t>SPEC</a:t>
                      </a:r>
                      <a:r>
                        <a:rPr kumimoji="1" lang="ja-JP" altLang="en-US" sz="1600" dirty="0"/>
                        <a:t>データ）</a:t>
                      </a:r>
                      <a:endParaRPr kumimoji="1" lang="en-US" altLang="ja-JP" sz="1600" dirty="0"/>
                    </a:p>
                    <a:p>
                      <a:r>
                        <a:rPr kumimoji="1" lang="ja-JP" altLang="en-US" sz="1600" dirty="0"/>
                        <a:t>・技術仕様書、材料仕様書</a:t>
                      </a:r>
                      <a:endParaRPr kumimoji="1" lang="en-US" altLang="ja-JP" sz="1600" dirty="0"/>
                    </a:p>
                    <a:p>
                      <a:r>
                        <a:rPr kumimoji="1" lang="ja-JP" altLang="en-US" sz="1600" dirty="0"/>
                        <a:t>・図面及び仕様書の変更</a:t>
                      </a:r>
                      <a:endParaRPr kumimoji="1" lang="en-US" altLang="ja-JP" sz="1600" dirty="0"/>
                    </a:p>
                    <a:p>
                      <a:r>
                        <a:rPr kumimoji="1" lang="ja-JP" altLang="en-US" sz="1600" dirty="0"/>
                        <a:t>・装置、治工具及び設備への要求事項</a:t>
                      </a:r>
                      <a:endParaRPr kumimoji="1" lang="en-US" altLang="ja-JP" sz="1600" dirty="0"/>
                    </a:p>
                    <a:p>
                      <a:r>
                        <a:rPr kumimoji="1" lang="ja-JP" altLang="en-US" sz="1600" dirty="0"/>
                        <a:t>・特殊特性（製品及び工程）</a:t>
                      </a:r>
                      <a:endParaRPr kumimoji="1" lang="en-US" altLang="ja-JP" sz="1600" dirty="0"/>
                    </a:p>
                    <a:p>
                      <a:r>
                        <a:rPr kumimoji="1" lang="ja-JP" altLang="en-US" sz="1600" dirty="0"/>
                        <a:t>・ゲージ及び試験装置への要求事項</a:t>
                      </a:r>
                      <a:endParaRPr kumimoji="1" lang="en-US" altLang="ja-JP" sz="1600" dirty="0"/>
                    </a:p>
                    <a:p>
                      <a:r>
                        <a:rPr kumimoji="1" lang="ja-JP" altLang="en-US" sz="1600" dirty="0"/>
                        <a:t>・フィージビリティと経営者の支援</a:t>
                      </a:r>
                    </a:p>
                  </a:txBody>
                  <a:tcPr/>
                </a:tc>
                <a:tc>
                  <a:txBody>
                    <a:bodyPr/>
                    <a:lstStyle/>
                    <a:p>
                      <a:endParaRPr kumimoji="1" lang="en-US" altLang="ja-JP" sz="1600" dirty="0"/>
                    </a:p>
                    <a:p>
                      <a:r>
                        <a:rPr kumimoji="1" lang="ja-JP" altLang="en-US" sz="1600" dirty="0"/>
                        <a:t>・梱包仕様書</a:t>
                      </a:r>
                      <a:endParaRPr kumimoji="1" lang="en-US" altLang="ja-JP" sz="1600" dirty="0"/>
                    </a:p>
                    <a:p>
                      <a:r>
                        <a:rPr kumimoji="1" lang="ja-JP" altLang="en-US" sz="1600" dirty="0"/>
                        <a:t>・製品、工程の</a:t>
                      </a:r>
                      <a:r>
                        <a:rPr kumimoji="1" lang="en-US" altLang="ja-JP" sz="1600" dirty="0"/>
                        <a:t>QMS</a:t>
                      </a:r>
                      <a:r>
                        <a:rPr kumimoji="1" lang="ja-JP" altLang="en-US" sz="1600" dirty="0"/>
                        <a:t>審査</a:t>
                      </a:r>
                      <a:endParaRPr kumimoji="1" lang="en-US" altLang="ja-JP" sz="1600" dirty="0"/>
                    </a:p>
                    <a:p>
                      <a:r>
                        <a:rPr kumimoji="1" lang="ja-JP" altLang="en-US" sz="1600" dirty="0"/>
                        <a:t>・工程フローチャート</a:t>
                      </a:r>
                      <a:endParaRPr kumimoji="1" lang="en-US" altLang="ja-JP" sz="1600" dirty="0"/>
                    </a:p>
                    <a:p>
                      <a:r>
                        <a:rPr kumimoji="1" lang="ja-JP" altLang="en-US" sz="1600" dirty="0"/>
                        <a:t>・配置図</a:t>
                      </a:r>
                      <a:endParaRPr kumimoji="1" lang="en-US" altLang="ja-JP" sz="1600" dirty="0"/>
                    </a:p>
                    <a:p>
                      <a:r>
                        <a:rPr kumimoji="1" lang="ja-JP" altLang="en-US" sz="1600" dirty="0"/>
                        <a:t>・特性マトリックス</a:t>
                      </a:r>
                      <a:endParaRPr kumimoji="1" lang="en-US" altLang="ja-JP" sz="1600" dirty="0"/>
                    </a:p>
                    <a:p>
                      <a:r>
                        <a:rPr kumimoji="1" lang="ja-JP" altLang="en-US" sz="1600" dirty="0"/>
                        <a:t>・</a:t>
                      </a:r>
                      <a:r>
                        <a:rPr kumimoji="1" lang="en-US" altLang="ja-JP" sz="1600" dirty="0"/>
                        <a:t>PFMEA</a:t>
                      </a:r>
                    </a:p>
                    <a:p>
                      <a:r>
                        <a:rPr kumimoji="1" lang="ja-JP" altLang="en-US" sz="1600" dirty="0"/>
                        <a:t>・量産試作</a:t>
                      </a:r>
                      <a:r>
                        <a:rPr kumimoji="1" lang="en-US" altLang="ja-JP" sz="1600" dirty="0"/>
                        <a:t>CP</a:t>
                      </a:r>
                    </a:p>
                    <a:p>
                      <a:r>
                        <a:rPr kumimoji="1" lang="ja-JP" altLang="en-US" sz="1600" dirty="0"/>
                        <a:t>・工程指示書</a:t>
                      </a:r>
                      <a:endParaRPr kumimoji="1" lang="en-US" altLang="ja-JP" sz="1600" dirty="0"/>
                    </a:p>
                    <a:p>
                      <a:r>
                        <a:rPr kumimoji="1" lang="ja-JP" altLang="en-US" sz="1600" dirty="0"/>
                        <a:t>・</a:t>
                      </a:r>
                      <a:r>
                        <a:rPr kumimoji="1" lang="en-US" altLang="ja-JP" sz="1600" dirty="0"/>
                        <a:t>MSA</a:t>
                      </a:r>
                      <a:r>
                        <a:rPr kumimoji="1" lang="ja-JP" altLang="en-US" sz="1600" dirty="0"/>
                        <a:t>計画書</a:t>
                      </a:r>
                      <a:endParaRPr kumimoji="1" lang="en-US" altLang="ja-JP" sz="1600" dirty="0"/>
                    </a:p>
                    <a:p>
                      <a:r>
                        <a:rPr kumimoji="1" lang="ja-JP" altLang="en-US" sz="1600" dirty="0"/>
                        <a:t>・</a:t>
                      </a:r>
                      <a:r>
                        <a:rPr kumimoji="1" lang="en-US" altLang="ja-JP" sz="1600" dirty="0" err="1"/>
                        <a:t>Cpk</a:t>
                      </a:r>
                      <a:r>
                        <a:rPr kumimoji="1" lang="ja-JP" altLang="en-US" sz="1600" dirty="0"/>
                        <a:t>（</a:t>
                      </a:r>
                      <a:r>
                        <a:rPr kumimoji="1" lang="en-US" altLang="ja-JP" sz="1600" dirty="0" err="1"/>
                        <a:t>Ppk</a:t>
                      </a:r>
                      <a:r>
                        <a:rPr kumimoji="1" lang="ja-JP" altLang="en-US" sz="1600" dirty="0"/>
                        <a:t>）計画書</a:t>
                      </a:r>
                      <a:endParaRPr kumimoji="1" lang="en-US" altLang="ja-JP" sz="1600" dirty="0"/>
                    </a:p>
                    <a:p>
                      <a:r>
                        <a:rPr kumimoji="1" lang="ja-JP" altLang="en-US" sz="1600" dirty="0"/>
                        <a:t>・経営者の支援</a:t>
                      </a:r>
                    </a:p>
                  </a:txBody>
                  <a:tcPr/>
                </a:tc>
                <a:extLst>
                  <a:ext uri="{0D108BD9-81ED-4DB2-BD59-A6C34878D82A}">
                    <a16:rowId xmlns:a16="http://schemas.microsoft.com/office/drawing/2014/main" val="1513695903"/>
                  </a:ext>
                </a:extLst>
              </a:tr>
              <a:tr h="1400800">
                <a:tc>
                  <a:txBody>
                    <a:bodyPr/>
                    <a:lstStyle/>
                    <a:p>
                      <a:endParaRPr kumimoji="1" lang="en-US" altLang="ja-JP" sz="1600" dirty="0"/>
                    </a:p>
                    <a:p>
                      <a:r>
                        <a:rPr kumimoji="1" lang="ja-JP" altLang="en-US" sz="1600" dirty="0"/>
                        <a:t>・量産体制</a:t>
                      </a:r>
                      <a:endParaRPr kumimoji="1" lang="en-US" altLang="ja-JP" sz="1600" dirty="0"/>
                    </a:p>
                    <a:p>
                      <a:r>
                        <a:rPr kumimoji="1" lang="ja-JP" altLang="en-US" sz="1600" dirty="0"/>
                        <a:t>・</a:t>
                      </a:r>
                      <a:r>
                        <a:rPr kumimoji="1" lang="en-US" altLang="ja-JP" sz="1600" dirty="0"/>
                        <a:t>MSA</a:t>
                      </a:r>
                      <a:r>
                        <a:rPr kumimoji="1" lang="ja-JP" altLang="en-US" sz="1600" dirty="0"/>
                        <a:t>／</a:t>
                      </a:r>
                      <a:r>
                        <a:rPr kumimoji="1" lang="en-US" altLang="ja-JP" sz="1600" dirty="0" err="1"/>
                        <a:t>Cpk</a:t>
                      </a:r>
                      <a:r>
                        <a:rPr kumimoji="1" lang="ja-JP" altLang="en-US" sz="1600" dirty="0"/>
                        <a:t>／</a:t>
                      </a:r>
                      <a:r>
                        <a:rPr kumimoji="1" lang="en-US" altLang="ja-JP" sz="1600" dirty="0"/>
                        <a:t>PPAP</a:t>
                      </a:r>
                    </a:p>
                    <a:p>
                      <a:r>
                        <a:rPr kumimoji="1" lang="ja-JP" altLang="en-US" sz="1600" dirty="0"/>
                        <a:t>・妥当性確認試験</a:t>
                      </a:r>
                      <a:endParaRPr kumimoji="1" lang="en-US" altLang="ja-JP" sz="1600" dirty="0"/>
                    </a:p>
                    <a:p>
                      <a:r>
                        <a:rPr kumimoji="1" lang="ja-JP" altLang="en-US" sz="1600" dirty="0"/>
                        <a:t>・量産</a:t>
                      </a:r>
                      <a:r>
                        <a:rPr kumimoji="1" lang="en-US" altLang="ja-JP" sz="1600" dirty="0"/>
                        <a:t>CP</a:t>
                      </a:r>
                      <a:endParaRPr kumimoji="1" lang="ja-JP" altLang="en-US" sz="1600" dirty="0"/>
                    </a:p>
                  </a:txBody>
                  <a:tcPr/>
                </a:tc>
                <a:tc gridSpan="2">
                  <a:txBody>
                    <a:bodyPr/>
                    <a:lstStyle/>
                    <a:p>
                      <a:endParaRPr kumimoji="1" lang="en-US" altLang="ja-JP" sz="1600" dirty="0"/>
                    </a:p>
                    <a:p>
                      <a:r>
                        <a:rPr kumimoji="1" lang="ja-JP" altLang="en-US" sz="1600" dirty="0"/>
                        <a:t>・ばらつき低減</a:t>
                      </a:r>
                      <a:endParaRPr kumimoji="1" lang="en-US" altLang="ja-JP" sz="1600" dirty="0"/>
                    </a:p>
                    <a:p>
                      <a:r>
                        <a:rPr kumimoji="1" lang="ja-JP" altLang="en-US" sz="1600" dirty="0"/>
                        <a:t>・顧客満足の改善</a:t>
                      </a:r>
                      <a:endParaRPr kumimoji="1" lang="en-US" altLang="ja-JP" sz="1600" dirty="0"/>
                    </a:p>
                    <a:p>
                      <a:r>
                        <a:rPr kumimoji="1" lang="ja-JP" altLang="en-US" sz="1600" dirty="0"/>
                        <a:t>・引き渡し及びサービスの改善</a:t>
                      </a:r>
                      <a:endParaRPr kumimoji="1" lang="en-US" altLang="ja-JP" sz="1600" dirty="0"/>
                    </a:p>
                    <a:p>
                      <a:r>
                        <a:rPr kumimoji="1" lang="ja-JP" altLang="en-US" sz="1600" dirty="0"/>
                        <a:t>・教訓とベストプラクティスの活用</a:t>
                      </a:r>
                    </a:p>
                  </a:txBody>
                  <a:tcPr/>
                </a:tc>
                <a:tc hMerge="1">
                  <a:txBody>
                    <a:bodyPr/>
                    <a:lstStyle/>
                    <a:p>
                      <a:endParaRPr kumimoji="1" lang="ja-JP" altLang="en-US" sz="1600" dirty="0"/>
                    </a:p>
                  </a:txBody>
                  <a:tcPr/>
                </a:tc>
                <a:extLst>
                  <a:ext uri="{0D108BD9-81ED-4DB2-BD59-A6C34878D82A}">
                    <a16:rowId xmlns:a16="http://schemas.microsoft.com/office/drawing/2014/main" val="3603070554"/>
                  </a:ext>
                </a:extLst>
              </a:tr>
            </a:tbl>
          </a:graphicData>
        </a:graphic>
      </p:graphicFrame>
      <p:sp>
        <p:nvSpPr>
          <p:cNvPr id="8" name="矢印: 五方向 7">
            <a:extLst>
              <a:ext uri="{FF2B5EF4-FFF2-40B4-BE49-F238E27FC236}">
                <a16:creationId xmlns:a16="http://schemas.microsoft.com/office/drawing/2014/main" id="{180FD26E-8BEC-4772-A8F8-D9D72A111152}"/>
              </a:ext>
            </a:extLst>
          </p:cNvPr>
          <p:cNvSpPr/>
          <p:nvPr/>
        </p:nvSpPr>
        <p:spPr>
          <a:xfrm>
            <a:off x="1026252" y="1651810"/>
            <a:ext cx="914400" cy="347627"/>
          </a:xfrm>
          <a:prstGeom prst="homePlate">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計画</a:t>
            </a:r>
          </a:p>
        </p:txBody>
      </p:sp>
      <p:sp>
        <p:nvSpPr>
          <p:cNvPr id="10" name="矢印: 五方向 9">
            <a:extLst>
              <a:ext uri="{FF2B5EF4-FFF2-40B4-BE49-F238E27FC236}">
                <a16:creationId xmlns:a16="http://schemas.microsoft.com/office/drawing/2014/main" id="{81DFCD3B-D30F-42F1-B17B-F4D01C3DF00B}"/>
              </a:ext>
            </a:extLst>
          </p:cNvPr>
          <p:cNvSpPr/>
          <p:nvPr/>
        </p:nvSpPr>
        <p:spPr>
          <a:xfrm>
            <a:off x="4354417" y="1651810"/>
            <a:ext cx="1811433" cy="347627"/>
          </a:xfrm>
          <a:prstGeom prst="homePlate">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製品の設計・開発</a:t>
            </a:r>
          </a:p>
        </p:txBody>
      </p:sp>
      <p:sp>
        <p:nvSpPr>
          <p:cNvPr id="11" name="矢印: 五方向 10">
            <a:extLst>
              <a:ext uri="{FF2B5EF4-FFF2-40B4-BE49-F238E27FC236}">
                <a16:creationId xmlns:a16="http://schemas.microsoft.com/office/drawing/2014/main" id="{48D4E104-9953-40FC-AAEE-49924295081D}"/>
              </a:ext>
            </a:extLst>
          </p:cNvPr>
          <p:cNvSpPr/>
          <p:nvPr/>
        </p:nvSpPr>
        <p:spPr>
          <a:xfrm>
            <a:off x="8353426" y="1651810"/>
            <a:ext cx="1835149" cy="347627"/>
          </a:xfrm>
          <a:prstGeom prst="homePlate">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工程の設計・開発</a:t>
            </a:r>
          </a:p>
        </p:txBody>
      </p:sp>
      <p:sp>
        <p:nvSpPr>
          <p:cNvPr id="12" name="矢印: 五方向 11">
            <a:extLst>
              <a:ext uri="{FF2B5EF4-FFF2-40B4-BE49-F238E27FC236}">
                <a16:creationId xmlns:a16="http://schemas.microsoft.com/office/drawing/2014/main" id="{B57EBA81-5F11-44A8-823F-C599819C4213}"/>
              </a:ext>
            </a:extLst>
          </p:cNvPr>
          <p:cNvSpPr/>
          <p:nvPr/>
        </p:nvSpPr>
        <p:spPr>
          <a:xfrm>
            <a:off x="1026252" y="4801410"/>
            <a:ext cx="2476266" cy="347627"/>
          </a:xfrm>
          <a:prstGeom prst="homePlate">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製品及び工程の妥当性確認</a:t>
            </a:r>
          </a:p>
        </p:txBody>
      </p:sp>
      <p:sp>
        <p:nvSpPr>
          <p:cNvPr id="13" name="矢印: 五方向 12">
            <a:extLst>
              <a:ext uri="{FF2B5EF4-FFF2-40B4-BE49-F238E27FC236}">
                <a16:creationId xmlns:a16="http://schemas.microsoft.com/office/drawing/2014/main" id="{02715281-B992-41FC-A278-11A46858D79A}"/>
              </a:ext>
            </a:extLst>
          </p:cNvPr>
          <p:cNvSpPr/>
          <p:nvPr/>
        </p:nvSpPr>
        <p:spPr>
          <a:xfrm>
            <a:off x="4354417" y="4801410"/>
            <a:ext cx="3054350" cy="347627"/>
          </a:xfrm>
          <a:prstGeom prst="homePlate">
            <a:avLst/>
          </a:prstGeom>
          <a:solidFill>
            <a:schemeClr val="tx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フィードバック・評価・是正処置</a:t>
            </a:r>
          </a:p>
        </p:txBody>
      </p:sp>
      <p:sp>
        <p:nvSpPr>
          <p:cNvPr id="14" name="タイトル 1">
            <a:extLst>
              <a:ext uri="{FF2B5EF4-FFF2-40B4-BE49-F238E27FC236}">
                <a16:creationId xmlns:a16="http://schemas.microsoft.com/office/drawing/2014/main" id="{D45CC6C7-70E7-47B3-8155-8B87879A008C}"/>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３．ＡＰＱＰ（各フェーズｉｎ／ｏｕｔ）</a:t>
            </a:r>
          </a:p>
        </p:txBody>
      </p:sp>
    </p:spTree>
    <p:extLst>
      <p:ext uri="{BB962C8B-B14F-4D97-AF65-F5344CB8AC3E}">
        <p14:creationId xmlns:p14="http://schemas.microsoft.com/office/powerpoint/2010/main" val="2585490269"/>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a:t>
            </a:r>
            <a:r>
              <a:rPr lang="en-US" altLang="ja-JP" sz="2400" dirty="0"/>
              <a:t>IATF16949</a:t>
            </a:r>
            <a:r>
              <a:rPr lang="ja-JP" altLang="en-US" sz="2400" dirty="0"/>
              <a:t>規格要求事項　附属書Ａ」及び「</a:t>
            </a:r>
            <a:r>
              <a:rPr lang="en-US" altLang="ja-JP" sz="2400" dirty="0"/>
              <a:t>APQP</a:t>
            </a:r>
            <a:r>
              <a:rPr lang="ja-JP" altLang="en-US" sz="2400" dirty="0"/>
              <a:t>参照マニュアル」により規定されている。（いわゆるＱＣ工程表のこと。）</a:t>
            </a:r>
            <a:endParaRPr lang="en-US" altLang="ja-JP" sz="2400" dirty="0"/>
          </a:p>
          <a:p>
            <a:pPr marL="457200" indent="-457200">
              <a:lnSpc>
                <a:spcPct val="100000"/>
              </a:lnSpc>
              <a:buFont typeface="+mj-lt"/>
              <a:buAutoNum type="arabicPeriod"/>
            </a:pPr>
            <a:r>
              <a:rPr lang="en-US" altLang="ja-JP" sz="2400" dirty="0"/>
              <a:t>CP</a:t>
            </a:r>
            <a:r>
              <a:rPr lang="ja-JP" altLang="en-US" sz="2400" dirty="0"/>
              <a:t>は次の３つの段階で作成する。</a:t>
            </a:r>
            <a:endParaRPr lang="en-US" altLang="ja-JP" sz="2400" dirty="0"/>
          </a:p>
          <a:p>
            <a:pPr marL="914400" lvl="1" indent="-457200">
              <a:lnSpc>
                <a:spcPct val="100000"/>
              </a:lnSpc>
              <a:buFont typeface="+mj-ea"/>
              <a:buAutoNum type="circleNumDbPlain"/>
            </a:pPr>
            <a:r>
              <a:rPr lang="ja-JP" altLang="en-US" dirty="0"/>
              <a:t>試作ＣＰ（顧客が要求する場合）</a:t>
            </a:r>
            <a:endParaRPr lang="en-US" altLang="ja-JP" dirty="0"/>
          </a:p>
          <a:p>
            <a:pPr marL="914400" lvl="1" indent="-457200">
              <a:lnSpc>
                <a:spcPct val="100000"/>
              </a:lnSpc>
              <a:buFont typeface="+mj-ea"/>
              <a:buAutoNum type="circleNumDbPlain"/>
            </a:pPr>
            <a:r>
              <a:rPr lang="ja-JP" altLang="en-US" dirty="0"/>
              <a:t>量産試作ＣＰ</a:t>
            </a:r>
            <a:endParaRPr lang="en-US" altLang="ja-JP" dirty="0"/>
          </a:p>
          <a:p>
            <a:pPr marL="914400" lvl="1" indent="-457200">
              <a:lnSpc>
                <a:spcPct val="100000"/>
              </a:lnSpc>
              <a:buFont typeface="+mj-ea"/>
              <a:buAutoNum type="circleNumDbPlain"/>
            </a:pPr>
            <a:r>
              <a:rPr lang="ja-JP" altLang="en-US" dirty="0"/>
              <a:t>量産ＣＰ</a:t>
            </a:r>
            <a:endParaRPr lang="en-US" altLang="ja-JP" dirty="0"/>
          </a:p>
          <a:p>
            <a:pPr marL="457200" indent="-457200">
              <a:lnSpc>
                <a:spcPct val="100000"/>
              </a:lnSpc>
              <a:buFont typeface="+mj-ea"/>
              <a:buAutoNum type="arabicPeriod"/>
            </a:pPr>
            <a:r>
              <a:rPr lang="ja-JP" altLang="en-US" sz="2400" dirty="0"/>
              <a:t>製品の製造は、ＣＰに従って実施する。</a:t>
            </a:r>
            <a:endParaRPr lang="en-US" altLang="ja-JP" sz="2400" dirty="0"/>
          </a:p>
          <a:p>
            <a:pPr lvl="1">
              <a:lnSpc>
                <a:spcPct val="100000"/>
              </a:lnSpc>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ＣＰに記載していることは必ず実施する。</a:t>
            </a:r>
            <a:endParaRPr lang="en-US" altLang="ja-JP" dirty="0">
              <a:solidFill>
                <a:srgbClr val="FF0000"/>
              </a:solidFill>
              <a:effectLst>
                <a:outerShdw blurRad="38100" dist="38100" dir="2700000" algn="tl">
                  <a:srgbClr val="000000">
                    <a:alpha val="43137"/>
                  </a:srgbClr>
                </a:outerShdw>
              </a:effectLst>
            </a:endParaRPr>
          </a:p>
          <a:p>
            <a:pPr lvl="1">
              <a:lnSpc>
                <a:spcPct val="100000"/>
              </a:lnSpc>
              <a:buFont typeface="Wingdings" panose="05000000000000000000" pitchFamily="2" charset="2"/>
              <a:buChar char="Ø"/>
            </a:pPr>
            <a:r>
              <a:rPr lang="ja-JP" altLang="en-US" dirty="0">
                <a:solidFill>
                  <a:srgbClr val="FF0000"/>
                </a:solidFill>
                <a:effectLst>
                  <a:outerShdw blurRad="38100" dist="38100" dir="2700000" algn="tl">
                    <a:srgbClr val="000000">
                      <a:alpha val="43137"/>
                    </a:srgbClr>
                  </a:outerShdw>
                </a:effectLst>
              </a:rPr>
              <a:t>ＣＰに記載していないことは絶対に実施してはならない。</a:t>
            </a:r>
            <a:endParaRPr lang="en-US" altLang="ja-JP" dirty="0">
              <a:solidFill>
                <a:srgbClr val="FF0000"/>
              </a:solidFill>
              <a:effectLst>
                <a:outerShdw blurRad="38100" dist="38100" dir="2700000" algn="tl">
                  <a:srgbClr val="000000">
                    <a:alpha val="43137"/>
                  </a:srgbClr>
                </a:outerShdw>
              </a:effectLst>
            </a:endParaRPr>
          </a:p>
          <a:p>
            <a:pPr marL="514350" indent="-514350">
              <a:lnSpc>
                <a:spcPct val="100000"/>
              </a:lnSpc>
              <a:buFont typeface="+mj-lt"/>
              <a:buAutoNum type="arabicPeriod"/>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sp>
        <p:nvSpPr>
          <p:cNvPr id="2" name="吹き出し: 線 1">
            <a:extLst>
              <a:ext uri="{FF2B5EF4-FFF2-40B4-BE49-F238E27FC236}">
                <a16:creationId xmlns:a16="http://schemas.microsoft.com/office/drawing/2014/main" id="{6C43C415-08AA-4C1A-9868-4A8A6155F840}"/>
              </a:ext>
            </a:extLst>
          </p:cNvPr>
          <p:cNvSpPr/>
          <p:nvPr/>
        </p:nvSpPr>
        <p:spPr>
          <a:xfrm>
            <a:off x="7972426" y="3429000"/>
            <a:ext cx="3305174" cy="1295400"/>
          </a:xfrm>
          <a:prstGeom prst="borderCallout1">
            <a:avLst>
              <a:gd name="adj1" fmla="val 51838"/>
              <a:gd name="adj2" fmla="val -1993"/>
              <a:gd name="adj3" fmla="val 86029"/>
              <a:gd name="adj4" fmla="val -21042"/>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rgbClr val="FF0000"/>
                </a:solidFill>
              </a:rPr>
              <a:t>作業現場レベルでの　“</a:t>
            </a:r>
            <a:r>
              <a:rPr kumimoji="1" lang="ja-JP" altLang="en-US" dirty="0">
                <a:solidFill>
                  <a:srgbClr val="FF0000"/>
                </a:solidFill>
              </a:rPr>
              <a:t>臨機応変”　“柔軟な対応”　は基本的に厳禁。</a:t>
            </a:r>
            <a:endParaRPr kumimoji="1" lang="en-US" altLang="ja-JP" dirty="0">
              <a:solidFill>
                <a:srgbClr val="FF0000"/>
              </a:solidFill>
            </a:endParaRPr>
          </a:p>
        </p:txBody>
      </p:sp>
    </p:spTree>
    <p:extLst>
      <p:ext uri="{BB962C8B-B14F-4D97-AF65-F5344CB8AC3E}">
        <p14:creationId xmlns:p14="http://schemas.microsoft.com/office/powerpoint/2010/main" val="1151310654"/>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9"/>
            <a:ext cx="10515600" cy="427592"/>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en-US" altLang="ja-JP" sz="2400" dirty="0"/>
              <a:t>IATF</a:t>
            </a:r>
            <a:r>
              <a:rPr lang="ja-JP" altLang="en-US" sz="2400" dirty="0"/>
              <a:t>規格要求事項でＣＰに含める項目。</a:t>
            </a:r>
            <a:endParaRPr lang="en-US" altLang="ja-JP" dirty="0"/>
          </a:p>
          <a:p>
            <a:pPr marL="514350" indent="-514350">
              <a:lnSpc>
                <a:spcPct val="100000"/>
              </a:lnSpc>
              <a:buFont typeface="+mj-lt"/>
              <a:buAutoNum type="arabicPeriod" startAt="4"/>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graphicFrame>
        <p:nvGraphicFramePr>
          <p:cNvPr id="3" name="表 5">
            <a:extLst>
              <a:ext uri="{FF2B5EF4-FFF2-40B4-BE49-F238E27FC236}">
                <a16:creationId xmlns:a16="http://schemas.microsoft.com/office/drawing/2014/main" id="{A7ABDCCA-54D8-4E71-AEE5-FC395009888B}"/>
              </a:ext>
            </a:extLst>
          </p:cNvPr>
          <p:cNvGraphicFramePr>
            <a:graphicFrameLocks noGrp="1"/>
          </p:cNvGraphicFramePr>
          <p:nvPr>
            <p:extLst>
              <p:ext uri="{D42A27DB-BD31-4B8C-83A1-F6EECF244321}">
                <p14:modId xmlns:p14="http://schemas.microsoft.com/office/powerpoint/2010/main" val="1513525443"/>
              </p:ext>
            </p:extLst>
          </p:nvPr>
        </p:nvGraphicFramePr>
        <p:xfrm>
          <a:off x="838200" y="1896510"/>
          <a:ext cx="10515600" cy="4572000"/>
        </p:xfrm>
        <a:graphic>
          <a:graphicData uri="http://schemas.openxmlformats.org/drawingml/2006/table">
            <a:tbl>
              <a:tblPr firstRow="1" bandRow="1">
                <a:tableStyleId>{5940675A-B579-460E-94D1-54222C63F5DA}</a:tableStyleId>
              </a:tblPr>
              <a:tblGrid>
                <a:gridCol w="1510364">
                  <a:extLst>
                    <a:ext uri="{9D8B030D-6E8A-4147-A177-3AD203B41FA5}">
                      <a16:colId xmlns:a16="http://schemas.microsoft.com/office/drawing/2014/main" val="3380003364"/>
                    </a:ext>
                  </a:extLst>
                </a:gridCol>
                <a:gridCol w="9005236">
                  <a:extLst>
                    <a:ext uri="{9D8B030D-6E8A-4147-A177-3AD203B41FA5}">
                      <a16:colId xmlns:a16="http://schemas.microsoft.com/office/drawing/2014/main" val="4072248784"/>
                    </a:ext>
                  </a:extLst>
                </a:gridCol>
              </a:tblGrid>
              <a:tr h="370840">
                <a:tc>
                  <a:txBody>
                    <a:bodyPr/>
                    <a:lstStyle/>
                    <a:p>
                      <a:pPr algn="ctr"/>
                      <a:r>
                        <a:rPr kumimoji="1" lang="ja-JP" altLang="en-US" sz="2000" dirty="0"/>
                        <a:t>箇条</a:t>
                      </a:r>
                    </a:p>
                  </a:txBody>
                  <a:tcPr>
                    <a:solidFill>
                      <a:schemeClr val="tx2">
                        <a:lumMod val="40000"/>
                        <a:lumOff val="60000"/>
                      </a:schemeClr>
                    </a:solidFill>
                  </a:tcPr>
                </a:tc>
                <a:tc>
                  <a:txBody>
                    <a:bodyPr/>
                    <a:lstStyle/>
                    <a:p>
                      <a:pPr algn="ctr"/>
                      <a:r>
                        <a:rPr kumimoji="1" lang="ja-JP" altLang="en-US" sz="2000" dirty="0"/>
                        <a:t>項目</a:t>
                      </a:r>
                    </a:p>
                  </a:txBody>
                  <a:tcPr>
                    <a:solidFill>
                      <a:schemeClr val="tx2">
                        <a:lumMod val="40000"/>
                        <a:lumOff val="60000"/>
                      </a:schemeClr>
                    </a:solidFill>
                  </a:tcPr>
                </a:tc>
                <a:extLst>
                  <a:ext uri="{0D108BD9-81ED-4DB2-BD59-A6C34878D82A}">
                    <a16:rowId xmlns:a16="http://schemas.microsoft.com/office/drawing/2014/main" val="700505883"/>
                  </a:ext>
                </a:extLst>
              </a:tr>
              <a:tr h="370840">
                <a:tc>
                  <a:txBody>
                    <a:bodyPr/>
                    <a:lstStyle/>
                    <a:p>
                      <a:r>
                        <a:rPr kumimoji="1" lang="en-US" altLang="ja-JP" sz="2000" dirty="0"/>
                        <a:t>7.1.5.1.1</a:t>
                      </a:r>
                      <a:endParaRPr kumimoji="1" lang="ja-JP" altLang="en-US" sz="2000" dirty="0"/>
                    </a:p>
                  </a:txBody>
                  <a:tcPr/>
                </a:tc>
                <a:tc>
                  <a:txBody>
                    <a:bodyPr/>
                    <a:lstStyle/>
                    <a:p>
                      <a:r>
                        <a:rPr kumimoji="1" lang="ja-JP" altLang="en-US" sz="2000" dirty="0"/>
                        <a:t>・測定システム解析（</a:t>
                      </a:r>
                      <a:r>
                        <a:rPr kumimoji="1" lang="en-US" altLang="ja-JP" sz="2000" dirty="0"/>
                        <a:t>MSA</a:t>
                      </a:r>
                      <a:r>
                        <a:rPr kumimoji="1" lang="ja-JP" altLang="en-US" sz="2000" dirty="0"/>
                        <a:t>）</a:t>
                      </a:r>
                    </a:p>
                  </a:txBody>
                  <a:tcPr/>
                </a:tc>
                <a:extLst>
                  <a:ext uri="{0D108BD9-81ED-4DB2-BD59-A6C34878D82A}">
                    <a16:rowId xmlns:a16="http://schemas.microsoft.com/office/drawing/2014/main" val="2923892811"/>
                  </a:ext>
                </a:extLst>
              </a:tr>
              <a:tr h="370840">
                <a:tc>
                  <a:txBody>
                    <a:bodyPr/>
                    <a:lstStyle/>
                    <a:p>
                      <a:r>
                        <a:rPr kumimoji="1" lang="en-US" altLang="ja-JP" sz="2000" dirty="0"/>
                        <a:t>8.3.3.3</a:t>
                      </a:r>
                      <a:endParaRPr kumimoji="1" lang="ja-JP" altLang="en-US" sz="2000" dirty="0"/>
                    </a:p>
                  </a:txBody>
                  <a:tcPr/>
                </a:tc>
                <a:tc>
                  <a:txBody>
                    <a:bodyPr/>
                    <a:lstStyle/>
                    <a:p>
                      <a:r>
                        <a:rPr kumimoji="1" lang="ja-JP" altLang="en-US" sz="2000" dirty="0"/>
                        <a:t>・特殊特性</a:t>
                      </a:r>
                    </a:p>
                  </a:txBody>
                  <a:tcPr/>
                </a:tc>
                <a:extLst>
                  <a:ext uri="{0D108BD9-81ED-4DB2-BD59-A6C34878D82A}">
                    <a16:rowId xmlns:a16="http://schemas.microsoft.com/office/drawing/2014/main" val="702227117"/>
                  </a:ext>
                </a:extLst>
              </a:tr>
              <a:tr h="370840">
                <a:tc>
                  <a:txBody>
                    <a:bodyPr/>
                    <a:lstStyle/>
                    <a:p>
                      <a:r>
                        <a:rPr kumimoji="1" lang="en-US" altLang="ja-JP" sz="2000" dirty="0">
                          <a:solidFill>
                            <a:srgbClr val="FF0000"/>
                          </a:solidFill>
                          <a:effectLst>
                            <a:outerShdw blurRad="38100" dist="38100" dir="2700000" algn="tl">
                              <a:srgbClr val="000000">
                                <a:alpha val="43137"/>
                              </a:srgbClr>
                            </a:outerShdw>
                          </a:effectLst>
                        </a:rPr>
                        <a:t>8.5.1.1</a:t>
                      </a:r>
                      <a:endParaRPr kumimoji="1" lang="ja-JP" altLang="en-US" sz="2000" dirty="0">
                        <a:solidFill>
                          <a:srgbClr val="FF0000"/>
                        </a:solidFill>
                        <a:effectLst>
                          <a:outerShdw blurRad="38100" dist="38100" dir="2700000" algn="tl">
                            <a:srgbClr val="000000">
                              <a:alpha val="43137"/>
                            </a:srgbClr>
                          </a:outerShdw>
                        </a:effectLst>
                      </a:endParaRPr>
                    </a:p>
                  </a:txBody>
                  <a:tcPr/>
                </a:tc>
                <a:tc>
                  <a:txBody>
                    <a:bodyPr/>
                    <a:lstStyle/>
                    <a:p>
                      <a:r>
                        <a:rPr kumimoji="1" lang="ja-JP" altLang="en-US" sz="2000" dirty="0">
                          <a:solidFill>
                            <a:srgbClr val="FF0000"/>
                          </a:solidFill>
                          <a:effectLst>
                            <a:outerShdw blurRad="38100" dist="38100" dir="2700000" algn="tl">
                              <a:srgbClr val="000000">
                                <a:alpha val="43137"/>
                              </a:srgbClr>
                            </a:outerShdw>
                          </a:effectLst>
                        </a:rPr>
                        <a:t>・作業の段取り替え検証　　・初品</a:t>
                      </a:r>
                      <a:r>
                        <a:rPr kumimoji="1" lang="en-US" altLang="ja-JP" sz="2000" dirty="0">
                          <a:solidFill>
                            <a:srgbClr val="FF0000"/>
                          </a:solidFill>
                          <a:effectLst>
                            <a:outerShdw blurRad="38100" dist="38100" dir="2700000" algn="tl">
                              <a:srgbClr val="000000">
                                <a:alpha val="43137"/>
                              </a:srgbClr>
                            </a:outerShdw>
                          </a:effectLst>
                        </a:rPr>
                        <a:t>/</a:t>
                      </a:r>
                      <a:r>
                        <a:rPr kumimoji="1" lang="ja-JP" altLang="en-US" sz="2000" dirty="0">
                          <a:solidFill>
                            <a:srgbClr val="FF0000"/>
                          </a:solidFill>
                          <a:effectLst>
                            <a:outerShdw blurRad="38100" dist="38100" dir="2700000" algn="tl">
                              <a:srgbClr val="000000">
                                <a:alpha val="43137"/>
                              </a:srgbClr>
                            </a:outerShdw>
                          </a:effectLst>
                        </a:rPr>
                        <a:t>終品の妥当性確認</a:t>
                      </a:r>
                      <a:endParaRPr kumimoji="1" lang="en-US" altLang="ja-JP" sz="2000" dirty="0">
                        <a:solidFill>
                          <a:srgbClr val="FF0000"/>
                        </a:solidFill>
                        <a:effectLst>
                          <a:outerShdw blurRad="38100" dist="38100" dir="2700000" algn="tl">
                            <a:srgbClr val="000000">
                              <a:alpha val="43137"/>
                            </a:srgbClr>
                          </a:outerShdw>
                        </a:effectLst>
                      </a:endParaRPr>
                    </a:p>
                    <a:p>
                      <a:r>
                        <a:rPr kumimoji="1" lang="ja-JP" altLang="en-US" sz="2000" dirty="0">
                          <a:solidFill>
                            <a:srgbClr val="FF0000"/>
                          </a:solidFill>
                          <a:effectLst>
                            <a:outerShdw blurRad="38100" dist="38100" dir="2700000" algn="tl">
                              <a:srgbClr val="000000">
                                <a:alpha val="43137"/>
                              </a:srgbClr>
                            </a:outerShdw>
                          </a:effectLst>
                        </a:rPr>
                        <a:t>・特殊特性の管理方法　　・不適合製品が検出された場合の対応計画</a:t>
                      </a:r>
                      <a:endParaRPr kumimoji="1" lang="en-US" altLang="ja-JP" sz="2000" dirty="0">
                        <a:solidFill>
                          <a:srgbClr val="FF0000"/>
                        </a:solidFill>
                        <a:effectLst>
                          <a:outerShdw blurRad="38100" dist="38100" dir="2700000" algn="tl">
                            <a:srgbClr val="000000">
                              <a:alpha val="43137"/>
                            </a:srgbClr>
                          </a:outerShdw>
                        </a:effectLst>
                      </a:endParaRPr>
                    </a:p>
                    <a:p>
                      <a:r>
                        <a:rPr kumimoji="1" lang="ja-JP" altLang="en-US" sz="2000" dirty="0">
                          <a:solidFill>
                            <a:srgbClr val="FF0000"/>
                          </a:solidFill>
                          <a:effectLst>
                            <a:outerShdw blurRad="38100" dist="38100" dir="2700000" algn="tl">
                              <a:srgbClr val="000000">
                                <a:alpha val="43137"/>
                              </a:srgbClr>
                            </a:outerShdw>
                          </a:effectLst>
                        </a:rPr>
                        <a:t>・工程が統計的に不安定又は能力不足になった場合の対応計画</a:t>
                      </a:r>
                      <a:endParaRPr kumimoji="1" lang="en-US" altLang="ja-JP" sz="2000" dirty="0">
                        <a:solidFill>
                          <a:srgbClr val="FF0000"/>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3027626262"/>
                  </a:ext>
                </a:extLst>
              </a:tr>
              <a:tr h="370840">
                <a:tc>
                  <a:txBody>
                    <a:bodyPr/>
                    <a:lstStyle/>
                    <a:p>
                      <a:r>
                        <a:rPr kumimoji="1" lang="ja-JP" altLang="en-US" sz="1800" dirty="0"/>
                        <a:t>（</a:t>
                      </a:r>
                      <a:r>
                        <a:rPr kumimoji="1" lang="en-US" altLang="ja-JP" sz="1800" dirty="0"/>
                        <a:t>8.5.6.1.1</a:t>
                      </a:r>
                      <a:r>
                        <a:rPr kumimoji="1" lang="ja-JP" altLang="en-US" sz="1800" dirty="0"/>
                        <a:t>）</a:t>
                      </a:r>
                    </a:p>
                  </a:txBody>
                  <a:tcPr/>
                </a:tc>
                <a:tc>
                  <a:txBody>
                    <a:bodyPr/>
                    <a:lstStyle/>
                    <a:p>
                      <a:r>
                        <a:rPr kumimoji="1" lang="ja-JP" altLang="en-US" sz="2000" dirty="0"/>
                        <a:t>・</a:t>
                      </a:r>
                      <a:r>
                        <a:rPr kumimoji="1" lang="ja-JP" altLang="en-US" sz="1800" dirty="0"/>
                        <a:t>（代替工程方法の引用）</a:t>
                      </a:r>
                    </a:p>
                  </a:txBody>
                  <a:tcPr/>
                </a:tc>
                <a:extLst>
                  <a:ext uri="{0D108BD9-81ED-4DB2-BD59-A6C34878D82A}">
                    <a16:rowId xmlns:a16="http://schemas.microsoft.com/office/drawing/2014/main" val="3577527444"/>
                  </a:ext>
                </a:extLst>
              </a:tr>
              <a:tr h="370840">
                <a:tc>
                  <a:txBody>
                    <a:bodyPr/>
                    <a:lstStyle/>
                    <a:p>
                      <a:r>
                        <a:rPr kumimoji="1" lang="en-US" altLang="ja-JP" sz="2000" dirty="0"/>
                        <a:t>8.6.2</a:t>
                      </a:r>
                      <a:endParaRPr kumimoji="1" lang="ja-JP" altLang="en-US" sz="2000" dirty="0"/>
                    </a:p>
                  </a:txBody>
                  <a:tcPr/>
                </a:tc>
                <a:tc>
                  <a:txBody>
                    <a:bodyPr/>
                    <a:lstStyle/>
                    <a:p>
                      <a:r>
                        <a:rPr kumimoji="1" lang="ja-JP" altLang="en-US" sz="2000" dirty="0"/>
                        <a:t>・レイアウト検査及び機能試験</a:t>
                      </a:r>
                    </a:p>
                  </a:txBody>
                  <a:tcPr/>
                </a:tc>
                <a:extLst>
                  <a:ext uri="{0D108BD9-81ED-4DB2-BD59-A6C34878D82A}">
                    <a16:rowId xmlns:a16="http://schemas.microsoft.com/office/drawing/2014/main" val="4261189598"/>
                  </a:ext>
                </a:extLst>
              </a:tr>
              <a:tr h="370840">
                <a:tc>
                  <a:txBody>
                    <a:bodyPr/>
                    <a:lstStyle/>
                    <a:p>
                      <a:r>
                        <a:rPr kumimoji="1" lang="en-US" altLang="ja-JP" sz="2000" dirty="0"/>
                        <a:t>8.7.1.4</a:t>
                      </a:r>
                      <a:endParaRPr kumimoji="1" lang="ja-JP" altLang="en-US" sz="2000" dirty="0"/>
                    </a:p>
                  </a:txBody>
                  <a:tcPr/>
                </a:tc>
                <a:tc>
                  <a:txBody>
                    <a:bodyPr/>
                    <a:lstStyle/>
                    <a:p>
                      <a:r>
                        <a:rPr kumimoji="1" lang="ja-JP" altLang="en-US" sz="2000" dirty="0"/>
                        <a:t>・手直し確認のプロセス</a:t>
                      </a:r>
                    </a:p>
                  </a:txBody>
                  <a:tcPr/>
                </a:tc>
                <a:extLst>
                  <a:ext uri="{0D108BD9-81ED-4DB2-BD59-A6C34878D82A}">
                    <a16:rowId xmlns:a16="http://schemas.microsoft.com/office/drawing/2014/main" val="3613740518"/>
                  </a:ext>
                </a:extLst>
              </a:tr>
              <a:tr h="370840">
                <a:tc>
                  <a:txBody>
                    <a:bodyPr/>
                    <a:lstStyle/>
                    <a:p>
                      <a:r>
                        <a:rPr kumimoji="1" lang="en-US" altLang="ja-JP" sz="2000" dirty="0"/>
                        <a:t>8.7.1.5</a:t>
                      </a:r>
                      <a:endParaRPr kumimoji="1" lang="ja-JP" altLang="en-US" sz="2000" dirty="0"/>
                    </a:p>
                  </a:txBody>
                  <a:tcPr/>
                </a:tc>
                <a:tc>
                  <a:txBody>
                    <a:bodyPr/>
                    <a:lstStyle/>
                    <a:p>
                      <a:r>
                        <a:rPr kumimoji="1" lang="ja-JP" altLang="en-US" sz="2000" dirty="0"/>
                        <a:t>・修正管理のプロセス</a:t>
                      </a:r>
                    </a:p>
                  </a:txBody>
                  <a:tcPr/>
                </a:tc>
                <a:extLst>
                  <a:ext uri="{0D108BD9-81ED-4DB2-BD59-A6C34878D82A}">
                    <a16:rowId xmlns:a16="http://schemas.microsoft.com/office/drawing/2014/main" val="1269004018"/>
                  </a:ext>
                </a:extLst>
              </a:tr>
              <a:tr h="370840">
                <a:tc>
                  <a:txBody>
                    <a:bodyPr/>
                    <a:lstStyle/>
                    <a:p>
                      <a:r>
                        <a:rPr kumimoji="1" lang="en-US" altLang="ja-JP" sz="2000" dirty="0"/>
                        <a:t>9.1.1.1</a:t>
                      </a:r>
                      <a:endParaRPr kumimoji="1" lang="ja-JP" altLang="en-US" sz="2000" dirty="0"/>
                    </a:p>
                  </a:txBody>
                  <a:tcPr/>
                </a:tc>
                <a:tc>
                  <a:txBody>
                    <a:bodyPr/>
                    <a:lstStyle/>
                    <a:p>
                      <a:r>
                        <a:rPr kumimoji="1" lang="ja-JP" altLang="en-US" sz="2000" dirty="0"/>
                        <a:t>・統計的に能力不足又は不安定な特性に対する対応計画</a:t>
                      </a:r>
                    </a:p>
                  </a:txBody>
                  <a:tcPr/>
                </a:tc>
                <a:extLst>
                  <a:ext uri="{0D108BD9-81ED-4DB2-BD59-A6C34878D82A}">
                    <a16:rowId xmlns:a16="http://schemas.microsoft.com/office/drawing/2014/main" val="2358291497"/>
                  </a:ext>
                </a:extLst>
              </a:tr>
              <a:tr h="370840">
                <a:tc>
                  <a:txBody>
                    <a:bodyPr/>
                    <a:lstStyle/>
                    <a:p>
                      <a:r>
                        <a:rPr kumimoji="1" lang="en-US" altLang="ja-JP" sz="2000" dirty="0"/>
                        <a:t>10.2.4</a:t>
                      </a:r>
                      <a:endParaRPr kumimoji="1" lang="ja-JP" altLang="en-US" sz="2000" dirty="0"/>
                    </a:p>
                  </a:txBody>
                  <a:tcPr/>
                </a:tc>
                <a:tc>
                  <a:txBody>
                    <a:bodyPr/>
                    <a:lstStyle/>
                    <a:p>
                      <a:r>
                        <a:rPr kumimoji="1" lang="ja-JP" altLang="en-US" sz="2000" dirty="0"/>
                        <a:t>・ポカヨケ手段の活用のプロセス及び採用された手段の試験頻度</a:t>
                      </a:r>
                    </a:p>
                  </a:txBody>
                  <a:tcPr/>
                </a:tc>
                <a:extLst>
                  <a:ext uri="{0D108BD9-81ED-4DB2-BD59-A6C34878D82A}">
                    <a16:rowId xmlns:a16="http://schemas.microsoft.com/office/drawing/2014/main" val="1279784268"/>
                  </a:ext>
                </a:extLst>
              </a:tr>
            </a:tbl>
          </a:graphicData>
        </a:graphic>
      </p:graphicFrame>
    </p:spTree>
    <p:extLst>
      <p:ext uri="{BB962C8B-B14F-4D97-AF65-F5344CB8AC3E}">
        <p14:creationId xmlns:p14="http://schemas.microsoft.com/office/powerpoint/2010/main" val="2847662468"/>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1830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作成例（附属書Ａ参照）～ヘッダー～</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endParaRPr kumimoji="1" lang="ja-JP" altLang="en-US" sz="3000" b="1" dirty="0">
              <a:solidFill>
                <a:schemeClr val="bg1"/>
              </a:solidFill>
            </a:endParaRPr>
          </a:p>
        </p:txBody>
      </p:sp>
      <p:graphicFrame>
        <p:nvGraphicFramePr>
          <p:cNvPr id="3" name="表 2">
            <a:extLst>
              <a:ext uri="{FF2B5EF4-FFF2-40B4-BE49-F238E27FC236}">
                <a16:creationId xmlns:a16="http://schemas.microsoft.com/office/drawing/2014/main" id="{B7FCECBB-8519-4F3D-B5E9-927ECA0CA99F}"/>
              </a:ext>
            </a:extLst>
          </p:cNvPr>
          <p:cNvGraphicFramePr>
            <a:graphicFrameLocks noGrp="1"/>
          </p:cNvGraphicFramePr>
          <p:nvPr/>
        </p:nvGraphicFramePr>
        <p:xfrm>
          <a:off x="838199" y="2140431"/>
          <a:ext cx="10515600" cy="3610376"/>
        </p:xfrm>
        <a:graphic>
          <a:graphicData uri="http://schemas.openxmlformats.org/drawingml/2006/table">
            <a:tbl>
              <a:tblPr firstRow="1" bandRow="1">
                <a:tableStyleId>{5940675A-B579-460E-94D1-54222C63F5DA}</a:tableStyleId>
              </a:tblPr>
              <a:tblGrid>
                <a:gridCol w="3777868">
                  <a:extLst>
                    <a:ext uri="{9D8B030D-6E8A-4147-A177-3AD203B41FA5}">
                      <a16:colId xmlns:a16="http://schemas.microsoft.com/office/drawing/2014/main" val="1661874044"/>
                    </a:ext>
                  </a:extLst>
                </a:gridCol>
                <a:gridCol w="3404213">
                  <a:extLst>
                    <a:ext uri="{9D8B030D-6E8A-4147-A177-3AD203B41FA5}">
                      <a16:colId xmlns:a16="http://schemas.microsoft.com/office/drawing/2014/main" val="914275431"/>
                    </a:ext>
                  </a:extLst>
                </a:gridCol>
                <a:gridCol w="1674563">
                  <a:extLst>
                    <a:ext uri="{9D8B030D-6E8A-4147-A177-3AD203B41FA5}">
                      <a16:colId xmlns:a16="http://schemas.microsoft.com/office/drawing/2014/main" val="2393566242"/>
                    </a:ext>
                  </a:extLst>
                </a:gridCol>
                <a:gridCol w="1658956">
                  <a:extLst>
                    <a:ext uri="{9D8B030D-6E8A-4147-A177-3AD203B41FA5}">
                      <a16:colId xmlns:a16="http://schemas.microsoft.com/office/drawing/2014/main" val="3364848283"/>
                    </a:ext>
                  </a:extLst>
                </a:gridCol>
              </a:tblGrid>
              <a:tr h="902594">
                <a:tc>
                  <a:txBody>
                    <a:bodyPr/>
                    <a:lstStyle/>
                    <a:p>
                      <a:r>
                        <a:rPr kumimoji="1" lang="ja-JP" altLang="en-US" b="1" dirty="0"/>
                        <a:t>製品名</a:t>
                      </a:r>
                      <a:endParaRPr kumimoji="1" lang="en-US" altLang="ja-JP" b="1" dirty="0"/>
                    </a:p>
                    <a:p>
                      <a:r>
                        <a:rPr kumimoji="1" lang="ja-JP" altLang="en-US" dirty="0"/>
                        <a:t>　●●用●●品</a:t>
                      </a:r>
                    </a:p>
                  </a:txBody>
                  <a:tcPr/>
                </a:tc>
                <a:tc>
                  <a:txBody>
                    <a:bodyPr/>
                    <a:lstStyle/>
                    <a:p>
                      <a:r>
                        <a:rPr kumimoji="1" lang="ja-JP" altLang="en-US" b="1" dirty="0"/>
                        <a:t>組織名</a:t>
                      </a:r>
                      <a:endParaRPr kumimoji="1" lang="en-US" altLang="ja-JP" b="1" dirty="0"/>
                    </a:p>
                    <a:p>
                      <a:r>
                        <a:rPr kumimoji="1" lang="ja-JP" altLang="en-US" dirty="0"/>
                        <a:t>　㈱●●●●</a:t>
                      </a:r>
                    </a:p>
                  </a:txBody>
                  <a:tcPr/>
                </a:tc>
                <a:tc gridSpan="2">
                  <a:txBody>
                    <a:bodyPr/>
                    <a:lstStyle/>
                    <a:p>
                      <a:r>
                        <a:rPr kumimoji="1" lang="ja-JP" altLang="en-US" b="1" dirty="0"/>
                        <a:t>ＣＰ№</a:t>
                      </a:r>
                      <a:endParaRPr kumimoji="1" lang="en-US" altLang="ja-JP" b="1" dirty="0"/>
                    </a:p>
                    <a:p>
                      <a:r>
                        <a:rPr kumimoji="1" lang="ja-JP" altLang="en-US" dirty="0"/>
                        <a:t>　ＣＰ－●●●●</a:t>
                      </a:r>
                    </a:p>
                  </a:txBody>
                  <a:tcPr/>
                </a:tc>
                <a:tc hMerge="1">
                  <a:txBody>
                    <a:bodyPr/>
                    <a:lstStyle/>
                    <a:p>
                      <a:endParaRPr kumimoji="1" lang="ja-JP" altLang="en-US" dirty="0"/>
                    </a:p>
                  </a:txBody>
                  <a:tcPr/>
                </a:tc>
                <a:extLst>
                  <a:ext uri="{0D108BD9-81ED-4DB2-BD59-A6C34878D82A}">
                    <a16:rowId xmlns:a16="http://schemas.microsoft.com/office/drawing/2014/main" val="1060669346"/>
                  </a:ext>
                </a:extLst>
              </a:tr>
              <a:tr h="902594">
                <a:tc>
                  <a:txBody>
                    <a:bodyPr/>
                    <a:lstStyle/>
                    <a:p>
                      <a:r>
                        <a:rPr kumimoji="1" lang="ja-JP" altLang="en-US" b="1" dirty="0"/>
                        <a:t>製品番号</a:t>
                      </a:r>
                      <a:endParaRPr kumimoji="1" lang="en-US" altLang="ja-JP" b="1" dirty="0"/>
                    </a:p>
                    <a:p>
                      <a:r>
                        <a:rPr kumimoji="1" lang="ja-JP" altLang="en-US" dirty="0"/>
                        <a:t>　●●●●</a:t>
                      </a:r>
                    </a:p>
                  </a:txBody>
                  <a:tcPr/>
                </a:tc>
                <a:tc>
                  <a:txBody>
                    <a:bodyPr/>
                    <a:lstStyle/>
                    <a:p>
                      <a:r>
                        <a:rPr kumimoji="1" lang="ja-JP" altLang="en-US" b="1" dirty="0"/>
                        <a:t>工場名／コード</a:t>
                      </a:r>
                      <a:endParaRPr kumimoji="1" lang="en-US" altLang="ja-JP" b="1" dirty="0"/>
                    </a:p>
                    <a:p>
                      <a:r>
                        <a:rPr kumimoji="1" lang="ja-JP" altLang="en-US" dirty="0"/>
                        <a:t>　●●工場／●●●●</a:t>
                      </a:r>
                    </a:p>
                  </a:txBody>
                  <a:tcPr/>
                </a:tc>
                <a:tc>
                  <a:txBody>
                    <a:bodyPr/>
                    <a:lstStyle/>
                    <a:p>
                      <a:r>
                        <a:rPr kumimoji="1" lang="ja-JP" altLang="en-US" b="1" dirty="0"/>
                        <a:t>発行日</a:t>
                      </a:r>
                      <a:endParaRPr kumimoji="1" lang="en-US" altLang="ja-JP" b="1" dirty="0"/>
                    </a:p>
                    <a:p>
                      <a:r>
                        <a:rPr kumimoji="1" lang="ja-JP" altLang="en-US" dirty="0"/>
                        <a:t>　</a:t>
                      </a:r>
                      <a:r>
                        <a:rPr kumimoji="1" lang="en-US" altLang="ja-JP" dirty="0"/>
                        <a:t>20190101</a:t>
                      </a:r>
                      <a:endParaRPr kumimoji="1" lang="ja-JP" altLang="en-US" dirty="0"/>
                    </a:p>
                  </a:txBody>
                  <a:tcPr/>
                </a:tc>
                <a:tc>
                  <a:txBody>
                    <a:bodyPr/>
                    <a:lstStyle/>
                    <a:p>
                      <a:r>
                        <a:rPr kumimoji="1" lang="ja-JP" altLang="en-US" b="1" dirty="0"/>
                        <a:t>改定日</a:t>
                      </a:r>
                      <a:endParaRPr kumimoji="1" lang="en-US" altLang="ja-JP" b="1" dirty="0"/>
                    </a:p>
                    <a:p>
                      <a:r>
                        <a:rPr kumimoji="1" lang="ja-JP" altLang="en-US" dirty="0"/>
                        <a:t>　</a:t>
                      </a:r>
                      <a:r>
                        <a:rPr kumimoji="1" lang="en-US" altLang="ja-JP" dirty="0"/>
                        <a:t>20200101</a:t>
                      </a:r>
                      <a:endParaRPr kumimoji="1" lang="ja-JP" altLang="en-US" dirty="0"/>
                    </a:p>
                  </a:txBody>
                  <a:tcPr/>
                </a:tc>
                <a:extLst>
                  <a:ext uri="{0D108BD9-81ED-4DB2-BD59-A6C34878D82A}">
                    <a16:rowId xmlns:a16="http://schemas.microsoft.com/office/drawing/2014/main" val="2494458355"/>
                  </a:ext>
                </a:extLst>
              </a:tr>
              <a:tr h="902594">
                <a:tc>
                  <a:txBody>
                    <a:bodyPr/>
                    <a:lstStyle/>
                    <a:p>
                      <a:r>
                        <a:rPr kumimoji="1" lang="ja-JP" altLang="en-US" b="1" dirty="0"/>
                        <a:t>顧客名／顧客要求事項</a:t>
                      </a:r>
                      <a:endParaRPr kumimoji="1" lang="en-US" altLang="ja-JP" b="1" dirty="0"/>
                    </a:p>
                    <a:p>
                      <a:r>
                        <a:rPr kumimoji="1" lang="ja-JP" altLang="en-US" dirty="0"/>
                        <a:t>　㈱●●●●／仕様書●●</a:t>
                      </a:r>
                    </a:p>
                  </a:txBody>
                  <a:tcPr/>
                </a:tc>
                <a:tc>
                  <a:txBody>
                    <a:bodyPr/>
                    <a:lstStyle/>
                    <a:p>
                      <a:r>
                        <a:rPr kumimoji="1" lang="ja-JP" altLang="en-US" b="1" dirty="0"/>
                        <a:t>顧客承認／日付</a:t>
                      </a:r>
                      <a:endParaRPr kumimoji="1" lang="en-US" altLang="ja-JP" b="1" dirty="0"/>
                    </a:p>
                    <a:p>
                      <a:r>
                        <a:rPr kumimoji="1" lang="ja-JP" altLang="en-US" dirty="0"/>
                        <a:t>　品質保証部●●／</a:t>
                      </a:r>
                      <a:r>
                        <a:rPr kumimoji="1" lang="en-US" altLang="ja-JP" dirty="0"/>
                        <a:t>20200101</a:t>
                      </a:r>
                      <a:endParaRPr kumimoji="1" lang="ja-JP" altLang="en-US" dirty="0"/>
                    </a:p>
                  </a:txBody>
                  <a:tcPr/>
                </a:tc>
                <a:tc gridSpan="2">
                  <a:txBody>
                    <a:bodyPr/>
                    <a:lstStyle/>
                    <a:p>
                      <a:r>
                        <a:rPr kumimoji="1" lang="ja-JP" altLang="en-US" b="1" dirty="0"/>
                        <a:t>主要連絡先</a:t>
                      </a:r>
                      <a:endParaRPr kumimoji="1" lang="en-US" altLang="ja-JP" b="1" dirty="0"/>
                    </a:p>
                    <a:p>
                      <a:r>
                        <a:rPr kumimoji="1" lang="ja-JP" altLang="en-US" dirty="0"/>
                        <a:t>　●●部●●課●●●●</a:t>
                      </a:r>
                    </a:p>
                  </a:txBody>
                  <a:tcPr/>
                </a:tc>
                <a:tc hMerge="1">
                  <a:txBody>
                    <a:bodyPr/>
                    <a:lstStyle/>
                    <a:p>
                      <a:endParaRPr kumimoji="1" lang="ja-JP" altLang="en-US" dirty="0"/>
                    </a:p>
                  </a:txBody>
                  <a:tcPr/>
                </a:tc>
                <a:extLst>
                  <a:ext uri="{0D108BD9-81ED-4DB2-BD59-A6C34878D82A}">
                    <a16:rowId xmlns:a16="http://schemas.microsoft.com/office/drawing/2014/main" val="3328647861"/>
                  </a:ext>
                </a:extLst>
              </a:tr>
              <a:tr h="902594">
                <a:tc>
                  <a:txBody>
                    <a:bodyPr/>
                    <a:lstStyle/>
                    <a:p>
                      <a:r>
                        <a:rPr kumimoji="1" lang="ja-JP" altLang="en-US" b="1" dirty="0"/>
                        <a:t>最新版レベル（仕様書№・日付）</a:t>
                      </a:r>
                      <a:endParaRPr kumimoji="1" lang="en-US" altLang="ja-JP" b="1" dirty="0"/>
                    </a:p>
                    <a:p>
                      <a:r>
                        <a:rPr kumimoji="1" lang="ja-JP" altLang="en-US" dirty="0"/>
                        <a:t>　●●●●／</a:t>
                      </a:r>
                      <a:r>
                        <a:rPr kumimoji="1" lang="en-US" altLang="ja-JP" dirty="0"/>
                        <a:t>20191001</a:t>
                      </a:r>
                      <a:endParaRPr kumimoji="1" lang="ja-JP" altLang="en-US" dirty="0"/>
                    </a:p>
                  </a:txBody>
                  <a:tcPr/>
                </a:tc>
                <a:tc>
                  <a:txBody>
                    <a:bodyPr/>
                    <a:lstStyle/>
                    <a:p>
                      <a:r>
                        <a:rPr kumimoji="1" lang="en-US" altLang="ja-JP" b="1" dirty="0"/>
                        <a:t>APQP</a:t>
                      </a:r>
                      <a:r>
                        <a:rPr kumimoji="1" lang="ja-JP" altLang="en-US" b="1" dirty="0"/>
                        <a:t>チーム</a:t>
                      </a:r>
                      <a:endParaRPr kumimoji="1" lang="en-US" altLang="ja-JP" b="1" dirty="0"/>
                    </a:p>
                    <a:p>
                      <a:r>
                        <a:rPr kumimoji="1" lang="ja-JP" altLang="en-US" dirty="0"/>
                        <a:t>　●●●●／●●●●</a:t>
                      </a:r>
                    </a:p>
                  </a:txBody>
                  <a:tcPr/>
                </a:tc>
                <a:tc gridSpan="2">
                  <a:txBody>
                    <a:bodyPr/>
                    <a:lstStyle/>
                    <a:p>
                      <a:r>
                        <a:rPr kumimoji="1" lang="ja-JP" altLang="en-US" b="1" dirty="0"/>
                        <a:t>サイト（工場）長承認・日付</a:t>
                      </a:r>
                      <a:endParaRPr kumimoji="1" lang="en-US" altLang="ja-JP" b="1" dirty="0"/>
                    </a:p>
                    <a:p>
                      <a:r>
                        <a:rPr kumimoji="1" lang="ja-JP" altLang="en-US" dirty="0"/>
                        <a:t>　●●●印</a:t>
                      </a:r>
                      <a:r>
                        <a:rPr kumimoji="1" lang="en-US" altLang="ja-JP" dirty="0"/>
                        <a:t>/20200101</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3634545835"/>
                  </a:ext>
                </a:extLst>
              </a:tr>
            </a:tbl>
          </a:graphicData>
        </a:graphic>
      </p:graphicFrame>
    </p:spTree>
    <p:extLst>
      <p:ext uri="{BB962C8B-B14F-4D97-AF65-F5344CB8AC3E}">
        <p14:creationId xmlns:p14="http://schemas.microsoft.com/office/powerpoint/2010/main" val="4246227489"/>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518307"/>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作成例（附属書Ａ参照）～管理欄～</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429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endParaRPr kumimoji="1" lang="ja-JP" altLang="en-US" sz="3000" b="1" dirty="0">
              <a:solidFill>
                <a:schemeClr val="bg1"/>
              </a:solidFill>
            </a:endParaRPr>
          </a:p>
        </p:txBody>
      </p:sp>
      <p:graphicFrame>
        <p:nvGraphicFramePr>
          <p:cNvPr id="2" name="表 1">
            <a:extLst>
              <a:ext uri="{FF2B5EF4-FFF2-40B4-BE49-F238E27FC236}">
                <a16:creationId xmlns:a16="http://schemas.microsoft.com/office/drawing/2014/main" id="{DECFA428-0782-451A-A9BD-B469C83B099C}"/>
              </a:ext>
            </a:extLst>
          </p:cNvPr>
          <p:cNvGraphicFramePr>
            <a:graphicFrameLocks noGrp="1"/>
          </p:cNvGraphicFramePr>
          <p:nvPr>
            <p:extLst>
              <p:ext uri="{D42A27DB-BD31-4B8C-83A1-F6EECF244321}">
                <p14:modId xmlns:p14="http://schemas.microsoft.com/office/powerpoint/2010/main" val="2933228900"/>
              </p:ext>
            </p:extLst>
          </p:nvPr>
        </p:nvGraphicFramePr>
        <p:xfrm>
          <a:off x="838199" y="2129950"/>
          <a:ext cx="10515600" cy="4138645"/>
        </p:xfrm>
        <a:graphic>
          <a:graphicData uri="http://schemas.openxmlformats.org/drawingml/2006/table">
            <a:tbl>
              <a:tblPr firstRow="1" bandRow="1">
                <a:tableStyleId>{5940675A-B579-460E-94D1-54222C63F5DA}</a:tableStyleId>
              </a:tblPr>
              <a:tblGrid>
                <a:gridCol w="505859">
                  <a:extLst>
                    <a:ext uri="{9D8B030D-6E8A-4147-A177-3AD203B41FA5}">
                      <a16:colId xmlns:a16="http://schemas.microsoft.com/office/drawing/2014/main" val="2967085528"/>
                    </a:ext>
                  </a:extLst>
                </a:gridCol>
                <a:gridCol w="793214">
                  <a:extLst>
                    <a:ext uri="{9D8B030D-6E8A-4147-A177-3AD203B41FA5}">
                      <a16:colId xmlns:a16="http://schemas.microsoft.com/office/drawing/2014/main" val="3664827947"/>
                    </a:ext>
                  </a:extLst>
                </a:gridCol>
                <a:gridCol w="826265">
                  <a:extLst>
                    <a:ext uri="{9D8B030D-6E8A-4147-A177-3AD203B41FA5}">
                      <a16:colId xmlns:a16="http://schemas.microsoft.com/office/drawing/2014/main" val="868551015"/>
                    </a:ext>
                  </a:extLst>
                </a:gridCol>
                <a:gridCol w="892367">
                  <a:extLst>
                    <a:ext uri="{9D8B030D-6E8A-4147-A177-3AD203B41FA5}">
                      <a16:colId xmlns:a16="http://schemas.microsoft.com/office/drawing/2014/main" val="3586858523"/>
                    </a:ext>
                  </a:extLst>
                </a:gridCol>
                <a:gridCol w="1002535">
                  <a:extLst>
                    <a:ext uri="{9D8B030D-6E8A-4147-A177-3AD203B41FA5}">
                      <a16:colId xmlns:a16="http://schemas.microsoft.com/office/drawing/2014/main" val="3163794597"/>
                    </a:ext>
                  </a:extLst>
                </a:gridCol>
                <a:gridCol w="694062">
                  <a:extLst>
                    <a:ext uri="{9D8B030D-6E8A-4147-A177-3AD203B41FA5}">
                      <a16:colId xmlns:a16="http://schemas.microsoft.com/office/drawing/2014/main" val="1624545917"/>
                    </a:ext>
                  </a:extLst>
                </a:gridCol>
                <a:gridCol w="1134738">
                  <a:extLst>
                    <a:ext uri="{9D8B030D-6E8A-4147-A177-3AD203B41FA5}">
                      <a16:colId xmlns:a16="http://schemas.microsoft.com/office/drawing/2014/main" val="1949823251"/>
                    </a:ext>
                  </a:extLst>
                </a:gridCol>
                <a:gridCol w="958467">
                  <a:extLst>
                    <a:ext uri="{9D8B030D-6E8A-4147-A177-3AD203B41FA5}">
                      <a16:colId xmlns:a16="http://schemas.microsoft.com/office/drawing/2014/main" val="1273352604"/>
                    </a:ext>
                  </a:extLst>
                </a:gridCol>
                <a:gridCol w="661012">
                  <a:extLst>
                    <a:ext uri="{9D8B030D-6E8A-4147-A177-3AD203B41FA5}">
                      <a16:colId xmlns:a16="http://schemas.microsoft.com/office/drawing/2014/main" val="741703516"/>
                    </a:ext>
                  </a:extLst>
                </a:gridCol>
                <a:gridCol w="947451">
                  <a:extLst>
                    <a:ext uri="{9D8B030D-6E8A-4147-A177-3AD203B41FA5}">
                      <a16:colId xmlns:a16="http://schemas.microsoft.com/office/drawing/2014/main" val="3334152077"/>
                    </a:ext>
                  </a:extLst>
                </a:gridCol>
                <a:gridCol w="1013551">
                  <a:extLst>
                    <a:ext uri="{9D8B030D-6E8A-4147-A177-3AD203B41FA5}">
                      <a16:colId xmlns:a16="http://schemas.microsoft.com/office/drawing/2014/main" val="3433749718"/>
                    </a:ext>
                  </a:extLst>
                </a:gridCol>
                <a:gridCol w="1086079">
                  <a:extLst>
                    <a:ext uri="{9D8B030D-6E8A-4147-A177-3AD203B41FA5}">
                      <a16:colId xmlns:a16="http://schemas.microsoft.com/office/drawing/2014/main" val="4227792197"/>
                    </a:ext>
                  </a:extLst>
                </a:gridCol>
              </a:tblGrid>
              <a:tr h="591235">
                <a:tc rowSpan="2">
                  <a:txBody>
                    <a:bodyPr/>
                    <a:lstStyle/>
                    <a:p>
                      <a:r>
                        <a:rPr kumimoji="1" lang="ja-JP" altLang="en-US" sz="1600" dirty="0"/>
                        <a:t>№</a:t>
                      </a:r>
                    </a:p>
                  </a:txBody>
                  <a:tcPr anchor="ctr" anchorCtr="1">
                    <a:solidFill>
                      <a:schemeClr val="tx2">
                        <a:lumMod val="40000"/>
                        <a:lumOff val="60000"/>
                      </a:schemeClr>
                    </a:solidFill>
                  </a:tcPr>
                </a:tc>
                <a:tc rowSpan="2">
                  <a:txBody>
                    <a:bodyPr/>
                    <a:lstStyle/>
                    <a:p>
                      <a:r>
                        <a:rPr kumimoji="1" lang="ja-JP" altLang="en-US" sz="1600" dirty="0"/>
                        <a:t>工程名</a:t>
                      </a:r>
                    </a:p>
                  </a:txBody>
                  <a:tcPr anchor="ctr" anchorCtr="1">
                    <a:solidFill>
                      <a:schemeClr val="tx2">
                        <a:lumMod val="40000"/>
                        <a:lumOff val="60000"/>
                      </a:schemeClr>
                    </a:solidFill>
                  </a:tcPr>
                </a:tc>
                <a:tc rowSpan="2">
                  <a:txBody>
                    <a:bodyPr/>
                    <a:lstStyle/>
                    <a:p>
                      <a:r>
                        <a:rPr kumimoji="1" lang="ja-JP" altLang="en-US" sz="1600" dirty="0"/>
                        <a:t>装置</a:t>
                      </a:r>
                      <a:endParaRPr kumimoji="1" lang="en-US" altLang="ja-JP" sz="1600" dirty="0"/>
                    </a:p>
                    <a:p>
                      <a:r>
                        <a:rPr kumimoji="1" lang="ja-JP" altLang="en-US" sz="1600" dirty="0"/>
                        <a:t>治工具</a:t>
                      </a:r>
                    </a:p>
                  </a:txBody>
                  <a:tcPr anchor="ctr" anchorCtr="1">
                    <a:solidFill>
                      <a:schemeClr val="tx2">
                        <a:lumMod val="40000"/>
                        <a:lumOff val="60000"/>
                      </a:schemeClr>
                    </a:solidFill>
                  </a:tcPr>
                </a:tc>
                <a:tc gridSpan="2">
                  <a:txBody>
                    <a:bodyPr/>
                    <a:lstStyle/>
                    <a:p>
                      <a:r>
                        <a:rPr kumimoji="1" lang="ja-JP" altLang="en-US" sz="1600" dirty="0"/>
                        <a:t>特性</a:t>
                      </a:r>
                    </a:p>
                  </a:txBody>
                  <a:tcPr anchor="ctr" anchorCtr="1">
                    <a:solidFill>
                      <a:schemeClr val="tx2">
                        <a:lumMod val="40000"/>
                        <a:lumOff val="60000"/>
                      </a:schemeClr>
                    </a:solidFill>
                  </a:tcPr>
                </a:tc>
                <a:tc hMerge="1">
                  <a:txBody>
                    <a:bodyPr/>
                    <a:lstStyle/>
                    <a:p>
                      <a:endParaRPr kumimoji="1" lang="ja-JP" altLang="en-US" sz="1200" dirty="0"/>
                    </a:p>
                  </a:txBody>
                  <a:tcPr/>
                </a:tc>
                <a:tc rowSpan="2">
                  <a:txBody>
                    <a:bodyPr/>
                    <a:lstStyle/>
                    <a:p>
                      <a:r>
                        <a:rPr kumimoji="1" lang="ja-JP" altLang="en-US" sz="1600" dirty="0"/>
                        <a:t>分類</a:t>
                      </a:r>
                    </a:p>
                  </a:txBody>
                  <a:tcPr anchor="ctr" anchorCtr="1">
                    <a:solidFill>
                      <a:schemeClr val="tx2">
                        <a:lumMod val="40000"/>
                        <a:lumOff val="60000"/>
                      </a:schemeClr>
                    </a:solidFill>
                  </a:tcPr>
                </a:tc>
                <a:tc gridSpan="5">
                  <a:txBody>
                    <a:bodyPr/>
                    <a:lstStyle/>
                    <a:p>
                      <a:r>
                        <a:rPr kumimoji="1" lang="ja-JP" altLang="en-US" sz="1600" dirty="0"/>
                        <a:t>管理方法</a:t>
                      </a:r>
                    </a:p>
                  </a:txBody>
                  <a:tcPr anchor="ctr" anchorCtr="1">
                    <a:solidFill>
                      <a:schemeClr val="tx2">
                        <a:lumMod val="40000"/>
                        <a:lumOff val="60000"/>
                      </a:schemeClr>
                    </a:solidFill>
                  </a:tcPr>
                </a:tc>
                <a:tc hMerge="1">
                  <a:txBody>
                    <a:bodyPr/>
                    <a:lstStyle/>
                    <a:p>
                      <a:endParaRPr kumimoji="1" lang="ja-JP" altLang="en-US" sz="1200" dirty="0"/>
                    </a:p>
                  </a:txBody>
                  <a:tcPr/>
                </a:tc>
                <a:tc hMerge="1">
                  <a:txBody>
                    <a:bodyPr/>
                    <a:lstStyle/>
                    <a:p>
                      <a:endParaRPr kumimoji="1" lang="ja-JP" altLang="en-US" sz="1200" dirty="0"/>
                    </a:p>
                  </a:txBody>
                  <a:tcPr/>
                </a:tc>
                <a:tc hMerge="1">
                  <a:txBody>
                    <a:bodyPr/>
                    <a:lstStyle/>
                    <a:p>
                      <a:endParaRPr kumimoji="1" lang="ja-JP" altLang="en-US" sz="1200" dirty="0"/>
                    </a:p>
                  </a:txBody>
                  <a:tcPr/>
                </a:tc>
                <a:tc hMerge="1">
                  <a:txBody>
                    <a:bodyPr/>
                    <a:lstStyle/>
                    <a:p>
                      <a:endParaRPr kumimoji="1" lang="ja-JP" altLang="en-US" sz="1200" dirty="0"/>
                    </a:p>
                  </a:txBody>
                  <a:tcPr/>
                </a:tc>
                <a:tc rowSpan="2">
                  <a:txBody>
                    <a:bodyPr/>
                    <a:lstStyle/>
                    <a:p>
                      <a:r>
                        <a:rPr kumimoji="1" lang="ja-JP" altLang="en-US" sz="1600" dirty="0"/>
                        <a:t>対応計画</a:t>
                      </a:r>
                    </a:p>
                  </a:txBody>
                  <a:tcPr anchor="ctr" anchorCtr="1">
                    <a:solidFill>
                      <a:schemeClr val="tx2">
                        <a:lumMod val="40000"/>
                        <a:lumOff val="60000"/>
                      </a:schemeClr>
                    </a:solidFill>
                  </a:tcPr>
                </a:tc>
                <a:extLst>
                  <a:ext uri="{0D108BD9-81ED-4DB2-BD59-A6C34878D82A}">
                    <a16:rowId xmlns:a16="http://schemas.microsoft.com/office/drawing/2014/main" val="2922811592"/>
                  </a:ext>
                </a:extLst>
              </a:tr>
              <a:tr h="591235">
                <a:tc vMerge="1">
                  <a:txBody>
                    <a:bodyPr/>
                    <a:lstStyle/>
                    <a:p>
                      <a:endParaRPr kumimoji="1" lang="ja-JP" altLang="en-US" sz="1200" dirty="0"/>
                    </a:p>
                  </a:txBody>
                  <a:tcPr/>
                </a:tc>
                <a:tc vMerge="1">
                  <a:txBody>
                    <a:bodyPr/>
                    <a:lstStyle/>
                    <a:p>
                      <a:endParaRPr kumimoji="1" lang="ja-JP" altLang="en-US" sz="1200" dirty="0"/>
                    </a:p>
                  </a:txBody>
                  <a:tcPr/>
                </a:tc>
                <a:tc vMerge="1">
                  <a:txBody>
                    <a:bodyPr/>
                    <a:lstStyle/>
                    <a:p>
                      <a:endParaRPr kumimoji="1" lang="ja-JP" altLang="en-US" sz="1200" dirty="0"/>
                    </a:p>
                  </a:txBody>
                  <a:tcPr/>
                </a:tc>
                <a:tc>
                  <a:txBody>
                    <a:bodyPr/>
                    <a:lstStyle/>
                    <a:p>
                      <a:r>
                        <a:rPr kumimoji="1" lang="ja-JP" altLang="en-US" sz="1600" dirty="0"/>
                        <a:t>製品</a:t>
                      </a:r>
                    </a:p>
                  </a:txBody>
                  <a:tcPr anchor="ctr" anchorCtr="1">
                    <a:solidFill>
                      <a:schemeClr val="tx2">
                        <a:lumMod val="40000"/>
                        <a:lumOff val="60000"/>
                      </a:schemeClr>
                    </a:solidFill>
                  </a:tcPr>
                </a:tc>
                <a:tc>
                  <a:txBody>
                    <a:bodyPr/>
                    <a:lstStyle/>
                    <a:p>
                      <a:r>
                        <a:rPr kumimoji="1" lang="ja-JP" altLang="en-US" sz="1600" dirty="0"/>
                        <a:t>工程</a:t>
                      </a:r>
                    </a:p>
                  </a:txBody>
                  <a:tcPr anchor="ctr" anchorCtr="1">
                    <a:solidFill>
                      <a:schemeClr val="tx2">
                        <a:lumMod val="40000"/>
                        <a:lumOff val="60000"/>
                      </a:schemeClr>
                    </a:solidFill>
                  </a:tcPr>
                </a:tc>
                <a:tc vMerge="1">
                  <a:txBody>
                    <a:bodyPr/>
                    <a:lstStyle/>
                    <a:p>
                      <a:endParaRPr kumimoji="1" lang="ja-JP" altLang="en-US" sz="1200" dirty="0"/>
                    </a:p>
                  </a:txBody>
                  <a:tcPr/>
                </a:tc>
                <a:tc>
                  <a:txBody>
                    <a:bodyPr/>
                    <a:lstStyle/>
                    <a:p>
                      <a:r>
                        <a:rPr kumimoji="1" lang="ja-JP" altLang="en-US" sz="1600" dirty="0"/>
                        <a:t>仕様</a:t>
                      </a:r>
                      <a:endParaRPr kumimoji="1" lang="en-US" altLang="ja-JP" sz="1600" dirty="0"/>
                    </a:p>
                    <a:p>
                      <a:r>
                        <a:rPr kumimoji="1" lang="ja-JP" altLang="en-US" sz="1600" dirty="0"/>
                        <a:t>公差</a:t>
                      </a:r>
                    </a:p>
                  </a:txBody>
                  <a:tcPr anchor="ctr" anchorCtr="1">
                    <a:solidFill>
                      <a:schemeClr val="tx2">
                        <a:lumMod val="40000"/>
                        <a:lumOff val="60000"/>
                      </a:schemeClr>
                    </a:solidFill>
                  </a:tcPr>
                </a:tc>
                <a:tc>
                  <a:txBody>
                    <a:bodyPr/>
                    <a:lstStyle/>
                    <a:p>
                      <a:r>
                        <a:rPr kumimoji="1" lang="ja-JP" altLang="en-US" sz="1600" dirty="0"/>
                        <a:t>測定方法</a:t>
                      </a:r>
                    </a:p>
                  </a:txBody>
                  <a:tcPr anchor="ctr" anchorCtr="1">
                    <a:solidFill>
                      <a:schemeClr val="tx2">
                        <a:lumMod val="40000"/>
                        <a:lumOff val="60000"/>
                      </a:schemeClr>
                    </a:solidFill>
                  </a:tcPr>
                </a:tc>
                <a:tc>
                  <a:txBody>
                    <a:bodyPr/>
                    <a:lstStyle/>
                    <a:p>
                      <a:r>
                        <a:rPr kumimoji="1" lang="ja-JP" altLang="en-US" sz="1600" dirty="0"/>
                        <a:t>数量</a:t>
                      </a:r>
                    </a:p>
                  </a:txBody>
                  <a:tcPr anchor="ctr" anchorCtr="1">
                    <a:solidFill>
                      <a:schemeClr val="tx2">
                        <a:lumMod val="40000"/>
                        <a:lumOff val="60000"/>
                      </a:schemeClr>
                    </a:solidFill>
                  </a:tcPr>
                </a:tc>
                <a:tc>
                  <a:txBody>
                    <a:bodyPr/>
                    <a:lstStyle/>
                    <a:p>
                      <a:r>
                        <a:rPr kumimoji="1" lang="ja-JP" altLang="en-US" sz="1600" dirty="0"/>
                        <a:t>頻度</a:t>
                      </a:r>
                    </a:p>
                  </a:txBody>
                  <a:tcPr anchor="ctr" anchorCtr="1">
                    <a:solidFill>
                      <a:schemeClr val="tx2">
                        <a:lumMod val="40000"/>
                        <a:lumOff val="60000"/>
                      </a:schemeClr>
                    </a:solidFill>
                  </a:tcPr>
                </a:tc>
                <a:tc>
                  <a:txBody>
                    <a:bodyPr/>
                    <a:lstStyle/>
                    <a:p>
                      <a:r>
                        <a:rPr kumimoji="1" lang="ja-JP" altLang="en-US" sz="1600" dirty="0"/>
                        <a:t>管理方法</a:t>
                      </a:r>
                    </a:p>
                  </a:txBody>
                  <a:tcPr anchor="ctr" anchorCtr="1">
                    <a:solidFill>
                      <a:schemeClr val="tx2">
                        <a:lumMod val="40000"/>
                        <a:lumOff val="60000"/>
                      </a:schemeClr>
                    </a:solidFill>
                  </a:tcPr>
                </a:tc>
                <a:tc vMerge="1">
                  <a:txBody>
                    <a:bodyPr/>
                    <a:lstStyle/>
                    <a:p>
                      <a:endParaRPr kumimoji="1" lang="ja-JP" altLang="en-US" sz="1200" dirty="0"/>
                    </a:p>
                  </a:txBody>
                  <a:tcPr/>
                </a:tc>
                <a:extLst>
                  <a:ext uri="{0D108BD9-81ED-4DB2-BD59-A6C34878D82A}">
                    <a16:rowId xmlns:a16="http://schemas.microsoft.com/office/drawing/2014/main" val="2306007825"/>
                  </a:ext>
                </a:extLst>
              </a:tr>
              <a:tr h="591235">
                <a:tc>
                  <a:txBody>
                    <a:bodyPr/>
                    <a:lstStyle/>
                    <a:p>
                      <a:pPr algn="ctr"/>
                      <a:r>
                        <a:rPr kumimoji="1" lang="ja-JP" altLang="en-US" sz="1500" dirty="0"/>
                        <a:t>５</a:t>
                      </a:r>
                    </a:p>
                  </a:txBody>
                  <a:tcPr/>
                </a:tc>
                <a:tc>
                  <a:txBody>
                    <a:bodyPr/>
                    <a:lstStyle/>
                    <a:p>
                      <a:r>
                        <a:rPr kumimoji="1" lang="ja-JP" altLang="en-US" sz="1500" dirty="0"/>
                        <a:t>研削</a:t>
                      </a:r>
                    </a:p>
                  </a:txBody>
                  <a:tcPr/>
                </a:tc>
                <a:tc>
                  <a:txBody>
                    <a:bodyPr/>
                    <a:lstStyle/>
                    <a:p>
                      <a:r>
                        <a:rPr kumimoji="1" lang="ja-JP" altLang="en-US" sz="1500" dirty="0"/>
                        <a:t>旋盤</a:t>
                      </a:r>
                    </a:p>
                  </a:txBody>
                  <a:tcPr/>
                </a:tc>
                <a:tc>
                  <a:txBody>
                    <a:bodyPr/>
                    <a:lstStyle/>
                    <a:p>
                      <a:r>
                        <a:rPr kumimoji="1" lang="ja-JP" altLang="en-US" sz="1500" dirty="0"/>
                        <a:t>寸法１</a:t>
                      </a:r>
                    </a:p>
                  </a:txBody>
                  <a:tcPr/>
                </a:tc>
                <a:tc>
                  <a:txBody>
                    <a:bodyPr/>
                    <a:lstStyle/>
                    <a:p>
                      <a:endParaRPr kumimoji="1" lang="ja-JP" altLang="en-US" sz="1500" dirty="0"/>
                    </a:p>
                  </a:txBody>
                  <a:tcPr/>
                </a:tc>
                <a:tc>
                  <a:txBody>
                    <a:bodyPr/>
                    <a:lstStyle/>
                    <a:p>
                      <a:endParaRPr kumimoji="1" lang="ja-JP" altLang="en-US" sz="1500" dirty="0"/>
                    </a:p>
                  </a:txBody>
                  <a:tcPr/>
                </a:tc>
                <a:tc>
                  <a:txBody>
                    <a:bodyPr/>
                    <a:lstStyle/>
                    <a:p>
                      <a:r>
                        <a:rPr kumimoji="1" lang="en-US" altLang="ja-JP" sz="1500" dirty="0"/>
                        <a:t>10±0.5</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図面</a:t>
                      </a:r>
                      <a:r>
                        <a:rPr kumimoji="1" lang="en-US" altLang="ja-JP" sz="1500" dirty="0"/>
                        <a:t>A</a:t>
                      </a:r>
                      <a:endParaRPr kumimoji="1" lang="ja-JP" altLang="en-US" sz="1500" dirty="0"/>
                    </a:p>
                  </a:txBody>
                  <a:tcPr/>
                </a:tc>
                <a:tc>
                  <a:txBody>
                    <a:bodyPr/>
                    <a:lstStyle/>
                    <a:p>
                      <a:r>
                        <a:rPr kumimoji="1" lang="ja-JP" altLang="en-US" sz="1500" dirty="0"/>
                        <a:t>調整、再測定</a:t>
                      </a:r>
                    </a:p>
                  </a:txBody>
                  <a:tcPr/>
                </a:tc>
                <a:extLst>
                  <a:ext uri="{0D108BD9-81ED-4DB2-BD59-A6C34878D82A}">
                    <a16:rowId xmlns:a16="http://schemas.microsoft.com/office/drawing/2014/main" val="3087788770"/>
                  </a:ext>
                </a:extLst>
              </a:tr>
              <a:tr h="591235">
                <a:tc rowSpan="2">
                  <a:txBody>
                    <a:bodyPr/>
                    <a:lstStyle/>
                    <a:p>
                      <a:pPr algn="ctr"/>
                      <a:r>
                        <a:rPr kumimoji="1" lang="ja-JP" altLang="en-US" sz="1500" dirty="0"/>
                        <a:t>６</a:t>
                      </a:r>
                    </a:p>
                  </a:txBody>
                  <a:tcPr/>
                </a:tc>
                <a:tc rowSpan="2">
                  <a:txBody>
                    <a:bodyPr/>
                    <a:lstStyle/>
                    <a:p>
                      <a:r>
                        <a:rPr kumimoji="1" lang="ja-JP" altLang="en-US" sz="1500" dirty="0"/>
                        <a:t>焼入れ</a:t>
                      </a:r>
                    </a:p>
                  </a:txBody>
                  <a:tcPr/>
                </a:tc>
                <a:tc rowSpan="2">
                  <a:txBody>
                    <a:bodyPr/>
                    <a:lstStyle/>
                    <a:p>
                      <a:r>
                        <a:rPr kumimoji="1" lang="ja-JP" altLang="en-US" sz="1500" dirty="0"/>
                        <a:t>熱処理炉</a:t>
                      </a:r>
                    </a:p>
                  </a:txBody>
                  <a:tcPr/>
                </a:tc>
                <a:tc>
                  <a:txBody>
                    <a:bodyPr/>
                    <a:lstStyle/>
                    <a:p>
                      <a:endParaRPr kumimoji="1" lang="ja-JP" altLang="en-US" sz="1500" dirty="0"/>
                    </a:p>
                  </a:txBody>
                  <a:tcPr/>
                </a:tc>
                <a:tc>
                  <a:txBody>
                    <a:bodyPr/>
                    <a:lstStyle/>
                    <a:p>
                      <a:r>
                        <a:rPr kumimoji="1" lang="ja-JP" altLang="en-US" sz="1500" dirty="0"/>
                        <a:t>処理温度</a:t>
                      </a:r>
                      <a:endParaRPr kumimoji="1" lang="en-US" altLang="ja-JP" sz="1500" dirty="0"/>
                    </a:p>
                    <a:p>
                      <a:r>
                        <a:rPr kumimoji="1" lang="ja-JP" altLang="en-US" sz="1500" dirty="0"/>
                        <a:t>処理時間</a:t>
                      </a:r>
                    </a:p>
                  </a:txBody>
                  <a:tcPr/>
                </a:tc>
                <a:tc>
                  <a:txBody>
                    <a:bodyPr/>
                    <a:lstStyle/>
                    <a:p>
                      <a:r>
                        <a:rPr kumimoji="1" lang="ja-JP" altLang="en-US" sz="1500" dirty="0"/>
                        <a:t>特殊</a:t>
                      </a:r>
                    </a:p>
                  </a:txBody>
                  <a:tcPr/>
                </a:tc>
                <a:tc>
                  <a:txBody>
                    <a:bodyPr/>
                    <a:lstStyle/>
                    <a:p>
                      <a:r>
                        <a:rPr kumimoji="1" lang="en-US" altLang="ja-JP" sz="1500" dirty="0"/>
                        <a:t>1000±2</a:t>
                      </a:r>
                    </a:p>
                    <a:p>
                      <a:r>
                        <a:rPr kumimoji="1" lang="en-US" altLang="ja-JP" sz="1500" dirty="0"/>
                        <a:t>10±0.1</a:t>
                      </a:r>
                      <a:endParaRPr kumimoji="1" lang="ja-JP" altLang="en-US" sz="1500" dirty="0"/>
                    </a:p>
                  </a:txBody>
                  <a:tcPr/>
                </a:tc>
                <a:tc>
                  <a:txBody>
                    <a:bodyPr/>
                    <a:lstStyle/>
                    <a:p>
                      <a:r>
                        <a:rPr kumimoji="1" lang="ja-JP" altLang="en-US" sz="1500" dirty="0"/>
                        <a:t>温度計</a:t>
                      </a:r>
                      <a:endParaRPr kumimoji="1" lang="en-US" altLang="ja-JP" sz="1500" dirty="0"/>
                    </a:p>
                    <a:p>
                      <a:r>
                        <a:rPr kumimoji="1" lang="ja-JP" altLang="en-US" sz="1500" dirty="0"/>
                        <a:t>タイマー</a:t>
                      </a:r>
                    </a:p>
                  </a:txBody>
                  <a:tcPr/>
                </a:tc>
                <a:tc>
                  <a:txBody>
                    <a:bodyPr/>
                    <a:lstStyle/>
                    <a:p>
                      <a:r>
                        <a:rPr kumimoji="1" lang="ja-JP" altLang="en-US" sz="1500" dirty="0"/>
                        <a:t>連続</a:t>
                      </a:r>
                    </a:p>
                  </a:txBody>
                  <a:tcPr/>
                </a:tc>
                <a:tc>
                  <a:txBody>
                    <a:bodyPr/>
                    <a:lstStyle/>
                    <a:p>
                      <a:r>
                        <a:rPr kumimoji="1" lang="ja-JP" altLang="en-US" sz="1500" dirty="0"/>
                        <a:t>ロット</a:t>
                      </a:r>
                    </a:p>
                  </a:txBody>
                  <a:tcPr/>
                </a:tc>
                <a:tc>
                  <a:txBody>
                    <a:bodyPr/>
                    <a:lstStyle/>
                    <a:p>
                      <a:r>
                        <a:rPr kumimoji="1" lang="ja-JP" altLang="en-US" sz="1500" dirty="0"/>
                        <a:t>＊＊手順書</a:t>
                      </a:r>
                    </a:p>
                  </a:txBody>
                  <a:tcPr/>
                </a:tc>
                <a:tc>
                  <a:txBody>
                    <a:bodyPr/>
                    <a:lstStyle/>
                    <a:p>
                      <a:r>
                        <a:rPr kumimoji="1" lang="ja-JP" altLang="en-US" sz="1500" dirty="0"/>
                        <a:t>＊＊手順書</a:t>
                      </a:r>
                    </a:p>
                  </a:txBody>
                  <a:tcPr/>
                </a:tc>
                <a:extLst>
                  <a:ext uri="{0D108BD9-81ED-4DB2-BD59-A6C34878D82A}">
                    <a16:rowId xmlns:a16="http://schemas.microsoft.com/office/drawing/2014/main" val="1891195984"/>
                  </a:ext>
                </a:extLst>
              </a:tr>
              <a:tr h="591235">
                <a:tc vMerge="1">
                  <a:txBody>
                    <a:bodyPr/>
                    <a:lstStyle/>
                    <a:p>
                      <a:endParaRPr kumimoji="1" lang="ja-JP" altLang="en-US" sz="1200" dirty="0"/>
                    </a:p>
                  </a:txBody>
                  <a:tcPr/>
                </a:tc>
                <a:tc vMerge="1">
                  <a:txBody>
                    <a:bodyPr/>
                    <a:lstStyle/>
                    <a:p>
                      <a:endParaRPr kumimoji="1" lang="ja-JP" altLang="en-US" sz="1500" dirty="0"/>
                    </a:p>
                  </a:txBody>
                  <a:tcPr/>
                </a:tc>
                <a:tc vMerge="1">
                  <a:txBody>
                    <a:bodyPr/>
                    <a:lstStyle/>
                    <a:p>
                      <a:endParaRPr kumimoji="1" lang="ja-JP" altLang="en-US" sz="1500" dirty="0"/>
                    </a:p>
                  </a:txBody>
                  <a:tcPr/>
                </a:tc>
                <a:tc>
                  <a:txBody>
                    <a:bodyPr/>
                    <a:lstStyle/>
                    <a:p>
                      <a:r>
                        <a:rPr kumimoji="1" lang="ja-JP" altLang="en-US" sz="1500" dirty="0"/>
                        <a:t>硬度</a:t>
                      </a:r>
                    </a:p>
                  </a:txBody>
                  <a:tcPr/>
                </a:tc>
                <a:tc>
                  <a:txBody>
                    <a:bodyPr/>
                    <a:lstStyle/>
                    <a:p>
                      <a:endParaRPr kumimoji="1" lang="ja-JP" altLang="en-US" sz="1500" dirty="0"/>
                    </a:p>
                  </a:txBody>
                  <a:tcPr/>
                </a:tc>
                <a:tc>
                  <a:txBody>
                    <a:bodyPr/>
                    <a:lstStyle/>
                    <a:p>
                      <a:r>
                        <a:rPr kumimoji="1" lang="ja-JP" altLang="en-US" sz="1500" dirty="0"/>
                        <a:t>特殊</a:t>
                      </a:r>
                    </a:p>
                  </a:txBody>
                  <a:tcPr/>
                </a:tc>
                <a:tc>
                  <a:txBody>
                    <a:bodyPr/>
                    <a:lstStyle/>
                    <a:p>
                      <a:r>
                        <a:rPr kumimoji="1" lang="en-US" altLang="ja-JP" sz="1500" dirty="0"/>
                        <a:t>25±2</a:t>
                      </a:r>
                      <a:endParaRPr kumimoji="1" lang="ja-JP" altLang="en-US" sz="1500" dirty="0"/>
                    </a:p>
                  </a:txBody>
                  <a:tcPr/>
                </a:tc>
                <a:tc>
                  <a:txBody>
                    <a:bodyPr/>
                    <a:lstStyle/>
                    <a:p>
                      <a:r>
                        <a:rPr kumimoji="1" lang="ja-JP" altLang="en-US" sz="1500" dirty="0"/>
                        <a:t>硬度計</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＊＊手順書</a:t>
                      </a:r>
                    </a:p>
                  </a:txBody>
                  <a:tcPr/>
                </a:tc>
                <a:tc>
                  <a:txBody>
                    <a:bodyPr/>
                    <a:lstStyle/>
                    <a:p>
                      <a:r>
                        <a:rPr kumimoji="1" lang="ja-JP" altLang="en-US" sz="1500" dirty="0"/>
                        <a:t>＊＊手順書</a:t>
                      </a:r>
                    </a:p>
                  </a:txBody>
                  <a:tcPr/>
                </a:tc>
                <a:extLst>
                  <a:ext uri="{0D108BD9-81ED-4DB2-BD59-A6C34878D82A}">
                    <a16:rowId xmlns:a16="http://schemas.microsoft.com/office/drawing/2014/main" val="67482103"/>
                  </a:ext>
                </a:extLst>
              </a:tr>
              <a:tr h="591235">
                <a:tc rowSpan="2">
                  <a:txBody>
                    <a:bodyPr/>
                    <a:lstStyle/>
                    <a:p>
                      <a:pPr algn="ctr"/>
                      <a:r>
                        <a:rPr kumimoji="1" lang="ja-JP" altLang="en-US" sz="1500" dirty="0"/>
                        <a:t>７</a:t>
                      </a:r>
                    </a:p>
                  </a:txBody>
                  <a:tcPr/>
                </a:tc>
                <a:tc rowSpan="2">
                  <a:txBody>
                    <a:bodyPr/>
                    <a:lstStyle/>
                    <a:p>
                      <a:r>
                        <a:rPr kumimoji="1" lang="ja-JP" altLang="en-US" sz="1500" dirty="0"/>
                        <a:t>研磨</a:t>
                      </a:r>
                    </a:p>
                  </a:txBody>
                  <a:tcPr/>
                </a:tc>
                <a:tc rowSpan="2">
                  <a:txBody>
                    <a:bodyPr/>
                    <a:lstStyle/>
                    <a:p>
                      <a:r>
                        <a:rPr kumimoji="1" lang="ja-JP" altLang="en-US" sz="1500" dirty="0"/>
                        <a:t>研磨機</a:t>
                      </a:r>
                    </a:p>
                  </a:txBody>
                  <a:tcPr/>
                </a:tc>
                <a:tc>
                  <a:txBody>
                    <a:bodyPr/>
                    <a:lstStyle/>
                    <a:p>
                      <a:r>
                        <a:rPr kumimoji="1" lang="ja-JP" altLang="en-US" sz="1500" dirty="0"/>
                        <a:t>寸法２</a:t>
                      </a:r>
                    </a:p>
                  </a:txBody>
                  <a:tcPr/>
                </a:tc>
                <a:tc>
                  <a:txBody>
                    <a:bodyPr/>
                    <a:lstStyle/>
                    <a:p>
                      <a:endParaRPr kumimoji="1" lang="ja-JP" altLang="en-US" sz="1500"/>
                    </a:p>
                  </a:txBody>
                  <a:tcPr/>
                </a:tc>
                <a:tc>
                  <a:txBody>
                    <a:bodyPr/>
                    <a:lstStyle/>
                    <a:p>
                      <a:r>
                        <a:rPr kumimoji="1" lang="ja-JP" altLang="en-US" sz="1500" dirty="0"/>
                        <a:t>特殊</a:t>
                      </a:r>
                    </a:p>
                  </a:txBody>
                  <a:tcPr/>
                </a:tc>
                <a:tc>
                  <a:txBody>
                    <a:bodyPr/>
                    <a:lstStyle/>
                    <a:p>
                      <a:r>
                        <a:rPr kumimoji="1" lang="en-US" altLang="ja-JP" sz="1500" dirty="0"/>
                        <a:t>100±0.2</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２</a:t>
                      </a:r>
                    </a:p>
                  </a:txBody>
                  <a:tcPr/>
                </a:tc>
                <a:tc>
                  <a:txBody>
                    <a:bodyPr/>
                    <a:lstStyle/>
                    <a:p>
                      <a:r>
                        <a:rPr kumimoji="1" lang="ja-JP" altLang="en-US" sz="1500" dirty="0"/>
                        <a:t>ロット</a:t>
                      </a:r>
                    </a:p>
                  </a:txBody>
                  <a:tcPr/>
                </a:tc>
                <a:tc>
                  <a:txBody>
                    <a:bodyPr/>
                    <a:lstStyle/>
                    <a:p>
                      <a:r>
                        <a:rPr kumimoji="1" lang="ja-JP" altLang="en-US" sz="1500" dirty="0"/>
                        <a:t>図面Ａ</a:t>
                      </a:r>
                    </a:p>
                  </a:txBody>
                  <a:tcPr/>
                </a:tc>
                <a:tc>
                  <a:txBody>
                    <a:bodyPr/>
                    <a:lstStyle/>
                    <a:p>
                      <a:r>
                        <a:rPr kumimoji="1" lang="ja-JP" altLang="en-US" sz="1500" dirty="0"/>
                        <a:t>調整、再測定</a:t>
                      </a:r>
                    </a:p>
                  </a:txBody>
                  <a:tcPr/>
                </a:tc>
                <a:extLst>
                  <a:ext uri="{0D108BD9-81ED-4DB2-BD59-A6C34878D82A}">
                    <a16:rowId xmlns:a16="http://schemas.microsoft.com/office/drawing/2014/main" val="1989180794"/>
                  </a:ext>
                </a:extLst>
              </a:tr>
              <a:tr h="591235">
                <a:tc vMerge="1">
                  <a:txBody>
                    <a:bodyPr/>
                    <a:lstStyle/>
                    <a:p>
                      <a:endParaRPr kumimoji="1" lang="ja-JP" altLang="en-US" sz="1200" dirty="0"/>
                    </a:p>
                  </a:txBody>
                  <a:tcPr/>
                </a:tc>
                <a:tc vMerge="1">
                  <a:txBody>
                    <a:bodyPr/>
                    <a:lstStyle/>
                    <a:p>
                      <a:endParaRPr kumimoji="1" lang="ja-JP" altLang="en-US" sz="1500" dirty="0"/>
                    </a:p>
                  </a:txBody>
                  <a:tcPr/>
                </a:tc>
                <a:tc vMerge="1">
                  <a:txBody>
                    <a:bodyPr/>
                    <a:lstStyle/>
                    <a:p>
                      <a:endParaRPr kumimoji="1" lang="ja-JP" altLang="en-US" sz="1500" dirty="0"/>
                    </a:p>
                  </a:txBody>
                  <a:tcPr/>
                </a:tc>
                <a:tc>
                  <a:txBody>
                    <a:bodyPr/>
                    <a:lstStyle/>
                    <a:p>
                      <a:endParaRPr kumimoji="1" lang="ja-JP" altLang="en-US" sz="1500"/>
                    </a:p>
                  </a:txBody>
                  <a:tcPr/>
                </a:tc>
                <a:tc>
                  <a:txBody>
                    <a:bodyPr/>
                    <a:lstStyle/>
                    <a:p>
                      <a:r>
                        <a:rPr kumimoji="1" lang="ja-JP" altLang="en-US" sz="1500" dirty="0"/>
                        <a:t>寸法２</a:t>
                      </a:r>
                      <a:endParaRPr kumimoji="1" lang="en-US" altLang="ja-JP" sz="1500" dirty="0"/>
                    </a:p>
                    <a:p>
                      <a:r>
                        <a:rPr kumimoji="1" lang="ja-JP" altLang="en-US" sz="1500" dirty="0"/>
                        <a:t>工程能力</a:t>
                      </a:r>
                    </a:p>
                  </a:txBody>
                  <a:tcPr/>
                </a:tc>
                <a:tc>
                  <a:txBody>
                    <a:bodyPr/>
                    <a:lstStyle/>
                    <a:p>
                      <a:r>
                        <a:rPr kumimoji="1" lang="ja-JP" altLang="en-US" sz="1500" dirty="0"/>
                        <a:t>特殊</a:t>
                      </a:r>
                    </a:p>
                  </a:txBody>
                  <a:tcPr/>
                </a:tc>
                <a:tc>
                  <a:txBody>
                    <a:bodyPr/>
                    <a:lstStyle/>
                    <a:p>
                      <a:r>
                        <a:rPr kumimoji="1" lang="en-US" altLang="ja-JP" sz="1500" dirty="0" err="1"/>
                        <a:t>Cpk</a:t>
                      </a:r>
                      <a:r>
                        <a:rPr kumimoji="1" lang="ja-JP" altLang="en-US" sz="1500" dirty="0"/>
                        <a:t>≧</a:t>
                      </a:r>
                      <a:r>
                        <a:rPr kumimoji="1" lang="en-US" altLang="ja-JP" sz="1500" dirty="0"/>
                        <a:t>1.67</a:t>
                      </a:r>
                      <a:endParaRPr kumimoji="1" lang="ja-JP" altLang="en-US" sz="1500" dirty="0"/>
                    </a:p>
                  </a:txBody>
                  <a:tcPr/>
                </a:tc>
                <a:tc>
                  <a:txBody>
                    <a:bodyPr/>
                    <a:lstStyle/>
                    <a:p>
                      <a:r>
                        <a:rPr kumimoji="1" lang="ja-JP" altLang="en-US" sz="1500" dirty="0"/>
                        <a:t>ノギス</a:t>
                      </a:r>
                    </a:p>
                  </a:txBody>
                  <a:tcPr/>
                </a:tc>
                <a:tc>
                  <a:txBody>
                    <a:bodyPr/>
                    <a:lstStyle/>
                    <a:p>
                      <a:r>
                        <a:rPr kumimoji="1" lang="ja-JP" altLang="en-US" sz="1500" dirty="0"/>
                        <a:t>３０</a:t>
                      </a:r>
                    </a:p>
                  </a:txBody>
                  <a:tcPr/>
                </a:tc>
                <a:tc>
                  <a:txBody>
                    <a:bodyPr/>
                    <a:lstStyle/>
                    <a:p>
                      <a:r>
                        <a:rPr kumimoji="1" lang="en-US" altLang="ja-JP" sz="1500" dirty="0"/>
                        <a:t>1</a:t>
                      </a:r>
                      <a:r>
                        <a:rPr kumimoji="1" lang="ja-JP" altLang="en-US" sz="1500" dirty="0"/>
                        <a:t>週間ごと</a:t>
                      </a:r>
                    </a:p>
                  </a:txBody>
                  <a:tcPr/>
                </a:tc>
                <a:tc>
                  <a:txBody>
                    <a:bodyPr/>
                    <a:lstStyle/>
                    <a:p>
                      <a:r>
                        <a:rPr kumimoji="1" lang="ja-JP" altLang="en-US" sz="1500" dirty="0"/>
                        <a:t>管理図</a:t>
                      </a:r>
                    </a:p>
                  </a:txBody>
                  <a:tcPr/>
                </a:tc>
                <a:tc>
                  <a:txBody>
                    <a:bodyPr/>
                    <a:lstStyle/>
                    <a:p>
                      <a:r>
                        <a:rPr kumimoji="1" lang="ja-JP" altLang="en-US" sz="1500" dirty="0"/>
                        <a:t>＊＊手順書</a:t>
                      </a:r>
                    </a:p>
                  </a:txBody>
                  <a:tcPr/>
                </a:tc>
                <a:extLst>
                  <a:ext uri="{0D108BD9-81ED-4DB2-BD59-A6C34878D82A}">
                    <a16:rowId xmlns:a16="http://schemas.microsoft.com/office/drawing/2014/main" val="1913262610"/>
                  </a:ext>
                </a:extLst>
              </a:tr>
            </a:tbl>
          </a:graphicData>
        </a:graphic>
      </p:graphicFrame>
      <p:sp>
        <p:nvSpPr>
          <p:cNvPr id="8" name="吹き出し: 四角形 7">
            <a:extLst>
              <a:ext uri="{FF2B5EF4-FFF2-40B4-BE49-F238E27FC236}">
                <a16:creationId xmlns:a16="http://schemas.microsoft.com/office/drawing/2014/main" id="{84A5C938-6AE8-4AC8-A91E-C0D3BD5FBEF4}"/>
              </a:ext>
            </a:extLst>
          </p:cNvPr>
          <p:cNvSpPr/>
          <p:nvPr/>
        </p:nvSpPr>
        <p:spPr>
          <a:xfrm>
            <a:off x="7051249" y="1329179"/>
            <a:ext cx="4100660" cy="854074"/>
          </a:xfrm>
          <a:prstGeom prst="wedgeRectCallout">
            <a:avLst>
              <a:gd name="adj1" fmla="val -4159"/>
              <a:gd name="adj2" fmla="val 6250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600" dirty="0">
                <a:solidFill>
                  <a:srgbClr val="FF0000"/>
                </a:solidFill>
              </a:rPr>
              <a:t>【</a:t>
            </a:r>
            <a:r>
              <a:rPr lang="ja-JP" altLang="en-US" sz="1600" dirty="0">
                <a:solidFill>
                  <a:srgbClr val="FF0000"/>
                </a:solidFill>
              </a:rPr>
              <a:t>その他考慮事項</a:t>
            </a:r>
            <a:r>
              <a:rPr lang="en-US" altLang="ja-JP" sz="1600" dirty="0">
                <a:solidFill>
                  <a:srgbClr val="FF0000"/>
                </a:solidFill>
              </a:rPr>
              <a:t>】</a:t>
            </a:r>
          </a:p>
          <a:p>
            <a:r>
              <a:rPr kumimoji="1" lang="ja-JP" altLang="en-US" sz="1600" dirty="0">
                <a:solidFill>
                  <a:srgbClr val="FF0000"/>
                </a:solidFill>
              </a:rPr>
              <a:t>・段取替え検証　　</a:t>
            </a:r>
            <a:r>
              <a:rPr lang="ja-JP" altLang="en-US" sz="1600" dirty="0">
                <a:solidFill>
                  <a:srgbClr val="FF0000"/>
                </a:solidFill>
              </a:rPr>
              <a:t>・シャットダウン検証</a:t>
            </a:r>
            <a:endParaRPr lang="en-US" altLang="ja-JP" sz="1600" dirty="0">
              <a:solidFill>
                <a:srgbClr val="FF0000"/>
              </a:solidFill>
            </a:endParaRPr>
          </a:p>
          <a:p>
            <a:r>
              <a:rPr kumimoji="1" lang="ja-JP" altLang="en-US" sz="1600" dirty="0">
                <a:solidFill>
                  <a:srgbClr val="FF0000"/>
                </a:solidFill>
              </a:rPr>
              <a:t>・代替工程管理</a:t>
            </a:r>
          </a:p>
        </p:txBody>
      </p:sp>
    </p:spTree>
    <p:extLst>
      <p:ext uri="{BB962C8B-B14F-4D97-AF65-F5344CB8AC3E}">
        <p14:creationId xmlns:p14="http://schemas.microsoft.com/office/powerpoint/2010/main" val="1532818940"/>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7136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コントロールプランの概要。</a:t>
            </a:r>
            <a:endParaRPr lang="en-US" altLang="ja-JP" dirty="0"/>
          </a:p>
          <a:p>
            <a:pPr marL="514350" indent="-514350">
              <a:lnSpc>
                <a:spcPct val="100000"/>
              </a:lnSpc>
              <a:buFont typeface="+mj-lt"/>
              <a:buAutoNum type="arabicPeriod" startAt="4"/>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graphicFrame>
        <p:nvGraphicFramePr>
          <p:cNvPr id="3" name="表 5">
            <a:extLst>
              <a:ext uri="{FF2B5EF4-FFF2-40B4-BE49-F238E27FC236}">
                <a16:creationId xmlns:a16="http://schemas.microsoft.com/office/drawing/2014/main" id="{A7ABDCCA-54D8-4E71-AEE5-FC395009888B}"/>
              </a:ext>
            </a:extLst>
          </p:cNvPr>
          <p:cNvGraphicFramePr>
            <a:graphicFrameLocks noGrp="1"/>
          </p:cNvGraphicFramePr>
          <p:nvPr>
            <p:extLst>
              <p:ext uri="{D42A27DB-BD31-4B8C-83A1-F6EECF244321}">
                <p14:modId xmlns:p14="http://schemas.microsoft.com/office/powerpoint/2010/main" val="1786614031"/>
              </p:ext>
            </p:extLst>
          </p:nvPr>
        </p:nvGraphicFramePr>
        <p:xfrm>
          <a:off x="838200" y="2048008"/>
          <a:ext cx="10515600" cy="4328160"/>
        </p:xfrm>
        <a:graphic>
          <a:graphicData uri="http://schemas.openxmlformats.org/drawingml/2006/table">
            <a:tbl>
              <a:tblPr firstRow="1" bandRow="1">
                <a:tableStyleId>{5940675A-B579-460E-94D1-54222C63F5DA}</a:tableStyleId>
              </a:tblPr>
              <a:tblGrid>
                <a:gridCol w="1606617">
                  <a:extLst>
                    <a:ext uri="{9D8B030D-6E8A-4147-A177-3AD203B41FA5}">
                      <a16:colId xmlns:a16="http://schemas.microsoft.com/office/drawing/2014/main" val="3380003364"/>
                    </a:ext>
                  </a:extLst>
                </a:gridCol>
                <a:gridCol w="8908983">
                  <a:extLst>
                    <a:ext uri="{9D8B030D-6E8A-4147-A177-3AD203B41FA5}">
                      <a16:colId xmlns:a16="http://schemas.microsoft.com/office/drawing/2014/main" val="4072248784"/>
                    </a:ext>
                  </a:extLst>
                </a:gridCol>
              </a:tblGrid>
              <a:tr h="370840">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700505883"/>
                  </a:ext>
                </a:extLst>
              </a:tr>
              <a:tr h="370840">
                <a:tc>
                  <a:txBody>
                    <a:bodyPr/>
                    <a:lstStyle/>
                    <a:p>
                      <a:r>
                        <a:rPr kumimoji="1" lang="en-US" altLang="ja-JP" sz="2000" dirty="0"/>
                        <a:t>CP</a:t>
                      </a:r>
                      <a:r>
                        <a:rPr kumimoji="1" lang="ja-JP" altLang="en-US" sz="2000" dirty="0"/>
                        <a:t>とは</a:t>
                      </a:r>
                    </a:p>
                  </a:txBody>
                  <a:tcPr/>
                </a:tc>
                <a:tc>
                  <a:txBody>
                    <a:bodyPr/>
                    <a:lstStyle/>
                    <a:p>
                      <a:pPr marL="457200" indent="-457200">
                        <a:buFont typeface="+mj-ea"/>
                        <a:buAutoNum type="circleNumDbPlain"/>
                      </a:pPr>
                      <a:r>
                        <a:rPr kumimoji="1" lang="en-US" altLang="ja-JP" sz="2000" dirty="0"/>
                        <a:t>CP</a:t>
                      </a:r>
                      <a:r>
                        <a:rPr kumimoji="1" lang="ja-JP" altLang="en-US" sz="2000" dirty="0"/>
                        <a:t>は、製品及びプロセス（製造工程）を管理するためのシステムを記述した文書。</a:t>
                      </a:r>
                    </a:p>
                  </a:txBody>
                  <a:tcPr/>
                </a:tc>
                <a:extLst>
                  <a:ext uri="{0D108BD9-81ED-4DB2-BD59-A6C34878D82A}">
                    <a16:rowId xmlns:a16="http://schemas.microsoft.com/office/drawing/2014/main" val="2923892811"/>
                  </a:ext>
                </a:extLst>
              </a:tr>
              <a:tr h="370840">
                <a:tc>
                  <a:txBody>
                    <a:bodyPr/>
                    <a:lstStyle/>
                    <a:p>
                      <a:r>
                        <a:rPr kumimoji="1" lang="ja-JP" altLang="en-US" sz="2000" dirty="0"/>
                        <a:t>３段階の</a:t>
                      </a:r>
                      <a:r>
                        <a:rPr kumimoji="1" lang="en-US" altLang="ja-JP" sz="2000" dirty="0"/>
                        <a:t>CP</a:t>
                      </a:r>
                      <a:endParaRPr kumimoji="1" lang="ja-JP" altLang="en-US" sz="2000" dirty="0"/>
                    </a:p>
                  </a:txBody>
                  <a:tcPr/>
                </a:tc>
                <a:tc>
                  <a:txBody>
                    <a:bodyPr/>
                    <a:lstStyle/>
                    <a:p>
                      <a:pPr marL="457200" indent="-457200">
                        <a:buFont typeface="+mj-ea"/>
                        <a:buAutoNum type="circleNumDbPlain"/>
                      </a:pPr>
                      <a:r>
                        <a:rPr kumimoji="1" lang="ja-JP" altLang="en-US" sz="2000" dirty="0"/>
                        <a:t>試作</a:t>
                      </a:r>
                      <a:r>
                        <a:rPr kumimoji="1" lang="en-US" altLang="ja-JP" sz="2000" dirty="0"/>
                        <a:t>CP</a:t>
                      </a:r>
                      <a:r>
                        <a:rPr kumimoji="1" lang="ja-JP" altLang="en-US" sz="2000" dirty="0"/>
                        <a:t>は、試作段階での寸法測定、並びに材料・性能試験について記　　述したもの。</a:t>
                      </a:r>
                      <a:endParaRPr kumimoji="1" lang="en-US" altLang="ja-JP" sz="2000" dirty="0"/>
                    </a:p>
                    <a:p>
                      <a:pPr marL="457200" indent="-457200">
                        <a:buFont typeface="+mj-ea"/>
                        <a:buAutoNum type="circleNumDbPlain"/>
                      </a:pPr>
                      <a:r>
                        <a:rPr kumimoji="1" lang="ja-JP" altLang="en-US" sz="2000" dirty="0"/>
                        <a:t>量産試作</a:t>
                      </a:r>
                      <a:r>
                        <a:rPr kumimoji="1" lang="en-US" altLang="ja-JP" sz="2000" dirty="0"/>
                        <a:t>CP</a:t>
                      </a:r>
                      <a:r>
                        <a:rPr kumimoji="1" lang="ja-JP" altLang="en-US" sz="2000" dirty="0"/>
                        <a:t>は、試作後、量産前の段階における寸法測定、並びに材料・性能試験について記述したもの。</a:t>
                      </a:r>
                      <a:endParaRPr kumimoji="1" lang="en-US" altLang="ja-JP" sz="2000" dirty="0"/>
                    </a:p>
                    <a:p>
                      <a:pPr marL="457200" indent="-457200">
                        <a:buFont typeface="+mj-ea"/>
                        <a:buAutoNum type="circleNumDbPlain"/>
                      </a:pPr>
                      <a:r>
                        <a:rPr kumimoji="1" lang="ja-JP" altLang="en-US" sz="2000" dirty="0"/>
                        <a:t>量産</a:t>
                      </a:r>
                      <a:r>
                        <a:rPr kumimoji="1" lang="en-US" altLang="ja-JP" sz="2000" dirty="0"/>
                        <a:t>CP</a:t>
                      </a:r>
                      <a:r>
                        <a:rPr kumimoji="1" lang="ja-JP" altLang="en-US" sz="2000" dirty="0"/>
                        <a:t>は、量産段階における製品・プロセス特性、プロセス管理、試験、測定システムについて総合的に文書化したもの。</a:t>
                      </a:r>
                    </a:p>
                  </a:txBody>
                  <a:tcPr/>
                </a:tc>
                <a:extLst>
                  <a:ext uri="{0D108BD9-81ED-4DB2-BD59-A6C34878D82A}">
                    <a16:rowId xmlns:a16="http://schemas.microsoft.com/office/drawing/2014/main" val="702227117"/>
                  </a:ext>
                </a:extLst>
              </a:tr>
              <a:tr h="370840">
                <a:tc>
                  <a:txBody>
                    <a:bodyPr/>
                    <a:lstStyle/>
                    <a:p>
                      <a:r>
                        <a:rPr kumimoji="1" lang="en-US" altLang="ja-JP" sz="2000" dirty="0"/>
                        <a:t>CP</a:t>
                      </a:r>
                      <a:r>
                        <a:rPr kumimoji="1" lang="ja-JP" altLang="en-US" sz="2000" dirty="0"/>
                        <a:t>の目的</a:t>
                      </a:r>
                    </a:p>
                  </a:txBody>
                  <a:tcPr/>
                </a:tc>
                <a:tc>
                  <a:txBody>
                    <a:bodyPr/>
                    <a:lstStyle/>
                    <a:p>
                      <a:pPr marL="457200" indent="-457200">
                        <a:buFont typeface="+mj-ea"/>
                        <a:buAutoNum type="circleNumDbPlain"/>
                      </a:pPr>
                      <a:r>
                        <a:rPr kumimoji="1" lang="en-US" altLang="ja-JP" sz="2000" dirty="0"/>
                        <a:t>CP</a:t>
                      </a:r>
                      <a:r>
                        <a:rPr kumimoji="1" lang="ja-JP" altLang="en-US" sz="2000" dirty="0"/>
                        <a:t>の目的は、顧客の要求事項に従った優良製品の製造を支援することである。</a:t>
                      </a:r>
                      <a:endParaRPr kumimoji="1" lang="en-US" altLang="ja-JP" sz="2000" dirty="0"/>
                    </a:p>
                    <a:p>
                      <a:pPr marL="457200" indent="-457200">
                        <a:buFont typeface="+mj-ea"/>
                        <a:buAutoNum type="circleNumDbPlain"/>
                      </a:pPr>
                      <a:r>
                        <a:rPr kumimoji="1" lang="en-US" altLang="ja-JP" sz="2000" dirty="0"/>
                        <a:t>CP</a:t>
                      </a:r>
                      <a:r>
                        <a:rPr kumimoji="1" lang="ja-JP" altLang="en-US" sz="2000" dirty="0"/>
                        <a:t>は、</a:t>
                      </a:r>
                      <a:r>
                        <a:rPr kumimoji="1" lang="ja-JP" altLang="en-US" sz="2000" dirty="0">
                          <a:solidFill>
                            <a:srgbClr val="FF0000"/>
                          </a:solidFill>
                          <a:effectLst>
                            <a:outerShdw blurRad="38100" dist="38100" dir="2700000" algn="tl">
                              <a:srgbClr val="000000">
                                <a:alpha val="43137"/>
                              </a:srgbClr>
                            </a:outerShdw>
                          </a:effectLst>
                        </a:rPr>
                        <a:t>プロセス・製品の変動を最小限に抑えるために用いられるシステムの総括文書である。</a:t>
                      </a:r>
                      <a:endParaRPr kumimoji="1" lang="en-US" altLang="ja-JP" sz="2000" dirty="0">
                        <a:solidFill>
                          <a:srgbClr val="FF0000"/>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3027626262"/>
                  </a:ext>
                </a:extLst>
              </a:tr>
            </a:tbl>
          </a:graphicData>
        </a:graphic>
      </p:graphicFrame>
    </p:spTree>
    <p:extLst>
      <p:ext uri="{BB962C8B-B14F-4D97-AF65-F5344CB8AC3E}">
        <p14:creationId xmlns:p14="http://schemas.microsoft.com/office/powerpoint/2010/main" val="1480162992"/>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graphicFrame>
        <p:nvGraphicFramePr>
          <p:cNvPr id="3" name="表 5">
            <a:extLst>
              <a:ext uri="{FF2B5EF4-FFF2-40B4-BE49-F238E27FC236}">
                <a16:creationId xmlns:a16="http://schemas.microsoft.com/office/drawing/2014/main" id="{A7ABDCCA-54D8-4E71-AEE5-FC395009888B}"/>
              </a:ext>
            </a:extLst>
          </p:cNvPr>
          <p:cNvGraphicFramePr>
            <a:graphicFrameLocks noGrp="1"/>
          </p:cNvGraphicFramePr>
          <p:nvPr>
            <p:extLst>
              <p:ext uri="{D42A27DB-BD31-4B8C-83A1-F6EECF244321}">
                <p14:modId xmlns:p14="http://schemas.microsoft.com/office/powerpoint/2010/main" val="3334122513"/>
              </p:ext>
            </p:extLst>
          </p:nvPr>
        </p:nvGraphicFramePr>
        <p:xfrm>
          <a:off x="838200" y="1508993"/>
          <a:ext cx="10515600" cy="4937760"/>
        </p:xfrm>
        <a:graphic>
          <a:graphicData uri="http://schemas.openxmlformats.org/drawingml/2006/table">
            <a:tbl>
              <a:tblPr firstRow="1" bandRow="1">
                <a:tableStyleId>{5940675A-B579-460E-94D1-54222C63F5DA}</a:tableStyleId>
              </a:tblPr>
              <a:tblGrid>
                <a:gridCol w="1606617">
                  <a:extLst>
                    <a:ext uri="{9D8B030D-6E8A-4147-A177-3AD203B41FA5}">
                      <a16:colId xmlns:a16="http://schemas.microsoft.com/office/drawing/2014/main" val="3380003364"/>
                    </a:ext>
                  </a:extLst>
                </a:gridCol>
                <a:gridCol w="8908983">
                  <a:extLst>
                    <a:ext uri="{9D8B030D-6E8A-4147-A177-3AD203B41FA5}">
                      <a16:colId xmlns:a16="http://schemas.microsoft.com/office/drawing/2014/main" val="4072248784"/>
                    </a:ext>
                  </a:extLst>
                </a:gridCol>
              </a:tblGrid>
              <a:tr h="370840">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700505883"/>
                  </a:ext>
                </a:extLst>
              </a:tr>
              <a:tr h="370840">
                <a:tc>
                  <a:txBody>
                    <a:bodyPr/>
                    <a:lstStyle/>
                    <a:p>
                      <a:r>
                        <a:rPr kumimoji="1" lang="en-US" altLang="ja-JP" sz="2000" dirty="0"/>
                        <a:t>CP</a:t>
                      </a:r>
                      <a:r>
                        <a:rPr kumimoji="1" lang="ja-JP" altLang="en-US" sz="2000" dirty="0"/>
                        <a:t>の目的</a:t>
                      </a:r>
                    </a:p>
                  </a:txBody>
                  <a:tcPr/>
                </a:tc>
                <a:tc>
                  <a:txBody>
                    <a:bodyPr/>
                    <a:lstStyle/>
                    <a:p>
                      <a:pPr marL="457200" indent="-457200">
                        <a:buFont typeface="+mj-ea"/>
                        <a:buAutoNum type="circleNumDbPlain" startAt="3"/>
                      </a:pPr>
                      <a:r>
                        <a:rPr kumimoji="1" lang="en-US" altLang="ja-JP" sz="2000" dirty="0"/>
                        <a:t>CP</a:t>
                      </a:r>
                      <a:r>
                        <a:rPr kumimoji="1" lang="ja-JP" altLang="en-US" sz="2000" dirty="0"/>
                        <a:t>は、プロセスと製品を管理するためのシステムを記述した文書である。</a:t>
                      </a:r>
                      <a:endParaRPr kumimoji="1" lang="en-US" altLang="ja-JP" sz="2000" dirty="0"/>
                    </a:p>
                    <a:p>
                      <a:pPr marL="457200" indent="-457200">
                        <a:buFont typeface="+mj-ea"/>
                        <a:buAutoNum type="circleNumDbPlain" startAt="3"/>
                      </a:pPr>
                      <a:r>
                        <a:rPr kumimoji="1" lang="ja-JP" altLang="en-US" sz="2000" dirty="0">
                          <a:solidFill>
                            <a:srgbClr val="FF0000"/>
                          </a:solidFill>
                          <a:effectLst>
                            <a:outerShdw blurRad="38100" dist="38100" dir="2700000" algn="tl">
                              <a:srgbClr val="000000">
                                <a:alpha val="43137"/>
                              </a:srgbClr>
                            </a:outerShdw>
                          </a:effectLst>
                        </a:rPr>
                        <a:t>同じ工場の同じプロセスによって生産される製品ファミリーには、１つの</a:t>
                      </a:r>
                      <a:r>
                        <a:rPr kumimoji="1" lang="en-US" altLang="ja-JP" sz="2000" dirty="0">
                          <a:solidFill>
                            <a:srgbClr val="FF0000"/>
                          </a:solidFill>
                          <a:effectLst>
                            <a:outerShdw blurRad="38100" dist="38100" dir="2700000" algn="tl">
                              <a:srgbClr val="000000">
                                <a:alpha val="43137"/>
                              </a:srgbClr>
                            </a:outerShdw>
                          </a:effectLst>
                        </a:rPr>
                        <a:t>CP</a:t>
                      </a:r>
                      <a:r>
                        <a:rPr kumimoji="1" lang="ja-JP" altLang="en-US" sz="2000" dirty="0">
                          <a:solidFill>
                            <a:srgbClr val="FF0000"/>
                          </a:solidFill>
                          <a:effectLst>
                            <a:outerShdw blurRad="38100" dist="38100" dir="2700000" algn="tl">
                              <a:srgbClr val="000000">
                                <a:alpha val="43137"/>
                              </a:srgbClr>
                            </a:outerShdw>
                          </a:effectLst>
                        </a:rPr>
                        <a:t>を用いてもよい。</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startAt="3"/>
                      </a:pPr>
                      <a:r>
                        <a:rPr kumimoji="1" lang="en-US" altLang="ja-JP" sz="2000" dirty="0"/>
                        <a:t>CP</a:t>
                      </a:r>
                      <a:r>
                        <a:rPr kumimoji="1" lang="ja-JP" altLang="en-US" sz="2000" dirty="0"/>
                        <a:t>に記述されるの</a:t>
                      </a:r>
                      <a:r>
                        <a:rPr kumimoji="1" lang="ja-JP" altLang="en-US" sz="2000" dirty="0">
                          <a:solidFill>
                            <a:schemeClr val="tx1"/>
                          </a:solidFill>
                          <a:effectLst/>
                        </a:rPr>
                        <a:t>は、プロセスの各段階において必要とされる処置であり、これに</a:t>
                      </a:r>
                      <a:r>
                        <a:rPr kumimoji="1" lang="ja-JP" altLang="en-US" sz="2000" dirty="0"/>
                        <a:t>は</a:t>
                      </a:r>
                      <a:r>
                        <a:rPr kumimoji="1" lang="ja-JP" altLang="en-US" sz="2000" dirty="0">
                          <a:solidFill>
                            <a:schemeClr val="tx1"/>
                          </a:solidFill>
                          <a:effectLst/>
                        </a:rPr>
                        <a:t>すべてのプロセスアウトプットが管理状態にあることを保証するための</a:t>
                      </a:r>
                      <a:r>
                        <a:rPr kumimoji="1" lang="ja-JP" altLang="en-US" sz="2000" dirty="0"/>
                        <a:t>受入れ、工程内、出荷及び定期的な要素を含む。</a:t>
                      </a:r>
                      <a:endParaRPr kumimoji="1" lang="en-US" altLang="ja-JP" sz="2000" dirty="0"/>
                    </a:p>
                    <a:p>
                      <a:pPr marL="457200" indent="-457200">
                        <a:buFont typeface="+mj-ea"/>
                        <a:buAutoNum type="circleNumDbPlain" startAt="3"/>
                      </a:pPr>
                      <a:r>
                        <a:rPr kumimoji="1" lang="ja-JP" altLang="en-US" sz="2000" dirty="0"/>
                        <a:t>量産においては、特性の管理に用いられる工程の監視・管理方法を</a:t>
                      </a:r>
                      <a:r>
                        <a:rPr kumimoji="1" lang="en-US" altLang="ja-JP" sz="2000" dirty="0"/>
                        <a:t>CP</a:t>
                      </a:r>
                      <a:r>
                        <a:rPr kumimoji="1" lang="ja-JP" altLang="en-US" sz="2000" dirty="0"/>
                        <a:t>で規定する。</a:t>
                      </a:r>
                      <a:endParaRPr kumimoji="1" lang="en-US" altLang="ja-JP" sz="2000" dirty="0"/>
                    </a:p>
                  </a:txBody>
                  <a:tcPr/>
                </a:tc>
                <a:extLst>
                  <a:ext uri="{0D108BD9-81ED-4DB2-BD59-A6C34878D82A}">
                    <a16:rowId xmlns:a16="http://schemas.microsoft.com/office/drawing/2014/main" val="2923892811"/>
                  </a:ext>
                </a:extLst>
              </a:tr>
              <a:tr h="370840">
                <a:tc>
                  <a:txBody>
                    <a:bodyPr/>
                    <a:lstStyle/>
                    <a:p>
                      <a:r>
                        <a:rPr kumimoji="1" lang="en-US" altLang="ja-JP" sz="2000" dirty="0"/>
                        <a:t>CP</a:t>
                      </a:r>
                      <a:r>
                        <a:rPr kumimoji="1" lang="ja-JP" altLang="en-US" sz="2000" dirty="0"/>
                        <a:t>の作成</a:t>
                      </a:r>
                    </a:p>
                  </a:txBody>
                  <a:tcPr/>
                </a:tc>
                <a:tc>
                  <a:txBody>
                    <a:bodyPr/>
                    <a:lstStyle/>
                    <a:p>
                      <a:pPr marL="457200" indent="-457200">
                        <a:buFont typeface="+mj-ea"/>
                        <a:buAutoNum type="circleNumDbPlain"/>
                      </a:pPr>
                      <a:r>
                        <a:rPr kumimoji="1" lang="en-US" altLang="ja-JP" sz="2000" dirty="0"/>
                        <a:t>CP</a:t>
                      </a:r>
                      <a:r>
                        <a:rPr kumimoji="1" lang="ja-JP" altLang="en-US" sz="2000" dirty="0"/>
                        <a:t>は、</a:t>
                      </a:r>
                      <a:r>
                        <a:rPr kumimoji="1" lang="ja-JP" altLang="en-US" sz="2000" dirty="0">
                          <a:solidFill>
                            <a:srgbClr val="FF0000"/>
                          </a:solidFill>
                          <a:effectLst>
                            <a:outerShdw blurRad="38100" dist="38100" dir="2700000" algn="tl">
                              <a:srgbClr val="000000">
                                <a:alpha val="43137"/>
                              </a:srgbClr>
                            </a:outerShdw>
                          </a:effectLst>
                        </a:rPr>
                        <a:t>部門横断チーム（</a:t>
                      </a:r>
                      <a:r>
                        <a:rPr kumimoji="1" lang="en-US" altLang="ja-JP" sz="2000" dirty="0">
                          <a:solidFill>
                            <a:srgbClr val="FF0000"/>
                          </a:solidFill>
                          <a:effectLst>
                            <a:outerShdw blurRad="38100" dist="38100" dir="2700000" algn="tl">
                              <a:srgbClr val="000000">
                                <a:alpha val="43137"/>
                              </a:srgbClr>
                            </a:outerShdw>
                          </a:effectLst>
                        </a:rPr>
                        <a:t>APQP</a:t>
                      </a:r>
                      <a:r>
                        <a:rPr kumimoji="1" lang="ja-JP" altLang="en-US" sz="2000" dirty="0">
                          <a:solidFill>
                            <a:srgbClr val="FF0000"/>
                          </a:solidFill>
                          <a:effectLst>
                            <a:outerShdw blurRad="38100" dist="38100" dir="2700000" algn="tl">
                              <a:srgbClr val="000000">
                                <a:alpha val="43137"/>
                              </a:srgbClr>
                            </a:outerShdw>
                          </a:effectLst>
                        </a:rPr>
                        <a:t>チーム）で作成</a:t>
                      </a:r>
                      <a:r>
                        <a:rPr kumimoji="1" lang="ja-JP" altLang="en-US" sz="2000" dirty="0"/>
                        <a:t>する。</a:t>
                      </a:r>
                      <a:endParaRPr kumimoji="1" lang="en-US" altLang="ja-JP" sz="2000" dirty="0"/>
                    </a:p>
                  </a:txBody>
                  <a:tcPr/>
                </a:tc>
                <a:extLst>
                  <a:ext uri="{0D108BD9-81ED-4DB2-BD59-A6C34878D82A}">
                    <a16:rowId xmlns:a16="http://schemas.microsoft.com/office/drawing/2014/main" val="702227117"/>
                  </a:ext>
                </a:extLst>
              </a:tr>
              <a:tr h="370840">
                <a:tc>
                  <a:txBody>
                    <a:bodyPr/>
                    <a:lstStyle/>
                    <a:p>
                      <a:r>
                        <a:rPr kumimoji="1" lang="en-US" altLang="ja-JP" sz="2000" dirty="0"/>
                        <a:t>CP</a:t>
                      </a:r>
                      <a:r>
                        <a:rPr kumimoji="1" lang="ja-JP" altLang="en-US" sz="2000" dirty="0"/>
                        <a:t>は生きた文書</a:t>
                      </a:r>
                    </a:p>
                  </a:txBody>
                  <a:tcPr/>
                </a:tc>
                <a:tc>
                  <a:txBody>
                    <a:bodyPr/>
                    <a:lstStyle/>
                    <a:p>
                      <a:pPr marL="457200" indent="-457200">
                        <a:buFont typeface="+mj-ea"/>
                        <a:buAutoNum type="circleNumDbPlain"/>
                      </a:pPr>
                      <a:r>
                        <a:rPr kumimoji="1" lang="en-US" altLang="ja-JP" sz="2000" dirty="0"/>
                        <a:t>CP</a:t>
                      </a:r>
                      <a:r>
                        <a:rPr kumimoji="1" lang="ja-JP" altLang="en-US" sz="2000" dirty="0"/>
                        <a:t>は、製品ライフサイクルを通じて維持され、利用される。</a:t>
                      </a:r>
                      <a:endParaRPr kumimoji="1" lang="en-US" altLang="ja-JP" sz="2000" dirty="0"/>
                    </a:p>
                    <a:p>
                      <a:pPr marL="457200" indent="-457200">
                        <a:buFont typeface="+mj-ea"/>
                        <a:buAutoNum type="circleNumDbPlain"/>
                      </a:pPr>
                      <a:r>
                        <a:rPr kumimoji="1" lang="ja-JP" altLang="en-US" sz="2000" dirty="0"/>
                        <a:t>製品ライフサイクル初期段階の</a:t>
                      </a:r>
                      <a:r>
                        <a:rPr kumimoji="1" lang="en-US" altLang="ja-JP" sz="2000" dirty="0"/>
                        <a:t>CP</a:t>
                      </a:r>
                      <a:r>
                        <a:rPr kumimoji="1" lang="ja-JP" altLang="en-US" sz="2000" dirty="0"/>
                        <a:t>の目的は、プロセス管理の計画を文書化し伝達することである。</a:t>
                      </a:r>
                      <a:endParaRPr kumimoji="1" lang="en-US" altLang="ja-JP" sz="2000" dirty="0"/>
                    </a:p>
                    <a:p>
                      <a:pPr marL="457200" indent="-457200">
                        <a:buFont typeface="+mj-ea"/>
                        <a:buAutoNum type="circleNumDbPlain"/>
                      </a:pPr>
                      <a:r>
                        <a:rPr kumimoji="1" lang="ja-JP" altLang="en-US" sz="2000" dirty="0"/>
                        <a:t>その後、製造現場におけるプロセス管理及び製品の品質確保の要領を示すものになる。</a:t>
                      </a:r>
                      <a:endParaRPr kumimoji="1" lang="en-US" altLang="ja-JP" sz="2000" dirty="0"/>
                    </a:p>
                  </a:txBody>
                  <a:tcPr/>
                </a:tc>
                <a:extLst>
                  <a:ext uri="{0D108BD9-81ED-4DB2-BD59-A6C34878D82A}">
                    <a16:rowId xmlns:a16="http://schemas.microsoft.com/office/drawing/2014/main" val="3027626262"/>
                  </a:ext>
                </a:extLst>
              </a:tr>
            </a:tbl>
          </a:graphicData>
        </a:graphic>
      </p:graphicFrame>
    </p:spTree>
    <p:extLst>
      <p:ext uri="{BB962C8B-B14F-4D97-AF65-F5344CB8AC3E}">
        <p14:creationId xmlns:p14="http://schemas.microsoft.com/office/powerpoint/2010/main" val="980258"/>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graphicFrame>
        <p:nvGraphicFramePr>
          <p:cNvPr id="3" name="表 5">
            <a:extLst>
              <a:ext uri="{FF2B5EF4-FFF2-40B4-BE49-F238E27FC236}">
                <a16:creationId xmlns:a16="http://schemas.microsoft.com/office/drawing/2014/main" id="{A7ABDCCA-54D8-4E71-AEE5-FC395009888B}"/>
              </a:ext>
            </a:extLst>
          </p:cNvPr>
          <p:cNvGraphicFramePr>
            <a:graphicFrameLocks noGrp="1"/>
          </p:cNvGraphicFramePr>
          <p:nvPr>
            <p:extLst>
              <p:ext uri="{D42A27DB-BD31-4B8C-83A1-F6EECF244321}">
                <p14:modId xmlns:p14="http://schemas.microsoft.com/office/powerpoint/2010/main" val="2325695147"/>
              </p:ext>
            </p:extLst>
          </p:nvPr>
        </p:nvGraphicFramePr>
        <p:xfrm>
          <a:off x="838200" y="1508993"/>
          <a:ext cx="10515600" cy="4541520"/>
        </p:xfrm>
        <a:graphic>
          <a:graphicData uri="http://schemas.openxmlformats.org/drawingml/2006/table">
            <a:tbl>
              <a:tblPr firstRow="1" bandRow="1">
                <a:tableStyleId>{5940675A-B579-460E-94D1-54222C63F5DA}</a:tableStyleId>
              </a:tblPr>
              <a:tblGrid>
                <a:gridCol w="1606617">
                  <a:extLst>
                    <a:ext uri="{9D8B030D-6E8A-4147-A177-3AD203B41FA5}">
                      <a16:colId xmlns:a16="http://schemas.microsoft.com/office/drawing/2014/main" val="3380003364"/>
                    </a:ext>
                  </a:extLst>
                </a:gridCol>
                <a:gridCol w="8908983">
                  <a:extLst>
                    <a:ext uri="{9D8B030D-6E8A-4147-A177-3AD203B41FA5}">
                      <a16:colId xmlns:a16="http://schemas.microsoft.com/office/drawing/2014/main" val="4072248784"/>
                    </a:ext>
                  </a:extLst>
                </a:gridCol>
              </a:tblGrid>
              <a:tr h="370840">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700505883"/>
                  </a:ext>
                </a:extLst>
              </a:tr>
              <a:tr h="370840">
                <a:tc>
                  <a:txBody>
                    <a:bodyPr/>
                    <a:lstStyle/>
                    <a:p>
                      <a:r>
                        <a:rPr kumimoji="1" lang="en-US" altLang="ja-JP" sz="2000" dirty="0"/>
                        <a:t>CP</a:t>
                      </a:r>
                      <a:r>
                        <a:rPr kumimoji="1" lang="ja-JP" altLang="en-US" sz="2000" dirty="0"/>
                        <a:t>は生きた文書</a:t>
                      </a:r>
                    </a:p>
                  </a:txBody>
                  <a:tcPr/>
                </a:tc>
                <a:tc>
                  <a:txBody>
                    <a:bodyPr/>
                    <a:lstStyle/>
                    <a:p>
                      <a:pPr marL="457200" indent="-457200">
                        <a:buFont typeface="+mj-ea"/>
                        <a:buAutoNum type="circleNumDbPlain" startAt="4"/>
                      </a:pPr>
                      <a:r>
                        <a:rPr kumimoji="1" lang="ja-JP" altLang="en-US" sz="2000" dirty="0"/>
                        <a:t>最終的には、</a:t>
                      </a:r>
                      <a:r>
                        <a:rPr kumimoji="1" lang="en-US" altLang="ja-JP" sz="2000" dirty="0">
                          <a:solidFill>
                            <a:srgbClr val="FF0000"/>
                          </a:solidFill>
                          <a:effectLst>
                            <a:outerShdw blurRad="38100" dist="38100" dir="2700000" algn="tl">
                              <a:srgbClr val="000000">
                                <a:alpha val="43137"/>
                              </a:srgbClr>
                            </a:outerShdw>
                          </a:effectLst>
                        </a:rPr>
                        <a:t>CP</a:t>
                      </a:r>
                      <a:r>
                        <a:rPr kumimoji="1" lang="ja-JP" altLang="en-US" sz="2000" dirty="0">
                          <a:solidFill>
                            <a:srgbClr val="FF0000"/>
                          </a:solidFill>
                          <a:effectLst>
                            <a:outerShdw blurRad="38100" dist="38100" dir="2700000" algn="tl">
                              <a:srgbClr val="000000">
                                <a:alpha val="43137"/>
                              </a:srgbClr>
                            </a:outerShdw>
                          </a:effectLst>
                        </a:rPr>
                        <a:t>は生きた文書として、適用される管理方法と測定システムを反映していく。</a:t>
                      </a:r>
                      <a:endParaRPr kumimoji="1" lang="en-US" altLang="ja-JP" sz="2000" dirty="0">
                        <a:solidFill>
                          <a:srgbClr val="FF0000"/>
                        </a:solidFill>
                        <a:effectLst>
                          <a:outerShdw blurRad="38100" dist="38100" dir="2700000" algn="tl">
                            <a:srgbClr val="000000">
                              <a:alpha val="43137"/>
                            </a:srgbClr>
                          </a:outerShdw>
                        </a:effectLst>
                      </a:endParaRPr>
                    </a:p>
                    <a:p>
                      <a:pPr marL="457200" indent="-457200">
                        <a:buFont typeface="+mj-ea"/>
                        <a:buAutoNum type="circleNumDbPlain" startAt="4"/>
                      </a:pPr>
                      <a:r>
                        <a:rPr kumimoji="1" lang="en-US" altLang="ja-JP" sz="2000" dirty="0"/>
                        <a:t>CP</a:t>
                      </a:r>
                      <a:r>
                        <a:rPr kumimoji="1" lang="ja-JP" altLang="en-US" sz="2000" dirty="0"/>
                        <a:t>は、測定システム及び管理方法の評価・改善に応じて更新される。</a:t>
                      </a:r>
                      <a:endParaRPr kumimoji="1" lang="en-US" altLang="ja-JP" sz="2000" dirty="0"/>
                    </a:p>
                    <a:p>
                      <a:pPr marL="457200" indent="-457200">
                        <a:buFont typeface="+mj-ea"/>
                        <a:buAutoNum type="circleNumDbPlain" startAt="4"/>
                      </a:pPr>
                      <a:r>
                        <a:rPr kumimoji="1" lang="en-US" altLang="ja-JP" sz="2000" dirty="0"/>
                        <a:t>CP</a:t>
                      </a:r>
                      <a:r>
                        <a:rPr kumimoji="1" lang="ja-JP" altLang="en-US" sz="2000" dirty="0"/>
                        <a:t>は、</a:t>
                      </a:r>
                      <a:r>
                        <a:rPr kumimoji="1" lang="ja-JP" altLang="en-US" sz="2000" dirty="0">
                          <a:solidFill>
                            <a:schemeClr val="tx1"/>
                          </a:solidFill>
                          <a:effectLst/>
                        </a:rPr>
                        <a:t>次の場合にレビューし更新</a:t>
                      </a:r>
                      <a:r>
                        <a:rPr kumimoji="1" lang="ja-JP" altLang="en-US" sz="2000" dirty="0"/>
                        <a:t>する。</a:t>
                      </a:r>
                      <a:endParaRPr kumimoji="1" lang="en-US" altLang="ja-JP" sz="2000" dirty="0"/>
                    </a:p>
                    <a:p>
                      <a:pPr marL="800100" lvl="1" indent="-342900">
                        <a:buFont typeface="Arial" panose="020B0604020202020204" pitchFamily="34" charset="0"/>
                        <a:buChar char="•"/>
                      </a:pPr>
                      <a:r>
                        <a:rPr kumimoji="1" lang="ja-JP" altLang="en-US" sz="2000" dirty="0"/>
                        <a:t>不適合製品を顧客へ出荷した場合</a:t>
                      </a:r>
                      <a:endParaRPr kumimoji="1" lang="en-US" altLang="ja-JP" sz="2000" dirty="0"/>
                    </a:p>
                    <a:p>
                      <a:pPr marL="800100" lvl="1" indent="-342900">
                        <a:buFont typeface="Arial" panose="020B0604020202020204" pitchFamily="34" charset="0"/>
                        <a:buChar char="•"/>
                      </a:pPr>
                      <a:r>
                        <a:rPr kumimoji="1" lang="ja-JP" altLang="en-US" sz="2000" dirty="0"/>
                        <a:t>製品、製造工程、測定、物流、供給元、生産量変更又はリスク分析（</a:t>
                      </a:r>
                      <a:r>
                        <a:rPr kumimoji="1" lang="en-US" altLang="ja-JP" sz="2000" dirty="0"/>
                        <a:t>FMEA</a:t>
                      </a:r>
                      <a:r>
                        <a:rPr kumimoji="1" lang="ja-JP" altLang="en-US" sz="2000" dirty="0"/>
                        <a:t>）に影響する変更が発生した場合</a:t>
                      </a:r>
                      <a:endParaRPr kumimoji="1" lang="en-US" altLang="ja-JP" sz="2000" dirty="0"/>
                    </a:p>
                    <a:p>
                      <a:pPr marL="800100" lvl="1" indent="-342900">
                        <a:buFont typeface="Arial" panose="020B0604020202020204" pitchFamily="34" charset="0"/>
                        <a:buChar char="•"/>
                      </a:pPr>
                      <a:r>
                        <a:rPr kumimoji="1" lang="ja-JP" altLang="en-US" sz="2000" dirty="0"/>
                        <a:t>顧客苦情及び関連する是正処置が実施された場合</a:t>
                      </a:r>
                      <a:endParaRPr kumimoji="1" lang="en-US" altLang="ja-JP" sz="2000" dirty="0"/>
                    </a:p>
                    <a:p>
                      <a:pPr marL="800100" lvl="1" indent="-342900">
                        <a:buFont typeface="Arial" panose="020B0604020202020204" pitchFamily="34" charset="0"/>
                        <a:buChar char="•"/>
                      </a:pPr>
                      <a:r>
                        <a:rPr kumimoji="1" lang="ja-JP" altLang="en-US" sz="2000" dirty="0"/>
                        <a:t>定期的に（リスク分析に基づく設定された頻度で）</a:t>
                      </a:r>
                      <a:endParaRPr kumimoji="1" lang="en-US" altLang="ja-JP" sz="2000" dirty="0"/>
                    </a:p>
                  </a:txBody>
                  <a:tcPr/>
                </a:tc>
                <a:extLst>
                  <a:ext uri="{0D108BD9-81ED-4DB2-BD59-A6C34878D82A}">
                    <a16:rowId xmlns:a16="http://schemas.microsoft.com/office/drawing/2014/main" val="2923892811"/>
                  </a:ext>
                </a:extLst>
              </a:tr>
              <a:tr h="370840">
                <a:tc>
                  <a:txBody>
                    <a:bodyPr/>
                    <a:lstStyle/>
                    <a:p>
                      <a:r>
                        <a:rPr kumimoji="1" lang="en-US" altLang="ja-JP" sz="2000" dirty="0"/>
                        <a:t>CP</a:t>
                      </a:r>
                      <a:r>
                        <a:rPr kumimoji="1" lang="ja-JP" altLang="en-US" sz="2000" dirty="0"/>
                        <a:t>のインプット情報</a:t>
                      </a:r>
                    </a:p>
                  </a:txBody>
                  <a:tcPr/>
                </a:tc>
                <a:tc>
                  <a:txBody>
                    <a:bodyPr/>
                    <a:lstStyle/>
                    <a:p>
                      <a:pPr marL="457200" indent="-457200">
                        <a:buFont typeface="+mj-ea"/>
                        <a:buAutoNum type="circleNumDbPlain"/>
                      </a:pPr>
                      <a:r>
                        <a:rPr kumimoji="1" lang="en-US" altLang="ja-JP" sz="2000" dirty="0"/>
                        <a:t>CP</a:t>
                      </a:r>
                      <a:r>
                        <a:rPr kumimoji="1" lang="ja-JP" altLang="en-US" sz="2000" dirty="0"/>
                        <a:t>のインプット情報には、次のものがある。</a:t>
                      </a:r>
                      <a:endParaRPr kumimoji="1" lang="en-US" altLang="ja-JP" sz="2000" dirty="0"/>
                    </a:p>
                    <a:p>
                      <a:r>
                        <a:rPr kumimoji="1" lang="ja-JP" altLang="en-US" sz="2000" dirty="0"/>
                        <a:t>　　・プロセスフロー図　　・</a:t>
                      </a:r>
                      <a:r>
                        <a:rPr kumimoji="1" lang="en-US" altLang="ja-JP" sz="2000" dirty="0"/>
                        <a:t>FMEA</a:t>
                      </a:r>
                      <a:r>
                        <a:rPr kumimoji="1" lang="ja-JP" altLang="en-US" sz="2000" dirty="0"/>
                        <a:t>の結果（製品</a:t>
                      </a:r>
                      <a:r>
                        <a:rPr kumimoji="1" lang="en-US" altLang="ja-JP" sz="2000" dirty="0"/>
                        <a:t>/</a:t>
                      </a:r>
                      <a:r>
                        <a:rPr kumimoji="1" lang="ja-JP" altLang="en-US" sz="2000" dirty="0"/>
                        <a:t>プロセス）</a:t>
                      </a:r>
                      <a:endParaRPr kumimoji="1" lang="en-US" altLang="ja-JP" sz="2000" dirty="0"/>
                    </a:p>
                    <a:p>
                      <a:r>
                        <a:rPr kumimoji="1" lang="ja-JP" altLang="en-US" sz="2000" dirty="0"/>
                        <a:t>　　・特殊特性　　・類似部品から学んだ教訓</a:t>
                      </a:r>
                      <a:endParaRPr kumimoji="1" lang="en-US" altLang="ja-JP" sz="2000" dirty="0"/>
                    </a:p>
                    <a:p>
                      <a:r>
                        <a:rPr kumimoji="1" lang="ja-JP" altLang="en-US" sz="2000" dirty="0"/>
                        <a:t>　　・プロセスに関するチームの知識　　・デザインレビュー</a:t>
                      </a:r>
                      <a:endParaRPr kumimoji="1" lang="en-US" altLang="ja-JP" sz="2000" dirty="0"/>
                    </a:p>
                  </a:txBody>
                  <a:tcPr/>
                </a:tc>
                <a:extLst>
                  <a:ext uri="{0D108BD9-81ED-4DB2-BD59-A6C34878D82A}">
                    <a16:rowId xmlns:a16="http://schemas.microsoft.com/office/drawing/2014/main" val="702227117"/>
                  </a:ext>
                </a:extLst>
              </a:tr>
            </a:tbl>
          </a:graphicData>
        </a:graphic>
      </p:graphicFrame>
      <p:sp>
        <p:nvSpPr>
          <p:cNvPr id="6" name="矢印: 右カーブ 5">
            <a:extLst>
              <a:ext uri="{FF2B5EF4-FFF2-40B4-BE49-F238E27FC236}">
                <a16:creationId xmlns:a16="http://schemas.microsoft.com/office/drawing/2014/main" id="{B15E881B-7F93-4D0C-B2CA-6657E4C5A425}"/>
              </a:ext>
            </a:extLst>
          </p:cNvPr>
          <p:cNvSpPr/>
          <p:nvPr/>
        </p:nvSpPr>
        <p:spPr>
          <a:xfrm>
            <a:off x="2149311" y="2031514"/>
            <a:ext cx="386499" cy="107933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716281083"/>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２．ＡＰＱＰ（コントロールプラン（ＣＰ））</a:t>
            </a:r>
          </a:p>
        </p:txBody>
      </p:sp>
      <p:graphicFrame>
        <p:nvGraphicFramePr>
          <p:cNvPr id="3" name="表 5">
            <a:extLst>
              <a:ext uri="{FF2B5EF4-FFF2-40B4-BE49-F238E27FC236}">
                <a16:creationId xmlns:a16="http://schemas.microsoft.com/office/drawing/2014/main" id="{A7ABDCCA-54D8-4E71-AEE5-FC395009888B}"/>
              </a:ext>
            </a:extLst>
          </p:cNvPr>
          <p:cNvGraphicFramePr>
            <a:graphicFrameLocks noGrp="1"/>
          </p:cNvGraphicFramePr>
          <p:nvPr>
            <p:extLst>
              <p:ext uri="{D42A27DB-BD31-4B8C-83A1-F6EECF244321}">
                <p14:modId xmlns:p14="http://schemas.microsoft.com/office/powerpoint/2010/main" val="343909993"/>
              </p:ext>
            </p:extLst>
          </p:nvPr>
        </p:nvGraphicFramePr>
        <p:xfrm>
          <a:off x="838200" y="1508993"/>
          <a:ext cx="10515600" cy="4754880"/>
        </p:xfrm>
        <a:graphic>
          <a:graphicData uri="http://schemas.openxmlformats.org/drawingml/2006/table">
            <a:tbl>
              <a:tblPr firstRow="1" bandRow="1">
                <a:tableStyleId>{5940675A-B579-460E-94D1-54222C63F5DA}</a:tableStyleId>
              </a:tblPr>
              <a:tblGrid>
                <a:gridCol w="1606617">
                  <a:extLst>
                    <a:ext uri="{9D8B030D-6E8A-4147-A177-3AD203B41FA5}">
                      <a16:colId xmlns:a16="http://schemas.microsoft.com/office/drawing/2014/main" val="3380003364"/>
                    </a:ext>
                  </a:extLst>
                </a:gridCol>
                <a:gridCol w="8908983">
                  <a:extLst>
                    <a:ext uri="{9D8B030D-6E8A-4147-A177-3AD203B41FA5}">
                      <a16:colId xmlns:a16="http://schemas.microsoft.com/office/drawing/2014/main" val="4072248784"/>
                    </a:ext>
                  </a:extLst>
                </a:gridCol>
              </a:tblGrid>
              <a:tr h="370840">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700505883"/>
                  </a:ext>
                </a:extLst>
              </a:tr>
              <a:tr h="370840">
                <a:tc>
                  <a:txBody>
                    <a:bodyPr/>
                    <a:lstStyle/>
                    <a:p>
                      <a:r>
                        <a:rPr kumimoji="1" lang="en-US" altLang="ja-JP" sz="2000" dirty="0"/>
                        <a:t>CP</a:t>
                      </a:r>
                      <a:r>
                        <a:rPr kumimoji="1" lang="ja-JP" altLang="en-US" sz="2000" dirty="0"/>
                        <a:t>のメリット</a:t>
                      </a:r>
                    </a:p>
                  </a:txBody>
                  <a:tcPr/>
                </a:tc>
                <a:tc>
                  <a:txBody>
                    <a:bodyPr/>
                    <a:lstStyle/>
                    <a:p>
                      <a:pPr marL="457200" indent="-457200">
                        <a:buFont typeface="+mj-ea"/>
                        <a:buAutoNum type="circleNumDbPlain"/>
                      </a:pPr>
                      <a:r>
                        <a:rPr kumimoji="1" lang="ja-JP" altLang="en-US" sz="2000" dirty="0"/>
                        <a:t>品質に関して：</a:t>
                      </a:r>
                      <a:endParaRPr kumimoji="1" lang="en-US" altLang="ja-JP" sz="2000" dirty="0"/>
                    </a:p>
                    <a:p>
                      <a:pPr marL="800100" lvl="1" indent="-342900">
                        <a:buFont typeface="Arial" panose="020B0604020202020204" pitchFamily="34" charset="0"/>
                        <a:buChar char="•"/>
                      </a:pPr>
                      <a:r>
                        <a:rPr kumimoji="1" lang="en-US" altLang="ja-JP" sz="2000" dirty="0"/>
                        <a:t>CP</a:t>
                      </a:r>
                      <a:r>
                        <a:rPr kumimoji="1" lang="ja-JP" altLang="en-US" sz="2000" dirty="0"/>
                        <a:t>によって設計、製造及び組立のムダが減り製品品質が改善される。</a:t>
                      </a:r>
                      <a:endParaRPr kumimoji="1" lang="en-US" altLang="ja-JP" sz="2000" dirty="0"/>
                    </a:p>
                    <a:p>
                      <a:pPr marL="800100" lvl="1" indent="-342900">
                        <a:buFont typeface="Arial" panose="020B0604020202020204" pitchFamily="34" charset="0"/>
                        <a:buChar char="•"/>
                      </a:pPr>
                      <a:r>
                        <a:rPr kumimoji="1" lang="ja-JP" altLang="en-US" sz="2000" dirty="0"/>
                        <a:t>この体系的な方式によって、製品</a:t>
                      </a:r>
                      <a:r>
                        <a:rPr kumimoji="1" lang="en-US" altLang="ja-JP" sz="2000" dirty="0"/>
                        <a:t>/</a:t>
                      </a:r>
                      <a:r>
                        <a:rPr kumimoji="1" lang="ja-JP" altLang="en-US" sz="2000" dirty="0"/>
                        <a:t>プロセスの評価が可能となる。</a:t>
                      </a:r>
                      <a:endParaRPr kumimoji="1" lang="en-US" altLang="ja-JP" sz="2000" dirty="0"/>
                    </a:p>
                    <a:p>
                      <a:pPr marL="800100" lvl="1" indent="-342900">
                        <a:buFont typeface="Arial" panose="020B0604020202020204" pitchFamily="34" charset="0"/>
                        <a:buChar char="•"/>
                      </a:pPr>
                      <a:r>
                        <a:rPr kumimoji="1" lang="en-US" altLang="ja-JP" sz="2000" dirty="0"/>
                        <a:t>CP</a:t>
                      </a:r>
                      <a:r>
                        <a:rPr kumimoji="1" lang="ja-JP" altLang="en-US" sz="2000" dirty="0"/>
                        <a:t>は、</a:t>
                      </a:r>
                      <a:r>
                        <a:rPr kumimoji="1" lang="ja-JP" altLang="en-US" sz="2000" dirty="0">
                          <a:solidFill>
                            <a:srgbClr val="FF0000"/>
                          </a:solidFill>
                          <a:effectLst>
                            <a:outerShdw blurRad="38100" dist="38100" dir="2700000" algn="tl">
                              <a:srgbClr val="000000">
                                <a:alpha val="43137"/>
                              </a:srgbClr>
                            </a:outerShdw>
                          </a:effectLst>
                        </a:rPr>
                        <a:t>プロセス特性を特定し、変動源（インプット変数）の管理手段を特定する。この変動源は製品特性（アウトプット変数）の変動を引き起こす</a:t>
                      </a:r>
                      <a:r>
                        <a:rPr kumimoji="1" lang="ja-JP" altLang="en-US" sz="2000" dirty="0"/>
                        <a:t>ものである。</a:t>
                      </a:r>
                      <a:endParaRPr kumimoji="1" lang="en-US" altLang="ja-JP" sz="2000" dirty="0"/>
                    </a:p>
                    <a:p>
                      <a:pPr marL="457200" lvl="0" indent="-457200">
                        <a:buFont typeface="+mj-ea"/>
                        <a:buAutoNum type="circleNumDbPlain"/>
                      </a:pPr>
                      <a:r>
                        <a:rPr kumimoji="1" lang="ja-JP" altLang="en-US" sz="2000" dirty="0"/>
                        <a:t>顧客満足に関して：</a:t>
                      </a:r>
                      <a:endParaRPr kumimoji="1" lang="en-US" altLang="ja-JP" sz="2000" dirty="0"/>
                    </a:p>
                    <a:p>
                      <a:pPr marL="800100" lvl="1" indent="-342900">
                        <a:buFont typeface="Arial" panose="020B0604020202020204" pitchFamily="34" charset="0"/>
                        <a:buChar char="•"/>
                      </a:pPr>
                      <a:r>
                        <a:rPr kumimoji="1" lang="en-US" altLang="ja-JP" sz="2000" dirty="0"/>
                        <a:t>CP</a:t>
                      </a:r>
                      <a:r>
                        <a:rPr kumimoji="1" lang="ja-JP" altLang="en-US" sz="2000" dirty="0"/>
                        <a:t>により、</a:t>
                      </a:r>
                      <a:r>
                        <a:rPr kumimoji="1" lang="ja-JP" altLang="en-US" sz="2000" dirty="0">
                          <a:solidFill>
                            <a:schemeClr val="tx1"/>
                          </a:solidFill>
                          <a:effectLst/>
                        </a:rPr>
                        <a:t>経営資源の配分を顧客にとって重要な特性に絞る</a:t>
                      </a:r>
                      <a:r>
                        <a:rPr kumimoji="1" lang="ja-JP" altLang="en-US" sz="2000" dirty="0"/>
                        <a:t>ことができる。</a:t>
                      </a:r>
                      <a:endParaRPr kumimoji="1" lang="en-US" altLang="ja-JP" sz="2000" dirty="0"/>
                    </a:p>
                    <a:p>
                      <a:pPr marL="800100" lvl="1" indent="-342900">
                        <a:buFont typeface="Arial" panose="020B0604020202020204" pitchFamily="34" charset="0"/>
                        <a:buChar char="•"/>
                      </a:pPr>
                      <a:r>
                        <a:rPr kumimoji="1" lang="ja-JP" altLang="en-US" sz="2000" dirty="0"/>
                        <a:t>これらの主要な項目に経営資源を適切に配分することは、品質を低下させることなくコストを削減することに役立つ。</a:t>
                      </a:r>
                      <a:endParaRPr kumimoji="1" lang="en-US" altLang="ja-JP" sz="2000" dirty="0"/>
                    </a:p>
                    <a:p>
                      <a:pPr marL="457200" indent="-457200">
                        <a:buFont typeface="+mj-ea"/>
                        <a:buAutoNum type="circleNumDbPlain"/>
                      </a:pPr>
                      <a:r>
                        <a:rPr kumimoji="1" lang="ja-JP" altLang="en-US" sz="2000" dirty="0"/>
                        <a:t>情報伝達に関して：</a:t>
                      </a:r>
                      <a:endParaRPr kumimoji="1" lang="en-US" altLang="ja-JP" sz="2000" dirty="0"/>
                    </a:p>
                    <a:p>
                      <a:pPr marL="800100" lvl="1" indent="-342900">
                        <a:buFont typeface="Arial" panose="020B0604020202020204" pitchFamily="34" charset="0"/>
                        <a:buChar char="•"/>
                      </a:pPr>
                      <a:r>
                        <a:rPr kumimoji="1" lang="en-US" altLang="ja-JP" sz="2000" dirty="0"/>
                        <a:t>CP</a:t>
                      </a:r>
                      <a:r>
                        <a:rPr kumimoji="1" lang="ja-JP" altLang="en-US" sz="2000" dirty="0"/>
                        <a:t>は、生きた文書として、製品</a:t>
                      </a:r>
                      <a:r>
                        <a:rPr kumimoji="1" lang="en-US" altLang="ja-JP" sz="2000" dirty="0"/>
                        <a:t>/</a:t>
                      </a:r>
                      <a:r>
                        <a:rPr kumimoji="1" lang="ja-JP" altLang="en-US" sz="2000" dirty="0"/>
                        <a:t>プロセス特性、管理方法及び特性の測定に関する変更を明確にし、伝達する。</a:t>
                      </a:r>
                      <a:endParaRPr kumimoji="1" lang="en-US" altLang="ja-JP" sz="2000" dirty="0"/>
                    </a:p>
                  </a:txBody>
                  <a:tcPr/>
                </a:tc>
                <a:extLst>
                  <a:ext uri="{0D108BD9-81ED-4DB2-BD59-A6C34878D82A}">
                    <a16:rowId xmlns:a16="http://schemas.microsoft.com/office/drawing/2014/main" val="2923892811"/>
                  </a:ext>
                </a:extLst>
              </a:tr>
            </a:tbl>
          </a:graphicData>
        </a:graphic>
      </p:graphicFrame>
    </p:spTree>
    <p:extLst>
      <p:ext uri="{BB962C8B-B14F-4D97-AF65-F5344CB8AC3E}">
        <p14:creationId xmlns:p14="http://schemas.microsoft.com/office/powerpoint/2010/main" val="1749532368"/>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4042620468"/>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434</a:t>
            </a:fld>
            <a:endParaRPr kumimoji="1" lang="ja-JP" altLang="en-US"/>
          </a:p>
        </p:txBody>
      </p:sp>
    </p:spTree>
    <p:extLst>
      <p:ext uri="{BB962C8B-B14F-4D97-AF65-F5344CB8AC3E}">
        <p14:creationId xmlns:p14="http://schemas.microsoft.com/office/powerpoint/2010/main" val="4170437792"/>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ＰＰＡＰとは</a:t>
            </a:r>
            <a:endParaRPr lang="en-US" altLang="ja-JP" sz="2400" dirty="0"/>
          </a:p>
          <a:p>
            <a:pPr lvl="1">
              <a:lnSpc>
                <a:spcPct val="100000"/>
              </a:lnSpc>
              <a:buFont typeface="Wingdings" panose="05000000000000000000" pitchFamily="2" charset="2"/>
              <a:buChar char="Ø"/>
            </a:pPr>
            <a:r>
              <a:rPr lang="ja-JP" altLang="en-US" dirty="0"/>
              <a:t>供給する製品に対する顧客の承認手順。</a:t>
            </a:r>
            <a:endParaRPr lang="en-US" altLang="ja-JP" dirty="0"/>
          </a:p>
          <a:p>
            <a:pPr lvl="1">
              <a:lnSpc>
                <a:spcPct val="100000"/>
              </a:lnSpc>
              <a:buFont typeface="Wingdings" panose="05000000000000000000" pitchFamily="2" charset="2"/>
              <a:buChar char="Ø"/>
            </a:pPr>
            <a:r>
              <a:rPr lang="en-US" altLang="ja-JP" dirty="0"/>
              <a:t>IATF16949</a:t>
            </a:r>
            <a:r>
              <a:rPr lang="ja-JP" altLang="en-US" dirty="0"/>
              <a:t>呼称：</a:t>
            </a:r>
            <a:r>
              <a:rPr lang="ja-JP" altLang="en-US" u="sng" dirty="0"/>
              <a:t>製品承認</a:t>
            </a:r>
            <a:r>
              <a:rPr lang="ja-JP" altLang="en-US" dirty="0"/>
              <a:t>プロセス</a:t>
            </a:r>
            <a:endParaRPr lang="en-US" altLang="ja-JP" dirty="0"/>
          </a:p>
          <a:p>
            <a:pPr lvl="1">
              <a:lnSpc>
                <a:spcPct val="100000"/>
              </a:lnSpc>
              <a:buFont typeface="Wingdings" panose="05000000000000000000" pitchFamily="2" charset="2"/>
              <a:buChar char="Ø"/>
            </a:pPr>
            <a:r>
              <a:rPr lang="en-US" altLang="ja-JP" dirty="0"/>
              <a:t>PPAP</a:t>
            </a:r>
            <a:r>
              <a:rPr lang="ja-JP" altLang="en-US" dirty="0"/>
              <a:t>呼称：</a:t>
            </a:r>
            <a:r>
              <a:rPr lang="ja-JP" altLang="en-US" u="sng" dirty="0"/>
              <a:t>生産部品承認</a:t>
            </a:r>
            <a:r>
              <a:rPr lang="ja-JP" altLang="en-US" dirty="0"/>
              <a:t>プロセス</a:t>
            </a:r>
            <a:endParaRPr lang="en-US" altLang="ja-JP" dirty="0"/>
          </a:p>
          <a:p>
            <a:pPr marL="514350" indent="-514350">
              <a:lnSpc>
                <a:spcPct val="100000"/>
              </a:lnSpc>
              <a:buFont typeface="+mj-lt"/>
              <a:buAutoNum type="arabicPeriod"/>
            </a:pPr>
            <a:r>
              <a:rPr lang="ja-JP" altLang="en-US" sz="2400" dirty="0"/>
              <a:t>目的</a:t>
            </a:r>
            <a:endParaRPr lang="en-US" altLang="ja-JP" sz="2400" dirty="0"/>
          </a:p>
          <a:p>
            <a:pPr lvl="1">
              <a:lnSpc>
                <a:spcPct val="100000"/>
              </a:lnSpc>
              <a:buFont typeface="Wingdings" panose="05000000000000000000" pitchFamily="2" charset="2"/>
              <a:buChar char="Ø"/>
            </a:pPr>
            <a:r>
              <a:rPr lang="ja-JP" altLang="en-US" dirty="0"/>
              <a:t>顧客の設計記録及び仕様書に示された要求事項の全てを組織が正しく理解しているかを判定し、その製造工程が</a:t>
            </a:r>
            <a:r>
              <a:rPr lang="ja-JP" altLang="en-US" dirty="0">
                <a:solidFill>
                  <a:srgbClr val="FF0000"/>
                </a:solidFill>
                <a:effectLst>
                  <a:outerShdw blurRad="38100" dist="38100" dir="2700000" algn="tl">
                    <a:srgbClr val="000000">
                      <a:alpha val="43137"/>
                    </a:srgbClr>
                  </a:outerShdw>
                </a:effectLst>
              </a:rPr>
              <a:t>所定生産能率（合意された計画時間における生産量）での条件下</a:t>
            </a:r>
            <a:r>
              <a:rPr lang="ja-JP" altLang="en-US" dirty="0"/>
              <a:t>で、これらの要求事項を満たす製品を一貫して製造する能力があることを判定する。</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３．ＰＰＡＰ（ＰＰＡＰとは／目的）</a:t>
            </a:r>
          </a:p>
        </p:txBody>
      </p:sp>
    </p:spTree>
    <p:extLst>
      <p:ext uri="{BB962C8B-B14F-4D97-AF65-F5344CB8AC3E}">
        <p14:creationId xmlns:p14="http://schemas.microsoft.com/office/powerpoint/2010/main" val="3029012148"/>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３．ＰＰＡＰ（理解すべき全体像）</a:t>
            </a:r>
          </a:p>
        </p:txBody>
      </p:sp>
      <p:sp>
        <p:nvSpPr>
          <p:cNvPr id="2" name="四角形: 角を丸くする 1">
            <a:extLst>
              <a:ext uri="{FF2B5EF4-FFF2-40B4-BE49-F238E27FC236}">
                <a16:creationId xmlns:a16="http://schemas.microsoft.com/office/drawing/2014/main" id="{FBED6DCF-9D6B-4DFF-A624-AD34C59FC688}"/>
              </a:ext>
            </a:extLst>
          </p:cNvPr>
          <p:cNvSpPr/>
          <p:nvPr/>
        </p:nvSpPr>
        <p:spPr>
          <a:xfrm>
            <a:off x="1167788" y="1729648"/>
            <a:ext cx="5177928" cy="417539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2800" b="1" dirty="0">
                <a:solidFill>
                  <a:schemeClr val="tx1"/>
                </a:solidFill>
                <a:effectLst>
                  <a:outerShdw blurRad="38100" dist="38100" dir="2700000" algn="tl">
                    <a:srgbClr val="000000">
                      <a:alpha val="43137"/>
                    </a:srgbClr>
                  </a:outerShdw>
                </a:effectLst>
              </a:rPr>
              <a:t>概念</a:t>
            </a:r>
            <a:endParaRPr kumimoji="1" lang="en-US" altLang="ja-JP" sz="2800" b="1" dirty="0">
              <a:solidFill>
                <a:schemeClr val="tx1"/>
              </a:solidFill>
              <a:effectLst>
                <a:outerShdw blurRad="38100" dist="38100" dir="2700000" algn="tl">
                  <a:srgbClr val="000000">
                    <a:alpha val="43137"/>
                  </a:srgbClr>
                </a:outerShdw>
              </a:effectLst>
            </a:endParaRPr>
          </a:p>
          <a:p>
            <a:pPr algn="ctr"/>
            <a:r>
              <a:rPr lang="ja-JP" altLang="en-US" sz="2400" dirty="0">
                <a:solidFill>
                  <a:schemeClr val="tx1"/>
                </a:solidFill>
              </a:rPr>
              <a:t>（適用範囲／対象製品／要求事項／記録）</a:t>
            </a:r>
            <a:endParaRPr kumimoji="1" lang="ja-JP" altLang="en-US" sz="2400" dirty="0">
              <a:solidFill>
                <a:schemeClr val="tx1"/>
              </a:solidFill>
            </a:endParaRPr>
          </a:p>
        </p:txBody>
      </p:sp>
      <p:sp>
        <p:nvSpPr>
          <p:cNvPr id="3" name="四角形: 角を丸くする 2">
            <a:extLst>
              <a:ext uri="{FF2B5EF4-FFF2-40B4-BE49-F238E27FC236}">
                <a16:creationId xmlns:a16="http://schemas.microsoft.com/office/drawing/2014/main" id="{7095F6D8-2585-4C74-906C-3922D8968A3C}"/>
              </a:ext>
            </a:extLst>
          </p:cNvPr>
          <p:cNvSpPr/>
          <p:nvPr/>
        </p:nvSpPr>
        <p:spPr>
          <a:xfrm>
            <a:off x="1498294" y="3591499"/>
            <a:ext cx="4516916" cy="201608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u="sng" dirty="0">
                <a:effectLst>
                  <a:outerShdw blurRad="38100" dist="38100" dir="2700000" algn="tl">
                    <a:srgbClr val="000000">
                      <a:alpha val="43137"/>
                    </a:srgbClr>
                  </a:outerShdw>
                </a:effectLst>
              </a:rPr>
              <a:t>要求事項</a:t>
            </a:r>
            <a:r>
              <a:rPr kumimoji="1" lang="ja-JP" altLang="en-US" sz="2800" b="1" dirty="0">
                <a:effectLst>
                  <a:outerShdw blurRad="38100" dist="38100" dir="2700000" algn="tl">
                    <a:srgbClr val="000000">
                      <a:alpha val="43137"/>
                    </a:srgbClr>
                  </a:outerShdw>
                </a:effectLst>
              </a:rPr>
              <a:t>への対応</a:t>
            </a:r>
            <a:endParaRPr kumimoji="1" lang="en-US" altLang="ja-JP" sz="2800" b="1" dirty="0">
              <a:effectLst>
                <a:outerShdw blurRad="38100" dist="38100" dir="2700000" algn="tl">
                  <a:srgbClr val="000000">
                    <a:alpha val="43137"/>
                  </a:srgbClr>
                </a:outerShdw>
              </a:effectLst>
            </a:endParaRPr>
          </a:p>
          <a:p>
            <a:pPr algn="ctr"/>
            <a:r>
              <a:rPr lang="ja-JP" altLang="en-US" sz="2400" dirty="0"/>
              <a:t>（提出／承認／通知）</a:t>
            </a:r>
            <a:endParaRPr kumimoji="1" lang="ja-JP" altLang="en-US" sz="2400" dirty="0"/>
          </a:p>
        </p:txBody>
      </p:sp>
      <p:sp>
        <p:nvSpPr>
          <p:cNvPr id="6" name="正方形/長方形 5">
            <a:extLst>
              <a:ext uri="{FF2B5EF4-FFF2-40B4-BE49-F238E27FC236}">
                <a16:creationId xmlns:a16="http://schemas.microsoft.com/office/drawing/2014/main" id="{B54F6886-2F6C-4C3B-B48A-20B4AFD9EA98}"/>
              </a:ext>
            </a:extLst>
          </p:cNvPr>
          <p:cNvSpPr/>
          <p:nvPr/>
        </p:nvSpPr>
        <p:spPr>
          <a:xfrm>
            <a:off x="6956310" y="1729648"/>
            <a:ext cx="4208444" cy="1949986"/>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u="sng" dirty="0">
                <a:effectLst>
                  <a:outerShdw blurRad="38100" dist="38100" dir="2700000" algn="tl">
                    <a:srgbClr val="000000">
                      <a:alpha val="43137"/>
                    </a:srgbClr>
                  </a:outerShdw>
                </a:effectLst>
              </a:rPr>
              <a:t>要求事項</a:t>
            </a:r>
            <a:endParaRPr kumimoji="1" lang="en-US" altLang="ja-JP" sz="2800" b="1" u="sng" dirty="0">
              <a:effectLst>
                <a:outerShdw blurRad="38100" dist="38100" dir="2700000" algn="tl">
                  <a:srgbClr val="000000">
                    <a:alpha val="43137"/>
                  </a:srgbClr>
                </a:outerShdw>
              </a:effectLst>
            </a:endParaRPr>
          </a:p>
          <a:p>
            <a:pPr algn="ctr"/>
            <a:r>
              <a:rPr lang="ja-JP" altLang="en-US" sz="2400" dirty="0"/>
              <a:t>（</a:t>
            </a:r>
            <a:r>
              <a:rPr lang="en-US" altLang="ja-JP" sz="2400" dirty="0"/>
              <a:t>18</a:t>
            </a:r>
            <a:r>
              <a:rPr lang="ja-JP" altLang="en-US" sz="2400" dirty="0"/>
              <a:t>項目の要求事項）</a:t>
            </a:r>
            <a:endParaRPr lang="en-US" altLang="ja-JP" sz="2400" dirty="0"/>
          </a:p>
          <a:p>
            <a:pPr algn="ctr"/>
            <a:r>
              <a:rPr kumimoji="1" lang="en-US" altLang="ja-JP" dirty="0"/>
              <a:t>※</a:t>
            </a:r>
            <a:r>
              <a:rPr kumimoji="1" lang="ja-JP" altLang="en-US" dirty="0"/>
              <a:t>バルク材料除く</a:t>
            </a:r>
          </a:p>
        </p:txBody>
      </p:sp>
      <p:cxnSp>
        <p:nvCxnSpPr>
          <p:cNvPr id="13" name="コネクタ: カギ線 12">
            <a:extLst>
              <a:ext uri="{FF2B5EF4-FFF2-40B4-BE49-F238E27FC236}">
                <a16:creationId xmlns:a16="http://schemas.microsoft.com/office/drawing/2014/main" id="{408F2EA5-9862-490A-A055-31D64D2B880A}"/>
              </a:ext>
            </a:extLst>
          </p:cNvPr>
          <p:cNvCxnSpPr>
            <a:stCxn id="3" idx="3"/>
            <a:endCxn id="6" idx="1"/>
          </p:cNvCxnSpPr>
          <p:nvPr/>
        </p:nvCxnSpPr>
        <p:spPr>
          <a:xfrm flipV="1">
            <a:off x="6015210" y="2704641"/>
            <a:ext cx="941100" cy="1894902"/>
          </a:xfrm>
          <a:prstGeom prst="bentConnector3">
            <a:avLst>
              <a:gd name="adj1" fmla="val 59557"/>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0A59493-A7A2-4FD4-819D-36D611F62233}"/>
              </a:ext>
            </a:extLst>
          </p:cNvPr>
          <p:cNvSpPr/>
          <p:nvPr/>
        </p:nvSpPr>
        <p:spPr>
          <a:xfrm>
            <a:off x="6962660" y="4050152"/>
            <a:ext cx="4208444" cy="1949986"/>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u="sng" dirty="0">
                <a:effectLst>
                  <a:outerShdw blurRad="38100" dist="38100" dir="2700000" algn="tl">
                    <a:srgbClr val="000000">
                      <a:alpha val="43137"/>
                    </a:srgbClr>
                  </a:outerShdw>
                </a:effectLst>
              </a:rPr>
              <a:t>提出・承認レベル</a:t>
            </a:r>
            <a:endParaRPr kumimoji="1" lang="en-US" altLang="ja-JP" sz="2800" b="1" u="sng" dirty="0">
              <a:effectLst>
                <a:outerShdw blurRad="38100" dist="38100" dir="2700000" algn="tl">
                  <a:srgbClr val="000000">
                    <a:alpha val="43137"/>
                  </a:srgbClr>
                </a:outerShdw>
              </a:effectLst>
            </a:endParaRPr>
          </a:p>
          <a:p>
            <a:pPr algn="ctr"/>
            <a:r>
              <a:rPr lang="ja-JP" altLang="en-US" sz="2400" dirty="0"/>
              <a:t>（レベル１～５）</a:t>
            </a:r>
            <a:endParaRPr lang="en-US" altLang="ja-JP" sz="2400" dirty="0"/>
          </a:p>
        </p:txBody>
      </p:sp>
      <p:cxnSp>
        <p:nvCxnSpPr>
          <p:cNvPr id="15" name="コネクタ: カギ線 14">
            <a:extLst>
              <a:ext uri="{FF2B5EF4-FFF2-40B4-BE49-F238E27FC236}">
                <a16:creationId xmlns:a16="http://schemas.microsoft.com/office/drawing/2014/main" id="{C5A72492-B3B0-426D-BF35-B49613BD93FE}"/>
              </a:ext>
            </a:extLst>
          </p:cNvPr>
          <p:cNvCxnSpPr>
            <a:cxnSpLocks/>
            <a:stCxn id="6" idx="2"/>
            <a:endCxn id="14" idx="0"/>
          </p:cNvCxnSpPr>
          <p:nvPr/>
        </p:nvCxnSpPr>
        <p:spPr>
          <a:xfrm rot="16200000" flipH="1">
            <a:off x="8878448" y="3861718"/>
            <a:ext cx="370518" cy="6350"/>
          </a:xfrm>
          <a:prstGeom prst="bentConnector3">
            <a:avLst>
              <a:gd name="adj1" fmla="val 50000"/>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四角形: 角を丸くする 7">
            <a:extLst>
              <a:ext uri="{FF2B5EF4-FFF2-40B4-BE49-F238E27FC236}">
                <a16:creationId xmlns:a16="http://schemas.microsoft.com/office/drawing/2014/main" id="{ADF10979-8398-48E0-9EEF-9F7BFDBDF2F3}"/>
              </a:ext>
            </a:extLst>
          </p:cNvPr>
          <p:cNvSpPr/>
          <p:nvPr/>
        </p:nvSpPr>
        <p:spPr>
          <a:xfrm>
            <a:off x="8383604" y="1472665"/>
            <a:ext cx="2787500" cy="67376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ＢＩＧ３以外は、</a:t>
            </a:r>
            <a:endParaRPr kumimoji="1" lang="en-US" altLang="ja-JP" dirty="0">
              <a:solidFill>
                <a:srgbClr val="FF0000"/>
              </a:solidFill>
            </a:endParaRPr>
          </a:p>
          <a:p>
            <a:pPr algn="ctr"/>
            <a:r>
              <a:rPr kumimoji="1" lang="ja-JP" altLang="en-US" dirty="0">
                <a:solidFill>
                  <a:srgbClr val="FF0000"/>
                </a:solidFill>
              </a:rPr>
              <a:t>顧客が最終決定</a:t>
            </a:r>
          </a:p>
        </p:txBody>
      </p:sp>
    </p:spTree>
    <p:extLst>
      <p:ext uri="{BB962C8B-B14F-4D97-AF65-F5344CB8AC3E}">
        <p14:creationId xmlns:p14="http://schemas.microsoft.com/office/powerpoint/2010/main" val="201573501"/>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３．ＰＰＡＰ（概念）</a:t>
            </a:r>
          </a:p>
        </p:txBody>
      </p:sp>
      <p:graphicFrame>
        <p:nvGraphicFramePr>
          <p:cNvPr id="2" name="表 1">
            <a:extLst>
              <a:ext uri="{FF2B5EF4-FFF2-40B4-BE49-F238E27FC236}">
                <a16:creationId xmlns:a16="http://schemas.microsoft.com/office/drawing/2014/main" id="{BB5CE1B1-6147-4357-961A-6B1BD08CC9D3}"/>
              </a:ext>
            </a:extLst>
          </p:cNvPr>
          <p:cNvGraphicFramePr>
            <a:graphicFrameLocks noGrp="1"/>
          </p:cNvGraphicFramePr>
          <p:nvPr>
            <p:extLst>
              <p:ext uri="{D42A27DB-BD31-4B8C-83A1-F6EECF244321}">
                <p14:modId xmlns:p14="http://schemas.microsoft.com/office/powerpoint/2010/main" val="1708601316"/>
              </p:ext>
            </p:extLst>
          </p:nvPr>
        </p:nvGraphicFramePr>
        <p:xfrm>
          <a:off x="838199" y="1344058"/>
          <a:ext cx="10515600" cy="5012293"/>
        </p:xfrm>
        <a:graphic>
          <a:graphicData uri="http://schemas.openxmlformats.org/drawingml/2006/table">
            <a:tbl>
              <a:tblPr firstRow="1" bandRow="1">
                <a:tableStyleId>{5940675A-B579-460E-94D1-54222C63F5DA}</a:tableStyleId>
              </a:tblPr>
              <a:tblGrid>
                <a:gridCol w="1871950">
                  <a:extLst>
                    <a:ext uri="{9D8B030D-6E8A-4147-A177-3AD203B41FA5}">
                      <a16:colId xmlns:a16="http://schemas.microsoft.com/office/drawing/2014/main" val="880477916"/>
                    </a:ext>
                  </a:extLst>
                </a:gridCol>
                <a:gridCol w="8643650">
                  <a:extLst>
                    <a:ext uri="{9D8B030D-6E8A-4147-A177-3AD203B41FA5}">
                      <a16:colId xmlns:a16="http://schemas.microsoft.com/office/drawing/2014/main" val="1274507769"/>
                    </a:ext>
                  </a:extLst>
                </a:gridCol>
              </a:tblGrid>
              <a:tr h="402221">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3192307974"/>
                  </a:ext>
                </a:extLst>
              </a:tr>
              <a:tr h="711622">
                <a:tc>
                  <a:txBody>
                    <a:bodyPr/>
                    <a:lstStyle/>
                    <a:p>
                      <a:r>
                        <a:rPr kumimoji="1" lang="ja-JP" altLang="en-US" sz="2000" dirty="0"/>
                        <a:t>適用範囲</a:t>
                      </a:r>
                    </a:p>
                  </a:txBody>
                  <a:tcPr/>
                </a:tc>
                <a:tc>
                  <a:txBody>
                    <a:bodyPr/>
                    <a:lstStyle/>
                    <a:p>
                      <a:pPr marL="457200" indent="-457200">
                        <a:buFont typeface="+mj-ea"/>
                        <a:buAutoNum type="circleNumDbPlain"/>
                      </a:pPr>
                      <a:r>
                        <a:rPr kumimoji="1" lang="ja-JP" altLang="en-US" sz="2000" dirty="0"/>
                        <a:t>生産部品、サービス部品、生産材料又はバルク材料を供給する、社内・社外の組織の生産事業所に適用される。</a:t>
                      </a:r>
                    </a:p>
                  </a:txBody>
                  <a:tcPr/>
                </a:tc>
                <a:extLst>
                  <a:ext uri="{0D108BD9-81ED-4DB2-BD59-A6C34878D82A}">
                    <a16:rowId xmlns:a16="http://schemas.microsoft.com/office/drawing/2014/main" val="2085354520"/>
                  </a:ext>
                </a:extLst>
              </a:tr>
              <a:tr h="1949225">
                <a:tc>
                  <a:txBody>
                    <a:bodyPr/>
                    <a:lstStyle/>
                    <a:p>
                      <a:r>
                        <a:rPr kumimoji="1" lang="ja-JP" altLang="en-US" sz="2000" dirty="0"/>
                        <a:t>対象製品</a:t>
                      </a:r>
                    </a:p>
                  </a:txBody>
                  <a:tcPr/>
                </a:tc>
                <a:tc>
                  <a:txBody>
                    <a:bodyPr/>
                    <a:lstStyle/>
                    <a:p>
                      <a:pPr marL="457200" indent="-457200">
                        <a:buFont typeface="+mj-ea"/>
                        <a:buAutoNum type="circleNumDbPlain"/>
                      </a:pPr>
                      <a:r>
                        <a:rPr kumimoji="1" lang="en-US" altLang="ja-JP" sz="2000" dirty="0"/>
                        <a:t>PPAP</a:t>
                      </a:r>
                      <a:r>
                        <a:rPr kumimoji="1" lang="ja-JP" altLang="en-US" sz="2000" dirty="0"/>
                        <a:t>用の製品は、</a:t>
                      </a:r>
                      <a:r>
                        <a:rPr kumimoji="1" lang="ja-JP" altLang="en-US" sz="2000" dirty="0">
                          <a:solidFill>
                            <a:srgbClr val="FF0000"/>
                          </a:solidFill>
                          <a:effectLst>
                            <a:outerShdw blurRad="38100" dist="38100" dir="2700000" algn="tl">
                              <a:srgbClr val="000000">
                                <a:alpha val="43137"/>
                              </a:srgbClr>
                            </a:outerShdw>
                          </a:effectLst>
                        </a:rPr>
                        <a:t>実質的生産</a:t>
                      </a:r>
                      <a:r>
                        <a:rPr kumimoji="1" lang="ja-JP" altLang="en-US" sz="2000" dirty="0"/>
                        <a:t>から採取する。</a:t>
                      </a:r>
                      <a:endParaRPr kumimoji="1" lang="en-US" altLang="ja-JP" sz="2000" dirty="0"/>
                    </a:p>
                    <a:p>
                      <a:pPr marL="457200" indent="-457200">
                        <a:buFont typeface="+mj-ea"/>
                        <a:buAutoNum type="circleNumDbPlain"/>
                      </a:pPr>
                      <a:r>
                        <a:rPr kumimoji="1" lang="ja-JP" altLang="en-US" sz="2000" dirty="0"/>
                        <a:t>実質的生産は、顧客の指定がない場合、</a:t>
                      </a:r>
                      <a:r>
                        <a:rPr kumimoji="1" lang="en-US" altLang="ja-JP" sz="2000" dirty="0">
                          <a:solidFill>
                            <a:srgbClr val="FF0000"/>
                          </a:solidFill>
                          <a:effectLst>
                            <a:outerShdw blurRad="38100" dist="38100" dir="2700000" algn="tl">
                              <a:srgbClr val="000000">
                                <a:alpha val="43137"/>
                              </a:srgbClr>
                            </a:outerShdw>
                          </a:effectLst>
                        </a:rPr>
                        <a:t>1</a:t>
                      </a:r>
                      <a:r>
                        <a:rPr kumimoji="1" lang="ja-JP" altLang="en-US" sz="2000" dirty="0">
                          <a:solidFill>
                            <a:srgbClr val="FF0000"/>
                          </a:solidFill>
                          <a:effectLst>
                            <a:outerShdw blurRad="38100" dist="38100" dir="2700000" algn="tl">
                              <a:srgbClr val="000000">
                                <a:alpha val="43137"/>
                              </a:srgbClr>
                            </a:outerShdw>
                          </a:effectLst>
                        </a:rPr>
                        <a:t>時間～</a:t>
                      </a:r>
                      <a:r>
                        <a:rPr kumimoji="1" lang="en-US" altLang="ja-JP" sz="2000" dirty="0">
                          <a:solidFill>
                            <a:srgbClr val="FF0000"/>
                          </a:solidFill>
                          <a:effectLst>
                            <a:outerShdw blurRad="38100" dist="38100" dir="2700000" algn="tl">
                              <a:srgbClr val="000000">
                                <a:alpha val="43137"/>
                              </a:srgbClr>
                            </a:outerShdw>
                          </a:effectLst>
                        </a:rPr>
                        <a:t>8</a:t>
                      </a:r>
                      <a:r>
                        <a:rPr kumimoji="1" lang="ja-JP" altLang="en-US" sz="2000" dirty="0">
                          <a:solidFill>
                            <a:srgbClr val="FF0000"/>
                          </a:solidFill>
                          <a:effectLst>
                            <a:outerShdw blurRad="38100" dist="38100" dir="2700000" algn="tl">
                              <a:srgbClr val="000000">
                                <a:alpha val="43137"/>
                              </a:srgbClr>
                            </a:outerShdw>
                          </a:effectLst>
                        </a:rPr>
                        <a:t>時間の操業時間</a:t>
                      </a:r>
                      <a:r>
                        <a:rPr kumimoji="1" lang="ja-JP" altLang="en-US" sz="2000" dirty="0"/>
                        <a:t>で、指定される生産個数の合計は</a:t>
                      </a:r>
                      <a:r>
                        <a:rPr kumimoji="1" lang="ja-JP" altLang="en-US" sz="2000" dirty="0">
                          <a:solidFill>
                            <a:srgbClr val="FF0000"/>
                          </a:solidFill>
                          <a:effectLst>
                            <a:outerShdw blurRad="38100" dist="38100" dir="2700000" algn="tl">
                              <a:srgbClr val="000000">
                                <a:alpha val="43137"/>
                              </a:srgbClr>
                            </a:outerShdw>
                          </a:effectLst>
                        </a:rPr>
                        <a:t>連続する</a:t>
                      </a:r>
                      <a:r>
                        <a:rPr kumimoji="1" lang="en-US" altLang="ja-JP" sz="2000" dirty="0">
                          <a:solidFill>
                            <a:srgbClr val="FF0000"/>
                          </a:solidFill>
                          <a:effectLst>
                            <a:outerShdw blurRad="38100" dist="38100" dir="2700000" algn="tl">
                              <a:srgbClr val="000000">
                                <a:alpha val="43137"/>
                              </a:srgbClr>
                            </a:outerShdw>
                          </a:effectLst>
                        </a:rPr>
                        <a:t>300</a:t>
                      </a:r>
                      <a:r>
                        <a:rPr kumimoji="1" lang="ja-JP" altLang="en-US" sz="2000" dirty="0">
                          <a:solidFill>
                            <a:srgbClr val="FF0000"/>
                          </a:solidFill>
                          <a:effectLst>
                            <a:outerShdw blurRad="38100" dist="38100" dir="2700000" algn="tl">
                              <a:srgbClr val="000000">
                                <a:alpha val="43137"/>
                              </a:srgbClr>
                            </a:outerShdw>
                          </a:effectLst>
                        </a:rPr>
                        <a:t>個以上</a:t>
                      </a:r>
                      <a:r>
                        <a:rPr kumimoji="1" lang="ja-JP" altLang="en-US" sz="2000" dirty="0"/>
                        <a:t>とする。</a:t>
                      </a:r>
                      <a:endParaRPr kumimoji="1" lang="en-US" altLang="ja-JP" sz="2000" dirty="0"/>
                    </a:p>
                    <a:p>
                      <a:pPr marL="457200" indent="-457200">
                        <a:buFont typeface="+mj-ea"/>
                        <a:buAutoNum type="circleNumDbPlain"/>
                      </a:pPr>
                      <a:r>
                        <a:rPr kumimoji="1" lang="ja-JP" altLang="en-US" sz="2000" dirty="0"/>
                        <a:t>実質的生産では、</a:t>
                      </a:r>
                      <a:r>
                        <a:rPr kumimoji="1" lang="ja-JP" altLang="en-US" sz="2000" dirty="0">
                          <a:solidFill>
                            <a:srgbClr val="FF0000"/>
                          </a:solidFill>
                          <a:effectLst>
                            <a:outerShdw blurRad="38100" dist="38100" dir="2700000" algn="tl">
                              <a:srgbClr val="000000">
                                <a:alpha val="43137"/>
                              </a:srgbClr>
                            </a:outerShdw>
                          </a:effectLst>
                        </a:rPr>
                        <a:t>量産する事業所において、所定生産能率で、量産用治工具、量産用ゲージ、量産用プロセス、量産用材料及び量産を担当する作業員</a:t>
                      </a:r>
                      <a:r>
                        <a:rPr kumimoji="1" lang="ja-JP" altLang="en-US" sz="2000" dirty="0"/>
                        <a:t>を用いる。</a:t>
                      </a:r>
                    </a:p>
                  </a:txBody>
                  <a:tcPr/>
                </a:tc>
                <a:extLst>
                  <a:ext uri="{0D108BD9-81ED-4DB2-BD59-A6C34878D82A}">
                    <a16:rowId xmlns:a16="http://schemas.microsoft.com/office/drawing/2014/main" val="1272686629"/>
                  </a:ext>
                </a:extLst>
              </a:tr>
              <a:tr h="1949225">
                <a:tc>
                  <a:txBody>
                    <a:bodyPr/>
                    <a:lstStyle/>
                    <a:p>
                      <a:r>
                        <a:rPr kumimoji="1" lang="ja-JP" altLang="en-US" sz="2000" dirty="0"/>
                        <a:t>要求事項</a:t>
                      </a:r>
                    </a:p>
                  </a:txBody>
                  <a:tcPr/>
                </a:tc>
                <a:tc>
                  <a:txBody>
                    <a:bodyPr/>
                    <a:lstStyle/>
                    <a:p>
                      <a:pPr marL="457200" indent="-457200">
                        <a:buFont typeface="+mj-ea"/>
                        <a:buAutoNum type="circleNumDbPlain"/>
                      </a:pPr>
                      <a:r>
                        <a:rPr kumimoji="1" lang="en-US" altLang="ja-JP" sz="2000" dirty="0"/>
                        <a:t>PPAP</a:t>
                      </a:r>
                      <a:r>
                        <a:rPr kumimoji="1" lang="ja-JP" altLang="en-US" sz="2000" dirty="0"/>
                        <a:t>要求事項及び顧客固有の</a:t>
                      </a:r>
                      <a:r>
                        <a:rPr kumimoji="1" lang="en-US" altLang="ja-JP" sz="2000" dirty="0"/>
                        <a:t>PPAP</a:t>
                      </a:r>
                      <a:r>
                        <a:rPr kumimoji="1" lang="ja-JP" altLang="en-US" sz="2000" dirty="0"/>
                        <a:t>要求事項を満たすこと。（</a:t>
                      </a:r>
                      <a:r>
                        <a:rPr kumimoji="1" lang="en-US" altLang="ja-JP" sz="2000" dirty="0">
                          <a:solidFill>
                            <a:schemeClr val="tx1"/>
                          </a:solidFill>
                          <a:effectLst/>
                        </a:rPr>
                        <a:t>PPAP</a:t>
                      </a:r>
                      <a:r>
                        <a:rPr kumimoji="1" lang="ja-JP" altLang="en-US" sz="2000" dirty="0">
                          <a:solidFill>
                            <a:schemeClr val="tx1"/>
                          </a:solidFill>
                          <a:effectLst/>
                        </a:rPr>
                        <a:t>要求事項：</a:t>
                      </a:r>
                      <a:r>
                        <a:rPr kumimoji="1" lang="en-US" altLang="ja-JP" sz="2000" dirty="0">
                          <a:solidFill>
                            <a:schemeClr val="tx1"/>
                          </a:solidFill>
                          <a:effectLst/>
                        </a:rPr>
                        <a:t>18</a:t>
                      </a:r>
                      <a:r>
                        <a:rPr kumimoji="1" lang="ja-JP" altLang="en-US" sz="2000" dirty="0">
                          <a:solidFill>
                            <a:schemeClr val="tx1"/>
                          </a:solidFill>
                          <a:effectLst/>
                        </a:rPr>
                        <a:t>項目</a:t>
                      </a:r>
                      <a:r>
                        <a:rPr kumimoji="1" lang="ja-JP" altLang="en-US" sz="2000" dirty="0"/>
                        <a:t>）</a:t>
                      </a:r>
                      <a:endParaRPr kumimoji="1" lang="en-US" altLang="ja-JP" sz="2000" dirty="0"/>
                    </a:p>
                    <a:p>
                      <a:pPr marL="457200" indent="-457200">
                        <a:buFont typeface="+mj-ea"/>
                        <a:buAutoNum type="circleNumDbPlain"/>
                      </a:pPr>
                      <a:r>
                        <a:rPr kumimoji="1" lang="ja-JP" altLang="en-US" sz="2000" dirty="0"/>
                        <a:t>生産部品は、すべての顧客の技術設計文書及び仕様要求事項（安全・規制要求事項を含む）を満たすこと。</a:t>
                      </a:r>
                      <a:endParaRPr kumimoji="1" lang="en-US" altLang="ja-JP" sz="2000" dirty="0"/>
                    </a:p>
                    <a:p>
                      <a:pPr marL="457200" indent="-457200">
                        <a:buFont typeface="+mj-ea"/>
                        <a:buAutoNum type="circleNumDbPlain"/>
                      </a:pPr>
                      <a:r>
                        <a:rPr kumimoji="1" lang="ja-JP" altLang="en-US" sz="2000" dirty="0"/>
                        <a:t>バルク材料の</a:t>
                      </a:r>
                      <a:r>
                        <a:rPr kumimoji="1" lang="en-US" altLang="ja-JP" sz="2000" dirty="0"/>
                        <a:t>PPAP</a:t>
                      </a:r>
                      <a:r>
                        <a:rPr kumimoji="1" lang="ja-JP" altLang="en-US" sz="2000" dirty="0"/>
                        <a:t>要求事項は、バルク材料要求事項チェックリストに規定される。</a:t>
                      </a:r>
                    </a:p>
                  </a:txBody>
                  <a:tcPr/>
                </a:tc>
                <a:extLst>
                  <a:ext uri="{0D108BD9-81ED-4DB2-BD59-A6C34878D82A}">
                    <a16:rowId xmlns:a16="http://schemas.microsoft.com/office/drawing/2014/main" val="2259906631"/>
                  </a:ext>
                </a:extLst>
              </a:tr>
            </a:tbl>
          </a:graphicData>
        </a:graphic>
      </p:graphicFrame>
    </p:spTree>
    <p:extLst>
      <p:ext uri="{BB962C8B-B14F-4D97-AF65-F5344CB8AC3E}">
        <p14:creationId xmlns:p14="http://schemas.microsoft.com/office/powerpoint/2010/main" val="3641061223"/>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３．ＰＰＡＰ（概念）</a:t>
            </a:r>
          </a:p>
        </p:txBody>
      </p:sp>
      <p:graphicFrame>
        <p:nvGraphicFramePr>
          <p:cNvPr id="2" name="表 1">
            <a:extLst>
              <a:ext uri="{FF2B5EF4-FFF2-40B4-BE49-F238E27FC236}">
                <a16:creationId xmlns:a16="http://schemas.microsoft.com/office/drawing/2014/main" id="{BB5CE1B1-6147-4357-961A-6B1BD08CC9D3}"/>
              </a:ext>
            </a:extLst>
          </p:cNvPr>
          <p:cNvGraphicFramePr>
            <a:graphicFrameLocks noGrp="1"/>
          </p:cNvGraphicFramePr>
          <p:nvPr>
            <p:extLst>
              <p:ext uri="{D42A27DB-BD31-4B8C-83A1-F6EECF244321}">
                <p14:modId xmlns:p14="http://schemas.microsoft.com/office/powerpoint/2010/main" val="109196851"/>
              </p:ext>
            </p:extLst>
          </p:nvPr>
        </p:nvGraphicFramePr>
        <p:xfrm>
          <a:off x="838199" y="1344058"/>
          <a:ext cx="10515600" cy="3726558"/>
        </p:xfrm>
        <a:graphic>
          <a:graphicData uri="http://schemas.openxmlformats.org/drawingml/2006/table">
            <a:tbl>
              <a:tblPr firstRow="1" bandRow="1">
                <a:tableStyleId>{5940675A-B579-460E-94D1-54222C63F5DA}</a:tableStyleId>
              </a:tblPr>
              <a:tblGrid>
                <a:gridCol w="1871950">
                  <a:extLst>
                    <a:ext uri="{9D8B030D-6E8A-4147-A177-3AD203B41FA5}">
                      <a16:colId xmlns:a16="http://schemas.microsoft.com/office/drawing/2014/main" val="880477916"/>
                    </a:ext>
                  </a:extLst>
                </a:gridCol>
                <a:gridCol w="8643650">
                  <a:extLst>
                    <a:ext uri="{9D8B030D-6E8A-4147-A177-3AD203B41FA5}">
                      <a16:colId xmlns:a16="http://schemas.microsoft.com/office/drawing/2014/main" val="1274507769"/>
                    </a:ext>
                  </a:extLst>
                </a:gridCol>
              </a:tblGrid>
              <a:tr h="359125">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3192307974"/>
                  </a:ext>
                </a:extLst>
              </a:tr>
              <a:tr h="1807606">
                <a:tc>
                  <a:txBody>
                    <a:bodyPr/>
                    <a:lstStyle/>
                    <a:p>
                      <a:r>
                        <a:rPr kumimoji="1" lang="ja-JP" altLang="en-US" sz="2000" dirty="0"/>
                        <a:t>バルク材料</a:t>
                      </a:r>
                    </a:p>
                  </a:txBody>
                  <a:tcPr/>
                </a:tc>
                <a:tc>
                  <a:txBody>
                    <a:bodyPr/>
                    <a:lstStyle/>
                    <a:p>
                      <a:pPr marL="457200" indent="-457200">
                        <a:buFont typeface="+mj-ea"/>
                        <a:buAutoNum type="circleNumDbPlain"/>
                      </a:pPr>
                      <a:r>
                        <a:rPr kumimoji="1" lang="ja-JP" altLang="en-US" sz="2000" dirty="0"/>
                        <a:t>バルク材料とは、接着剤、シール材、化学薬品、コーティング材、布、潤滑材などの物質（例：非定形個体、液体、気体）のことをいう。</a:t>
                      </a:r>
                      <a:endParaRPr kumimoji="1" lang="en-US" altLang="ja-JP" sz="2000" dirty="0"/>
                    </a:p>
                    <a:p>
                      <a:pPr marL="457200" indent="-457200">
                        <a:buFont typeface="+mj-ea"/>
                        <a:buAutoNum type="circleNumDbPlain"/>
                      </a:pPr>
                      <a:r>
                        <a:rPr kumimoji="1" lang="ja-JP" altLang="en-US" sz="2000" dirty="0"/>
                        <a:t>バルク材料に関しては、部品の数については要求されていない。提供サンプルは、プロセスの定常状態における操業を代表するように採取する。</a:t>
                      </a:r>
                      <a:endParaRPr kumimoji="1" lang="en-US" altLang="ja-JP" sz="2000" dirty="0"/>
                    </a:p>
                    <a:p>
                      <a:pPr marL="457200" indent="-457200">
                        <a:buFont typeface="+mj-ea"/>
                        <a:buAutoNum type="circleNumDbPlain"/>
                      </a:pPr>
                      <a:r>
                        <a:rPr kumimoji="1" lang="ja-JP" altLang="en-US" sz="2000" dirty="0"/>
                        <a:t>バルク材料の</a:t>
                      </a:r>
                      <a:r>
                        <a:rPr kumimoji="1" lang="en-US" altLang="ja-JP" sz="2000" dirty="0"/>
                        <a:t>PPAP</a:t>
                      </a:r>
                      <a:r>
                        <a:rPr kumimoji="1" lang="ja-JP" altLang="en-US" sz="2000" dirty="0"/>
                        <a:t>は、部品品質保証書（</a:t>
                      </a:r>
                      <a:r>
                        <a:rPr kumimoji="1" lang="en-US" altLang="ja-JP" sz="2000" dirty="0"/>
                        <a:t>PSW</a:t>
                      </a:r>
                      <a:r>
                        <a:rPr kumimoji="1" lang="ja-JP" altLang="en-US" sz="2000" dirty="0"/>
                        <a:t>）とバルク材料チェックリストのみを要求。➠本資料では省略</a:t>
                      </a:r>
                    </a:p>
                  </a:txBody>
                  <a:tcPr/>
                </a:tc>
                <a:extLst>
                  <a:ext uri="{0D108BD9-81ED-4DB2-BD59-A6C34878D82A}">
                    <a16:rowId xmlns:a16="http://schemas.microsoft.com/office/drawing/2014/main" val="2085354520"/>
                  </a:ext>
                </a:extLst>
              </a:tr>
              <a:tr h="1105278">
                <a:tc>
                  <a:txBody>
                    <a:bodyPr/>
                    <a:lstStyle/>
                    <a:p>
                      <a:r>
                        <a:rPr kumimoji="1" lang="ja-JP" altLang="en-US" sz="2000" dirty="0"/>
                        <a:t>記録の保管</a:t>
                      </a:r>
                    </a:p>
                  </a:txBody>
                  <a:tcPr/>
                </a:tc>
                <a:tc>
                  <a:txBody>
                    <a:bodyPr/>
                    <a:lstStyle/>
                    <a:p>
                      <a:pPr marL="457200" indent="-457200">
                        <a:buFont typeface="+mj-ea"/>
                        <a:buAutoNum type="circleNumDbPlain"/>
                      </a:pPr>
                      <a:r>
                        <a:rPr kumimoji="1" lang="en-US" altLang="ja-JP" sz="2000" dirty="0"/>
                        <a:t>PPAP</a:t>
                      </a:r>
                      <a:r>
                        <a:rPr kumimoji="1" lang="ja-JP" altLang="en-US" sz="2000" dirty="0"/>
                        <a:t>の記録は、その部品（製品）が現行である期間　</a:t>
                      </a:r>
                      <a:r>
                        <a:rPr kumimoji="1" lang="en-US" altLang="ja-JP" sz="2000" dirty="0"/>
                        <a:t>+</a:t>
                      </a:r>
                      <a:r>
                        <a:rPr kumimoji="1" lang="ja-JP" altLang="en-US" sz="2000" dirty="0"/>
                        <a:t>　</a:t>
                      </a:r>
                      <a:r>
                        <a:rPr kumimoji="1" lang="en-US" altLang="ja-JP" sz="2000" dirty="0"/>
                        <a:t>1</a:t>
                      </a:r>
                      <a:r>
                        <a:rPr kumimoji="1" lang="ja-JP" altLang="en-US" sz="2000" dirty="0"/>
                        <a:t>暦年の間保管する。</a:t>
                      </a:r>
                    </a:p>
                  </a:txBody>
                  <a:tcPr/>
                </a:tc>
                <a:extLst>
                  <a:ext uri="{0D108BD9-81ED-4DB2-BD59-A6C34878D82A}">
                    <a16:rowId xmlns:a16="http://schemas.microsoft.com/office/drawing/2014/main" val="1272686629"/>
                  </a:ext>
                </a:extLst>
              </a:tr>
            </a:tbl>
          </a:graphicData>
        </a:graphic>
      </p:graphicFrame>
    </p:spTree>
    <p:extLst>
      <p:ext uri="{BB962C8B-B14F-4D97-AF65-F5344CB8AC3E}">
        <p14:creationId xmlns:p14="http://schemas.microsoft.com/office/powerpoint/2010/main" val="1560070413"/>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439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３．ＰＰＡＰ（要求事項の取扱い（提出・承認・通知））</a:t>
            </a:r>
          </a:p>
        </p:txBody>
      </p:sp>
      <p:graphicFrame>
        <p:nvGraphicFramePr>
          <p:cNvPr id="2" name="表 1">
            <a:extLst>
              <a:ext uri="{FF2B5EF4-FFF2-40B4-BE49-F238E27FC236}">
                <a16:creationId xmlns:a16="http://schemas.microsoft.com/office/drawing/2014/main" id="{BB5CE1B1-6147-4357-961A-6B1BD08CC9D3}"/>
              </a:ext>
            </a:extLst>
          </p:cNvPr>
          <p:cNvGraphicFramePr>
            <a:graphicFrameLocks noGrp="1"/>
          </p:cNvGraphicFramePr>
          <p:nvPr>
            <p:extLst>
              <p:ext uri="{D42A27DB-BD31-4B8C-83A1-F6EECF244321}">
                <p14:modId xmlns:p14="http://schemas.microsoft.com/office/powerpoint/2010/main" val="1548379046"/>
              </p:ext>
            </p:extLst>
          </p:nvPr>
        </p:nvGraphicFramePr>
        <p:xfrm>
          <a:off x="838199" y="1344058"/>
          <a:ext cx="10515600" cy="5012292"/>
        </p:xfrm>
        <a:graphic>
          <a:graphicData uri="http://schemas.openxmlformats.org/drawingml/2006/table">
            <a:tbl>
              <a:tblPr firstRow="1" bandRow="1">
                <a:tableStyleId>{5940675A-B579-460E-94D1-54222C63F5DA}</a:tableStyleId>
              </a:tblPr>
              <a:tblGrid>
                <a:gridCol w="1585512">
                  <a:extLst>
                    <a:ext uri="{9D8B030D-6E8A-4147-A177-3AD203B41FA5}">
                      <a16:colId xmlns:a16="http://schemas.microsoft.com/office/drawing/2014/main" val="880477916"/>
                    </a:ext>
                  </a:extLst>
                </a:gridCol>
                <a:gridCol w="1597446">
                  <a:extLst>
                    <a:ext uri="{9D8B030D-6E8A-4147-A177-3AD203B41FA5}">
                      <a16:colId xmlns:a16="http://schemas.microsoft.com/office/drawing/2014/main" val="306913459"/>
                    </a:ext>
                  </a:extLst>
                </a:gridCol>
                <a:gridCol w="7332642">
                  <a:extLst>
                    <a:ext uri="{9D8B030D-6E8A-4147-A177-3AD203B41FA5}">
                      <a16:colId xmlns:a16="http://schemas.microsoft.com/office/drawing/2014/main" val="1274507769"/>
                    </a:ext>
                  </a:extLst>
                </a:gridCol>
              </a:tblGrid>
              <a:tr h="402221">
                <a:tc>
                  <a:txBody>
                    <a:bodyPr/>
                    <a:lstStyle/>
                    <a:p>
                      <a:pPr algn="ctr"/>
                      <a:r>
                        <a:rPr kumimoji="1" lang="ja-JP" altLang="en-US" sz="2000" dirty="0"/>
                        <a:t>項目</a:t>
                      </a:r>
                    </a:p>
                  </a:txBody>
                  <a:tcPr>
                    <a:solidFill>
                      <a:schemeClr val="tx2">
                        <a:lumMod val="40000"/>
                        <a:lumOff val="60000"/>
                      </a:schemeClr>
                    </a:solidFill>
                  </a:tcPr>
                </a:tc>
                <a:tc gridSpan="2">
                  <a:txBody>
                    <a:bodyPr/>
                    <a:lstStyle/>
                    <a:p>
                      <a:pPr algn="ctr"/>
                      <a:r>
                        <a:rPr kumimoji="1" lang="ja-JP" altLang="en-US" sz="2000" dirty="0"/>
                        <a:t>内容</a:t>
                      </a:r>
                    </a:p>
                  </a:txBody>
                  <a:tcPr>
                    <a:solidFill>
                      <a:schemeClr val="tx2">
                        <a:lumMod val="40000"/>
                        <a:lumOff val="60000"/>
                      </a:schemeClr>
                    </a:solidFill>
                  </a:tcPr>
                </a:tc>
                <a:tc hMerge="1">
                  <a:txBody>
                    <a:bodyPr/>
                    <a:lstStyle/>
                    <a:p>
                      <a:pPr algn="ct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3192307974"/>
                  </a:ext>
                </a:extLst>
              </a:tr>
              <a:tr h="1639824">
                <a:tc rowSpan="2">
                  <a:txBody>
                    <a:bodyPr/>
                    <a:lstStyle/>
                    <a:p>
                      <a:r>
                        <a:rPr kumimoji="1" lang="ja-JP" altLang="en-US" sz="2000" dirty="0"/>
                        <a:t>顧客への提出・承認が必要な場合</a:t>
                      </a:r>
                    </a:p>
                  </a:txBody>
                  <a:tcPr/>
                </a:tc>
                <a:tc>
                  <a:txBody>
                    <a:bodyPr/>
                    <a:lstStyle/>
                    <a:p>
                      <a:r>
                        <a:rPr kumimoji="1" lang="ja-JP" altLang="en-US" sz="2000" dirty="0"/>
                        <a:t>対象製品</a:t>
                      </a:r>
                    </a:p>
                  </a:txBody>
                  <a:tcPr/>
                </a:tc>
                <a:tc>
                  <a:txBody>
                    <a:bodyPr/>
                    <a:lstStyle/>
                    <a:p>
                      <a:pPr marL="457200" indent="-457200">
                        <a:buFont typeface="+mj-ea"/>
                        <a:buAutoNum type="circleNumDbPlain"/>
                      </a:pPr>
                      <a:r>
                        <a:rPr kumimoji="1" lang="ja-JP" altLang="en-US" sz="2000" dirty="0">
                          <a:solidFill>
                            <a:schemeClr val="tx1"/>
                          </a:solidFill>
                          <a:effectLst/>
                        </a:rPr>
                        <a:t>新規部品・製品（顧客にとっての新製品）</a:t>
                      </a:r>
                      <a:endParaRPr kumimoji="1" lang="en-US" altLang="ja-JP" sz="2000" dirty="0">
                        <a:solidFill>
                          <a:schemeClr val="tx1"/>
                        </a:solidFill>
                        <a:effectLst/>
                      </a:endParaRPr>
                    </a:p>
                    <a:p>
                      <a:pPr marL="457200" indent="-457200">
                        <a:buFont typeface="+mj-ea"/>
                        <a:buAutoNum type="circleNumDbPlain"/>
                      </a:pPr>
                      <a:r>
                        <a:rPr kumimoji="1" lang="ja-JP" altLang="en-US" sz="2000" dirty="0">
                          <a:solidFill>
                            <a:schemeClr val="tx1"/>
                          </a:solidFill>
                          <a:effectLst/>
                        </a:rPr>
                        <a:t>以前に提出された部品の不具合の是正</a:t>
                      </a:r>
                      <a:endParaRPr kumimoji="1" lang="en-US" altLang="ja-JP" sz="2000" dirty="0">
                        <a:solidFill>
                          <a:schemeClr val="tx1"/>
                        </a:solidFill>
                        <a:effectLst/>
                      </a:endParaRPr>
                    </a:p>
                    <a:p>
                      <a:pPr marL="457200" indent="-457200">
                        <a:buFont typeface="+mj-ea"/>
                        <a:buAutoNum type="circleNumDbPlain"/>
                      </a:pPr>
                      <a:r>
                        <a:rPr kumimoji="1" lang="ja-JP" altLang="en-US" sz="2000" dirty="0">
                          <a:solidFill>
                            <a:schemeClr val="tx1"/>
                          </a:solidFill>
                          <a:effectLst/>
                        </a:rPr>
                        <a:t>生産用製品に対する設計文書、仕様書又は材料の技術変更</a:t>
                      </a:r>
                      <a:endParaRPr kumimoji="1" lang="en-US" altLang="ja-JP" sz="2000" dirty="0">
                        <a:solidFill>
                          <a:schemeClr val="tx1"/>
                        </a:solidFill>
                        <a:effectLst/>
                      </a:endParaRPr>
                    </a:p>
                    <a:p>
                      <a:pPr marL="457200" indent="-457200">
                        <a:buFont typeface="+mj-ea"/>
                        <a:buAutoNum type="circleNumDbPlain"/>
                      </a:pPr>
                      <a:r>
                        <a:rPr kumimoji="1" lang="ja-JP" altLang="en-US" sz="2000" dirty="0">
                          <a:solidFill>
                            <a:schemeClr val="tx1"/>
                          </a:solidFill>
                          <a:effectLst/>
                        </a:rPr>
                        <a:t>その材料に対して以前使用されたことがなく、その組織にとって新しいプロセス技術（バルク材料）</a:t>
                      </a:r>
                    </a:p>
                  </a:txBody>
                  <a:tcPr/>
                </a:tc>
                <a:extLst>
                  <a:ext uri="{0D108BD9-81ED-4DB2-BD59-A6C34878D82A}">
                    <a16:rowId xmlns:a16="http://schemas.microsoft.com/office/drawing/2014/main" val="2085354520"/>
                  </a:ext>
                </a:extLst>
              </a:tr>
              <a:tr h="711622">
                <a:tc vMerge="1">
                  <a:txBody>
                    <a:bodyPr/>
                    <a:lstStyle/>
                    <a:p>
                      <a:endParaRPr kumimoji="1" lang="ja-JP" altLang="en-US" sz="2000" dirty="0"/>
                    </a:p>
                  </a:txBody>
                  <a:tcPr/>
                </a:tc>
                <a:tc>
                  <a:txBody>
                    <a:bodyPr/>
                    <a:lstStyle/>
                    <a:p>
                      <a:r>
                        <a:rPr kumimoji="1" lang="ja-JP" altLang="en-US" sz="2000" dirty="0"/>
                        <a:t>提出・承認の手順</a:t>
                      </a:r>
                    </a:p>
                  </a:txBody>
                  <a:tcPr/>
                </a:tc>
                <a:tc>
                  <a:txBody>
                    <a:bodyPr/>
                    <a:lstStyle/>
                    <a:p>
                      <a:pPr marL="457200" indent="-457200">
                        <a:buFont typeface="+mj-ea"/>
                        <a:buAutoNum type="circleNumDbPlain"/>
                      </a:pPr>
                      <a:r>
                        <a:rPr kumimoji="1" lang="ja-JP" altLang="en-US" sz="2000" dirty="0">
                          <a:solidFill>
                            <a:schemeClr val="tx1"/>
                          </a:solidFill>
                          <a:effectLst/>
                        </a:rPr>
                        <a:t>顧客が要求事項を免除しない限り、最初の製品出荷に先立って、</a:t>
                      </a:r>
                      <a:r>
                        <a:rPr kumimoji="1" lang="en-US" altLang="ja-JP" sz="2000" dirty="0">
                          <a:solidFill>
                            <a:schemeClr val="tx1"/>
                          </a:solidFill>
                          <a:effectLst/>
                        </a:rPr>
                        <a:t>PPAP</a:t>
                      </a:r>
                      <a:r>
                        <a:rPr kumimoji="1" lang="ja-JP" altLang="en-US" sz="2000" dirty="0">
                          <a:solidFill>
                            <a:schemeClr val="tx1"/>
                          </a:solidFill>
                          <a:effectLst/>
                        </a:rPr>
                        <a:t>承認を得るために提出する。</a:t>
                      </a:r>
                    </a:p>
                  </a:txBody>
                  <a:tcPr/>
                </a:tc>
                <a:extLst>
                  <a:ext uri="{0D108BD9-81ED-4DB2-BD59-A6C34878D82A}">
                    <a16:rowId xmlns:a16="http://schemas.microsoft.com/office/drawing/2014/main" val="1272686629"/>
                  </a:ext>
                </a:extLst>
              </a:tr>
              <a:tr h="2258625">
                <a:tc>
                  <a:txBody>
                    <a:bodyPr/>
                    <a:lstStyle/>
                    <a:p>
                      <a:r>
                        <a:rPr kumimoji="1" lang="ja-JP" altLang="en-US" sz="2000" dirty="0"/>
                        <a:t>顧客への通知が必要な場合</a:t>
                      </a:r>
                    </a:p>
                  </a:txBody>
                  <a:tcPr/>
                </a:tc>
                <a:tc>
                  <a:txBody>
                    <a:bodyPr/>
                    <a:lstStyle/>
                    <a:p>
                      <a:r>
                        <a:rPr kumimoji="1" lang="ja-JP" altLang="en-US" sz="2000" dirty="0"/>
                        <a:t>対象製品</a:t>
                      </a:r>
                    </a:p>
                  </a:txBody>
                  <a:tcPr/>
                </a:tc>
                <a:tc>
                  <a:txBody>
                    <a:bodyPr/>
                    <a:lstStyle/>
                    <a:p>
                      <a:pPr marL="457200" indent="-457200">
                        <a:buFont typeface="+mj-ea"/>
                        <a:buAutoNum type="circleNumDbPlain"/>
                      </a:pPr>
                      <a:r>
                        <a:rPr kumimoji="1" lang="ja-JP" altLang="en-US" sz="2000" dirty="0">
                          <a:solidFill>
                            <a:schemeClr val="tx1"/>
                          </a:solidFill>
                          <a:effectLst/>
                        </a:rPr>
                        <a:t>以前に承認された部品・製品に用いられたものとは異なる構造・材料の使用　➠　</a:t>
                      </a:r>
                      <a:r>
                        <a:rPr kumimoji="1" lang="en-US" altLang="ja-JP" sz="2000" dirty="0">
                          <a:solidFill>
                            <a:schemeClr val="tx1"/>
                          </a:solidFill>
                          <a:effectLst/>
                        </a:rPr>
                        <a:t>8.7.1.1</a:t>
                      </a:r>
                      <a:r>
                        <a:rPr kumimoji="1" lang="ja-JP" altLang="en-US" sz="2000" dirty="0">
                          <a:solidFill>
                            <a:schemeClr val="tx1"/>
                          </a:solidFill>
                          <a:effectLst/>
                        </a:rPr>
                        <a:t>逸脱許可に関するもの又は提出・承認が必要な場合③以外の場合</a:t>
                      </a:r>
                      <a:endParaRPr kumimoji="1" lang="en-US" altLang="ja-JP" sz="2000" dirty="0">
                        <a:solidFill>
                          <a:schemeClr val="tx1"/>
                        </a:solidFill>
                        <a:effectLst/>
                      </a:endParaRPr>
                    </a:p>
                    <a:p>
                      <a:pPr marL="457200" indent="-457200">
                        <a:buFont typeface="+mj-ea"/>
                        <a:buAutoNum type="circleNumDbPlain"/>
                      </a:pPr>
                      <a:r>
                        <a:rPr kumimoji="1" lang="ja-JP" altLang="en-US" sz="2000" dirty="0">
                          <a:solidFill>
                            <a:schemeClr val="tx1"/>
                          </a:solidFill>
                          <a:effectLst/>
                        </a:rPr>
                        <a:t>新規又は修正された治工具（消耗性治工具除く）、金型、鋳型、パターン等による生産　➠　ユニーク（固有）な形式機能により最終製品に影響する治工具のみ</a:t>
                      </a:r>
                    </a:p>
                  </a:txBody>
                  <a:tcPr/>
                </a:tc>
                <a:extLst>
                  <a:ext uri="{0D108BD9-81ED-4DB2-BD59-A6C34878D82A}">
                    <a16:rowId xmlns:a16="http://schemas.microsoft.com/office/drawing/2014/main" val="2391251936"/>
                  </a:ext>
                </a:extLst>
              </a:tr>
            </a:tbl>
          </a:graphicData>
        </a:graphic>
      </p:graphicFrame>
    </p:spTree>
    <p:extLst>
      <p:ext uri="{BB962C8B-B14F-4D97-AF65-F5344CB8AC3E}">
        <p14:creationId xmlns:p14="http://schemas.microsoft.com/office/powerpoint/2010/main" val="2575793720"/>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３．ＰＰＡＰ（要求事項の取扱い（提出・承認・通知））</a:t>
            </a:r>
          </a:p>
        </p:txBody>
      </p:sp>
      <p:graphicFrame>
        <p:nvGraphicFramePr>
          <p:cNvPr id="2" name="表 1">
            <a:extLst>
              <a:ext uri="{FF2B5EF4-FFF2-40B4-BE49-F238E27FC236}">
                <a16:creationId xmlns:a16="http://schemas.microsoft.com/office/drawing/2014/main" id="{BB5CE1B1-6147-4357-961A-6B1BD08CC9D3}"/>
              </a:ext>
            </a:extLst>
          </p:cNvPr>
          <p:cNvGraphicFramePr>
            <a:graphicFrameLocks noGrp="1"/>
          </p:cNvGraphicFramePr>
          <p:nvPr>
            <p:extLst>
              <p:ext uri="{D42A27DB-BD31-4B8C-83A1-F6EECF244321}">
                <p14:modId xmlns:p14="http://schemas.microsoft.com/office/powerpoint/2010/main" val="1046151475"/>
              </p:ext>
            </p:extLst>
          </p:nvPr>
        </p:nvGraphicFramePr>
        <p:xfrm>
          <a:off x="838199" y="1344058"/>
          <a:ext cx="10515600" cy="5012292"/>
        </p:xfrm>
        <a:graphic>
          <a:graphicData uri="http://schemas.openxmlformats.org/drawingml/2006/table">
            <a:tbl>
              <a:tblPr firstRow="1" bandRow="1">
                <a:tableStyleId>{5940675A-B579-460E-94D1-54222C63F5DA}</a:tableStyleId>
              </a:tblPr>
              <a:tblGrid>
                <a:gridCol w="1585512">
                  <a:extLst>
                    <a:ext uri="{9D8B030D-6E8A-4147-A177-3AD203B41FA5}">
                      <a16:colId xmlns:a16="http://schemas.microsoft.com/office/drawing/2014/main" val="880477916"/>
                    </a:ext>
                  </a:extLst>
                </a:gridCol>
                <a:gridCol w="1597446">
                  <a:extLst>
                    <a:ext uri="{9D8B030D-6E8A-4147-A177-3AD203B41FA5}">
                      <a16:colId xmlns:a16="http://schemas.microsoft.com/office/drawing/2014/main" val="306913459"/>
                    </a:ext>
                  </a:extLst>
                </a:gridCol>
                <a:gridCol w="7332642">
                  <a:extLst>
                    <a:ext uri="{9D8B030D-6E8A-4147-A177-3AD203B41FA5}">
                      <a16:colId xmlns:a16="http://schemas.microsoft.com/office/drawing/2014/main" val="1274507769"/>
                    </a:ext>
                  </a:extLst>
                </a:gridCol>
              </a:tblGrid>
              <a:tr h="452429">
                <a:tc>
                  <a:txBody>
                    <a:bodyPr/>
                    <a:lstStyle/>
                    <a:p>
                      <a:pPr algn="ctr"/>
                      <a:r>
                        <a:rPr kumimoji="1" lang="ja-JP" altLang="en-US" sz="2000" dirty="0"/>
                        <a:t>項目</a:t>
                      </a:r>
                    </a:p>
                  </a:txBody>
                  <a:tcPr>
                    <a:solidFill>
                      <a:schemeClr val="tx2">
                        <a:lumMod val="40000"/>
                        <a:lumOff val="60000"/>
                      </a:schemeClr>
                    </a:solidFill>
                  </a:tcPr>
                </a:tc>
                <a:tc gridSpan="2">
                  <a:txBody>
                    <a:bodyPr/>
                    <a:lstStyle/>
                    <a:p>
                      <a:pPr algn="ctr"/>
                      <a:r>
                        <a:rPr kumimoji="1" lang="ja-JP" altLang="en-US" sz="2000" dirty="0"/>
                        <a:t>内容</a:t>
                      </a:r>
                    </a:p>
                  </a:txBody>
                  <a:tcPr>
                    <a:solidFill>
                      <a:schemeClr val="tx2">
                        <a:lumMod val="40000"/>
                        <a:lumOff val="60000"/>
                      </a:schemeClr>
                    </a:solidFill>
                  </a:tcPr>
                </a:tc>
                <a:tc hMerge="1">
                  <a:txBody>
                    <a:bodyPr/>
                    <a:lstStyle/>
                    <a:p>
                      <a:pPr algn="ct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3192307974"/>
                  </a:ext>
                </a:extLst>
              </a:tr>
              <a:tr h="4559863">
                <a:tc>
                  <a:txBody>
                    <a:bodyPr/>
                    <a:lstStyle/>
                    <a:p>
                      <a:r>
                        <a:rPr kumimoji="1" lang="ja-JP" altLang="en-US" sz="2000" dirty="0"/>
                        <a:t>顧客への通知が必要な場合</a:t>
                      </a:r>
                    </a:p>
                  </a:txBody>
                  <a:tcPr/>
                </a:tc>
                <a:tc>
                  <a:txBody>
                    <a:bodyPr/>
                    <a:lstStyle/>
                    <a:p>
                      <a:r>
                        <a:rPr kumimoji="1" lang="ja-JP" altLang="en-US" sz="2000" dirty="0"/>
                        <a:t>対象製品</a:t>
                      </a:r>
                    </a:p>
                  </a:txBody>
                  <a:tcPr/>
                </a:tc>
                <a:tc>
                  <a:txBody>
                    <a:bodyPr/>
                    <a:lstStyle/>
                    <a:p>
                      <a:pPr marL="457200" indent="-457200">
                        <a:buFont typeface="+mj-ea"/>
                        <a:buAutoNum type="circleNumDbPlain" startAt="3"/>
                      </a:pPr>
                      <a:r>
                        <a:rPr kumimoji="1" lang="ja-JP" altLang="en-US" sz="2000" dirty="0"/>
                        <a:t>現在の治工具又は装置のアップグレード又は再配置後の生産</a:t>
                      </a:r>
                      <a:endParaRPr kumimoji="1" lang="en-US" altLang="ja-JP" sz="2000" dirty="0"/>
                    </a:p>
                    <a:p>
                      <a:pPr marL="457200" indent="-457200">
                        <a:buFont typeface="+mj-ea"/>
                        <a:buAutoNum type="circleNumDbPlain" startAt="3"/>
                      </a:pPr>
                      <a:r>
                        <a:rPr kumimoji="1" lang="ja-JP" altLang="en-US" sz="2000" dirty="0"/>
                        <a:t>異なる生産事業所から移設された治工具、装置による生産</a:t>
                      </a:r>
                      <a:endParaRPr kumimoji="1" lang="en-US" altLang="ja-JP" sz="2000" dirty="0"/>
                    </a:p>
                    <a:p>
                      <a:pPr marL="457200" indent="-457200">
                        <a:buFont typeface="+mj-ea"/>
                        <a:buAutoNum type="circleNumDbPlain" startAt="3"/>
                      </a:pPr>
                      <a:r>
                        <a:rPr kumimoji="1" lang="ja-JP" altLang="en-US" sz="2000" dirty="0"/>
                        <a:t>部品、非等価材料又はサービス（例：熱処理、メッキ）の供給者の変更</a:t>
                      </a:r>
                      <a:endParaRPr kumimoji="1" lang="en-US" altLang="ja-JP" sz="2000" dirty="0"/>
                    </a:p>
                    <a:p>
                      <a:pPr marL="457200" indent="-457200">
                        <a:buFont typeface="+mj-ea"/>
                        <a:buAutoNum type="circleNumDbPlain" startAt="3"/>
                      </a:pPr>
                      <a:r>
                        <a:rPr kumimoji="1" lang="ja-JP" altLang="en-US" sz="2000" dirty="0"/>
                        <a:t>量産に使用されない期間が</a:t>
                      </a:r>
                      <a:r>
                        <a:rPr kumimoji="1" lang="en-US" altLang="ja-JP" sz="2000" dirty="0"/>
                        <a:t>12</a:t>
                      </a:r>
                      <a:r>
                        <a:rPr kumimoji="1" lang="ja-JP" altLang="en-US" sz="2000" dirty="0"/>
                        <a:t>ヶ月以上あった治工具で製造される製品</a:t>
                      </a:r>
                      <a:endParaRPr kumimoji="1" lang="en-US" altLang="ja-JP" sz="2000" dirty="0"/>
                    </a:p>
                    <a:p>
                      <a:pPr marL="457200" indent="-457200">
                        <a:buFont typeface="+mj-ea"/>
                        <a:buAutoNum type="circleNumDbPlain" startAt="3"/>
                      </a:pPr>
                      <a:r>
                        <a:rPr kumimoji="1" lang="ja-JP" altLang="en-US" sz="2000" dirty="0"/>
                        <a:t>社内で製造又は供給者が製造する、生産部品のコンポーネント（構成）に関係する製品・プロセスの変更</a:t>
                      </a:r>
                      <a:endParaRPr kumimoji="1" lang="en-US" altLang="ja-JP" sz="2000" dirty="0"/>
                    </a:p>
                    <a:p>
                      <a:pPr marL="457200" indent="-457200">
                        <a:buFont typeface="+mj-ea"/>
                        <a:buAutoNum type="circleNumDbPlain" startAt="3"/>
                      </a:pPr>
                      <a:r>
                        <a:rPr kumimoji="1" lang="ja-JP" altLang="en-US" sz="2000" dirty="0"/>
                        <a:t>試験・検査方法の変更－新技術（合否判定基準に影響を与えない場合）</a:t>
                      </a:r>
                      <a:endParaRPr kumimoji="1" lang="en-US" altLang="ja-JP" sz="2000" dirty="0"/>
                    </a:p>
                    <a:p>
                      <a:pPr marL="457200" indent="-457200">
                        <a:buFont typeface="+mj-ea"/>
                        <a:buAutoNum type="circleNumDbPlain" startAt="3"/>
                      </a:pPr>
                      <a:r>
                        <a:rPr kumimoji="1" lang="ja-JP" altLang="en-US" sz="2000" dirty="0"/>
                        <a:t>（バルク材料）新規又は既存の供給者からの原材料の新規供給</a:t>
                      </a:r>
                      <a:endParaRPr kumimoji="1" lang="en-US" altLang="ja-JP" sz="2000" dirty="0"/>
                    </a:p>
                    <a:p>
                      <a:pPr marL="457200" indent="-457200">
                        <a:buFont typeface="+mj-ea"/>
                        <a:buAutoNum type="circleNumDbPlain" startAt="3"/>
                      </a:pPr>
                      <a:r>
                        <a:rPr kumimoji="1" lang="ja-JP" altLang="en-US" sz="2000" dirty="0"/>
                        <a:t>（バルク材料）製品外観属性の変更</a:t>
                      </a:r>
                    </a:p>
                  </a:txBody>
                  <a:tcPr/>
                </a:tc>
                <a:extLst>
                  <a:ext uri="{0D108BD9-81ED-4DB2-BD59-A6C34878D82A}">
                    <a16:rowId xmlns:a16="http://schemas.microsoft.com/office/drawing/2014/main" val="2085354520"/>
                  </a:ext>
                </a:extLst>
              </a:tr>
            </a:tbl>
          </a:graphicData>
        </a:graphic>
      </p:graphicFrame>
    </p:spTree>
    <p:extLst>
      <p:ext uri="{BB962C8B-B14F-4D97-AF65-F5344CB8AC3E}">
        <p14:creationId xmlns:p14="http://schemas.microsoft.com/office/powerpoint/2010/main" val="2220160655"/>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３．ＰＰＡＰ（要求事項の取扱い（提出・承認・通知））</a:t>
            </a:r>
          </a:p>
        </p:txBody>
      </p:sp>
      <p:graphicFrame>
        <p:nvGraphicFramePr>
          <p:cNvPr id="2" name="表 1">
            <a:extLst>
              <a:ext uri="{FF2B5EF4-FFF2-40B4-BE49-F238E27FC236}">
                <a16:creationId xmlns:a16="http://schemas.microsoft.com/office/drawing/2014/main" id="{BB5CE1B1-6147-4357-961A-6B1BD08CC9D3}"/>
              </a:ext>
            </a:extLst>
          </p:cNvPr>
          <p:cNvGraphicFramePr>
            <a:graphicFrameLocks noGrp="1"/>
          </p:cNvGraphicFramePr>
          <p:nvPr>
            <p:extLst>
              <p:ext uri="{D42A27DB-BD31-4B8C-83A1-F6EECF244321}">
                <p14:modId xmlns:p14="http://schemas.microsoft.com/office/powerpoint/2010/main" val="3465048667"/>
              </p:ext>
            </p:extLst>
          </p:nvPr>
        </p:nvGraphicFramePr>
        <p:xfrm>
          <a:off x="838199" y="1344058"/>
          <a:ext cx="10515600" cy="2292987"/>
        </p:xfrm>
        <a:graphic>
          <a:graphicData uri="http://schemas.openxmlformats.org/drawingml/2006/table">
            <a:tbl>
              <a:tblPr firstRow="1" bandRow="1">
                <a:tableStyleId>{5940675A-B579-460E-94D1-54222C63F5DA}</a:tableStyleId>
              </a:tblPr>
              <a:tblGrid>
                <a:gridCol w="1585512">
                  <a:extLst>
                    <a:ext uri="{9D8B030D-6E8A-4147-A177-3AD203B41FA5}">
                      <a16:colId xmlns:a16="http://schemas.microsoft.com/office/drawing/2014/main" val="880477916"/>
                    </a:ext>
                  </a:extLst>
                </a:gridCol>
                <a:gridCol w="1597446">
                  <a:extLst>
                    <a:ext uri="{9D8B030D-6E8A-4147-A177-3AD203B41FA5}">
                      <a16:colId xmlns:a16="http://schemas.microsoft.com/office/drawing/2014/main" val="306913459"/>
                    </a:ext>
                  </a:extLst>
                </a:gridCol>
                <a:gridCol w="7332642">
                  <a:extLst>
                    <a:ext uri="{9D8B030D-6E8A-4147-A177-3AD203B41FA5}">
                      <a16:colId xmlns:a16="http://schemas.microsoft.com/office/drawing/2014/main" val="1274507769"/>
                    </a:ext>
                  </a:extLst>
                </a:gridCol>
              </a:tblGrid>
              <a:tr h="188195">
                <a:tc>
                  <a:txBody>
                    <a:bodyPr/>
                    <a:lstStyle/>
                    <a:p>
                      <a:pPr algn="ctr"/>
                      <a:r>
                        <a:rPr kumimoji="1" lang="ja-JP" altLang="en-US" sz="2000" dirty="0"/>
                        <a:t>項目</a:t>
                      </a:r>
                    </a:p>
                  </a:txBody>
                  <a:tcPr>
                    <a:solidFill>
                      <a:schemeClr val="tx2">
                        <a:lumMod val="40000"/>
                        <a:lumOff val="60000"/>
                      </a:schemeClr>
                    </a:solidFill>
                  </a:tcPr>
                </a:tc>
                <a:tc gridSpan="2">
                  <a:txBody>
                    <a:bodyPr/>
                    <a:lstStyle/>
                    <a:p>
                      <a:pPr algn="ctr"/>
                      <a:r>
                        <a:rPr kumimoji="1" lang="ja-JP" altLang="en-US" sz="2000" dirty="0"/>
                        <a:t>内容</a:t>
                      </a:r>
                    </a:p>
                  </a:txBody>
                  <a:tcPr>
                    <a:solidFill>
                      <a:schemeClr val="tx2">
                        <a:lumMod val="40000"/>
                        <a:lumOff val="60000"/>
                      </a:schemeClr>
                    </a:solidFill>
                  </a:tcPr>
                </a:tc>
                <a:tc hMerge="1">
                  <a:txBody>
                    <a:bodyPr/>
                    <a:lstStyle/>
                    <a:p>
                      <a:pPr algn="ctr"/>
                      <a:endParaRPr kumimoji="1" lang="ja-JP" altLang="en-US" sz="2000" dirty="0"/>
                    </a:p>
                  </a:txBody>
                  <a:tcPr>
                    <a:solidFill>
                      <a:schemeClr val="tx2">
                        <a:lumMod val="40000"/>
                        <a:lumOff val="60000"/>
                      </a:schemeClr>
                    </a:solidFill>
                  </a:tcPr>
                </a:tc>
                <a:extLst>
                  <a:ext uri="{0D108BD9-81ED-4DB2-BD59-A6C34878D82A}">
                    <a16:rowId xmlns:a16="http://schemas.microsoft.com/office/drawing/2014/main" val="3192307974"/>
                  </a:ext>
                </a:extLst>
              </a:tr>
              <a:tr h="1896747">
                <a:tc>
                  <a:txBody>
                    <a:bodyPr/>
                    <a:lstStyle/>
                    <a:p>
                      <a:r>
                        <a:rPr kumimoji="1" lang="ja-JP" altLang="en-US" sz="2000" dirty="0"/>
                        <a:t>顧客への通知が必要な場合</a:t>
                      </a:r>
                    </a:p>
                  </a:txBody>
                  <a:tcPr/>
                </a:tc>
                <a:tc>
                  <a:txBody>
                    <a:bodyPr/>
                    <a:lstStyle/>
                    <a:p>
                      <a:r>
                        <a:rPr kumimoji="1" lang="ja-JP" altLang="en-US" sz="2000" dirty="0"/>
                        <a:t>通知の手順</a:t>
                      </a:r>
                    </a:p>
                  </a:txBody>
                  <a:tcPr/>
                </a:tc>
                <a:tc>
                  <a:txBody>
                    <a:bodyPr/>
                    <a:lstStyle/>
                    <a:p>
                      <a:pPr marL="457200" indent="-457200">
                        <a:buFont typeface="+mj-ea"/>
                        <a:buAutoNum type="circleNumDbPlain"/>
                      </a:pPr>
                      <a:r>
                        <a:rPr kumimoji="1" lang="ja-JP" altLang="en-US" sz="2000" dirty="0"/>
                        <a:t>設計、プロセス又は生産事業所に対する計画された変更について、顧客に通知する。</a:t>
                      </a:r>
                      <a:endParaRPr kumimoji="1" lang="en-US" altLang="ja-JP" sz="2000" dirty="0"/>
                    </a:p>
                    <a:p>
                      <a:pPr marL="457200" indent="-457200">
                        <a:buFont typeface="+mj-ea"/>
                        <a:buAutoNum type="circleNumDbPlain"/>
                      </a:pPr>
                      <a:r>
                        <a:rPr kumimoji="1" lang="ja-JP" altLang="en-US" sz="2000" dirty="0"/>
                        <a:t>提案された変更が通知され、顧客によって承認され、そしてその変更が実施された後に、</a:t>
                      </a:r>
                      <a:r>
                        <a:rPr kumimoji="1" lang="en-US" altLang="ja-JP" sz="2000" dirty="0"/>
                        <a:t>PPAP</a:t>
                      </a:r>
                      <a:r>
                        <a:rPr kumimoji="1" lang="ja-JP" altLang="en-US" sz="2000" dirty="0"/>
                        <a:t>提出が要求される。</a:t>
                      </a:r>
                      <a:endParaRPr kumimoji="1" lang="en-US" altLang="ja-JP" sz="2000" dirty="0"/>
                    </a:p>
                  </a:txBody>
                  <a:tcPr/>
                </a:tc>
                <a:extLst>
                  <a:ext uri="{0D108BD9-81ED-4DB2-BD59-A6C34878D82A}">
                    <a16:rowId xmlns:a16="http://schemas.microsoft.com/office/drawing/2014/main" val="2085354520"/>
                  </a:ext>
                </a:extLst>
              </a:tr>
            </a:tbl>
          </a:graphicData>
        </a:graphic>
      </p:graphicFrame>
    </p:spTree>
    <p:extLst>
      <p:ext uri="{BB962C8B-B14F-4D97-AF65-F5344CB8AC3E}">
        <p14:creationId xmlns:p14="http://schemas.microsoft.com/office/powerpoint/2010/main" val="1764861871"/>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3010124330"/>
              </p:ext>
            </p:extLst>
          </p:nvPr>
        </p:nvGraphicFramePr>
        <p:xfrm>
          <a:off x="838199" y="1344058"/>
          <a:ext cx="10515600" cy="5012293"/>
        </p:xfrm>
        <a:graphic>
          <a:graphicData uri="http://schemas.openxmlformats.org/drawingml/2006/table">
            <a:tbl>
              <a:tblPr firstRow="1" bandRow="1">
                <a:tableStyleId>{5940675A-B579-460E-94D1-54222C63F5DA}</a:tableStyleId>
              </a:tblPr>
              <a:tblGrid>
                <a:gridCol w="2146541">
                  <a:extLst>
                    <a:ext uri="{9D8B030D-6E8A-4147-A177-3AD203B41FA5}">
                      <a16:colId xmlns:a16="http://schemas.microsoft.com/office/drawing/2014/main" val="4271471820"/>
                    </a:ext>
                  </a:extLst>
                </a:gridCol>
                <a:gridCol w="8369059">
                  <a:extLst>
                    <a:ext uri="{9D8B030D-6E8A-4147-A177-3AD203B41FA5}">
                      <a16:colId xmlns:a16="http://schemas.microsoft.com/office/drawing/2014/main" val="540225043"/>
                    </a:ext>
                  </a:extLst>
                </a:gridCol>
              </a:tblGrid>
              <a:tr h="441707">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1461031">
                <a:tc>
                  <a:txBody>
                    <a:bodyPr/>
                    <a:lstStyle/>
                    <a:p>
                      <a:r>
                        <a:rPr kumimoji="1" lang="ja-JP" altLang="en-US" sz="2000" dirty="0"/>
                        <a:t>１．製品設計文書</a:t>
                      </a:r>
                    </a:p>
                  </a:txBody>
                  <a:tcPr/>
                </a:tc>
                <a:tc>
                  <a:txBody>
                    <a:bodyPr/>
                    <a:lstStyle/>
                    <a:p>
                      <a:pPr marL="457200" indent="-457200">
                        <a:buFont typeface="+mj-ea"/>
                        <a:buAutoNum type="circleNumDbPlain"/>
                      </a:pPr>
                      <a:r>
                        <a:rPr kumimoji="1" lang="ja-JP" altLang="en-US" sz="2000" dirty="0"/>
                        <a:t>製品図面、製品仕様書などの文書。</a:t>
                      </a:r>
                      <a:endParaRPr kumimoji="1" lang="en-US" altLang="ja-JP" sz="2000" dirty="0"/>
                    </a:p>
                    <a:p>
                      <a:pPr marL="457200" indent="-457200">
                        <a:buFont typeface="+mj-ea"/>
                        <a:buAutoNum type="circleNumDbPlain"/>
                      </a:pPr>
                      <a:r>
                        <a:rPr kumimoji="1" lang="ja-JP" altLang="en-US" sz="2000" dirty="0"/>
                        <a:t>その製品に使われる部品についての設計文書を含む。</a:t>
                      </a:r>
                      <a:endParaRPr kumimoji="1" lang="en-US" altLang="ja-JP" sz="2000" dirty="0"/>
                    </a:p>
                    <a:p>
                      <a:pPr marL="457200" indent="-457200">
                        <a:buFont typeface="+mj-ea"/>
                        <a:buAutoNum type="circleNumDbPlain"/>
                      </a:pPr>
                      <a:r>
                        <a:rPr kumimoji="1" lang="ja-JP" altLang="en-US" sz="2000" dirty="0"/>
                        <a:t>設計文書が電子媒体の場合、測定箇所を明記したハードコピーを添付する。</a:t>
                      </a:r>
                    </a:p>
                  </a:txBody>
                  <a:tcPr/>
                </a:tc>
                <a:extLst>
                  <a:ext uri="{0D108BD9-81ED-4DB2-BD59-A6C34878D82A}">
                    <a16:rowId xmlns:a16="http://schemas.microsoft.com/office/drawing/2014/main" val="3485946020"/>
                  </a:ext>
                </a:extLst>
              </a:tr>
              <a:tr h="781482">
                <a:tc>
                  <a:txBody>
                    <a:bodyPr/>
                    <a:lstStyle/>
                    <a:p>
                      <a:r>
                        <a:rPr kumimoji="1" lang="ja-JP" altLang="en-US" sz="2000" dirty="0"/>
                        <a:t>２．承認された技術変更文書</a:t>
                      </a:r>
                    </a:p>
                  </a:txBody>
                  <a:tcPr/>
                </a:tc>
                <a:tc>
                  <a:txBody>
                    <a:bodyPr/>
                    <a:lstStyle/>
                    <a:p>
                      <a:pPr marL="457200" indent="-457200">
                        <a:buFont typeface="+mj-ea"/>
                        <a:buAutoNum type="circleNumDbPlain"/>
                      </a:pPr>
                      <a:r>
                        <a:rPr kumimoji="1" lang="ja-JP" altLang="en-US" sz="2000" dirty="0"/>
                        <a:t>設計文書には反映されていないが、製品、部品又は治工具に組み入れられた技術変更に対する顧客承認の文書。</a:t>
                      </a:r>
                    </a:p>
                  </a:txBody>
                  <a:tcPr/>
                </a:tc>
                <a:extLst>
                  <a:ext uri="{0D108BD9-81ED-4DB2-BD59-A6C34878D82A}">
                    <a16:rowId xmlns:a16="http://schemas.microsoft.com/office/drawing/2014/main" val="3261737993"/>
                  </a:ext>
                </a:extLst>
              </a:tr>
              <a:tr h="781482">
                <a:tc>
                  <a:txBody>
                    <a:bodyPr/>
                    <a:lstStyle/>
                    <a:p>
                      <a:r>
                        <a:rPr kumimoji="1" lang="ja-JP" altLang="en-US" sz="2000" dirty="0"/>
                        <a:t>３．顧客技術部門承認</a:t>
                      </a:r>
                    </a:p>
                  </a:txBody>
                  <a:tcPr/>
                </a:tc>
                <a:tc>
                  <a:txBody>
                    <a:bodyPr/>
                    <a:lstStyle/>
                    <a:p>
                      <a:pPr marL="457200" indent="-457200">
                        <a:buFont typeface="+mj-ea"/>
                        <a:buAutoNum type="circleNumDbPlain"/>
                      </a:pPr>
                      <a:r>
                        <a:rPr kumimoji="1" lang="ja-JP" altLang="en-US" sz="2000" dirty="0"/>
                        <a:t>要求事項のうち、事前に顧客の技術部門の承認を得ている場合は、その証拠。</a:t>
                      </a:r>
                    </a:p>
                  </a:txBody>
                  <a:tcPr/>
                </a:tc>
                <a:extLst>
                  <a:ext uri="{0D108BD9-81ED-4DB2-BD59-A6C34878D82A}">
                    <a16:rowId xmlns:a16="http://schemas.microsoft.com/office/drawing/2014/main" val="3722862540"/>
                  </a:ext>
                </a:extLst>
              </a:tr>
              <a:tr h="781482">
                <a:tc>
                  <a:txBody>
                    <a:bodyPr/>
                    <a:lstStyle/>
                    <a:p>
                      <a:r>
                        <a:rPr kumimoji="1" lang="ja-JP" altLang="en-US" sz="2000" dirty="0"/>
                        <a:t>４．設計</a:t>
                      </a:r>
                      <a:r>
                        <a:rPr kumimoji="1" lang="en-US" altLang="ja-JP" sz="2000" dirty="0"/>
                        <a:t>FMEA</a:t>
                      </a:r>
                      <a:endParaRPr kumimoji="1" lang="ja-JP" altLang="en-US" sz="2000" dirty="0"/>
                    </a:p>
                  </a:txBody>
                  <a:tcPr/>
                </a:tc>
                <a:tc>
                  <a:txBody>
                    <a:bodyPr/>
                    <a:lstStyle/>
                    <a:p>
                      <a:pPr marL="457200" indent="-457200">
                        <a:buFont typeface="+mj-ea"/>
                        <a:buAutoNum type="circleNumDbPlain"/>
                      </a:pPr>
                      <a:r>
                        <a:rPr kumimoji="1" lang="ja-JP" altLang="en-US" sz="2000" dirty="0"/>
                        <a:t>顧客指定の要求事項（例：</a:t>
                      </a:r>
                      <a:r>
                        <a:rPr kumimoji="1" lang="en-US" altLang="ja-JP" sz="2000" dirty="0"/>
                        <a:t>FMEA</a:t>
                      </a:r>
                      <a:r>
                        <a:rPr kumimoji="1" lang="ja-JP" altLang="en-US" sz="2000" dirty="0"/>
                        <a:t>参照マニュアル）に従った設計ＦＭＥＡ文書。</a:t>
                      </a:r>
                    </a:p>
                  </a:txBody>
                  <a:tcPr/>
                </a:tc>
                <a:extLst>
                  <a:ext uri="{0D108BD9-81ED-4DB2-BD59-A6C34878D82A}">
                    <a16:rowId xmlns:a16="http://schemas.microsoft.com/office/drawing/2014/main" val="185281019"/>
                  </a:ext>
                </a:extLst>
              </a:tr>
              <a:tr h="765109">
                <a:tc>
                  <a:txBody>
                    <a:bodyPr/>
                    <a:lstStyle/>
                    <a:p>
                      <a:r>
                        <a:rPr kumimoji="1" lang="ja-JP" altLang="en-US" sz="2000" dirty="0"/>
                        <a:t>５．プロセスフロー図</a:t>
                      </a:r>
                    </a:p>
                  </a:txBody>
                  <a:tcPr/>
                </a:tc>
                <a:tc>
                  <a:txBody>
                    <a:bodyPr/>
                    <a:lstStyle/>
                    <a:p>
                      <a:pPr marL="457200" indent="-457200">
                        <a:buFont typeface="+mj-ea"/>
                        <a:buAutoNum type="circleNumDbPlain"/>
                      </a:pPr>
                      <a:r>
                        <a:rPr kumimoji="1" lang="ja-JP" altLang="en-US" sz="2000" dirty="0"/>
                        <a:t>製造プロセスのステップと、つながりを明記したプロセスフロー図。</a:t>
                      </a:r>
                    </a:p>
                  </a:txBody>
                  <a:tcPr/>
                </a:tc>
                <a:extLst>
                  <a:ext uri="{0D108BD9-81ED-4DB2-BD59-A6C34878D82A}">
                    <a16:rowId xmlns:a16="http://schemas.microsoft.com/office/drawing/2014/main" val="1807728026"/>
                  </a:ext>
                </a:extLst>
              </a:tr>
            </a:tbl>
          </a:graphicData>
        </a:graphic>
      </p:graphicFrame>
    </p:spTree>
    <p:extLst>
      <p:ext uri="{BB962C8B-B14F-4D97-AF65-F5344CB8AC3E}">
        <p14:creationId xmlns:p14="http://schemas.microsoft.com/office/powerpoint/2010/main" val="496440495"/>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1916286559"/>
              </p:ext>
            </p:extLst>
          </p:nvPr>
        </p:nvGraphicFramePr>
        <p:xfrm>
          <a:off x="838199" y="1344058"/>
          <a:ext cx="10515600" cy="5012292"/>
        </p:xfrm>
        <a:graphic>
          <a:graphicData uri="http://schemas.openxmlformats.org/drawingml/2006/table">
            <a:tbl>
              <a:tblPr firstRow="1" bandRow="1">
                <a:tableStyleId>{5940675A-B579-460E-94D1-54222C63F5DA}</a:tableStyleId>
              </a:tblPr>
              <a:tblGrid>
                <a:gridCol w="1982639">
                  <a:extLst>
                    <a:ext uri="{9D8B030D-6E8A-4147-A177-3AD203B41FA5}">
                      <a16:colId xmlns:a16="http://schemas.microsoft.com/office/drawing/2014/main" val="4271471820"/>
                    </a:ext>
                  </a:extLst>
                </a:gridCol>
                <a:gridCol w="8532961">
                  <a:extLst>
                    <a:ext uri="{9D8B030D-6E8A-4147-A177-3AD203B41FA5}">
                      <a16:colId xmlns:a16="http://schemas.microsoft.com/office/drawing/2014/main" val="540225043"/>
                    </a:ext>
                  </a:extLst>
                </a:gridCol>
              </a:tblGrid>
              <a:tr h="495514">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934257">
                <a:tc>
                  <a:txBody>
                    <a:bodyPr/>
                    <a:lstStyle/>
                    <a:p>
                      <a:r>
                        <a:rPr kumimoji="1" lang="ja-JP" altLang="en-US" sz="2000" dirty="0"/>
                        <a:t>６．工程ＦＭＥＡ</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ea"/>
                        <a:buAutoNum type="circleNumDbPlain"/>
                        <a:tabLst/>
                        <a:defRPr/>
                      </a:pPr>
                      <a:r>
                        <a:rPr kumimoji="1" lang="ja-JP" altLang="en-US" sz="2000" dirty="0"/>
                        <a:t>顧客指定の要求事項（例：</a:t>
                      </a:r>
                      <a:r>
                        <a:rPr kumimoji="1" lang="en-US" altLang="ja-JP" sz="2000" dirty="0"/>
                        <a:t>FMEA</a:t>
                      </a:r>
                      <a:r>
                        <a:rPr kumimoji="1" lang="ja-JP" altLang="en-US" sz="2000" dirty="0"/>
                        <a:t>参照マニュアル）に従った工程ＦＭＥＡ文書。</a:t>
                      </a:r>
                    </a:p>
                  </a:txBody>
                  <a:tcPr/>
                </a:tc>
                <a:extLst>
                  <a:ext uri="{0D108BD9-81ED-4DB2-BD59-A6C34878D82A}">
                    <a16:rowId xmlns:a16="http://schemas.microsoft.com/office/drawing/2014/main" val="3485946020"/>
                  </a:ext>
                </a:extLst>
              </a:tr>
              <a:tr h="1231491">
                <a:tc>
                  <a:txBody>
                    <a:bodyPr/>
                    <a:lstStyle/>
                    <a:p>
                      <a:r>
                        <a:rPr kumimoji="1" lang="ja-JP" altLang="en-US" sz="2000" dirty="0"/>
                        <a:t>７．コントロールプラン</a:t>
                      </a:r>
                    </a:p>
                  </a:txBody>
                  <a:tcPr/>
                </a:tc>
                <a:tc>
                  <a:txBody>
                    <a:bodyPr/>
                    <a:lstStyle/>
                    <a:p>
                      <a:pPr marL="457200" indent="-457200">
                        <a:buFont typeface="+mj-ea"/>
                        <a:buAutoNum type="circleNumDbPlain"/>
                      </a:pPr>
                      <a:r>
                        <a:rPr kumimoji="1" lang="ja-JP" altLang="en-US" sz="2000" dirty="0"/>
                        <a:t>製造工程の管理に用いるすべての方法を規定した、顧客指定の要求事項（例：</a:t>
                      </a:r>
                      <a:r>
                        <a:rPr kumimoji="1" lang="en-US" altLang="ja-JP" sz="2000" dirty="0"/>
                        <a:t>APQP</a:t>
                      </a:r>
                      <a:r>
                        <a:rPr kumimoji="1" lang="ja-JP" altLang="en-US" sz="2000" dirty="0"/>
                        <a:t>参照マニュアル、</a:t>
                      </a:r>
                      <a:r>
                        <a:rPr kumimoji="1" lang="en-US" altLang="ja-JP" sz="2000" dirty="0"/>
                        <a:t>IATF16949</a:t>
                      </a:r>
                      <a:r>
                        <a:rPr kumimoji="1" lang="ja-JP" altLang="en-US" sz="2000" dirty="0"/>
                        <a:t>附属書</a:t>
                      </a:r>
                      <a:r>
                        <a:rPr kumimoji="1" lang="en-US" altLang="ja-JP" sz="2000" dirty="0"/>
                        <a:t>A</a:t>
                      </a:r>
                      <a:r>
                        <a:rPr kumimoji="1" lang="ja-JP" altLang="en-US" sz="2000" dirty="0"/>
                        <a:t>）に適合したコントロールプラン。</a:t>
                      </a:r>
                    </a:p>
                  </a:txBody>
                  <a:tcPr/>
                </a:tc>
                <a:extLst>
                  <a:ext uri="{0D108BD9-81ED-4DB2-BD59-A6C34878D82A}">
                    <a16:rowId xmlns:a16="http://schemas.microsoft.com/office/drawing/2014/main" val="3261737993"/>
                  </a:ext>
                </a:extLst>
              </a:tr>
              <a:tr h="2351030">
                <a:tc>
                  <a:txBody>
                    <a:bodyPr/>
                    <a:lstStyle/>
                    <a:p>
                      <a:r>
                        <a:rPr kumimoji="1" lang="ja-JP" altLang="en-US" sz="2000" dirty="0"/>
                        <a:t>８．測定システム解析（</a:t>
                      </a:r>
                      <a:r>
                        <a:rPr kumimoji="1" lang="en-US" altLang="ja-JP" sz="2000" dirty="0"/>
                        <a:t>MSA</a:t>
                      </a:r>
                      <a:r>
                        <a:rPr kumimoji="1" lang="ja-JP" altLang="en-US" sz="2000" dirty="0"/>
                        <a:t>）</a:t>
                      </a:r>
                    </a:p>
                  </a:txBody>
                  <a:tcPr/>
                </a:tc>
                <a:tc>
                  <a:txBody>
                    <a:bodyPr/>
                    <a:lstStyle/>
                    <a:p>
                      <a:pPr marL="457200" indent="-457200">
                        <a:buFont typeface="+mj-ea"/>
                        <a:buAutoNum type="circleNumDbPlain"/>
                      </a:pPr>
                      <a:r>
                        <a:rPr kumimoji="1" lang="ja-JP" altLang="en-US" sz="2000" dirty="0"/>
                        <a:t>新規又は変更されたゲージ、測定及び試験装置のすべてに対して、適切な</a:t>
                      </a:r>
                      <a:r>
                        <a:rPr kumimoji="1" lang="en-US" altLang="ja-JP" sz="2000" dirty="0"/>
                        <a:t>MSA</a:t>
                      </a:r>
                      <a:r>
                        <a:rPr kumimoji="1" lang="ja-JP" altLang="en-US" sz="2000" dirty="0"/>
                        <a:t>調査を行う。</a:t>
                      </a:r>
                      <a:endParaRPr kumimoji="1" lang="en-US" altLang="ja-JP" sz="2000" dirty="0"/>
                    </a:p>
                    <a:p>
                      <a:pPr marL="457200" indent="-457200">
                        <a:buFont typeface="+mj-ea"/>
                        <a:buAutoNum type="circleNumDbPlain"/>
                      </a:pPr>
                      <a:r>
                        <a:rPr kumimoji="1" lang="en-US" altLang="ja-JP" sz="2000" dirty="0"/>
                        <a:t>MSA</a:t>
                      </a:r>
                      <a:r>
                        <a:rPr kumimoji="1" lang="ja-JP" altLang="en-US" sz="2000" dirty="0"/>
                        <a:t>調査の方法には、例えば、ゲージ</a:t>
                      </a:r>
                      <a:r>
                        <a:rPr kumimoji="1" lang="en-US" altLang="ja-JP" sz="2000" dirty="0"/>
                        <a:t>R&amp;R</a:t>
                      </a:r>
                      <a:r>
                        <a:rPr kumimoji="1" lang="ja-JP" altLang="en-US" sz="2000" dirty="0" err="1"/>
                        <a:t>、</a:t>
                      </a:r>
                      <a:r>
                        <a:rPr kumimoji="1" lang="ja-JP" altLang="en-US" sz="2000" dirty="0"/>
                        <a:t>偏り、直線性、安定性調査などがある。（</a:t>
                      </a:r>
                      <a:r>
                        <a:rPr kumimoji="1" lang="en-US" altLang="ja-JP" sz="2000" dirty="0"/>
                        <a:t>MSA</a:t>
                      </a:r>
                      <a:r>
                        <a:rPr kumimoji="1" lang="ja-JP" altLang="en-US" sz="2000" dirty="0"/>
                        <a:t>参照マニュアル）</a:t>
                      </a:r>
                      <a:endParaRPr kumimoji="1" lang="en-US" altLang="ja-JP" sz="2000" dirty="0"/>
                    </a:p>
                    <a:p>
                      <a:pPr marL="457200" indent="-457200">
                        <a:buFont typeface="+mj-ea"/>
                        <a:buAutoNum type="circleNumDbPlain"/>
                      </a:pPr>
                      <a:r>
                        <a:rPr kumimoji="1" lang="ja-JP" altLang="en-US" sz="2000" dirty="0"/>
                        <a:t>コントロールプランに記載された測定システムが、</a:t>
                      </a:r>
                      <a:r>
                        <a:rPr kumimoji="1" lang="en-US" altLang="ja-JP" sz="2000" dirty="0"/>
                        <a:t>MSA</a:t>
                      </a:r>
                      <a:r>
                        <a:rPr kumimoji="1" lang="ja-JP" altLang="en-US" sz="2000" dirty="0"/>
                        <a:t>調査の対象となる。</a:t>
                      </a:r>
                    </a:p>
                  </a:txBody>
                  <a:tcPr/>
                </a:tc>
                <a:extLst>
                  <a:ext uri="{0D108BD9-81ED-4DB2-BD59-A6C34878D82A}">
                    <a16:rowId xmlns:a16="http://schemas.microsoft.com/office/drawing/2014/main" val="3722862540"/>
                  </a:ext>
                </a:extLst>
              </a:tr>
            </a:tbl>
          </a:graphicData>
        </a:graphic>
      </p:graphicFrame>
    </p:spTree>
    <p:extLst>
      <p:ext uri="{BB962C8B-B14F-4D97-AF65-F5344CB8AC3E}">
        <p14:creationId xmlns:p14="http://schemas.microsoft.com/office/powerpoint/2010/main" val="3648252974"/>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2702164944"/>
              </p:ext>
            </p:extLst>
          </p:nvPr>
        </p:nvGraphicFramePr>
        <p:xfrm>
          <a:off x="838199" y="1344058"/>
          <a:ext cx="10515600" cy="5012293"/>
        </p:xfrm>
        <a:graphic>
          <a:graphicData uri="http://schemas.openxmlformats.org/drawingml/2006/table">
            <a:tbl>
              <a:tblPr firstRow="1" bandRow="1">
                <a:tableStyleId>{5940675A-B579-460E-94D1-54222C63F5DA}</a:tableStyleId>
              </a:tblPr>
              <a:tblGrid>
                <a:gridCol w="1905001">
                  <a:extLst>
                    <a:ext uri="{9D8B030D-6E8A-4147-A177-3AD203B41FA5}">
                      <a16:colId xmlns:a16="http://schemas.microsoft.com/office/drawing/2014/main" val="4271471820"/>
                    </a:ext>
                  </a:extLst>
                </a:gridCol>
                <a:gridCol w="8610599">
                  <a:extLst>
                    <a:ext uri="{9D8B030D-6E8A-4147-A177-3AD203B41FA5}">
                      <a16:colId xmlns:a16="http://schemas.microsoft.com/office/drawing/2014/main" val="540225043"/>
                    </a:ext>
                  </a:extLst>
                </a:gridCol>
              </a:tblGrid>
              <a:tr h="479754">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2000653">
                <a:tc>
                  <a:txBody>
                    <a:bodyPr/>
                    <a:lstStyle/>
                    <a:p>
                      <a:r>
                        <a:rPr kumimoji="1" lang="ja-JP" altLang="en-US" sz="2000" dirty="0"/>
                        <a:t>９．寸法測定結果</a:t>
                      </a:r>
                    </a:p>
                  </a:txBody>
                  <a:tcPr/>
                </a:tc>
                <a:tc>
                  <a:txBody>
                    <a:bodyPr/>
                    <a:lstStyle/>
                    <a:p>
                      <a:pPr marL="457200" indent="-457200">
                        <a:buFont typeface="+mj-ea"/>
                        <a:buAutoNum type="circleNumDbPlain"/>
                      </a:pPr>
                      <a:r>
                        <a:rPr kumimoji="1" lang="ja-JP" altLang="en-US" sz="2000" dirty="0">
                          <a:solidFill>
                            <a:schemeClr val="tx1"/>
                          </a:solidFill>
                          <a:effectLst/>
                        </a:rPr>
                        <a:t>設計文書及びコントロールプランに規定された全ての寸法について、寸法検査を実施する。</a:t>
                      </a:r>
                      <a:endParaRPr kumimoji="1" lang="en-US" altLang="ja-JP" sz="2000" dirty="0">
                        <a:solidFill>
                          <a:schemeClr val="tx1"/>
                        </a:solidFill>
                        <a:effectLst/>
                      </a:endParaRPr>
                    </a:p>
                    <a:p>
                      <a:pPr marL="457200" indent="-457200">
                        <a:buFont typeface="+mj-ea"/>
                        <a:buAutoNum type="circleNumDbPlain"/>
                      </a:pPr>
                      <a:r>
                        <a:rPr kumimoji="1" lang="ja-JP" altLang="en-US" sz="2000" dirty="0"/>
                        <a:t>各製造プロセス（例：生産ライン及びキャビティ、鋳型、パターン及び金型）ごとに寸法測定を行う。</a:t>
                      </a:r>
                      <a:endParaRPr kumimoji="1" lang="en-US" altLang="ja-JP" sz="2000" dirty="0"/>
                    </a:p>
                    <a:p>
                      <a:pPr marL="457200" indent="-457200">
                        <a:buFont typeface="+mj-ea"/>
                        <a:buAutoNum type="circleNumDbPlain"/>
                      </a:pPr>
                      <a:r>
                        <a:rPr kumimoji="1" lang="ja-JP" altLang="en-US" sz="2000" dirty="0"/>
                        <a:t>寸法検査に対する要求事項は、</a:t>
                      </a:r>
                      <a:r>
                        <a:rPr kumimoji="1" lang="en-US" altLang="ja-JP" sz="2000" dirty="0"/>
                        <a:t>IATF16949</a:t>
                      </a:r>
                      <a:r>
                        <a:rPr kumimoji="1" lang="ja-JP" altLang="en-US" sz="2000" dirty="0"/>
                        <a:t>要求事項</a:t>
                      </a:r>
                      <a:r>
                        <a:rPr kumimoji="1" lang="en-US" altLang="ja-JP" sz="2000" dirty="0"/>
                        <a:t>8.6.2</a:t>
                      </a:r>
                      <a:r>
                        <a:rPr kumimoji="1" lang="ja-JP" altLang="en-US" sz="2000" dirty="0"/>
                        <a:t>ではレイアウト検査として規定されている。</a:t>
                      </a:r>
                      <a:endParaRPr kumimoji="1" lang="en-US" altLang="ja-JP" sz="2000" dirty="0"/>
                    </a:p>
                  </a:txBody>
                  <a:tcPr/>
                </a:tc>
                <a:extLst>
                  <a:ext uri="{0D108BD9-81ED-4DB2-BD59-A6C34878D82A}">
                    <a16:rowId xmlns:a16="http://schemas.microsoft.com/office/drawing/2014/main" val="3485946020"/>
                  </a:ext>
                </a:extLst>
              </a:tr>
              <a:tr h="1683089">
                <a:tc>
                  <a:txBody>
                    <a:bodyPr/>
                    <a:lstStyle/>
                    <a:p>
                      <a:r>
                        <a:rPr kumimoji="1" lang="ja-JP" altLang="en-US" sz="2000" dirty="0"/>
                        <a:t>１０．材料試験・性能試験結果</a:t>
                      </a:r>
                    </a:p>
                  </a:txBody>
                  <a:tcPr/>
                </a:tc>
                <a:tc>
                  <a:txBody>
                    <a:bodyPr/>
                    <a:lstStyle/>
                    <a:p>
                      <a:pPr marL="457200" indent="-457200">
                        <a:buFont typeface="+mj-ea"/>
                        <a:buAutoNum type="circleNumDbPlain"/>
                      </a:pPr>
                      <a:r>
                        <a:rPr kumimoji="1" lang="ja-JP" altLang="en-US" sz="2000" dirty="0"/>
                        <a:t>次の各要求事項が、設計文書又はコントロールプランで規定されている場合、全ての製品・材料に対して試験を行う。</a:t>
                      </a:r>
                      <a:endParaRPr kumimoji="1" lang="en-US" altLang="ja-JP" sz="2000" dirty="0"/>
                    </a:p>
                    <a:p>
                      <a:pPr marL="800100" lvl="1" indent="-342900">
                        <a:buFont typeface="Arial" panose="020B0604020202020204" pitchFamily="34" charset="0"/>
                        <a:buChar char="•"/>
                      </a:pPr>
                      <a:r>
                        <a:rPr kumimoji="1" lang="ja-JP" altLang="en-US" sz="2000" dirty="0"/>
                        <a:t>化学的、物理的又は冶金（やきん：鉱物からの金属材料採取）的要求事項</a:t>
                      </a:r>
                      <a:endParaRPr kumimoji="1" lang="en-US" altLang="ja-JP" sz="2000" dirty="0"/>
                    </a:p>
                    <a:p>
                      <a:pPr marL="800100" lvl="1" indent="-342900">
                        <a:buFont typeface="Arial" panose="020B0604020202020204" pitchFamily="34" charset="0"/>
                        <a:buChar char="•"/>
                      </a:pPr>
                      <a:r>
                        <a:rPr kumimoji="1" lang="ja-JP" altLang="en-US" sz="2000" dirty="0"/>
                        <a:t>製造、機能に関する要求事項</a:t>
                      </a:r>
                    </a:p>
                  </a:txBody>
                  <a:tcPr/>
                </a:tc>
                <a:extLst>
                  <a:ext uri="{0D108BD9-81ED-4DB2-BD59-A6C34878D82A}">
                    <a16:rowId xmlns:a16="http://schemas.microsoft.com/office/drawing/2014/main" val="3261737993"/>
                  </a:ext>
                </a:extLst>
              </a:tr>
              <a:tr h="848797">
                <a:tc>
                  <a:txBody>
                    <a:bodyPr/>
                    <a:lstStyle/>
                    <a:p>
                      <a:r>
                        <a:rPr kumimoji="1" lang="ja-JP" altLang="en-US" sz="2000" dirty="0"/>
                        <a:t>１１．初期工程調査</a:t>
                      </a:r>
                    </a:p>
                  </a:txBody>
                  <a:tcPr/>
                </a:tc>
                <a:tc>
                  <a:txBody>
                    <a:bodyPr/>
                    <a:lstStyle/>
                    <a:p>
                      <a:pPr marL="457200" indent="-457200">
                        <a:buFont typeface="+mj-ea"/>
                        <a:buAutoNum type="circleNumDbPlain"/>
                      </a:pPr>
                      <a:r>
                        <a:rPr kumimoji="1" lang="ja-JP" altLang="en-US" sz="2000" dirty="0"/>
                        <a:t>顧客又は組織が指定したすべての特殊特性に対して、初期工程能力（</a:t>
                      </a:r>
                      <a:r>
                        <a:rPr kumimoji="1" lang="en-US" altLang="ja-JP" sz="2000" dirty="0" err="1"/>
                        <a:t>Cpk</a:t>
                      </a:r>
                      <a:r>
                        <a:rPr kumimoji="1" lang="ja-JP" altLang="en-US" sz="2000" dirty="0"/>
                        <a:t>）又は初期工程性能（</a:t>
                      </a:r>
                      <a:r>
                        <a:rPr kumimoji="1" lang="en-US" altLang="ja-JP" sz="2000" dirty="0" err="1"/>
                        <a:t>Ppk</a:t>
                      </a:r>
                      <a:r>
                        <a:rPr kumimoji="1" lang="ja-JP" altLang="en-US" sz="2000" dirty="0"/>
                        <a:t>）の調査を行う。</a:t>
                      </a:r>
                    </a:p>
                  </a:txBody>
                  <a:tcPr/>
                </a:tc>
                <a:extLst>
                  <a:ext uri="{0D108BD9-81ED-4DB2-BD59-A6C34878D82A}">
                    <a16:rowId xmlns:a16="http://schemas.microsoft.com/office/drawing/2014/main" val="3722862540"/>
                  </a:ext>
                </a:extLst>
              </a:tr>
            </a:tbl>
          </a:graphicData>
        </a:graphic>
      </p:graphicFrame>
    </p:spTree>
    <p:extLst>
      <p:ext uri="{BB962C8B-B14F-4D97-AF65-F5344CB8AC3E}">
        <p14:creationId xmlns:p14="http://schemas.microsoft.com/office/powerpoint/2010/main" val="1331460324"/>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3487057021"/>
              </p:ext>
            </p:extLst>
          </p:nvPr>
        </p:nvGraphicFramePr>
        <p:xfrm>
          <a:off x="838199" y="1344056"/>
          <a:ext cx="10515600" cy="5012291"/>
        </p:xfrm>
        <a:graphic>
          <a:graphicData uri="http://schemas.openxmlformats.org/drawingml/2006/table">
            <a:tbl>
              <a:tblPr firstRow="1" bandRow="1">
                <a:tableStyleId>{5940675A-B579-460E-94D1-54222C63F5DA}</a:tableStyleId>
              </a:tblPr>
              <a:tblGrid>
                <a:gridCol w="1913627">
                  <a:extLst>
                    <a:ext uri="{9D8B030D-6E8A-4147-A177-3AD203B41FA5}">
                      <a16:colId xmlns:a16="http://schemas.microsoft.com/office/drawing/2014/main" val="4271471820"/>
                    </a:ext>
                  </a:extLst>
                </a:gridCol>
                <a:gridCol w="8601973">
                  <a:extLst>
                    <a:ext uri="{9D8B030D-6E8A-4147-A177-3AD203B41FA5}">
                      <a16:colId xmlns:a16="http://schemas.microsoft.com/office/drawing/2014/main" val="540225043"/>
                    </a:ext>
                  </a:extLst>
                </a:gridCol>
              </a:tblGrid>
              <a:tr h="869443">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4142848">
                <a:tc>
                  <a:txBody>
                    <a:bodyPr/>
                    <a:lstStyle/>
                    <a:p>
                      <a:r>
                        <a:rPr kumimoji="1" lang="ja-JP" altLang="en-US" sz="2000" dirty="0"/>
                        <a:t>１１．初期工程調査</a:t>
                      </a:r>
                    </a:p>
                  </a:txBody>
                  <a:tcPr/>
                </a:tc>
                <a:tc>
                  <a:txBody>
                    <a:bodyPr/>
                    <a:lstStyle/>
                    <a:p>
                      <a:pPr marL="457200" indent="-457200">
                        <a:buFont typeface="+mj-ea"/>
                        <a:buAutoNum type="circleNumDbPlain" startAt="2"/>
                      </a:pPr>
                      <a:r>
                        <a:rPr kumimoji="1" lang="en-US" altLang="ja-JP" sz="2000" dirty="0">
                          <a:solidFill>
                            <a:schemeClr val="tx1"/>
                          </a:solidFill>
                          <a:effectLst/>
                        </a:rPr>
                        <a:t>PPAP</a:t>
                      </a:r>
                      <a:r>
                        <a:rPr kumimoji="1" lang="ja-JP" altLang="en-US" sz="2000" dirty="0">
                          <a:solidFill>
                            <a:schemeClr val="tx1"/>
                          </a:solidFill>
                          <a:effectLst/>
                        </a:rPr>
                        <a:t>提出に先立って、初期工程能力・初期工程性能評価のための指標に対する顧客の同意を得る。</a:t>
                      </a:r>
                      <a:endParaRPr kumimoji="1" lang="en-US" altLang="ja-JP" sz="2000" dirty="0">
                        <a:solidFill>
                          <a:schemeClr val="tx1"/>
                        </a:solidFill>
                        <a:effectLst/>
                      </a:endParaRPr>
                    </a:p>
                    <a:p>
                      <a:pPr marL="457200" indent="-457200">
                        <a:buFont typeface="+mj-ea"/>
                        <a:buAutoNum type="circleNumDbPlain" startAt="2"/>
                      </a:pPr>
                      <a:r>
                        <a:rPr kumimoji="1" lang="en-US" altLang="ja-JP" sz="2000" dirty="0" err="1"/>
                        <a:t>X</a:t>
                      </a:r>
                      <a:r>
                        <a:rPr kumimoji="1" lang="en-US" altLang="ja-JP" sz="1400" dirty="0" err="1"/>
                        <a:t>bar</a:t>
                      </a:r>
                      <a:r>
                        <a:rPr kumimoji="1" lang="en-US" altLang="ja-JP" sz="2400" dirty="0"/>
                        <a:t>-</a:t>
                      </a:r>
                      <a:r>
                        <a:rPr kumimoji="1" lang="en-US" altLang="ja-JP" sz="2000" dirty="0"/>
                        <a:t>R</a:t>
                      </a:r>
                      <a:r>
                        <a:rPr kumimoji="1" lang="ja-JP" altLang="en-US" sz="2000" dirty="0"/>
                        <a:t>管理図を用いて調査が可能な特性については、連続した</a:t>
                      </a:r>
                      <a:r>
                        <a:rPr kumimoji="1" lang="en-US" altLang="ja-JP" sz="2000" dirty="0"/>
                        <a:t>100</a:t>
                      </a:r>
                      <a:r>
                        <a:rPr kumimoji="1" lang="ja-JP" altLang="en-US" sz="2000" dirty="0"/>
                        <a:t>個以上（サブグループ</a:t>
                      </a:r>
                      <a:r>
                        <a:rPr kumimoji="1" lang="en-US" altLang="ja-JP" sz="2000" dirty="0"/>
                        <a:t>25</a:t>
                      </a:r>
                      <a:r>
                        <a:rPr kumimoji="1" lang="ja-JP" altLang="en-US" sz="2000" dirty="0"/>
                        <a:t>以上）のサンプルを用いる。</a:t>
                      </a:r>
                      <a:endParaRPr kumimoji="1" lang="en-US" altLang="ja-JP" sz="2000" dirty="0"/>
                    </a:p>
                    <a:p>
                      <a:pPr marL="457200" indent="-457200">
                        <a:buFont typeface="+mj-ea"/>
                        <a:buAutoNum type="circleNumDbPlain" startAt="2"/>
                      </a:pPr>
                      <a:r>
                        <a:rPr kumimoji="1" lang="ja-JP" altLang="en-US" sz="2000" dirty="0"/>
                        <a:t>安定した工程の初期工程調査結果を評価するために、次の合否判定基準を用いる。</a:t>
                      </a:r>
                      <a:endParaRPr kumimoji="1" lang="en-US" altLang="ja-JP" sz="2000" dirty="0"/>
                    </a:p>
                    <a:p>
                      <a:endParaRPr kumimoji="1" lang="en-US" altLang="ja-JP" sz="2000" dirty="0"/>
                    </a:p>
                  </a:txBody>
                  <a:tcPr/>
                </a:tc>
                <a:extLst>
                  <a:ext uri="{0D108BD9-81ED-4DB2-BD59-A6C34878D82A}">
                    <a16:rowId xmlns:a16="http://schemas.microsoft.com/office/drawing/2014/main" val="3485946020"/>
                  </a:ext>
                </a:extLst>
              </a:tr>
            </a:tbl>
          </a:graphicData>
        </a:graphic>
      </p:graphicFrame>
      <p:graphicFrame>
        <p:nvGraphicFramePr>
          <p:cNvPr id="2" name="表 1">
            <a:extLst>
              <a:ext uri="{FF2B5EF4-FFF2-40B4-BE49-F238E27FC236}">
                <a16:creationId xmlns:a16="http://schemas.microsoft.com/office/drawing/2014/main" id="{6AB8ADA3-AB30-41AC-9574-3FC733A96AC9}"/>
              </a:ext>
            </a:extLst>
          </p:cNvPr>
          <p:cNvGraphicFramePr>
            <a:graphicFrameLocks noGrp="1"/>
          </p:cNvGraphicFramePr>
          <p:nvPr>
            <p:extLst>
              <p:ext uri="{D42A27DB-BD31-4B8C-83A1-F6EECF244321}">
                <p14:modId xmlns:p14="http://schemas.microsoft.com/office/powerpoint/2010/main" val="3097236209"/>
              </p:ext>
            </p:extLst>
          </p:nvPr>
        </p:nvGraphicFramePr>
        <p:xfrm>
          <a:off x="2751826" y="4131309"/>
          <a:ext cx="8601972" cy="2021840"/>
        </p:xfrm>
        <a:graphic>
          <a:graphicData uri="http://schemas.openxmlformats.org/drawingml/2006/table">
            <a:tbl>
              <a:tblPr firstRow="1" bandRow="1">
                <a:tableStyleId>{5940675A-B579-460E-94D1-54222C63F5DA}</a:tableStyleId>
              </a:tblPr>
              <a:tblGrid>
                <a:gridCol w="3112018">
                  <a:extLst>
                    <a:ext uri="{9D8B030D-6E8A-4147-A177-3AD203B41FA5}">
                      <a16:colId xmlns:a16="http://schemas.microsoft.com/office/drawing/2014/main" val="3613501347"/>
                    </a:ext>
                  </a:extLst>
                </a:gridCol>
                <a:gridCol w="3037441">
                  <a:extLst>
                    <a:ext uri="{9D8B030D-6E8A-4147-A177-3AD203B41FA5}">
                      <a16:colId xmlns:a16="http://schemas.microsoft.com/office/drawing/2014/main" val="2370707666"/>
                    </a:ext>
                  </a:extLst>
                </a:gridCol>
                <a:gridCol w="2452513">
                  <a:extLst>
                    <a:ext uri="{9D8B030D-6E8A-4147-A177-3AD203B41FA5}">
                      <a16:colId xmlns:a16="http://schemas.microsoft.com/office/drawing/2014/main" val="2468328905"/>
                    </a:ext>
                  </a:extLst>
                </a:gridCol>
              </a:tblGrid>
              <a:tr h="370840">
                <a:tc>
                  <a:txBody>
                    <a:bodyPr/>
                    <a:lstStyle/>
                    <a:p>
                      <a:pPr algn="ctr"/>
                      <a:r>
                        <a:rPr kumimoji="1" lang="ja-JP" altLang="en-US" dirty="0"/>
                        <a:t>結果</a:t>
                      </a:r>
                    </a:p>
                  </a:txBody>
                  <a:tcPr>
                    <a:solidFill>
                      <a:schemeClr val="tx2">
                        <a:lumMod val="40000"/>
                        <a:lumOff val="60000"/>
                      </a:schemeClr>
                    </a:solidFill>
                  </a:tcPr>
                </a:tc>
                <a:tc gridSpan="2">
                  <a:txBody>
                    <a:bodyPr/>
                    <a:lstStyle/>
                    <a:p>
                      <a:pPr algn="ctr"/>
                      <a:r>
                        <a:rPr kumimoji="1" lang="ja-JP" altLang="en-US" dirty="0"/>
                        <a:t>解釈</a:t>
                      </a:r>
                    </a:p>
                  </a:txBody>
                  <a:tcPr>
                    <a:solidFill>
                      <a:schemeClr val="tx2">
                        <a:lumMod val="40000"/>
                        <a:lumOff val="60000"/>
                      </a:schemeClr>
                    </a:solidFill>
                  </a:tcPr>
                </a:tc>
                <a:tc hMerge="1">
                  <a:txBody>
                    <a:bodyPr/>
                    <a:lstStyle/>
                    <a:p>
                      <a:pPr algn="ctr"/>
                      <a:endParaRPr kumimoji="1" lang="ja-JP" altLang="en-US" dirty="0"/>
                    </a:p>
                  </a:txBody>
                  <a:tcPr>
                    <a:solidFill>
                      <a:schemeClr val="tx2">
                        <a:lumMod val="40000"/>
                        <a:lumOff val="60000"/>
                      </a:schemeClr>
                    </a:solidFill>
                  </a:tcPr>
                </a:tc>
                <a:extLst>
                  <a:ext uri="{0D108BD9-81ED-4DB2-BD59-A6C34878D82A}">
                    <a16:rowId xmlns:a16="http://schemas.microsoft.com/office/drawing/2014/main" val="1788934587"/>
                  </a:ext>
                </a:extLst>
              </a:tr>
              <a:tr h="370840">
                <a:tc>
                  <a:txBody>
                    <a:bodyPr/>
                    <a:lstStyle/>
                    <a:p>
                      <a:r>
                        <a:rPr kumimoji="1" lang="en-US" altLang="ja-JP" sz="1800" dirty="0" err="1"/>
                        <a:t>Cpk</a:t>
                      </a:r>
                      <a:r>
                        <a:rPr kumimoji="1" lang="ja-JP" altLang="en-US" sz="1800" dirty="0"/>
                        <a:t>（</a:t>
                      </a:r>
                      <a:r>
                        <a:rPr kumimoji="1" lang="en-US" altLang="ja-JP" sz="1800" dirty="0" err="1"/>
                        <a:t>Ppk</a:t>
                      </a:r>
                      <a:r>
                        <a:rPr kumimoji="1" lang="ja-JP" altLang="en-US" sz="1800" dirty="0"/>
                        <a:t>）＞</a:t>
                      </a:r>
                      <a:r>
                        <a:rPr kumimoji="1" lang="en-US" altLang="ja-JP" sz="1800" dirty="0"/>
                        <a:t>1.67</a:t>
                      </a:r>
                      <a:endParaRPr kumimoji="1" lang="ja-JP" altLang="en-US" sz="1800" dirty="0"/>
                    </a:p>
                  </a:txBody>
                  <a:tcPr/>
                </a:tc>
                <a:tc gridSpan="2">
                  <a:txBody>
                    <a:bodyPr/>
                    <a:lstStyle/>
                    <a:p>
                      <a:r>
                        <a:rPr kumimoji="1" lang="ja-JP" altLang="en-US" dirty="0"/>
                        <a:t>工程は合否判定基準を満たしている。</a:t>
                      </a:r>
                    </a:p>
                  </a:txBody>
                  <a:tcPr/>
                </a:tc>
                <a:tc hMerge="1">
                  <a:txBody>
                    <a:bodyPr/>
                    <a:lstStyle/>
                    <a:p>
                      <a:endParaRPr kumimoji="1" lang="ja-JP" altLang="en-US" dirty="0"/>
                    </a:p>
                  </a:txBody>
                  <a:tcPr/>
                </a:tc>
                <a:extLst>
                  <a:ext uri="{0D108BD9-81ED-4DB2-BD59-A6C34878D82A}">
                    <a16:rowId xmlns:a16="http://schemas.microsoft.com/office/drawing/2014/main" val="2872350143"/>
                  </a:ext>
                </a:extLst>
              </a:tr>
              <a:tr h="370840">
                <a:tc>
                  <a:txBody>
                    <a:bodyPr/>
                    <a:lstStyle/>
                    <a:p>
                      <a:r>
                        <a:rPr kumimoji="1" lang="en-US" altLang="ja-JP" sz="1800" dirty="0"/>
                        <a:t>1.33</a:t>
                      </a:r>
                      <a:r>
                        <a:rPr kumimoji="1" lang="ja-JP" altLang="en-US" sz="1800" dirty="0"/>
                        <a:t>≦</a:t>
                      </a:r>
                      <a:r>
                        <a:rPr kumimoji="1" lang="en-US" altLang="ja-JP" sz="1800" dirty="0" err="1"/>
                        <a:t>Cpk</a:t>
                      </a:r>
                      <a:r>
                        <a:rPr kumimoji="1" lang="ja-JP" altLang="en-US" sz="1800" dirty="0"/>
                        <a:t>（</a:t>
                      </a:r>
                      <a:r>
                        <a:rPr kumimoji="1" lang="en-US" altLang="ja-JP" sz="1800" dirty="0" err="1"/>
                        <a:t>Ppk</a:t>
                      </a:r>
                      <a:r>
                        <a:rPr kumimoji="1" lang="ja-JP" altLang="en-US" sz="1800" dirty="0"/>
                        <a:t>）≦</a:t>
                      </a:r>
                      <a:r>
                        <a:rPr kumimoji="1" lang="en-US" altLang="ja-JP" sz="1800" dirty="0"/>
                        <a:t>1.67</a:t>
                      </a:r>
                      <a:endParaRPr kumimoji="1" lang="ja-JP" altLang="en-US" sz="1800" dirty="0"/>
                    </a:p>
                  </a:txBody>
                  <a:tcPr/>
                </a:tc>
                <a:tc>
                  <a:txBody>
                    <a:bodyPr/>
                    <a:lstStyle/>
                    <a:p>
                      <a:r>
                        <a:rPr kumimoji="1" lang="ja-JP" altLang="en-US" dirty="0"/>
                        <a:t>工程は受け入れ可能とされる場合がある。</a:t>
                      </a:r>
                    </a:p>
                  </a:txBody>
                  <a:tcPr/>
                </a:tc>
                <a:tc rowSpan="2">
                  <a:txBody>
                    <a:bodyPr/>
                    <a:lstStyle/>
                    <a:p>
                      <a:r>
                        <a:rPr kumimoji="1" lang="ja-JP" altLang="en-US" dirty="0"/>
                        <a:t>調査結果内容の確認のため、顧客へ連絡する。</a:t>
                      </a:r>
                    </a:p>
                  </a:txBody>
                  <a:tcPr/>
                </a:tc>
                <a:extLst>
                  <a:ext uri="{0D108BD9-81ED-4DB2-BD59-A6C34878D82A}">
                    <a16:rowId xmlns:a16="http://schemas.microsoft.com/office/drawing/2014/main" val="1007252687"/>
                  </a:ext>
                </a:extLst>
              </a:tr>
              <a:tr h="370840">
                <a:tc>
                  <a:txBody>
                    <a:bodyPr/>
                    <a:lstStyle/>
                    <a:p>
                      <a:r>
                        <a:rPr kumimoji="1" lang="en-US" altLang="ja-JP" sz="1800" dirty="0" err="1"/>
                        <a:t>Cpk</a:t>
                      </a:r>
                      <a:r>
                        <a:rPr kumimoji="1" lang="ja-JP" altLang="en-US" sz="1800" dirty="0"/>
                        <a:t>（</a:t>
                      </a:r>
                      <a:r>
                        <a:rPr kumimoji="1" lang="en-US" altLang="ja-JP" sz="1800" dirty="0" err="1"/>
                        <a:t>Ppk</a:t>
                      </a:r>
                      <a:r>
                        <a:rPr kumimoji="1" lang="ja-JP" altLang="en-US" sz="1800" dirty="0"/>
                        <a:t>）＜</a:t>
                      </a:r>
                      <a:r>
                        <a:rPr kumimoji="1" lang="en-US" altLang="ja-JP" sz="1800" dirty="0"/>
                        <a:t>1.33</a:t>
                      </a:r>
                      <a:endParaRPr kumimoji="1" lang="ja-JP" altLang="en-US" sz="1800" dirty="0"/>
                    </a:p>
                  </a:txBody>
                  <a:tcPr/>
                </a:tc>
                <a:tc>
                  <a:txBody>
                    <a:bodyPr/>
                    <a:lstStyle/>
                    <a:p>
                      <a:r>
                        <a:rPr kumimoji="1" lang="ja-JP" altLang="en-US" dirty="0"/>
                        <a:t>工程は合否判定基準を満たしていない。</a:t>
                      </a:r>
                    </a:p>
                  </a:txBody>
                  <a:tcPr/>
                </a:tc>
                <a:tc vMerge="1">
                  <a:txBody>
                    <a:bodyPr/>
                    <a:lstStyle/>
                    <a:p>
                      <a:endParaRPr kumimoji="1" lang="ja-JP" altLang="en-US" dirty="0"/>
                    </a:p>
                  </a:txBody>
                  <a:tcPr/>
                </a:tc>
                <a:extLst>
                  <a:ext uri="{0D108BD9-81ED-4DB2-BD59-A6C34878D82A}">
                    <a16:rowId xmlns:a16="http://schemas.microsoft.com/office/drawing/2014/main" val="2835825198"/>
                  </a:ext>
                </a:extLst>
              </a:tr>
            </a:tbl>
          </a:graphicData>
        </a:graphic>
      </p:graphicFrame>
    </p:spTree>
    <p:extLst>
      <p:ext uri="{BB962C8B-B14F-4D97-AF65-F5344CB8AC3E}">
        <p14:creationId xmlns:p14="http://schemas.microsoft.com/office/powerpoint/2010/main" val="3478733103"/>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1592482777"/>
              </p:ext>
            </p:extLst>
          </p:nvPr>
        </p:nvGraphicFramePr>
        <p:xfrm>
          <a:off x="838199" y="1344058"/>
          <a:ext cx="10515600" cy="5010247"/>
        </p:xfrm>
        <a:graphic>
          <a:graphicData uri="http://schemas.openxmlformats.org/drawingml/2006/table">
            <a:tbl>
              <a:tblPr firstRow="1" bandRow="1">
                <a:tableStyleId>{5940675A-B579-460E-94D1-54222C63F5DA}</a:tableStyleId>
              </a:tblPr>
              <a:tblGrid>
                <a:gridCol w="1939507">
                  <a:extLst>
                    <a:ext uri="{9D8B030D-6E8A-4147-A177-3AD203B41FA5}">
                      <a16:colId xmlns:a16="http://schemas.microsoft.com/office/drawing/2014/main" val="4271471820"/>
                    </a:ext>
                  </a:extLst>
                </a:gridCol>
                <a:gridCol w="8576093">
                  <a:extLst>
                    <a:ext uri="{9D8B030D-6E8A-4147-A177-3AD203B41FA5}">
                      <a16:colId xmlns:a16="http://schemas.microsoft.com/office/drawing/2014/main" val="540225043"/>
                    </a:ext>
                  </a:extLst>
                </a:gridCol>
              </a:tblGrid>
              <a:tr h="479754">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2000653">
                <a:tc>
                  <a:txBody>
                    <a:bodyPr/>
                    <a:lstStyle/>
                    <a:p>
                      <a:r>
                        <a:rPr kumimoji="1" lang="ja-JP" altLang="en-US" sz="2000" dirty="0"/>
                        <a:t>１１．初期工程調査</a:t>
                      </a:r>
                    </a:p>
                  </a:txBody>
                  <a:tcPr/>
                </a:tc>
                <a:tc>
                  <a:txBody>
                    <a:bodyPr/>
                    <a:lstStyle/>
                    <a:p>
                      <a:pPr marL="457200" indent="-457200">
                        <a:buFont typeface="+mj-ea"/>
                        <a:buAutoNum type="circleNumDbPlain" startAt="5"/>
                      </a:pPr>
                      <a:r>
                        <a:rPr kumimoji="1" lang="ja-JP" altLang="en-US" sz="2000" dirty="0"/>
                        <a:t>不安定な工程は顧客の要求事項を満たさない。</a:t>
                      </a:r>
                      <a:r>
                        <a:rPr kumimoji="1" lang="en-US" altLang="ja-JP" sz="2000" dirty="0"/>
                        <a:t>PPAP</a:t>
                      </a:r>
                      <a:r>
                        <a:rPr kumimoji="1" lang="ja-JP" altLang="en-US" sz="2000" dirty="0"/>
                        <a:t>提出に先立って、変動の特別要因を調査・評価し、（可能な場合は）除去する。不安定な工程があれば顧客代表に通知し、</a:t>
                      </a:r>
                      <a:r>
                        <a:rPr kumimoji="1" lang="en-US" altLang="ja-JP" sz="2000" dirty="0"/>
                        <a:t>PPAP</a:t>
                      </a:r>
                      <a:r>
                        <a:rPr kumimoji="1" lang="ja-JP" altLang="en-US" sz="2000" dirty="0"/>
                        <a:t>提出前にその是正処置計画を顧客へ提出する。</a:t>
                      </a:r>
                      <a:endParaRPr kumimoji="1" lang="en-US" altLang="ja-JP" sz="2000" dirty="0"/>
                    </a:p>
                    <a:p>
                      <a:pPr marL="457200" indent="-457200">
                        <a:buFont typeface="+mj-ea"/>
                        <a:buAutoNum type="circleNumDbPlain" startAt="5"/>
                      </a:pPr>
                      <a:r>
                        <a:rPr kumimoji="1" lang="ja-JP" altLang="en-US" sz="2000" dirty="0"/>
                        <a:t>初期工程能力（</a:t>
                      </a:r>
                      <a:r>
                        <a:rPr kumimoji="1" lang="en-US" altLang="ja-JP" sz="2000" dirty="0" err="1"/>
                        <a:t>Cpk</a:t>
                      </a:r>
                      <a:r>
                        <a:rPr kumimoji="1" lang="ja-JP" altLang="en-US" sz="2000" dirty="0"/>
                        <a:t>）及び初期工程性能（</a:t>
                      </a:r>
                      <a:r>
                        <a:rPr kumimoji="1" lang="en-US" altLang="ja-JP" sz="2000" dirty="0" err="1"/>
                        <a:t>Ppk</a:t>
                      </a:r>
                      <a:r>
                        <a:rPr kumimoji="1" lang="ja-JP" altLang="en-US" sz="2000" dirty="0"/>
                        <a:t>）評価の方法については、</a:t>
                      </a:r>
                      <a:r>
                        <a:rPr kumimoji="1" lang="en-US" altLang="ja-JP" sz="2000" dirty="0"/>
                        <a:t>SPC</a:t>
                      </a:r>
                      <a:r>
                        <a:rPr kumimoji="1" lang="ja-JP" altLang="en-US" sz="2000" dirty="0"/>
                        <a:t>参照マニュアル参照。</a:t>
                      </a:r>
                      <a:endParaRPr kumimoji="1" lang="en-US" altLang="ja-JP" sz="2000" dirty="0"/>
                    </a:p>
                  </a:txBody>
                  <a:tcPr/>
                </a:tc>
                <a:extLst>
                  <a:ext uri="{0D108BD9-81ED-4DB2-BD59-A6C34878D82A}">
                    <a16:rowId xmlns:a16="http://schemas.microsoft.com/office/drawing/2014/main" val="3485946020"/>
                  </a:ext>
                </a:extLst>
              </a:tr>
              <a:tr h="1683089">
                <a:tc>
                  <a:txBody>
                    <a:bodyPr/>
                    <a:lstStyle/>
                    <a:p>
                      <a:r>
                        <a:rPr kumimoji="1" lang="ja-JP" altLang="en-US" sz="2000" dirty="0"/>
                        <a:t>１２．有資格試験所文書</a:t>
                      </a:r>
                    </a:p>
                  </a:txBody>
                  <a:tcPr/>
                </a:tc>
                <a:tc>
                  <a:txBody>
                    <a:bodyPr/>
                    <a:lstStyle/>
                    <a:p>
                      <a:pPr marL="457200" indent="-457200">
                        <a:buFont typeface="+mj-ea"/>
                        <a:buAutoNum type="circleNumDbPlain"/>
                      </a:pPr>
                      <a:r>
                        <a:rPr kumimoji="1" lang="ja-JP" altLang="en-US" sz="2000" dirty="0"/>
                        <a:t>試験所とは製品の検査、試験又は測定機器の校正を行う施設をいう。</a:t>
                      </a:r>
                      <a:endParaRPr kumimoji="1" lang="en-US" altLang="ja-JP" sz="2000" dirty="0"/>
                    </a:p>
                    <a:p>
                      <a:pPr marL="457200" indent="-457200">
                        <a:buFont typeface="+mj-ea"/>
                        <a:buAutoNum type="circleNumDbPlain"/>
                      </a:pPr>
                      <a:r>
                        <a:rPr kumimoji="1" lang="ja-JP" altLang="en-US" sz="2000" dirty="0"/>
                        <a:t>試験所には、内部試験所（組織内）と外部試験所があり、それぞれに対する要求事項は、</a:t>
                      </a:r>
                      <a:r>
                        <a:rPr kumimoji="1" lang="en-US" altLang="ja-JP" sz="2000" dirty="0"/>
                        <a:t>IATF16949</a:t>
                      </a:r>
                      <a:r>
                        <a:rPr kumimoji="1" lang="ja-JP" altLang="en-US" sz="2000" dirty="0"/>
                        <a:t>要求事項</a:t>
                      </a:r>
                      <a:r>
                        <a:rPr kumimoji="1" lang="en-US" altLang="ja-JP" sz="2000" dirty="0"/>
                        <a:t>7.1.5.3</a:t>
                      </a:r>
                      <a:r>
                        <a:rPr kumimoji="1" lang="ja-JP" altLang="en-US" sz="2000" dirty="0"/>
                        <a:t>に規定されている。</a:t>
                      </a:r>
                      <a:endParaRPr kumimoji="1" lang="en-US" altLang="ja-JP" sz="2000" dirty="0"/>
                    </a:p>
                    <a:p>
                      <a:pPr marL="457200" indent="-457200">
                        <a:buFont typeface="+mj-ea"/>
                        <a:buAutoNum type="circleNumDbPlain"/>
                      </a:pPr>
                      <a:r>
                        <a:rPr kumimoji="1" lang="en-US" altLang="ja-JP" sz="2000" dirty="0"/>
                        <a:t>PPAP</a:t>
                      </a:r>
                      <a:r>
                        <a:rPr kumimoji="1" lang="ja-JP" altLang="en-US" sz="2000" dirty="0"/>
                        <a:t>のための検査・試験は、顧客要求事項で定められているとおり、有資格試験所で実施する。</a:t>
                      </a:r>
                      <a:endParaRPr kumimoji="1" lang="en-US" altLang="ja-JP" sz="2000" dirty="0"/>
                    </a:p>
                    <a:p>
                      <a:pPr marL="457200" indent="-457200">
                        <a:buFont typeface="+mj-ea"/>
                        <a:buAutoNum type="circleNumDbPlain"/>
                      </a:pPr>
                      <a:r>
                        <a:rPr kumimoji="1" lang="ja-JP" altLang="en-US" sz="2000" dirty="0"/>
                        <a:t>（組織内部・外部の）有資格試験所は、試験所適用範囲及び実施される測定・試験の種類に対して、その試験所が資格認定されていることを示す文書を準備する。</a:t>
                      </a:r>
                    </a:p>
                  </a:txBody>
                  <a:tcPr/>
                </a:tc>
                <a:extLst>
                  <a:ext uri="{0D108BD9-81ED-4DB2-BD59-A6C34878D82A}">
                    <a16:rowId xmlns:a16="http://schemas.microsoft.com/office/drawing/2014/main" val="3261737993"/>
                  </a:ext>
                </a:extLst>
              </a:tr>
            </a:tbl>
          </a:graphicData>
        </a:graphic>
      </p:graphicFrame>
    </p:spTree>
    <p:extLst>
      <p:ext uri="{BB962C8B-B14F-4D97-AF65-F5344CB8AC3E}">
        <p14:creationId xmlns:p14="http://schemas.microsoft.com/office/powerpoint/2010/main" val="911129688"/>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352715195"/>
              </p:ext>
            </p:extLst>
          </p:nvPr>
        </p:nvGraphicFramePr>
        <p:xfrm>
          <a:off x="838199" y="1344059"/>
          <a:ext cx="10515600" cy="5012291"/>
        </p:xfrm>
        <a:graphic>
          <a:graphicData uri="http://schemas.openxmlformats.org/drawingml/2006/table">
            <a:tbl>
              <a:tblPr firstRow="1" bandRow="1">
                <a:tableStyleId>{5940675A-B579-460E-94D1-54222C63F5DA}</a:tableStyleId>
              </a:tblPr>
              <a:tblGrid>
                <a:gridCol w="1974012">
                  <a:extLst>
                    <a:ext uri="{9D8B030D-6E8A-4147-A177-3AD203B41FA5}">
                      <a16:colId xmlns:a16="http://schemas.microsoft.com/office/drawing/2014/main" val="4271471820"/>
                    </a:ext>
                  </a:extLst>
                </a:gridCol>
                <a:gridCol w="8541588">
                  <a:extLst>
                    <a:ext uri="{9D8B030D-6E8A-4147-A177-3AD203B41FA5}">
                      <a16:colId xmlns:a16="http://schemas.microsoft.com/office/drawing/2014/main" val="540225043"/>
                    </a:ext>
                  </a:extLst>
                </a:gridCol>
              </a:tblGrid>
              <a:tr h="457551">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2569330">
                <a:tc>
                  <a:txBody>
                    <a:bodyPr/>
                    <a:lstStyle/>
                    <a:p>
                      <a:r>
                        <a:rPr kumimoji="1" lang="ja-JP" altLang="en-US" sz="2000" dirty="0"/>
                        <a:t>１３．外観承認報告書</a:t>
                      </a:r>
                    </a:p>
                  </a:txBody>
                  <a:tcPr/>
                </a:tc>
                <a:tc>
                  <a:txBody>
                    <a:bodyPr/>
                    <a:lstStyle/>
                    <a:p>
                      <a:pPr marL="457200" indent="-457200">
                        <a:buFont typeface="+mj-ea"/>
                        <a:buAutoNum type="circleNumDbPlain"/>
                      </a:pPr>
                      <a:r>
                        <a:rPr kumimoji="1" lang="ja-JP" altLang="en-US" sz="2000" dirty="0"/>
                        <a:t>外観承認報告書は、顧客から外観品目として指定された製品に対して要求される。外観品目に対する要求事項は、</a:t>
                      </a:r>
                      <a:r>
                        <a:rPr kumimoji="1" lang="en-US" altLang="ja-JP" sz="2000" dirty="0"/>
                        <a:t>IATF16949</a:t>
                      </a:r>
                      <a:r>
                        <a:rPr kumimoji="1" lang="ja-JP" altLang="en-US" sz="2000" dirty="0"/>
                        <a:t>要求事項</a:t>
                      </a:r>
                      <a:r>
                        <a:rPr kumimoji="1" lang="en-US" altLang="ja-JP" sz="2000" dirty="0"/>
                        <a:t>8.6.3</a:t>
                      </a:r>
                      <a:r>
                        <a:rPr kumimoji="1" lang="ja-JP" altLang="en-US" sz="2000" dirty="0"/>
                        <a:t>に規定されている。</a:t>
                      </a:r>
                      <a:endParaRPr kumimoji="1" lang="en-US" altLang="ja-JP" sz="2000" dirty="0"/>
                    </a:p>
                    <a:p>
                      <a:pPr marL="457200" indent="-457200">
                        <a:buFont typeface="+mj-ea"/>
                        <a:buAutoNum type="circleNumDbPlain"/>
                      </a:pPr>
                      <a:r>
                        <a:rPr kumimoji="1" lang="ja-JP" altLang="en-US" sz="2000" dirty="0"/>
                        <a:t>設計文書において製品の外観要求事項が指定された場合、個々の製品ごとに、外観承認報告書（</a:t>
                      </a:r>
                      <a:r>
                        <a:rPr kumimoji="1" lang="en-US" altLang="ja-JP" sz="2000" dirty="0"/>
                        <a:t>AAR</a:t>
                      </a:r>
                      <a:r>
                        <a:rPr kumimoji="1" lang="ja-JP" altLang="en-US" sz="2000" dirty="0"/>
                        <a:t>）を作成する。</a:t>
                      </a:r>
                      <a:endParaRPr kumimoji="1" lang="en-US" altLang="ja-JP" sz="2000" dirty="0"/>
                    </a:p>
                    <a:p>
                      <a:pPr marL="457200" indent="-457200">
                        <a:buFont typeface="+mj-ea"/>
                        <a:buAutoNum type="circleNumDbPlain"/>
                      </a:pPr>
                      <a:r>
                        <a:rPr kumimoji="1" lang="en-US" altLang="ja-JP" sz="2000" dirty="0"/>
                        <a:t>AAR</a:t>
                      </a:r>
                      <a:r>
                        <a:rPr kumimoji="1" lang="ja-JP" altLang="en-US" sz="2000" dirty="0"/>
                        <a:t>と生産部品の代表サンプルを、顧客の指定に従って提出し、判定を受ける。</a:t>
                      </a:r>
                      <a:endParaRPr kumimoji="1" lang="en-US" altLang="ja-JP" sz="2000" dirty="0"/>
                    </a:p>
                  </a:txBody>
                  <a:tcPr/>
                </a:tc>
                <a:extLst>
                  <a:ext uri="{0D108BD9-81ED-4DB2-BD59-A6C34878D82A}">
                    <a16:rowId xmlns:a16="http://schemas.microsoft.com/office/drawing/2014/main" val="3485946020"/>
                  </a:ext>
                </a:extLst>
              </a:tr>
              <a:tr h="809515">
                <a:tc>
                  <a:txBody>
                    <a:bodyPr/>
                    <a:lstStyle/>
                    <a:p>
                      <a:r>
                        <a:rPr kumimoji="1" lang="ja-JP" altLang="en-US" sz="2000" dirty="0"/>
                        <a:t>１４．製品サンプル</a:t>
                      </a:r>
                    </a:p>
                  </a:txBody>
                  <a:tcPr/>
                </a:tc>
                <a:tc>
                  <a:txBody>
                    <a:bodyPr/>
                    <a:lstStyle/>
                    <a:p>
                      <a:pPr marL="457200" indent="-457200">
                        <a:buFont typeface="+mj-ea"/>
                        <a:buAutoNum type="circleNumDbPlain"/>
                      </a:pPr>
                      <a:r>
                        <a:rPr kumimoji="1" lang="ja-JP" altLang="en-US" sz="2000" dirty="0"/>
                        <a:t>顧客の評価用のサンプルを、顧客の指定通りに提供する。</a:t>
                      </a:r>
                      <a:endParaRPr kumimoji="1" lang="en-US" altLang="ja-JP" sz="2000" dirty="0"/>
                    </a:p>
                    <a:p>
                      <a:pPr marL="457200" indent="-457200">
                        <a:buFont typeface="+mj-ea"/>
                        <a:buAutoNum type="circleNumDbPlain"/>
                      </a:pPr>
                      <a:r>
                        <a:rPr kumimoji="1" lang="ja-JP" altLang="en-US" sz="2000" dirty="0"/>
                        <a:t>サンプルは、量産と同じ製造工程で製造する。</a:t>
                      </a:r>
                    </a:p>
                  </a:txBody>
                  <a:tcPr/>
                </a:tc>
                <a:extLst>
                  <a:ext uri="{0D108BD9-81ED-4DB2-BD59-A6C34878D82A}">
                    <a16:rowId xmlns:a16="http://schemas.microsoft.com/office/drawing/2014/main" val="3261737993"/>
                  </a:ext>
                </a:extLst>
              </a:tr>
              <a:tr h="1175895">
                <a:tc>
                  <a:txBody>
                    <a:bodyPr/>
                    <a:lstStyle/>
                    <a:p>
                      <a:r>
                        <a:rPr kumimoji="1" lang="ja-JP" altLang="en-US" sz="2000" dirty="0"/>
                        <a:t>１５．マスターサンプル</a:t>
                      </a:r>
                    </a:p>
                  </a:txBody>
                  <a:tcPr/>
                </a:tc>
                <a:tc>
                  <a:txBody>
                    <a:bodyPr/>
                    <a:lstStyle/>
                    <a:p>
                      <a:pPr marL="457200" indent="-457200">
                        <a:buFont typeface="+mj-ea"/>
                        <a:buAutoNum type="circleNumDbPlain"/>
                      </a:pPr>
                      <a:r>
                        <a:rPr kumimoji="1" lang="ja-JP" altLang="en-US" sz="2000" dirty="0"/>
                        <a:t>マスターサンプル（標準サンプル）は、マスターサンプルであることがわかるように識別し、顧客承認日付を表示する。</a:t>
                      </a:r>
                      <a:endParaRPr kumimoji="1" lang="en-US" altLang="ja-JP" sz="2000" dirty="0"/>
                    </a:p>
                    <a:p>
                      <a:pPr marL="457200" indent="-457200">
                        <a:buFont typeface="+mj-ea"/>
                        <a:buAutoNum type="circleNumDbPlain"/>
                      </a:pPr>
                      <a:r>
                        <a:rPr kumimoji="1" lang="ja-JP" altLang="en-US" sz="2000" dirty="0"/>
                        <a:t>マスターサンプルは、</a:t>
                      </a:r>
                      <a:r>
                        <a:rPr kumimoji="1" lang="en-US" altLang="ja-JP" sz="2000" dirty="0"/>
                        <a:t>PPAP</a:t>
                      </a:r>
                      <a:r>
                        <a:rPr kumimoji="1" lang="ja-JP" altLang="en-US" sz="2000" dirty="0"/>
                        <a:t>に記録と同じ期間保管する。</a:t>
                      </a:r>
                    </a:p>
                  </a:txBody>
                  <a:tcPr/>
                </a:tc>
                <a:extLst>
                  <a:ext uri="{0D108BD9-81ED-4DB2-BD59-A6C34878D82A}">
                    <a16:rowId xmlns:a16="http://schemas.microsoft.com/office/drawing/2014/main" val="2101098016"/>
                  </a:ext>
                </a:extLst>
              </a:tr>
            </a:tbl>
          </a:graphicData>
        </a:graphic>
      </p:graphicFrame>
    </p:spTree>
    <p:extLst>
      <p:ext uri="{BB962C8B-B14F-4D97-AF65-F5344CB8AC3E}">
        <p14:creationId xmlns:p14="http://schemas.microsoft.com/office/powerpoint/2010/main" val="1929259091"/>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graphicFrame>
        <p:nvGraphicFramePr>
          <p:cNvPr id="3" name="表 2">
            <a:extLst>
              <a:ext uri="{FF2B5EF4-FFF2-40B4-BE49-F238E27FC236}">
                <a16:creationId xmlns:a16="http://schemas.microsoft.com/office/drawing/2014/main" id="{C7361B94-3239-4B82-92C7-153DB24F8FA2}"/>
              </a:ext>
            </a:extLst>
          </p:cNvPr>
          <p:cNvGraphicFramePr>
            <a:graphicFrameLocks noGrp="1"/>
          </p:cNvGraphicFramePr>
          <p:nvPr>
            <p:extLst>
              <p:ext uri="{D42A27DB-BD31-4B8C-83A1-F6EECF244321}">
                <p14:modId xmlns:p14="http://schemas.microsoft.com/office/powerpoint/2010/main" val="622536535"/>
              </p:ext>
            </p:extLst>
          </p:nvPr>
        </p:nvGraphicFramePr>
        <p:xfrm>
          <a:off x="838199" y="1344059"/>
          <a:ext cx="10515600" cy="5027015"/>
        </p:xfrm>
        <a:graphic>
          <a:graphicData uri="http://schemas.openxmlformats.org/drawingml/2006/table">
            <a:tbl>
              <a:tblPr firstRow="1" bandRow="1">
                <a:tableStyleId>{5940675A-B579-460E-94D1-54222C63F5DA}</a:tableStyleId>
              </a:tblPr>
              <a:tblGrid>
                <a:gridCol w="1861869">
                  <a:extLst>
                    <a:ext uri="{9D8B030D-6E8A-4147-A177-3AD203B41FA5}">
                      <a16:colId xmlns:a16="http://schemas.microsoft.com/office/drawing/2014/main" val="4271471820"/>
                    </a:ext>
                  </a:extLst>
                </a:gridCol>
                <a:gridCol w="8653731">
                  <a:extLst>
                    <a:ext uri="{9D8B030D-6E8A-4147-A177-3AD203B41FA5}">
                      <a16:colId xmlns:a16="http://schemas.microsoft.com/office/drawing/2014/main" val="540225043"/>
                    </a:ext>
                  </a:extLst>
                </a:gridCol>
              </a:tblGrid>
              <a:tr h="450066">
                <a:tc>
                  <a:txBody>
                    <a:bodyPr/>
                    <a:lstStyle/>
                    <a:p>
                      <a:pPr algn="ctr"/>
                      <a:r>
                        <a:rPr kumimoji="1" lang="ja-JP" altLang="en-US" sz="2000" dirty="0"/>
                        <a:t>要求事項</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501436692"/>
                  </a:ext>
                </a:extLst>
              </a:tr>
              <a:tr h="1955669">
                <a:tc>
                  <a:txBody>
                    <a:bodyPr/>
                    <a:lstStyle/>
                    <a:p>
                      <a:r>
                        <a:rPr kumimoji="1" lang="ja-JP" altLang="en-US" sz="2000" dirty="0"/>
                        <a:t>１６．検査補助具</a:t>
                      </a:r>
                    </a:p>
                  </a:txBody>
                  <a:tcPr/>
                </a:tc>
                <a:tc>
                  <a:txBody>
                    <a:bodyPr/>
                    <a:lstStyle/>
                    <a:p>
                      <a:pPr marL="457200" indent="-457200">
                        <a:buFont typeface="+mj-ea"/>
                        <a:buAutoNum type="circleNumDbPlain"/>
                      </a:pPr>
                      <a:r>
                        <a:rPr kumimoji="1" lang="ja-JP" altLang="en-US" sz="2000" dirty="0"/>
                        <a:t>検査補助具とは、製品の検査に使用する製品固有の検査治工具をいう。</a:t>
                      </a:r>
                      <a:endParaRPr kumimoji="1" lang="en-US" altLang="ja-JP" sz="2000" dirty="0"/>
                    </a:p>
                    <a:p>
                      <a:pPr marL="457200" indent="-457200">
                        <a:buFont typeface="+mj-ea"/>
                        <a:buAutoNum type="circleNumDbPlain"/>
                      </a:pPr>
                      <a:r>
                        <a:rPr kumimoji="1" lang="ja-JP" altLang="en-US" sz="2000" dirty="0"/>
                        <a:t>（顧客から要請のある場合）検査補助具を、</a:t>
                      </a:r>
                      <a:r>
                        <a:rPr kumimoji="1" lang="en-US" altLang="ja-JP" sz="2000" dirty="0"/>
                        <a:t>PPAP</a:t>
                      </a:r>
                      <a:r>
                        <a:rPr kumimoji="1" lang="ja-JP" altLang="en-US" sz="2000" dirty="0"/>
                        <a:t>提出に添えて提出する。</a:t>
                      </a:r>
                      <a:endParaRPr kumimoji="1" lang="en-US" altLang="ja-JP" sz="2000" dirty="0"/>
                    </a:p>
                    <a:p>
                      <a:pPr marL="457200" indent="-457200">
                        <a:buFont typeface="+mj-ea"/>
                        <a:buAutoNum type="circleNumDbPlain"/>
                      </a:pPr>
                      <a:r>
                        <a:rPr kumimoji="1" lang="ja-JP" altLang="en-US" sz="2000" dirty="0"/>
                        <a:t>検査補助具は、その妥当性を確認し、製品寿命期間中は適切に予防保全を行う。</a:t>
                      </a:r>
                      <a:endParaRPr kumimoji="1" lang="en-US" altLang="ja-JP" sz="2000" dirty="0"/>
                    </a:p>
                    <a:p>
                      <a:pPr marL="457200" indent="-457200">
                        <a:buFont typeface="+mj-ea"/>
                        <a:buAutoNum type="circleNumDbPlain"/>
                      </a:pPr>
                      <a:r>
                        <a:rPr kumimoji="1" lang="ja-JP" altLang="en-US" sz="2000" dirty="0"/>
                        <a:t>顧客要求事項に従って</a:t>
                      </a:r>
                      <a:r>
                        <a:rPr kumimoji="1" lang="en-US" altLang="ja-JP" sz="2000" dirty="0"/>
                        <a:t>MSA</a:t>
                      </a:r>
                      <a:r>
                        <a:rPr kumimoji="1" lang="ja-JP" altLang="en-US" sz="2000" dirty="0"/>
                        <a:t>調査を行う。</a:t>
                      </a:r>
                      <a:endParaRPr kumimoji="1" lang="en-US" altLang="ja-JP" sz="2000" dirty="0"/>
                    </a:p>
                  </a:txBody>
                  <a:tcPr/>
                </a:tc>
                <a:extLst>
                  <a:ext uri="{0D108BD9-81ED-4DB2-BD59-A6C34878D82A}">
                    <a16:rowId xmlns:a16="http://schemas.microsoft.com/office/drawing/2014/main" val="3485946020"/>
                  </a:ext>
                </a:extLst>
              </a:tr>
              <a:tr h="1000190">
                <a:tc>
                  <a:txBody>
                    <a:bodyPr/>
                    <a:lstStyle/>
                    <a:p>
                      <a:r>
                        <a:rPr kumimoji="1" lang="ja-JP" altLang="en-US" sz="2000" dirty="0"/>
                        <a:t>１７．顧客固有要求事項適合記録</a:t>
                      </a:r>
                    </a:p>
                  </a:txBody>
                  <a:tcPr/>
                </a:tc>
                <a:tc>
                  <a:txBody>
                    <a:bodyPr/>
                    <a:lstStyle/>
                    <a:p>
                      <a:pPr marL="457200" indent="-457200">
                        <a:buFont typeface="+mj-ea"/>
                        <a:buAutoNum type="circleNumDbPlain"/>
                      </a:pPr>
                      <a:r>
                        <a:rPr kumimoji="1" lang="ja-JP" altLang="en-US" sz="2000" dirty="0"/>
                        <a:t>すべての顧客固有要求事項に適合している記録を維持する。</a:t>
                      </a:r>
                      <a:endParaRPr kumimoji="1" lang="en-US" altLang="ja-JP" sz="2000" dirty="0"/>
                    </a:p>
                    <a:p>
                      <a:pPr marL="457200" indent="-457200">
                        <a:buFont typeface="+mj-ea"/>
                        <a:buAutoNum type="circleNumDbPlain"/>
                      </a:pPr>
                      <a:r>
                        <a:rPr kumimoji="1" lang="ja-JP" altLang="en-US" sz="2000" dirty="0"/>
                        <a:t>バルク材料に関しては、適用される顧客固有要求事項をバルク材料要求事項チェックリストに記載する。</a:t>
                      </a:r>
                    </a:p>
                  </a:txBody>
                  <a:tcPr/>
                </a:tc>
                <a:extLst>
                  <a:ext uri="{0D108BD9-81ED-4DB2-BD59-A6C34878D82A}">
                    <a16:rowId xmlns:a16="http://schemas.microsoft.com/office/drawing/2014/main" val="3261737993"/>
                  </a:ext>
                </a:extLst>
              </a:tr>
              <a:tr h="1606366">
                <a:tc>
                  <a:txBody>
                    <a:bodyPr/>
                    <a:lstStyle/>
                    <a:p>
                      <a:r>
                        <a:rPr kumimoji="1" lang="ja-JP" altLang="en-US" sz="2000" dirty="0"/>
                        <a:t>１８．部品提出保証書（</a:t>
                      </a:r>
                      <a:r>
                        <a:rPr kumimoji="1" lang="en-US" altLang="ja-JP" sz="2000" dirty="0"/>
                        <a:t>PSW</a:t>
                      </a:r>
                      <a:r>
                        <a:rPr kumimoji="1" lang="ja-JP" altLang="en-US" sz="2000" dirty="0"/>
                        <a:t>）</a:t>
                      </a:r>
                    </a:p>
                  </a:txBody>
                  <a:tcPr/>
                </a:tc>
                <a:tc>
                  <a:txBody>
                    <a:bodyPr/>
                    <a:lstStyle/>
                    <a:p>
                      <a:pPr marL="457200" indent="-457200">
                        <a:buFont typeface="+mj-ea"/>
                        <a:buAutoNum type="circleNumDbPlain"/>
                      </a:pPr>
                      <a:r>
                        <a:rPr kumimoji="1" lang="ja-JP" altLang="en-US" sz="2000" dirty="0"/>
                        <a:t>すべての</a:t>
                      </a:r>
                      <a:r>
                        <a:rPr kumimoji="1" lang="en-US" altLang="ja-JP" sz="2000" dirty="0"/>
                        <a:t>PPAP</a:t>
                      </a:r>
                      <a:r>
                        <a:rPr kumimoji="1" lang="ja-JP" altLang="en-US" sz="2000" dirty="0"/>
                        <a:t>要求事項が完了した際、部品提出保証書（</a:t>
                      </a:r>
                      <a:r>
                        <a:rPr kumimoji="1" lang="en-US" altLang="ja-JP" sz="2000" dirty="0"/>
                        <a:t>PSW</a:t>
                      </a:r>
                      <a:r>
                        <a:rPr kumimoji="1" lang="ja-JP" altLang="en-US" sz="2000" dirty="0"/>
                        <a:t>）を顧客へ提出して承認を得る。</a:t>
                      </a:r>
                      <a:endParaRPr kumimoji="1" lang="en-US" altLang="ja-JP" sz="2000" dirty="0"/>
                    </a:p>
                    <a:p>
                      <a:pPr marL="457200" indent="-457200">
                        <a:buFont typeface="+mj-ea"/>
                        <a:buAutoNum type="circleNumDbPlain"/>
                      </a:pPr>
                      <a:r>
                        <a:rPr kumimoji="1" lang="ja-JP" altLang="en-US" sz="2000" dirty="0"/>
                        <a:t>生産部品が</a:t>
                      </a:r>
                      <a:r>
                        <a:rPr kumimoji="1" lang="en-US" altLang="ja-JP" sz="2000" dirty="0"/>
                        <a:t>2</a:t>
                      </a:r>
                      <a:r>
                        <a:rPr kumimoji="1" lang="ja-JP" altLang="en-US" sz="2000" dirty="0"/>
                        <a:t>つ以上のキャビティ、鋳型、治工具、金型、パターン又は生産プロセスから製造される場合、その各々から</a:t>
                      </a:r>
                      <a:r>
                        <a:rPr kumimoji="1" lang="en-US" altLang="ja-JP" sz="2000" dirty="0"/>
                        <a:t>1</a:t>
                      </a:r>
                      <a:r>
                        <a:rPr kumimoji="1" lang="ja-JP" altLang="en-US" sz="2000" dirty="0" err="1"/>
                        <a:t>つの</a:t>
                      </a:r>
                      <a:r>
                        <a:rPr kumimoji="1" lang="ja-JP" altLang="en-US" sz="2000" dirty="0"/>
                        <a:t>部品について完全な寸法評価を行う。</a:t>
                      </a:r>
                    </a:p>
                  </a:txBody>
                  <a:tcPr/>
                </a:tc>
                <a:extLst>
                  <a:ext uri="{0D108BD9-81ED-4DB2-BD59-A6C34878D82A}">
                    <a16:rowId xmlns:a16="http://schemas.microsoft.com/office/drawing/2014/main" val="2101098016"/>
                  </a:ext>
                </a:extLst>
              </a:tr>
            </a:tbl>
          </a:graphicData>
        </a:graphic>
      </p:graphicFrame>
    </p:spTree>
    <p:extLst>
      <p:ext uri="{BB962C8B-B14F-4D97-AF65-F5344CB8AC3E}">
        <p14:creationId xmlns:p14="http://schemas.microsoft.com/office/powerpoint/2010/main" val="3717622059"/>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449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３．ＰＰＡＰ（要求事項）</a:t>
            </a:r>
          </a:p>
        </p:txBody>
      </p:sp>
      <p:pic>
        <p:nvPicPr>
          <p:cNvPr id="8" name="図 7">
            <a:extLst>
              <a:ext uri="{FF2B5EF4-FFF2-40B4-BE49-F238E27FC236}">
                <a16:creationId xmlns:a16="http://schemas.microsoft.com/office/drawing/2014/main" id="{40641094-19CA-429E-ACD2-0C391AB6A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58900"/>
            <a:ext cx="10515599" cy="499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284707"/>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要求事項の扱い（提出・承認）は次の</a:t>
            </a:r>
            <a:r>
              <a:rPr lang="en-US" altLang="ja-JP" sz="2400" dirty="0"/>
              <a:t>5</a:t>
            </a:r>
            <a:r>
              <a:rPr lang="ja-JP" altLang="en-US" sz="2400" dirty="0" err="1"/>
              <a:t>つの</a:t>
            </a:r>
            <a:r>
              <a:rPr lang="ja-JP" altLang="en-US" sz="2400" dirty="0"/>
              <a:t>レベルに区分され、どのレベルを適用するかは顧客が指定する。（指定がない場合、最も厳しいレベル</a:t>
            </a:r>
            <a:r>
              <a:rPr lang="en-US" altLang="ja-JP" sz="2400" dirty="0"/>
              <a:t>3</a:t>
            </a:r>
            <a:r>
              <a:rPr lang="ja-JP" altLang="en-US" sz="2400" dirty="0"/>
              <a:t>を適用する。）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３．ＰＰＡＰ（提出・承認のレベル）</a:t>
            </a:r>
          </a:p>
        </p:txBody>
      </p:sp>
      <p:graphicFrame>
        <p:nvGraphicFramePr>
          <p:cNvPr id="2" name="表 1">
            <a:extLst>
              <a:ext uri="{FF2B5EF4-FFF2-40B4-BE49-F238E27FC236}">
                <a16:creationId xmlns:a16="http://schemas.microsoft.com/office/drawing/2014/main" id="{852A586D-84FD-46C2-8556-A5929CC5B7DD}"/>
              </a:ext>
            </a:extLst>
          </p:cNvPr>
          <p:cNvGraphicFramePr>
            <a:graphicFrameLocks noGrp="1"/>
          </p:cNvGraphicFramePr>
          <p:nvPr>
            <p:extLst>
              <p:ext uri="{D42A27DB-BD31-4B8C-83A1-F6EECF244321}">
                <p14:modId xmlns:p14="http://schemas.microsoft.com/office/powerpoint/2010/main" val="4219342917"/>
              </p:ext>
            </p:extLst>
          </p:nvPr>
        </p:nvGraphicFramePr>
        <p:xfrm>
          <a:off x="838199" y="2603551"/>
          <a:ext cx="10515600" cy="3108960"/>
        </p:xfrm>
        <a:graphic>
          <a:graphicData uri="http://schemas.openxmlformats.org/drawingml/2006/table">
            <a:tbl>
              <a:tblPr firstRow="1" bandRow="1">
                <a:tableStyleId>{5940675A-B579-460E-94D1-54222C63F5DA}</a:tableStyleId>
              </a:tblPr>
              <a:tblGrid>
                <a:gridCol w="1409242">
                  <a:extLst>
                    <a:ext uri="{9D8B030D-6E8A-4147-A177-3AD203B41FA5}">
                      <a16:colId xmlns:a16="http://schemas.microsoft.com/office/drawing/2014/main" val="3121896908"/>
                    </a:ext>
                  </a:extLst>
                </a:gridCol>
                <a:gridCol w="9106358">
                  <a:extLst>
                    <a:ext uri="{9D8B030D-6E8A-4147-A177-3AD203B41FA5}">
                      <a16:colId xmlns:a16="http://schemas.microsoft.com/office/drawing/2014/main" val="991165189"/>
                    </a:ext>
                  </a:extLst>
                </a:gridCol>
              </a:tblGrid>
              <a:tr h="370840">
                <a:tc>
                  <a:txBody>
                    <a:bodyPr/>
                    <a:lstStyle/>
                    <a:p>
                      <a:pPr algn="ctr"/>
                      <a:r>
                        <a:rPr kumimoji="1" lang="ja-JP" altLang="en-US" sz="2100" dirty="0"/>
                        <a:t>区分</a:t>
                      </a:r>
                    </a:p>
                  </a:txBody>
                  <a:tcPr>
                    <a:solidFill>
                      <a:schemeClr val="tx2">
                        <a:lumMod val="40000"/>
                        <a:lumOff val="60000"/>
                      </a:schemeClr>
                    </a:solidFill>
                  </a:tcPr>
                </a:tc>
                <a:tc>
                  <a:txBody>
                    <a:bodyPr/>
                    <a:lstStyle/>
                    <a:p>
                      <a:pPr algn="ctr"/>
                      <a:r>
                        <a:rPr kumimoji="1" lang="ja-JP" altLang="en-US" sz="2100" dirty="0"/>
                        <a:t>内容</a:t>
                      </a:r>
                    </a:p>
                  </a:txBody>
                  <a:tcPr>
                    <a:solidFill>
                      <a:schemeClr val="tx2">
                        <a:lumMod val="40000"/>
                        <a:lumOff val="60000"/>
                      </a:schemeClr>
                    </a:solidFill>
                  </a:tcPr>
                </a:tc>
                <a:extLst>
                  <a:ext uri="{0D108BD9-81ED-4DB2-BD59-A6C34878D82A}">
                    <a16:rowId xmlns:a16="http://schemas.microsoft.com/office/drawing/2014/main" val="635548835"/>
                  </a:ext>
                </a:extLst>
              </a:tr>
              <a:tr h="370840">
                <a:tc>
                  <a:txBody>
                    <a:bodyPr/>
                    <a:lstStyle/>
                    <a:p>
                      <a:r>
                        <a:rPr kumimoji="1" lang="ja-JP" altLang="en-US" sz="2100" dirty="0"/>
                        <a:t>レベル１</a:t>
                      </a:r>
                    </a:p>
                  </a:txBody>
                  <a:tcPr/>
                </a:tc>
                <a:tc>
                  <a:txBody>
                    <a:bodyPr/>
                    <a:lstStyle/>
                    <a:p>
                      <a:r>
                        <a:rPr kumimoji="1" lang="ja-JP" altLang="en-US" sz="2100" dirty="0"/>
                        <a:t>部品提出保証書（</a:t>
                      </a:r>
                      <a:r>
                        <a:rPr kumimoji="1" lang="en-US" altLang="ja-JP" sz="2100" dirty="0"/>
                        <a:t>PSW</a:t>
                      </a:r>
                      <a:r>
                        <a:rPr kumimoji="1" lang="ja-JP" altLang="en-US" sz="2100" dirty="0"/>
                        <a:t>）のみを顧客へ提出（指定された外観品目については外観承認報告書も）</a:t>
                      </a:r>
                    </a:p>
                  </a:txBody>
                  <a:tcPr/>
                </a:tc>
                <a:extLst>
                  <a:ext uri="{0D108BD9-81ED-4DB2-BD59-A6C34878D82A}">
                    <a16:rowId xmlns:a16="http://schemas.microsoft.com/office/drawing/2014/main" val="4168248251"/>
                  </a:ext>
                </a:extLst>
              </a:tr>
              <a:tr h="370840">
                <a:tc>
                  <a:txBody>
                    <a:bodyPr/>
                    <a:lstStyle/>
                    <a:p>
                      <a:r>
                        <a:rPr kumimoji="1" lang="ja-JP" altLang="en-US" sz="2100" dirty="0"/>
                        <a:t>レベル２</a:t>
                      </a:r>
                    </a:p>
                  </a:txBody>
                  <a:tcPr/>
                </a:tc>
                <a:tc>
                  <a:txBody>
                    <a:bodyPr/>
                    <a:lstStyle/>
                    <a:p>
                      <a:r>
                        <a:rPr kumimoji="1" lang="ja-JP" altLang="en-US" sz="2100" dirty="0"/>
                        <a:t>部品提出保証書に製品サンプル及び支援データの一部を添えて顧客に提出</a:t>
                      </a:r>
                    </a:p>
                  </a:txBody>
                  <a:tcPr/>
                </a:tc>
                <a:extLst>
                  <a:ext uri="{0D108BD9-81ED-4DB2-BD59-A6C34878D82A}">
                    <a16:rowId xmlns:a16="http://schemas.microsoft.com/office/drawing/2014/main" val="759294878"/>
                  </a:ext>
                </a:extLst>
              </a:tr>
              <a:tr h="370840">
                <a:tc>
                  <a:txBody>
                    <a:bodyPr/>
                    <a:lstStyle/>
                    <a:p>
                      <a:r>
                        <a:rPr kumimoji="1" lang="ja-JP" altLang="en-US" sz="2100" dirty="0"/>
                        <a:t>レベル３</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100" dirty="0"/>
                        <a:t>部品提出保証書に製品サンプル及び完全な支援データを添えて顧客に提出</a:t>
                      </a:r>
                    </a:p>
                  </a:txBody>
                  <a:tcPr/>
                </a:tc>
                <a:extLst>
                  <a:ext uri="{0D108BD9-81ED-4DB2-BD59-A6C34878D82A}">
                    <a16:rowId xmlns:a16="http://schemas.microsoft.com/office/drawing/2014/main" val="164747262"/>
                  </a:ext>
                </a:extLst>
              </a:tr>
              <a:tr h="370840">
                <a:tc>
                  <a:txBody>
                    <a:bodyPr/>
                    <a:lstStyle/>
                    <a:p>
                      <a:r>
                        <a:rPr kumimoji="1" lang="ja-JP" altLang="en-US" sz="2100" dirty="0"/>
                        <a:t>レベル４</a:t>
                      </a:r>
                    </a:p>
                  </a:txBody>
                  <a:tcPr/>
                </a:tc>
                <a:tc>
                  <a:txBody>
                    <a:bodyPr/>
                    <a:lstStyle/>
                    <a:p>
                      <a:r>
                        <a:rPr kumimoji="1" lang="ja-JP" altLang="en-US" sz="2100" dirty="0"/>
                        <a:t>部品提出保証書及びその他顧客により規定されたものを顧客に提出</a:t>
                      </a:r>
                    </a:p>
                  </a:txBody>
                  <a:tcPr/>
                </a:tc>
                <a:extLst>
                  <a:ext uri="{0D108BD9-81ED-4DB2-BD59-A6C34878D82A}">
                    <a16:rowId xmlns:a16="http://schemas.microsoft.com/office/drawing/2014/main" val="282130343"/>
                  </a:ext>
                </a:extLst>
              </a:tr>
              <a:tr h="370840">
                <a:tc>
                  <a:txBody>
                    <a:bodyPr/>
                    <a:lstStyle/>
                    <a:p>
                      <a:r>
                        <a:rPr kumimoji="1" lang="ja-JP" altLang="en-US" sz="2100" dirty="0"/>
                        <a:t>レベル５</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100" dirty="0"/>
                        <a:t>部品提出保証書に製品サンプル及び完全な支援データを添えたものを組織の製造場所で確認</a:t>
                      </a:r>
                    </a:p>
                  </a:txBody>
                  <a:tcPr/>
                </a:tc>
                <a:extLst>
                  <a:ext uri="{0D108BD9-81ED-4DB2-BD59-A6C34878D82A}">
                    <a16:rowId xmlns:a16="http://schemas.microsoft.com/office/drawing/2014/main" val="258529348"/>
                  </a:ext>
                </a:extLst>
              </a:tr>
            </a:tbl>
          </a:graphicData>
        </a:graphic>
      </p:graphicFrame>
      <p:sp>
        <p:nvSpPr>
          <p:cNvPr id="6" name="矢印: 下 5">
            <a:extLst>
              <a:ext uri="{FF2B5EF4-FFF2-40B4-BE49-F238E27FC236}">
                <a16:creationId xmlns:a16="http://schemas.microsoft.com/office/drawing/2014/main" id="{F04CC5B3-8AE4-43CD-8434-BA2BEC2DBAA4}"/>
              </a:ext>
            </a:extLst>
          </p:cNvPr>
          <p:cNvSpPr/>
          <p:nvPr/>
        </p:nvSpPr>
        <p:spPr>
          <a:xfrm>
            <a:off x="1949986" y="3018622"/>
            <a:ext cx="594910" cy="1531344"/>
          </a:xfrm>
          <a:prstGeom prst="downArrow">
            <a:avLst/>
          </a:prstGeom>
          <a:solidFill>
            <a:srgbClr val="4472C4">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70E5F036-772E-4021-B838-83EA860F1EAA}"/>
              </a:ext>
            </a:extLst>
          </p:cNvPr>
          <p:cNvSpPr/>
          <p:nvPr/>
        </p:nvSpPr>
        <p:spPr>
          <a:xfrm>
            <a:off x="3933021" y="2326344"/>
            <a:ext cx="2016086" cy="510346"/>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厳しくなる方向</a:t>
            </a:r>
          </a:p>
        </p:txBody>
      </p:sp>
      <p:cxnSp>
        <p:nvCxnSpPr>
          <p:cNvPr id="12" name="直線矢印コネクタ 11">
            <a:extLst>
              <a:ext uri="{FF2B5EF4-FFF2-40B4-BE49-F238E27FC236}">
                <a16:creationId xmlns:a16="http://schemas.microsoft.com/office/drawing/2014/main" id="{75A2E029-29B9-4E3F-9A81-E3087F717513}"/>
              </a:ext>
            </a:extLst>
          </p:cNvPr>
          <p:cNvCxnSpPr>
            <a:endCxn id="6" idx="0"/>
          </p:cNvCxnSpPr>
          <p:nvPr/>
        </p:nvCxnSpPr>
        <p:spPr>
          <a:xfrm flipH="1">
            <a:off x="2247441" y="2603551"/>
            <a:ext cx="1663547" cy="4150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矢印: 上下 12">
            <a:extLst>
              <a:ext uri="{FF2B5EF4-FFF2-40B4-BE49-F238E27FC236}">
                <a16:creationId xmlns:a16="http://schemas.microsoft.com/office/drawing/2014/main" id="{5A266E28-44AB-4991-9ACB-3374B2ED964D}"/>
              </a:ext>
            </a:extLst>
          </p:cNvPr>
          <p:cNvSpPr/>
          <p:nvPr/>
        </p:nvSpPr>
        <p:spPr>
          <a:xfrm>
            <a:off x="1949986" y="4549965"/>
            <a:ext cx="594910" cy="1162545"/>
          </a:xfrm>
          <a:prstGeom prst="upDown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7EC953BD-655E-40D9-B8AD-8AA260123233}"/>
              </a:ext>
            </a:extLst>
          </p:cNvPr>
          <p:cNvSpPr/>
          <p:nvPr/>
        </p:nvSpPr>
        <p:spPr>
          <a:xfrm>
            <a:off x="3314240" y="5773394"/>
            <a:ext cx="2425548" cy="510346"/>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第二者監査レベル</a:t>
            </a:r>
          </a:p>
        </p:txBody>
      </p:sp>
      <p:cxnSp>
        <p:nvCxnSpPr>
          <p:cNvPr id="15" name="直線矢印コネクタ 14">
            <a:extLst>
              <a:ext uri="{FF2B5EF4-FFF2-40B4-BE49-F238E27FC236}">
                <a16:creationId xmlns:a16="http://schemas.microsoft.com/office/drawing/2014/main" id="{28E3B8AD-730C-419E-912B-9992D795353C}"/>
              </a:ext>
            </a:extLst>
          </p:cNvPr>
          <p:cNvCxnSpPr>
            <a:cxnSpLocks/>
            <a:stCxn id="14" idx="1"/>
            <a:endCxn id="13" idx="4"/>
          </p:cNvCxnSpPr>
          <p:nvPr/>
        </p:nvCxnSpPr>
        <p:spPr>
          <a:xfrm flipH="1" flipV="1">
            <a:off x="2247441" y="5712510"/>
            <a:ext cx="1066799" cy="3160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568641"/>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en-US" altLang="ja-JP" sz="2400" dirty="0"/>
              <a:t>5</a:t>
            </a:r>
            <a:r>
              <a:rPr lang="ja-JP" altLang="en-US" sz="2400" dirty="0" err="1"/>
              <a:t>つの</a:t>
            </a:r>
            <a:r>
              <a:rPr lang="ja-JP" altLang="en-US" sz="2400" dirty="0"/>
              <a:t>レベル区分のもとになっているのは、要求事項ごとの取扱いを定めた次の</a:t>
            </a:r>
            <a:r>
              <a:rPr lang="en-US" altLang="ja-JP" sz="2400" dirty="0"/>
              <a:t>3</a:t>
            </a:r>
            <a:r>
              <a:rPr lang="ja-JP" altLang="en-US" sz="2400" dirty="0" err="1"/>
              <a:t>つの</a:t>
            </a:r>
            <a:r>
              <a:rPr lang="ja-JP" altLang="en-US" sz="2400" dirty="0"/>
              <a:t>区分である。</a:t>
            </a: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r>
              <a:rPr lang="ja-JP" altLang="en-US" sz="2400" dirty="0"/>
              <a:t>提出レベルの決定は、次の情報に基づき顧客が判断する。</a:t>
            </a:r>
            <a:endParaRPr lang="en-US" altLang="ja-JP" sz="2400" dirty="0"/>
          </a:p>
          <a:p>
            <a:pPr marL="914400" lvl="1" indent="-457200">
              <a:lnSpc>
                <a:spcPct val="100000"/>
              </a:lnSpc>
              <a:buFont typeface="+mj-ea"/>
              <a:buAutoNum type="circleNumDbPlain"/>
            </a:pPr>
            <a:r>
              <a:rPr lang="ja-JP" altLang="en-US" sz="2000" dirty="0"/>
              <a:t>顧客による組織の品質状況の評価</a:t>
            </a:r>
            <a:endParaRPr lang="en-US" altLang="ja-JP" sz="2000" dirty="0"/>
          </a:p>
          <a:p>
            <a:pPr marL="914400" lvl="1" indent="-457200">
              <a:lnSpc>
                <a:spcPct val="100000"/>
              </a:lnSpc>
              <a:buFont typeface="+mj-ea"/>
              <a:buAutoNum type="circleNumDbPlain"/>
            </a:pPr>
            <a:r>
              <a:rPr lang="ja-JP" altLang="en-US" sz="2000" dirty="0"/>
              <a:t>部品の重要性</a:t>
            </a:r>
            <a:endParaRPr lang="en-US" altLang="ja-JP" sz="2000" dirty="0"/>
          </a:p>
          <a:p>
            <a:pPr marL="914400" lvl="1" indent="-457200">
              <a:lnSpc>
                <a:spcPct val="100000"/>
              </a:lnSpc>
              <a:buFont typeface="+mj-ea"/>
              <a:buAutoNum type="circleNumDbPlain"/>
            </a:pPr>
            <a:r>
              <a:rPr lang="ja-JP" altLang="en-US" sz="2000" dirty="0"/>
              <a:t>過去の実績及び組織の技術力</a:t>
            </a:r>
            <a:endParaRPr lang="en-US" altLang="ja-JP" sz="2000" dirty="0"/>
          </a:p>
          <a:p>
            <a:pPr marL="914400" lvl="1" indent="-457200">
              <a:lnSpc>
                <a:spcPct val="100000"/>
              </a:lnSpc>
              <a:buFont typeface="+mj-ea"/>
              <a:buAutoNum type="circleNumDbPlain"/>
            </a:pPr>
            <a:r>
              <a:rPr lang="en-US" altLang="ja-JP" sz="2000" dirty="0"/>
              <a:t>IATF16949</a:t>
            </a:r>
            <a:r>
              <a:rPr lang="ja-JP" altLang="en-US" sz="2000" dirty="0" err="1"/>
              <a:t>への</a:t>
            </a:r>
            <a:r>
              <a:rPr lang="ja-JP" altLang="en-US" sz="2000" dirty="0"/>
              <a:t>適合状況</a:t>
            </a:r>
            <a:endParaRPr lang="en-US" altLang="ja-JP" sz="2000" dirty="0"/>
          </a:p>
          <a:p>
            <a:pPr marL="457200" indent="-457200">
              <a:lnSpc>
                <a:spcPct val="100000"/>
              </a:lnSpc>
              <a:buFont typeface="+mj-lt"/>
              <a:buAutoNum type="arabicPeriod" startAt="2"/>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３．ＰＰＡＰ（提出・承認のレベル）</a:t>
            </a:r>
          </a:p>
        </p:txBody>
      </p:sp>
      <p:graphicFrame>
        <p:nvGraphicFramePr>
          <p:cNvPr id="3" name="表 2">
            <a:extLst>
              <a:ext uri="{FF2B5EF4-FFF2-40B4-BE49-F238E27FC236}">
                <a16:creationId xmlns:a16="http://schemas.microsoft.com/office/drawing/2014/main" id="{6297C84E-F460-4FBF-8073-C2AB7D632566}"/>
              </a:ext>
            </a:extLst>
          </p:cNvPr>
          <p:cNvGraphicFramePr>
            <a:graphicFrameLocks noGrp="1"/>
          </p:cNvGraphicFramePr>
          <p:nvPr>
            <p:extLst>
              <p:ext uri="{D42A27DB-BD31-4B8C-83A1-F6EECF244321}">
                <p14:modId xmlns:p14="http://schemas.microsoft.com/office/powerpoint/2010/main" val="1637487150"/>
              </p:ext>
            </p:extLst>
          </p:nvPr>
        </p:nvGraphicFramePr>
        <p:xfrm>
          <a:off x="838200" y="2173893"/>
          <a:ext cx="10515600" cy="1706880"/>
        </p:xfrm>
        <a:graphic>
          <a:graphicData uri="http://schemas.openxmlformats.org/drawingml/2006/table">
            <a:tbl>
              <a:tblPr firstRow="1" bandRow="1">
                <a:tableStyleId>{5940675A-B579-460E-94D1-54222C63F5DA}</a:tableStyleId>
              </a:tblPr>
              <a:tblGrid>
                <a:gridCol w="1541443">
                  <a:extLst>
                    <a:ext uri="{9D8B030D-6E8A-4147-A177-3AD203B41FA5}">
                      <a16:colId xmlns:a16="http://schemas.microsoft.com/office/drawing/2014/main" val="2955519776"/>
                    </a:ext>
                  </a:extLst>
                </a:gridCol>
                <a:gridCol w="4252511">
                  <a:extLst>
                    <a:ext uri="{9D8B030D-6E8A-4147-A177-3AD203B41FA5}">
                      <a16:colId xmlns:a16="http://schemas.microsoft.com/office/drawing/2014/main" val="1443635925"/>
                    </a:ext>
                  </a:extLst>
                </a:gridCol>
                <a:gridCol w="4721646">
                  <a:extLst>
                    <a:ext uri="{9D8B030D-6E8A-4147-A177-3AD203B41FA5}">
                      <a16:colId xmlns:a16="http://schemas.microsoft.com/office/drawing/2014/main" val="2928243665"/>
                    </a:ext>
                  </a:extLst>
                </a:gridCol>
              </a:tblGrid>
              <a:tr h="370840">
                <a:tc>
                  <a:txBody>
                    <a:bodyPr/>
                    <a:lstStyle/>
                    <a:p>
                      <a:pPr algn="ctr"/>
                      <a:r>
                        <a:rPr kumimoji="1" lang="ja-JP" altLang="en-US" sz="2200" dirty="0"/>
                        <a:t>区分</a:t>
                      </a:r>
                    </a:p>
                  </a:txBody>
                  <a:tcPr>
                    <a:solidFill>
                      <a:schemeClr val="tx2">
                        <a:lumMod val="40000"/>
                        <a:lumOff val="60000"/>
                      </a:schemeClr>
                    </a:solidFill>
                  </a:tcPr>
                </a:tc>
                <a:tc>
                  <a:txBody>
                    <a:bodyPr/>
                    <a:lstStyle/>
                    <a:p>
                      <a:pPr algn="ctr"/>
                      <a:r>
                        <a:rPr kumimoji="1" lang="ja-JP" altLang="en-US" sz="2200" dirty="0"/>
                        <a:t>基本</a:t>
                      </a:r>
                    </a:p>
                  </a:txBody>
                  <a:tcPr>
                    <a:solidFill>
                      <a:schemeClr val="tx2">
                        <a:lumMod val="40000"/>
                        <a:lumOff val="60000"/>
                      </a:schemeClr>
                    </a:solidFill>
                  </a:tcPr>
                </a:tc>
                <a:tc>
                  <a:txBody>
                    <a:bodyPr/>
                    <a:lstStyle/>
                    <a:p>
                      <a:pPr algn="ctr"/>
                      <a:r>
                        <a:rPr kumimoji="1" lang="ja-JP" altLang="en-US" sz="2200" dirty="0"/>
                        <a:t>顧客要請があれば</a:t>
                      </a:r>
                    </a:p>
                  </a:txBody>
                  <a:tcPr>
                    <a:solidFill>
                      <a:schemeClr val="tx2">
                        <a:lumMod val="40000"/>
                        <a:lumOff val="60000"/>
                      </a:schemeClr>
                    </a:solidFill>
                  </a:tcPr>
                </a:tc>
                <a:extLst>
                  <a:ext uri="{0D108BD9-81ED-4DB2-BD59-A6C34878D82A}">
                    <a16:rowId xmlns:a16="http://schemas.microsoft.com/office/drawing/2014/main" val="184020638"/>
                  </a:ext>
                </a:extLst>
              </a:tr>
              <a:tr h="370840">
                <a:tc>
                  <a:txBody>
                    <a:bodyPr/>
                    <a:lstStyle/>
                    <a:p>
                      <a:pPr algn="ctr"/>
                      <a:r>
                        <a:rPr kumimoji="1" lang="ja-JP" altLang="en-US" sz="2200" dirty="0"/>
                        <a:t>Ｓ</a:t>
                      </a:r>
                      <a:r>
                        <a:rPr kumimoji="1" lang="ja-JP" altLang="en-US" sz="1400" dirty="0"/>
                        <a:t>（</a:t>
                      </a:r>
                      <a:r>
                        <a:rPr kumimoji="1" lang="en-US" altLang="ja-JP" sz="1400" dirty="0"/>
                        <a:t>submit</a:t>
                      </a:r>
                      <a:r>
                        <a:rPr kumimoji="1" lang="ja-JP" altLang="en-US" sz="1400" dirty="0"/>
                        <a:t>）</a:t>
                      </a:r>
                    </a:p>
                  </a:txBody>
                  <a:tcPr/>
                </a:tc>
                <a:tc gridSpan="2">
                  <a:txBody>
                    <a:bodyPr/>
                    <a:lstStyle/>
                    <a:p>
                      <a:r>
                        <a:rPr kumimoji="1" lang="ja-JP" altLang="en-US" sz="2200" dirty="0"/>
                        <a:t>顧客へ</a:t>
                      </a:r>
                      <a:r>
                        <a:rPr kumimoji="1" lang="ja-JP" altLang="en-US" sz="2200" dirty="0">
                          <a:solidFill>
                            <a:srgbClr val="FF0000"/>
                          </a:solidFill>
                          <a:effectLst>
                            <a:outerShdw blurRad="38100" dist="38100" dir="2700000" algn="tl">
                              <a:srgbClr val="000000">
                                <a:alpha val="43137"/>
                              </a:srgbClr>
                            </a:outerShdw>
                          </a:effectLst>
                        </a:rPr>
                        <a:t>提出し承認</a:t>
                      </a:r>
                      <a:r>
                        <a:rPr kumimoji="1" lang="ja-JP" altLang="en-US" sz="2200" dirty="0"/>
                        <a:t>を得る。更に適切な場所に保管する。</a:t>
                      </a:r>
                    </a:p>
                  </a:txBody>
                  <a:tcPr/>
                </a:tc>
                <a:tc hMerge="1">
                  <a:txBody>
                    <a:bodyPr/>
                    <a:lstStyle/>
                    <a:p>
                      <a:endParaRPr kumimoji="1" lang="ja-JP" altLang="en-US"/>
                    </a:p>
                  </a:txBody>
                  <a:tcPr/>
                </a:tc>
                <a:extLst>
                  <a:ext uri="{0D108BD9-81ED-4DB2-BD59-A6C34878D82A}">
                    <a16:rowId xmlns:a16="http://schemas.microsoft.com/office/drawing/2014/main" val="639971183"/>
                  </a:ext>
                </a:extLst>
              </a:tr>
              <a:tr h="370840">
                <a:tc>
                  <a:txBody>
                    <a:bodyPr/>
                    <a:lstStyle/>
                    <a:p>
                      <a:pPr algn="ctr"/>
                      <a:r>
                        <a:rPr kumimoji="1" lang="ja-JP" altLang="en-US" sz="2200" dirty="0"/>
                        <a:t>Ｒ</a:t>
                      </a:r>
                      <a:r>
                        <a:rPr kumimoji="1" lang="ja-JP" altLang="en-US" sz="1400" dirty="0"/>
                        <a:t>（</a:t>
                      </a:r>
                      <a:r>
                        <a:rPr kumimoji="1" lang="en-US" altLang="ja-JP" sz="1400" dirty="0"/>
                        <a:t>retain</a:t>
                      </a:r>
                      <a:r>
                        <a:rPr kumimoji="1" lang="ja-JP" altLang="en-US" sz="1400" dirty="0"/>
                        <a:t>）</a:t>
                      </a:r>
                    </a:p>
                  </a:txBody>
                  <a:tcPr/>
                </a:tc>
                <a:tc>
                  <a:txBody>
                    <a:bodyPr/>
                    <a:lstStyle/>
                    <a:p>
                      <a:r>
                        <a:rPr kumimoji="1" lang="ja-JP" altLang="en-US" sz="2200" dirty="0"/>
                        <a:t>適切な場所に</a:t>
                      </a:r>
                      <a:r>
                        <a:rPr kumimoji="1" lang="ja-JP" altLang="en-US" sz="2200" dirty="0">
                          <a:solidFill>
                            <a:srgbClr val="FF0000"/>
                          </a:solidFill>
                          <a:effectLst>
                            <a:outerShdw blurRad="38100" dist="38100" dir="2700000" algn="tl">
                              <a:srgbClr val="000000">
                                <a:alpha val="43137"/>
                              </a:srgbClr>
                            </a:outerShdw>
                          </a:effectLst>
                        </a:rPr>
                        <a:t>保管</a:t>
                      </a:r>
                      <a:r>
                        <a:rPr kumimoji="1" lang="ja-JP" altLang="en-US" sz="2200" dirty="0"/>
                        <a:t>する。</a:t>
                      </a:r>
                    </a:p>
                  </a:txBody>
                  <a:tcPr/>
                </a:tc>
                <a:tc>
                  <a:txBody>
                    <a:bodyPr/>
                    <a:lstStyle/>
                    <a:p>
                      <a:r>
                        <a:rPr kumimoji="1" lang="ja-JP" altLang="en-US" sz="2200" dirty="0"/>
                        <a:t>顧客が</a:t>
                      </a:r>
                      <a:r>
                        <a:rPr kumimoji="1" lang="ja-JP" altLang="en-US" sz="2200" dirty="0">
                          <a:solidFill>
                            <a:srgbClr val="FF0000"/>
                          </a:solidFill>
                          <a:effectLst>
                            <a:outerShdw blurRad="38100" dist="38100" dir="2700000" algn="tl">
                              <a:srgbClr val="000000">
                                <a:alpha val="43137"/>
                              </a:srgbClr>
                            </a:outerShdw>
                          </a:effectLst>
                        </a:rPr>
                        <a:t>利用</a:t>
                      </a:r>
                      <a:r>
                        <a:rPr kumimoji="1" lang="ja-JP" altLang="en-US" sz="2200" dirty="0"/>
                        <a:t>できるようにする。</a:t>
                      </a:r>
                    </a:p>
                  </a:txBody>
                  <a:tcPr/>
                </a:tc>
                <a:extLst>
                  <a:ext uri="{0D108BD9-81ED-4DB2-BD59-A6C34878D82A}">
                    <a16:rowId xmlns:a16="http://schemas.microsoft.com/office/drawing/2014/main" val="1058634766"/>
                  </a:ext>
                </a:extLst>
              </a:tr>
              <a:tr h="370840">
                <a:tc>
                  <a:txBody>
                    <a:bodyPr/>
                    <a:lstStyle/>
                    <a:p>
                      <a:pPr algn="ctr"/>
                      <a:r>
                        <a:rPr kumimoji="1" lang="ja-JP" altLang="en-US" sz="2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t>適切な場所に</a:t>
                      </a:r>
                      <a:r>
                        <a:rPr kumimoji="1" lang="ja-JP" altLang="en-US" sz="2200" dirty="0">
                          <a:solidFill>
                            <a:srgbClr val="FF0000"/>
                          </a:solidFill>
                          <a:effectLst>
                            <a:outerShdw blurRad="38100" dist="38100" dir="2700000" algn="tl">
                              <a:srgbClr val="000000">
                                <a:alpha val="43137"/>
                              </a:srgbClr>
                            </a:outerShdw>
                          </a:effectLst>
                        </a:rPr>
                        <a:t>保管</a:t>
                      </a:r>
                      <a:r>
                        <a:rPr kumimoji="1" lang="ja-JP" altLang="en-US" sz="2200" dirty="0"/>
                        <a:t>する。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t>顧客へ</a:t>
                      </a:r>
                      <a:r>
                        <a:rPr kumimoji="1" lang="ja-JP" altLang="en-US" sz="2200" dirty="0">
                          <a:solidFill>
                            <a:srgbClr val="FF0000"/>
                          </a:solidFill>
                          <a:effectLst>
                            <a:outerShdw blurRad="38100" dist="38100" dir="2700000" algn="tl">
                              <a:srgbClr val="000000">
                                <a:alpha val="43137"/>
                              </a:srgbClr>
                            </a:outerShdw>
                          </a:effectLst>
                        </a:rPr>
                        <a:t>提出し承認</a:t>
                      </a:r>
                      <a:r>
                        <a:rPr kumimoji="1" lang="ja-JP" altLang="en-US" sz="2200" dirty="0"/>
                        <a:t>を得る。</a:t>
                      </a:r>
                    </a:p>
                  </a:txBody>
                  <a:tcPr/>
                </a:tc>
                <a:extLst>
                  <a:ext uri="{0D108BD9-81ED-4DB2-BD59-A6C34878D82A}">
                    <a16:rowId xmlns:a16="http://schemas.microsoft.com/office/drawing/2014/main" val="3181933887"/>
                  </a:ext>
                </a:extLst>
              </a:tr>
            </a:tbl>
          </a:graphicData>
        </a:graphic>
      </p:graphicFrame>
    </p:spTree>
    <p:extLst>
      <p:ext uri="{BB962C8B-B14F-4D97-AF65-F5344CB8AC3E}">
        <p14:creationId xmlns:p14="http://schemas.microsoft.com/office/powerpoint/2010/main" val="2966541885"/>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要求事項ごとの提出・承認のレベル</a:t>
            </a:r>
            <a:endParaRPr lang="en-US" altLang="ja-JP" sz="2000" dirty="0"/>
          </a:p>
          <a:p>
            <a:pPr marL="457200" indent="-457200">
              <a:lnSpc>
                <a:spcPct val="100000"/>
              </a:lnSpc>
              <a:buFont typeface="+mj-lt"/>
              <a:buAutoNum type="arabicPeriod" startAt="4"/>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３．ＰＰＡＰ（提出・承認のレベル）</a:t>
            </a:r>
          </a:p>
        </p:txBody>
      </p:sp>
      <p:graphicFrame>
        <p:nvGraphicFramePr>
          <p:cNvPr id="2" name="表 1">
            <a:extLst>
              <a:ext uri="{FF2B5EF4-FFF2-40B4-BE49-F238E27FC236}">
                <a16:creationId xmlns:a16="http://schemas.microsoft.com/office/drawing/2014/main" id="{119E586E-05A6-45DF-A487-1EB3AD252093}"/>
              </a:ext>
            </a:extLst>
          </p:cNvPr>
          <p:cNvGraphicFramePr>
            <a:graphicFrameLocks noGrp="1"/>
          </p:cNvGraphicFramePr>
          <p:nvPr>
            <p:extLst>
              <p:ext uri="{D42A27DB-BD31-4B8C-83A1-F6EECF244321}">
                <p14:modId xmlns:p14="http://schemas.microsoft.com/office/powerpoint/2010/main" val="2947901145"/>
              </p:ext>
            </p:extLst>
          </p:nvPr>
        </p:nvGraphicFramePr>
        <p:xfrm>
          <a:off x="838200" y="1854402"/>
          <a:ext cx="10515603" cy="4501950"/>
        </p:xfrm>
        <a:graphic>
          <a:graphicData uri="http://schemas.openxmlformats.org/drawingml/2006/table">
            <a:tbl>
              <a:tblPr firstRow="1" bandRow="1">
                <a:tableStyleId>{5940675A-B579-460E-94D1-54222C63F5DA}</a:tableStyleId>
              </a:tblPr>
              <a:tblGrid>
                <a:gridCol w="693145">
                  <a:extLst>
                    <a:ext uri="{9D8B030D-6E8A-4147-A177-3AD203B41FA5}">
                      <a16:colId xmlns:a16="http://schemas.microsoft.com/office/drawing/2014/main" val="3427091591"/>
                    </a:ext>
                  </a:extLst>
                </a:gridCol>
                <a:gridCol w="4186409">
                  <a:extLst>
                    <a:ext uri="{9D8B030D-6E8A-4147-A177-3AD203B41FA5}">
                      <a16:colId xmlns:a16="http://schemas.microsoft.com/office/drawing/2014/main" val="400504782"/>
                    </a:ext>
                  </a:extLst>
                </a:gridCol>
                <a:gridCol w="1112704">
                  <a:extLst>
                    <a:ext uri="{9D8B030D-6E8A-4147-A177-3AD203B41FA5}">
                      <a16:colId xmlns:a16="http://schemas.microsoft.com/office/drawing/2014/main" val="3777046410"/>
                    </a:ext>
                  </a:extLst>
                </a:gridCol>
                <a:gridCol w="1134737">
                  <a:extLst>
                    <a:ext uri="{9D8B030D-6E8A-4147-A177-3AD203B41FA5}">
                      <a16:colId xmlns:a16="http://schemas.microsoft.com/office/drawing/2014/main" val="1315186992"/>
                    </a:ext>
                  </a:extLst>
                </a:gridCol>
                <a:gridCol w="1123721">
                  <a:extLst>
                    <a:ext uri="{9D8B030D-6E8A-4147-A177-3AD203B41FA5}">
                      <a16:colId xmlns:a16="http://schemas.microsoft.com/office/drawing/2014/main" val="3868578157"/>
                    </a:ext>
                  </a:extLst>
                </a:gridCol>
                <a:gridCol w="1112703">
                  <a:extLst>
                    <a:ext uri="{9D8B030D-6E8A-4147-A177-3AD203B41FA5}">
                      <a16:colId xmlns:a16="http://schemas.microsoft.com/office/drawing/2014/main" val="183486936"/>
                    </a:ext>
                  </a:extLst>
                </a:gridCol>
                <a:gridCol w="1152184">
                  <a:extLst>
                    <a:ext uri="{9D8B030D-6E8A-4147-A177-3AD203B41FA5}">
                      <a16:colId xmlns:a16="http://schemas.microsoft.com/office/drawing/2014/main" val="3055211371"/>
                    </a:ext>
                  </a:extLst>
                </a:gridCol>
              </a:tblGrid>
              <a:tr h="450195">
                <a:tc gridSpan="2">
                  <a:txBody>
                    <a:bodyPr/>
                    <a:lstStyle/>
                    <a:p>
                      <a:pPr algn="ctr"/>
                      <a:r>
                        <a:rPr kumimoji="1" lang="ja-JP" altLang="en-US" dirty="0"/>
                        <a:t>要求事項</a:t>
                      </a:r>
                    </a:p>
                  </a:txBody>
                  <a:tcPr anchor="ctr">
                    <a:solidFill>
                      <a:schemeClr val="tx2">
                        <a:lumMod val="40000"/>
                        <a:lumOff val="60000"/>
                      </a:schemeClr>
                    </a:solidFill>
                  </a:tcPr>
                </a:tc>
                <a:tc hMerge="1">
                  <a:txBody>
                    <a:bodyPr/>
                    <a:lstStyle/>
                    <a:p>
                      <a:pPr algn="ctr"/>
                      <a:endParaRPr kumimoji="1" lang="ja-JP" altLang="en-US" dirty="0"/>
                    </a:p>
                  </a:txBody>
                  <a:tcPr>
                    <a:solidFill>
                      <a:schemeClr val="tx2">
                        <a:lumMod val="40000"/>
                        <a:lumOff val="60000"/>
                      </a:schemeClr>
                    </a:solidFill>
                  </a:tcPr>
                </a:tc>
                <a:tc>
                  <a:txBody>
                    <a:bodyPr/>
                    <a:lstStyle/>
                    <a:p>
                      <a:pPr algn="ctr"/>
                      <a:r>
                        <a:rPr kumimoji="1" lang="ja-JP" altLang="en-US" dirty="0"/>
                        <a:t>レベル１</a:t>
                      </a:r>
                    </a:p>
                  </a:txBody>
                  <a:tcPr anchor="ctr">
                    <a:solidFill>
                      <a:schemeClr val="tx2">
                        <a:lumMod val="40000"/>
                        <a:lumOff val="60000"/>
                      </a:schemeClr>
                    </a:solidFill>
                  </a:tcPr>
                </a:tc>
                <a:tc>
                  <a:txBody>
                    <a:bodyPr/>
                    <a:lstStyle/>
                    <a:p>
                      <a:pPr algn="ctr"/>
                      <a:r>
                        <a:rPr kumimoji="1" lang="ja-JP" altLang="en-US" dirty="0"/>
                        <a:t>レベル２</a:t>
                      </a:r>
                    </a:p>
                  </a:txBody>
                  <a:tcPr anchor="ctr">
                    <a:solidFill>
                      <a:schemeClr val="tx2">
                        <a:lumMod val="40000"/>
                        <a:lumOff val="60000"/>
                      </a:schemeClr>
                    </a:solidFill>
                  </a:tcPr>
                </a:tc>
                <a:tc>
                  <a:txBody>
                    <a:bodyPr/>
                    <a:lstStyle/>
                    <a:p>
                      <a:pPr algn="ctr"/>
                      <a:r>
                        <a:rPr kumimoji="1" lang="ja-JP" altLang="en-US" dirty="0"/>
                        <a:t>レベル３</a:t>
                      </a:r>
                    </a:p>
                  </a:txBody>
                  <a:tcPr anchor="ctr">
                    <a:solidFill>
                      <a:schemeClr val="tx2">
                        <a:lumMod val="40000"/>
                        <a:lumOff val="60000"/>
                      </a:schemeClr>
                    </a:solidFill>
                  </a:tcPr>
                </a:tc>
                <a:tc>
                  <a:txBody>
                    <a:bodyPr/>
                    <a:lstStyle/>
                    <a:p>
                      <a:pPr algn="ctr"/>
                      <a:r>
                        <a:rPr kumimoji="1" lang="ja-JP" altLang="en-US" dirty="0"/>
                        <a:t>レベル４</a:t>
                      </a:r>
                    </a:p>
                  </a:txBody>
                  <a:tcPr anchor="ctr">
                    <a:solidFill>
                      <a:schemeClr val="tx2">
                        <a:lumMod val="40000"/>
                        <a:lumOff val="60000"/>
                      </a:schemeClr>
                    </a:solidFill>
                  </a:tcPr>
                </a:tc>
                <a:tc>
                  <a:txBody>
                    <a:bodyPr/>
                    <a:lstStyle/>
                    <a:p>
                      <a:pPr algn="ctr"/>
                      <a:r>
                        <a:rPr kumimoji="1" lang="ja-JP" altLang="en-US" dirty="0"/>
                        <a:t>レベル５</a:t>
                      </a:r>
                    </a:p>
                  </a:txBody>
                  <a:tcPr anchor="ctr">
                    <a:solidFill>
                      <a:schemeClr val="tx2">
                        <a:lumMod val="40000"/>
                        <a:lumOff val="60000"/>
                      </a:schemeClr>
                    </a:solidFill>
                  </a:tcPr>
                </a:tc>
                <a:extLst>
                  <a:ext uri="{0D108BD9-81ED-4DB2-BD59-A6C34878D82A}">
                    <a16:rowId xmlns:a16="http://schemas.microsoft.com/office/drawing/2014/main" val="1420681741"/>
                  </a:ext>
                </a:extLst>
              </a:tr>
              <a:tr h="450195">
                <a:tc>
                  <a:txBody>
                    <a:bodyPr/>
                    <a:lstStyle/>
                    <a:p>
                      <a:pPr algn="r"/>
                      <a:r>
                        <a:rPr kumimoji="1" lang="ja-JP" altLang="en-US" dirty="0"/>
                        <a:t>１</a:t>
                      </a:r>
                    </a:p>
                  </a:txBody>
                  <a:tcPr anchor="ctr"/>
                </a:tc>
                <a:tc>
                  <a:txBody>
                    <a:bodyPr/>
                    <a:lstStyle/>
                    <a:p>
                      <a:r>
                        <a:rPr kumimoji="1" lang="ja-JP" altLang="en-US" sz="2000" dirty="0"/>
                        <a:t>製品設計文書</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2784823061"/>
                  </a:ext>
                </a:extLst>
              </a:tr>
              <a:tr h="450195">
                <a:tc>
                  <a:txBody>
                    <a:bodyPr/>
                    <a:lstStyle/>
                    <a:p>
                      <a:pPr algn="r"/>
                      <a:endParaRPr kumimoji="1" lang="ja-JP" altLang="en-US" dirty="0"/>
                    </a:p>
                  </a:txBody>
                  <a:tcPr anchor="ctr"/>
                </a:tc>
                <a:tc>
                  <a:txBody>
                    <a:bodyPr/>
                    <a:lstStyle/>
                    <a:p>
                      <a:r>
                        <a:rPr kumimoji="1" lang="en-US" altLang="ja-JP" sz="1800" dirty="0"/>
                        <a:t>※</a:t>
                      </a:r>
                      <a:r>
                        <a:rPr kumimoji="1" lang="ja-JP" altLang="en-US" sz="1800" dirty="0"/>
                        <a:t>組織が占有権を持つ場合（特許等）</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207684086"/>
                  </a:ext>
                </a:extLst>
              </a:tr>
              <a:tr h="450195">
                <a:tc>
                  <a:txBody>
                    <a:bodyPr/>
                    <a:lstStyle/>
                    <a:p>
                      <a:pPr algn="r"/>
                      <a:r>
                        <a:rPr kumimoji="1" lang="ja-JP" altLang="en-US" dirty="0"/>
                        <a:t>２</a:t>
                      </a:r>
                    </a:p>
                  </a:txBody>
                  <a:tcPr anchor="ctr"/>
                </a:tc>
                <a:tc>
                  <a:txBody>
                    <a:bodyPr/>
                    <a:lstStyle/>
                    <a:p>
                      <a:r>
                        <a:rPr kumimoji="1" lang="ja-JP" altLang="en-US" sz="2000" dirty="0"/>
                        <a:t>承認された技術変更文書</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141743918"/>
                  </a:ext>
                </a:extLst>
              </a:tr>
              <a:tr h="450195">
                <a:tc>
                  <a:txBody>
                    <a:bodyPr/>
                    <a:lstStyle/>
                    <a:p>
                      <a:pPr algn="r"/>
                      <a:r>
                        <a:rPr kumimoji="1" lang="ja-JP" altLang="en-US" dirty="0"/>
                        <a:t>３</a:t>
                      </a:r>
                    </a:p>
                  </a:txBody>
                  <a:tcPr anchor="ctr"/>
                </a:tc>
                <a:tc>
                  <a:txBody>
                    <a:bodyPr/>
                    <a:lstStyle/>
                    <a:p>
                      <a:r>
                        <a:rPr kumimoji="1" lang="ja-JP" altLang="en-US" sz="2000" dirty="0"/>
                        <a:t>顧客技術部門承認</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40120362"/>
                  </a:ext>
                </a:extLst>
              </a:tr>
              <a:tr h="450195">
                <a:tc>
                  <a:txBody>
                    <a:bodyPr/>
                    <a:lstStyle/>
                    <a:p>
                      <a:pPr algn="r"/>
                      <a:r>
                        <a:rPr kumimoji="1" lang="ja-JP" altLang="en-US" dirty="0"/>
                        <a:t>４</a:t>
                      </a:r>
                    </a:p>
                  </a:txBody>
                  <a:tcPr anchor="ctr"/>
                </a:tc>
                <a:tc>
                  <a:txBody>
                    <a:bodyPr/>
                    <a:lstStyle/>
                    <a:p>
                      <a:r>
                        <a:rPr kumimoji="1" lang="ja-JP" altLang="en-US" sz="2000" dirty="0"/>
                        <a:t>設計</a:t>
                      </a:r>
                      <a:r>
                        <a:rPr kumimoji="1" lang="en-US" altLang="ja-JP" sz="2000" dirty="0"/>
                        <a:t>FMEA</a:t>
                      </a:r>
                      <a:endParaRPr kumimoji="1" lang="ja-JP" altLang="en-US" sz="2000" dirty="0"/>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929556134"/>
                  </a:ext>
                </a:extLst>
              </a:tr>
              <a:tr h="450195">
                <a:tc>
                  <a:txBody>
                    <a:bodyPr/>
                    <a:lstStyle/>
                    <a:p>
                      <a:pPr algn="r"/>
                      <a:r>
                        <a:rPr kumimoji="1" lang="ja-JP" altLang="en-US" dirty="0"/>
                        <a:t>５</a:t>
                      </a:r>
                    </a:p>
                  </a:txBody>
                  <a:tcPr anchor="ctr"/>
                </a:tc>
                <a:tc>
                  <a:txBody>
                    <a:bodyPr/>
                    <a:lstStyle/>
                    <a:p>
                      <a:r>
                        <a:rPr kumimoji="1" lang="ja-JP" altLang="en-US" sz="2000" dirty="0"/>
                        <a:t>プロセスフロー図</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746718586"/>
                  </a:ext>
                </a:extLst>
              </a:tr>
              <a:tr h="450195">
                <a:tc>
                  <a:txBody>
                    <a:bodyPr/>
                    <a:lstStyle/>
                    <a:p>
                      <a:pPr algn="r"/>
                      <a:r>
                        <a:rPr kumimoji="1" lang="ja-JP" altLang="en-US" dirty="0"/>
                        <a:t>６</a:t>
                      </a:r>
                    </a:p>
                  </a:txBody>
                  <a:tcPr anchor="ctr"/>
                </a:tc>
                <a:tc>
                  <a:txBody>
                    <a:bodyPr/>
                    <a:lstStyle/>
                    <a:p>
                      <a:r>
                        <a:rPr kumimoji="1" lang="ja-JP" altLang="en-US" sz="2000" dirty="0"/>
                        <a:t>工程ＦＭＥＡ</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197915918"/>
                  </a:ext>
                </a:extLst>
              </a:tr>
              <a:tr h="450195">
                <a:tc>
                  <a:txBody>
                    <a:bodyPr/>
                    <a:lstStyle/>
                    <a:p>
                      <a:pPr algn="r"/>
                      <a:r>
                        <a:rPr kumimoji="1" lang="ja-JP" altLang="en-US" dirty="0"/>
                        <a:t>７</a:t>
                      </a:r>
                    </a:p>
                  </a:txBody>
                  <a:tcPr anchor="ctr"/>
                </a:tc>
                <a:tc>
                  <a:txBody>
                    <a:bodyPr/>
                    <a:lstStyle/>
                    <a:p>
                      <a:r>
                        <a:rPr kumimoji="1" lang="ja-JP" altLang="en-US" sz="2000" dirty="0"/>
                        <a:t>コントロールプラン</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847070004"/>
                  </a:ext>
                </a:extLst>
              </a:tr>
              <a:tr h="450195">
                <a:tc>
                  <a:txBody>
                    <a:bodyPr/>
                    <a:lstStyle/>
                    <a:p>
                      <a:pPr algn="r"/>
                      <a:r>
                        <a:rPr kumimoji="1" lang="ja-JP" altLang="en-US" dirty="0"/>
                        <a:t>８</a:t>
                      </a:r>
                    </a:p>
                  </a:txBody>
                  <a:tcPr anchor="ctr"/>
                </a:tc>
                <a:tc>
                  <a:txBody>
                    <a:bodyPr/>
                    <a:lstStyle/>
                    <a:p>
                      <a:r>
                        <a:rPr kumimoji="1" lang="ja-JP" altLang="en-US" sz="2000" dirty="0"/>
                        <a:t>測定システム解析（</a:t>
                      </a:r>
                      <a:r>
                        <a:rPr kumimoji="1" lang="en-US" altLang="ja-JP" sz="2000" dirty="0"/>
                        <a:t>MSA</a:t>
                      </a:r>
                      <a:r>
                        <a:rPr kumimoji="1" lang="ja-JP" altLang="en-US" sz="2000" dirty="0"/>
                        <a:t>）</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673144999"/>
                  </a:ext>
                </a:extLst>
              </a:tr>
            </a:tbl>
          </a:graphicData>
        </a:graphic>
      </p:graphicFrame>
      <p:sp>
        <p:nvSpPr>
          <p:cNvPr id="8" name="正方形/長方形 7">
            <a:extLst>
              <a:ext uri="{FF2B5EF4-FFF2-40B4-BE49-F238E27FC236}">
                <a16:creationId xmlns:a16="http://schemas.microsoft.com/office/drawing/2014/main" id="{1CB57665-67EA-4E42-AA21-4148BDE66A13}"/>
              </a:ext>
            </a:extLst>
          </p:cNvPr>
          <p:cNvSpPr/>
          <p:nvPr/>
        </p:nvSpPr>
        <p:spPr>
          <a:xfrm>
            <a:off x="6391274" y="1344058"/>
            <a:ext cx="4962525" cy="5103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　</a:t>
            </a:r>
            <a:r>
              <a:rPr kumimoji="1" lang="en-US" altLang="ja-JP" dirty="0">
                <a:solidFill>
                  <a:schemeClr val="tx1"/>
                </a:solidFill>
              </a:rPr>
              <a:t>S</a:t>
            </a:r>
            <a:r>
              <a:rPr kumimoji="1" lang="ja-JP" altLang="en-US" dirty="0">
                <a:solidFill>
                  <a:schemeClr val="tx1"/>
                </a:solidFill>
              </a:rPr>
              <a:t>：提出・承認（</a:t>
            </a:r>
            <a:r>
              <a:rPr kumimoji="1" lang="en-US" altLang="ja-JP" dirty="0">
                <a:solidFill>
                  <a:schemeClr val="tx1"/>
                </a:solidFill>
              </a:rPr>
              <a:t>submit</a:t>
            </a:r>
            <a:r>
              <a:rPr kumimoji="1" lang="ja-JP" altLang="en-US" dirty="0">
                <a:solidFill>
                  <a:schemeClr val="tx1"/>
                </a:solidFill>
              </a:rPr>
              <a:t>）</a:t>
            </a:r>
            <a:endParaRPr kumimoji="1" lang="en-US" altLang="ja-JP" dirty="0">
              <a:solidFill>
                <a:schemeClr val="tx1"/>
              </a:solidFill>
            </a:endParaRPr>
          </a:p>
          <a:p>
            <a:r>
              <a:rPr lang="ja-JP" altLang="en-US" dirty="0">
                <a:solidFill>
                  <a:schemeClr val="tx1"/>
                </a:solidFill>
              </a:rPr>
              <a:t>　</a:t>
            </a:r>
            <a:r>
              <a:rPr lang="en-US" altLang="ja-JP" dirty="0">
                <a:solidFill>
                  <a:schemeClr val="tx1"/>
                </a:solidFill>
              </a:rPr>
              <a:t>R</a:t>
            </a:r>
            <a:r>
              <a:rPr lang="ja-JP" altLang="en-US" dirty="0">
                <a:solidFill>
                  <a:schemeClr val="tx1"/>
                </a:solidFill>
              </a:rPr>
              <a:t>：保管（</a:t>
            </a:r>
            <a:r>
              <a:rPr lang="en-US" altLang="ja-JP" dirty="0">
                <a:solidFill>
                  <a:schemeClr val="tx1"/>
                </a:solidFill>
              </a:rPr>
              <a:t>retain</a:t>
            </a:r>
            <a:r>
              <a:rPr lang="ja-JP" altLang="en-US" dirty="0">
                <a:solidFill>
                  <a:schemeClr val="tx1"/>
                </a:solidFill>
              </a:rPr>
              <a:t>）　　＊顧客要求時に提出</a:t>
            </a:r>
            <a:endParaRPr kumimoji="1" lang="ja-JP" altLang="en-US" dirty="0">
              <a:solidFill>
                <a:schemeClr val="tx1"/>
              </a:solidFill>
            </a:endParaRPr>
          </a:p>
        </p:txBody>
      </p:sp>
    </p:spTree>
    <p:extLst>
      <p:ext uri="{BB962C8B-B14F-4D97-AF65-F5344CB8AC3E}">
        <p14:creationId xmlns:p14="http://schemas.microsoft.com/office/powerpoint/2010/main" val="1577634586"/>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000" dirty="0"/>
          </a:p>
          <a:p>
            <a:pPr marL="457200" indent="-457200">
              <a:lnSpc>
                <a:spcPct val="100000"/>
              </a:lnSpc>
              <a:buFont typeface="+mj-lt"/>
              <a:buAutoNum type="arabicPeriod" startAt="4"/>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３．ＰＰＡＰ（提出・承認のレベル）</a:t>
            </a:r>
          </a:p>
        </p:txBody>
      </p:sp>
      <p:graphicFrame>
        <p:nvGraphicFramePr>
          <p:cNvPr id="2" name="表 1">
            <a:extLst>
              <a:ext uri="{FF2B5EF4-FFF2-40B4-BE49-F238E27FC236}">
                <a16:creationId xmlns:a16="http://schemas.microsoft.com/office/drawing/2014/main" id="{119E586E-05A6-45DF-A487-1EB3AD252093}"/>
              </a:ext>
            </a:extLst>
          </p:cNvPr>
          <p:cNvGraphicFramePr>
            <a:graphicFrameLocks noGrp="1"/>
          </p:cNvGraphicFramePr>
          <p:nvPr>
            <p:extLst>
              <p:ext uri="{D42A27DB-BD31-4B8C-83A1-F6EECF244321}">
                <p14:modId xmlns:p14="http://schemas.microsoft.com/office/powerpoint/2010/main" val="3031255236"/>
              </p:ext>
            </p:extLst>
          </p:nvPr>
        </p:nvGraphicFramePr>
        <p:xfrm>
          <a:off x="838197" y="1344058"/>
          <a:ext cx="10515603" cy="5012292"/>
        </p:xfrm>
        <a:graphic>
          <a:graphicData uri="http://schemas.openxmlformats.org/drawingml/2006/table">
            <a:tbl>
              <a:tblPr firstRow="1" bandRow="1">
                <a:tableStyleId>{5940675A-B579-460E-94D1-54222C63F5DA}</a:tableStyleId>
              </a:tblPr>
              <a:tblGrid>
                <a:gridCol w="693145">
                  <a:extLst>
                    <a:ext uri="{9D8B030D-6E8A-4147-A177-3AD203B41FA5}">
                      <a16:colId xmlns:a16="http://schemas.microsoft.com/office/drawing/2014/main" val="3427091591"/>
                    </a:ext>
                  </a:extLst>
                </a:gridCol>
                <a:gridCol w="4186409">
                  <a:extLst>
                    <a:ext uri="{9D8B030D-6E8A-4147-A177-3AD203B41FA5}">
                      <a16:colId xmlns:a16="http://schemas.microsoft.com/office/drawing/2014/main" val="400504782"/>
                    </a:ext>
                  </a:extLst>
                </a:gridCol>
                <a:gridCol w="1112704">
                  <a:extLst>
                    <a:ext uri="{9D8B030D-6E8A-4147-A177-3AD203B41FA5}">
                      <a16:colId xmlns:a16="http://schemas.microsoft.com/office/drawing/2014/main" val="3777046410"/>
                    </a:ext>
                  </a:extLst>
                </a:gridCol>
                <a:gridCol w="1134737">
                  <a:extLst>
                    <a:ext uri="{9D8B030D-6E8A-4147-A177-3AD203B41FA5}">
                      <a16:colId xmlns:a16="http://schemas.microsoft.com/office/drawing/2014/main" val="1315186992"/>
                    </a:ext>
                  </a:extLst>
                </a:gridCol>
                <a:gridCol w="1123721">
                  <a:extLst>
                    <a:ext uri="{9D8B030D-6E8A-4147-A177-3AD203B41FA5}">
                      <a16:colId xmlns:a16="http://schemas.microsoft.com/office/drawing/2014/main" val="3868578157"/>
                    </a:ext>
                  </a:extLst>
                </a:gridCol>
                <a:gridCol w="1112703">
                  <a:extLst>
                    <a:ext uri="{9D8B030D-6E8A-4147-A177-3AD203B41FA5}">
                      <a16:colId xmlns:a16="http://schemas.microsoft.com/office/drawing/2014/main" val="183486936"/>
                    </a:ext>
                  </a:extLst>
                </a:gridCol>
                <a:gridCol w="1152184">
                  <a:extLst>
                    <a:ext uri="{9D8B030D-6E8A-4147-A177-3AD203B41FA5}">
                      <a16:colId xmlns:a16="http://schemas.microsoft.com/office/drawing/2014/main" val="3055211371"/>
                    </a:ext>
                  </a:extLst>
                </a:gridCol>
              </a:tblGrid>
              <a:tr h="417691">
                <a:tc gridSpan="2">
                  <a:txBody>
                    <a:bodyPr/>
                    <a:lstStyle/>
                    <a:p>
                      <a:pPr algn="ctr"/>
                      <a:r>
                        <a:rPr kumimoji="1" lang="ja-JP" altLang="en-US" dirty="0"/>
                        <a:t>要求事項</a:t>
                      </a:r>
                    </a:p>
                  </a:txBody>
                  <a:tcPr anchor="ctr">
                    <a:solidFill>
                      <a:schemeClr val="tx2">
                        <a:lumMod val="40000"/>
                        <a:lumOff val="60000"/>
                      </a:schemeClr>
                    </a:solidFill>
                  </a:tcPr>
                </a:tc>
                <a:tc hMerge="1">
                  <a:txBody>
                    <a:bodyPr/>
                    <a:lstStyle/>
                    <a:p>
                      <a:pPr algn="ctr"/>
                      <a:endParaRPr kumimoji="1" lang="ja-JP" altLang="en-US" dirty="0"/>
                    </a:p>
                  </a:txBody>
                  <a:tcPr>
                    <a:solidFill>
                      <a:schemeClr val="tx2">
                        <a:lumMod val="40000"/>
                        <a:lumOff val="60000"/>
                      </a:schemeClr>
                    </a:solidFill>
                  </a:tcPr>
                </a:tc>
                <a:tc>
                  <a:txBody>
                    <a:bodyPr/>
                    <a:lstStyle/>
                    <a:p>
                      <a:pPr algn="ctr"/>
                      <a:r>
                        <a:rPr kumimoji="1" lang="ja-JP" altLang="en-US" dirty="0"/>
                        <a:t>レベル１</a:t>
                      </a:r>
                    </a:p>
                  </a:txBody>
                  <a:tcPr anchor="ctr">
                    <a:solidFill>
                      <a:schemeClr val="tx2">
                        <a:lumMod val="40000"/>
                        <a:lumOff val="60000"/>
                      </a:schemeClr>
                    </a:solidFill>
                  </a:tcPr>
                </a:tc>
                <a:tc>
                  <a:txBody>
                    <a:bodyPr/>
                    <a:lstStyle/>
                    <a:p>
                      <a:pPr algn="ctr"/>
                      <a:r>
                        <a:rPr kumimoji="1" lang="ja-JP" altLang="en-US" dirty="0"/>
                        <a:t>レベル２</a:t>
                      </a:r>
                    </a:p>
                  </a:txBody>
                  <a:tcPr anchor="ctr">
                    <a:solidFill>
                      <a:schemeClr val="tx2">
                        <a:lumMod val="40000"/>
                        <a:lumOff val="60000"/>
                      </a:schemeClr>
                    </a:solidFill>
                  </a:tcPr>
                </a:tc>
                <a:tc>
                  <a:txBody>
                    <a:bodyPr/>
                    <a:lstStyle/>
                    <a:p>
                      <a:pPr algn="ctr"/>
                      <a:r>
                        <a:rPr kumimoji="1" lang="ja-JP" altLang="en-US" dirty="0"/>
                        <a:t>レベル３</a:t>
                      </a:r>
                    </a:p>
                  </a:txBody>
                  <a:tcPr anchor="ctr">
                    <a:solidFill>
                      <a:schemeClr val="tx2">
                        <a:lumMod val="40000"/>
                        <a:lumOff val="60000"/>
                      </a:schemeClr>
                    </a:solidFill>
                  </a:tcPr>
                </a:tc>
                <a:tc>
                  <a:txBody>
                    <a:bodyPr/>
                    <a:lstStyle/>
                    <a:p>
                      <a:pPr algn="ctr"/>
                      <a:r>
                        <a:rPr kumimoji="1" lang="ja-JP" altLang="en-US" dirty="0"/>
                        <a:t>レベル４</a:t>
                      </a:r>
                    </a:p>
                  </a:txBody>
                  <a:tcPr anchor="ctr">
                    <a:solidFill>
                      <a:schemeClr val="tx2">
                        <a:lumMod val="40000"/>
                        <a:lumOff val="60000"/>
                      </a:schemeClr>
                    </a:solidFill>
                  </a:tcPr>
                </a:tc>
                <a:tc>
                  <a:txBody>
                    <a:bodyPr/>
                    <a:lstStyle/>
                    <a:p>
                      <a:pPr algn="ctr"/>
                      <a:r>
                        <a:rPr kumimoji="1" lang="ja-JP" altLang="en-US" dirty="0"/>
                        <a:t>レベル５</a:t>
                      </a:r>
                    </a:p>
                  </a:txBody>
                  <a:tcPr anchor="ctr">
                    <a:solidFill>
                      <a:schemeClr val="tx2">
                        <a:lumMod val="40000"/>
                        <a:lumOff val="60000"/>
                      </a:schemeClr>
                    </a:solidFill>
                  </a:tcPr>
                </a:tc>
                <a:extLst>
                  <a:ext uri="{0D108BD9-81ED-4DB2-BD59-A6C34878D82A}">
                    <a16:rowId xmlns:a16="http://schemas.microsoft.com/office/drawing/2014/main" val="1420681741"/>
                  </a:ext>
                </a:extLst>
              </a:tr>
              <a:tr h="417691">
                <a:tc>
                  <a:txBody>
                    <a:bodyPr/>
                    <a:lstStyle/>
                    <a:p>
                      <a:pPr algn="r"/>
                      <a:r>
                        <a:rPr kumimoji="1" lang="ja-JP" altLang="en-US" dirty="0"/>
                        <a:t>９</a:t>
                      </a:r>
                    </a:p>
                  </a:txBody>
                  <a:tcPr anchor="ctr"/>
                </a:tc>
                <a:tc>
                  <a:txBody>
                    <a:bodyPr/>
                    <a:lstStyle/>
                    <a:p>
                      <a:r>
                        <a:rPr kumimoji="1" lang="ja-JP" altLang="en-US" sz="2000" dirty="0"/>
                        <a:t>寸法測定結果</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2784823061"/>
                  </a:ext>
                </a:extLst>
              </a:tr>
              <a:tr h="417691">
                <a:tc>
                  <a:txBody>
                    <a:bodyPr/>
                    <a:lstStyle/>
                    <a:p>
                      <a:pPr algn="r"/>
                      <a:r>
                        <a:rPr kumimoji="1" lang="ja-JP" altLang="en-US" dirty="0"/>
                        <a:t>１０</a:t>
                      </a:r>
                    </a:p>
                  </a:txBody>
                  <a:tcPr anchor="ctr"/>
                </a:tc>
                <a:tc>
                  <a:txBody>
                    <a:bodyPr/>
                    <a:lstStyle/>
                    <a:p>
                      <a:r>
                        <a:rPr kumimoji="1" lang="ja-JP" altLang="en-US" sz="2000" dirty="0"/>
                        <a:t>材料試験・性能試験結果</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207684086"/>
                  </a:ext>
                </a:extLst>
              </a:tr>
              <a:tr h="417691">
                <a:tc>
                  <a:txBody>
                    <a:bodyPr/>
                    <a:lstStyle/>
                    <a:p>
                      <a:pPr algn="r"/>
                      <a:r>
                        <a:rPr kumimoji="1" lang="ja-JP" altLang="en-US" dirty="0"/>
                        <a:t>１１</a:t>
                      </a:r>
                    </a:p>
                  </a:txBody>
                  <a:tcPr anchor="ctr"/>
                </a:tc>
                <a:tc>
                  <a:txBody>
                    <a:bodyPr/>
                    <a:lstStyle/>
                    <a:p>
                      <a:r>
                        <a:rPr kumimoji="1" lang="ja-JP" altLang="en-US" sz="2000" dirty="0"/>
                        <a:t>初期工程調査</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141743918"/>
                  </a:ext>
                </a:extLst>
              </a:tr>
              <a:tr h="417691">
                <a:tc>
                  <a:txBody>
                    <a:bodyPr/>
                    <a:lstStyle/>
                    <a:p>
                      <a:pPr algn="r"/>
                      <a:r>
                        <a:rPr kumimoji="1" lang="ja-JP" altLang="en-US" dirty="0"/>
                        <a:t>１２</a:t>
                      </a:r>
                    </a:p>
                  </a:txBody>
                  <a:tcPr anchor="ctr"/>
                </a:tc>
                <a:tc>
                  <a:txBody>
                    <a:bodyPr/>
                    <a:lstStyle/>
                    <a:p>
                      <a:r>
                        <a:rPr kumimoji="1" lang="ja-JP" altLang="en-US" sz="2000" dirty="0"/>
                        <a:t>有資格試験所文書</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40120362"/>
                  </a:ext>
                </a:extLst>
              </a:tr>
              <a:tr h="417691">
                <a:tc>
                  <a:txBody>
                    <a:bodyPr/>
                    <a:lstStyle/>
                    <a:p>
                      <a:pPr algn="r"/>
                      <a:r>
                        <a:rPr kumimoji="1" lang="ja-JP" altLang="en-US" dirty="0"/>
                        <a:t>１３</a:t>
                      </a:r>
                    </a:p>
                  </a:txBody>
                  <a:tcPr anchor="ctr"/>
                </a:tc>
                <a:tc>
                  <a:txBody>
                    <a:bodyPr/>
                    <a:lstStyle/>
                    <a:p>
                      <a:r>
                        <a:rPr kumimoji="1" lang="ja-JP" altLang="en-US" sz="2000" dirty="0"/>
                        <a:t>外観承認報告書（</a:t>
                      </a:r>
                      <a:r>
                        <a:rPr kumimoji="1" lang="en-US" altLang="ja-JP" sz="2000" dirty="0"/>
                        <a:t>AAR</a:t>
                      </a:r>
                      <a:r>
                        <a:rPr kumimoji="1" lang="ja-JP" altLang="en-US" sz="2000" dirty="0"/>
                        <a:t>）</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Ｓ</a:t>
                      </a:r>
                    </a:p>
                  </a:txBody>
                  <a:tcPr anchor="ctr"/>
                </a:tc>
                <a:extLst>
                  <a:ext uri="{0D108BD9-81ED-4DB2-BD59-A6C34878D82A}">
                    <a16:rowId xmlns:a16="http://schemas.microsoft.com/office/drawing/2014/main" val="1929556134"/>
                  </a:ext>
                </a:extLst>
              </a:tr>
              <a:tr h="417691">
                <a:tc>
                  <a:txBody>
                    <a:bodyPr/>
                    <a:lstStyle/>
                    <a:p>
                      <a:pPr algn="r"/>
                      <a:r>
                        <a:rPr kumimoji="1" lang="ja-JP" altLang="en-US" dirty="0"/>
                        <a:t>１４</a:t>
                      </a:r>
                    </a:p>
                  </a:txBody>
                  <a:tcPr anchor="ctr"/>
                </a:tc>
                <a:tc>
                  <a:txBody>
                    <a:bodyPr/>
                    <a:lstStyle/>
                    <a:p>
                      <a:r>
                        <a:rPr kumimoji="1" lang="ja-JP" altLang="en-US" sz="2000" dirty="0"/>
                        <a:t>製品サンプル</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746718586"/>
                  </a:ext>
                </a:extLst>
              </a:tr>
              <a:tr h="417691">
                <a:tc>
                  <a:txBody>
                    <a:bodyPr/>
                    <a:lstStyle/>
                    <a:p>
                      <a:pPr algn="r"/>
                      <a:r>
                        <a:rPr kumimoji="1" lang="ja-JP" altLang="en-US" dirty="0"/>
                        <a:t>１５</a:t>
                      </a:r>
                    </a:p>
                  </a:txBody>
                  <a:tcPr anchor="ctr"/>
                </a:tc>
                <a:tc>
                  <a:txBody>
                    <a:bodyPr/>
                    <a:lstStyle/>
                    <a:p>
                      <a:r>
                        <a:rPr kumimoji="1" lang="ja-JP" altLang="en-US" sz="2000" dirty="0"/>
                        <a:t>マスターサンプル</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1197915918"/>
                  </a:ext>
                </a:extLst>
              </a:tr>
              <a:tr h="417691">
                <a:tc>
                  <a:txBody>
                    <a:bodyPr/>
                    <a:lstStyle/>
                    <a:p>
                      <a:pPr algn="r"/>
                      <a:r>
                        <a:rPr kumimoji="1" lang="ja-JP" altLang="en-US" dirty="0"/>
                        <a:t>１６</a:t>
                      </a:r>
                    </a:p>
                  </a:txBody>
                  <a:tcPr anchor="ctr"/>
                </a:tc>
                <a:tc>
                  <a:txBody>
                    <a:bodyPr/>
                    <a:lstStyle/>
                    <a:p>
                      <a:r>
                        <a:rPr kumimoji="1" lang="ja-JP" altLang="en-US" sz="2000" dirty="0"/>
                        <a:t>検査補助具</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847070004"/>
                  </a:ext>
                </a:extLst>
              </a:tr>
              <a:tr h="417691">
                <a:tc>
                  <a:txBody>
                    <a:bodyPr/>
                    <a:lstStyle/>
                    <a:p>
                      <a:pPr algn="r"/>
                      <a:r>
                        <a:rPr kumimoji="1" lang="ja-JP" altLang="en-US" dirty="0"/>
                        <a:t>１７</a:t>
                      </a:r>
                    </a:p>
                  </a:txBody>
                  <a:tcPr anchor="ctr"/>
                </a:tc>
                <a:tc>
                  <a:txBody>
                    <a:bodyPr/>
                    <a:lstStyle/>
                    <a:p>
                      <a:r>
                        <a:rPr kumimoji="1" lang="ja-JP" altLang="en-US" sz="2000" dirty="0"/>
                        <a:t>顧客固有要求事項適合記録</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Ｒ</a:t>
                      </a:r>
                    </a:p>
                  </a:txBody>
                  <a:tcPr anchor="ctr"/>
                </a:tc>
                <a:tc>
                  <a:txBody>
                    <a:bodyPr/>
                    <a:lstStyle/>
                    <a:p>
                      <a:pPr algn="ctr"/>
                      <a:r>
                        <a:rPr kumimoji="1" lang="ja-JP" altLang="en-US" sz="2000" dirty="0"/>
                        <a:t>Ｓ</a:t>
                      </a:r>
                    </a:p>
                  </a:txBody>
                  <a:tcPr anchor="ctr"/>
                </a:tc>
                <a:tc>
                  <a:txBody>
                    <a:bodyPr/>
                    <a:lstStyle/>
                    <a:p>
                      <a:pPr algn="ctr"/>
                      <a:r>
                        <a:rPr kumimoji="1" lang="ja-JP" altLang="en-US" sz="2000" dirty="0"/>
                        <a:t>＊</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3673144999"/>
                  </a:ext>
                </a:extLst>
              </a:tr>
              <a:tr h="417691">
                <a:tc>
                  <a:txBody>
                    <a:bodyPr/>
                    <a:lstStyle/>
                    <a:p>
                      <a:pPr algn="r"/>
                      <a:r>
                        <a:rPr kumimoji="1" lang="ja-JP" altLang="en-US" dirty="0"/>
                        <a:t>１８</a:t>
                      </a:r>
                    </a:p>
                  </a:txBody>
                  <a:tcPr anchor="ctr"/>
                </a:tc>
                <a:tc>
                  <a:txBody>
                    <a:bodyPr/>
                    <a:lstStyle/>
                    <a:p>
                      <a:r>
                        <a:rPr kumimoji="1" lang="ja-JP" altLang="en-US" sz="2000" dirty="0"/>
                        <a:t>部品提出保証書（</a:t>
                      </a:r>
                      <a:r>
                        <a:rPr kumimoji="1" lang="en-US" altLang="ja-JP" sz="2000" dirty="0"/>
                        <a:t>PSW</a:t>
                      </a:r>
                      <a:r>
                        <a:rPr kumimoji="1" lang="ja-JP" altLang="en-US" sz="2000" dirty="0"/>
                        <a:t>）</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4255493976"/>
                  </a:ext>
                </a:extLst>
              </a:tr>
              <a:tr h="417691">
                <a:tc>
                  <a:txBody>
                    <a:bodyPr/>
                    <a:lstStyle/>
                    <a:p>
                      <a:pPr algn="r"/>
                      <a:endParaRPr kumimoji="1" lang="ja-JP" altLang="en-US" dirty="0"/>
                    </a:p>
                  </a:txBody>
                  <a:tcPr anchor="ctr"/>
                </a:tc>
                <a:tc>
                  <a:txBody>
                    <a:bodyPr/>
                    <a:lstStyle/>
                    <a:p>
                      <a:r>
                        <a:rPr kumimoji="1" lang="ja-JP" altLang="en-US" sz="2000" dirty="0"/>
                        <a:t>バルク材料チェックリスト</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Ｓ</a:t>
                      </a:r>
                    </a:p>
                  </a:txBody>
                  <a:tcPr anchor="ctr"/>
                </a:tc>
                <a:tc>
                  <a:txBody>
                    <a:bodyPr/>
                    <a:lstStyle/>
                    <a:p>
                      <a:pPr algn="ctr"/>
                      <a:r>
                        <a:rPr kumimoji="1" lang="ja-JP" altLang="en-US" sz="2000" dirty="0"/>
                        <a:t>Ｒ</a:t>
                      </a:r>
                    </a:p>
                  </a:txBody>
                  <a:tcPr anchor="ctr"/>
                </a:tc>
                <a:extLst>
                  <a:ext uri="{0D108BD9-81ED-4DB2-BD59-A6C34878D82A}">
                    <a16:rowId xmlns:a16="http://schemas.microsoft.com/office/drawing/2014/main" val="2383178527"/>
                  </a:ext>
                </a:extLst>
              </a:tr>
            </a:tbl>
          </a:graphicData>
        </a:graphic>
      </p:graphicFrame>
    </p:spTree>
    <p:extLst>
      <p:ext uri="{BB962C8B-B14F-4D97-AF65-F5344CB8AC3E}">
        <p14:creationId xmlns:p14="http://schemas.microsoft.com/office/powerpoint/2010/main" val="731848339"/>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PPAP</a:t>
            </a:r>
            <a:r>
              <a:rPr lang="ja-JP" altLang="en-US" sz="2400" dirty="0"/>
              <a:t>提出後、顧客による評価の結果、部品提出保証書に結果が通知される。結果は次のいずれかによる。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３．ＰＰＡＰ（顧客承認）</a:t>
            </a:r>
          </a:p>
        </p:txBody>
      </p:sp>
      <p:graphicFrame>
        <p:nvGraphicFramePr>
          <p:cNvPr id="3" name="表 2">
            <a:extLst>
              <a:ext uri="{FF2B5EF4-FFF2-40B4-BE49-F238E27FC236}">
                <a16:creationId xmlns:a16="http://schemas.microsoft.com/office/drawing/2014/main" id="{8B055ED9-D7F4-42A3-84C1-D657EA6585F8}"/>
              </a:ext>
            </a:extLst>
          </p:cNvPr>
          <p:cNvGraphicFramePr>
            <a:graphicFrameLocks noGrp="1"/>
          </p:cNvGraphicFramePr>
          <p:nvPr>
            <p:extLst>
              <p:ext uri="{D42A27DB-BD31-4B8C-83A1-F6EECF244321}">
                <p14:modId xmlns:p14="http://schemas.microsoft.com/office/powerpoint/2010/main" val="3121191048"/>
              </p:ext>
            </p:extLst>
          </p:nvPr>
        </p:nvGraphicFramePr>
        <p:xfrm>
          <a:off x="838199" y="2228976"/>
          <a:ext cx="10515600" cy="4127373"/>
        </p:xfrm>
        <a:graphic>
          <a:graphicData uri="http://schemas.openxmlformats.org/drawingml/2006/table">
            <a:tbl>
              <a:tblPr firstRow="1" bandRow="1">
                <a:tableStyleId>{5940675A-B579-460E-94D1-54222C63F5DA}</a:tableStyleId>
              </a:tblPr>
              <a:tblGrid>
                <a:gridCol w="2235507">
                  <a:extLst>
                    <a:ext uri="{9D8B030D-6E8A-4147-A177-3AD203B41FA5}">
                      <a16:colId xmlns:a16="http://schemas.microsoft.com/office/drawing/2014/main" val="2762688090"/>
                    </a:ext>
                  </a:extLst>
                </a:gridCol>
                <a:gridCol w="8280093">
                  <a:extLst>
                    <a:ext uri="{9D8B030D-6E8A-4147-A177-3AD203B41FA5}">
                      <a16:colId xmlns:a16="http://schemas.microsoft.com/office/drawing/2014/main" val="1471877530"/>
                    </a:ext>
                  </a:extLst>
                </a:gridCol>
              </a:tblGrid>
              <a:tr h="406484">
                <a:tc>
                  <a:txBody>
                    <a:bodyPr/>
                    <a:lstStyle/>
                    <a:p>
                      <a:pPr algn="ctr"/>
                      <a:r>
                        <a:rPr kumimoji="1" lang="ja-JP" altLang="en-US" sz="2000" dirty="0"/>
                        <a:t>承認状態</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2724057521"/>
                  </a:ext>
                </a:extLst>
              </a:tr>
              <a:tr h="719163">
                <a:tc>
                  <a:txBody>
                    <a:bodyPr/>
                    <a:lstStyle/>
                    <a:p>
                      <a:pPr algn="ctr"/>
                      <a:r>
                        <a:rPr kumimoji="1" lang="ja-JP" altLang="en-US" sz="2000" dirty="0"/>
                        <a:t>承認</a:t>
                      </a:r>
                    </a:p>
                  </a:txBody>
                  <a:tcPr/>
                </a:tc>
                <a:tc>
                  <a:txBody>
                    <a:bodyPr/>
                    <a:lstStyle/>
                    <a:p>
                      <a:pPr marL="457200" indent="-457200">
                        <a:buFont typeface="+mj-ea"/>
                        <a:buAutoNum type="circleNumDbPlain"/>
                      </a:pPr>
                      <a:r>
                        <a:rPr kumimoji="1" lang="ja-JP" altLang="en-US" sz="2000" dirty="0"/>
                        <a:t>顧客から納入指示に従って、注文数量の製品を出荷することが許可される。</a:t>
                      </a:r>
                    </a:p>
                  </a:txBody>
                  <a:tcPr/>
                </a:tc>
                <a:extLst>
                  <a:ext uri="{0D108BD9-81ED-4DB2-BD59-A6C34878D82A}">
                    <a16:rowId xmlns:a16="http://schemas.microsoft.com/office/drawing/2014/main" val="1325165058"/>
                  </a:ext>
                </a:extLst>
              </a:tr>
              <a:tr h="1969883">
                <a:tc>
                  <a:txBody>
                    <a:bodyPr/>
                    <a:lstStyle/>
                    <a:p>
                      <a:pPr algn="ctr"/>
                      <a:r>
                        <a:rPr kumimoji="1" lang="ja-JP" altLang="en-US" sz="2000" dirty="0"/>
                        <a:t>暫定承認</a:t>
                      </a:r>
                    </a:p>
                  </a:txBody>
                  <a:tcPr/>
                </a:tc>
                <a:tc>
                  <a:txBody>
                    <a:bodyPr/>
                    <a:lstStyle/>
                    <a:p>
                      <a:pPr marL="457200" indent="-457200">
                        <a:buFont typeface="+mj-ea"/>
                        <a:buAutoNum type="circleNumDbPlain"/>
                      </a:pPr>
                      <a:r>
                        <a:rPr kumimoji="1" lang="ja-JP" altLang="en-US" sz="2000" dirty="0"/>
                        <a:t>生産要求事項に対して、</a:t>
                      </a:r>
                      <a:r>
                        <a:rPr kumimoji="1" lang="ja-JP" altLang="en-US" sz="2000" dirty="0">
                          <a:solidFill>
                            <a:srgbClr val="FF0000"/>
                          </a:solidFill>
                          <a:effectLst>
                            <a:outerShdw blurRad="38100" dist="38100" dir="2700000" algn="tl">
                              <a:srgbClr val="000000">
                                <a:alpha val="43137"/>
                              </a:srgbClr>
                            </a:outerShdw>
                          </a:effectLst>
                        </a:rPr>
                        <a:t>限定された期間又は限定された数量</a:t>
                      </a:r>
                      <a:r>
                        <a:rPr kumimoji="1" lang="ja-JP" altLang="en-US" sz="2000" dirty="0"/>
                        <a:t>の製品の出荷が許可される。</a:t>
                      </a:r>
                      <a:endParaRPr kumimoji="1" lang="en-US" altLang="ja-JP" sz="2000" dirty="0"/>
                    </a:p>
                    <a:p>
                      <a:pPr marL="457200" indent="-457200">
                        <a:buFont typeface="+mj-ea"/>
                        <a:buAutoNum type="circleNumDbPlain"/>
                      </a:pPr>
                      <a:r>
                        <a:rPr kumimoji="1" lang="ja-JP" altLang="en-US" sz="2000" dirty="0"/>
                        <a:t>暫定承認は、次の場合に組織に与えられる。</a:t>
                      </a:r>
                      <a:endParaRPr kumimoji="1" lang="en-US" altLang="ja-JP" sz="2000" dirty="0"/>
                    </a:p>
                    <a:p>
                      <a:pPr marL="800100" lvl="1" indent="-342900">
                        <a:buFont typeface="Arial" panose="020B0604020202020204" pitchFamily="34" charset="0"/>
                        <a:buChar char="•"/>
                      </a:pPr>
                      <a:r>
                        <a:rPr kumimoji="1" lang="ja-JP" altLang="en-US" sz="2000" dirty="0"/>
                        <a:t>承認の障害となった不適合を特定し、かつ</a:t>
                      </a:r>
                      <a:endParaRPr kumimoji="1" lang="en-US" altLang="ja-JP" sz="2000" dirty="0"/>
                    </a:p>
                    <a:p>
                      <a:pPr marL="800100" lvl="1" indent="-342900">
                        <a:buFont typeface="Arial" panose="020B0604020202020204" pitchFamily="34" charset="0"/>
                        <a:buChar char="•"/>
                      </a:pPr>
                      <a:r>
                        <a:rPr kumimoji="1" lang="ja-JP" altLang="en-US" sz="2000" dirty="0">
                          <a:solidFill>
                            <a:srgbClr val="FF0000"/>
                          </a:solidFill>
                          <a:effectLst>
                            <a:outerShdw blurRad="38100" dist="38100" dir="2700000" algn="tl">
                              <a:srgbClr val="000000">
                                <a:alpha val="43137"/>
                              </a:srgbClr>
                            </a:outerShdw>
                          </a:effectLst>
                        </a:rPr>
                        <a:t>顧客の同意を得た対応処置計画</a:t>
                      </a:r>
                      <a:r>
                        <a:rPr kumimoji="1" lang="ja-JP" altLang="en-US" sz="2000" dirty="0"/>
                        <a:t>が作成された場合</a:t>
                      </a:r>
                      <a:endParaRPr kumimoji="1" lang="en-US" altLang="ja-JP" sz="2000" dirty="0"/>
                    </a:p>
                    <a:p>
                      <a:pPr marL="457200" indent="-457200">
                        <a:buFont typeface="+mj-ea"/>
                        <a:buAutoNum type="circleNumDbPlain"/>
                      </a:pPr>
                      <a:r>
                        <a:rPr kumimoji="1" lang="ja-JP" altLang="en-US" sz="2000" dirty="0"/>
                        <a:t>“承認”　の状態を得るためには、</a:t>
                      </a:r>
                      <a:r>
                        <a:rPr kumimoji="1" lang="en-US" altLang="ja-JP" sz="2000" dirty="0">
                          <a:solidFill>
                            <a:srgbClr val="FF0000"/>
                          </a:solidFill>
                          <a:effectLst>
                            <a:outerShdw blurRad="38100" dist="38100" dir="2700000" algn="tl">
                              <a:srgbClr val="000000">
                                <a:alpha val="43137"/>
                              </a:srgbClr>
                            </a:outerShdw>
                          </a:effectLst>
                        </a:rPr>
                        <a:t>PPAP</a:t>
                      </a:r>
                      <a:r>
                        <a:rPr kumimoji="1" lang="ja-JP" altLang="en-US" sz="2000" dirty="0">
                          <a:solidFill>
                            <a:srgbClr val="FF0000"/>
                          </a:solidFill>
                          <a:effectLst>
                            <a:outerShdw blurRad="38100" dist="38100" dir="2700000" algn="tl">
                              <a:srgbClr val="000000">
                                <a:alpha val="43137"/>
                              </a:srgbClr>
                            </a:outerShdw>
                          </a:effectLst>
                        </a:rPr>
                        <a:t>の再提出</a:t>
                      </a:r>
                      <a:r>
                        <a:rPr kumimoji="1" lang="ja-JP" altLang="en-US" sz="2000" dirty="0"/>
                        <a:t>が要求される。</a:t>
                      </a:r>
                    </a:p>
                  </a:txBody>
                  <a:tcPr/>
                </a:tc>
                <a:extLst>
                  <a:ext uri="{0D108BD9-81ED-4DB2-BD59-A6C34878D82A}">
                    <a16:rowId xmlns:a16="http://schemas.microsoft.com/office/drawing/2014/main" val="955957256"/>
                  </a:ext>
                </a:extLst>
              </a:tr>
              <a:tr h="1031843">
                <a:tc>
                  <a:txBody>
                    <a:bodyPr/>
                    <a:lstStyle/>
                    <a:p>
                      <a:pPr algn="ctr"/>
                      <a:r>
                        <a:rPr kumimoji="1" lang="ja-JP" altLang="en-US" sz="2000" dirty="0"/>
                        <a:t>リジェクト</a:t>
                      </a:r>
                      <a:endParaRPr kumimoji="1" lang="en-US" altLang="ja-JP" sz="2000" dirty="0"/>
                    </a:p>
                    <a:p>
                      <a:pPr algn="ctr"/>
                      <a:r>
                        <a:rPr kumimoji="1" lang="ja-JP" altLang="en-US" sz="2000" dirty="0"/>
                        <a:t>（非承認）</a:t>
                      </a:r>
                    </a:p>
                  </a:txBody>
                  <a:tcPr/>
                </a:tc>
                <a:tc>
                  <a:txBody>
                    <a:bodyPr/>
                    <a:lstStyle/>
                    <a:p>
                      <a:pPr marL="457200" indent="-457200">
                        <a:buFont typeface="+mj-ea"/>
                        <a:buAutoNum type="circleNumDbPlain"/>
                      </a:pPr>
                      <a:r>
                        <a:rPr kumimoji="1" lang="ja-JP" altLang="en-US" sz="2000" dirty="0"/>
                        <a:t>顧客の要求事項を満たしていない。</a:t>
                      </a:r>
                      <a:endParaRPr kumimoji="1" lang="en-US" altLang="ja-JP" sz="2000" dirty="0"/>
                    </a:p>
                    <a:p>
                      <a:pPr marL="457200" indent="-457200">
                        <a:buFont typeface="+mj-ea"/>
                        <a:buAutoNum type="circleNumDbPlain"/>
                      </a:pPr>
                      <a:r>
                        <a:rPr kumimoji="1" lang="ja-JP" altLang="en-US" sz="2000" dirty="0"/>
                        <a:t>製品及びプロセスを、顧客要求事項を満たすよう是正することが必要となる。</a:t>
                      </a:r>
                    </a:p>
                  </a:txBody>
                  <a:tcPr/>
                </a:tc>
                <a:extLst>
                  <a:ext uri="{0D108BD9-81ED-4DB2-BD59-A6C34878D82A}">
                    <a16:rowId xmlns:a16="http://schemas.microsoft.com/office/drawing/2014/main" val="2670442027"/>
                  </a:ext>
                </a:extLst>
              </a:tr>
            </a:tbl>
          </a:graphicData>
        </a:graphic>
      </p:graphicFrame>
    </p:spTree>
    <p:extLst>
      <p:ext uri="{BB962C8B-B14F-4D97-AF65-F5344CB8AC3E}">
        <p14:creationId xmlns:p14="http://schemas.microsoft.com/office/powerpoint/2010/main" val="3808465184"/>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3678956614"/>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455</a:t>
            </a:fld>
            <a:endParaRPr kumimoji="1" lang="ja-JP" altLang="en-US"/>
          </a:p>
        </p:txBody>
      </p:sp>
    </p:spTree>
    <p:extLst>
      <p:ext uri="{BB962C8B-B14F-4D97-AF65-F5344CB8AC3E}">
        <p14:creationId xmlns:p14="http://schemas.microsoft.com/office/powerpoint/2010/main" val="2876337410"/>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53378"/>
            <a:ext cx="10515600" cy="480297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米軍規格「ＭＩＬ</a:t>
            </a:r>
            <a:r>
              <a:rPr lang="en-US" altLang="ja-JP" sz="2400" dirty="0"/>
              <a:t>-P-1629</a:t>
            </a:r>
            <a:r>
              <a:rPr lang="ja-JP" altLang="en-US" sz="2400" dirty="0"/>
              <a:t>」として１９４９年に発行されたのが始まりとされている。</a:t>
            </a:r>
          </a:p>
          <a:p>
            <a:pPr marL="457200" indent="-457200">
              <a:lnSpc>
                <a:spcPct val="100000"/>
              </a:lnSpc>
              <a:buFont typeface="+mj-lt"/>
              <a:buAutoNum type="arabicPeriod"/>
            </a:pPr>
            <a:r>
              <a:rPr lang="ja-JP" altLang="en-US" sz="2400" dirty="0"/>
              <a:t>１９５０年代、アメリカのグラマン社が、新しいジェット戦闘機の開発にあたり、油圧機器を用いた操縦システムの信頼性を評価する方法として、ＦＭＥＡを用いたといわれている。</a:t>
            </a:r>
          </a:p>
          <a:p>
            <a:pPr marL="457200" indent="-457200">
              <a:lnSpc>
                <a:spcPct val="100000"/>
              </a:lnSpc>
              <a:buFont typeface="+mj-lt"/>
              <a:buAutoNum type="arabicPeriod"/>
            </a:pPr>
            <a:r>
              <a:rPr lang="ja-JP" altLang="en-US" sz="2400" dirty="0"/>
              <a:t>その有効性が知られて次第に普及し、１９６０年代になり人工衛星の開発に用いられ有名になった。</a:t>
            </a:r>
          </a:p>
          <a:p>
            <a:pPr marL="457200" indent="-457200">
              <a:lnSpc>
                <a:spcPct val="100000"/>
              </a:lnSpc>
              <a:buFont typeface="+mj-lt"/>
              <a:buAutoNum type="arabicPeriod"/>
            </a:pPr>
            <a:r>
              <a:rPr lang="ja-JP" altLang="en-US" sz="2400" dirty="0"/>
              <a:t>日本では、１９７０年代から広く一般の企業で信頼性手法として使用され始めた。</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４．ＦＭＥＡ（歴史）</a:t>
            </a:r>
          </a:p>
        </p:txBody>
      </p:sp>
    </p:spTree>
    <p:extLst>
      <p:ext uri="{BB962C8B-B14F-4D97-AF65-F5344CB8AC3E}">
        <p14:creationId xmlns:p14="http://schemas.microsoft.com/office/powerpoint/2010/main" val="3594559315"/>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64394"/>
            <a:ext cx="10515600" cy="4791955"/>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r>
              <a:rPr lang="ja-JP" altLang="en-US" sz="2400" dirty="0"/>
              <a:t>変わらないことは罪である！“変化”が必要であるといわれる。</a:t>
            </a:r>
          </a:p>
          <a:p>
            <a:pPr lvl="1">
              <a:lnSpc>
                <a:spcPct val="100000"/>
              </a:lnSpc>
              <a:buFont typeface="Wingdings" panose="05000000000000000000" pitchFamily="2" charset="2"/>
              <a:buChar char="Ø"/>
            </a:pPr>
            <a:r>
              <a:rPr lang="ja-JP" altLang="en-US" dirty="0"/>
              <a:t>新しい機能を追加する。</a:t>
            </a:r>
          </a:p>
          <a:p>
            <a:pPr lvl="1">
              <a:lnSpc>
                <a:spcPct val="100000"/>
              </a:lnSpc>
              <a:buFont typeface="Wingdings" panose="05000000000000000000" pitchFamily="2" charset="2"/>
              <a:buChar char="Ø"/>
            </a:pPr>
            <a:r>
              <a:rPr lang="ja-JP" altLang="en-US" dirty="0"/>
              <a:t>新製品開発期間の短縮</a:t>
            </a:r>
          </a:p>
          <a:p>
            <a:pPr lvl="1">
              <a:lnSpc>
                <a:spcPct val="100000"/>
              </a:lnSpc>
              <a:buFont typeface="Wingdings" panose="05000000000000000000" pitchFamily="2" charset="2"/>
              <a:buChar char="Ø"/>
            </a:pPr>
            <a:r>
              <a:rPr lang="ja-JP" altLang="en-US" dirty="0"/>
              <a:t>従来の性能を向上させるために新設備を採用する。</a:t>
            </a:r>
          </a:p>
          <a:p>
            <a:pPr lvl="1">
              <a:lnSpc>
                <a:spcPct val="100000"/>
              </a:lnSpc>
              <a:buFont typeface="Wingdings" panose="05000000000000000000" pitchFamily="2" charset="2"/>
              <a:buChar char="Ø"/>
            </a:pPr>
            <a:r>
              <a:rPr lang="ja-JP" altLang="en-US" dirty="0"/>
              <a:t>コストダウンを図るために原材料を変える。</a:t>
            </a:r>
          </a:p>
          <a:p>
            <a:pPr lvl="1">
              <a:lnSpc>
                <a:spcPct val="100000"/>
              </a:lnSpc>
              <a:buFont typeface="Wingdings" panose="05000000000000000000" pitchFamily="2" charset="2"/>
              <a:buChar char="Ø"/>
            </a:pPr>
            <a:r>
              <a:rPr lang="ja-JP" altLang="en-US" dirty="0"/>
              <a:t>購入部品を国内ではなく国外より調達する。</a:t>
            </a:r>
          </a:p>
          <a:p>
            <a:pPr lvl="1">
              <a:lnSpc>
                <a:spcPct val="100000"/>
              </a:lnSpc>
              <a:buFont typeface="Wingdings" panose="05000000000000000000" pitchFamily="2" charset="2"/>
              <a:buChar char="Ø"/>
            </a:pPr>
            <a:r>
              <a:rPr lang="ja-JP" altLang="en-US" dirty="0"/>
              <a:t>生産部門を放棄し開発のみに専念する。</a:t>
            </a:r>
          </a:p>
          <a:p>
            <a:pPr lvl="1">
              <a:lnSpc>
                <a:spcPct val="100000"/>
              </a:lnSpc>
              <a:buFont typeface="Wingdings" panose="05000000000000000000" pitchFamily="2" charset="2"/>
              <a:buChar char="Ø"/>
            </a:pPr>
            <a:r>
              <a:rPr lang="ja-JP" altLang="en-US" dirty="0"/>
              <a:t>Ｍ＆Ａ（吸収合併）を行う。</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４．ＦＭＥＡ（概要）</a:t>
            </a:r>
          </a:p>
        </p:txBody>
      </p:sp>
      <p:sp>
        <p:nvSpPr>
          <p:cNvPr id="2" name="四角形: 角を丸くする 1">
            <a:extLst>
              <a:ext uri="{FF2B5EF4-FFF2-40B4-BE49-F238E27FC236}">
                <a16:creationId xmlns:a16="http://schemas.microsoft.com/office/drawing/2014/main" id="{E584DAB6-9205-4F54-9C2C-09CFED7E729B}"/>
              </a:ext>
            </a:extLst>
          </p:cNvPr>
          <p:cNvSpPr/>
          <p:nvPr/>
        </p:nvSpPr>
        <p:spPr>
          <a:xfrm>
            <a:off x="1937132" y="1674564"/>
            <a:ext cx="8317735" cy="760164"/>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めまぐるしい環境変化</a:t>
            </a:r>
          </a:p>
        </p:txBody>
      </p:sp>
    </p:spTree>
    <p:extLst>
      <p:ext uri="{BB962C8B-B14F-4D97-AF65-F5344CB8AC3E}">
        <p14:creationId xmlns:p14="http://schemas.microsoft.com/office/powerpoint/2010/main" val="802909449"/>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619480"/>
            <a:ext cx="10515600" cy="473687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marL="0" indent="0">
              <a:lnSpc>
                <a:spcPct val="100000"/>
              </a:lnSpc>
              <a:buNone/>
            </a:pPr>
            <a:endParaRPr lang="en-US" altLang="ja-JP" sz="2400" dirty="0"/>
          </a:p>
          <a:p>
            <a:pPr marL="457200" indent="-457200">
              <a:lnSpc>
                <a:spcPct val="100000"/>
              </a:lnSpc>
              <a:buFont typeface="+mj-lt"/>
              <a:buAutoNum type="arabicPeriod"/>
            </a:pPr>
            <a:r>
              <a:rPr lang="ja-JP" altLang="en-US" sz="2400" dirty="0"/>
              <a:t>従来、日本の品質管理の強みは「工程で品質を作り込む」と言われるように、工程で発生した問題の要因を解析するという</a:t>
            </a:r>
            <a:r>
              <a:rPr lang="ja-JP" altLang="en-US" sz="2400" dirty="0">
                <a:solidFill>
                  <a:srgbClr val="FF0000"/>
                </a:solidFill>
                <a:effectLst>
                  <a:outerShdw blurRad="38100" dist="38100" dir="2700000" algn="tl">
                    <a:srgbClr val="000000">
                      <a:alpha val="43137"/>
                    </a:srgbClr>
                  </a:outerShdw>
                </a:effectLst>
              </a:rPr>
              <a:t>「問題解決」</a:t>
            </a:r>
            <a:r>
              <a:rPr lang="ja-JP" altLang="en-US" sz="2400" dirty="0"/>
              <a:t>によるあくなき品質向上への取組みであった。</a:t>
            </a:r>
          </a:p>
          <a:p>
            <a:pPr marL="457200" indent="-457200">
              <a:lnSpc>
                <a:spcPct val="100000"/>
              </a:lnSpc>
              <a:buFont typeface="+mj-lt"/>
              <a:buAutoNum type="arabicPeriod"/>
            </a:pPr>
            <a:r>
              <a:rPr lang="ja-JP" altLang="en-US" sz="2400" dirty="0"/>
              <a:t>しかし近年では、めまぐるしい環境変化や短くなる一方の商品サイクルや新製品開発期間のために、</a:t>
            </a:r>
            <a:r>
              <a:rPr lang="ja-JP" altLang="en-US" sz="2400" dirty="0">
                <a:solidFill>
                  <a:srgbClr val="FF0000"/>
                </a:solidFill>
                <a:effectLst>
                  <a:outerShdw blurRad="38100" dist="38100" dir="2700000" algn="tl">
                    <a:srgbClr val="000000">
                      <a:alpha val="43137"/>
                    </a:srgbClr>
                  </a:outerShdw>
                </a:effectLst>
              </a:rPr>
              <a:t>時間的な余裕が与えられていない</a:t>
            </a:r>
            <a:r>
              <a:rPr lang="ja-JP" altLang="en-US" sz="2400" dirty="0"/>
              <a:t>のが実情である。</a:t>
            </a:r>
          </a:p>
          <a:p>
            <a:pPr marL="457200" indent="-457200">
              <a:lnSpc>
                <a:spcPct val="100000"/>
              </a:lnSpc>
              <a:buFont typeface="+mj-lt"/>
              <a:buAutoNum type="arabicPeriod"/>
            </a:pPr>
            <a:r>
              <a:rPr lang="ja-JP" altLang="en-US" sz="2400" dirty="0"/>
              <a:t>このような状況の中で「製品立上後の設計変更ゼロ」を目指して、ＦＭＥ</a:t>
            </a:r>
            <a:r>
              <a:rPr lang="en-US" altLang="ja-JP" sz="2400" dirty="0"/>
              <a:t>A</a:t>
            </a:r>
            <a:r>
              <a:rPr lang="ja-JP" altLang="en-US" sz="2400" dirty="0"/>
              <a:t>に代表される</a:t>
            </a:r>
            <a:r>
              <a:rPr lang="ja-JP" altLang="en-US" sz="2400" dirty="0">
                <a:solidFill>
                  <a:srgbClr val="FF0000"/>
                </a:solidFill>
                <a:effectLst>
                  <a:outerShdw blurRad="38100" dist="38100" dir="2700000" algn="tl">
                    <a:srgbClr val="000000">
                      <a:alpha val="43137"/>
                    </a:srgbClr>
                  </a:outerShdw>
                </a:effectLst>
              </a:rPr>
              <a:t>「未然防止」による品質確保</a:t>
            </a:r>
            <a:r>
              <a:rPr lang="ja-JP" altLang="en-US" sz="2400" dirty="0"/>
              <a:t>へのアプローチに注目が集まっている。　</a:t>
            </a:r>
            <a:endParaRPr lang="ja-JP" altLang="en-US"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４．ＦＭＥＡ（概要）</a:t>
            </a:r>
          </a:p>
        </p:txBody>
      </p:sp>
      <p:sp>
        <p:nvSpPr>
          <p:cNvPr id="2" name="四角形: 角を丸くする 1">
            <a:extLst>
              <a:ext uri="{FF2B5EF4-FFF2-40B4-BE49-F238E27FC236}">
                <a16:creationId xmlns:a16="http://schemas.microsoft.com/office/drawing/2014/main" id="{E584DAB6-9205-4F54-9C2C-09CFED7E729B}"/>
              </a:ext>
            </a:extLst>
          </p:cNvPr>
          <p:cNvSpPr/>
          <p:nvPr/>
        </p:nvSpPr>
        <p:spPr>
          <a:xfrm>
            <a:off x="1937132" y="1740665"/>
            <a:ext cx="8317735" cy="760164"/>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ＦＭＥＡによる未然防止</a:t>
            </a:r>
          </a:p>
        </p:txBody>
      </p:sp>
    </p:spTree>
    <p:extLst>
      <p:ext uri="{BB962C8B-B14F-4D97-AF65-F5344CB8AC3E}">
        <p14:creationId xmlns:p14="http://schemas.microsoft.com/office/powerpoint/2010/main" val="4094570787"/>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r>
              <a:rPr lang="ja-JP" altLang="en-US" sz="2400" dirty="0"/>
              <a:t>不具合発生場所における損失金額は、発見場所によって異なる。後工程に行くほど損失は大きくなり、経験則では次のとおり。</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459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４．ＦＭＥＡ（概要）</a:t>
            </a:r>
          </a:p>
        </p:txBody>
      </p:sp>
      <p:sp>
        <p:nvSpPr>
          <p:cNvPr id="2" name="四角形: 角を丸くする 1">
            <a:extLst>
              <a:ext uri="{FF2B5EF4-FFF2-40B4-BE49-F238E27FC236}">
                <a16:creationId xmlns:a16="http://schemas.microsoft.com/office/drawing/2014/main" id="{E584DAB6-9205-4F54-9C2C-09CFED7E729B}"/>
              </a:ext>
            </a:extLst>
          </p:cNvPr>
          <p:cNvSpPr/>
          <p:nvPr/>
        </p:nvSpPr>
        <p:spPr>
          <a:xfrm>
            <a:off x="1937132" y="1476260"/>
            <a:ext cx="8317735" cy="760164"/>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不具合発生段階での損失の違い</a:t>
            </a:r>
          </a:p>
        </p:txBody>
      </p:sp>
      <p:graphicFrame>
        <p:nvGraphicFramePr>
          <p:cNvPr id="3" name="図表 2">
            <a:extLst>
              <a:ext uri="{FF2B5EF4-FFF2-40B4-BE49-F238E27FC236}">
                <a16:creationId xmlns:a16="http://schemas.microsoft.com/office/drawing/2014/main" id="{E5A198F0-9807-4E3A-B8D2-A94835C7CFD8}"/>
              </a:ext>
            </a:extLst>
          </p:cNvPr>
          <p:cNvGraphicFramePr/>
          <p:nvPr/>
        </p:nvGraphicFramePr>
        <p:xfrm>
          <a:off x="1002535" y="3183875"/>
          <a:ext cx="10223653" cy="2954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6296933"/>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r>
              <a:rPr lang="ja-JP" altLang="en-US" sz="2400" dirty="0"/>
              <a:t>ＦＭＥ</a:t>
            </a:r>
            <a:r>
              <a:rPr lang="en-US" altLang="ja-JP" sz="2400" dirty="0"/>
              <a:t>A</a:t>
            </a:r>
            <a:r>
              <a:rPr lang="ja-JP" altLang="en-US" sz="2400" dirty="0"/>
              <a:t>とＦＴＡとも、潜在的故障モードを抽出する手法である。しかし、両者の抽出の方法は以下の通り異なる。</a:t>
            </a:r>
          </a:p>
          <a:p>
            <a:pPr>
              <a:lnSpc>
                <a:spcPct val="100000"/>
              </a:lnSpc>
              <a:buFont typeface="Wingdings" panose="05000000000000000000" pitchFamily="2" charset="2"/>
              <a:buChar char="Ø"/>
            </a:pPr>
            <a:r>
              <a:rPr lang="ja-JP" altLang="en-US" sz="2400" dirty="0"/>
              <a:t>ＦＭＥＡ：</a:t>
            </a:r>
            <a:r>
              <a:rPr lang="en-US" altLang="ja-JP" sz="2400" dirty="0"/>
              <a:t>failure</a:t>
            </a:r>
            <a:r>
              <a:rPr lang="ja-JP" altLang="en-US" sz="2400" dirty="0"/>
              <a:t> </a:t>
            </a:r>
            <a:r>
              <a:rPr lang="en-US" altLang="ja-JP" sz="2400" dirty="0"/>
              <a:t>mode</a:t>
            </a:r>
            <a:r>
              <a:rPr lang="ja-JP" altLang="en-US" sz="2400" dirty="0"/>
              <a:t> </a:t>
            </a:r>
            <a:r>
              <a:rPr lang="en-US" altLang="ja-JP" sz="2400" dirty="0"/>
              <a:t>and</a:t>
            </a:r>
            <a:r>
              <a:rPr lang="ja-JP" altLang="en-US" sz="2400" dirty="0"/>
              <a:t> </a:t>
            </a:r>
            <a:r>
              <a:rPr lang="en-US" altLang="ja-JP" sz="2400" dirty="0"/>
              <a:t>effects analysis</a:t>
            </a:r>
            <a:endParaRPr lang="ja-JP" altLang="en-US" sz="2400" dirty="0"/>
          </a:p>
          <a:p>
            <a:pPr marL="457200" lvl="1" indent="0">
              <a:lnSpc>
                <a:spcPct val="100000"/>
              </a:lnSpc>
              <a:buNone/>
            </a:pPr>
            <a:r>
              <a:rPr lang="ja-JP" altLang="en-US" dirty="0"/>
              <a:t>品質への影響が大きな問題を発生させる要因がどこに潜んでいるか判断できない場合に、下位の部品、機器の故障モードを多数抽出することからスタートし、それらの故障モードが発生したときに上位のサブシステム、システムの品質上の影響をＦＭＥ</a:t>
            </a:r>
            <a:r>
              <a:rPr lang="en-US" altLang="ja-JP" dirty="0"/>
              <a:t>A</a:t>
            </a:r>
            <a:r>
              <a:rPr lang="ja-JP" altLang="en-US" dirty="0"/>
              <a:t>ワークシートにより解析し、重要な故障モードを抽出する手法 </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４．ＦＭＥＡ（概要）</a:t>
            </a:r>
          </a:p>
        </p:txBody>
      </p:sp>
      <p:sp>
        <p:nvSpPr>
          <p:cNvPr id="2" name="四角形: 角を丸くする 1">
            <a:extLst>
              <a:ext uri="{FF2B5EF4-FFF2-40B4-BE49-F238E27FC236}">
                <a16:creationId xmlns:a16="http://schemas.microsoft.com/office/drawing/2014/main" id="{E584DAB6-9205-4F54-9C2C-09CFED7E729B}"/>
              </a:ext>
            </a:extLst>
          </p:cNvPr>
          <p:cNvSpPr/>
          <p:nvPr/>
        </p:nvSpPr>
        <p:spPr>
          <a:xfrm>
            <a:off x="1937132" y="1476260"/>
            <a:ext cx="8317735" cy="760164"/>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ＦＭＥＡとＦＴＡの違い</a:t>
            </a:r>
          </a:p>
        </p:txBody>
      </p:sp>
      <p:sp>
        <p:nvSpPr>
          <p:cNvPr id="3" name="楕円 2">
            <a:extLst>
              <a:ext uri="{FF2B5EF4-FFF2-40B4-BE49-F238E27FC236}">
                <a16:creationId xmlns:a16="http://schemas.microsoft.com/office/drawing/2014/main" id="{416092DB-6180-4C1C-A9C8-2BB2748AF7BD}"/>
              </a:ext>
            </a:extLst>
          </p:cNvPr>
          <p:cNvSpPr/>
          <p:nvPr/>
        </p:nvSpPr>
        <p:spPr>
          <a:xfrm>
            <a:off x="3719110" y="5513942"/>
            <a:ext cx="4753778" cy="76016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ボトムアップ型</a:t>
            </a:r>
          </a:p>
        </p:txBody>
      </p:sp>
    </p:spTree>
    <p:extLst>
      <p:ext uri="{BB962C8B-B14F-4D97-AF65-F5344CB8AC3E}">
        <p14:creationId xmlns:p14="http://schemas.microsoft.com/office/powerpoint/2010/main" val="3780943031"/>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97446"/>
            <a:ext cx="10515600" cy="475890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marL="0" indent="0">
              <a:lnSpc>
                <a:spcPct val="100000"/>
              </a:lnSpc>
              <a:buNone/>
            </a:pPr>
            <a:endParaRPr lang="en-US" altLang="ja-JP" sz="2400" dirty="0"/>
          </a:p>
          <a:p>
            <a:pPr>
              <a:lnSpc>
                <a:spcPct val="100000"/>
              </a:lnSpc>
              <a:buFont typeface="Wingdings" panose="05000000000000000000" pitchFamily="2" charset="2"/>
              <a:buChar char="Ø"/>
            </a:pPr>
            <a:r>
              <a:rPr lang="ja-JP" altLang="en-US" sz="2400" dirty="0"/>
              <a:t>ＦＴＡ（</a:t>
            </a:r>
            <a:r>
              <a:rPr lang="en-US" altLang="ja-JP" sz="2400" dirty="0"/>
              <a:t>fault tree analysis</a:t>
            </a:r>
            <a:r>
              <a:rPr lang="ja-JP" altLang="en-US" sz="2400" dirty="0"/>
              <a:t>　故障の木解析）</a:t>
            </a:r>
          </a:p>
          <a:p>
            <a:pPr marL="457200" lvl="1" indent="0">
              <a:lnSpc>
                <a:spcPct val="100000"/>
              </a:lnSpc>
              <a:buNone/>
            </a:pPr>
            <a:r>
              <a:rPr lang="ja-JP" altLang="en-US" dirty="0"/>
              <a:t>新製品や新製造工程に発生することが望ましくない「品質特性」を頂上現象として設定して、その発生要因を段階的に部品等の下位レベルにおける異常現象、すなわち［基本事象」までＦＴ図を作りながら追及する手法</a:t>
            </a:r>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４．ＦＭＥＡ（概要）</a:t>
            </a:r>
          </a:p>
        </p:txBody>
      </p:sp>
      <p:sp>
        <p:nvSpPr>
          <p:cNvPr id="2" name="四角形: 角を丸くする 1">
            <a:extLst>
              <a:ext uri="{FF2B5EF4-FFF2-40B4-BE49-F238E27FC236}">
                <a16:creationId xmlns:a16="http://schemas.microsoft.com/office/drawing/2014/main" id="{E584DAB6-9205-4F54-9C2C-09CFED7E729B}"/>
              </a:ext>
            </a:extLst>
          </p:cNvPr>
          <p:cNvSpPr/>
          <p:nvPr/>
        </p:nvSpPr>
        <p:spPr>
          <a:xfrm>
            <a:off x="1937131" y="1718631"/>
            <a:ext cx="8317735" cy="760164"/>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ＦＭＥＡとＦＴＡの違い</a:t>
            </a:r>
          </a:p>
        </p:txBody>
      </p:sp>
      <p:sp>
        <p:nvSpPr>
          <p:cNvPr id="8" name="楕円 7">
            <a:extLst>
              <a:ext uri="{FF2B5EF4-FFF2-40B4-BE49-F238E27FC236}">
                <a16:creationId xmlns:a16="http://schemas.microsoft.com/office/drawing/2014/main" id="{1C735309-4EF1-4C58-A0F5-2D2C0D587A88}"/>
              </a:ext>
            </a:extLst>
          </p:cNvPr>
          <p:cNvSpPr/>
          <p:nvPr/>
        </p:nvSpPr>
        <p:spPr>
          <a:xfrm>
            <a:off x="3719109" y="4500390"/>
            <a:ext cx="4753778" cy="76016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トップダウン型</a:t>
            </a:r>
          </a:p>
        </p:txBody>
      </p:sp>
    </p:spTree>
    <p:extLst>
      <p:ext uri="{BB962C8B-B14F-4D97-AF65-F5344CB8AC3E}">
        <p14:creationId xmlns:p14="http://schemas.microsoft.com/office/powerpoint/2010/main" val="1889450229"/>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42360"/>
            <a:ext cx="10515600" cy="481398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ＦＭＥＡの目的</a:t>
            </a:r>
            <a:endParaRPr lang="en-US" altLang="ja-JP" sz="2400" dirty="0"/>
          </a:p>
          <a:p>
            <a:pPr marL="914400" lvl="1" indent="-457200">
              <a:lnSpc>
                <a:spcPct val="100000"/>
              </a:lnSpc>
              <a:buFont typeface="+mj-ea"/>
              <a:buAutoNum type="circleNumDbPlain"/>
            </a:pPr>
            <a:r>
              <a:rPr lang="ja-JP" altLang="en-US" dirty="0"/>
              <a:t>正式名称</a:t>
            </a:r>
            <a:endParaRPr lang="en-US" altLang="ja-JP" dirty="0"/>
          </a:p>
          <a:p>
            <a:pPr marL="914400" lvl="2" indent="0">
              <a:lnSpc>
                <a:spcPct val="100000"/>
              </a:lnSpc>
              <a:buNone/>
            </a:pPr>
            <a:r>
              <a:rPr lang="ja-JP" altLang="en-US" sz="2400" dirty="0"/>
              <a:t>「潜在的故障モード影響解析」（</a:t>
            </a:r>
            <a:r>
              <a:rPr lang="en-US" altLang="ja-JP" sz="2400" dirty="0"/>
              <a:t>potential failure</a:t>
            </a:r>
            <a:r>
              <a:rPr lang="ja-JP" altLang="en-US" sz="2400" dirty="0"/>
              <a:t> </a:t>
            </a:r>
            <a:r>
              <a:rPr lang="en-US" altLang="ja-JP" sz="2400" dirty="0"/>
              <a:t>mode</a:t>
            </a:r>
            <a:r>
              <a:rPr lang="ja-JP" altLang="en-US" sz="2400" dirty="0"/>
              <a:t> </a:t>
            </a:r>
            <a:r>
              <a:rPr lang="en-US" altLang="ja-JP" sz="2400" dirty="0"/>
              <a:t>and</a:t>
            </a:r>
            <a:r>
              <a:rPr lang="ja-JP" altLang="en-US" sz="2400" dirty="0"/>
              <a:t> </a:t>
            </a:r>
            <a:r>
              <a:rPr lang="en-US" altLang="ja-JP" sz="2400" dirty="0"/>
              <a:t>effects analysis)</a:t>
            </a:r>
            <a:r>
              <a:rPr lang="ja-JP" altLang="en-US" sz="2400" dirty="0"/>
              <a:t>　➠　</a:t>
            </a:r>
            <a:r>
              <a:rPr lang="ja-JP" altLang="en-US" sz="2400" dirty="0">
                <a:solidFill>
                  <a:srgbClr val="FF0000"/>
                </a:solidFill>
                <a:effectLst>
                  <a:outerShdw blurRad="38100" dist="38100" dir="2700000" algn="tl">
                    <a:srgbClr val="000000">
                      <a:alpha val="43137"/>
                    </a:srgbClr>
                  </a:outerShdw>
                </a:effectLst>
              </a:rPr>
              <a:t>潜在的故障（安全性欠如及び規制逸脱含む）を強調</a:t>
            </a:r>
            <a:endParaRPr lang="en-US" altLang="ja-JP" sz="2400" dirty="0">
              <a:solidFill>
                <a:srgbClr val="FF0000"/>
              </a:solidFill>
              <a:effectLst>
                <a:outerShdw blurRad="38100" dist="38100" dir="2700000" algn="tl">
                  <a:srgbClr val="000000">
                    <a:alpha val="43137"/>
                  </a:srgbClr>
                </a:outerShdw>
              </a:effectLst>
            </a:endParaRPr>
          </a:p>
          <a:p>
            <a:pPr marL="971550" lvl="1" indent="-514350">
              <a:lnSpc>
                <a:spcPct val="100000"/>
              </a:lnSpc>
              <a:buFont typeface="+mj-ea"/>
              <a:buAutoNum type="circleNumDbPlain"/>
            </a:pPr>
            <a:r>
              <a:rPr lang="ja-JP" altLang="en-US" dirty="0"/>
              <a:t>製品又は製造工程における、</a:t>
            </a:r>
            <a:r>
              <a:rPr lang="ja-JP" altLang="en-US" dirty="0">
                <a:solidFill>
                  <a:srgbClr val="FF0000"/>
                </a:solidFill>
                <a:effectLst>
                  <a:outerShdw blurRad="38100" dist="38100" dir="2700000" algn="tl">
                    <a:srgbClr val="000000">
                      <a:alpha val="43137"/>
                    </a:srgbClr>
                  </a:outerShdw>
                </a:effectLst>
              </a:rPr>
              <a:t>潜在的な故障モードと顧客への影響</a:t>
            </a:r>
            <a:r>
              <a:rPr lang="ja-JP" altLang="en-US" dirty="0"/>
              <a:t>を検討する。</a:t>
            </a:r>
            <a:endParaRPr lang="en-US" altLang="ja-JP" dirty="0"/>
          </a:p>
          <a:p>
            <a:pPr marL="971550" lvl="1" indent="-514350">
              <a:lnSpc>
                <a:spcPct val="100000"/>
              </a:lnSpc>
              <a:buFont typeface="+mj-ea"/>
              <a:buAutoNum type="circleNumDbPlain"/>
            </a:pPr>
            <a:r>
              <a:rPr lang="ja-JP" altLang="en-US" dirty="0"/>
              <a:t>潜在的故障モードに対する故障リスク低減のための</a:t>
            </a:r>
            <a:r>
              <a:rPr lang="ja-JP" altLang="en-US" dirty="0">
                <a:solidFill>
                  <a:srgbClr val="FF0000"/>
                </a:solidFill>
                <a:effectLst>
                  <a:outerShdw blurRad="38100" dist="38100" dir="2700000" algn="tl">
                    <a:srgbClr val="000000">
                      <a:alpha val="43137"/>
                    </a:srgbClr>
                  </a:outerShdw>
                </a:effectLst>
              </a:rPr>
              <a:t>改善処置の優先順位を検討</a:t>
            </a:r>
            <a:r>
              <a:rPr lang="ja-JP" altLang="en-US" dirty="0"/>
              <a:t>して実施する。</a:t>
            </a:r>
            <a:endParaRPr lang="en-US" altLang="ja-JP" dirty="0"/>
          </a:p>
          <a:p>
            <a:pPr marL="914400" lvl="2" indent="0">
              <a:lnSpc>
                <a:spcPct val="100000"/>
              </a:lnSpc>
              <a:buNone/>
            </a:pPr>
            <a:r>
              <a:rPr lang="en-US" altLang="ja-JP" sz="2400" dirty="0"/>
              <a:t> </a:t>
            </a: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sp>
        <p:nvSpPr>
          <p:cNvPr id="2" name="矢印: 下 1">
            <a:extLst>
              <a:ext uri="{FF2B5EF4-FFF2-40B4-BE49-F238E27FC236}">
                <a16:creationId xmlns:a16="http://schemas.microsoft.com/office/drawing/2014/main" id="{5D4BEB27-7A36-4033-AC6E-F3FC449E9A25}"/>
              </a:ext>
            </a:extLst>
          </p:cNvPr>
          <p:cNvSpPr/>
          <p:nvPr/>
        </p:nvSpPr>
        <p:spPr>
          <a:xfrm>
            <a:off x="5468037" y="4820070"/>
            <a:ext cx="1255923" cy="242371"/>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98EF56C-2228-441A-88E3-A06DEDD97BFD}"/>
              </a:ext>
            </a:extLst>
          </p:cNvPr>
          <p:cNvSpPr/>
          <p:nvPr/>
        </p:nvSpPr>
        <p:spPr>
          <a:xfrm>
            <a:off x="2416366" y="5166911"/>
            <a:ext cx="7359267" cy="859315"/>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リスク対応において最も効果的な技法のひとつ</a:t>
            </a:r>
          </a:p>
        </p:txBody>
      </p:sp>
    </p:spTree>
    <p:extLst>
      <p:ext uri="{BB962C8B-B14F-4D97-AF65-F5344CB8AC3E}">
        <p14:creationId xmlns:p14="http://schemas.microsoft.com/office/powerpoint/2010/main" val="951224668"/>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42360"/>
            <a:ext cx="10515600" cy="481398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ＦＭＥＡの限界</a:t>
            </a:r>
            <a:endParaRPr lang="en-US" altLang="ja-JP" sz="2400" dirty="0"/>
          </a:p>
          <a:p>
            <a:pPr marL="914400" lvl="1" indent="-45720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定性的（主観的）</a:t>
            </a:r>
            <a:r>
              <a:rPr lang="ja-JP" altLang="en-US" dirty="0"/>
              <a:t>であり、定量的（測定可能）ではない。</a:t>
            </a:r>
            <a:endParaRPr lang="en-US" altLang="ja-JP" sz="2400" dirty="0">
              <a:solidFill>
                <a:srgbClr val="FF0000"/>
              </a:solidFill>
              <a:effectLst>
                <a:outerShdw blurRad="38100" dist="38100" dir="2700000" algn="tl">
                  <a:srgbClr val="000000">
                    <a:alpha val="43137"/>
                  </a:srgbClr>
                </a:outerShdw>
              </a:effectLst>
            </a:endParaRPr>
          </a:p>
          <a:p>
            <a:pPr marL="971550" lvl="1" indent="-514350">
              <a:lnSpc>
                <a:spcPct val="100000"/>
              </a:lnSpc>
              <a:buFont typeface="+mj-ea"/>
              <a:buAutoNum type="circleNumDbPlain"/>
            </a:pPr>
            <a:r>
              <a:rPr lang="ja-JP" altLang="en-US" dirty="0"/>
              <a:t>単一の故障に対する解析であり、複合的な故障に対する解析ではない。</a:t>
            </a:r>
            <a:endParaRPr lang="en-US" altLang="ja-JP" dirty="0"/>
          </a:p>
          <a:p>
            <a:pPr marL="971550" lvl="1" indent="-514350">
              <a:lnSpc>
                <a:spcPct val="100000"/>
              </a:lnSpc>
              <a:buFont typeface="+mj-ea"/>
              <a:buAutoNum type="circleNumDbPlain"/>
            </a:pPr>
            <a:r>
              <a:rPr lang="ja-JP" altLang="en-US" dirty="0">
                <a:solidFill>
                  <a:srgbClr val="FF0000"/>
                </a:solidFill>
                <a:effectLst>
                  <a:outerShdw blurRad="38100" dist="38100" dir="2700000" algn="tl">
                    <a:srgbClr val="000000">
                      <a:alpha val="43137"/>
                    </a:srgbClr>
                  </a:outerShdw>
                </a:effectLst>
              </a:rPr>
              <a:t>チームの知識レベル</a:t>
            </a:r>
            <a:r>
              <a:rPr lang="ja-JP" altLang="en-US" dirty="0"/>
              <a:t>により、求められる予知（起こり得る故障など）ができない可能性がある。</a:t>
            </a:r>
            <a:endParaRPr lang="en-US" altLang="ja-JP" dirty="0"/>
          </a:p>
          <a:p>
            <a:pPr marL="914400" lvl="2" indent="0">
              <a:lnSpc>
                <a:spcPct val="100000"/>
              </a:lnSpc>
              <a:buNone/>
            </a:pPr>
            <a:r>
              <a:rPr lang="en-US" altLang="ja-JP" sz="2400" dirty="0"/>
              <a:t> </a:t>
            </a: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sp>
        <p:nvSpPr>
          <p:cNvPr id="2" name="矢印: 下 1">
            <a:extLst>
              <a:ext uri="{FF2B5EF4-FFF2-40B4-BE49-F238E27FC236}">
                <a16:creationId xmlns:a16="http://schemas.microsoft.com/office/drawing/2014/main" id="{5D4BEB27-7A36-4033-AC6E-F3FC449E9A25}"/>
              </a:ext>
            </a:extLst>
          </p:cNvPr>
          <p:cNvSpPr/>
          <p:nvPr/>
        </p:nvSpPr>
        <p:spPr>
          <a:xfrm>
            <a:off x="5468037" y="4119699"/>
            <a:ext cx="1255923" cy="242371"/>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A98EF56C-2228-441A-88E3-A06DEDD97BFD}"/>
              </a:ext>
            </a:extLst>
          </p:cNvPr>
          <p:cNvSpPr/>
          <p:nvPr/>
        </p:nvSpPr>
        <p:spPr>
          <a:xfrm>
            <a:off x="2416366" y="4466540"/>
            <a:ext cx="7359267" cy="859315"/>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知識レベルの向上と部門横断的チーム</a:t>
            </a:r>
          </a:p>
        </p:txBody>
      </p:sp>
    </p:spTree>
    <p:extLst>
      <p:ext uri="{BB962C8B-B14F-4D97-AF65-F5344CB8AC3E}">
        <p14:creationId xmlns:p14="http://schemas.microsoft.com/office/powerpoint/2010/main" val="2509688902"/>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42360"/>
            <a:ext cx="10515600" cy="4813989"/>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en-US" altLang="ja-JP" sz="2400" dirty="0"/>
              <a:t>2</a:t>
            </a:r>
            <a:r>
              <a:rPr lang="ja-JP" altLang="en-US" sz="2400" dirty="0"/>
              <a:t>つの主要ツール</a:t>
            </a:r>
            <a:endParaRPr lang="en-US" altLang="ja-JP" sz="2400" dirty="0"/>
          </a:p>
          <a:p>
            <a:pPr marL="914400" lvl="1" indent="-457200">
              <a:lnSpc>
                <a:spcPct val="100000"/>
              </a:lnSpc>
              <a:buFont typeface="+mj-ea"/>
              <a:buAutoNum type="circleNumDbPlain"/>
            </a:pPr>
            <a:r>
              <a:rPr lang="en-US" altLang="ja-JP" dirty="0"/>
              <a:t>AIAG</a:t>
            </a:r>
            <a:r>
              <a:rPr lang="ja-JP" altLang="en-US" dirty="0"/>
              <a:t>（米自動車産業協会）</a:t>
            </a:r>
            <a:r>
              <a:rPr lang="en-US" altLang="ja-JP" dirty="0"/>
              <a:t>FMEA</a:t>
            </a:r>
            <a:r>
              <a:rPr lang="ja-JP" altLang="en-US" dirty="0"/>
              <a:t>マニュアル。➠</a:t>
            </a:r>
            <a:r>
              <a:rPr lang="en-US" altLang="ja-JP" dirty="0"/>
              <a:t>IATF</a:t>
            </a:r>
            <a:r>
              <a:rPr lang="ja-JP" altLang="en-US" dirty="0"/>
              <a:t>コアツール</a:t>
            </a:r>
            <a:endParaRPr lang="en-US" altLang="ja-JP" dirty="0"/>
          </a:p>
          <a:p>
            <a:pPr marL="914400" lvl="1" indent="-457200">
              <a:lnSpc>
                <a:spcPct val="100000"/>
              </a:lnSpc>
              <a:buFont typeface="+mj-ea"/>
              <a:buAutoNum type="circleNumDbPlain"/>
            </a:pPr>
            <a:r>
              <a:rPr lang="en-US" altLang="ja-JP" dirty="0"/>
              <a:t>VDA</a:t>
            </a:r>
            <a:r>
              <a:rPr lang="ja-JP" altLang="en-US" dirty="0"/>
              <a:t>（独自動車工業会）</a:t>
            </a:r>
            <a:r>
              <a:rPr lang="en-US" altLang="ja-JP" dirty="0"/>
              <a:t>FMEA</a:t>
            </a:r>
            <a:r>
              <a:rPr lang="ja-JP" altLang="en-US" dirty="0"/>
              <a:t>マニュアル。</a:t>
            </a:r>
            <a:endParaRPr lang="en-US" altLang="ja-JP" dirty="0"/>
          </a:p>
          <a:p>
            <a:pPr marL="457200" indent="-457200">
              <a:lnSpc>
                <a:spcPct val="100000"/>
              </a:lnSpc>
              <a:buFont typeface="+mj-ea"/>
              <a:buAutoNum type="arabicPeriod" startAt="3"/>
            </a:pPr>
            <a:r>
              <a:rPr lang="en-US" altLang="ja-JP" sz="2400" dirty="0"/>
              <a:t>2</a:t>
            </a:r>
            <a:r>
              <a:rPr lang="ja-JP" altLang="en-US" sz="2400" dirty="0"/>
              <a:t>つのベストプラクティスとして「</a:t>
            </a:r>
            <a:r>
              <a:rPr lang="en-US" altLang="ja-JP" sz="2400" dirty="0"/>
              <a:t>AIAG&amp;VDA</a:t>
            </a:r>
            <a:r>
              <a:rPr lang="ja-JP" altLang="en-US" sz="2400" dirty="0"/>
              <a:t>　</a:t>
            </a:r>
            <a:r>
              <a:rPr lang="en-US" altLang="ja-JP" sz="2400" dirty="0"/>
              <a:t>FMEA</a:t>
            </a:r>
            <a:r>
              <a:rPr lang="ja-JP" altLang="en-US" sz="2400" dirty="0"/>
              <a:t>ハンドブック」の発行。（</a:t>
            </a:r>
            <a:r>
              <a:rPr lang="en-US" altLang="ja-JP" sz="2400" dirty="0"/>
              <a:t>2019</a:t>
            </a:r>
            <a:r>
              <a:rPr lang="ja-JP" altLang="en-US" sz="2400" dirty="0"/>
              <a:t>年</a:t>
            </a:r>
            <a:r>
              <a:rPr lang="en-US" altLang="ja-JP" sz="2400" dirty="0"/>
              <a:t>6</a:t>
            </a:r>
            <a:r>
              <a:rPr lang="ja-JP" altLang="en-US" sz="2400" dirty="0"/>
              <a:t>月）</a:t>
            </a:r>
            <a:endParaRPr lang="en-US" altLang="ja-JP" sz="2400" dirty="0"/>
          </a:p>
          <a:p>
            <a:pPr marL="914400" lvl="2" indent="0">
              <a:lnSpc>
                <a:spcPct val="100000"/>
              </a:lnSpc>
              <a:buNone/>
            </a:pPr>
            <a:r>
              <a:rPr lang="en-US" altLang="ja-JP" sz="2400" dirty="0"/>
              <a:t> </a:t>
            </a: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sp>
        <p:nvSpPr>
          <p:cNvPr id="8" name="矢印: 下 7">
            <a:extLst>
              <a:ext uri="{FF2B5EF4-FFF2-40B4-BE49-F238E27FC236}">
                <a16:creationId xmlns:a16="http://schemas.microsoft.com/office/drawing/2014/main" id="{D7E4B9AC-9D55-4DA5-98F1-6F0A0E58CD4E}"/>
              </a:ext>
            </a:extLst>
          </p:cNvPr>
          <p:cNvSpPr/>
          <p:nvPr/>
        </p:nvSpPr>
        <p:spPr>
          <a:xfrm>
            <a:off x="5468039" y="3707474"/>
            <a:ext cx="1255923" cy="242371"/>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2720B5D8-25F5-4E9E-B696-1418E0577FCE}"/>
              </a:ext>
            </a:extLst>
          </p:cNvPr>
          <p:cNvSpPr/>
          <p:nvPr/>
        </p:nvSpPr>
        <p:spPr>
          <a:xfrm>
            <a:off x="1564640" y="4064666"/>
            <a:ext cx="9062720" cy="114741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t>・ツールの選択は組織（顧客が指定）が行う。</a:t>
            </a:r>
            <a:endParaRPr lang="en-US" altLang="ja-JP" sz="2400" b="1" dirty="0"/>
          </a:p>
          <a:p>
            <a:pPr algn="ctr"/>
            <a:r>
              <a:rPr kumimoji="1" lang="ja-JP" altLang="en-US" sz="2400" b="1" dirty="0"/>
              <a:t>・今後「</a:t>
            </a:r>
            <a:r>
              <a:rPr kumimoji="1" lang="en-US" altLang="ja-JP" sz="2400" b="1" dirty="0"/>
              <a:t>AIAG&amp;VDA</a:t>
            </a:r>
            <a:r>
              <a:rPr kumimoji="1" lang="ja-JP" altLang="en-US" sz="2400" b="1" dirty="0"/>
              <a:t>」へ自然移行。</a:t>
            </a:r>
          </a:p>
        </p:txBody>
      </p:sp>
      <p:sp>
        <p:nvSpPr>
          <p:cNvPr id="6" name="正方形/長方形 5">
            <a:extLst>
              <a:ext uri="{FF2B5EF4-FFF2-40B4-BE49-F238E27FC236}">
                <a16:creationId xmlns:a16="http://schemas.microsoft.com/office/drawing/2014/main" id="{8A402793-B433-4C05-88AD-3A461CE1A210}"/>
              </a:ext>
            </a:extLst>
          </p:cNvPr>
          <p:cNvSpPr/>
          <p:nvPr/>
        </p:nvSpPr>
        <p:spPr>
          <a:xfrm>
            <a:off x="1872343" y="5442857"/>
            <a:ext cx="9364617" cy="5800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ja-JP" sz="2200" u="sng" dirty="0">
                <a:solidFill>
                  <a:srgbClr val="FF0000"/>
                </a:solidFill>
              </a:rPr>
              <a:t>※</a:t>
            </a:r>
            <a:r>
              <a:rPr kumimoji="1" lang="ja-JP" altLang="en-US" sz="2200" u="sng" dirty="0">
                <a:solidFill>
                  <a:srgbClr val="FF0000"/>
                </a:solidFill>
              </a:rPr>
              <a:t>　以降、当資料は「</a:t>
            </a:r>
            <a:r>
              <a:rPr kumimoji="1" lang="en-US" altLang="ja-JP" sz="2200" u="sng" dirty="0">
                <a:solidFill>
                  <a:srgbClr val="FF0000"/>
                </a:solidFill>
              </a:rPr>
              <a:t>AIAG&amp;VDA</a:t>
            </a:r>
            <a:r>
              <a:rPr kumimoji="1" lang="ja-JP" altLang="en-US" sz="2200" u="sng" dirty="0">
                <a:solidFill>
                  <a:srgbClr val="FF0000"/>
                </a:solidFill>
              </a:rPr>
              <a:t>ハンドブック」について解説する。</a:t>
            </a:r>
          </a:p>
        </p:txBody>
      </p:sp>
    </p:spTree>
    <p:extLst>
      <p:ext uri="{BB962C8B-B14F-4D97-AF65-F5344CB8AC3E}">
        <p14:creationId xmlns:p14="http://schemas.microsoft.com/office/powerpoint/2010/main" val="2639714554"/>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86428"/>
            <a:ext cx="10515600" cy="476992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ＦＭＥＡの種類①</a:t>
            </a:r>
            <a:endParaRPr lang="en-US" altLang="ja-JP" dirty="0"/>
          </a:p>
          <a:p>
            <a:pPr marL="914400" lvl="2" indent="0">
              <a:lnSpc>
                <a:spcPct val="100000"/>
              </a:lnSpc>
              <a:buNone/>
            </a:pPr>
            <a:r>
              <a:rPr lang="en-US" altLang="ja-JP" sz="2400" dirty="0"/>
              <a:t> </a:t>
            </a: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graphicFrame>
        <p:nvGraphicFramePr>
          <p:cNvPr id="6" name="表 7">
            <a:extLst>
              <a:ext uri="{FF2B5EF4-FFF2-40B4-BE49-F238E27FC236}">
                <a16:creationId xmlns:a16="http://schemas.microsoft.com/office/drawing/2014/main" id="{380EC45F-250C-4513-91A1-E854EFD41DC9}"/>
              </a:ext>
            </a:extLst>
          </p:cNvPr>
          <p:cNvGraphicFramePr>
            <a:graphicFrameLocks noGrp="1"/>
          </p:cNvGraphicFramePr>
          <p:nvPr>
            <p:extLst>
              <p:ext uri="{D42A27DB-BD31-4B8C-83A1-F6EECF244321}">
                <p14:modId xmlns:p14="http://schemas.microsoft.com/office/powerpoint/2010/main" val="1287357185"/>
              </p:ext>
            </p:extLst>
          </p:nvPr>
        </p:nvGraphicFramePr>
        <p:xfrm>
          <a:off x="838200" y="2140842"/>
          <a:ext cx="10515600" cy="4215507"/>
        </p:xfrm>
        <a:graphic>
          <a:graphicData uri="http://schemas.openxmlformats.org/drawingml/2006/table">
            <a:tbl>
              <a:tblPr firstRow="1" bandRow="1">
                <a:tableStyleId>{5C22544A-7EE6-4342-B048-85BDC9FD1C3A}</a:tableStyleId>
              </a:tblPr>
              <a:tblGrid>
                <a:gridCol w="2876169">
                  <a:extLst>
                    <a:ext uri="{9D8B030D-6E8A-4147-A177-3AD203B41FA5}">
                      <a16:colId xmlns:a16="http://schemas.microsoft.com/office/drawing/2014/main" val="2210171432"/>
                    </a:ext>
                  </a:extLst>
                </a:gridCol>
                <a:gridCol w="7639431">
                  <a:extLst>
                    <a:ext uri="{9D8B030D-6E8A-4147-A177-3AD203B41FA5}">
                      <a16:colId xmlns:a16="http://schemas.microsoft.com/office/drawing/2014/main" val="2643472041"/>
                    </a:ext>
                  </a:extLst>
                </a:gridCol>
              </a:tblGrid>
              <a:tr h="525103">
                <a:tc>
                  <a:txBody>
                    <a:bodyPr/>
                    <a:lstStyle/>
                    <a:p>
                      <a:pPr algn="ctr"/>
                      <a:r>
                        <a:rPr kumimoji="1" lang="ja-JP" altLang="en-US" sz="2200" dirty="0">
                          <a:solidFill>
                            <a:schemeClr val="tx1"/>
                          </a:solidFill>
                        </a:rPr>
                        <a:t>種類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200" dirty="0">
                          <a:solidFill>
                            <a:schemeClr val="tx1"/>
                          </a:solidFill>
                        </a:rPr>
                        <a:t>実施段階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68559290"/>
                  </a:ext>
                </a:extLst>
              </a:tr>
              <a:tr h="1094712">
                <a:tc>
                  <a:txBody>
                    <a:bodyPr/>
                    <a:lstStyle/>
                    <a:p>
                      <a:r>
                        <a:rPr kumimoji="1" lang="ja-JP" altLang="en-US" sz="2200" dirty="0"/>
                        <a:t>設計ＦＭＥＡ</a:t>
                      </a:r>
                      <a:endParaRPr kumimoji="1" lang="en-US" altLang="ja-JP" sz="2200" dirty="0"/>
                    </a:p>
                    <a:p>
                      <a:r>
                        <a:rPr kumimoji="1" lang="ja-JP" altLang="en-US" sz="2200" dirty="0"/>
                        <a:t>（</a:t>
                      </a:r>
                      <a:r>
                        <a:rPr kumimoji="1" lang="en-US" altLang="ja-JP" sz="2200" dirty="0"/>
                        <a:t>DFMEA</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solidFill>
                            <a:srgbClr val="FF0000"/>
                          </a:solidFill>
                          <a:effectLst>
                            <a:outerShdw blurRad="38100" dist="38100" dir="2700000" algn="tl">
                              <a:srgbClr val="000000">
                                <a:alpha val="43137"/>
                              </a:srgbClr>
                            </a:outerShdw>
                          </a:effectLst>
                        </a:rPr>
                        <a:t>製品に潜在する故障とその原因</a:t>
                      </a:r>
                      <a:r>
                        <a:rPr kumimoji="1" lang="ja-JP" altLang="en-US" sz="2200" dirty="0"/>
                        <a:t>の検討と対処を製品の設計開発の初期段階</a:t>
                      </a:r>
                      <a:r>
                        <a:rPr kumimoji="1" lang="ja-JP" altLang="en-US" sz="2200" dirty="0">
                          <a:solidFill>
                            <a:srgbClr val="FF0000"/>
                          </a:solidFill>
                          <a:effectLst>
                            <a:outerShdw blurRad="38100" dist="38100" dir="2700000" algn="tl">
                              <a:srgbClr val="000000">
                                <a:alpha val="43137"/>
                              </a:srgbClr>
                            </a:outerShdw>
                          </a:effectLst>
                        </a:rPr>
                        <a:t>（ＡＰＱＰフェーズ２）</a:t>
                      </a:r>
                      <a:r>
                        <a:rPr kumimoji="1" lang="ja-JP" altLang="en-US" sz="2200" dirty="0"/>
                        <a:t>で実施する。</a:t>
                      </a:r>
                      <a:endParaRPr kumimoji="1" lang="en-US" altLang="ja-JP"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500246"/>
                  </a:ext>
                </a:extLst>
              </a:tr>
              <a:tr h="1237664">
                <a:tc>
                  <a:txBody>
                    <a:bodyPr/>
                    <a:lstStyle/>
                    <a:p>
                      <a:r>
                        <a:rPr kumimoji="1" lang="ja-JP" altLang="en-US" sz="2200" dirty="0"/>
                        <a:t>工程ＦＭＥＡ</a:t>
                      </a:r>
                      <a:endParaRPr kumimoji="1" lang="en-US" altLang="ja-JP" sz="2200" dirty="0"/>
                    </a:p>
                    <a:p>
                      <a:r>
                        <a:rPr kumimoji="1" lang="ja-JP" altLang="en-US" sz="2200" dirty="0"/>
                        <a:t>（</a:t>
                      </a:r>
                      <a:r>
                        <a:rPr kumimoji="1" lang="en-US" altLang="ja-JP" sz="2200" dirty="0"/>
                        <a:t>PFMEA</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solidFill>
                            <a:srgbClr val="FF0000"/>
                          </a:solidFill>
                          <a:effectLst>
                            <a:outerShdw blurRad="38100" dist="38100" dir="2700000" algn="tl">
                              <a:srgbClr val="000000">
                                <a:alpha val="43137"/>
                              </a:srgbClr>
                            </a:outerShdw>
                          </a:effectLst>
                        </a:rPr>
                        <a:t>製造工程に潜在する故障とその原因</a:t>
                      </a:r>
                      <a:r>
                        <a:rPr kumimoji="1" lang="ja-JP" altLang="en-US" sz="2200" dirty="0"/>
                        <a:t>の検討と対処を製造工程設計の初期段階</a:t>
                      </a:r>
                      <a:r>
                        <a:rPr kumimoji="1" lang="ja-JP" altLang="en-US" sz="2200" dirty="0">
                          <a:solidFill>
                            <a:srgbClr val="FF0000"/>
                          </a:solidFill>
                          <a:effectLst>
                            <a:outerShdw blurRad="38100" dist="38100" dir="2700000" algn="tl">
                              <a:srgbClr val="000000">
                                <a:alpha val="43137"/>
                              </a:srgbClr>
                            </a:outerShdw>
                          </a:effectLst>
                        </a:rPr>
                        <a:t>（ＡＰＱＰフェーズ３）</a:t>
                      </a:r>
                      <a:r>
                        <a:rPr kumimoji="1" lang="ja-JP" altLang="en-US" sz="2200" dirty="0"/>
                        <a:t>で実施する。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3871752"/>
                  </a:ext>
                </a:extLst>
              </a:tr>
              <a:tr h="1358028">
                <a:tc>
                  <a:txBody>
                    <a:bodyPr/>
                    <a:lstStyle/>
                    <a:p>
                      <a:r>
                        <a:rPr kumimoji="1" lang="ja-JP" altLang="en-US" sz="2200" dirty="0"/>
                        <a:t>監視及びシステム応答の補足</a:t>
                      </a:r>
                      <a:r>
                        <a:rPr kumimoji="1" lang="en-US" altLang="ja-JP" sz="2200" dirty="0"/>
                        <a:t>FMEA</a:t>
                      </a:r>
                      <a:r>
                        <a:rPr kumimoji="1" lang="ja-JP" altLang="en-US" sz="2200" dirty="0"/>
                        <a:t>（</a:t>
                      </a:r>
                      <a:r>
                        <a:rPr kumimoji="1" lang="en-US" altLang="ja-JP" sz="2200" dirty="0"/>
                        <a:t>FMEA-MSR</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t>安全及び法順守を維持するために、</a:t>
                      </a:r>
                      <a:r>
                        <a:rPr kumimoji="1" lang="ja-JP" altLang="en-US" sz="2200" dirty="0">
                          <a:solidFill>
                            <a:srgbClr val="FF0000"/>
                          </a:solidFill>
                          <a:effectLst>
                            <a:outerShdw blurRad="38100" dist="38100" dir="2700000" algn="tl">
                              <a:srgbClr val="000000">
                                <a:alpha val="43137"/>
                              </a:srgbClr>
                            </a:outerShdw>
                          </a:effectLst>
                        </a:rPr>
                        <a:t>顧客運用中の診断検出及び故障リスク低減の手段を提供</a:t>
                      </a:r>
                      <a:r>
                        <a:rPr kumimoji="1" lang="ja-JP" altLang="en-US" sz="2200" dirty="0"/>
                        <a:t>する</a:t>
                      </a:r>
                      <a:r>
                        <a:rPr kumimoji="1" lang="en-US" altLang="ja-JP" sz="2200" dirty="0"/>
                        <a:t>ISO26262</a:t>
                      </a:r>
                      <a:r>
                        <a:rPr kumimoji="1" lang="ja-JP" altLang="en-US" sz="2200" dirty="0"/>
                        <a:t>を考慮した設計</a:t>
                      </a:r>
                      <a:r>
                        <a:rPr kumimoji="1" lang="en-US" altLang="ja-JP" sz="2200" dirty="0"/>
                        <a:t>FMEA</a:t>
                      </a:r>
                      <a:r>
                        <a:rPr kumimoji="1" lang="ja-JP" altLang="en-US" sz="2200" dirty="0"/>
                        <a:t>を保管するもの。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85821"/>
                  </a:ext>
                </a:extLst>
              </a:tr>
            </a:tbl>
          </a:graphicData>
        </a:graphic>
      </p:graphicFrame>
    </p:spTree>
    <p:extLst>
      <p:ext uri="{BB962C8B-B14F-4D97-AF65-F5344CB8AC3E}">
        <p14:creationId xmlns:p14="http://schemas.microsoft.com/office/powerpoint/2010/main" val="2908409255"/>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86428"/>
            <a:ext cx="10515600" cy="476992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6"/>
            </a:pPr>
            <a:r>
              <a:rPr lang="ja-JP" altLang="en-US" sz="2400" dirty="0"/>
              <a:t>ＦＭＥＡの種類②</a:t>
            </a:r>
            <a:endParaRPr lang="en-US" altLang="ja-JP" dirty="0"/>
          </a:p>
          <a:p>
            <a:pPr marL="914400" lvl="2" indent="0">
              <a:lnSpc>
                <a:spcPct val="100000"/>
              </a:lnSpc>
              <a:buNone/>
            </a:pPr>
            <a:r>
              <a:rPr lang="en-US" altLang="ja-JP" sz="2400" dirty="0"/>
              <a:t> </a:t>
            </a:r>
            <a:endParaRPr lang="ja-JP" altLang="en-US"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graphicFrame>
        <p:nvGraphicFramePr>
          <p:cNvPr id="6" name="表 7">
            <a:extLst>
              <a:ext uri="{FF2B5EF4-FFF2-40B4-BE49-F238E27FC236}">
                <a16:creationId xmlns:a16="http://schemas.microsoft.com/office/drawing/2014/main" id="{380EC45F-250C-4513-91A1-E854EFD41DC9}"/>
              </a:ext>
            </a:extLst>
          </p:cNvPr>
          <p:cNvGraphicFramePr>
            <a:graphicFrameLocks noGrp="1"/>
          </p:cNvGraphicFramePr>
          <p:nvPr>
            <p:extLst>
              <p:ext uri="{D42A27DB-BD31-4B8C-83A1-F6EECF244321}">
                <p14:modId xmlns:p14="http://schemas.microsoft.com/office/powerpoint/2010/main" val="3377530406"/>
              </p:ext>
            </p:extLst>
          </p:nvPr>
        </p:nvGraphicFramePr>
        <p:xfrm>
          <a:off x="838200" y="2140841"/>
          <a:ext cx="10515599" cy="4218391"/>
        </p:xfrm>
        <a:graphic>
          <a:graphicData uri="http://schemas.openxmlformats.org/drawingml/2006/table">
            <a:tbl>
              <a:tblPr firstRow="1" bandRow="1">
                <a:tableStyleId>{5C22544A-7EE6-4342-B048-85BDC9FD1C3A}</a:tableStyleId>
              </a:tblPr>
              <a:tblGrid>
                <a:gridCol w="2541596">
                  <a:extLst>
                    <a:ext uri="{9D8B030D-6E8A-4147-A177-3AD203B41FA5}">
                      <a16:colId xmlns:a16="http://schemas.microsoft.com/office/drawing/2014/main" val="2210171432"/>
                    </a:ext>
                  </a:extLst>
                </a:gridCol>
                <a:gridCol w="7974003">
                  <a:extLst>
                    <a:ext uri="{9D8B030D-6E8A-4147-A177-3AD203B41FA5}">
                      <a16:colId xmlns:a16="http://schemas.microsoft.com/office/drawing/2014/main" val="2643472041"/>
                    </a:ext>
                  </a:extLst>
                </a:gridCol>
              </a:tblGrid>
              <a:tr h="423838">
                <a:tc>
                  <a:txBody>
                    <a:bodyPr/>
                    <a:lstStyle/>
                    <a:p>
                      <a:pPr algn="ctr"/>
                      <a:r>
                        <a:rPr kumimoji="1" lang="ja-JP" altLang="en-US" sz="2200" dirty="0">
                          <a:solidFill>
                            <a:schemeClr val="tx1"/>
                          </a:solidFill>
                        </a:rPr>
                        <a:t>種類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200" dirty="0">
                          <a:solidFill>
                            <a:schemeClr val="tx1"/>
                          </a:solidFill>
                        </a:rPr>
                        <a:t>実施段階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68559290"/>
                  </a:ext>
                </a:extLst>
              </a:tr>
              <a:tr h="864509">
                <a:tc>
                  <a:txBody>
                    <a:bodyPr/>
                    <a:lstStyle/>
                    <a:p>
                      <a:r>
                        <a:rPr kumimoji="1" lang="en-US" altLang="ja-JP" sz="2200" dirty="0"/>
                        <a:t>FMEA</a:t>
                      </a:r>
                      <a:r>
                        <a:rPr kumimoji="1" lang="ja-JP" altLang="en-US" sz="2200" dirty="0"/>
                        <a:t>（個別の）</a:t>
                      </a:r>
                      <a:endParaRPr kumimoji="1" lang="en-US" altLang="ja-JP"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200" dirty="0">
                          <a:solidFill>
                            <a:schemeClr val="tx1"/>
                          </a:solidFill>
                          <a:effectLst/>
                        </a:rPr>
                        <a:t>FMEA</a:t>
                      </a:r>
                      <a:r>
                        <a:rPr kumimoji="1" lang="ja-JP" altLang="en-US" sz="2200" dirty="0">
                          <a:solidFill>
                            <a:schemeClr val="tx1"/>
                          </a:solidFill>
                          <a:effectLst/>
                        </a:rPr>
                        <a:t>実施プロジェクト（個別製品又はプロセス）ごとの</a:t>
                      </a:r>
                      <a:r>
                        <a:rPr kumimoji="1" lang="en-US" altLang="ja-JP" sz="2200" dirty="0">
                          <a:solidFill>
                            <a:schemeClr val="tx1"/>
                          </a:solidFill>
                          <a:effectLst/>
                        </a:rPr>
                        <a:t>FMEA</a:t>
                      </a:r>
                      <a:r>
                        <a:rPr kumimoji="1" lang="ja-JP" altLang="en-US" sz="2200" dirty="0">
                          <a:solidFill>
                            <a:schemeClr val="tx1"/>
                          </a:solidFill>
                          <a:effectLst/>
                        </a:rPr>
                        <a:t>。</a:t>
                      </a:r>
                      <a:endParaRPr kumimoji="1" lang="en-US" altLang="ja-JP" sz="2200" dirty="0">
                        <a:solidFill>
                          <a:schemeClr val="tx1"/>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500246"/>
                  </a:ext>
                </a:extLst>
              </a:tr>
              <a:tr h="1858759">
                <a:tc>
                  <a:txBody>
                    <a:bodyPr/>
                    <a:lstStyle/>
                    <a:p>
                      <a:r>
                        <a:rPr kumimoji="1" lang="ja-JP" altLang="en-US" sz="2200" dirty="0"/>
                        <a:t>基礎</a:t>
                      </a:r>
                      <a:r>
                        <a:rPr kumimoji="1" lang="en-US" altLang="ja-JP" sz="2200" dirty="0"/>
                        <a:t>FMEA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solidFill>
                            <a:schemeClr val="tx1"/>
                          </a:solidFill>
                          <a:effectLst/>
                        </a:rPr>
                        <a:t>①個別ではなく、要求事項、機能及び処置の一般化を行うもの。</a:t>
                      </a:r>
                      <a:endParaRPr kumimoji="1" lang="en-US" altLang="ja-JP" sz="2200" dirty="0">
                        <a:solidFill>
                          <a:schemeClr val="tx1"/>
                        </a:solidFill>
                        <a:effectLst/>
                      </a:endParaRPr>
                    </a:p>
                    <a:p>
                      <a:r>
                        <a:rPr kumimoji="1" lang="ja-JP" altLang="en-US" sz="2200" dirty="0">
                          <a:solidFill>
                            <a:schemeClr val="tx1"/>
                          </a:solidFill>
                          <a:effectLst/>
                        </a:rPr>
                        <a:t>②新しい個別</a:t>
                      </a:r>
                      <a:r>
                        <a:rPr kumimoji="1" lang="en-US" altLang="ja-JP" sz="2200" dirty="0">
                          <a:solidFill>
                            <a:schemeClr val="tx1"/>
                          </a:solidFill>
                          <a:effectLst/>
                        </a:rPr>
                        <a:t>FMEA</a:t>
                      </a:r>
                      <a:r>
                        <a:rPr kumimoji="1" lang="ja-JP" altLang="en-US" sz="2200" dirty="0">
                          <a:solidFill>
                            <a:schemeClr val="tx1"/>
                          </a:solidFill>
                          <a:effectLst/>
                        </a:rPr>
                        <a:t>の出発点として役立つ、過去の知識が含まれるもので、ジェネリック、テンプレート、マスター又はベストプラクティスなどとも呼ばれる。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3871752"/>
                  </a:ext>
                </a:extLst>
              </a:tr>
              <a:tr h="1068403">
                <a:tc>
                  <a:txBody>
                    <a:bodyPr/>
                    <a:lstStyle/>
                    <a:p>
                      <a:r>
                        <a:rPr kumimoji="1" lang="ja-JP" altLang="en-US" sz="2200" dirty="0"/>
                        <a:t>ファミリー</a:t>
                      </a:r>
                      <a:r>
                        <a:rPr kumimoji="1" lang="en-US" altLang="ja-JP" sz="2200" dirty="0"/>
                        <a:t>FMEA</a:t>
                      </a:r>
                      <a:endParaRPr kumimoji="1" lang="ja-JP"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solidFill>
                            <a:schemeClr val="tx1"/>
                          </a:solidFill>
                          <a:effectLst/>
                        </a:rPr>
                        <a:t>共通した製品ファミリー又は共通した製造プロセスに対する</a:t>
                      </a:r>
                      <a:r>
                        <a:rPr kumimoji="1" lang="en-US" altLang="ja-JP" sz="2200" dirty="0">
                          <a:solidFill>
                            <a:schemeClr val="tx1"/>
                          </a:solidFill>
                          <a:effectLst/>
                        </a:rPr>
                        <a:t>FMEA</a:t>
                      </a:r>
                      <a:r>
                        <a:rPr kumimoji="1" lang="ja-JP" altLang="en-US" sz="2200" dirty="0">
                          <a:solidFill>
                            <a:schemeClr val="tx1"/>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85821"/>
                  </a:ext>
                </a:extLst>
              </a:tr>
            </a:tbl>
          </a:graphicData>
        </a:graphic>
      </p:graphicFrame>
    </p:spTree>
    <p:extLst>
      <p:ext uri="{BB962C8B-B14F-4D97-AF65-F5344CB8AC3E}">
        <p14:creationId xmlns:p14="http://schemas.microsoft.com/office/powerpoint/2010/main" val="2531401354"/>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7"/>
            </a:pPr>
            <a:r>
              <a:rPr lang="ja-JP" altLang="en-US" sz="2400" dirty="0"/>
              <a:t>ＦＭＥＡの顧客（組織の影響を受ける相手）</a:t>
            </a:r>
            <a:endParaRPr lang="en-US" altLang="ja-JP" dirty="0"/>
          </a:p>
          <a:p>
            <a:pPr marL="457200" lvl="1" indent="0">
              <a:lnSpc>
                <a:spcPct val="100000"/>
              </a:lnSpc>
              <a:buNone/>
            </a:pPr>
            <a:endParaRPr lang="en-US" altLang="ja-JP" dirty="0"/>
          </a:p>
          <a:p>
            <a:pPr marL="457200" lvl="1" indent="0">
              <a:lnSpc>
                <a:spcPct val="100000"/>
              </a:lnSpc>
              <a:buNone/>
            </a:pPr>
            <a:endParaRPr lang="en-US" altLang="ja-JP" dirty="0"/>
          </a:p>
          <a:p>
            <a:pPr marL="457200" lvl="1" indent="0">
              <a:lnSpc>
                <a:spcPct val="100000"/>
              </a:lnSpc>
              <a:buNone/>
            </a:pPr>
            <a:endParaRPr lang="en-US" altLang="ja-JP" dirty="0"/>
          </a:p>
          <a:p>
            <a:pPr marL="457200" lvl="1" indent="0">
              <a:lnSpc>
                <a:spcPct val="100000"/>
              </a:lnSpc>
              <a:buNone/>
            </a:pPr>
            <a:endParaRPr lang="en-US" altLang="ja-JP" dirty="0"/>
          </a:p>
          <a:p>
            <a:pPr marL="457200" lvl="1" indent="0">
              <a:lnSpc>
                <a:spcPct val="100000"/>
              </a:lnSpc>
              <a:buNone/>
            </a:pPr>
            <a:endParaRPr lang="en-US" altLang="ja-JP" dirty="0"/>
          </a:p>
          <a:p>
            <a:pPr marL="457200" lvl="1" indent="0">
              <a:lnSpc>
                <a:spcPct val="100000"/>
              </a:lnSpc>
              <a:buNone/>
            </a:pPr>
            <a:endParaRPr lang="en-US" altLang="ja-JP" dirty="0"/>
          </a:p>
          <a:p>
            <a:pPr marL="457200" indent="-457200">
              <a:lnSpc>
                <a:spcPct val="100000"/>
              </a:lnSpc>
              <a:buFont typeface="+mj-lt"/>
              <a:buAutoNum type="arabicPeriod" startAt="7"/>
            </a:pPr>
            <a:r>
              <a:rPr lang="ja-JP" altLang="en-US" sz="2400" dirty="0"/>
              <a:t>チーム志向（ＦＭＥＡチーム）</a:t>
            </a:r>
            <a:endParaRPr lang="en-US" altLang="ja-JP" sz="2400" dirty="0"/>
          </a:p>
          <a:p>
            <a:pPr marL="914400" lvl="1" indent="-457200">
              <a:lnSpc>
                <a:spcPct val="100000"/>
              </a:lnSpc>
              <a:buFont typeface="+mj-ea"/>
              <a:buAutoNum type="circleNumDbPlain"/>
            </a:pPr>
            <a:r>
              <a:rPr lang="ja-JP" altLang="en-US" dirty="0"/>
              <a:t>製品設計技術者又は工程設計技術者を中心に</a:t>
            </a:r>
            <a:r>
              <a:rPr lang="ja-JP" altLang="en-US" dirty="0">
                <a:solidFill>
                  <a:srgbClr val="FF0000"/>
                </a:solidFill>
                <a:effectLst>
                  <a:outerShdw blurRad="38100" dist="38100" dir="2700000" algn="tl">
                    <a:srgbClr val="000000">
                      <a:alpha val="43137"/>
                    </a:srgbClr>
                  </a:outerShdw>
                </a:effectLst>
              </a:rPr>
              <a:t>部門横断的アプローチ</a:t>
            </a:r>
            <a:r>
              <a:rPr lang="ja-JP" altLang="en-US" dirty="0"/>
              <a:t>（設計、技術、製造、品証、生産管理などの関連部門）で進める。</a:t>
            </a:r>
            <a:endParaRPr lang="en-US" altLang="ja-JP" dirty="0"/>
          </a:p>
          <a:p>
            <a:pPr marL="914400" lvl="1" indent="-457200">
              <a:lnSpc>
                <a:spcPct val="100000"/>
              </a:lnSpc>
              <a:buFont typeface="+mj-ea"/>
              <a:buAutoNum type="circleNumDbPlain"/>
            </a:pPr>
            <a:r>
              <a:rPr lang="ja-JP" altLang="en-US" dirty="0"/>
              <a:t>必要であれば、顧客及び供給者も含める。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graphicFrame>
        <p:nvGraphicFramePr>
          <p:cNvPr id="3" name="表 5">
            <a:extLst>
              <a:ext uri="{FF2B5EF4-FFF2-40B4-BE49-F238E27FC236}">
                <a16:creationId xmlns:a16="http://schemas.microsoft.com/office/drawing/2014/main" id="{3A8E09D2-9DB9-4CA3-BD53-ADD0899607B6}"/>
              </a:ext>
            </a:extLst>
          </p:cNvPr>
          <p:cNvGraphicFramePr>
            <a:graphicFrameLocks noGrp="1"/>
          </p:cNvGraphicFramePr>
          <p:nvPr>
            <p:extLst>
              <p:ext uri="{D42A27DB-BD31-4B8C-83A1-F6EECF244321}">
                <p14:modId xmlns:p14="http://schemas.microsoft.com/office/powerpoint/2010/main" val="1859633510"/>
              </p:ext>
            </p:extLst>
          </p:nvPr>
        </p:nvGraphicFramePr>
        <p:xfrm>
          <a:off x="838200" y="1782762"/>
          <a:ext cx="10515600" cy="2484435"/>
        </p:xfrm>
        <a:graphic>
          <a:graphicData uri="http://schemas.openxmlformats.org/drawingml/2006/table">
            <a:tbl>
              <a:tblPr firstRow="1" bandRow="1">
                <a:tableStyleId>{5940675A-B579-460E-94D1-54222C63F5DA}</a:tableStyleId>
              </a:tblPr>
              <a:tblGrid>
                <a:gridCol w="3381604">
                  <a:extLst>
                    <a:ext uri="{9D8B030D-6E8A-4147-A177-3AD203B41FA5}">
                      <a16:colId xmlns:a16="http://schemas.microsoft.com/office/drawing/2014/main" val="3796755350"/>
                    </a:ext>
                  </a:extLst>
                </a:gridCol>
                <a:gridCol w="7133996">
                  <a:extLst>
                    <a:ext uri="{9D8B030D-6E8A-4147-A177-3AD203B41FA5}">
                      <a16:colId xmlns:a16="http://schemas.microsoft.com/office/drawing/2014/main" val="547403213"/>
                    </a:ext>
                  </a:extLst>
                </a:gridCol>
              </a:tblGrid>
              <a:tr h="496887">
                <a:tc>
                  <a:txBody>
                    <a:bodyPr/>
                    <a:lstStyle/>
                    <a:p>
                      <a:pPr algn="ctr"/>
                      <a:r>
                        <a:rPr kumimoji="1" lang="ja-JP" altLang="en-US" sz="2200" dirty="0"/>
                        <a:t>区分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200" dirty="0"/>
                        <a:t>対象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487897512"/>
                  </a:ext>
                </a:extLst>
              </a:tr>
              <a:tr h="496887">
                <a:tc>
                  <a:txBody>
                    <a:bodyPr/>
                    <a:lstStyle/>
                    <a:p>
                      <a:r>
                        <a:rPr kumimoji="1" lang="ja-JP" altLang="en-US" sz="2200" dirty="0"/>
                        <a:t>内部顧客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次の作業／後工程／作業目標／供給者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404659"/>
                  </a:ext>
                </a:extLst>
              </a:tr>
              <a:tr h="496887">
                <a:tc>
                  <a:txBody>
                    <a:bodyPr/>
                    <a:lstStyle/>
                    <a:p>
                      <a:r>
                        <a:rPr kumimoji="1" lang="ja-JP" altLang="en-US" sz="2200" dirty="0"/>
                        <a:t>外部顧客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出荷先工場／次の</a:t>
                      </a:r>
                      <a:r>
                        <a:rPr kumimoji="1" lang="en-US" altLang="ja-JP" sz="2200" dirty="0"/>
                        <a:t>Tier</a:t>
                      </a:r>
                      <a:r>
                        <a:rPr kumimoji="1" lang="ja-JP" altLang="en-US" sz="2200" dirty="0"/>
                        <a:t>レベル／</a:t>
                      </a:r>
                      <a:r>
                        <a:rPr kumimoji="1" lang="en-US" altLang="ja-JP" sz="2200" dirty="0"/>
                        <a:t>OEM</a:t>
                      </a:r>
                      <a:endParaRPr kumimoji="1" lang="ja-JP"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704226"/>
                  </a:ext>
                </a:extLst>
              </a:tr>
              <a:tr h="496887">
                <a:tc>
                  <a:txBody>
                    <a:bodyPr/>
                    <a:lstStyle/>
                    <a:p>
                      <a:r>
                        <a:rPr kumimoji="1" lang="ja-JP" altLang="en-US" sz="2200" dirty="0"/>
                        <a:t>行政機関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当該規制監督先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49655"/>
                  </a:ext>
                </a:extLst>
              </a:tr>
              <a:tr h="496887">
                <a:tc>
                  <a:txBody>
                    <a:bodyPr/>
                    <a:lstStyle/>
                    <a:p>
                      <a:r>
                        <a:rPr kumimoji="1" lang="ja-JP" altLang="en-US" sz="2200" dirty="0"/>
                        <a:t>エンドユーザー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自動車の購入者／運転者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065026"/>
                  </a:ext>
                </a:extLst>
              </a:tr>
            </a:tbl>
          </a:graphicData>
        </a:graphic>
      </p:graphicFrame>
    </p:spTree>
    <p:extLst>
      <p:ext uri="{BB962C8B-B14F-4D97-AF65-F5344CB8AC3E}">
        <p14:creationId xmlns:p14="http://schemas.microsoft.com/office/powerpoint/2010/main" val="637475594"/>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9"/>
            </a:pPr>
            <a:r>
              <a:rPr lang="en-US" altLang="ja-JP" sz="2400" dirty="0"/>
              <a:t>APQP</a:t>
            </a:r>
            <a:r>
              <a:rPr lang="ja-JP" altLang="en-US" sz="2400" dirty="0"/>
              <a:t>フェーズと</a:t>
            </a:r>
            <a:r>
              <a:rPr lang="en-US" altLang="ja-JP" sz="2400" dirty="0"/>
              <a:t>FMEA</a:t>
            </a:r>
            <a:r>
              <a:rPr lang="ja-JP" altLang="en-US" sz="2400" dirty="0"/>
              <a:t>実施のタイミング</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graphicFrame>
        <p:nvGraphicFramePr>
          <p:cNvPr id="2" name="表 2">
            <a:extLst>
              <a:ext uri="{FF2B5EF4-FFF2-40B4-BE49-F238E27FC236}">
                <a16:creationId xmlns:a16="http://schemas.microsoft.com/office/drawing/2014/main" id="{47FBA7BD-F754-44F8-AF40-FAB161C9DD59}"/>
              </a:ext>
            </a:extLst>
          </p:cNvPr>
          <p:cNvGraphicFramePr>
            <a:graphicFrameLocks noGrp="1"/>
          </p:cNvGraphicFramePr>
          <p:nvPr/>
        </p:nvGraphicFramePr>
        <p:xfrm>
          <a:off x="838200" y="2080378"/>
          <a:ext cx="10515600" cy="4275971"/>
        </p:xfrm>
        <a:graphic>
          <a:graphicData uri="http://schemas.openxmlformats.org/drawingml/2006/table">
            <a:tbl>
              <a:tblPr firstRow="1" bandRow="1">
                <a:tableStyleId>{5940675A-B579-460E-94D1-54222C63F5DA}</a:tableStyleId>
              </a:tblPr>
              <a:tblGrid>
                <a:gridCol w="1306286">
                  <a:extLst>
                    <a:ext uri="{9D8B030D-6E8A-4147-A177-3AD203B41FA5}">
                      <a16:colId xmlns:a16="http://schemas.microsoft.com/office/drawing/2014/main" val="872221900"/>
                    </a:ext>
                  </a:extLst>
                </a:gridCol>
                <a:gridCol w="2198914">
                  <a:extLst>
                    <a:ext uri="{9D8B030D-6E8A-4147-A177-3AD203B41FA5}">
                      <a16:colId xmlns:a16="http://schemas.microsoft.com/office/drawing/2014/main" val="1682008977"/>
                    </a:ext>
                  </a:extLst>
                </a:gridCol>
                <a:gridCol w="1752600">
                  <a:extLst>
                    <a:ext uri="{9D8B030D-6E8A-4147-A177-3AD203B41FA5}">
                      <a16:colId xmlns:a16="http://schemas.microsoft.com/office/drawing/2014/main" val="3086854247"/>
                    </a:ext>
                  </a:extLst>
                </a:gridCol>
                <a:gridCol w="1752600">
                  <a:extLst>
                    <a:ext uri="{9D8B030D-6E8A-4147-A177-3AD203B41FA5}">
                      <a16:colId xmlns:a16="http://schemas.microsoft.com/office/drawing/2014/main" val="4212623747"/>
                    </a:ext>
                  </a:extLst>
                </a:gridCol>
                <a:gridCol w="1752600">
                  <a:extLst>
                    <a:ext uri="{9D8B030D-6E8A-4147-A177-3AD203B41FA5}">
                      <a16:colId xmlns:a16="http://schemas.microsoft.com/office/drawing/2014/main" val="514159913"/>
                    </a:ext>
                  </a:extLst>
                </a:gridCol>
                <a:gridCol w="1752600">
                  <a:extLst>
                    <a:ext uri="{9D8B030D-6E8A-4147-A177-3AD203B41FA5}">
                      <a16:colId xmlns:a16="http://schemas.microsoft.com/office/drawing/2014/main" val="2997328516"/>
                    </a:ext>
                  </a:extLst>
                </a:gridCol>
              </a:tblGrid>
              <a:tr h="597743">
                <a:tc rowSpan="2">
                  <a:txBody>
                    <a:bodyPr/>
                    <a:lstStyle/>
                    <a:p>
                      <a:pPr algn="ctr"/>
                      <a:r>
                        <a:rPr kumimoji="1" lang="en-US" altLang="ja-JP" sz="1800" b="1" dirty="0">
                          <a:solidFill>
                            <a:schemeClr val="bg1"/>
                          </a:solidFill>
                        </a:rPr>
                        <a:t>APQP</a:t>
                      </a:r>
                      <a:r>
                        <a:rPr kumimoji="1" lang="ja-JP" altLang="en-US" sz="1800" b="1" dirty="0">
                          <a:solidFill>
                            <a:schemeClr val="bg1"/>
                          </a:solidFill>
                        </a:rPr>
                        <a:t>フェーズ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kumimoji="1" lang="ja-JP" altLang="en-US" sz="1800" b="1" dirty="0">
                          <a:solidFill>
                            <a:schemeClr val="bg1"/>
                          </a:solidFill>
                        </a:rPr>
                        <a:t>フェーズ１</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kumimoji="1" lang="ja-JP" altLang="en-US" sz="1800" b="1" dirty="0">
                          <a:solidFill>
                            <a:schemeClr val="bg1"/>
                          </a:solidFill>
                        </a:rPr>
                        <a:t>フェーズ２</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kumimoji="1" lang="ja-JP" altLang="en-US" sz="1800" b="1" dirty="0">
                          <a:solidFill>
                            <a:schemeClr val="bg1"/>
                          </a:solidFill>
                        </a:rPr>
                        <a:t>フェーズ３</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kumimoji="1" lang="ja-JP" altLang="en-US" sz="1800" b="1" dirty="0">
                          <a:solidFill>
                            <a:schemeClr val="bg1"/>
                          </a:solidFill>
                        </a:rPr>
                        <a:t>フェーズ４</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kumimoji="1" lang="ja-JP" altLang="en-US" sz="1800" b="1" dirty="0">
                          <a:solidFill>
                            <a:schemeClr val="bg1"/>
                          </a:solidFill>
                        </a:rPr>
                        <a:t>フェーズ５</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755952625"/>
                  </a:ext>
                </a:extLst>
              </a:tr>
              <a:tr h="665148">
                <a:tc vMerge="1">
                  <a:txBody>
                    <a:bodyPr/>
                    <a:lstStyle/>
                    <a:p>
                      <a:endParaRPr kumimoji="1" lang="ja-JP" altLang="en-US"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プログラムの計画と定義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製品の設計と検証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工程の設計と検証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製品及び工程の妥当性確認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フィードバック／是正処置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360055"/>
                  </a:ext>
                </a:extLst>
              </a:tr>
              <a:tr h="1520339">
                <a:tc>
                  <a:txBody>
                    <a:bodyPr/>
                    <a:lstStyle/>
                    <a:p>
                      <a:pPr algn="ctr"/>
                      <a:r>
                        <a:rPr kumimoji="1" lang="en-US" altLang="ja-JP" sz="1800" b="1" dirty="0">
                          <a:solidFill>
                            <a:schemeClr val="bg1"/>
                          </a:solidFill>
                        </a:rPr>
                        <a:t>DFMEA</a:t>
                      </a:r>
                      <a:endParaRPr kumimoji="1" lang="ja-JP" altLang="en-US" sz="1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rowSpan="2">
                  <a:txBody>
                    <a:bodyPr/>
                    <a:lstStyle/>
                    <a:p>
                      <a:r>
                        <a:rPr kumimoji="1" lang="ja-JP" altLang="en-US" sz="1800" dirty="0"/>
                        <a:t>製品設計の前に</a:t>
                      </a:r>
                      <a:r>
                        <a:rPr kumimoji="1" lang="en-US" altLang="ja-JP" sz="1800" dirty="0"/>
                        <a:t>FMEA</a:t>
                      </a:r>
                      <a:r>
                        <a:rPr kumimoji="1" lang="ja-JP" altLang="en-US" sz="1800" dirty="0"/>
                        <a:t>計画を策定する。</a:t>
                      </a:r>
                      <a:endParaRPr kumimoji="1" lang="en-US" altLang="ja-JP" sz="1800" dirty="0"/>
                    </a:p>
                    <a:p>
                      <a:r>
                        <a:rPr kumimoji="1" lang="en-US" altLang="ja-JP" sz="1800" dirty="0"/>
                        <a:t>DFMEA</a:t>
                      </a:r>
                      <a:r>
                        <a:rPr kumimoji="1" lang="ja-JP" altLang="en-US" sz="1800" dirty="0"/>
                        <a:t>と</a:t>
                      </a:r>
                      <a:r>
                        <a:rPr kumimoji="1" lang="en-US" altLang="ja-JP" sz="1800" dirty="0"/>
                        <a:t>PFMEA</a:t>
                      </a:r>
                      <a:r>
                        <a:rPr kumimoji="1" lang="ja-JP" altLang="en-US" sz="1800" dirty="0"/>
                        <a:t>は製品設計と工程設計を</a:t>
                      </a:r>
                      <a:r>
                        <a:rPr kumimoji="1" lang="ja-JP" altLang="en-US" sz="1800" dirty="0">
                          <a:solidFill>
                            <a:srgbClr val="FF0000"/>
                          </a:solidFill>
                          <a:effectLst>
                            <a:outerShdw blurRad="38100" dist="38100" dir="2700000" algn="tl">
                              <a:srgbClr val="000000">
                                <a:alpha val="43137"/>
                              </a:srgbClr>
                            </a:outerShdw>
                          </a:effectLst>
                        </a:rPr>
                        <a:t>最適化できるよう同時期に実施する。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solidFill>
                            <a:schemeClr val="tx1"/>
                          </a:solidFill>
                          <a:effectLst/>
                        </a:rPr>
                        <a:t>設計の概念を理解し、</a:t>
                      </a:r>
                      <a:r>
                        <a:rPr kumimoji="1" lang="en-US" altLang="ja-JP" sz="1800" dirty="0">
                          <a:solidFill>
                            <a:srgbClr val="FF0000"/>
                          </a:solidFill>
                          <a:effectLst>
                            <a:outerShdw blurRad="38100" dist="38100" dir="2700000" algn="tl">
                              <a:srgbClr val="000000">
                                <a:alpha val="43137"/>
                              </a:srgbClr>
                            </a:outerShdw>
                          </a:effectLst>
                        </a:rPr>
                        <a:t>DFMEA</a:t>
                      </a:r>
                      <a:r>
                        <a:rPr kumimoji="1" lang="ja-JP" altLang="en-US" sz="1800" dirty="0">
                          <a:solidFill>
                            <a:srgbClr val="FF0000"/>
                          </a:solidFill>
                          <a:effectLst>
                            <a:outerShdw blurRad="38100" dist="38100" dir="2700000" algn="tl">
                              <a:srgbClr val="000000">
                                <a:alpha val="43137"/>
                              </a:srgbClr>
                            </a:outerShdw>
                          </a:effectLst>
                        </a:rPr>
                        <a:t>を開始する。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solidFill>
                            <a:schemeClr val="tx1"/>
                          </a:solidFill>
                          <a:effectLst/>
                        </a:rPr>
                        <a:t>見積りのための設計仕様書発行前に</a:t>
                      </a:r>
                      <a:r>
                        <a:rPr kumimoji="1" lang="en-US" altLang="ja-JP" sz="1800" dirty="0">
                          <a:solidFill>
                            <a:srgbClr val="FF0000"/>
                          </a:solidFill>
                          <a:effectLst>
                            <a:outerShdw blurRad="38100" dist="38100" dir="2700000" algn="tl">
                              <a:srgbClr val="000000">
                                <a:alpha val="43137"/>
                              </a:srgbClr>
                            </a:outerShdw>
                          </a:effectLst>
                        </a:rPr>
                        <a:t>DFMEA</a:t>
                      </a:r>
                      <a:r>
                        <a:rPr kumimoji="1" lang="ja-JP" altLang="en-US" sz="1800" dirty="0">
                          <a:solidFill>
                            <a:srgbClr val="FF0000"/>
                          </a:solidFill>
                          <a:effectLst>
                            <a:outerShdw blurRad="38100" dist="38100" dir="2700000" algn="tl">
                              <a:srgbClr val="000000">
                                <a:alpha val="43137"/>
                              </a:srgbClr>
                            </a:outerShdw>
                          </a:effectLst>
                        </a:rPr>
                        <a:t>を完了する。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t>量産設備検討前に</a:t>
                      </a:r>
                      <a:r>
                        <a:rPr kumimoji="1" lang="en-US" altLang="ja-JP" sz="1800" dirty="0"/>
                        <a:t>DFMEA</a:t>
                      </a:r>
                      <a:r>
                        <a:rPr kumimoji="1" lang="ja-JP" altLang="en-US" sz="1800" dirty="0"/>
                        <a:t>の改善処置を完了する。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sz="1800" dirty="0"/>
                        <a:t>設計変更及び工程変更がある場合は、</a:t>
                      </a:r>
                      <a:r>
                        <a:rPr kumimoji="1" lang="en-US" altLang="ja-JP" sz="1800" dirty="0"/>
                        <a:t>FMEA</a:t>
                      </a:r>
                      <a:r>
                        <a:rPr kumimoji="1" lang="ja-JP" altLang="en-US" sz="1800" dirty="0"/>
                        <a:t>の計画からレビューする。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495322"/>
                  </a:ext>
                </a:extLst>
              </a:tr>
              <a:tr h="1492741">
                <a:tc>
                  <a:txBody>
                    <a:bodyPr/>
                    <a:lstStyle/>
                    <a:p>
                      <a:pPr algn="ctr"/>
                      <a:r>
                        <a:rPr kumimoji="1" lang="en-US" altLang="ja-JP" sz="1800" b="1" dirty="0">
                          <a:solidFill>
                            <a:schemeClr val="bg1"/>
                          </a:solidFill>
                        </a:rPr>
                        <a:t>PFMEA</a:t>
                      </a:r>
                      <a:endParaRPr kumimoji="1" lang="ja-JP" altLang="en-US" sz="1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solidFill>
                            <a:schemeClr val="tx1"/>
                          </a:solidFill>
                          <a:effectLst/>
                        </a:rPr>
                        <a:t>製造プロセスの概念を理解し、</a:t>
                      </a:r>
                      <a:r>
                        <a:rPr kumimoji="1" lang="en-US" altLang="ja-JP" sz="1800" dirty="0">
                          <a:solidFill>
                            <a:srgbClr val="FF0000"/>
                          </a:solidFill>
                          <a:effectLst>
                            <a:outerShdw blurRad="38100" dist="38100" dir="2700000" algn="tl">
                              <a:srgbClr val="000000">
                                <a:alpha val="43137"/>
                              </a:srgbClr>
                            </a:outerShdw>
                          </a:effectLst>
                        </a:rPr>
                        <a:t>PFMEA</a:t>
                      </a:r>
                      <a:r>
                        <a:rPr kumimoji="1" lang="ja-JP" altLang="en-US" sz="1800" dirty="0">
                          <a:solidFill>
                            <a:srgbClr val="FF0000"/>
                          </a:solidFill>
                          <a:effectLst>
                            <a:outerShdw blurRad="38100" dist="38100" dir="2700000" algn="tl">
                              <a:srgbClr val="000000">
                                <a:alpha val="43137"/>
                              </a:srgbClr>
                            </a:outerShdw>
                          </a:effectLst>
                        </a:rPr>
                        <a:t>を開始する。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800" dirty="0">
                          <a:solidFill>
                            <a:schemeClr val="tx1"/>
                          </a:solidFill>
                          <a:effectLst/>
                        </a:rPr>
                        <a:t>最終プロセス決定前に</a:t>
                      </a:r>
                      <a:r>
                        <a:rPr kumimoji="1" lang="en-US" altLang="ja-JP" sz="1800" dirty="0">
                          <a:solidFill>
                            <a:srgbClr val="FF0000"/>
                          </a:solidFill>
                          <a:effectLst>
                            <a:outerShdw blurRad="38100" dist="38100" dir="2700000" algn="tl">
                              <a:srgbClr val="000000">
                                <a:alpha val="43137"/>
                              </a:srgbClr>
                            </a:outerShdw>
                          </a:effectLst>
                        </a:rPr>
                        <a:t>PFMEA</a:t>
                      </a:r>
                      <a:r>
                        <a:rPr kumimoji="1" lang="ja-JP" altLang="en-US" sz="1800" dirty="0">
                          <a:solidFill>
                            <a:srgbClr val="FF0000"/>
                          </a:solidFill>
                          <a:effectLst>
                            <a:outerShdw blurRad="38100" dist="38100" dir="2700000" algn="tl">
                              <a:srgbClr val="000000">
                                <a:alpha val="43137"/>
                              </a:srgbClr>
                            </a:outerShdw>
                          </a:effectLst>
                        </a:rPr>
                        <a:t>を完了する。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800" dirty="0"/>
                        <a:t>PPAP</a:t>
                      </a:r>
                      <a:r>
                        <a:rPr kumimoji="1" lang="ja-JP" altLang="en-US" sz="1800" dirty="0"/>
                        <a:t>顧客承認前に</a:t>
                      </a:r>
                      <a:r>
                        <a:rPr kumimoji="1" lang="en-US" altLang="ja-JP" sz="1800" dirty="0"/>
                        <a:t>PFMEA</a:t>
                      </a:r>
                      <a:r>
                        <a:rPr kumimoji="1" lang="ja-JP" altLang="en-US" sz="1800" dirty="0"/>
                        <a:t>の改善処置を完了する。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250158"/>
                  </a:ext>
                </a:extLst>
              </a:tr>
            </a:tbl>
          </a:graphicData>
        </a:graphic>
      </p:graphicFrame>
    </p:spTree>
    <p:extLst>
      <p:ext uri="{BB962C8B-B14F-4D97-AF65-F5344CB8AC3E}">
        <p14:creationId xmlns:p14="http://schemas.microsoft.com/office/powerpoint/2010/main" val="2228552801"/>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10"/>
            </a:pPr>
            <a:r>
              <a:rPr lang="ja-JP" altLang="en-US" sz="2400" dirty="0"/>
              <a:t>ＦＭＥＡ実施時の条件</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469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４．ＦＭＥＡ（基礎）</a:t>
            </a:r>
          </a:p>
        </p:txBody>
      </p:sp>
      <p:graphicFrame>
        <p:nvGraphicFramePr>
          <p:cNvPr id="2" name="表 2">
            <a:extLst>
              <a:ext uri="{FF2B5EF4-FFF2-40B4-BE49-F238E27FC236}">
                <a16:creationId xmlns:a16="http://schemas.microsoft.com/office/drawing/2014/main" id="{3B6E422D-5B66-4568-924A-53CD5B93BA15}"/>
              </a:ext>
            </a:extLst>
          </p:cNvPr>
          <p:cNvGraphicFramePr>
            <a:graphicFrameLocks noGrp="1"/>
          </p:cNvGraphicFramePr>
          <p:nvPr>
            <p:extLst>
              <p:ext uri="{D42A27DB-BD31-4B8C-83A1-F6EECF244321}">
                <p14:modId xmlns:p14="http://schemas.microsoft.com/office/powerpoint/2010/main" val="2569343980"/>
              </p:ext>
            </p:extLst>
          </p:nvPr>
        </p:nvGraphicFramePr>
        <p:xfrm>
          <a:off x="838200" y="2118808"/>
          <a:ext cx="10515600" cy="4237542"/>
        </p:xfrm>
        <a:graphic>
          <a:graphicData uri="http://schemas.openxmlformats.org/drawingml/2006/table">
            <a:tbl>
              <a:tblPr firstRow="1" bandRow="1">
                <a:tableStyleId>{5C22544A-7EE6-4342-B048-85BDC9FD1C3A}</a:tableStyleId>
              </a:tblPr>
              <a:tblGrid>
                <a:gridCol w="2303802">
                  <a:extLst>
                    <a:ext uri="{9D8B030D-6E8A-4147-A177-3AD203B41FA5}">
                      <a16:colId xmlns:a16="http://schemas.microsoft.com/office/drawing/2014/main" val="3462364007"/>
                    </a:ext>
                  </a:extLst>
                </a:gridCol>
                <a:gridCol w="8211798">
                  <a:extLst>
                    <a:ext uri="{9D8B030D-6E8A-4147-A177-3AD203B41FA5}">
                      <a16:colId xmlns:a16="http://schemas.microsoft.com/office/drawing/2014/main" val="4099991257"/>
                    </a:ext>
                  </a:extLst>
                </a:gridCol>
              </a:tblGrid>
              <a:tr h="491969">
                <a:tc>
                  <a:txBody>
                    <a:bodyPr/>
                    <a:lstStyle/>
                    <a:p>
                      <a:pPr algn="ctr"/>
                      <a:r>
                        <a:rPr kumimoji="1" lang="ja-JP" altLang="en-US" sz="2200" dirty="0">
                          <a:solidFill>
                            <a:schemeClr val="tx1"/>
                          </a:solidFill>
                        </a:rPr>
                        <a:t>区分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200" dirty="0">
                          <a:solidFill>
                            <a:schemeClr val="tx1"/>
                          </a:solidFill>
                        </a:rPr>
                        <a:t>条件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549569711"/>
                  </a:ext>
                </a:extLst>
              </a:tr>
              <a:tr h="1677599">
                <a:tc>
                  <a:txBody>
                    <a:bodyPr/>
                    <a:lstStyle/>
                    <a:p>
                      <a:r>
                        <a:rPr kumimoji="1" lang="ja-JP" altLang="en-US" sz="2200" dirty="0">
                          <a:solidFill>
                            <a:schemeClr val="tx1"/>
                          </a:solidFill>
                        </a:rPr>
                        <a:t>設計ＦＭＥＡ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200" dirty="0">
                          <a:solidFill>
                            <a:schemeClr val="tx1"/>
                          </a:solidFill>
                        </a:rPr>
                        <a:t>①製品設計の課題を工程設計で補うことは考慮しない。</a:t>
                      </a:r>
                      <a:endParaRPr kumimoji="1" lang="en-US" altLang="ja-JP" sz="2200" dirty="0">
                        <a:solidFill>
                          <a:schemeClr val="tx1"/>
                        </a:solidFill>
                      </a:endParaRPr>
                    </a:p>
                    <a:p>
                      <a:r>
                        <a:rPr kumimoji="1" lang="ja-JP" altLang="en-US" sz="2200" dirty="0">
                          <a:solidFill>
                            <a:schemeClr val="tx1"/>
                          </a:solidFill>
                        </a:rPr>
                        <a:t>②工程能力などの製造プロセスの技術的及び物理的限界を考</a:t>
                      </a:r>
                      <a:endParaRPr kumimoji="1" lang="en-US" altLang="ja-JP" sz="2200" dirty="0">
                        <a:solidFill>
                          <a:schemeClr val="tx1"/>
                        </a:solidFill>
                      </a:endParaRPr>
                    </a:p>
                    <a:p>
                      <a:r>
                        <a:rPr kumimoji="1" lang="ja-JP" altLang="en-US" sz="2200" dirty="0">
                          <a:solidFill>
                            <a:schemeClr val="tx1"/>
                          </a:solidFill>
                        </a:rPr>
                        <a:t>　慮する。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8826957"/>
                  </a:ext>
                </a:extLst>
              </a:tr>
              <a:tr h="2067974">
                <a:tc>
                  <a:txBody>
                    <a:bodyPr/>
                    <a:lstStyle/>
                    <a:p>
                      <a:r>
                        <a:rPr kumimoji="1" lang="ja-JP" altLang="en-US" sz="2200" dirty="0">
                          <a:solidFill>
                            <a:schemeClr val="tx1"/>
                          </a:solidFill>
                        </a:rPr>
                        <a:t>工程ＦＭＥＡ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solidFill>
                            <a:schemeClr val="tx1"/>
                          </a:solidFill>
                        </a:rPr>
                        <a:t>①工程設計の課題を製品設計で補うことは考慮しない。</a:t>
                      </a:r>
                      <a:endParaRPr kumimoji="1" lang="en-US" altLang="ja-JP" sz="2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solidFill>
                            <a:schemeClr val="tx1"/>
                          </a:solidFill>
                        </a:rPr>
                        <a:t>②設計ＦＭＥＡで特殊特性とした製品特性に影響する工程</a:t>
                      </a:r>
                      <a:endParaRPr kumimoji="1" lang="en-US" altLang="ja-JP" sz="2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solidFill>
                            <a:schemeClr val="tx1"/>
                          </a:solidFill>
                        </a:rPr>
                        <a:t>　パラメータを考慮する。</a:t>
                      </a:r>
                      <a:endParaRPr kumimoji="1" lang="en-US" altLang="ja-JP" sz="2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200" dirty="0">
                          <a:solidFill>
                            <a:schemeClr val="tx1"/>
                          </a:solidFill>
                        </a:rPr>
                        <a:t>③使用する部品及び材料は問題がないものとして考える。</a:t>
                      </a:r>
                      <a:endParaRPr kumimoji="1" lang="en-US" altLang="ja-JP"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1823869"/>
                  </a:ext>
                </a:extLst>
              </a:tr>
            </a:tbl>
          </a:graphicData>
        </a:graphic>
      </p:graphicFrame>
      <p:sp>
        <p:nvSpPr>
          <p:cNvPr id="16" name="矢印: 上下 15">
            <a:extLst>
              <a:ext uri="{FF2B5EF4-FFF2-40B4-BE49-F238E27FC236}">
                <a16:creationId xmlns:a16="http://schemas.microsoft.com/office/drawing/2014/main" id="{3F04D977-3DC8-423B-B1C5-8D1A02237FE8}"/>
              </a:ext>
            </a:extLst>
          </p:cNvPr>
          <p:cNvSpPr/>
          <p:nvPr/>
        </p:nvSpPr>
        <p:spPr>
          <a:xfrm>
            <a:off x="4787851" y="3161841"/>
            <a:ext cx="692534" cy="1255923"/>
          </a:xfrm>
          <a:prstGeom prst="upDownArrow">
            <a:avLst>
              <a:gd name="adj1" fmla="val 66504"/>
              <a:gd name="adj2" fmla="val 50000"/>
            </a:avLst>
          </a:prstGeom>
          <a:solidFill>
            <a:schemeClr val="accent1">
              <a:alpha val="2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①</a:t>
            </a:r>
          </a:p>
        </p:txBody>
      </p:sp>
      <p:sp>
        <p:nvSpPr>
          <p:cNvPr id="17" name="矢印: 上下 16">
            <a:extLst>
              <a:ext uri="{FF2B5EF4-FFF2-40B4-BE49-F238E27FC236}">
                <a16:creationId xmlns:a16="http://schemas.microsoft.com/office/drawing/2014/main" id="{279AABFF-291B-4C47-931B-070A325AD697}"/>
              </a:ext>
            </a:extLst>
          </p:cNvPr>
          <p:cNvSpPr/>
          <p:nvPr/>
        </p:nvSpPr>
        <p:spPr>
          <a:xfrm>
            <a:off x="8474670" y="3512545"/>
            <a:ext cx="692534" cy="1255923"/>
          </a:xfrm>
          <a:prstGeom prst="upDownArrow">
            <a:avLst>
              <a:gd name="adj1" fmla="val 68338"/>
              <a:gd name="adj2" fmla="val 50000"/>
            </a:avLst>
          </a:prstGeom>
          <a:solidFill>
            <a:schemeClr val="accent1">
              <a:alpha val="2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②</a:t>
            </a:r>
          </a:p>
        </p:txBody>
      </p:sp>
      <p:sp>
        <p:nvSpPr>
          <p:cNvPr id="18" name="楕円 17">
            <a:extLst>
              <a:ext uri="{FF2B5EF4-FFF2-40B4-BE49-F238E27FC236}">
                <a16:creationId xmlns:a16="http://schemas.microsoft.com/office/drawing/2014/main" id="{50A6622F-C031-47AB-9726-66249F69483E}"/>
              </a:ext>
            </a:extLst>
          </p:cNvPr>
          <p:cNvSpPr/>
          <p:nvPr/>
        </p:nvSpPr>
        <p:spPr>
          <a:xfrm>
            <a:off x="5455388" y="3771441"/>
            <a:ext cx="3155212" cy="73812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t>互いをフォロー</a:t>
            </a:r>
          </a:p>
        </p:txBody>
      </p:sp>
    </p:spTree>
    <p:extLst>
      <p:ext uri="{BB962C8B-B14F-4D97-AF65-F5344CB8AC3E}">
        <p14:creationId xmlns:p14="http://schemas.microsoft.com/office/powerpoint/2010/main" val="1779387154"/>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７ステップ（工程</a:t>
            </a:r>
            <a:r>
              <a:rPr lang="en-US" altLang="ja-JP" sz="2400" dirty="0"/>
              <a:t>FMEA</a:t>
            </a:r>
            <a:r>
              <a:rPr lang="ja-JP" altLang="en-US" sz="2400" dirty="0"/>
              <a:t>）</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470</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４．ＦＭＥＡ（手法）</a:t>
            </a:r>
          </a:p>
        </p:txBody>
      </p:sp>
      <p:graphicFrame>
        <p:nvGraphicFramePr>
          <p:cNvPr id="11" name="表 2">
            <a:extLst>
              <a:ext uri="{FF2B5EF4-FFF2-40B4-BE49-F238E27FC236}">
                <a16:creationId xmlns:a16="http://schemas.microsoft.com/office/drawing/2014/main" id="{83C0334E-B201-4397-9B47-CCF36E857E81}"/>
              </a:ext>
            </a:extLst>
          </p:cNvPr>
          <p:cNvGraphicFramePr>
            <a:graphicFrameLocks noGrp="1"/>
          </p:cNvGraphicFramePr>
          <p:nvPr/>
        </p:nvGraphicFramePr>
        <p:xfrm>
          <a:off x="838200" y="1970315"/>
          <a:ext cx="10515603" cy="4386035"/>
        </p:xfrm>
        <a:graphic>
          <a:graphicData uri="http://schemas.openxmlformats.org/drawingml/2006/table">
            <a:tbl>
              <a:tblPr firstRow="1" bandRow="1">
                <a:tableStyleId>{5940675A-B579-460E-94D1-54222C63F5DA}</a:tableStyleId>
              </a:tblPr>
              <a:tblGrid>
                <a:gridCol w="1502229">
                  <a:extLst>
                    <a:ext uri="{9D8B030D-6E8A-4147-A177-3AD203B41FA5}">
                      <a16:colId xmlns:a16="http://schemas.microsoft.com/office/drawing/2014/main" val="1474198055"/>
                    </a:ext>
                  </a:extLst>
                </a:gridCol>
                <a:gridCol w="1502229">
                  <a:extLst>
                    <a:ext uri="{9D8B030D-6E8A-4147-A177-3AD203B41FA5}">
                      <a16:colId xmlns:a16="http://schemas.microsoft.com/office/drawing/2014/main" val="3111363434"/>
                    </a:ext>
                  </a:extLst>
                </a:gridCol>
                <a:gridCol w="1502229">
                  <a:extLst>
                    <a:ext uri="{9D8B030D-6E8A-4147-A177-3AD203B41FA5}">
                      <a16:colId xmlns:a16="http://schemas.microsoft.com/office/drawing/2014/main" val="300697381"/>
                    </a:ext>
                  </a:extLst>
                </a:gridCol>
                <a:gridCol w="1502229">
                  <a:extLst>
                    <a:ext uri="{9D8B030D-6E8A-4147-A177-3AD203B41FA5}">
                      <a16:colId xmlns:a16="http://schemas.microsoft.com/office/drawing/2014/main" val="3495281567"/>
                    </a:ext>
                  </a:extLst>
                </a:gridCol>
                <a:gridCol w="1502229">
                  <a:extLst>
                    <a:ext uri="{9D8B030D-6E8A-4147-A177-3AD203B41FA5}">
                      <a16:colId xmlns:a16="http://schemas.microsoft.com/office/drawing/2014/main" val="2006802137"/>
                    </a:ext>
                  </a:extLst>
                </a:gridCol>
                <a:gridCol w="1502229">
                  <a:extLst>
                    <a:ext uri="{9D8B030D-6E8A-4147-A177-3AD203B41FA5}">
                      <a16:colId xmlns:a16="http://schemas.microsoft.com/office/drawing/2014/main" val="1839277257"/>
                    </a:ext>
                  </a:extLst>
                </a:gridCol>
                <a:gridCol w="1502229">
                  <a:extLst>
                    <a:ext uri="{9D8B030D-6E8A-4147-A177-3AD203B41FA5}">
                      <a16:colId xmlns:a16="http://schemas.microsoft.com/office/drawing/2014/main" val="658326339"/>
                    </a:ext>
                  </a:extLst>
                </a:gridCol>
              </a:tblGrid>
              <a:tr h="591033">
                <a:tc gridSpan="3">
                  <a:txBody>
                    <a:bodyPr/>
                    <a:lstStyle/>
                    <a:p>
                      <a:r>
                        <a:rPr kumimoji="1" lang="ja-JP" altLang="en-US" b="1" dirty="0"/>
                        <a:t>システム分析</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r>
                        <a:rPr kumimoji="1" lang="ja-JP" altLang="en-US" b="1" dirty="0"/>
                        <a:t>故障分析とリスク低減</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b="1" dirty="0"/>
                        <a:t>リスクコミュニケーション</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30431686"/>
                  </a:ext>
                </a:extLst>
              </a:tr>
              <a:tr h="687636">
                <a:tc>
                  <a:txBody>
                    <a:bodyPr/>
                    <a:lstStyle/>
                    <a:p>
                      <a:pPr algn="ctr"/>
                      <a:r>
                        <a:rPr kumimoji="1" lang="ja-JP" altLang="en-US" b="1" dirty="0">
                          <a:solidFill>
                            <a:schemeClr val="bg1"/>
                          </a:solidFill>
                        </a:rPr>
                        <a:t>ステップ１</a:t>
                      </a:r>
                      <a:endParaRPr kumimoji="1" lang="en-US" altLang="ja-JP" b="1" dirty="0">
                        <a:solidFill>
                          <a:schemeClr val="bg1"/>
                        </a:solidFill>
                      </a:endParaRPr>
                    </a:p>
                    <a:p>
                      <a:pPr algn="ctr"/>
                      <a:r>
                        <a:rPr kumimoji="1" lang="ja-JP" altLang="en-US" b="1" dirty="0">
                          <a:solidFill>
                            <a:schemeClr val="bg1"/>
                          </a:solidFill>
                        </a:rPr>
                        <a:t>計画と準備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ステップ２</a:t>
                      </a:r>
                      <a:endParaRPr kumimoji="1" lang="en-US" altLang="ja-JP" b="1" dirty="0">
                        <a:solidFill>
                          <a:schemeClr val="bg1"/>
                        </a:solidFill>
                      </a:endParaRPr>
                    </a:p>
                    <a:p>
                      <a:pPr algn="ctr"/>
                      <a:r>
                        <a:rPr kumimoji="1" lang="ja-JP" altLang="en-US" b="1" dirty="0">
                          <a:solidFill>
                            <a:schemeClr val="bg1"/>
                          </a:solidFill>
                        </a:rPr>
                        <a:t>構造分析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ステップ３</a:t>
                      </a:r>
                      <a:endParaRPr kumimoji="1" lang="en-US" altLang="ja-JP" b="1" dirty="0">
                        <a:solidFill>
                          <a:schemeClr val="bg1"/>
                        </a:solidFill>
                      </a:endParaRPr>
                    </a:p>
                    <a:p>
                      <a:pPr algn="ctr"/>
                      <a:r>
                        <a:rPr kumimoji="1" lang="ja-JP" altLang="en-US" b="1" dirty="0">
                          <a:solidFill>
                            <a:schemeClr val="bg1"/>
                          </a:solidFill>
                        </a:rPr>
                        <a:t>機能分析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ステップ４</a:t>
                      </a:r>
                      <a:endParaRPr kumimoji="1" lang="en-US" altLang="ja-JP" b="1" dirty="0">
                        <a:solidFill>
                          <a:schemeClr val="bg1"/>
                        </a:solidFill>
                      </a:endParaRPr>
                    </a:p>
                    <a:p>
                      <a:pPr algn="ctr"/>
                      <a:r>
                        <a:rPr kumimoji="1" lang="ja-JP" altLang="en-US" b="1" dirty="0">
                          <a:solidFill>
                            <a:schemeClr val="bg1"/>
                          </a:solidFill>
                        </a:rPr>
                        <a:t>故障分析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ステップ５</a:t>
                      </a:r>
                      <a:endParaRPr kumimoji="1" lang="en-US" altLang="ja-JP" b="1" dirty="0">
                        <a:solidFill>
                          <a:schemeClr val="bg1"/>
                        </a:solidFill>
                      </a:endParaRPr>
                    </a:p>
                    <a:p>
                      <a:pPr algn="ctr"/>
                      <a:r>
                        <a:rPr kumimoji="1" lang="ja-JP" altLang="en-US" b="1" dirty="0">
                          <a:solidFill>
                            <a:schemeClr val="bg1"/>
                          </a:solidFill>
                        </a:rPr>
                        <a:t>リスク分析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ステップ６</a:t>
                      </a:r>
                      <a:endParaRPr kumimoji="1" lang="en-US" altLang="ja-JP" b="1" dirty="0">
                        <a:solidFill>
                          <a:schemeClr val="bg1"/>
                        </a:solidFill>
                      </a:endParaRPr>
                    </a:p>
                    <a:p>
                      <a:pPr algn="ctr"/>
                      <a:r>
                        <a:rPr kumimoji="1" lang="ja-JP" altLang="en-US" b="1" dirty="0">
                          <a:solidFill>
                            <a:schemeClr val="bg1"/>
                          </a:solidFill>
                        </a:rPr>
                        <a:t>最適化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b="1" dirty="0">
                          <a:solidFill>
                            <a:schemeClr val="bg1"/>
                          </a:solidFill>
                        </a:rPr>
                        <a:t>ステップ７</a:t>
                      </a:r>
                      <a:endParaRPr kumimoji="1" lang="en-US" altLang="ja-JP" b="1" dirty="0">
                        <a:solidFill>
                          <a:schemeClr val="bg1"/>
                        </a:solidFill>
                      </a:endParaRPr>
                    </a:p>
                    <a:p>
                      <a:pPr algn="ctr"/>
                      <a:r>
                        <a:rPr kumimoji="1" lang="ja-JP" altLang="en-US" sz="1600" b="1" dirty="0">
                          <a:solidFill>
                            <a:schemeClr val="bg1"/>
                          </a:solidFill>
                        </a:rPr>
                        <a:t>結果の文書化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66419721"/>
                  </a:ext>
                </a:extLst>
              </a:tr>
              <a:tr h="1296551">
                <a:tc>
                  <a:txBody>
                    <a:bodyPr/>
                    <a:lstStyle/>
                    <a:p>
                      <a:pPr algn="l"/>
                      <a:r>
                        <a:rPr kumimoji="1" lang="ja-JP" altLang="en-US" dirty="0"/>
                        <a:t>プロジェクトの特定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分析対象の明確化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機能・要求事項の明確化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故障チェーンの明確化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現在の管理方法の明確化とリスク評価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リスク低減処置の明確化と実施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dirty="0"/>
                        <a:t>分析結果と結論の伝達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817164"/>
                  </a:ext>
                </a:extLst>
              </a:tr>
              <a:tr h="1810815">
                <a:tc>
                  <a:txBody>
                    <a:bodyPr/>
                    <a:lstStyle/>
                    <a:p>
                      <a:pPr algn="l"/>
                      <a:r>
                        <a:rPr kumimoji="1" lang="ja-JP" altLang="en-US" sz="1600" dirty="0"/>
                        <a:t>・</a:t>
                      </a:r>
                      <a:r>
                        <a:rPr kumimoji="1" lang="en-US" altLang="ja-JP" sz="1600" dirty="0"/>
                        <a:t>5T</a:t>
                      </a:r>
                      <a:r>
                        <a:rPr kumimoji="1" lang="ja-JP" altLang="en-US" sz="1600" dirty="0"/>
                        <a:t>（意図、タイミング、チーム、タスク、ツール</a:t>
                      </a:r>
                      <a:endParaRPr kumimoji="1" lang="en-US" altLang="ja-JP" sz="1600" dirty="0"/>
                    </a:p>
                    <a:p>
                      <a:pPr algn="l"/>
                      <a:r>
                        <a:rPr kumimoji="1" lang="ja-JP" altLang="en-US" sz="1600" dirty="0"/>
                        <a:t>・基礎</a:t>
                      </a:r>
                      <a:r>
                        <a:rPr kumimoji="1" lang="en-US" altLang="ja-JP" sz="1600" dirty="0"/>
                        <a:t>FMEA</a:t>
                      </a:r>
                      <a:r>
                        <a:rPr kumimoji="1" lang="ja-JP" altLang="en-US" sz="1600" dirty="0"/>
                        <a:t>特定</a:t>
                      </a:r>
                      <a:endParaRPr kumimoji="1" lang="en-US" altLang="ja-JP" sz="1600" dirty="0"/>
                    </a:p>
                    <a:p>
                      <a:pPr algn="l"/>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・ツリー構造</a:t>
                      </a:r>
                      <a:endParaRPr kumimoji="1" lang="en-US" altLang="ja-JP" sz="1600" dirty="0"/>
                    </a:p>
                    <a:p>
                      <a:pPr algn="l"/>
                      <a:r>
                        <a:rPr kumimoji="1" lang="ja-JP" altLang="en-US" sz="1600" dirty="0"/>
                        <a:t>・工程フロー図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・機能ツリー</a:t>
                      </a:r>
                      <a:endParaRPr kumimoji="1" lang="en-US" altLang="ja-JP" sz="1600" dirty="0"/>
                    </a:p>
                    <a:p>
                      <a:pPr algn="l"/>
                      <a:r>
                        <a:rPr kumimoji="1" lang="ja-JP" altLang="en-US" sz="1600" dirty="0"/>
                        <a:t>・工程フロー図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・各工程機能の潜在的な故障影響、故障モード、故障原因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・故障原因に対する予防管理の割当</a:t>
                      </a:r>
                      <a:endParaRPr kumimoji="1" lang="en-US" altLang="ja-JP" sz="1600" dirty="0"/>
                    </a:p>
                    <a:p>
                      <a:pPr algn="l"/>
                      <a:r>
                        <a:rPr kumimoji="1" lang="ja-JP" altLang="en-US" sz="1600" dirty="0"/>
                        <a:t>・故障原因に対する検出管理の割当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・処置に対する責任権限の割当</a:t>
                      </a:r>
                      <a:endParaRPr kumimoji="1" lang="en-US" altLang="ja-JP" sz="1600" dirty="0"/>
                    </a:p>
                    <a:p>
                      <a:pPr algn="l"/>
                      <a:r>
                        <a:rPr kumimoji="1" lang="ja-JP" altLang="en-US" sz="1600" dirty="0"/>
                        <a:t>・処置の実施及び有効性確認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600" dirty="0"/>
                        <a:t>・実施した処置の文書化</a:t>
                      </a:r>
                      <a:endParaRPr kumimoji="1" lang="en-US" altLang="ja-JP" sz="1600" dirty="0"/>
                    </a:p>
                    <a:p>
                      <a:pPr algn="l"/>
                      <a:r>
                        <a:rPr kumimoji="1" lang="ja-JP" altLang="en-US" sz="1600" dirty="0"/>
                        <a:t>・実施した処置の伝達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756514"/>
                  </a:ext>
                </a:extLst>
              </a:tr>
            </a:tbl>
          </a:graphicData>
        </a:graphic>
      </p:graphicFrame>
    </p:spTree>
    <p:extLst>
      <p:ext uri="{BB962C8B-B14F-4D97-AF65-F5344CB8AC3E}">
        <p14:creationId xmlns:p14="http://schemas.microsoft.com/office/powerpoint/2010/main" val="1565286892"/>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ステップ１の　“５Ｔ”</a:t>
            </a:r>
            <a:endParaRPr lang="en-US" altLang="ja-JP" sz="2400" dirty="0"/>
          </a:p>
          <a:p>
            <a:pPr marL="457200" lvl="1" indent="0">
              <a:lnSpc>
                <a:spcPct val="100000"/>
              </a:lnSpc>
              <a:buNone/>
            </a:pPr>
            <a:r>
              <a:rPr lang="ja-JP" altLang="en-US" dirty="0"/>
              <a:t>プロジェクト開始時に次の５つのテーマ（５Ｔ）を検討する。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471</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４．ＦＭＥＡ（手法）</a:t>
            </a:r>
          </a:p>
        </p:txBody>
      </p:sp>
      <p:graphicFrame>
        <p:nvGraphicFramePr>
          <p:cNvPr id="2" name="表 2">
            <a:extLst>
              <a:ext uri="{FF2B5EF4-FFF2-40B4-BE49-F238E27FC236}">
                <a16:creationId xmlns:a16="http://schemas.microsoft.com/office/drawing/2014/main" id="{A5A82D13-0A50-4605-B92D-B3CB33BD15FC}"/>
              </a:ext>
            </a:extLst>
          </p:cNvPr>
          <p:cNvGraphicFramePr>
            <a:graphicFrameLocks noGrp="1"/>
          </p:cNvGraphicFramePr>
          <p:nvPr/>
        </p:nvGraphicFramePr>
        <p:xfrm>
          <a:off x="838200" y="2481943"/>
          <a:ext cx="10515600" cy="3901440"/>
        </p:xfrm>
        <a:graphic>
          <a:graphicData uri="http://schemas.openxmlformats.org/drawingml/2006/table">
            <a:tbl>
              <a:tblPr firstRow="1" bandRow="1">
                <a:tableStyleId>{5940675A-B579-460E-94D1-54222C63F5DA}</a:tableStyleId>
              </a:tblPr>
              <a:tblGrid>
                <a:gridCol w="2100943">
                  <a:extLst>
                    <a:ext uri="{9D8B030D-6E8A-4147-A177-3AD203B41FA5}">
                      <a16:colId xmlns:a16="http://schemas.microsoft.com/office/drawing/2014/main" val="1423602861"/>
                    </a:ext>
                  </a:extLst>
                </a:gridCol>
                <a:gridCol w="8414657">
                  <a:extLst>
                    <a:ext uri="{9D8B030D-6E8A-4147-A177-3AD203B41FA5}">
                      <a16:colId xmlns:a16="http://schemas.microsoft.com/office/drawing/2014/main" val="2183457916"/>
                    </a:ext>
                  </a:extLst>
                </a:gridCol>
              </a:tblGrid>
              <a:tr h="393494">
                <a:tc>
                  <a:txBody>
                    <a:bodyPr/>
                    <a:lstStyle/>
                    <a:p>
                      <a:pPr algn="ctr"/>
                      <a:r>
                        <a:rPr kumimoji="1" lang="ja-JP" altLang="en-US" sz="2000" b="1" dirty="0"/>
                        <a:t>５Ｔ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kumimoji="1" lang="ja-JP" altLang="en-US" sz="2000" b="1"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31723619"/>
                  </a:ext>
                </a:extLst>
              </a:tr>
              <a:tr h="696183">
                <a:tc>
                  <a:txBody>
                    <a:bodyPr/>
                    <a:lstStyle/>
                    <a:p>
                      <a:pPr algn="ctr"/>
                      <a:r>
                        <a:rPr kumimoji="1" lang="ja-JP" altLang="en-US" sz="2000" dirty="0"/>
                        <a:t>意図</a:t>
                      </a:r>
                      <a:endParaRPr kumimoji="1" lang="en-US" altLang="ja-JP" sz="2000" dirty="0"/>
                    </a:p>
                    <a:p>
                      <a:pPr algn="ctr"/>
                      <a:r>
                        <a:rPr kumimoji="1" lang="ja-JP" altLang="en-US" sz="2000" dirty="0"/>
                        <a:t>（</a:t>
                      </a:r>
                      <a:r>
                        <a:rPr kumimoji="1" lang="en-US" altLang="ja-JP" sz="2000" dirty="0" err="1"/>
                        <a:t>inTent</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チームメンバーが</a:t>
                      </a:r>
                      <a:r>
                        <a:rPr kumimoji="1" lang="en-US" altLang="ja-JP" sz="2000" dirty="0"/>
                        <a:t>FMEA</a:t>
                      </a:r>
                      <a:r>
                        <a:rPr kumimoji="1" lang="ja-JP" altLang="en-US" sz="2000" dirty="0"/>
                        <a:t>の目的と意図を理解する。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724933"/>
                  </a:ext>
                </a:extLst>
              </a:tr>
              <a:tr h="696183">
                <a:tc>
                  <a:txBody>
                    <a:bodyPr/>
                    <a:lstStyle/>
                    <a:p>
                      <a:pPr algn="ctr"/>
                      <a:r>
                        <a:rPr kumimoji="1" lang="ja-JP" altLang="en-US" sz="2000" dirty="0"/>
                        <a:t>タイミング</a:t>
                      </a:r>
                      <a:endParaRPr kumimoji="1" lang="en-US" altLang="ja-JP" sz="2000" dirty="0"/>
                    </a:p>
                    <a:p>
                      <a:pPr algn="ctr"/>
                      <a:r>
                        <a:rPr kumimoji="1" lang="ja-JP" altLang="en-US" sz="2000" dirty="0"/>
                        <a:t>（</a:t>
                      </a:r>
                      <a:r>
                        <a:rPr kumimoji="1" lang="en-US" altLang="ja-JP" sz="2000" dirty="0"/>
                        <a:t>Timing</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事後ではなく事前の活動が前提。製品設計又は工程設計の早い段階で開始する。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925310"/>
                  </a:ext>
                </a:extLst>
              </a:tr>
              <a:tr h="696183">
                <a:tc>
                  <a:txBody>
                    <a:bodyPr/>
                    <a:lstStyle/>
                    <a:p>
                      <a:pPr algn="ctr"/>
                      <a:r>
                        <a:rPr kumimoji="1" lang="ja-JP" altLang="en-US" sz="2000" dirty="0"/>
                        <a:t>チーム</a:t>
                      </a:r>
                      <a:endParaRPr kumimoji="1" lang="en-US" altLang="ja-JP" sz="2000" dirty="0"/>
                    </a:p>
                    <a:p>
                      <a:pPr algn="ctr"/>
                      <a:r>
                        <a:rPr kumimoji="1" lang="ja-JP" altLang="en-US" sz="2000" dirty="0"/>
                        <a:t>（</a:t>
                      </a:r>
                      <a:r>
                        <a:rPr kumimoji="1" lang="en-US" altLang="ja-JP" sz="2000" dirty="0"/>
                        <a:t>Team</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必要な知識を持つ部門横断的メンバー選定。役割と責任の明確化。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6764605"/>
                  </a:ext>
                </a:extLst>
              </a:tr>
              <a:tr h="696183">
                <a:tc>
                  <a:txBody>
                    <a:bodyPr/>
                    <a:lstStyle/>
                    <a:p>
                      <a:pPr algn="ctr"/>
                      <a:r>
                        <a:rPr kumimoji="1" lang="ja-JP" altLang="en-US" sz="2000" dirty="0"/>
                        <a:t>タスク</a:t>
                      </a:r>
                      <a:endParaRPr kumimoji="1" lang="en-US" altLang="ja-JP" sz="2000" dirty="0"/>
                    </a:p>
                    <a:p>
                      <a:pPr algn="ctr"/>
                      <a:r>
                        <a:rPr kumimoji="1" lang="ja-JP" altLang="en-US" sz="2000" dirty="0"/>
                        <a:t>（</a:t>
                      </a:r>
                      <a:r>
                        <a:rPr kumimoji="1" lang="en-US" altLang="ja-JP" sz="2000" dirty="0"/>
                        <a:t>Task</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７ステップアプローチで進める。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274187"/>
                  </a:ext>
                </a:extLst>
              </a:tr>
              <a:tr h="696183">
                <a:tc>
                  <a:txBody>
                    <a:bodyPr/>
                    <a:lstStyle/>
                    <a:p>
                      <a:pPr algn="ctr"/>
                      <a:r>
                        <a:rPr kumimoji="1" lang="ja-JP" altLang="en-US" sz="2000" dirty="0"/>
                        <a:t>ツール</a:t>
                      </a:r>
                      <a:endParaRPr kumimoji="1" lang="en-US" altLang="ja-JP" sz="2000" dirty="0"/>
                    </a:p>
                    <a:p>
                      <a:pPr algn="ctr"/>
                      <a:r>
                        <a:rPr kumimoji="1" lang="ja-JP" altLang="en-US" sz="2000" dirty="0"/>
                        <a:t>（</a:t>
                      </a:r>
                      <a:r>
                        <a:rPr kumimoji="1" lang="en-US" altLang="ja-JP" sz="2000" dirty="0"/>
                        <a:t>Tool</a:t>
                      </a:r>
                      <a:r>
                        <a:rPr kumimoji="1" lang="ja-JP" alt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使用する</a:t>
                      </a:r>
                      <a:r>
                        <a:rPr kumimoji="1" lang="en-US" altLang="ja-JP" sz="2000" dirty="0"/>
                        <a:t>FMEA</a:t>
                      </a:r>
                      <a:r>
                        <a:rPr kumimoji="1" lang="ja-JP" altLang="en-US" sz="2000" dirty="0"/>
                        <a:t>ツール。（技法及びソフトウェアなど）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0722540"/>
                  </a:ext>
                </a:extLst>
              </a:tr>
            </a:tbl>
          </a:graphicData>
        </a:graphic>
      </p:graphicFrame>
    </p:spTree>
    <p:extLst>
      <p:ext uri="{BB962C8B-B14F-4D97-AF65-F5344CB8AC3E}">
        <p14:creationId xmlns:p14="http://schemas.microsoft.com/office/powerpoint/2010/main" val="2092663962"/>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en-US" altLang="ja-JP" sz="2400" dirty="0"/>
              <a:t>FMEA</a:t>
            </a:r>
            <a:r>
              <a:rPr lang="ja-JP" altLang="en-US" sz="2400" dirty="0"/>
              <a:t>実施のタイミング</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472</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４．ＦＭＥＡ（手法）</a:t>
            </a:r>
          </a:p>
        </p:txBody>
      </p:sp>
      <p:graphicFrame>
        <p:nvGraphicFramePr>
          <p:cNvPr id="3" name="表 5">
            <a:extLst>
              <a:ext uri="{FF2B5EF4-FFF2-40B4-BE49-F238E27FC236}">
                <a16:creationId xmlns:a16="http://schemas.microsoft.com/office/drawing/2014/main" id="{B0870197-2228-496F-85B3-51FBA0A7E872}"/>
              </a:ext>
            </a:extLst>
          </p:cNvPr>
          <p:cNvGraphicFramePr>
            <a:graphicFrameLocks noGrp="1"/>
          </p:cNvGraphicFramePr>
          <p:nvPr/>
        </p:nvGraphicFramePr>
        <p:xfrm>
          <a:off x="838200" y="2057400"/>
          <a:ext cx="10515600" cy="4297680"/>
        </p:xfrm>
        <a:graphic>
          <a:graphicData uri="http://schemas.openxmlformats.org/drawingml/2006/table">
            <a:tbl>
              <a:tblPr firstRow="1" bandRow="1">
                <a:tableStyleId>{5940675A-B579-460E-94D1-54222C63F5DA}</a:tableStyleId>
              </a:tblPr>
              <a:tblGrid>
                <a:gridCol w="1382486">
                  <a:extLst>
                    <a:ext uri="{9D8B030D-6E8A-4147-A177-3AD203B41FA5}">
                      <a16:colId xmlns:a16="http://schemas.microsoft.com/office/drawing/2014/main" val="2637903403"/>
                    </a:ext>
                  </a:extLst>
                </a:gridCol>
                <a:gridCol w="3015343">
                  <a:extLst>
                    <a:ext uri="{9D8B030D-6E8A-4147-A177-3AD203B41FA5}">
                      <a16:colId xmlns:a16="http://schemas.microsoft.com/office/drawing/2014/main" val="1188215073"/>
                    </a:ext>
                  </a:extLst>
                </a:gridCol>
                <a:gridCol w="6117771">
                  <a:extLst>
                    <a:ext uri="{9D8B030D-6E8A-4147-A177-3AD203B41FA5}">
                      <a16:colId xmlns:a16="http://schemas.microsoft.com/office/drawing/2014/main" val="145982066"/>
                    </a:ext>
                  </a:extLst>
                </a:gridCol>
              </a:tblGrid>
              <a:tr h="363084">
                <a:tc>
                  <a:txBody>
                    <a:bodyPr/>
                    <a:lstStyle/>
                    <a:p>
                      <a:pPr algn="ctr"/>
                      <a:r>
                        <a:rPr kumimoji="1" lang="ja-JP" altLang="en-US" b="1" dirty="0"/>
                        <a:t>区分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kumimoji="1" lang="ja-JP" altLang="en-US" b="1" dirty="0"/>
                        <a:t>実施時期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kumimoji="1" lang="ja-JP" altLang="en-US" b="1" dirty="0"/>
                        <a:t>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79878065"/>
                  </a:ext>
                </a:extLst>
              </a:tr>
              <a:tr h="626693">
                <a:tc rowSpan="3">
                  <a:txBody>
                    <a:bodyPr/>
                    <a:lstStyle/>
                    <a:p>
                      <a:r>
                        <a:rPr kumimoji="1" lang="ja-JP" altLang="en-US" dirty="0"/>
                        <a:t>新規</a:t>
                      </a:r>
                      <a:endParaRPr kumimoji="1" lang="en-US" altLang="ja-JP" dirty="0"/>
                    </a:p>
                    <a:p>
                      <a:r>
                        <a:rPr kumimoji="1" lang="ja-JP" altLang="en-US" dirty="0"/>
                        <a:t>（生産開始前）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ea"/>
                        <a:buAutoNum type="circleNumDbPlain"/>
                      </a:pPr>
                      <a:r>
                        <a:rPr kumimoji="1" lang="ja-JP" altLang="en-US" dirty="0"/>
                        <a:t>新規設計、新規技術、新規プロセスの開始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en-US" altLang="ja-JP" dirty="0"/>
                        <a:t>FMEA</a:t>
                      </a:r>
                      <a:r>
                        <a:rPr kumimoji="1" lang="ja-JP" altLang="en-US" dirty="0"/>
                        <a:t>の範囲は、設計、技術又はプロセス全般となる。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555324"/>
                  </a:ext>
                </a:extLst>
              </a:tr>
              <a:tr h="895276">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ea"/>
                        <a:buAutoNum type="circleNumDbPlain" startAt="2"/>
                      </a:pPr>
                      <a:r>
                        <a:rPr kumimoji="1" lang="ja-JP" altLang="en-US" dirty="0"/>
                        <a:t>既存の設計又はプロセスの新規分野適用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en-US" altLang="ja-JP" dirty="0"/>
                        <a:t>FMEA</a:t>
                      </a:r>
                      <a:r>
                        <a:rPr kumimoji="1" lang="ja-JP" altLang="en-US" dirty="0"/>
                        <a:t>の範囲は、新しい環境、場所、用途又は使用条件（使用率、法規制要求事項など）への適用が、既存の設計又はプロセスに与える影響に焦点を当てる。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2261565"/>
                  </a:ext>
                </a:extLst>
              </a:tr>
              <a:tr h="626693">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ea"/>
                        <a:buAutoNum type="circleNumDbPlain" startAt="3"/>
                      </a:pPr>
                      <a:r>
                        <a:rPr kumimoji="1" lang="ja-JP" altLang="en-US" dirty="0"/>
                        <a:t>既存の設計又はプロセスに対する技術的変更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kumimoji="1" lang="ja-JP" altLang="en-US" dirty="0"/>
                        <a:t>新しい技術開発、新しい要求事項、製品のリコールや市場での故障情報に基づく、設計やプロセスの変更。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079971"/>
                  </a:ext>
                </a:extLst>
              </a:tr>
              <a:tr h="1701024">
                <a:tc>
                  <a:txBody>
                    <a:bodyPr/>
                    <a:lstStyle/>
                    <a:p>
                      <a:r>
                        <a:rPr kumimoji="1" lang="ja-JP" altLang="en-US" dirty="0"/>
                        <a:t>見直し</a:t>
                      </a:r>
                      <a:endParaRPr kumimoji="1" lang="en-US" altLang="ja-JP" dirty="0"/>
                    </a:p>
                    <a:p>
                      <a:r>
                        <a:rPr kumimoji="1" lang="ja-JP" altLang="en-US" dirty="0"/>
                        <a:t>（生産開始後）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285750" indent="-285750">
                        <a:buFont typeface="Arial" panose="020B0604020202020204" pitchFamily="34" charset="0"/>
                        <a:buChar char="•"/>
                      </a:pPr>
                      <a:r>
                        <a:rPr kumimoji="1" lang="ja-JP" altLang="en-US" dirty="0"/>
                        <a:t>設計又はプロセスの変更</a:t>
                      </a:r>
                      <a:endParaRPr kumimoji="1" lang="en-US" altLang="ja-JP" dirty="0"/>
                    </a:p>
                    <a:p>
                      <a:pPr marL="285750" indent="-285750">
                        <a:buFont typeface="Arial" panose="020B0604020202020204" pitchFamily="34" charset="0"/>
                        <a:buChar char="•"/>
                      </a:pPr>
                      <a:r>
                        <a:rPr kumimoji="1" lang="ja-JP" altLang="en-US" dirty="0"/>
                        <a:t>運用条件の変更（例：自動車が使用される環境）</a:t>
                      </a:r>
                      <a:endParaRPr kumimoji="1" lang="en-US" altLang="ja-JP" dirty="0"/>
                    </a:p>
                    <a:p>
                      <a:pPr marL="285750" indent="-285750">
                        <a:buFont typeface="Arial" panose="020B0604020202020204" pitchFamily="34" charset="0"/>
                        <a:buChar char="•"/>
                      </a:pPr>
                      <a:r>
                        <a:rPr kumimoji="1" lang="ja-JP" altLang="en-US" dirty="0"/>
                        <a:t>要求事項の変更（例：法規制、基準、顧客、最新技術）</a:t>
                      </a:r>
                      <a:endParaRPr kumimoji="1" lang="en-US" altLang="ja-JP" dirty="0"/>
                    </a:p>
                    <a:p>
                      <a:pPr marL="285750" indent="-285750">
                        <a:buFont typeface="Arial" panose="020B0604020202020204" pitchFamily="34" charset="0"/>
                        <a:buChar char="•"/>
                      </a:pPr>
                      <a:r>
                        <a:rPr kumimoji="1" lang="ja-JP" altLang="en-US" dirty="0"/>
                        <a:t>品質問題の発生（例：工場での不具合、出荷時の品質、市場不具合、苦情）</a:t>
                      </a:r>
                      <a:endParaRPr kumimoji="1" lang="en-US" altLang="ja-JP" dirty="0"/>
                    </a:p>
                    <a:p>
                      <a:pPr marL="285750" indent="-285750">
                        <a:buFont typeface="Arial" panose="020B0604020202020204" pitchFamily="34" charset="0"/>
                        <a:buChar char="•"/>
                      </a:pPr>
                      <a:r>
                        <a:rPr kumimoji="1" lang="ja-JP" altLang="en-US" dirty="0"/>
                        <a:t>リスクアセスメントの変更</a:t>
                      </a:r>
                      <a:endParaRPr kumimoji="1" lang="en-US" altLang="ja-JP" dirty="0"/>
                    </a:p>
                    <a:p>
                      <a:pPr marL="285750" indent="-285750">
                        <a:buFont typeface="Arial" panose="020B0604020202020204" pitchFamily="34" charset="0"/>
                        <a:buChar char="•"/>
                      </a:pPr>
                      <a:r>
                        <a:rPr kumimoji="1" lang="ja-JP" altLang="en-US" dirty="0"/>
                        <a:t>製品監視の結果及びこれまでの教訓から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2902199"/>
                  </a:ext>
                </a:extLst>
              </a:tr>
            </a:tbl>
          </a:graphicData>
        </a:graphic>
      </p:graphicFrame>
    </p:spTree>
    <p:extLst>
      <p:ext uri="{BB962C8B-B14F-4D97-AF65-F5344CB8AC3E}">
        <p14:creationId xmlns:p14="http://schemas.microsoft.com/office/powerpoint/2010/main" val="42090723"/>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9829"/>
            <a:ext cx="10515600" cy="5006521"/>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工程</a:t>
            </a:r>
            <a:r>
              <a:rPr lang="en-US" altLang="ja-JP" sz="2400" dirty="0"/>
              <a:t>FMEA</a:t>
            </a:r>
            <a:r>
              <a:rPr lang="ja-JP" altLang="en-US" sz="2400" dirty="0"/>
              <a:t>のステップ（前述の７ステップ参照）</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473</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pic>
        <p:nvPicPr>
          <p:cNvPr id="9" name="図 8">
            <a:extLst>
              <a:ext uri="{FF2B5EF4-FFF2-40B4-BE49-F238E27FC236}">
                <a16:creationId xmlns:a16="http://schemas.microsoft.com/office/drawing/2014/main" id="{1483F9CA-4479-4C7E-B63D-BE3CC77FD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68286"/>
            <a:ext cx="10515600" cy="4288064"/>
          </a:xfrm>
          <a:prstGeom prst="rect">
            <a:avLst/>
          </a:prstGeom>
          <a:noFill/>
          <a:extLst>
            <a:ext uri="{909E8E84-426E-40DD-AFC4-6F175D3DCCD1}">
              <a14:hiddenFill xmlns:a14="http://schemas.microsoft.com/office/drawing/2010/main">
                <a:solidFill>
                  <a:srgbClr val="FFFFFF"/>
                </a:solidFill>
              </a14:hiddenFill>
            </a:ext>
          </a:extLst>
        </p:spPr>
      </p:pic>
      <p:sp>
        <p:nvSpPr>
          <p:cNvPr id="8" name="楕円 7">
            <a:extLst>
              <a:ext uri="{FF2B5EF4-FFF2-40B4-BE49-F238E27FC236}">
                <a16:creationId xmlns:a16="http://schemas.microsoft.com/office/drawing/2014/main" id="{1FC50F96-3645-4890-9BE6-1E48192C86FD}"/>
              </a:ext>
            </a:extLst>
          </p:cNvPr>
          <p:cNvSpPr/>
          <p:nvPr/>
        </p:nvSpPr>
        <p:spPr>
          <a:xfrm>
            <a:off x="8610600" y="1949450"/>
            <a:ext cx="2743200" cy="4406900"/>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楕円 10">
            <a:extLst>
              <a:ext uri="{FF2B5EF4-FFF2-40B4-BE49-F238E27FC236}">
                <a16:creationId xmlns:a16="http://schemas.microsoft.com/office/drawing/2014/main" id="{46036459-6F56-4137-9874-E276D2E0F010}"/>
              </a:ext>
            </a:extLst>
          </p:cNvPr>
          <p:cNvSpPr/>
          <p:nvPr/>
        </p:nvSpPr>
        <p:spPr>
          <a:xfrm>
            <a:off x="5638800" y="1949450"/>
            <a:ext cx="2743200" cy="440690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31A5E248-3CB9-42BB-A8E9-7CD592A82019}"/>
              </a:ext>
            </a:extLst>
          </p:cNvPr>
          <p:cNvSpPr/>
          <p:nvPr/>
        </p:nvSpPr>
        <p:spPr>
          <a:xfrm>
            <a:off x="2667000" y="1949450"/>
            <a:ext cx="2743200" cy="4406900"/>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正方形/長方形 12">
            <a:extLst>
              <a:ext uri="{FF2B5EF4-FFF2-40B4-BE49-F238E27FC236}">
                <a16:creationId xmlns:a16="http://schemas.microsoft.com/office/drawing/2014/main" id="{FD0CAB17-3AAA-46F6-AEB3-C2BB090F25CD}"/>
              </a:ext>
            </a:extLst>
          </p:cNvPr>
          <p:cNvSpPr/>
          <p:nvPr/>
        </p:nvSpPr>
        <p:spPr>
          <a:xfrm>
            <a:off x="4060373" y="1785257"/>
            <a:ext cx="1959428" cy="3666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00B050"/>
                </a:solidFill>
              </a:rPr>
              <a:t>どこに影響</a:t>
            </a:r>
          </a:p>
        </p:txBody>
      </p:sp>
      <p:sp>
        <p:nvSpPr>
          <p:cNvPr id="14" name="正方形/長方形 13">
            <a:extLst>
              <a:ext uri="{FF2B5EF4-FFF2-40B4-BE49-F238E27FC236}">
                <a16:creationId xmlns:a16="http://schemas.microsoft.com/office/drawing/2014/main" id="{E1A6DB31-A9B9-4EFB-B6F5-CEFD53C96CA5}"/>
              </a:ext>
            </a:extLst>
          </p:cNvPr>
          <p:cNvSpPr/>
          <p:nvPr/>
        </p:nvSpPr>
        <p:spPr>
          <a:xfrm>
            <a:off x="7195457" y="1766209"/>
            <a:ext cx="1676400" cy="385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FF0000"/>
                </a:solidFill>
              </a:rPr>
              <a:t>どんな現象</a:t>
            </a:r>
          </a:p>
        </p:txBody>
      </p:sp>
      <p:sp>
        <p:nvSpPr>
          <p:cNvPr id="15" name="正方形/長方形 14">
            <a:extLst>
              <a:ext uri="{FF2B5EF4-FFF2-40B4-BE49-F238E27FC236}">
                <a16:creationId xmlns:a16="http://schemas.microsoft.com/office/drawing/2014/main" id="{41D82C21-058F-4A5B-B803-B8A9D4059B73}"/>
              </a:ext>
            </a:extLst>
          </p:cNvPr>
          <p:cNvSpPr/>
          <p:nvPr/>
        </p:nvSpPr>
        <p:spPr>
          <a:xfrm>
            <a:off x="10156371" y="1703160"/>
            <a:ext cx="1317172" cy="4487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0070C0"/>
                </a:solidFill>
              </a:rPr>
              <a:t>何が原因</a:t>
            </a:r>
          </a:p>
        </p:txBody>
      </p:sp>
    </p:spTree>
    <p:extLst>
      <p:ext uri="{BB962C8B-B14F-4D97-AF65-F5344CB8AC3E}">
        <p14:creationId xmlns:p14="http://schemas.microsoft.com/office/powerpoint/2010/main" val="1311371819"/>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ステップ１：計画策定及び準備</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lvl="2">
              <a:lnSpc>
                <a:spcPct val="100000"/>
              </a:lnSpc>
            </a:pPr>
            <a:r>
              <a:rPr lang="ja-JP" altLang="en-US" sz="2400" dirty="0"/>
              <a:t>プロジェクトの特定</a:t>
            </a:r>
            <a:endParaRPr lang="en-US" altLang="ja-JP" sz="2400" dirty="0"/>
          </a:p>
          <a:p>
            <a:pPr lvl="2">
              <a:lnSpc>
                <a:spcPct val="100000"/>
              </a:lnSpc>
            </a:pPr>
            <a:r>
              <a:rPr lang="ja-JP" altLang="en-US" sz="2400" dirty="0"/>
              <a:t>プロジェクトの計画（５Ｔ　</a:t>
            </a:r>
            <a:r>
              <a:rPr lang="en-US" altLang="ja-JP" dirty="0"/>
              <a:t>※</a:t>
            </a:r>
            <a:r>
              <a:rPr lang="ja-JP" altLang="en-US" dirty="0"/>
              <a:t>前述参照</a:t>
            </a:r>
            <a:r>
              <a:rPr lang="ja-JP" altLang="en-US" sz="2400" dirty="0"/>
              <a:t>）</a:t>
            </a:r>
            <a:endParaRPr lang="en-US" altLang="ja-JP" sz="2400" dirty="0"/>
          </a:p>
          <a:p>
            <a:pPr lvl="2">
              <a:lnSpc>
                <a:spcPct val="100000"/>
              </a:lnSpc>
            </a:pPr>
            <a:r>
              <a:rPr lang="ja-JP" altLang="en-US" sz="2400" dirty="0"/>
              <a:t>分析の境界（分析に含めるもの／含めないもの）</a:t>
            </a:r>
            <a:endParaRPr lang="en-US" altLang="ja-JP" sz="2400" dirty="0"/>
          </a:p>
          <a:p>
            <a:pPr lvl="2">
              <a:lnSpc>
                <a:spcPct val="100000"/>
              </a:lnSpc>
            </a:pPr>
            <a:r>
              <a:rPr lang="ja-JP" altLang="en-US" sz="2400" dirty="0"/>
              <a:t>過去の基礎</a:t>
            </a:r>
            <a:r>
              <a:rPr lang="en-US" altLang="ja-JP" sz="2400" dirty="0"/>
              <a:t>PFMEA</a:t>
            </a:r>
            <a:r>
              <a:rPr lang="ja-JP" altLang="en-US" sz="2400" dirty="0"/>
              <a:t>の特定</a:t>
            </a:r>
            <a:endParaRPr lang="en-US" altLang="ja-JP" sz="2400" dirty="0"/>
          </a:p>
          <a:p>
            <a:pPr lvl="2">
              <a:lnSpc>
                <a:spcPct val="100000"/>
              </a:lnSpc>
            </a:pPr>
            <a:r>
              <a:rPr lang="ja-JP" altLang="en-US" sz="2400" dirty="0"/>
              <a:t>次の構造分析の基礎情報</a:t>
            </a:r>
            <a:endParaRPr lang="en-US" altLang="ja-JP" sz="2400" dirty="0"/>
          </a:p>
          <a:p>
            <a:pPr marL="971550" lvl="1" indent="-514350">
              <a:lnSpc>
                <a:spcPct val="100000"/>
              </a:lnSpc>
              <a:buFont typeface="+mj-ea"/>
              <a:buAutoNum type="circleNumDbPlain"/>
            </a:pPr>
            <a:r>
              <a:rPr lang="en-US" altLang="ja-JP" dirty="0"/>
              <a:t>PFMEA</a:t>
            </a:r>
            <a:r>
              <a:rPr lang="ja-JP" altLang="en-US" dirty="0"/>
              <a:t>の境界</a:t>
            </a:r>
            <a:endParaRPr lang="en-US" altLang="ja-JP" dirty="0"/>
          </a:p>
          <a:p>
            <a:pPr lvl="2">
              <a:lnSpc>
                <a:spcPct val="100000"/>
              </a:lnSpc>
            </a:pPr>
            <a:r>
              <a:rPr lang="ja-JP" altLang="en-US" sz="2400" dirty="0"/>
              <a:t>顧客は私達から何を購入するのか？</a:t>
            </a:r>
            <a:endParaRPr lang="en-US" altLang="ja-JP" sz="2400" dirty="0"/>
          </a:p>
          <a:p>
            <a:pPr lvl="2">
              <a:lnSpc>
                <a:spcPct val="100000"/>
              </a:lnSpc>
            </a:pPr>
            <a:r>
              <a:rPr lang="ja-JP" altLang="en-US" sz="2400" dirty="0"/>
              <a:t>新規の要求事項はあるのか？</a:t>
            </a:r>
            <a:endParaRPr lang="en-US" altLang="ja-JP" sz="2400" dirty="0"/>
          </a:p>
          <a:p>
            <a:pPr lvl="2">
              <a:lnSpc>
                <a:spcPct val="100000"/>
              </a:lnSpc>
            </a:pPr>
            <a:r>
              <a:rPr lang="ja-JP" altLang="en-US" sz="2400" dirty="0"/>
              <a:t>特に分析に含めないものがあれば明確になっているか？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474</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84562795"/>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ステップ２：構造分析</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lvl="2">
              <a:lnSpc>
                <a:spcPct val="100000"/>
              </a:lnSpc>
            </a:pPr>
            <a:r>
              <a:rPr lang="ja-JP" altLang="en-US" sz="2400" dirty="0"/>
              <a:t>「プロセスアイテム」「プロセスステップ」「プロセス作業要素」の３つの構造への分解</a:t>
            </a:r>
            <a:endParaRPr lang="en-US" altLang="ja-JP" sz="2400" dirty="0"/>
          </a:p>
          <a:p>
            <a:pPr lvl="2">
              <a:lnSpc>
                <a:spcPct val="100000"/>
              </a:lnSpc>
            </a:pPr>
            <a:r>
              <a:rPr lang="ja-JP" altLang="en-US" sz="2400" dirty="0"/>
              <a:t>分析範囲の見える化</a:t>
            </a:r>
            <a:endParaRPr lang="en-US" altLang="ja-JP" sz="2400" dirty="0"/>
          </a:p>
          <a:p>
            <a:pPr lvl="2">
              <a:lnSpc>
                <a:spcPct val="100000"/>
              </a:lnSpc>
            </a:pPr>
            <a:r>
              <a:rPr lang="ja-JP" altLang="en-US" sz="2400" dirty="0"/>
              <a:t>プロセスフロー図に値するもの</a:t>
            </a:r>
            <a:endParaRPr lang="en-US" altLang="ja-JP" sz="2400" dirty="0"/>
          </a:p>
          <a:p>
            <a:pPr lvl="2">
              <a:lnSpc>
                <a:spcPct val="100000"/>
              </a:lnSpc>
            </a:pPr>
            <a:r>
              <a:rPr lang="ja-JP" altLang="en-US" sz="2400" dirty="0"/>
              <a:t>次の機能分析のための基礎情報</a:t>
            </a:r>
            <a:endParaRPr lang="en-US" altLang="ja-JP" sz="2400" dirty="0"/>
          </a:p>
          <a:p>
            <a:pPr marL="971550" lvl="1" indent="-514350">
              <a:lnSpc>
                <a:spcPct val="100000"/>
              </a:lnSpc>
              <a:buFont typeface="+mj-ea"/>
              <a:buAutoNum type="circleNumDbPlain"/>
            </a:pPr>
            <a:r>
              <a:rPr lang="ja-JP" altLang="en-US" dirty="0"/>
              <a:t>プロセス作業要素となり得るもの</a:t>
            </a:r>
            <a:endParaRPr lang="en-US" altLang="ja-JP" dirty="0"/>
          </a:p>
          <a:p>
            <a:pPr lvl="2">
              <a:lnSpc>
                <a:spcPct val="100000"/>
              </a:lnSpc>
            </a:pPr>
            <a:r>
              <a:rPr lang="en-US" altLang="ja-JP" sz="2400" dirty="0"/>
              <a:t>4M</a:t>
            </a:r>
            <a:r>
              <a:rPr lang="ja-JP" altLang="en-US" sz="2400" dirty="0"/>
              <a:t>～</a:t>
            </a:r>
            <a:r>
              <a:rPr lang="en-US" altLang="ja-JP" sz="2400" dirty="0"/>
              <a:t>6M</a:t>
            </a:r>
            <a:r>
              <a:rPr lang="ja-JP" altLang="en-US" sz="2400" dirty="0"/>
              <a:t>を基本に組織が決定する。（ステップ１の境界と関連）</a:t>
            </a:r>
            <a:endParaRPr lang="en-US" altLang="ja-JP" sz="2400" dirty="0"/>
          </a:p>
          <a:p>
            <a:pPr lvl="2">
              <a:lnSpc>
                <a:spcPct val="100000"/>
              </a:lnSpc>
            </a:pPr>
            <a:r>
              <a:rPr lang="ja-JP" altLang="en-US" sz="2400" dirty="0"/>
              <a:t>人、機械、間接材料、環境、方法、測定</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475</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2248391738"/>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2">
            <a:extLst>
              <a:ext uri="{FF2B5EF4-FFF2-40B4-BE49-F238E27FC236}">
                <a16:creationId xmlns:a16="http://schemas.microsoft.com/office/drawing/2014/main" id="{ED407687-D35B-47C0-8902-50EB289DCCE2}"/>
              </a:ext>
            </a:extLst>
          </p:cNvPr>
          <p:cNvGraphicFramePr>
            <a:graphicFrameLocks noGrp="1"/>
          </p:cNvGraphicFramePr>
          <p:nvPr/>
        </p:nvGraphicFramePr>
        <p:xfrm>
          <a:off x="838200" y="2080380"/>
          <a:ext cx="10515600" cy="4275970"/>
        </p:xfrm>
        <a:graphic>
          <a:graphicData uri="http://schemas.openxmlformats.org/drawingml/2006/table">
            <a:tbl>
              <a:tblPr firstRow="1" bandRow="1">
                <a:tableStyleId>{5940675A-B579-460E-94D1-54222C63F5DA}</a:tableStyleId>
              </a:tblPr>
              <a:tblGrid>
                <a:gridCol w="2601686">
                  <a:extLst>
                    <a:ext uri="{9D8B030D-6E8A-4147-A177-3AD203B41FA5}">
                      <a16:colId xmlns:a16="http://schemas.microsoft.com/office/drawing/2014/main" val="2127139492"/>
                    </a:ext>
                  </a:extLst>
                </a:gridCol>
                <a:gridCol w="4408714">
                  <a:extLst>
                    <a:ext uri="{9D8B030D-6E8A-4147-A177-3AD203B41FA5}">
                      <a16:colId xmlns:a16="http://schemas.microsoft.com/office/drawing/2014/main" val="2633171320"/>
                    </a:ext>
                  </a:extLst>
                </a:gridCol>
                <a:gridCol w="3505200">
                  <a:extLst>
                    <a:ext uri="{9D8B030D-6E8A-4147-A177-3AD203B41FA5}">
                      <a16:colId xmlns:a16="http://schemas.microsoft.com/office/drawing/2014/main" val="2391458437"/>
                    </a:ext>
                  </a:extLst>
                </a:gridCol>
              </a:tblGrid>
              <a:tr h="409672">
                <a:tc>
                  <a:txBody>
                    <a:bodyPr/>
                    <a:lstStyle/>
                    <a:p>
                      <a:pPr algn="ctr"/>
                      <a:r>
                        <a:rPr kumimoji="1" lang="ja-JP" altLang="en-US" dirty="0">
                          <a:solidFill>
                            <a:schemeClr val="bg1"/>
                          </a:solidFill>
                        </a:rPr>
                        <a:t>プロセスアイテム</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dirty="0">
                          <a:solidFill>
                            <a:schemeClr val="bg1"/>
                          </a:solidFill>
                        </a:rPr>
                        <a:t>プロセスステップ</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dirty="0">
                          <a:solidFill>
                            <a:schemeClr val="bg1"/>
                          </a:solidFill>
                        </a:rPr>
                        <a:t>プロセス作業要素</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866826518"/>
                  </a:ext>
                </a:extLst>
              </a:tr>
              <a:tr h="3866298">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090180"/>
                  </a:ext>
                </a:extLst>
              </a:tr>
            </a:tbl>
          </a:graphicData>
        </a:graphic>
      </p:graphicFrame>
      <p:sp>
        <p:nvSpPr>
          <p:cNvPr id="48" name="矢印: 下 47">
            <a:extLst>
              <a:ext uri="{FF2B5EF4-FFF2-40B4-BE49-F238E27FC236}">
                <a16:creationId xmlns:a16="http://schemas.microsoft.com/office/drawing/2014/main" id="{13E9D0DA-21B2-477C-B8B7-230F81957C53}"/>
              </a:ext>
            </a:extLst>
          </p:cNvPr>
          <p:cNvSpPr/>
          <p:nvPr/>
        </p:nvSpPr>
        <p:spPr>
          <a:xfrm>
            <a:off x="5366659" y="3156857"/>
            <a:ext cx="555170" cy="3140076"/>
          </a:xfrm>
          <a:prstGeom prst="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2D0AAEF5-F6F4-4A81-8A4A-9053716BCD58}"/>
              </a:ext>
            </a:extLst>
          </p:cNvPr>
          <p:cNvSpPr/>
          <p:nvPr/>
        </p:nvSpPr>
        <p:spPr>
          <a:xfrm>
            <a:off x="3690259" y="3384238"/>
            <a:ext cx="3907970" cy="55517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600" dirty="0">
                <a:solidFill>
                  <a:schemeClr val="tx1"/>
                </a:solidFill>
              </a:rPr>
              <a:t>P2</a:t>
            </a:r>
            <a:r>
              <a:rPr lang="ja-JP" altLang="en-US" sz="1600" dirty="0">
                <a:solidFill>
                  <a:schemeClr val="tx1"/>
                </a:solidFill>
              </a:rPr>
              <a:t>：歯車グリス塗布</a:t>
            </a:r>
            <a:endParaRPr kumimoji="1" lang="en-US" altLang="ja-JP" sz="1600" dirty="0">
              <a:solidFill>
                <a:schemeClr val="tx1"/>
              </a:solidFill>
            </a:endParaRPr>
          </a:p>
        </p:txBody>
      </p:sp>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3"/>
            </a:pPr>
            <a:r>
              <a:rPr lang="ja-JP" altLang="en-US" dirty="0"/>
              <a:t>構造分析ツリー構造の例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476</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
        <p:nvSpPr>
          <p:cNvPr id="6" name="四角形: 角を丸くする 5">
            <a:extLst>
              <a:ext uri="{FF2B5EF4-FFF2-40B4-BE49-F238E27FC236}">
                <a16:creationId xmlns:a16="http://schemas.microsoft.com/office/drawing/2014/main" id="{A2541788-0CD7-4E8F-8B99-4154354C9DBF}"/>
              </a:ext>
            </a:extLst>
          </p:cNvPr>
          <p:cNvSpPr/>
          <p:nvPr/>
        </p:nvSpPr>
        <p:spPr>
          <a:xfrm>
            <a:off x="1153887" y="3786255"/>
            <a:ext cx="1926770" cy="840174"/>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電気モーター</a:t>
            </a:r>
            <a:endParaRPr kumimoji="1" lang="en-US" altLang="ja-JP" dirty="0">
              <a:solidFill>
                <a:schemeClr val="tx1"/>
              </a:solidFill>
            </a:endParaRPr>
          </a:p>
          <a:p>
            <a:pPr algn="ctr"/>
            <a:r>
              <a:rPr kumimoji="1" lang="ja-JP" altLang="en-US" dirty="0">
                <a:solidFill>
                  <a:schemeClr val="tx1"/>
                </a:solidFill>
              </a:rPr>
              <a:t>組立ライン</a:t>
            </a:r>
          </a:p>
        </p:txBody>
      </p:sp>
      <p:sp>
        <p:nvSpPr>
          <p:cNvPr id="9" name="四角形: 角を丸くする 8">
            <a:extLst>
              <a:ext uri="{FF2B5EF4-FFF2-40B4-BE49-F238E27FC236}">
                <a16:creationId xmlns:a16="http://schemas.microsoft.com/office/drawing/2014/main" id="{6ECF42D9-1032-47A6-BBF4-C2D5AF1CE67B}"/>
              </a:ext>
            </a:extLst>
          </p:cNvPr>
          <p:cNvSpPr/>
          <p:nvPr/>
        </p:nvSpPr>
        <p:spPr>
          <a:xfrm>
            <a:off x="3690259" y="2601685"/>
            <a:ext cx="3907970" cy="55517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600" dirty="0">
                <a:solidFill>
                  <a:schemeClr val="tx1"/>
                </a:solidFill>
              </a:rPr>
              <a:t>P1</a:t>
            </a:r>
            <a:r>
              <a:rPr lang="ja-JP" altLang="en-US" sz="1600" dirty="0">
                <a:solidFill>
                  <a:schemeClr val="tx1"/>
                </a:solidFill>
              </a:rPr>
              <a:t>：ベアリングシャフトグリース塗布</a:t>
            </a:r>
            <a:endParaRPr kumimoji="1" lang="en-US" altLang="ja-JP" sz="1600" dirty="0">
              <a:solidFill>
                <a:schemeClr val="tx1"/>
              </a:solidFill>
            </a:endParaRPr>
          </a:p>
        </p:txBody>
      </p:sp>
      <p:sp>
        <p:nvSpPr>
          <p:cNvPr id="12" name="四角形: 角を丸くする 11">
            <a:extLst>
              <a:ext uri="{FF2B5EF4-FFF2-40B4-BE49-F238E27FC236}">
                <a16:creationId xmlns:a16="http://schemas.microsoft.com/office/drawing/2014/main" id="{C9F4B70F-5651-41E5-84F4-4C677D4312CD}"/>
              </a:ext>
            </a:extLst>
          </p:cNvPr>
          <p:cNvSpPr/>
          <p:nvPr/>
        </p:nvSpPr>
        <p:spPr>
          <a:xfrm>
            <a:off x="3690259" y="4166791"/>
            <a:ext cx="3907970" cy="55517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600" dirty="0">
                <a:solidFill>
                  <a:schemeClr val="tx1"/>
                </a:solidFill>
              </a:rPr>
              <a:t>P3</a:t>
            </a:r>
            <a:r>
              <a:rPr lang="ja-JP" altLang="en-US" sz="1600" dirty="0">
                <a:solidFill>
                  <a:schemeClr val="tx1"/>
                </a:solidFill>
              </a:rPr>
              <a:t>：ベアリング圧入</a:t>
            </a:r>
            <a:endParaRPr lang="en-US" altLang="ja-JP" sz="1600" dirty="0">
              <a:solidFill>
                <a:schemeClr val="tx1"/>
              </a:solidFill>
            </a:endParaRPr>
          </a:p>
        </p:txBody>
      </p:sp>
      <p:sp>
        <p:nvSpPr>
          <p:cNvPr id="13" name="四角形: 角を丸くする 12">
            <a:extLst>
              <a:ext uri="{FF2B5EF4-FFF2-40B4-BE49-F238E27FC236}">
                <a16:creationId xmlns:a16="http://schemas.microsoft.com/office/drawing/2014/main" id="{0FBE1002-A743-4B2A-A9BD-0E045B38D0D8}"/>
              </a:ext>
            </a:extLst>
          </p:cNvPr>
          <p:cNvSpPr/>
          <p:nvPr/>
        </p:nvSpPr>
        <p:spPr>
          <a:xfrm>
            <a:off x="3690259" y="4949344"/>
            <a:ext cx="3907970" cy="55517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600" dirty="0">
                <a:solidFill>
                  <a:schemeClr val="tx1"/>
                </a:solidFill>
              </a:rPr>
              <a:t>P4</a:t>
            </a:r>
            <a:r>
              <a:rPr lang="ja-JP" altLang="en-US" sz="1600" dirty="0">
                <a:solidFill>
                  <a:schemeClr val="tx1"/>
                </a:solidFill>
              </a:rPr>
              <a:t>：ギヤカバー組立</a:t>
            </a:r>
            <a:endParaRPr lang="en-US" altLang="ja-JP" sz="1600" dirty="0">
              <a:solidFill>
                <a:schemeClr val="tx1"/>
              </a:solidFill>
            </a:endParaRPr>
          </a:p>
        </p:txBody>
      </p:sp>
      <p:sp>
        <p:nvSpPr>
          <p:cNvPr id="14" name="四角形: 角を丸くする 13">
            <a:extLst>
              <a:ext uri="{FF2B5EF4-FFF2-40B4-BE49-F238E27FC236}">
                <a16:creationId xmlns:a16="http://schemas.microsoft.com/office/drawing/2014/main" id="{380D4549-68B8-408F-AF58-69571AA4CE4B}"/>
              </a:ext>
            </a:extLst>
          </p:cNvPr>
          <p:cNvSpPr/>
          <p:nvPr/>
        </p:nvSpPr>
        <p:spPr>
          <a:xfrm>
            <a:off x="8153400" y="2601686"/>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作業者</a:t>
            </a:r>
            <a:endParaRPr kumimoji="1" lang="en-US" altLang="ja-JP" sz="1600" dirty="0">
              <a:solidFill>
                <a:schemeClr val="tx1"/>
              </a:solidFill>
            </a:endParaRPr>
          </a:p>
        </p:txBody>
      </p:sp>
      <p:sp>
        <p:nvSpPr>
          <p:cNvPr id="15" name="四角形: 角を丸くする 14">
            <a:extLst>
              <a:ext uri="{FF2B5EF4-FFF2-40B4-BE49-F238E27FC236}">
                <a16:creationId xmlns:a16="http://schemas.microsoft.com/office/drawing/2014/main" id="{933DF29C-6065-458A-9D98-FDA7FE82A7E4}"/>
              </a:ext>
            </a:extLst>
          </p:cNvPr>
          <p:cNvSpPr/>
          <p:nvPr/>
        </p:nvSpPr>
        <p:spPr>
          <a:xfrm>
            <a:off x="8153400" y="2983290"/>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solidFill>
              </a:rPr>
              <a:t>グリス供給装置</a:t>
            </a:r>
            <a:endParaRPr kumimoji="1" lang="en-US" altLang="ja-JP" sz="1600" dirty="0">
              <a:solidFill>
                <a:schemeClr val="tx1"/>
              </a:solidFill>
            </a:endParaRPr>
          </a:p>
        </p:txBody>
      </p:sp>
      <p:sp>
        <p:nvSpPr>
          <p:cNvPr id="16" name="四角形: 角を丸くする 15">
            <a:extLst>
              <a:ext uri="{FF2B5EF4-FFF2-40B4-BE49-F238E27FC236}">
                <a16:creationId xmlns:a16="http://schemas.microsoft.com/office/drawing/2014/main" id="{2321143E-C66C-48C7-999B-1A98CCD4218B}"/>
              </a:ext>
            </a:extLst>
          </p:cNvPr>
          <p:cNvSpPr/>
          <p:nvPr/>
        </p:nvSpPr>
        <p:spPr>
          <a:xfrm>
            <a:off x="8153400" y="3384238"/>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solidFill>
              </a:rPr>
              <a:t>グリス</a:t>
            </a:r>
            <a:endParaRPr kumimoji="1" lang="en-US" altLang="ja-JP" sz="1600" dirty="0">
              <a:solidFill>
                <a:schemeClr val="tx1"/>
              </a:solidFill>
            </a:endParaRPr>
          </a:p>
        </p:txBody>
      </p:sp>
      <p:sp>
        <p:nvSpPr>
          <p:cNvPr id="17" name="四角形: 角を丸くする 16">
            <a:extLst>
              <a:ext uri="{FF2B5EF4-FFF2-40B4-BE49-F238E27FC236}">
                <a16:creationId xmlns:a16="http://schemas.microsoft.com/office/drawing/2014/main" id="{B0BDA534-200A-4EF2-9EEB-E6DC8A1932DD}"/>
              </a:ext>
            </a:extLst>
          </p:cNvPr>
          <p:cNvSpPr/>
          <p:nvPr/>
        </p:nvSpPr>
        <p:spPr>
          <a:xfrm>
            <a:off x="8153399" y="3786254"/>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作業環境温度</a:t>
            </a:r>
            <a:endParaRPr kumimoji="1" lang="en-US" altLang="ja-JP" sz="1600" dirty="0">
              <a:solidFill>
                <a:schemeClr val="tx1"/>
              </a:solidFill>
            </a:endParaRPr>
          </a:p>
        </p:txBody>
      </p:sp>
      <p:cxnSp>
        <p:nvCxnSpPr>
          <p:cNvPr id="18" name="直線コネクタ 17">
            <a:extLst>
              <a:ext uri="{FF2B5EF4-FFF2-40B4-BE49-F238E27FC236}">
                <a16:creationId xmlns:a16="http://schemas.microsoft.com/office/drawing/2014/main" id="{C28CE139-A932-486B-A765-0A179A11F9E9}"/>
              </a:ext>
            </a:extLst>
          </p:cNvPr>
          <p:cNvCxnSpPr>
            <a:stCxn id="9" idx="3"/>
            <a:endCxn id="14" idx="1"/>
          </p:cNvCxnSpPr>
          <p:nvPr/>
        </p:nvCxnSpPr>
        <p:spPr>
          <a:xfrm flipV="1">
            <a:off x="7598229" y="2797629"/>
            <a:ext cx="555171" cy="816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87A534AF-77BF-400B-B104-714DAD22032C}"/>
              </a:ext>
            </a:extLst>
          </p:cNvPr>
          <p:cNvCxnSpPr>
            <a:endCxn id="15" idx="1"/>
          </p:cNvCxnSpPr>
          <p:nvPr/>
        </p:nvCxnSpPr>
        <p:spPr>
          <a:xfrm>
            <a:off x="7598229" y="2853588"/>
            <a:ext cx="555171" cy="3256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62A08414-41C1-4095-9B2F-A3A12EEA7659}"/>
              </a:ext>
            </a:extLst>
          </p:cNvPr>
          <p:cNvCxnSpPr>
            <a:stCxn id="9" idx="3"/>
            <a:endCxn id="16" idx="1"/>
          </p:cNvCxnSpPr>
          <p:nvPr/>
        </p:nvCxnSpPr>
        <p:spPr>
          <a:xfrm>
            <a:off x="7598229" y="2879271"/>
            <a:ext cx="555171" cy="7009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D47E7BCC-179B-4FCD-A118-AAE317A56290}"/>
              </a:ext>
            </a:extLst>
          </p:cNvPr>
          <p:cNvCxnSpPr>
            <a:stCxn id="9" idx="3"/>
            <a:endCxn id="17" idx="1"/>
          </p:cNvCxnSpPr>
          <p:nvPr/>
        </p:nvCxnSpPr>
        <p:spPr>
          <a:xfrm>
            <a:off x="7598229" y="2879271"/>
            <a:ext cx="555170" cy="11029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四角形: 角を丸くする 24">
            <a:extLst>
              <a:ext uri="{FF2B5EF4-FFF2-40B4-BE49-F238E27FC236}">
                <a16:creationId xmlns:a16="http://schemas.microsoft.com/office/drawing/2014/main" id="{0D2B7DC4-E8F0-4C22-A3B2-792306D81A2E}"/>
              </a:ext>
            </a:extLst>
          </p:cNvPr>
          <p:cNvSpPr/>
          <p:nvPr/>
        </p:nvSpPr>
        <p:spPr>
          <a:xfrm>
            <a:off x="8153400" y="4305223"/>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作業者</a:t>
            </a:r>
            <a:endParaRPr kumimoji="1" lang="en-US" altLang="ja-JP" sz="1600" dirty="0">
              <a:solidFill>
                <a:schemeClr val="tx1"/>
              </a:solidFill>
            </a:endParaRPr>
          </a:p>
        </p:txBody>
      </p:sp>
      <p:sp>
        <p:nvSpPr>
          <p:cNvPr id="26" name="四角形: 角を丸くする 25">
            <a:extLst>
              <a:ext uri="{FF2B5EF4-FFF2-40B4-BE49-F238E27FC236}">
                <a16:creationId xmlns:a16="http://schemas.microsoft.com/office/drawing/2014/main" id="{35FA3238-06E1-47E3-8FF2-9AB4ABF09158}"/>
              </a:ext>
            </a:extLst>
          </p:cNvPr>
          <p:cNvSpPr/>
          <p:nvPr/>
        </p:nvSpPr>
        <p:spPr>
          <a:xfrm>
            <a:off x="8153400" y="4686827"/>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圧入プレス機</a:t>
            </a:r>
            <a:endParaRPr kumimoji="1" lang="en-US" altLang="ja-JP" sz="1600" dirty="0">
              <a:solidFill>
                <a:schemeClr val="tx1"/>
              </a:solidFill>
            </a:endParaRPr>
          </a:p>
        </p:txBody>
      </p:sp>
      <p:sp>
        <p:nvSpPr>
          <p:cNvPr id="27" name="四角形: 角を丸くする 26">
            <a:extLst>
              <a:ext uri="{FF2B5EF4-FFF2-40B4-BE49-F238E27FC236}">
                <a16:creationId xmlns:a16="http://schemas.microsoft.com/office/drawing/2014/main" id="{44665219-9743-4FEA-91A2-36E24B8216ED}"/>
              </a:ext>
            </a:extLst>
          </p:cNvPr>
          <p:cNvSpPr/>
          <p:nvPr/>
        </p:nvSpPr>
        <p:spPr>
          <a:xfrm>
            <a:off x="8153400" y="5087775"/>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ベアリング</a:t>
            </a:r>
            <a:endParaRPr kumimoji="1" lang="en-US" altLang="ja-JP" sz="1600" dirty="0">
              <a:solidFill>
                <a:schemeClr val="tx1"/>
              </a:solidFill>
            </a:endParaRPr>
          </a:p>
        </p:txBody>
      </p:sp>
      <p:sp>
        <p:nvSpPr>
          <p:cNvPr id="28" name="四角形: 角を丸くする 27">
            <a:extLst>
              <a:ext uri="{FF2B5EF4-FFF2-40B4-BE49-F238E27FC236}">
                <a16:creationId xmlns:a16="http://schemas.microsoft.com/office/drawing/2014/main" id="{E4370AE5-C96A-4D18-86C9-2EF128C9A4B9}"/>
              </a:ext>
            </a:extLst>
          </p:cNvPr>
          <p:cNvSpPr/>
          <p:nvPr/>
        </p:nvSpPr>
        <p:spPr>
          <a:xfrm>
            <a:off x="8153399" y="5489791"/>
            <a:ext cx="2536371" cy="39188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圧入</a:t>
            </a:r>
            <a:r>
              <a:rPr lang="ja-JP" altLang="en-US" sz="1600" dirty="0">
                <a:solidFill>
                  <a:schemeClr val="tx1"/>
                </a:solidFill>
              </a:rPr>
              <a:t>プレス機作動油</a:t>
            </a:r>
            <a:endParaRPr kumimoji="1" lang="en-US" altLang="ja-JP" sz="1600" dirty="0">
              <a:solidFill>
                <a:schemeClr val="tx1"/>
              </a:solidFill>
            </a:endParaRPr>
          </a:p>
        </p:txBody>
      </p:sp>
      <p:cxnSp>
        <p:nvCxnSpPr>
          <p:cNvPr id="30" name="直線コネクタ 29">
            <a:extLst>
              <a:ext uri="{FF2B5EF4-FFF2-40B4-BE49-F238E27FC236}">
                <a16:creationId xmlns:a16="http://schemas.microsoft.com/office/drawing/2014/main" id="{CC42041D-BB74-489F-8C93-44B6BB9233C4}"/>
              </a:ext>
            </a:extLst>
          </p:cNvPr>
          <p:cNvCxnSpPr>
            <a:endCxn id="25" idx="1"/>
          </p:cNvCxnSpPr>
          <p:nvPr/>
        </p:nvCxnSpPr>
        <p:spPr>
          <a:xfrm>
            <a:off x="7598229" y="4463143"/>
            <a:ext cx="555171" cy="380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1E21F8E8-ACF3-4E87-B6E1-5F9DEC4152A1}"/>
              </a:ext>
            </a:extLst>
          </p:cNvPr>
          <p:cNvCxnSpPr>
            <a:stCxn id="12" idx="3"/>
            <a:endCxn id="26" idx="1"/>
          </p:cNvCxnSpPr>
          <p:nvPr/>
        </p:nvCxnSpPr>
        <p:spPr>
          <a:xfrm>
            <a:off x="7598229" y="4444377"/>
            <a:ext cx="555171" cy="4383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775BC98C-28AD-4072-9691-CD34F96CC9D7}"/>
              </a:ext>
            </a:extLst>
          </p:cNvPr>
          <p:cNvCxnSpPr>
            <a:stCxn id="12" idx="3"/>
            <a:endCxn id="27" idx="1"/>
          </p:cNvCxnSpPr>
          <p:nvPr/>
        </p:nvCxnSpPr>
        <p:spPr>
          <a:xfrm>
            <a:off x="7598229" y="4444377"/>
            <a:ext cx="555171" cy="8393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EBBC23E-C107-4E49-AC3F-FE21A11D94EB}"/>
              </a:ext>
            </a:extLst>
          </p:cNvPr>
          <p:cNvCxnSpPr>
            <a:stCxn id="12" idx="3"/>
            <a:endCxn id="28" idx="1"/>
          </p:cNvCxnSpPr>
          <p:nvPr/>
        </p:nvCxnSpPr>
        <p:spPr>
          <a:xfrm>
            <a:off x="7598229" y="4444377"/>
            <a:ext cx="555170" cy="1241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D6618488-3882-42BF-AFFC-0BC3AC7E61FC}"/>
              </a:ext>
            </a:extLst>
          </p:cNvPr>
          <p:cNvCxnSpPr>
            <a:cxnSpLocks/>
            <a:stCxn id="6" idx="3"/>
            <a:endCxn id="9" idx="1"/>
          </p:cNvCxnSpPr>
          <p:nvPr/>
        </p:nvCxnSpPr>
        <p:spPr>
          <a:xfrm flipV="1">
            <a:off x="3080657" y="2879271"/>
            <a:ext cx="609602" cy="13270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DAF9C57B-49B6-4AA3-BC39-775F38E2C0EB}"/>
              </a:ext>
            </a:extLst>
          </p:cNvPr>
          <p:cNvCxnSpPr>
            <a:cxnSpLocks/>
            <a:stCxn id="6" idx="3"/>
            <a:endCxn id="11" idx="1"/>
          </p:cNvCxnSpPr>
          <p:nvPr/>
        </p:nvCxnSpPr>
        <p:spPr>
          <a:xfrm flipV="1">
            <a:off x="3080657" y="3661824"/>
            <a:ext cx="609602" cy="544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F93C2823-1034-42DF-AD1D-275A9EABAA1B}"/>
              </a:ext>
            </a:extLst>
          </p:cNvPr>
          <p:cNvCxnSpPr>
            <a:cxnSpLocks/>
            <a:stCxn id="6" idx="3"/>
            <a:endCxn id="12" idx="1"/>
          </p:cNvCxnSpPr>
          <p:nvPr/>
        </p:nvCxnSpPr>
        <p:spPr>
          <a:xfrm>
            <a:off x="3080657" y="4206342"/>
            <a:ext cx="609602" cy="2380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24BF3E90-A3B1-451A-BCE8-34F7A3B9F0EF}"/>
              </a:ext>
            </a:extLst>
          </p:cNvPr>
          <p:cNvCxnSpPr>
            <a:cxnSpLocks/>
            <a:stCxn id="6" idx="3"/>
            <a:endCxn id="13" idx="1"/>
          </p:cNvCxnSpPr>
          <p:nvPr/>
        </p:nvCxnSpPr>
        <p:spPr>
          <a:xfrm>
            <a:off x="3080657" y="4206342"/>
            <a:ext cx="609602" cy="1020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299121"/>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477</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2">
            <a:extLst>
              <a:ext uri="{FF2B5EF4-FFF2-40B4-BE49-F238E27FC236}">
                <a16:creationId xmlns:a16="http://schemas.microsoft.com/office/drawing/2014/main" id="{930E2329-6021-448F-B0CC-49F56406C6D7}"/>
              </a:ext>
            </a:extLst>
          </p:cNvPr>
          <p:cNvGraphicFramePr>
            <a:graphicFrameLocks noGrp="1"/>
          </p:cNvGraphicFramePr>
          <p:nvPr/>
        </p:nvGraphicFramePr>
        <p:xfrm>
          <a:off x="838200" y="1575411"/>
          <a:ext cx="10515600" cy="2267245"/>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3630988874"/>
                    </a:ext>
                  </a:extLst>
                </a:gridCol>
                <a:gridCol w="3505200">
                  <a:extLst>
                    <a:ext uri="{9D8B030D-6E8A-4147-A177-3AD203B41FA5}">
                      <a16:colId xmlns:a16="http://schemas.microsoft.com/office/drawing/2014/main" val="465471704"/>
                    </a:ext>
                  </a:extLst>
                </a:gridCol>
                <a:gridCol w="3505200">
                  <a:extLst>
                    <a:ext uri="{9D8B030D-6E8A-4147-A177-3AD203B41FA5}">
                      <a16:colId xmlns:a16="http://schemas.microsoft.com/office/drawing/2014/main" val="989200193"/>
                    </a:ext>
                  </a:extLst>
                </a:gridCol>
              </a:tblGrid>
              <a:tr h="453449">
                <a:tc gridSpan="3">
                  <a:txBody>
                    <a:bodyPr/>
                    <a:lstStyle/>
                    <a:p>
                      <a:pPr algn="ctr"/>
                      <a:r>
                        <a:rPr kumimoji="1" lang="ja-JP" altLang="en-US" sz="2000" b="1" dirty="0"/>
                        <a:t>ステップ２　構造分析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067057"/>
                  </a:ext>
                </a:extLst>
              </a:tr>
              <a:tr h="453449">
                <a:tc>
                  <a:txBody>
                    <a:bodyPr/>
                    <a:lstStyle/>
                    <a:p>
                      <a:pPr algn="ctr"/>
                      <a:r>
                        <a:rPr kumimoji="1" lang="ja-JP" altLang="en-US" sz="2000" dirty="0"/>
                        <a:t>プロセスアイテム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プロセスステップ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プロセス作業要素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91262988"/>
                  </a:ext>
                </a:extLst>
              </a:tr>
              <a:tr h="453449">
                <a:tc rowSpan="3">
                  <a:txBody>
                    <a:bodyPr/>
                    <a:lstStyle/>
                    <a:p>
                      <a:r>
                        <a:rPr kumimoji="1" lang="ja-JP" altLang="en-US" sz="2000" dirty="0"/>
                        <a:t>電気モーター組立ライン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3">
                  <a:txBody>
                    <a:bodyPr/>
                    <a:lstStyle/>
                    <a:p>
                      <a:r>
                        <a:rPr kumimoji="1" lang="en-US" altLang="ja-JP" sz="2000" dirty="0"/>
                        <a:t>P3</a:t>
                      </a:r>
                      <a:r>
                        <a:rPr kumimoji="1" lang="ja-JP" altLang="en-US" sz="2000" dirty="0"/>
                        <a:t>：ベアリング圧入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kumimoji="1" lang="ja-JP" altLang="en-US" sz="2000" dirty="0"/>
                        <a:t>作業者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90248592"/>
                  </a:ext>
                </a:extLst>
              </a:tr>
              <a:tr h="453449">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圧入プレス機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03774080"/>
                  </a:ext>
                </a:extLst>
              </a:tr>
              <a:tr h="453449">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圧入プレス機作動油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8150482"/>
                  </a:ext>
                </a:extLst>
              </a:tr>
            </a:tbl>
          </a:graphicData>
        </a:graphic>
      </p:graphicFrame>
    </p:spTree>
    <p:extLst>
      <p:ext uri="{BB962C8B-B14F-4D97-AF65-F5344CB8AC3E}">
        <p14:creationId xmlns:p14="http://schemas.microsoft.com/office/powerpoint/2010/main" val="845202748"/>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ステップ３：機能分析</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lvl="2">
              <a:lnSpc>
                <a:spcPct val="100000"/>
              </a:lnSpc>
            </a:pPr>
            <a:r>
              <a:rPr lang="ja-JP" altLang="en-US" sz="2400" dirty="0"/>
              <a:t>構造分析結果に合わせた機能の明確化</a:t>
            </a:r>
            <a:endParaRPr lang="en-US" altLang="ja-JP" sz="2400" dirty="0"/>
          </a:p>
          <a:p>
            <a:pPr lvl="2">
              <a:lnSpc>
                <a:spcPct val="100000"/>
              </a:lnSpc>
            </a:pPr>
            <a:r>
              <a:rPr lang="ja-JP" altLang="en-US" sz="2400" dirty="0"/>
              <a:t>製品機能又はプロセス機能の見える化</a:t>
            </a:r>
            <a:endParaRPr lang="en-US" altLang="ja-JP" sz="2400" dirty="0"/>
          </a:p>
          <a:p>
            <a:pPr lvl="2">
              <a:lnSpc>
                <a:spcPct val="100000"/>
              </a:lnSpc>
            </a:pPr>
            <a:r>
              <a:rPr lang="ja-JP" altLang="en-US" sz="2400" dirty="0"/>
              <a:t>次の故障分析のための基礎情報</a:t>
            </a:r>
            <a:endParaRPr lang="en-US" altLang="ja-JP" sz="2400" dirty="0"/>
          </a:p>
          <a:p>
            <a:pPr marL="971550" lvl="1" indent="-514350">
              <a:lnSpc>
                <a:spcPct val="100000"/>
              </a:lnSpc>
              <a:buFont typeface="+mj-ea"/>
              <a:buAutoNum type="circleNumDbPlain"/>
            </a:pPr>
            <a:r>
              <a:rPr lang="ja-JP" altLang="en-US" dirty="0"/>
              <a:t>機能とは「そこで何を行うように意図されているか」の説明</a:t>
            </a:r>
            <a:endParaRPr lang="en-US" altLang="ja-JP" dirty="0"/>
          </a:p>
          <a:p>
            <a:pPr lvl="2">
              <a:lnSpc>
                <a:spcPct val="100000"/>
              </a:lnSpc>
            </a:pPr>
            <a:r>
              <a:rPr lang="ja-JP" altLang="en-US" sz="2400" dirty="0"/>
              <a:t>製品機能又はプロセス機能</a:t>
            </a:r>
            <a:endParaRPr lang="en-US" altLang="ja-JP" sz="2400" dirty="0"/>
          </a:p>
          <a:p>
            <a:pPr lvl="2">
              <a:lnSpc>
                <a:spcPct val="100000"/>
              </a:lnSpc>
            </a:pPr>
            <a:r>
              <a:rPr lang="ja-JP" altLang="en-US" sz="2400" dirty="0"/>
              <a:t>製造環境条件</a:t>
            </a:r>
            <a:endParaRPr lang="en-US" altLang="ja-JP" sz="2400" dirty="0"/>
          </a:p>
          <a:p>
            <a:pPr lvl="2">
              <a:lnSpc>
                <a:spcPct val="100000"/>
              </a:lnSpc>
            </a:pPr>
            <a:r>
              <a:rPr lang="ja-JP" altLang="en-US" sz="2400" dirty="0"/>
              <a:t>サイクル時間</a:t>
            </a:r>
            <a:endParaRPr lang="en-US" altLang="ja-JP" sz="2400" dirty="0"/>
          </a:p>
          <a:p>
            <a:pPr lvl="2">
              <a:lnSpc>
                <a:spcPct val="100000"/>
              </a:lnSpc>
            </a:pPr>
            <a:r>
              <a:rPr lang="ja-JP" altLang="en-US" sz="2400" dirty="0"/>
              <a:t>作業者の安全要求事項</a:t>
            </a:r>
            <a:endParaRPr lang="en-US" altLang="ja-JP" sz="2400" dirty="0"/>
          </a:p>
          <a:p>
            <a:pPr lvl="2">
              <a:lnSpc>
                <a:spcPct val="100000"/>
              </a:lnSpc>
            </a:pPr>
            <a:r>
              <a:rPr lang="ja-JP" altLang="en-US" sz="2400" dirty="0"/>
              <a:t>環境影響など</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478</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2592778417"/>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3"/>
            </a:pPr>
            <a:r>
              <a:rPr lang="ja-JP" altLang="en-US" dirty="0"/>
              <a:t>機能の表現は明確であること</a:t>
            </a:r>
            <a:endParaRPr lang="en-US" altLang="ja-JP" dirty="0"/>
          </a:p>
          <a:p>
            <a:pPr lvl="2">
              <a:lnSpc>
                <a:spcPct val="100000"/>
              </a:lnSpc>
            </a:pPr>
            <a:r>
              <a:rPr lang="ja-JP" altLang="en-US" sz="2400" dirty="0"/>
              <a:t>スクリーンにより紙面にインクを印刷する</a:t>
            </a:r>
            <a:endParaRPr lang="en-US" altLang="ja-JP" sz="2400" dirty="0"/>
          </a:p>
          <a:p>
            <a:pPr lvl="2">
              <a:lnSpc>
                <a:spcPct val="100000"/>
              </a:lnSpc>
            </a:pPr>
            <a:r>
              <a:rPr lang="ja-JP" altLang="en-US" sz="2400" dirty="0"/>
              <a:t>基板に搭載された部品をリフローにより自動はんだ付けする</a:t>
            </a:r>
            <a:endParaRPr lang="en-US" altLang="ja-JP" sz="2400" dirty="0"/>
          </a:p>
          <a:p>
            <a:pPr lvl="2">
              <a:lnSpc>
                <a:spcPct val="100000"/>
              </a:lnSpc>
            </a:pPr>
            <a:r>
              <a:rPr lang="ja-JP" altLang="en-US" sz="2400" dirty="0"/>
              <a:t>マイクロゲージにより部品の寸法特性を測定する</a:t>
            </a:r>
            <a:endParaRPr lang="en-US" altLang="ja-JP" sz="2400" dirty="0"/>
          </a:p>
          <a:p>
            <a:pPr marL="971550" lvl="1" indent="-514350">
              <a:lnSpc>
                <a:spcPct val="100000"/>
              </a:lnSpc>
              <a:buFont typeface="+mj-ea"/>
              <a:buAutoNum type="circleNumDbPlain" startAt="4"/>
            </a:pPr>
            <a:r>
              <a:rPr lang="ja-JP" altLang="en-US" dirty="0"/>
              <a:t>要求事項</a:t>
            </a:r>
            <a:endParaRPr lang="en-US" altLang="ja-JP" dirty="0"/>
          </a:p>
          <a:p>
            <a:pPr marL="914400" lvl="2" indent="0">
              <a:lnSpc>
                <a:spcPct val="100000"/>
              </a:lnSpc>
              <a:buNone/>
            </a:pPr>
            <a:r>
              <a:rPr lang="ja-JP" altLang="en-US" sz="2400" dirty="0"/>
              <a:t>要求事項が明確な場合は、機能の後に明記する。</a:t>
            </a:r>
            <a:endParaRPr lang="en-US" altLang="ja-JP" sz="2400" dirty="0"/>
          </a:p>
          <a:p>
            <a:pPr lvl="2">
              <a:lnSpc>
                <a:spcPct val="100000"/>
              </a:lnSpc>
            </a:pPr>
            <a:r>
              <a:rPr lang="ja-JP" altLang="en-US" sz="2400" dirty="0"/>
              <a:t>製品特性</a:t>
            </a:r>
            <a:endParaRPr lang="en-US" altLang="ja-JP" sz="2400" dirty="0"/>
          </a:p>
          <a:p>
            <a:pPr lvl="2">
              <a:lnSpc>
                <a:spcPct val="100000"/>
              </a:lnSpc>
            </a:pPr>
            <a:r>
              <a:rPr lang="ja-JP" altLang="en-US" sz="2400" dirty="0"/>
              <a:t>法的要求事項（主に作業者の安全衛生面）</a:t>
            </a:r>
            <a:endParaRPr lang="en-US" altLang="ja-JP" sz="2400" dirty="0"/>
          </a:p>
          <a:p>
            <a:pPr lvl="2">
              <a:lnSpc>
                <a:spcPct val="100000"/>
              </a:lnSpc>
            </a:pPr>
            <a:r>
              <a:rPr lang="ja-JP" altLang="en-US" sz="2400" dirty="0"/>
              <a:t>顧客要求事項（顧客仕様。例えば、供給能力など）</a:t>
            </a:r>
            <a:endParaRPr lang="en-US" altLang="ja-JP" sz="2400" dirty="0"/>
          </a:p>
          <a:p>
            <a:pPr lvl="2">
              <a:lnSpc>
                <a:spcPct val="100000"/>
              </a:lnSpc>
            </a:pPr>
            <a:r>
              <a:rPr lang="ja-JP" altLang="en-US" sz="2400" dirty="0"/>
              <a:t>内部要求事項（サイクルタイム、製造コストなど）</a:t>
            </a:r>
            <a:endParaRPr lang="en-US" altLang="ja-JP" sz="2400" dirty="0"/>
          </a:p>
          <a:p>
            <a:pPr lvl="2">
              <a:lnSpc>
                <a:spcPct val="100000"/>
              </a:lnSpc>
            </a:pPr>
            <a:endParaRPr lang="en-US" altLang="ja-JP"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479</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1586281934"/>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2">
            <a:extLst>
              <a:ext uri="{FF2B5EF4-FFF2-40B4-BE49-F238E27FC236}">
                <a16:creationId xmlns:a16="http://schemas.microsoft.com/office/drawing/2014/main" id="{ED407687-D35B-47C0-8902-50EB289DCCE2}"/>
              </a:ext>
            </a:extLst>
          </p:cNvPr>
          <p:cNvGraphicFramePr>
            <a:graphicFrameLocks noGrp="1"/>
          </p:cNvGraphicFramePr>
          <p:nvPr/>
        </p:nvGraphicFramePr>
        <p:xfrm>
          <a:off x="838200" y="2080380"/>
          <a:ext cx="10515600" cy="4275970"/>
        </p:xfrm>
        <a:graphic>
          <a:graphicData uri="http://schemas.openxmlformats.org/drawingml/2006/table">
            <a:tbl>
              <a:tblPr firstRow="1" bandRow="1">
                <a:tableStyleId>{5940675A-B579-460E-94D1-54222C63F5DA}</a:tableStyleId>
              </a:tblPr>
              <a:tblGrid>
                <a:gridCol w="2601686">
                  <a:extLst>
                    <a:ext uri="{9D8B030D-6E8A-4147-A177-3AD203B41FA5}">
                      <a16:colId xmlns:a16="http://schemas.microsoft.com/office/drawing/2014/main" val="2127139492"/>
                    </a:ext>
                  </a:extLst>
                </a:gridCol>
                <a:gridCol w="3918857">
                  <a:extLst>
                    <a:ext uri="{9D8B030D-6E8A-4147-A177-3AD203B41FA5}">
                      <a16:colId xmlns:a16="http://schemas.microsoft.com/office/drawing/2014/main" val="2633171320"/>
                    </a:ext>
                  </a:extLst>
                </a:gridCol>
                <a:gridCol w="3995057">
                  <a:extLst>
                    <a:ext uri="{9D8B030D-6E8A-4147-A177-3AD203B41FA5}">
                      <a16:colId xmlns:a16="http://schemas.microsoft.com/office/drawing/2014/main" val="2391458437"/>
                    </a:ext>
                  </a:extLst>
                </a:gridCol>
              </a:tblGrid>
              <a:tr h="409672">
                <a:tc>
                  <a:txBody>
                    <a:bodyPr/>
                    <a:lstStyle/>
                    <a:p>
                      <a:pPr algn="ctr"/>
                      <a:r>
                        <a:rPr kumimoji="1" lang="ja-JP" altLang="en-US" dirty="0">
                          <a:solidFill>
                            <a:schemeClr val="bg1"/>
                          </a:solidFill>
                        </a:rPr>
                        <a:t>プロセスアイテム機能</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dirty="0">
                          <a:solidFill>
                            <a:schemeClr val="bg1"/>
                          </a:solidFill>
                        </a:rPr>
                        <a:t>プロセスステップ機能</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kumimoji="1" lang="ja-JP" altLang="en-US" dirty="0">
                          <a:solidFill>
                            <a:schemeClr val="bg1"/>
                          </a:solidFill>
                        </a:rPr>
                        <a:t>プロセス作業要素機能</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866826518"/>
                  </a:ext>
                </a:extLst>
              </a:tr>
              <a:tr h="3866298">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090180"/>
                  </a:ext>
                </a:extLst>
              </a:tr>
            </a:tbl>
          </a:graphicData>
        </a:graphic>
      </p:graphicFrame>
      <p:sp>
        <p:nvSpPr>
          <p:cNvPr id="11" name="四角形: 角を丸くする 10">
            <a:extLst>
              <a:ext uri="{FF2B5EF4-FFF2-40B4-BE49-F238E27FC236}">
                <a16:creationId xmlns:a16="http://schemas.microsoft.com/office/drawing/2014/main" id="{2D0AAEF5-F6F4-4A81-8A4A-9053716BCD58}"/>
              </a:ext>
            </a:extLst>
          </p:cNvPr>
          <p:cNvSpPr/>
          <p:nvPr/>
        </p:nvSpPr>
        <p:spPr>
          <a:xfrm>
            <a:off x="3690259" y="4782118"/>
            <a:ext cx="3472541" cy="1172216"/>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rPr>
              <a:t>P4</a:t>
            </a:r>
            <a:r>
              <a:rPr lang="ja-JP" altLang="en-US" sz="1400" dirty="0">
                <a:solidFill>
                  <a:schemeClr val="tx1"/>
                </a:solidFill>
              </a:rPr>
              <a:t>：ギヤカバー組立</a:t>
            </a:r>
            <a:endParaRPr lang="en-US" altLang="ja-JP" sz="1400" dirty="0">
              <a:solidFill>
                <a:schemeClr val="tx1"/>
              </a:solidFill>
            </a:endParaRPr>
          </a:p>
          <a:p>
            <a:r>
              <a:rPr kumimoji="1" lang="ja-JP" altLang="en-US" sz="1600" dirty="0">
                <a:solidFill>
                  <a:schemeClr val="tx1"/>
                </a:solidFill>
              </a:rPr>
              <a:t>＊＊＊＊＊＊＊＊＊＊＊＊＊＊＊</a:t>
            </a:r>
            <a:endParaRPr kumimoji="1" lang="en-US" altLang="ja-JP" sz="1600" dirty="0">
              <a:solidFill>
                <a:schemeClr val="tx1"/>
              </a:solidFill>
            </a:endParaRPr>
          </a:p>
        </p:txBody>
      </p:sp>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5"/>
            </a:pPr>
            <a:r>
              <a:rPr lang="ja-JP" altLang="en-US" dirty="0"/>
              <a:t>機能分析ツリー構造の例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480</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
        <p:nvSpPr>
          <p:cNvPr id="6" name="四角形: 角を丸くする 5">
            <a:extLst>
              <a:ext uri="{FF2B5EF4-FFF2-40B4-BE49-F238E27FC236}">
                <a16:creationId xmlns:a16="http://schemas.microsoft.com/office/drawing/2014/main" id="{A2541788-0CD7-4E8F-8B99-4154354C9DBF}"/>
              </a:ext>
            </a:extLst>
          </p:cNvPr>
          <p:cNvSpPr/>
          <p:nvPr/>
        </p:nvSpPr>
        <p:spPr>
          <a:xfrm>
            <a:off x="936171" y="3375176"/>
            <a:ext cx="2144486" cy="1703537"/>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（電気モーター</a:t>
            </a:r>
            <a:endParaRPr kumimoji="1" lang="en-US" altLang="ja-JP" sz="1400" dirty="0">
              <a:solidFill>
                <a:schemeClr val="tx1"/>
              </a:solidFill>
            </a:endParaRPr>
          </a:p>
          <a:p>
            <a:pPr algn="ctr"/>
            <a:r>
              <a:rPr kumimoji="1" lang="ja-JP" altLang="en-US" sz="1400" dirty="0">
                <a:solidFill>
                  <a:schemeClr val="tx1"/>
                </a:solidFill>
              </a:rPr>
              <a:t>組立ライン）</a:t>
            </a:r>
            <a:endParaRPr kumimoji="1" lang="en-US" altLang="ja-JP" sz="1400" dirty="0">
              <a:solidFill>
                <a:schemeClr val="tx1"/>
              </a:solidFill>
            </a:endParaRPr>
          </a:p>
          <a:p>
            <a:pPr algn="ctr"/>
            <a:r>
              <a:rPr lang="ja-JP" altLang="en-US" dirty="0">
                <a:solidFill>
                  <a:schemeClr val="tx1"/>
                </a:solidFill>
              </a:rPr>
              <a:t>シャフトをポールベアリングに組み付ける</a:t>
            </a:r>
            <a:endParaRPr kumimoji="1" lang="ja-JP" altLang="en-US" dirty="0">
              <a:solidFill>
                <a:schemeClr val="tx1"/>
              </a:solidFill>
            </a:endParaRPr>
          </a:p>
        </p:txBody>
      </p:sp>
      <p:sp>
        <p:nvSpPr>
          <p:cNvPr id="9" name="四角形: 角を丸くする 8">
            <a:extLst>
              <a:ext uri="{FF2B5EF4-FFF2-40B4-BE49-F238E27FC236}">
                <a16:creationId xmlns:a16="http://schemas.microsoft.com/office/drawing/2014/main" id="{6ECF42D9-1032-47A6-BBF4-C2D5AF1CE67B}"/>
              </a:ext>
            </a:extLst>
          </p:cNvPr>
          <p:cNvSpPr/>
          <p:nvPr/>
        </p:nvSpPr>
        <p:spPr>
          <a:xfrm>
            <a:off x="3690259" y="2601685"/>
            <a:ext cx="3472541" cy="156584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rPr>
              <a:t>P3</a:t>
            </a:r>
            <a:r>
              <a:rPr lang="ja-JP" altLang="en-US" sz="1400" dirty="0">
                <a:solidFill>
                  <a:schemeClr val="tx1"/>
                </a:solidFill>
              </a:rPr>
              <a:t>：ベアリング圧入</a:t>
            </a:r>
            <a:endParaRPr lang="en-US" altLang="ja-JP" sz="1400" dirty="0">
              <a:solidFill>
                <a:schemeClr val="tx1"/>
              </a:solidFill>
            </a:endParaRPr>
          </a:p>
          <a:p>
            <a:r>
              <a:rPr kumimoji="1" lang="ja-JP" altLang="en-US" sz="1600" dirty="0">
                <a:solidFill>
                  <a:schemeClr val="tx1"/>
                </a:solidFill>
              </a:rPr>
              <a:t>ベアリングをポールハウジングの軸方向に図面の最大ギャップまで圧入する</a:t>
            </a:r>
            <a:endParaRPr kumimoji="1" lang="en-US" altLang="ja-JP" sz="1600" dirty="0">
              <a:solidFill>
                <a:schemeClr val="tx1"/>
              </a:solidFill>
            </a:endParaRPr>
          </a:p>
        </p:txBody>
      </p:sp>
      <p:sp>
        <p:nvSpPr>
          <p:cNvPr id="14" name="四角形: 角を丸くする 13">
            <a:extLst>
              <a:ext uri="{FF2B5EF4-FFF2-40B4-BE49-F238E27FC236}">
                <a16:creationId xmlns:a16="http://schemas.microsoft.com/office/drawing/2014/main" id="{380D4549-68B8-408F-AF58-69571AA4CE4B}"/>
              </a:ext>
            </a:extLst>
          </p:cNvPr>
          <p:cNvSpPr/>
          <p:nvPr/>
        </p:nvSpPr>
        <p:spPr>
          <a:xfrm>
            <a:off x="7522030" y="2601686"/>
            <a:ext cx="3701142" cy="95785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作業者：ローディング完了後、圧入を開始するために機械の始動</a:t>
            </a:r>
            <a:r>
              <a:rPr kumimoji="1" lang="en-US" altLang="ja-JP" sz="1600" dirty="0">
                <a:solidFill>
                  <a:schemeClr val="tx1"/>
                </a:solidFill>
              </a:rPr>
              <a:t>SW</a:t>
            </a:r>
            <a:r>
              <a:rPr kumimoji="1" lang="ja-JP" altLang="en-US" sz="1600" dirty="0">
                <a:solidFill>
                  <a:schemeClr val="tx1"/>
                </a:solidFill>
              </a:rPr>
              <a:t>を押す</a:t>
            </a:r>
            <a:endParaRPr kumimoji="1" lang="en-US" altLang="ja-JP" sz="1600" dirty="0">
              <a:solidFill>
                <a:schemeClr val="tx1"/>
              </a:solidFill>
            </a:endParaRPr>
          </a:p>
        </p:txBody>
      </p:sp>
      <p:sp>
        <p:nvSpPr>
          <p:cNvPr id="15" name="四角形: 角を丸くする 14">
            <a:extLst>
              <a:ext uri="{FF2B5EF4-FFF2-40B4-BE49-F238E27FC236}">
                <a16:creationId xmlns:a16="http://schemas.microsoft.com/office/drawing/2014/main" id="{933DF29C-6065-458A-9D98-FDA7FE82A7E4}"/>
              </a:ext>
            </a:extLst>
          </p:cNvPr>
          <p:cNvSpPr/>
          <p:nvPr/>
        </p:nvSpPr>
        <p:spPr>
          <a:xfrm>
            <a:off x="7522030" y="3618961"/>
            <a:ext cx="3701142" cy="89745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作業者：ベアリングをシューターから取出し、機械上部ストッパーまで押込む</a:t>
            </a:r>
            <a:endParaRPr kumimoji="1" lang="en-US" altLang="ja-JP" sz="1600" dirty="0">
              <a:solidFill>
                <a:schemeClr val="tx1"/>
              </a:solidFill>
            </a:endParaRPr>
          </a:p>
        </p:txBody>
      </p:sp>
      <p:sp>
        <p:nvSpPr>
          <p:cNvPr id="16" name="四角形: 角を丸くする 15">
            <a:extLst>
              <a:ext uri="{FF2B5EF4-FFF2-40B4-BE49-F238E27FC236}">
                <a16:creationId xmlns:a16="http://schemas.microsoft.com/office/drawing/2014/main" id="{2321143E-C66C-48C7-999B-1A98CCD4218B}"/>
              </a:ext>
            </a:extLst>
          </p:cNvPr>
          <p:cNvSpPr/>
          <p:nvPr/>
        </p:nvSpPr>
        <p:spPr>
          <a:xfrm>
            <a:off x="7522030" y="4590451"/>
            <a:ext cx="3701142" cy="1062935"/>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プレス機：機械がベアリングをポールハウジングのベアリングシートに規定された軸方向</a:t>
            </a:r>
            <a:r>
              <a:rPr lang="ja-JP" altLang="en-US" sz="1600" dirty="0">
                <a:solidFill>
                  <a:schemeClr val="tx1"/>
                </a:solidFill>
              </a:rPr>
              <a:t>位置まで圧入する</a:t>
            </a:r>
            <a:endParaRPr kumimoji="1" lang="en-US" altLang="ja-JP" sz="1600" dirty="0">
              <a:solidFill>
                <a:schemeClr val="tx1"/>
              </a:solidFill>
            </a:endParaRPr>
          </a:p>
        </p:txBody>
      </p:sp>
      <p:sp>
        <p:nvSpPr>
          <p:cNvPr id="17" name="四角形: 角を丸くする 16">
            <a:extLst>
              <a:ext uri="{FF2B5EF4-FFF2-40B4-BE49-F238E27FC236}">
                <a16:creationId xmlns:a16="http://schemas.microsoft.com/office/drawing/2014/main" id="{B0BDA534-200A-4EF2-9EEB-E6DC8A1932DD}"/>
              </a:ext>
            </a:extLst>
          </p:cNvPr>
          <p:cNvSpPr/>
          <p:nvPr/>
        </p:nvSpPr>
        <p:spPr>
          <a:xfrm>
            <a:off x="7522029" y="5821989"/>
            <a:ext cx="3701142" cy="389419"/>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dirty="0">
                <a:solidFill>
                  <a:schemeClr val="tx1"/>
                </a:solidFill>
              </a:rPr>
              <a:t>＊＊＊＊＊＊＊＊</a:t>
            </a:r>
            <a:endParaRPr kumimoji="1" lang="en-US" altLang="ja-JP" sz="1600" dirty="0">
              <a:solidFill>
                <a:schemeClr val="tx1"/>
              </a:solidFill>
            </a:endParaRPr>
          </a:p>
        </p:txBody>
      </p:sp>
      <p:cxnSp>
        <p:nvCxnSpPr>
          <p:cNvPr id="18" name="直線コネクタ 17">
            <a:extLst>
              <a:ext uri="{FF2B5EF4-FFF2-40B4-BE49-F238E27FC236}">
                <a16:creationId xmlns:a16="http://schemas.microsoft.com/office/drawing/2014/main" id="{C28CE139-A932-486B-A765-0A179A11F9E9}"/>
              </a:ext>
            </a:extLst>
          </p:cNvPr>
          <p:cNvCxnSpPr>
            <a:cxnSpLocks/>
            <a:stCxn id="9" idx="3"/>
            <a:endCxn id="14" idx="1"/>
          </p:cNvCxnSpPr>
          <p:nvPr/>
        </p:nvCxnSpPr>
        <p:spPr>
          <a:xfrm flipV="1">
            <a:off x="7162800" y="3080615"/>
            <a:ext cx="359230" cy="3039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87A534AF-77BF-400B-B104-714DAD22032C}"/>
              </a:ext>
            </a:extLst>
          </p:cNvPr>
          <p:cNvCxnSpPr>
            <a:cxnSpLocks/>
            <a:stCxn id="9" idx="3"/>
            <a:endCxn id="15" idx="1"/>
          </p:cNvCxnSpPr>
          <p:nvPr/>
        </p:nvCxnSpPr>
        <p:spPr>
          <a:xfrm>
            <a:off x="7162800" y="3384607"/>
            <a:ext cx="359230" cy="6830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62A08414-41C1-4095-9B2F-A3A12EEA7659}"/>
              </a:ext>
            </a:extLst>
          </p:cNvPr>
          <p:cNvCxnSpPr>
            <a:cxnSpLocks/>
            <a:stCxn id="9" idx="3"/>
            <a:endCxn id="16" idx="1"/>
          </p:cNvCxnSpPr>
          <p:nvPr/>
        </p:nvCxnSpPr>
        <p:spPr>
          <a:xfrm>
            <a:off x="7162800" y="3384607"/>
            <a:ext cx="359230" cy="17373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D47E7BCC-179B-4FCD-A118-AAE317A56290}"/>
              </a:ext>
            </a:extLst>
          </p:cNvPr>
          <p:cNvCxnSpPr>
            <a:cxnSpLocks/>
            <a:stCxn id="9" idx="3"/>
            <a:endCxn id="17" idx="1"/>
          </p:cNvCxnSpPr>
          <p:nvPr/>
        </p:nvCxnSpPr>
        <p:spPr>
          <a:xfrm>
            <a:off x="7162800" y="3384607"/>
            <a:ext cx="359229" cy="26320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D6618488-3882-42BF-AFFC-0BC3AC7E61FC}"/>
              </a:ext>
            </a:extLst>
          </p:cNvPr>
          <p:cNvCxnSpPr>
            <a:cxnSpLocks/>
            <a:stCxn id="6" idx="3"/>
            <a:endCxn id="9" idx="1"/>
          </p:cNvCxnSpPr>
          <p:nvPr/>
        </p:nvCxnSpPr>
        <p:spPr>
          <a:xfrm flipV="1">
            <a:off x="3080657" y="3384607"/>
            <a:ext cx="609602" cy="842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DAF9C57B-49B6-4AA3-BC39-775F38E2C0EB}"/>
              </a:ext>
            </a:extLst>
          </p:cNvPr>
          <p:cNvCxnSpPr>
            <a:cxnSpLocks/>
            <a:stCxn id="6" idx="3"/>
            <a:endCxn id="11" idx="1"/>
          </p:cNvCxnSpPr>
          <p:nvPr/>
        </p:nvCxnSpPr>
        <p:spPr>
          <a:xfrm>
            <a:off x="3080657" y="4226945"/>
            <a:ext cx="609602" cy="11412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矢印: 下 47">
            <a:extLst>
              <a:ext uri="{FF2B5EF4-FFF2-40B4-BE49-F238E27FC236}">
                <a16:creationId xmlns:a16="http://schemas.microsoft.com/office/drawing/2014/main" id="{13E9D0DA-21B2-477C-B8B7-230F81957C53}"/>
              </a:ext>
            </a:extLst>
          </p:cNvPr>
          <p:cNvSpPr/>
          <p:nvPr/>
        </p:nvSpPr>
        <p:spPr>
          <a:xfrm rot="2740538">
            <a:off x="6987072" y="818482"/>
            <a:ext cx="601825" cy="2628745"/>
          </a:xfrm>
          <a:prstGeom prst="downArrow">
            <a:avLst>
              <a:gd name="adj1" fmla="val 80132"/>
              <a:gd name="adj2" fmla="val 4253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600" dirty="0">
                <a:solidFill>
                  <a:schemeClr val="tx1"/>
                </a:solidFill>
              </a:rPr>
              <a:t>プロセスステップから</a:t>
            </a:r>
          </a:p>
        </p:txBody>
      </p:sp>
    </p:spTree>
    <p:extLst>
      <p:ext uri="{BB962C8B-B14F-4D97-AF65-F5344CB8AC3E}">
        <p14:creationId xmlns:p14="http://schemas.microsoft.com/office/powerpoint/2010/main" val="2841261670"/>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481</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2">
            <a:extLst>
              <a:ext uri="{FF2B5EF4-FFF2-40B4-BE49-F238E27FC236}">
                <a16:creationId xmlns:a16="http://schemas.microsoft.com/office/drawing/2014/main" id="{930E2329-6021-448F-B0CC-49F56406C6D7}"/>
              </a:ext>
            </a:extLst>
          </p:cNvPr>
          <p:cNvGraphicFramePr>
            <a:graphicFrameLocks noGrp="1"/>
          </p:cNvGraphicFramePr>
          <p:nvPr/>
        </p:nvGraphicFramePr>
        <p:xfrm>
          <a:off x="838200" y="1575410"/>
          <a:ext cx="10515600" cy="4780937"/>
        </p:xfrm>
        <a:graphic>
          <a:graphicData uri="http://schemas.openxmlformats.org/drawingml/2006/table">
            <a:tbl>
              <a:tblPr firstRow="1" bandRow="1">
                <a:tableStyleId>{5940675A-B579-460E-94D1-54222C63F5DA}</a:tableStyleId>
              </a:tblPr>
              <a:tblGrid>
                <a:gridCol w="3287486">
                  <a:extLst>
                    <a:ext uri="{9D8B030D-6E8A-4147-A177-3AD203B41FA5}">
                      <a16:colId xmlns:a16="http://schemas.microsoft.com/office/drawing/2014/main" val="3630988874"/>
                    </a:ext>
                  </a:extLst>
                </a:gridCol>
                <a:gridCol w="3287485">
                  <a:extLst>
                    <a:ext uri="{9D8B030D-6E8A-4147-A177-3AD203B41FA5}">
                      <a16:colId xmlns:a16="http://schemas.microsoft.com/office/drawing/2014/main" val="465471704"/>
                    </a:ext>
                  </a:extLst>
                </a:gridCol>
                <a:gridCol w="3940629">
                  <a:extLst>
                    <a:ext uri="{9D8B030D-6E8A-4147-A177-3AD203B41FA5}">
                      <a16:colId xmlns:a16="http://schemas.microsoft.com/office/drawing/2014/main" val="989200193"/>
                    </a:ext>
                  </a:extLst>
                </a:gridCol>
              </a:tblGrid>
              <a:tr h="535780">
                <a:tc gridSpan="3">
                  <a:txBody>
                    <a:bodyPr/>
                    <a:lstStyle/>
                    <a:p>
                      <a:pPr algn="ctr"/>
                      <a:r>
                        <a:rPr kumimoji="1" lang="ja-JP" altLang="en-US" sz="2000" b="1" dirty="0"/>
                        <a:t>ステップ３　機能分析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067057"/>
                  </a:ext>
                </a:extLst>
              </a:tr>
              <a:tr h="499408">
                <a:tc>
                  <a:txBody>
                    <a:bodyPr/>
                    <a:lstStyle/>
                    <a:p>
                      <a:pPr algn="ctr"/>
                      <a:r>
                        <a:rPr kumimoji="1" lang="ja-JP" altLang="en-US" sz="2000" dirty="0"/>
                        <a:t>プロセスアイテム機能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プロセスステップ機能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プロセス作業要素機能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91262988"/>
                  </a:ext>
                </a:extLst>
              </a:tr>
              <a:tr h="1134034">
                <a:tc rowSpan="3">
                  <a:txBody>
                    <a:bodyPr/>
                    <a:lstStyle/>
                    <a:p>
                      <a:r>
                        <a:rPr kumimoji="1" lang="ja-JP" altLang="en-US" sz="2000" b="1" dirty="0"/>
                        <a:t>後工程</a:t>
                      </a:r>
                      <a:r>
                        <a:rPr kumimoji="1" lang="ja-JP" altLang="en-US" sz="2000" dirty="0"/>
                        <a:t>：シャフトをポールハウジングアッセンブリに組付ける。</a:t>
                      </a:r>
                      <a:endParaRPr kumimoji="1" lang="en-US" altLang="ja-JP" sz="2000" dirty="0"/>
                    </a:p>
                    <a:p>
                      <a:r>
                        <a:rPr kumimoji="1" lang="ja-JP" altLang="en-US" sz="2000" b="1" dirty="0"/>
                        <a:t>顧客</a:t>
                      </a:r>
                      <a:r>
                        <a:rPr kumimoji="1" lang="ja-JP" altLang="en-US" sz="2000" dirty="0"/>
                        <a:t>：自動ドアへの電気モーターの組込み</a:t>
                      </a:r>
                      <a:endParaRPr kumimoji="1" lang="en-US" altLang="ja-JP" sz="2000" dirty="0"/>
                    </a:p>
                    <a:p>
                      <a:r>
                        <a:rPr kumimoji="1" lang="ja-JP" altLang="en-US" sz="2000" b="1" dirty="0"/>
                        <a:t>ユーザー</a:t>
                      </a:r>
                      <a:r>
                        <a:rPr kumimoji="1" lang="ja-JP" altLang="en-US" sz="2000" dirty="0"/>
                        <a:t>：ウィンドウが昇降する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3">
                  <a:txBody>
                    <a:bodyPr/>
                    <a:lstStyle/>
                    <a:p>
                      <a:r>
                        <a:rPr kumimoji="1" lang="ja-JP" altLang="en-US" sz="2000" dirty="0">
                          <a:solidFill>
                            <a:schemeClr val="tx1"/>
                          </a:solidFill>
                        </a:rPr>
                        <a:t>ベアリングをポールハウジングの軸方向に図面の最大ギャップまで圧入する</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kumimoji="1" lang="ja-JP" altLang="en-US" sz="2000" dirty="0">
                          <a:solidFill>
                            <a:schemeClr val="tx1"/>
                          </a:solidFill>
                        </a:rPr>
                        <a:t>作業者が、ローディング完了後、圧入を開始するために機械の始動</a:t>
                      </a:r>
                      <a:r>
                        <a:rPr kumimoji="1" lang="en-US" altLang="ja-JP" sz="2000" dirty="0">
                          <a:solidFill>
                            <a:schemeClr val="tx1"/>
                          </a:solidFill>
                        </a:rPr>
                        <a:t>SW</a:t>
                      </a:r>
                      <a:r>
                        <a:rPr kumimoji="1" lang="ja-JP" altLang="en-US" sz="2000" dirty="0">
                          <a:solidFill>
                            <a:schemeClr val="tx1"/>
                          </a:solidFill>
                        </a:rPr>
                        <a:t>を押す</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90248592"/>
                  </a:ext>
                </a:extLst>
              </a:tr>
              <a:tr h="1134034">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chemeClr val="tx1"/>
                          </a:solidFill>
                        </a:rPr>
                        <a:t>作業者が、ベアリングをシューターから取出し、機械上部ストッパーまで押込む</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03774080"/>
                  </a:ext>
                </a:extLst>
              </a:tr>
              <a:tr h="1477681">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chemeClr val="tx1"/>
                          </a:solidFill>
                        </a:rPr>
                        <a:t>プレス機が、機械がベアリングをポールハウジングのベアリングシートに規定された軸方向</a:t>
                      </a:r>
                      <a:r>
                        <a:rPr lang="ja-JP" altLang="en-US" sz="2000" dirty="0">
                          <a:solidFill>
                            <a:schemeClr val="tx1"/>
                          </a:solidFill>
                        </a:rPr>
                        <a:t>位置まで圧入する</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8150482"/>
                  </a:ext>
                </a:extLst>
              </a:tr>
            </a:tbl>
          </a:graphicData>
        </a:graphic>
      </p:graphicFrame>
    </p:spTree>
    <p:extLst>
      <p:ext uri="{BB962C8B-B14F-4D97-AF65-F5344CB8AC3E}">
        <p14:creationId xmlns:p14="http://schemas.microsoft.com/office/powerpoint/2010/main" val="4031921548"/>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ステップ４：故障分析</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lvl="2">
              <a:lnSpc>
                <a:spcPct val="100000"/>
              </a:lnSpc>
            </a:pPr>
            <a:r>
              <a:rPr lang="ja-JP" altLang="en-US" sz="2400" dirty="0"/>
              <a:t>故障チェーンの特定</a:t>
            </a:r>
            <a:endParaRPr lang="en-US" altLang="ja-JP" sz="2400" dirty="0"/>
          </a:p>
          <a:p>
            <a:pPr lvl="2">
              <a:lnSpc>
                <a:spcPct val="100000"/>
              </a:lnSpc>
            </a:pPr>
            <a:endParaRPr lang="en-US" altLang="ja-JP" sz="2400" dirty="0"/>
          </a:p>
          <a:p>
            <a:pPr lvl="2">
              <a:lnSpc>
                <a:spcPct val="100000"/>
              </a:lnSpc>
            </a:pPr>
            <a:endParaRPr lang="en-US" altLang="ja-JP" sz="2400" dirty="0"/>
          </a:p>
          <a:p>
            <a:pPr lvl="2">
              <a:lnSpc>
                <a:spcPct val="100000"/>
              </a:lnSpc>
            </a:pPr>
            <a:endParaRPr lang="en-US" altLang="ja-JP" sz="2400" dirty="0"/>
          </a:p>
          <a:p>
            <a:pPr lvl="2">
              <a:lnSpc>
                <a:spcPct val="100000"/>
              </a:lnSpc>
            </a:pPr>
            <a:r>
              <a:rPr lang="ja-JP" altLang="en-US" sz="2400" dirty="0"/>
              <a:t>特性要因図などを活用した故障原因の特定</a:t>
            </a:r>
            <a:endParaRPr lang="en-US" altLang="ja-JP" sz="2400" dirty="0"/>
          </a:p>
          <a:p>
            <a:pPr marL="971550" lvl="1" indent="-514350">
              <a:lnSpc>
                <a:spcPct val="100000"/>
              </a:lnSpc>
              <a:buFont typeface="+mj-ea"/>
              <a:buAutoNum type="circleNumDbPlain"/>
            </a:pPr>
            <a:r>
              <a:rPr lang="ja-JP" altLang="en-US" dirty="0"/>
              <a:t>故障影響</a:t>
            </a:r>
            <a:endParaRPr lang="en-US" altLang="ja-JP" dirty="0"/>
          </a:p>
          <a:p>
            <a:pPr lvl="2">
              <a:lnSpc>
                <a:spcPct val="100000"/>
              </a:lnSpc>
            </a:pPr>
            <a:r>
              <a:rPr lang="ja-JP" altLang="en-US" sz="2400" dirty="0"/>
              <a:t>顧客が気付く又は経験するであろう観点（表現）で記述する</a:t>
            </a:r>
            <a:endParaRPr lang="en-US" altLang="ja-JP" sz="2400" dirty="0"/>
          </a:p>
          <a:p>
            <a:pPr lvl="2">
              <a:lnSpc>
                <a:spcPct val="100000"/>
              </a:lnSpc>
            </a:pPr>
            <a:r>
              <a:rPr lang="ja-JP" altLang="en-US" sz="2400" dirty="0"/>
              <a:t>顧客（内部／外部／行政機関／ユーザー）</a:t>
            </a:r>
            <a:endParaRPr lang="en-US" altLang="ja-JP" sz="2400" dirty="0"/>
          </a:p>
          <a:p>
            <a:pPr lvl="2">
              <a:lnSpc>
                <a:spcPct val="100000"/>
              </a:lnSpc>
            </a:pPr>
            <a:r>
              <a:rPr lang="ja-JP" altLang="en-US" sz="2400" dirty="0"/>
              <a:t>ユーザーなどへの影響は把握可能な範囲で判断</a:t>
            </a:r>
            <a:endParaRPr lang="en-US" altLang="ja-JP"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482</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
        <p:nvSpPr>
          <p:cNvPr id="2" name="楕円 1">
            <a:extLst>
              <a:ext uri="{FF2B5EF4-FFF2-40B4-BE49-F238E27FC236}">
                <a16:creationId xmlns:a16="http://schemas.microsoft.com/office/drawing/2014/main" id="{FBDD271D-B716-427B-B132-6B25AADB19CD}"/>
              </a:ext>
            </a:extLst>
          </p:cNvPr>
          <p:cNvSpPr/>
          <p:nvPr/>
        </p:nvSpPr>
        <p:spPr>
          <a:xfrm>
            <a:off x="4626429" y="2993571"/>
            <a:ext cx="2743200" cy="10776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rPr>
              <a:t>故障モード</a:t>
            </a:r>
          </a:p>
        </p:txBody>
      </p:sp>
      <p:sp>
        <p:nvSpPr>
          <p:cNvPr id="8" name="楕円 7">
            <a:extLst>
              <a:ext uri="{FF2B5EF4-FFF2-40B4-BE49-F238E27FC236}">
                <a16:creationId xmlns:a16="http://schemas.microsoft.com/office/drawing/2014/main" id="{BF2AB918-8D79-4197-95B8-944D00854B46}"/>
              </a:ext>
            </a:extLst>
          </p:cNvPr>
          <p:cNvSpPr/>
          <p:nvPr/>
        </p:nvSpPr>
        <p:spPr>
          <a:xfrm>
            <a:off x="1654629" y="2993571"/>
            <a:ext cx="2743200" cy="10776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rPr>
              <a:t>故障影響</a:t>
            </a:r>
          </a:p>
        </p:txBody>
      </p:sp>
      <p:sp>
        <p:nvSpPr>
          <p:cNvPr id="9" name="楕円 8">
            <a:extLst>
              <a:ext uri="{FF2B5EF4-FFF2-40B4-BE49-F238E27FC236}">
                <a16:creationId xmlns:a16="http://schemas.microsoft.com/office/drawing/2014/main" id="{016289FD-4BA4-4B60-A851-1F88D7199FAC}"/>
              </a:ext>
            </a:extLst>
          </p:cNvPr>
          <p:cNvSpPr/>
          <p:nvPr/>
        </p:nvSpPr>
        <p:spPr>
          <a:xfrm>
            <a:off x="7598229" y="2993571"/>
            <a:ext cx="2743200" cy="10776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rPr>
              <a:t>故障原因</a:t>
            </a:r>
          </a:p>
        </p:txBody>
      </p:sp>
      <p:sp>
        <p:nvSpPr>
          <p:cNvPr id="3" name="正方形/長方形 2">
            <a:extLst>
              <a:ext uri="{FF2B5EF4-FFF2-40B4-BE49-F238E27FC236}">
                <a16:creationId xmlns:a16="http://schemas.microsoft.com/office/drawing/2014/main" id="{5E1014B3-EB6F-4FC8-B09D-E18DCA012AA4}"/>
              </a:ext>
            </a:extLst>
          </p:cNvPr>
          <p:cNvSpPr/>
          <p:nvPr/>
        </p:nvSpPr>
        <p:spPr>
          <a:xfrm>
            <a:off x="1654629" y="2884714"/>
            <a:ext cx="1469571" cy="4680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FF0000"/>
                </a:solidFill>
              </a:rPr>
              <a:t>どうなる？</a:t>
            </a:r>
          </a:p>
        </p:txBody>
      </p:sp>
      <p:sp>
        <p:nvSpPr>
          <p:cNvPr id="11" name="正方形/長方形 10">
            <a:extLst>
              <a:ext uri="{FF2B5EF4-FFF2-40B4-BE49-F238E27FC236}">
                <a16:creationId xmlns:a16="http://schemas.microsoft.com/office/drawing/2014/main" id="{A06F5AD3-6D2B-4178-BAB4-2B03FD745C31}"/>
              </a:ext>
            </a:extLst>
          </p:cNvPr>
          <p:cNvSpPr/>
          <p:nvPr/>
        </p:nvSpPr>
        <p:spPr>
          <a:xfrm>
            <a:off x="9100458" y="3710067"/>
            <a:ext cx="1469571" cy="4680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FF0000"/>
                </a:solidFill>
              </a:rPr>
              <a:t>なぜ？</a:t>
            </a:r>
          </a:p>
        </p:txBody>
      </p:sp>
      <p:sp>
        <p:nvSpPr>
          <p:cNvPr id="6" name="矢印: 下カーブ 5">
            <a:extLst>
              <a:ext uri="{FF2B5EF4-FFF2-40B4-BE49-F238E27FC236}">
                <a16:creationId xmlns:a16="http://schemas.microsoft.com/office/drawing/2014/main" id="{3E36C0BC-6550-45A4-BF32-195438906AFC}"/>
              </a:ext>
            </a:extLst>
          </p:cNvPr>
          <p:cNvSpPr/>
          <p:nvPr/>
        </p:nvSpPr>
        <p:spPr>
          <a:xfrm>
            <a:off x="6847114" y="2990848"/>
            <a:ext cx="1306286" cy="405493"/>
          </a:xfrm>
          <a:prstGeom prst="curvedDownArrow">
            <a:avLst>
              <a:gd name="adj1" fmla="val 46571"/>
              <a:gd name="adj2" fmla="val 96276"/>
              <a:gd name="adj3" fmla="val 411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矢印: 下カーブ 11">
            <a:extLst>
              <a:ext uri="{FF2B5EF4-FFF2-40B4-BE49-F238E27FC236}">
                <a16:creationId xmlns:a16="http://schemas.microsoft.com/office/drawing/2014/main" id="{52BC275F-0C6F-4E48-9697-72FF3F406574}"/>
              </a:ext>
            </a:extLst>
          </p:cNvPr>
          <p:cNvSpPr/>
          <p:nvPr/>
        </p:nvSpPr>
        <p:spPr>
          <a:xfrm rot="10800000">
            <a:off x="3744686" y="3665764"/>
            <a:ext cx="1306286" cy="405493"/>
          </a:xfrm>
          <a:prstGeom prst="curvedDownArrow">
            <a:avLst>
              <a:gd name="adj1" fmla="val 46571"/>
              <a:gd name="adj2" fmla="val 96276"/>
              <a:gd name="adj3" fmla="val 411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矢印: 下 12">
            <a:extLst>
              <a:ext uri="{FF2B5EF4-FFF2-40B4-BE49-F238E27FC236}">
                <a16:creationId xmlns:a16="http://schemas.microsoft.com/office/drawing/2014/main" id="{3EA8B169-AB33-49D6-8A5D-707C4D5EAD46}"/>
              </a:ext>
            </a:extLst>
          </p:cNvPr>
          <p:cNvSpPr/>
          <p:nvPr/>
        </p:nvSpPr>
        <p:spPr>
          <a:xfrm rot="2740538">
            <a:off x="6444075" y="1177467"/>
            <a:ext cx="865263" cy="2511274"/>
          </a:xfrm>
          <a:prstGeom prst="downArrow">
            <a:avLst>
              <a:gd name="adj1" fmla="val 80132"/>
              <a:gd name="adj2" fmla="val 4253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r>
              <a:rPr kumimoji="1" lang="ja-JP" altLang="en-US" dirty="0">
                <a:solidFill>
                  <a:schemeClr val="tx1"/>
                </a:solidFill>
              </a:rPr>
              <a:t>プロセスステップ機能が達成できない</a:t>
            </a:r>
          </a:p>
        </p:txBody>
      </p:sp>
    </p:spTree>
    <p:extLst>
      <p:ext uri="{BB962C8B-B14F-4D97-AF65-F5344CB8AC3E}">
        <p14:creationId xmlns:p14="http://schemas.microsoft.com/office/powerpoint/2010/main" val="4100713693"/>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3"/>
            </a:pPr>
            <a:r>
              <a:rPr lang="ja-JP" altLang="en-US" dirty="0"/>
              <a:t>故障モード</a:t>
            </a:r>
            <a:endParaRPr lang="en-US" altLang="ja-JP" dirty="0"/>
          </a:p>
          <a:p>
            <a:pPr marL="457200" lvl="1" indent="0">
              <a:lnSpc>
                <a:spcPct val="100000"/>
              </a:lnSpc>
              <a:buNone/>
            </a:pPr>
            <a:r>
              <a:rPr lang="ja-JP" altLang="en-US" dirty="0"/>
              <a:t>　　故障モードには次のようなカテゴリーが存在する。</a:t>
            </a:r>
            <a:endParaRPr lang="en-US" altLang="ja-JP" dirty="0"/>
          </a:p>
          <a:p>
            <a:pPr lvl="2">
              <a:lnSpc>
                <a:spcPct val="100000"/>
              </a:lnSpc>
            </a:pPr>
            <a:r>
              <a:rPr lang="ja-JP" altLang="en-US" sz="2400" dirty="0"/>
              <a:t>機能喪失、部分的喪失、或いは機能低下</a:t>
            </a:r>
            <a:endParaRPr lang="en-US" altLang="ja-JP" sz="2400" dirty="0"/>
          </a:p>
          <a:p>
            <a:pPr lvl="2">
              <a:lnSpc>
                <a:spcPct val="100000"/>
              </a:lnSpc>
            </a:pPr>
            <a:r>
              <a:rPr lang="ja-JP" altLang="en-US" sz="2400" dirty="0"/>
              <a:t>過剰な機能の達成（多すぎる、高すぎるなど）</a:t>
            </a:r>
            <a:endParaRPr lang="en-US" altLang="ja-JP" sz="2400" dirty="0"/>
          </a:p>
          <a:p>
            <a:pPr lvl="2">
              <a:lnSpc>
                <a:spcPct val="100000"/>
              </a:lnSpc>
            </a:pPr>
            <a:r>
              <a:rPr lang="ja-JP" altLang="en-US" sz="2400" dirty="0"/>
              <a:t>意図しない機能の発生</a:t>
            </a:r>
            <a:endParaRPr lang="en-US" altLang="ja-JP" sz="2400" dirty="0"/>
          </a:p>
          <a:p>
            <a:pPr lvl="2">
              <a:lnSpc>
                <a:spcPct val="100000"/>
              </a:lnSpc>
            </a:pPr>
            <a:r>
              <a:rPr lang="ja-JP" altLang="en-US" sz="2400" dirty="0"/>
              <a:t>誤部品取付け、遅延（プロセスが遅い）など</a:t>
            </a:r>
            <a:endParaRPr lang="en-US" altLang="ja-JP"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483</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228657229"/>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484</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2">
            <a:extLst>
              <a:ext uri="{FF2B5EF4-FFF2-40B4-BE49-F238E27FC236}">
                <a16:creationId xmlns:a16="http://schemas.microsoft.com/office/drawing/2014/main" id="{930E2329-6021-448F-B0CC-49F56406C6D7}"/>
              </a:ext>
            </a:extLst>
          </p:cNvPr>
          <p:cNvGraphicFramePr>
            <a:graphicFrameLocks noGrp="1"/>
          </p:cNvGraphicFramePr>
          <p:nvPr/>
        </p:nvGraphicFramePr>
        <p:xfrm>
          <a:off x="838200" y="1575411"/>
          <a:ext cx="10515600" cy="4801667"/>
        </p:xfrm>
        <a:graphic>
          <a:graphicData uri="http://schemas.openxmlformats.org/drawingml/2006/table">
            <a:tbl>
              <a:tblPr firstRow="1" bandRow="1">
                <a:tableStyleId>{5940675A-B579-460E-94D1-54222C63F5DA}</a:tableStyleId>
              </a:tblPr>
              <a:tblGrid>
                <a:gridCol w="3287486">
                  <a:extLst>
                    <a:ext uri="{9D8B030D-6E8A-4147-A177-3AD203B41FA5}">
                      <a16:colId xmlns:a16="http://schemas.microsoft.com/office/drawing/2014/main" val="3630988874"/>
                    </a:ext>
                  </a:extLst>
                </a:gridCol>
                <a:gridCol w="3287485">
                  <a:extLst>
                    <a:ext uri="{9D8B030D-6E8A-4147-A177-3AD203B41FA5}">
                      <a16:colId xmlns:a16="http://schemas.microsoft.com/office/drawing/2014/main" val="465471704"/>
                    </a:ext>
                  </a:extLst>
                </a:gridCol>
                <a:gridCol w="3940629">
                  <a:extLst>
                    <a:ext uri="{9D8B030D-6E8A-4147-A177-3AD203B41FA5}">
                      <a16:colId xmlns:a16="http://schemas.microsoft.com/office/drawing/2014/main" val="989200193"/>
                    </a:ext>
                  </a:extLst>
                </a:gridCol>
              </a:tblGrid>
              <a:tr h="513142">
                <a:tc gridSpan="3">
                  <a:txBody>
                    <a:bodyPr/>
                    <a:lstStyle/>
                    <a:p>
                      <a:pPr algn="ctr"/>
                      <a:r>
                        <a:rPr kumimoji="1" lang="ja-JP" altLang="en-US" sz="2000" b="1" dirty="0"/>
                        <a:t>ステップ４　故障分析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067057"/>
                  </a:ext>
                </a:extLst>
              </a:tr>
              <a:tr h="680309">
                <a:tc>
                  <a:txBody>
                    <a:bodyPr/>
                    <a:lstStyle/>
                    <a:p>
                      <a:pPr algn="ctr"/>
                      <a:r>
                        <a:rPr kumimoji="1" lang="ja-JP" altLang="en-US" sz="2000" dirty="0"/>
                        <a:t>プロセス機能の故障影響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プロセスステップ機能に対する故障モード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kumimoji="1" lang="ja-JP" altLang="en-US" sz="2000" dirty="0"/>
                        <a:t>プロセス作業要素の</a:t>
                      </a:r>
                      <a:endParaRPr kumimoji="1" lang="en-US" altLang="ja-JP" sz="2000" dirty="0"/>
                    </a:p>
                    <a:p>
                      <a:pPr algn="ctr"/>
                      <a:r>
                        <a:rPr kumimoji="1" lang="ja-JP" altLang="en-US" sz="2000" dirty="0"/>
                        <a:t>故障原因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91262988"/>
                  </a:ext>
                </a:extLst>
              </a:tr>
              <a:tr h="1086119">
                <a:tc rowSpan="3">
                  <a:txBody>
                    <a:bodyPr/>
                    <a:lstStyle/>
                    <a:p>
                      <a:r>
                        <a:rPr kumimoji="1" lang="ja-JP" altLang="en-US" sz="2000" b="1" dirty="0"/>
                        <a:t>後工程</a:t>
                      </a:r>
                      <a:r>
                        <a:rPr kumimoji="1" lang="ja-JP" altLang="en-US" sz="2000" dirty="0"/>
                        <a:t>：シャフトを組付ける際に損傷する</a:t>
                      </a:r>
                      <a:endParaRPr kumimoji="1" lang="en-US" altLang="ja-JP" sz="2000" dirty="0"/>
                    </a:p>
                    <a:p>
                      <a:r>
                        <a:rPr kumimoji="1" lang="ja-JP" altLang="en-US" sz="2000" b="1" dirty="0"/>
                        <a:t>顧客</a:t>
                      </a:r>
                      <a:r>
                        <a:rPr kumimoji="1" lang="ja-JP" altLang="en-US" sz="2000" dirty="0"/>
                        <a:t>：自動ドアへの電気モーターの組込み時に損傷する</a:t>
                      </a:r>
                      <a:endParaRPr kumimoji="1" lang="en-US" altLang="ja-JP" sz="2000" dirty="0"/>
                    </a:p>
                    <a:p>
                      <a:r>
                        <a:rPr kumimoji="1" lang="ja-JP" altLang="en-US" sz="2000" b="1" dirty="0"/>
                        <a:t>ユーザー</a:t>
                      </a:r>
                      <a:r>
                        <a:rPr kumimoji="1" lang="ja-JP" altLang="en-US" sz="2000" dirty="0"/>
                        <a:t>：スムーズな開閉ができない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3">
                  <a:txBody>
                    <a:bodyPr/>
                    <a:lstStyle/>
                    <a:p>
                      <a:r>
                        <a:rPr kumimoji="1" lang="ja-JP" altLang="en-US" sz="2000" dirty="0">
                          <a:solidFill>
                            <a:schemeClr val="tx1"/>
                          </a:solidFill>
                        </a:rPr>
                        <a:t>ベアリングが規定された軸方向位置まで届かない（圧入深さ不足）</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kumimoji="1" lang="ja-JP" altLang="en-US" sz="2000" dirty="0">
                          <a:solidFill>
                            <a:schemeClr val="tx1"/>
                          </a:solidFill>
                        </a:rPr>
                        <a:t>作業者によるベアリングセット時の押込み不足</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90248592"/>
                  </a:ext>
                </a:extLst>
              </a:tr>
              <a:tr h="1086119">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chemeClr val="tx1"/>
                          </a:solidFill>
                        </a:rPr>
                        <a:t>プレス機油圧不足による圧入荷重の低下</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03774080"/>
                  </a:ext>
                </a:extLst>
              </a:tr>
              <a:tr h="1415247">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chemeClr val="tx1"/>
                          </a:solidFill>
                        </a:rPr>
                        <a:t>＊＊＊＊＊＊＊＊＊＊＊＊＊＊＊＊＊＊＊</a:t>
                      </a:r>
                      <a:endParaRPr kumimoji="1" lang="en-US" altLang="ja-JP"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8150482"/>
                  </a:ext>
                </a:extLst>
              </a:tr>
            </a:tbl>
          </a:graphicData>
        </a:graphic>
      </p:graphicFrame>
    </p:spTree>
    <p:extLst>
      <p:ext uri="{BB962C8B-B14F-4D97-AF65-F5344CB8AC3E}">
        <p14:creationId xmlns:p14="http://schemas.microsoft.com/office/powerpoint/2010/main" val="3253878567"/>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6"/>
            </a:pPr>
            <a:r>
              <a:rPr lang="ja-JP" altLang="en-US" sz="2400" dirty="0"/>
              <a:t>ステップ５：リスク分析</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marL="914400" lvl="2" indent="0">
              <a:lnSpc>
                <a:spcPct val="100000"/>
              </a:lnSpc>
              <a:buNone/>
            </a:pPr>
            <a:r>
              <a:rPr lang="ja-JP" altLang="en-US" sz="2400" dirty="0"/>
              <a:t>「厳しさ」「発生頻度」「検出可能性」にてリスク評価し、処置の優先順位を決定する。</a:t>
            </a:r>
            <a:endParaRPr lang="en-US" altLang="ja-JP" sz="2400" dirty="0"/>
          </a:p>
          <a:p>
            <a:pPr lvl="2">
              <a:lnSpc>
                <a:spcPct val="100000"/>
              </a:lnSpc>
            </a:pPr>
            <a:r>
              <a:rPr lang="ja-JP" altLang="en-US" sz="2400" dirty="0"/>
              <a:t>故障影響に対する厳しさの評価</a:t>
            </a:r>
          </a:p>
          <a:p>
            <a:pPr lvl="2">
              <a:lnSpc>
                <a:spcPct val="100000"/>
              </a:lnSpc>
            </a:pPr>
            <a:r>
              <a:rPr lang="ja-JP" altLang="en-US" sz="2400" dirty="0"/>
              <a:t>故障原因に対する現行</a:t>
            </a:r>
            <a:r>
              <a:rPr lang="ja-JP" altLang="en-US" sz="2400" dirty="0">
                <a:solidFill>
                  <a:srgbClr val="FF0000"/>
                </a:solidFill>
                <a:effectLst>
                  <a:outerShdw blurRad="38100" dist="38100" dir="2700000" algn="tl">
                    <a:srgbClr val="000000">
                      <a:alpha val="43137"/>
                    </a:srgbClr>
                  </a:outerShdw>
                </a:effectLst>
              </a:rPr>
              <a:t>予防管理</a:t>
            </a:r>
            <a:r>
              <a:rPr lang="ja-JP" altLang="en-US" sz="2400" dirty="0"/>
              <a:t>の評価</a:t>
            </a:r>
            <a:endParaRPr lang="en-US" altLang="ja-JP" sz="2400" dirty="0"/>
          </a:p>
          <a:p>
            <a:pPr lvl="2">
              <a:lnSpc>
                <a:spcPct val="100000"/>
              </a:lnSpc>
            </a:pPr>
            <a:r>
              <a:rPr lang="ja-JP" altLang="en-US" sz="2400" dirty="0"/>
              <a:t>故障原因及び故障モードに対する現行</a:t>
            </a:r>
            <a:r>
              <a:rPr lang="ja-JP" altLang="en-US" sz="2400" dirty="0">
                <a:solidFill>
                  <a:srgbClr val="FF0000"/>
                </a:solidFill>
                <a:effectLst>
                  <a:outerShdw blurRad="38100" dist="38100" dir="2700000" algn="tl">
                    <a:srgbClr val="000000">
                      <a:alpha val="43137"/>
                    </a:srgbClr>
                  </a:outerShdw>
                </a:effectLst>
              </a:rPr>
              <a:t>検出管理</a:t>
            </a:r>
            <a:r>
              <a:rPr lang="ja-JP" altLang="en-US" sz="2400" dirty="0"/>
              <a:t>の評価</a:t>
            </a:r>
            <a:endParaRPr lang="en-US" altLang="ja-JP" sz="2400" dirty="0"/>
          </a:p>
          <a:p>
            <a:pPr marL="971550" lvl="1" indent="-514350">
              <a:lnSpc>
                <a:spcPct val="100000"/>
              </a:lnSpc>
              <a:buFont typeface="+mj-ea"/>
              <a:buAutoNum type="circleNumDbPlain"/>
            </a:pPr>
            <a:r>
              <a:rPr lang="ja-JP" altLang="en-US" dirty="0"/>
              <a:t>現行の予防管理</a:t>
            </a:r>
            <a:endParaRPr lang="en-US" altLang="ja-JP" dirty="0"/>
          </a:p>
          <a:p>
            <a:pPr marL="914400" lvl="2" indent="0">
              <a:lnSpc>
                <a:spcPct val="100000"/>
              </a:lnSpc>
              <a:buNone/>
            </a:pPr>
            <a:r>
              <a:rPr lang="ja-JP" altLang="en-US" sz="2400" dirty="0">
                <a:solidFill>
                  <a:srgbClr val="FF0000"/>
                </a:solidFill>
                <a:effectLst>
                  <a:outerShdw blurRad="38100" dist="38100" dir="2700000" algn="tl">
                    <a:srgbClr val="000000">
                      <a:alpha val="43137"/>
                    </a:srgbClr>
                  </a:outerShdw>
                </a:effectLst>
              </a:rPr>
              <a:t>故障発生の可能性を最小限に</a:t>
            </a:r>
            <a:r>
              <a:rPr lang="ja-JP" altLang="en-US" sz="2400" dirty="0"/>
              <a:t>抑えるための最適な工程計画</a:t>
            </a:r>
            <a:endParaRPr lang="en-US" altLang="ja-JP" sz="2400" dirty="0"/>
          </a:p>
          <a:p>
            <a:pPr lvl="2">
              <a:lnSpc>
                <a:spcPct val="100000"/>
              </a:lnSpc>
            </a:pPr>
            <a:r>
              <a:rPr lang="ja-JP" altLang="en-US" sz="2400" dirty="0"/>
              <a:t>後続部品が取りつかない／適正位置の形状依存</a:t>
            </a:r>
            <a:endParaRPr lang="en-US" altLang="ja-JP" sz="2400" dirty="0"/>
          </a:p>
          <a:p>
            <a:pPr lvl="2">
              <a:lnSpc>
                <a:spcPct val="100000"/>
              </a:lnSpc>
            </a:pPr>
            <a:r>
              <a:rPr lang="ja-JP" altLang="en-US" sz="2400" dirty="0"/>
              <a:t>装置保全／作業者保全／機械制御など</a:t>
            </a:r>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485</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
        <p:nvSpPr>
          <p:cNvPr id="2" name="吹き出し: 角を丸めた四角形 1">
            <a:extLst>
              <a:ext uri="{FF2B5EF4-FFF2-40B4-BE49-F238E27FC236}">
                <a16:creationId xmlns:a16="http://schemas.microsoft.com/office/drawing/2014/main" id="{45F131D7-B1B6-443B-9783-B38641A9B1BE}"/>
              </a:ext>
            </a:extLst>
          </p:cNvPr>
          <p:cNvSpPr/>
          <p:nvPr/>
        </p:nvSpPr>
        <p:spPr>
          <a:xfrm>
            <a:off x="7293429" y="3254829"/>
            <a:ext cx="3004457" cy="566057"/>
          </a:xfrm>
          <a:prstGeom prst="wedgeRoundRectCallout">
            <a:avLst>
              <a:gd name="adj1" fmla="val -43263"/>
              <a:gd name="adj2" fmla="val 68382"/>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solidFill>
                  <a:schemeClr val="tx1"/>
                </a:solidFill>
              </a:rPr>
              <a:t>２つの異なる管理</a:t>
            </a:r>
          </a:p>
        </p:txBody>
      </p:sp>
      <p:sp>
        <p:nvSpPr>
          <p:cNvPr id="8" name="吹き出し: 角を丸めた四角形 7">
            <a:extLst>
              <a:ext uri="{FF2B5EF4-FFF2-40B4-BE49-F238E27FC236}">
                <a16:creationId xmlns:a16="http://schemas.microsoft.com/office/drawing/2014/main" id="{813AB4D8-191E-47A3-9911-44D7D5FCDE2D}"/>
              </a:ext>
            </a:extLst>
          </p:cNvPr>
          <p:cNvSpPr/>
          <p:nvPr/>
        </p:nvSpPr>
        <p:spPr>
          <a:xfrm>
            <a:off x="8610600" y="5500303"/>
            <a:ext cx="2307771" cy="566057"/>
          </a:xfrm>
          <a:prstGeom prst="wedgeRoundRectCallout">
            <a:avLst>
              <a:gd name="adj1" fmla="val -66376"/>
              <a:gd name="adj2" fmla="val 3376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solidFill>
                  <a:schemeClr val="tx1"/>
                </a:solidFill>
              </a:rPr>
              <a:t>ポカヨケ推奨</a:t>
            </a:r>
          </a:p>
        </p:txBody>
      </p:sp>
    </p:spTree>
    <p:extLst>
      <p:ext uri="{BB962C8B-B14F-4D97-AF65-F5344CB8AC3E}">
        <p14:creationId xmlns:p14="http://schemas.microsoft.com/office/powerpoint/2010/main" val="2243861668"/>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3"/>
            </a:pPr>
            <a:r>
              <a:rPr lang="ja-JP" altLang="en-US" sz="2400" dirty="0"/>
              <a:t>現行の検出管理</a:t>
            </a:r>
            <a:endParaRPr lang="en-US" altLang="ja-JP" sz="2400" dirty="0"/>
          </a:p>
          <a:p>
            <a:pPr marL="914400" lvl="2" indent="0">
              <a:lnSpc>
                <a:spcPct val="100000"/>
              </a:lnSpc>
              <a:buNone/>
            </a:pPr>
            <a:r>
              <a:rPr lang="ja-JP" altLang="en-US" sz="2400" dirty="0"/>
              <a:t>製品が</a:t>
            </a:r>
            <a:r>
              <a:rPr lang="ja-JP" altLang="en-US" sz="2400" dirty="0">
                <a:solidFill>
                  <a:srgbClr val="FF0000"/>
                </a:solidFill>
                <a:effectLst>
                  <a:outerShdw blurRad="38100" dist="38100" dir="2700000" algn="tl">
                    <a:srgbClr val="000000">
                      <a:alpha val="43137"/>
                    </a:srgbClr>
                  </a:outerShdw>
                </a:effectLst>
              </a:rPr>
              <a:t>当該工程を離れる前に</a:t>
            </a:r>
            <a:r>
              <a:rPr lang="ja-JP" altLang="en-US" sz="2400" dirty="0"/>
              <a:t>又は顧客へ出荷される前に、自動若しくは手動にて</a:t>
            </a:r>
            <a:r>
              <a:rPr lang="ja-JP" altLang="en-US" sz="2400" dirty="0">
                <a:solidFill>
                  <a:srgbClr val="FF0000"/>
                </a:solidFill>
                <a:effectLst>
                  <a:outerShdw blurRad="38100" dist="38100" dir="2700000" algn="tl">
                    <a:srgbClr val="000000">
                      <a:alpha val="43137"/>
                    </a:srgbClr>
                  </a:outerShdw>
                </a:effectLst>
              </a:rPr>
              <a:t>故障原因又は故障モードを検出</a:t>
            </a:r>
            <a:r>
              <a:rPr lang="ja-JP" altLang="en-US" sz="2400" dirty="0"/>
              <a:t>する。</a:t>
            </a:r>
            <a:endParaRPr lang="en-US" altLang="ja-JP" sz="2400" dirty="0"/>
          </a:p>
          <a:p>
            <a:pPr lvl="2">
              <a:lnSpc>
                <a:spcPct val="100000"/>
              </a:lnSpc>
            </a:pPr>
            <a:r>
              <a:rPr lang="ja-JP" altLang="en-US" sz="2400" dirty="0"/>
              <a:t>目視検査／画像システムによる光学検査／属性試験</a:t>
            </a:r>
            <a:endParaRPr lang="en-US" altLang="ja-JP" sz="2400" dirty="0"/>
          </a:p>
          <a:p>
            <a:pPr lvl="2">
              <a:lnSpc>
                <a:spcPct val="100000"/>
              </a:lnSpc>
            </a:pPr>
            <a:r>
              <a:rPr lang="ja-JP" altLang="en-US" sz="2400" dirty="0"/>
              <a:t>ゲージによる寸法検査／プレス荷重監視</a:t>
            </a:r>
            <a:endParaRPr lang="en-US" altLang="ja-JP" sz="2400" dirty="0"/>
          </a:p>
          <a:p>
            <a:pPr marL="971550" lvl="1" indent="-514350">
              <a:lnSpc>
                <a:spcPct val="100000"/>
              </a:lnSpc>
              <a:buFont typeface="+mj-ea"/>
              <a:buAutoNum type="circleNumDbPlain" startAt="4"/>
            </a:pPr>
            <a:r>
              <a:rPr lang="ja-JP" altLang="en-US" dirty="0"/>
              <a:t>現行の予防管理及び検出管理の有効性の確認（保証）</a:t>
            </a:r>
            <a:endParaRPr lang="en-US" altLang="ja-JP" dirty="0"/>
          </a:p>
          <a:p>
            <a:pPr marL="971550" lvl="1" indent="-514350">
              <a:lnSpc>
                <a:spcPct val="100000"/>
              </a:lnSpc>
              <a:buFont typeface="+mj-ea"/>
              <a:buAutoNum type="circleNumDbPlain" startAt="4"/>
            </a:pPr>
            <a:r>
              <a:rPr lang="ja-JP" altLang="en-US" dirty="0"/>
              <a:t>評価</a:t>
            </a:r>
            <a:endParaRPr lang="en-US" altLang="ja-JP"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486</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3" name="表 5">
            <a:extLst>
              <a:ext uri="{FF2B5EF4-FFF2-40B4-BE49-F238E27FC236}">
                <a16:creationId xmlns:a16="http://schemas.microsoft.com/office/drawing/2014/main" id="{A9C02F1D-BFAC-4CC6-A974-025D085DA41A}"/>
              </a:ext>
            </a:extLst>
          </p:cNvPr>
          <p:cNvGraphicFramePr>
            <a:graphicFrameLocks noGrp="1"/>
          </p:cNvGraphicFramePr>
          <p:nvPr/>
        </p:nvGraphicFramePr>
        <p:xfrm>
          <a:off x="1186544" y="4590588"/>
          <a:ext cx="10167256" cy="1383999"/>
        </p:xfrm>
        <a:graphic>
          <a:graphicData uri="http://schemas.openxmlformats.org/drawingml/2006/table">
            <a:tbl>
              <a:tblPr firstRow="1" bandRow="1">
                <a:tableStyleId>{5940675A-B579-460E-94D1-54222C63F5DA}</a:tableStyleId>
              </a:tblPr>
              <a:tblGrid>
                <a:gridCol w="2242456">
                  <a:extLst>
                    <a:ext uri="{9D8B030D-6E8A-4147-A177-3AD203B41FA5}">
                      <a16:colId xmlns:a16="http://schemas.microsoft.com/office/drawing/2014/main" val="4272130354"/>
                    </a:ext>
                  </a:extLst>
                </a:gridCol>
                <a:gridCol w="7924800">
                  <a:extLst>
                    <a:ext uri="{9D8B030D-6E8A-4147-A177-3AD203B41FA5}">
                      <a16:colId xmlns:a16="http://schemas.microsoft.com/office/drawing/2014/main" val="1035606160"/>
                    </a:ext>
                  </a:extLst>
                </a:gridCol>
              </a:tblGrid>
              <a:tr h="461333">
                <a:tc>
                  <a:txBody>
                    <a:bodyPr/>
                    <a:lstStyle/>
                    <a:p>
                      <a:r>
                        <a:rPr kumimoji="1" lang="ja-JP" altLang="en-US" sz="2200" dirty="0"/>
                        <a:t>厳しさ（Ｓ）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故障影響の厳しさ（</a:t>
                      </a:r>
                      <a:r>
                        <a:rPr kumimoji="1" lang="en-US" altLang="ja-JP" sz="2200" dirty="0"/>
                        <a:t>Severity</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0333864"/>
                  </a:ext>
                </a:extLst>
              </a:tr>
              <a:tr h="461333">
                <a:tc>
                  <a:txBody>
                    <a:bodyPr/>
                    <a:lstStyle/>
                    <a:p>
                      <a:r>
                        <a:rPr kumimoji="1" lang="ja-JP" altLang="en-US" sz="2200" dirty="0"/>
                        <a:t>発生頻度（Ｏ）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故障原因の発生頻度（</a:t>
                      </a:r>
                      <a:r>
                        <a:rPr kumimoji="1" lang="en-US" altLang="ja-JP" sz="2200" dirty="0"/>
                        <a:t>Occurrence</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575821"/>
                  </a:ext>
                </a:extLst>
              </a:tr>
              <a:tr h="461333">
                <a:tc>
                  <a:txBody>
                    <a:bodyPr/>
                    <a:lstStyle/>
                    <a:p>
                      <a:r>
                        <a:rPr kumimoji="1" lang="ja-JP" altLang="en-US" sz="2200" dirty="0"/>
                        <a:t>検出（Ｄ）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200" dirty="0"/>
                        <a:t>発生した故障原因及び故障モードの検出度合（</a:t>
                      </a:r>
                      <a:r>
                        <a:rPr kumimoji="1" lang="en-US" altLang="ja-JP" sz="2200" dirty="0"/>
                        <a:t>Detection</a:t>
                      </a:r>
                      <a:r>
                        <a:rPr kumimoji="1" lang="ja-JP" altLang="en-US" sz="2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18492"/>
                  </a:ext>
                </a:extLst>
              </a:tr>
            </a:tbl>
          </a:graphicData>
        </a:graphic>
      </p:graphicFrame>
    </p:spTree>
    <p:extLst>
      <p:ext uri="{BB962C8B-B14F-4D97-AF65-F5344CB8AC3E}">
        <p14:creationId xmlns:p14="http://schemas.microsoft.com/office/powerpoint/2010/main" val="910607550"/>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36914"/>
            <a:ext cx="10515600" cy="491943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r>
              <a:rPr lang="ja-JP" altLang="en-US" sz="2400" u="sng" dirty="0"/>
              <a:t>工程</a:t>
            </a:r>
            <a:r>
              <a:rPr lang="en-US" altLang="ja-JP" sz="2400" u="sng" dirty="0"/>
              <a:t>FMEA</a:t>
            </a:r>
            <a:r>
              <a:rPr lang="ja-JP" altLang="en-US" sz="2400" u="sng" dirty="0"/>
              <a:t>の厳しさ（</a:t>
            </a:r>
            <a:r>
              <a:rPr lang="en-US" altLang="ja-JP" sz="2400" u="sng" dirty="0"/>
              <a:t>S</a:t>
            </a:r>
            <a:r>
              <a:rPr lang="ja-JP" altLang="en-US" sz="2400" u="sng" dirty="0"/>
              <a:t>）評価基準</a:t>
            </a: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487</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0" y="1938866"/>
          <a:ext cx="10515599" cy="4417485"/>
        </p:xfrm>
        <a:graphic>
          <a:graphicData uri="http://schemas.openxmlformats.org/drawingml/2006/table">
            <a:tbl>
              <a:tblPr firstRow="1" bandRow="1">
                <a:tableStyleId>{5940675A-B579-460E-94D1-54222C63F5DA}</a:tableStyleId>
              </a:tblPr>
              <a:tblGrid>
                <a:gridCol w="614229">
                  <a:extLst>
                    <a:ext uri="{9D8B030D-6E8A-4147-A177-3AD203B41FA5}">
                      <a16:colId xmlns:a16="http://schemas.microsoft.com/office/drawing/2014/main" val="2868594551"/>
                    </a:ext>
                  </a:extLst>
                </a:gridCol>
                <a:gridCol w="1056473">
                  <a:extLst>
                    <a:ext uri="{9D8B030D-6E8A-4147-A177-3AD203B41FA5}">
                      <a16:colId xmlns:a16="http://schemas.microsoft.com/office/drawing/2014/main" val="3241245691"/>
                    </a:ext>
                  </a:extLst>
                </a:gridCol>
                <a:gridCol w="2781555">
                  <a:extLst>
                    <a:ext uri="{9D8B030D-6E8A-4147-A177-3AD203B41FA5}">
                      <a16:colId xmlns:a16="http://schemas.microsoft.com/office/drawing/2014/main" val="1549224104"/>
                    </a:ext>
                  </a:extLst>
                </a:gridCol>
                <a:gridCol w="2939143">
                  <a:extLst>
                    <a:ext uri="{9D8B030D-6E8A-4147-A177-3AD203B41FA5}">
                      <a16:colId xmlns:a16="http://schemas.microsoft.com/office/drawing/2014/main" val="3201873917"/>
                    </a:ext>
                  </a:extLst>
                </a:gridCol>
                <a:gridCol w="3124199">
                  <a:extLst>
                    <a:ext uri="{9D8B030D-6E8A-4147-A177-3AD203B41FA5}">
                      <a16:colId xmlns:a16="http://schemas.microsoft.com/office/drawing/2014/main" val="1111895586"/>
                    </a:ext>
                  </a:extLst>
                </a:gridCol>
              </a:tblGrid>
              <a:tr h="380279">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自工場への影響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出荷工場への影響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ユーザーへの影響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1218976">
                <a:tc>
                  <a:txBody>
                    <a:bodyPr/>
                    <a:lstStyle/>
                    <a:p>
                      <a:pPr algn="ctr"/>
                      <a:r>
                        <a:rPr kumimoji="1" lang="en-US" altLang="ja-JP" dirty="0"/>
                        <a:t>10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非常に大きい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kumimoji="1" lang="ja-JP" altLang="en-US" dirty="0"/>
                        <a:t>作業者への</a:t>
                      </a:r>
                      <a:r>
                        <a:rPr kumimoji="1" lang="ja-JP" altLang="en-US" dirty="0">
                          <a:solidFill>
                            <a:srgbClr val="FF0000"/>
                          </a:solidFill>
                          <a:effectLst>
                            <a:outerShdw blurRad="38100" dist="38100" dir="2700000" algn="tl">
                              <a:srgbClr val="000000">
                                <a:alpha val="43137"/>
                              </a:srgbClr>
                            </a:outerShdw>
                          </a:effectLst>
                        </a:rPr>
                        <a:t>健康上及び／又は安全上の深刻なリスク</a:t>
                      </a:r>
                      <a:r>
                        <a:rPr kumimoji="1" lang="ja-JP"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r>
                        <a:rPr kumimoji="1" lang="ja-JP" altLang="en-US" dirty="0"/>
                        <a:t>車両及び／又は他の車両の</a:t>
                      </a:r>
                      <a:r>
                        <a:rPr kumimoji="1" lang="ja-JP" altLang="en-US" dirty="0">
                          <a:solidFill>
                            <a:srgbClr val="FF0000"/>
                          </a:solidFill>
                          <a:effectLst>
                            <a:outerShdw blurRad="38100" dist="38100" dir="2700000" algn="tl">
                              <a:srgbClr val="000000">
                                <a:alpha val="43137"/>
                              </a:srgbClr>
                            </a:outerShdw>
                          </a:effectLst>
                        </a:rPr>
                        <a:t>安全な運転</a:t>
                      </a:r>
                      <a:r>
                        <a:rPr kumimoji="1" lang="ja-JP" altLang="en-US" dirty="0"/>
                        <a:t>、並びに運転者、同乗者、道路利用者又は歩行者の</a:t>
                      </a:r>
                      <a:r>
                        <a:rPr kumimoji="1" lang="ja-JP" altLang="en-US" dirty="0">
                          <a:solidFill>
                            <a:srgbClr val="FF0000"/>
                          </a:solidFill>
                          <a:effectLst>
                            <a:outerShdw blurRad="38100" dist="38100" dir="2700000" algn="tl">
                              <a:srgbClr val="000000">
                                <a:alpha val="43137"/>
                              </a:srgbClr>
                            </a:outerShdw>
                          </a:effectLst>
                        </a:rPr>
                        <a:t>健康へのリスク</a:t>
                      </a:r>
                      <a:r>
                        <a:rPr kumimoji="1" lang="ja-JP"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8799658"/>
                  </a:ext>
                </a:extLst>
              </a:tr>
              <a:tr h="380279">
                <a:tc>
                  <a:txBody>
                    <a:bodyPr/>
                    <a:lstStyle/>
                    <a:p>
                      <a:pPr algn="ctr"/>
                      <a:r>
                        <a:rPr kumimoji="1" lang="en-US" altLang="ja-JP" dirty="0"/>
                        <a:t>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kumimoji="1" lang="ja-JP" altLang="en-US" dirty="0"/>
                        <a:t>工場内での</a:t>
                      </a:r>
                      <a:r>
                        <a:rPr kumimoji="1" lang="ja-JP" altLang="en-US" b="0" dirty="0">
                          <a:solidFill>
                            <a:srgbClr val="FF0000"/>
                          </a:solidFill>
                          <a:effectLst>
                            <a:outerShdw blurRad="38100" dist="38100" dir="2700000" algn="tl">
                              <a:srgbClr val="000000">
                                <a:alpha val="43137"/>
                              </a:srgbClr>
                            </a:outerShdw>
                          </a:effectLst>
                        </a:rPr>
                        <a:t>法規制不適合</a:t>
                      </a:r>
                      <a:r>
                        <a:rPr kumimoji="1" lang="ja-JP" altLang="en-US" dirty="0"/>
                        <a:t>のリスク。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r>
                        <a:rPr kumimoji="1" lang="ja-JP" altLang="en-US" dirty="0">
                          <a:solidFill>
                            <a:srgbClr val="FF0000"/>
                          </a:solidFill>
                          <a:effectLst>
                            <a:outerShdw blurRad="38100" dist="38100" dir="2700000" algn="tl">
                              <a:srgbClr val="000000">
                                <a:alpha val="43137"/>
                              </a:srgbClr>
                            </a:outerShdw>
                          </a:effectLst>
                        </a:rPr>
                        <a:t>法規制への不適合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4796449"/>
                  </a:ext>
                </a:extLst>
              </a:tr>
              <a:tr h="1500278">
                <a:tc>
                  <a:txBody>
                    <a:bodyPr/>
                    <a:lstStyle/>
                    <a:p>
                      <a:pPr algn="ctr"/>
                      <a:r>
                        <a:rPr kumimoji="1" lang="en-US" altLang="ja-JP" dirty="0"/>
                        <a:t>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大きい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影響を受けた量産品の</a:t>
                      </a:r>
                      <a:r>
                        <a:rPr kumimoji="1" lang="en-US" altLang="ja-JP" dirty="0">
                          <a:solidFill>
                            <a:srgbClr val="FF0000"/>
                          </a:solidFill>
                          <a:effectLst>
                            <a:outerShdw blurRad="38100" dist="38100" dir="2700000" algn="tl">
                              <a:srgbClr val="000000">
                                <a:alpha val="43137"/>
                              </a:srgbClr>
                            </a:outerShdw>
                          </a:effectLst>
                        </a:rPr>
                        <a:t>100%</a:t>
                      </a:r>
                      <a:r>
                        <a:rPr kumimoji="1" lang="ja-JP" altLang="en-US" dirty="0">
                          <a:solidFill>
                            <a:srgbClr val="FF0000"/>
                          </a:solidFill>
                          <a:effectLst>
                            <a:outerShdw blurRad="38100" dist="38100" dir="2700000" algn="tl">
                              <a:srgbClr val="000000">
                                <a:alpha val="43137"/>
                              </a:srgbClr>
                            </a:outerShdw>
                          </a:effectLst>
                        </a:rPr>
                        <a:t>が廃棄</a:t>
                      </a:r>
                      <a:r>
                        <a:rPr kumimoji="1" lang="ja-JP" altLang="en-US" dirty="0"/>
                        <a:t>される。</a:t>
                      </a:r>
                      <a:endParaRPr kumimoji="1" lang="en-US" altLang="ja-JP" dirty="0"/>
                    </a:p>
                    <a:p>
                      <a:r>
                        <a:rPr kumimoji="1" lang="ja-JP" altLang="en-US" dirty="0"/>
                        <a:t>作業者への慢性的な健康及び安全上のリスク。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solidFill>
                            <a:srgbClr val="FF0000"/>
                          </a:solidFill>
                          <a:effectLst>
                            <a:outerShdw blurRad="38100" dist="38100" dir="2700000" algn="tl">
                              <a:srgbClr val="000000">
                                <a:alpha val="43137"/>
                              </a:srgbClr>
                            </a:outerShdw>
                          </a:effectLst>
                        </a:rPr>
                        <a:t>1</a:t>
                      </a:r>
                      <a:r>
                        <a:rPr kumimoji="1" lang="ja-JP" altLang="en-US" dirty="0">
                          <a:solidFill>
                            <a:srgbClr val="FF0000"/>
                          </a:solidFill>
                          <a:effectLst>
                            <a:outerShdw blurRad="38100" dist="38100" dir="2700000" algn="tl">
                              <a:srgbClr val="000000">
                                <a:alpha val="43137"/>
                              </a:srgbClr>
                            </a:outerShdw>
                          </a:effectLst>
                        </a:rPr>
                        <a:t>生産シフトを超えるライン停止</a:t>
                      </a:r>
                      <a:r>
                        <a:rPr kumimoji="1" lang="ja-JP" altLang="en-US" dirty="0"/>
                        <a:t>、出荷停止、現場での修理又は交換。</a:t>
                      </a:r>
                      <a:endParaRPr kumimoji="1" lang="en-US" altLang="ja-JP" dirty="0"/>
                    </a:p>
                    <a:p>
                      <a:r>
                        <a:rPr kumimoji="1" lang="ja-JP" altLang="en-US" dirty="0"/>
                        <a:t>作業者への</a:t>
                      </a:r>
                      <a:r>
                        <a:rPr kumimoji="1" lang="ja-JP" altLang="en-US" dirty="0">
                          <a:solidFill>
                            <a:srgbClr val="FF0000"/>
                          </a:solidFill>
                          <a:effectLst>
                            <a:outerShdw blurRad="38100" dist="38100" dir="2700000" algn="tl">
                              <a:srgbClr val="000000">
                                <a:alpha val="43137"/>
                              </a:srgbClr>
                            </a:outerShdw>
                          </a:effectLst>
                        </a:rPr>
                        <a:t>慢性的な健康及び安全上のリスク</a:t>
                      </a:r>
                      <a:r>
                        <a:rPr kumimoji="1" lang="ja-JP"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想定耐用期間内の通常運転に必要な</a:t>
                      </a:r>
                      <a:r>
                        <a:rPr kumimoji="1" lang="ja-JP" altLang="en-US" dirty="0">
                          <a:solidFill>
                            <a:srgbClr val="FF0000"/>
                          </a:solidFill>
                          <a:effectLst>
                            <a:outerShdw blurRad="38100" dist="38100" dir="2700000" algn="tl">
                              <a:srgbClr val="000000">
                                <a:alpha val="43137"/>
                              </a:srgbClr>
                            </a:outerShdw>
                          </a:effectLst>
                        </a:rPr>
                        <a:t>主要車両機能の喪失</a:t>
                      </a:r>
                      <a:r>
                        <a:rPr kumimoji="1" lang="ja-JP"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3976"/>
                  </a:ext>
                </a:extLst>
              </a:tr>
              <a:tr h="937673">
                <a:tc>
                  <a:txBody>
                    <a:bodyPr/>
                    <a:lstStyle/>
                    <a:p>
                      <a:pPr algn="ctr"/>
                      <a:r>
                        <a:rPr kumimoji="1" lang="en-US" altLang="ja-JP" dirty="0"/>
                        <a:t>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製品選別による</a:t>
                      </a:r>
                      <a:r>
                        <a:rPr kumimoji="1" lang="ja-JP" altLang="en-US" dirty="0">
                          <a:solidFill>
                            <a:srgbClr val="FF0000"/>
                          </a:solidFill>
                          <a:effectLst>
                            <a:outerShdw blurRad="38100" dist="38100" dir="2700000" algn="tl">
                              <a:srgbClr val="000000">
                                <a:alpha val="43137"/>
                              </a:srgbClr>
                            </a:outerShdw>
                          </a:effectLst>
                        </a:rPr>
                        <a:t>一部廃棄</a:t>
                      </a:r>
                      <a:r>
                        <a:rPr kumimoji="1" lang="ja-JP" altLang="en-US" dirty="0"/>
                        <a:t>。</a:t>
                      </a:r>
                      <a:endParaRPr kumimoji="1" lang="en-US" altLang="ja-JP" dirty="0"/>
                    </a:p>
                    <a:p>
                      <a:r>
                        <a:rPr kumimoji="1" lang="ja-JP" altLang="en-US" dirty="0"/>
                        <a:t>ライン速度低下又はマンパワーの追加。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solidFill>
                            <a:srgbClr val="FF0000"/>
                          </a:solidFill>
                          <a:effectLst>
                            <a:outerShdw blurRad="38100" dist="38100" dir="2700000" algn="tl">
                              <a:srgbClr val="000000">
                                <a:alpha val="43137"/>
                              </a:srgbClr>
                            </a:outerShdw>
                          </a:effectLst>
                        </a:rPr>
                        <a:t>1h</a:t>
                      </a:r>
                      <a:r>
                        <a:rPr kumimoji="1" lang="ja-JP" altLang="en-US" dirty="0">
                          <a:solidFill>
                            <a:srgbClr val="FF0000"/>
                          </a:solidFill>
                          <a:effectLst>
                            <a:outerShdw blurRad="38100" dist="38100" dir="2700000" algn="tl">
                              <a:srgbClr val="000000">
                                <a:alpha val="43137"/>
                              </a:srgbClr>
                            </a:outerShdw>
                          </a:effectLst>
                        </a:rPr>
                        <a:t>～</a:t>
                      </a:r>
                      <a:r>
                        <a:rPr kumimoji="1" lang="en-US" altLang="ja-JP" dirty="0">
                          <a:solidFill>
                            <a:srgbClr val="FF0000"/>
                          </a:solidFill>
                          <a:effectLst>
                            <a:outerShdw blurRad="38100" dist="38100" dir="2700000" algn="tl">
                              <a:srgbClr val="000000">
                                <a:alpha val="43137"/>
                              </a:srgbClr>
                            </a:outerShdw>
                          </a:effectLst>
                        </a:rPr>
                        <a:t>1</a:t>
                      </a:r>
                      <a:r>
                        <a:rPr kumimoji="1" lang="ja-JP" altLang="en-US" dirty="0">
                          <a:solidFill>
                            <a:srgbClr val="FF0000"/>
                          </a:solidFill>
                          <a:effectLst>
                            <a:outerShdw blurRad="38100" dist="38100" dir="2700000" algn="tl">
                              <a:srgbClr val="000000">
                                <a:alpha val="43137"/>
                              </a:srgbClr>
                            </a:outerShdw>
                          </a:effectLst>
                        </a:rPr>
                        <a:t>生産シフトのライン停止</a:t>
                      </a:r>
                      <a:r>
                        <a:rPr kumimoji="1" lang="ja-JP" altLang="en-US" dirty="0"/>
                        <a:t>、出荷停止、現場での修理又は交換。</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想定耐用期間内の通常運転に必要な</a:t>
                      </a:r>
                      <a:r>
                        <a:rPr kumimoji="1" lang="ja-JP" altLang="en-US" dirty="0">
                          <a:solidFill>
                            <a:srgbClr val="FF0000"/>
                          </a:solidFill>
                          <a:effectLst>
                            <a:outerShdw blurRad="38100" dist="38100" dir="2700000" algn="tl">
                              <a:srgbClr val="000000">
                                <a:alpha val="43137"/>
                              </a:srgbClr>
                            </a:outerShdw>
                          </a:effectLst>
                        </a:rPr>
                        <a:t>主要車両機能の低下</a:t>
                      </a:r>
                      <a:r>
                        <a:rPr kumimoji="1" lang="ja-JP"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802897"/>
                  </a:ext>
                </a:extLst>
              </a:tr>
            </a:tbl>
          </a:graphicData>
        </a:graphic>
      </p:graphicFrame>
    </p:spTree>
    <p:extLst>
      <p:ext uri="{BB962C8B-B14F-4D97-AF65-F5344CB8AC3E}">
        <p14:creationId xmlns:p14="http://schemas.microsoft.com/office/powerpoint/2010/main" val="4089605305"/>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36914"/>
            <a:ext cx="10515600" cy="491943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488</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1" y="1436913"/>
          <a:ext cx="10515599" cy="4919437"/>
        </p:xfrm>
        <a:graphic>
          <a:graphicData uri="http://schemas.openxmlformats.org/drawingml/2006/table">
            <a:tbl>
              <a:tblPr firstRow="1" bandRow="1">
                <a:tableStyleId>{5940675A-B579-460E-94D1-54222C63F5DA}</a:tableStyleId>
              </a:tblPr>
              <a:tblGrid>
                <a:gridCol w="614229">
                  <a:extLst>
                    <a:ext uri="{9D8B030D-6E8A-4147-A177-3AD203B41FA5}">
                      <a16:colId xmlns:a16="http://schemas.microsoft.com/office/drawing/2014/main" val="2868594551"/>
                    </a:ext>
                  </a:extLst>
                </a:gridCol>
                <a:gridCol w="1056473">
                  <a:extLst>
                    <a:ext uri="{9D8B030D-6E8A-4147-A177-3AD203B41FA5}">
                      <a16:colId xmlns:a16="http://schemas.microsoft.com/office/drawing/2014/main" val="3241245691"/>
                    </a:ext>
                  </a:extLst>
                </a:gridCol>
                <a:gridCol w="2781555">
                  <a:extLst>
                    <a:ext uri="{9D8B030D-6E8A-4147-A177-3AD203B41FA5}">
                      <a16:colId xmlns:a16="http://schemas.microsoft.com/office/drawing/2014/main" val="1549224104"/>
                    </a:ext>
                  </a:extLst>
                </a:gridCol>
                <a:gridCol w="2939143">
                  <a:extLst>
                    <a:ext uri="{9D8B030D-6E8A-4147-A177-3AD203B41FA5}">
                      <a16:colId xmlns:a16="http://schemas.microsoft.com/office/drawing/2014/main" val="3201873917"/>
                    </a:ext>
                  </a:extLst>
                </a:gridCol>
                <a:gridCol w="3124199">
                  <a:extLst>
                    <a:ext uri="{9D8B030D-6E8A-4147-A177-3AD203B41FA5}">
                      <a16:colId xmlns:a16="http://schemas.microsoft.com/office/drawing/2014/main" val="1111895586"/>
                    </a:ext>
                  </a:extLst>
                </a:gridCol>
              </a:tblGrid>
              <a:tr h="378418">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自工場への影響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出荷工場への影響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ユーザーへの影響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662232">
                <a:tc>
                  <a:txBody>
                    <a:bodyPr/>
                    <a:lstStyle/>
                    <a:p>
                      <a:pPr algn="ctr"/>
                      <a:r>
                        <a:rPr kumimoji="1" lang="en-US" altLang="ja-JP" dirty="0"/>
                        <a:t>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r>
                        <a:rPr kumimoji="1" lang="ja-JP" altLang="en-US" dirty="0"/>
                        <a:t>中程度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量産品の</a:t>
                      </a:r>
                      <a:r>
                        <a:rPr kumimoji="1" lang="en-US" altLang="ja-JP" dirty="0">
                          <a:solidFill>
                            <a:srgbClr val="FF0000"/>
                          </a:solidFill>
                          <a:effectLst>
                            <a:outerShdw blurRad="38100" dist="38100" dir="2700000" algn="tl">
                              <a:srgbClr val="000000">
                                <a:alpha val="43137"/>
                              </a:srgbClr>
                            </a:outerShdw>
                          </a:effectLst>
                        </a:rPr>
                        <a:t>100%</a:t>
                      </a:r>
                      <a:r>
                        <a:rPr kumimoji="1" lang="ja-JP" altLang="en-US" dirty="0">
                          <a:solidFill>
                            <a:srgbClr val="FF0000"/>
                          </a:solidFill>
                          <a:effectLst>
                            <a:outerShdw blurRad="38100" dist="38100" dir="2700000" algn="tl">
                              <a:srgbClr val="000000">
                                <a:alpha val="43137"/>
                              </a:srgbClr>
                            </a:outerShdw>
                          </a:effectLst>
                        </a:rPr>
                        <a:t>をライン外で再処理</a:t>
                      </a:r>
                      <a:r>
                        <a:rPr kumimoji="1" lang="ja-JP" altLang="en-US" dirty="0"/>
                        <a:t>し、承認。</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solidFill>
                            <a:srgbClr val="FF0000"/>
                          </a:solidFill>
                          <a:effectLst>
                            <a:outerShdw blurRad="38100" dist="38100" dir="2700000" algn="tl">
                              <a:srgbClr val="000000">
                                <a:alpha val="43137"/>
                              </a:srgbClr>
                            </a:outerShdw>
                          </a:effectLst>
                        </a:rPr>
                        <a:t>最大</a:t>
                      </a:r>
                      <a:r>
                        <a:rPr kumimoji="1" lang="en-US" altLang="ja-JP" dirty="0">
                          <a:solidFill>
                            <a:srgbClr val="FF0000"/>
                          </a:solidFill>
                          <a:effectLst>
                            <a:outerShdw blurRad="38100" dist="38100" dir="2700000" algn="tl">
                              <a:srgbClr val="000000">
                                <a:alpha val="43137"/>
                              </a:srgbClr>
                            </a:outerShdw>
                          </a:effectLst>
                        </a:rPr>
                        <a:t>1h</a:t>
                      </a:r>
                      <a:r>
                        <a:rPr kumimoji="1" lang="ja-JP" altLang="en-US" dirty="0">
                          <a:solidFill>
                            <a:srgbClr val="FF0000"/>
                          </a:solidFill>
                          <a:effectLst>
                            <a:outerShdw blurRad="38100" dist="38100" dir="2700000" algn="tl">
                              <a:srgbClr val="000000">
                                <a:alpha val="43137"/>
                              </a:srgbClr>
                            </a:outerShdw>
                          </a:effectLst>
                        </a:rPr>
                        <a:t>のライン停止</a:t>
                      </a:r>
                      <a:endParaRPr kumimoji="1" lang="en-US" altLang="ja-JP" dirty="0">
                        <a:solidFill>
                          <a:srgbClr val="FF0000"/>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二次車両機能の</a:t>
                      </a:r>
                      <a:r>
                        <a:rPr kumimoji="1" lang="ja-JP" altLang="en-US" dirty="0">
                          <a:solidFill>
                            <a:srgbClr val="FF0000"/>
                          </a:solidFill>
                          <a:effectLst>
                            <a:outerShdw blurRad="38100" dist="38100" dir="2700000" algn="tl">
                              <a:srgbClr val="000000">
                                <a:alpha val="43137"/>
                              </a:srgbClr>
                            </a:outerShdw>
                          </a:effectLst>
                        </a:rPr>
                        <a:t>喪失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3976"/>
                  </a:ext>
                </a:extLst>
              </a:tr>
              <a:tr h="1229859">
                <a:tc>
                  <a:txBody>
                    <a:bodyPr/>
                    <a:lstStyle/>
                    <a:p>
                      <a:pPr algn="ctr"/>
                      <a:r>
                        <a:rPr kumimoji="1" lang="en-US" altLang="ja-JP" dirty="0"/>
                        <a:t>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量産品の</a:t>
                      </a:r>
                      <a:r>
                        <a:rPr kumimoji="1" lang="ja-JP" altLang="en-US" dirty="0">
                          <a:solidFill>
                            <a:srgbClr val="FF0000"/>
                          </a:solidFill>
                          <a:effectLst>
                            <a:outerShdw blurRad="38100" dist="38100" dir="2700000" algn="tl">
                              <a:srgbClr val="000000">
                                <a:alpha val="43137"/>
                              </a:srgbClr>
                            </a:outerShdw>
                          </a:effectLst>
                        </a:rPr>
                        <a:t>一部をライン外で再処理</a:t>
                      </a:r>
                      <a:r>
                        <a:rPr kumimoji="1" lang="ja-JP" altLang="en-US" dirty="0"/>
                        <a:t>し、承認。</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製品の</a:t>
                      </a:r>
                      <a:r>
                        <a:rPr kumimoji="1" lang="en-US" altLang="ja-JP" dirty="0">
                          <a:solidFill>
                            <a:srgbClr val="FF0000"/>
                          </a:solidFill>
                          <a:effectLst>
                            <a:outerShdw blurRad="38100" dist="38100" dir="2700000" algn="tl">
                              <a:srgbClr val="000000">
                                <a:alpha val="43137"/>
                              </a:srgbClr>
                            </a:outerShdw>
                          </a:effectLst>
                        </a:rPr>
                        <a:t>100%</a:t>
                      </a:r>
                      <a:r>
                        <a:rPr kumimoji="1" lang="ja-JP" altLang="en-US" dirty="0">
                          <a:solidFill>
                            <a:srgbClr val="FF0000"/>
                          </a:solidFill>
                          <a:effectLst>
                            <a:outerShdw blurRad="38100" dist="38100" dir="2700000" algn="tl">
                              <a:srgbClr val="000000">
                                <a:alpha val="43137"/>
                              </a:srgbClr>
                            </a:outerShdw>
                          </a:effectLst>
                        </a:rPr>
                        <a:t>未満に影響</a:t>
                      </a:r>
                      <a:r>
                        <a:rPr kumimoji="1" lang="ja-JP" altLang="en-US" dirty="0"/>
                        <a:t>。</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他にも欠陥製品がある可能性、</a:t>
                      </a:r>
                      <a:r>
                        <a:rPr kumimoji="1" lang="ja-JP" altLang="en-US" dirty="0">
                          <a:solidFill>
                            <a:srgbClr val="FF0000"/>
                          </a:solidFill>
                          <a:effectLst>
                            <a:outerShdw blurRad="38100" dist="38100" dir="2700000" algn="tl">
                              <a:srgbClr val="000000">
                                <a:alpha val="43137"/>
                              </a:srgbClr>
                            </a:outerShdw>
                          </a:effectLst>
                        </a:rPr>
                        <a:t>選別が必要</a:t>
                      </a:r>
                      <a:r>
                        <a:rPr kumimoji="1" lang="ja-JP" altLang="en-US" dirty="0"/>
                        <a:t>。</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ライン停止なし。</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二次車両機能の</a:t>
                      </a:r>
                      <a:r>
                        <a:rPr kumimoji="1" lang="ja-JP" altLang="en-US" dirty="0">
                          <a:solidFill>
                            <a:srgbClr val="FF0000"/>
                          </a:solidFill>
                          <a:effectLst>
                            <a:outerShdw blurRad="38100" dist="38100" dir="2700000" algn="tl">
                              <a:srgbClr val="000000">
                                <a:alpha val="43137"/>
                              </a:srgbClr>
                            </a:outerShdw>
                          </a:effectLst>
                        </a:rPr>
                        <a:t>低下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802897"/>
                  </a:ext>
                </a:extLst>
              </a:tr>
              <a:tr h="662232">
                <a:tc>
                  <a:txBody>
                    <a:bodyPr/>
                    <a:lstStyle/>
                    <a:p>
                      <a:pPr algn="ctr"/>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量産品の</a:t>
                      </a:r>
                      <a:r>
                        <a:rPr kumimoji="1" lang="en-US" altLang="ja-JP" dirty="0">
                          <a:solidFill>
                            <a:srgbClr val="FF0000"/>
                          </a:solidFill>
                          <a:effectLst>
                            <a:outerShdw blurRad="38100" dist="38100" dir="2700000" algn="tl">
                              <a:srgbClr val="000000">
                                <a:alpha val="43137"/>
                              </a:srgbClr>
                            </a:outerShdw>
                          </a:effectLst>
                        </a:rPr>
                        <a:t>100%</a:t>
                      </a:r>
                      <a:r>
                        <a:rPr kumimoji="1" lang="ja-JP" altLang="en-US" dirty="0">
                          <a:solidFill>
                            <a:srgbClr val="FF0000"/>
                          </a:solidFill>
                          <a:effectLst>
                            <a:outerShdw blurRad="38100" dist="38100" dir="2700000" algn="tl">
                              <a:srgbClr val="000000">
                                <a:alpha val="43137"/>
                              </a:srgbClr>
                            </a:outerShdw>
                          </a:effectLst>
                        </a:rPr>
                        <a:t>が加工工程投入前に再処理</a:t>
                      </a:r>
                      <a:r>
                        <a:rPr kumimoji="1" lang="ja-JP" altLang="en-US" dirty="0"/>
                        <a:t>必要。</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欠陥製品に対する</a:t>
                      </a:r>
                      <a:r>
                        <a:rPr kumimoji="1" lang="ja-JP" altLang="en-US" dirty="0">
                          <a:solidFill>
                            <a:srgbClr val="FF0000"/>
                          </a:solidFill>
                          <a:effectLst>
                            <a:outerShdw blurRad="38100" dist="38100" dir="2700000" algn="tl">
                              <a:srgbClr val="000000">
                                <a:alpha val="43137"/>
                              </a:srgbClr>
                            </a:outerShdw>
                          </a:effectLst>
                        </a:rPr>
                        <a:t>重大な対応計画</a:t>
                      </a:r>
                      <a:r>
                        <a:rPr kumimoji="1" lang="ja-JP" altLang="en-US" dirty="0"/>
                        <a:t>が必要。選別はなし。</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非常に不快</a:t>
                      </a:r>
                      <a:r>
                        <a:rPr kumimoji="1" lang="ja-JP" altLang="en-US" dirty="0"/>
                        <a:t>（外観、音、振動、乗り心地、触り心地）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1249590"/>
                  </a:ext>
                </a:extLst>
              </a:tr>
              <a:tr h="662232">
                <a:tc>
                  <a:txBody>
                    <a:bodyPr/>
                    <a:lstStyle/>
                    <a:p>
                      <a:pPr algn="ctr"/>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小さい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量産品の</a:t>
                      </a:r>
                      <a:r>
                        <a:rPr kumimoji="1" lang="ja-JP" altLang="en-US" dirty="0">
                          <a:solidFill>
                            <a:srgbClr val="FF0000"/>
                          </a:solidFill>
                          <a:effectLst>
                            <a:outerShdw blurRad="38100" dist="38100" dir="2700000" algn="tl">
                              <a:srgbClr val="000000">
                                <a:alpha val="43137"/>
                              </a:srgbClr>
                            </a:outerShdw>
                          </a:effectLst>
                        </a:rPr>
                        <a:t>一部が加工工程投入前に再処理</a:t>
                      </a:r>
                      <a:r>
                        <a:rPr kumimoji="1" lang="ja-JP" altLang="en-US" dirty="0"/>
                        <a:t>必要。</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欠陥製品に対する</a:t>
                      </a:r>
                      <a:r>
                        <a:rPr kumimoji="1" lang="ja-JP" altLang="en-US" dirty="0">
                          <a:solidFill>
                            <a:srgbClr val="FF0000"/>
                          </a:solidFill>
                          <a:effectLst>
                            <a:outerShdw blurRad="38100" dist="38100" dir="2700000" algn="tl">
                              <a:srgbClr val="000000">
                                <a:alpha val="43137"/>
                              </a:srgbClr>
                            </a:outerShdw>
                          </a:effectLst>
                        </a:rPr>
                        <a:t>軽微な対応計画</a:t>
                      </a:r>
                      <a:r>
                        <a:rPr kumimoji="1" lang="ja-JP" altLang="en-US" dirty="0"/>
                        <a:t>が必要。選別はなし</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やや不快</a:t>
                      </a:r>
                      <a:r>
                        <a:rPr kumimoji="1" lang="ja-JP" altLang="en-US" dirty="0"/>
                        <a:t>（外観、音、振動、乗り心地、触り心地）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211188"/>
                  </a:ext>
                </a:extLst>
              </a:tr>
              <a:tr h="662232">
                <a:tc>
                  <a:txBody>
                    <a:bodyPr/>
                    <a:lstStyle/>
                    <a:p>
                      <a:pPr algn="ctr"/>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プロセス、操作、作業者にとって</a:t>
                      </a:r>
                      <a:r>
                        <a:rPr kumimoji="1" lang="ja-JP" altLang="en-US" dirty="0">
                          <a:solidFill>
                            <a:srgbClr val="FF0000"/>
                          </a:solidFill>
                          <a:effectLst>
                            <a:outerShdw blurRad="38100" dist="38100" dir="2700000" algn="tl">
                              <a:srgbClr val="000000">
                                <a:alpha val="43137"/>
                              </a:srgbClr>
                            </a:outerShdw>
                          </a:effectLst>
                        </a:rPr>
                        <a:t>やや不便</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欠陥製品に対する</a:t>
                      </a:r>
                      <a:r>
                        <a:rPr kumimoji="1" lang="ja-JP" altLang="en-US" dirty="0">
                          <a:solidFill>
                            <a:srgbClr val="FF0000"/>
                          </a:solidFill>
                          <a:effectLst>
                            <a:outerShdw blurRad="38100" dist="38100" dir="2700000" algn="tl">
                              <a:srgbClr val="000000">
                                <a:alpha val="43137"/>
                              </a:srgbClr>
                            </a:outerShdw>
                          </a:effectLst>
                        </a:rPr>
                        <a:t>対応計画は不要</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少し不快</a:t>
                      </a:r>
                      <a:r>
                        <a:rPr kumimoji="1" lang="ja-JP" altLang="en-US" dirty="0"/>
                        <a:t>（外観、音、振動、乗り心地、触り心地）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592994"/>
                  </a:ext>
                </a:extLst>
              </a:tr>
              <a:tr h="662232">
                <a:tc>
                  <a:txBody>
                    <a:bodyPr/>
                    <a:lstStyle/>
                    <a:p>
                      <a:pPr algn="ctr"/>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非常に小さい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認識できる</a:t>
                      </a:r>
                      <a:r>
                        <a:rPr kumimoji="1" lang="ja-JP" altLang="en-US" dirty="0">
                          <a:solidFill>
                            <a:srgbClr val="FF0000"/>
                          </a:solidFill>
                          <a:effectLst>
                            <a:outerShdw blurRad="38100" dist="38100" dir="2700000" algn="tl">
                              <a:srgbClr val="000000">
                                <a:alpha val="43137"/>
                              </a:srgbClr>
                            </a:outerShdw>
                          </a:effectLst>
                        </a:rPr>
                        <a:t>影響はない</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465493"/>
                  </a:ext>
                </a:extLst>
              </a:tr>
            </a:tbl>
          </a:graphicData>
        </a:graphic>
      </p:graphicFrame>
    </p:spTree>
    <p:extLst>
      <p:ext uri="{BB962C8B-B14F-4D97-AF65-F5344CB8AC3E}">
        <p14:creationId xmlns:p14="http://schemas.microsoft.com/office/powerpoint/2010/main" val="1287265033"/>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06286"/>
            <a:ext cx="10515600" cy="5050064"/>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r>
              <a:rPr lang="ja-JP" altLang="en-US" sz="2400" u="sng" dirty="0"/>
              <a:t>工程</a:t>
            </a:r>
            <a:r>
              <a:rPr lang="en-US" altLang="ja-JP" sz="2400" u="sng" dirty="0"/>
              <a:t>FMEA</a:t>
            </a:r>
            <a:r>
              <a:rPr lang="ja-JP" altLang="en-US" sz="2400" u="sng" dirty="0"/>
              <a:t>の発生頻度（</a:t>
            </a:r>
            <a:r>
              <a:rPr lang="en-US" altLang="ja-JP" sz="2400" u="sng" dirty="0"/>
              <a:t>O</a:t>
            </a:r>
            <a:r>
              <a:rPr lang="ja-JP" altLang="en-US" sz="2400" u="sng" dirty="0"/>
              <a:t>）評価基準</a:t>
            </a: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489</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0" y="1784350"/>
          <a:ext cx="10515600" cy="4572000"/>
        </p:xfrm>
        <a:graphic>
          <a:graphicData uri="http://schemas.openxmlformats.org/drawingml/2006/table">
            <a:tbl>
              <a:tblPr firstRow="1" bandRow="1">
                <a:tableStyleId>{5940675A-B579-460E-94D1-54222C63F5DA}</a:tableStyleId>
              </a:tblPr>
              <a:tblGrid>
                <a:gridCol w="642257">
                  <a:extLst>
                    <a:ext uri="{9D8B030D-6E8A-4147-A177-3AD203B41FA5}">
                      <a16:colId xmlns:a16="http://schemas.microsoft.com/office/drawing/2014/main" val="2868594551"/>
                    </a:ext>
                  </a:extLst>
                </a:gridCol>
                <a:gridCol w="1687286">
                  <a:extLst>
                    <a:ext uri="{9D8B030D-6E8A-4147-A177-3AD203B41FA5}">
                      <a16:colId xmlns:a16="http://schemas.microsoft.com/office/drawing/2014/main" val="3241245691"/>
                    </a:ext>
                  </a:extLst>
                </a:gridCol>
                <a:gridCol w="2971800">
                  <a:extLst>
                    <a:ext uri="{9D8B030D-6E8A-4147-A177-3AD203B41FA5}">
                      <a16:colId xmlns:a16="http://schemas.microsoft.com/office/drawing/2014/main" val="1549224104"/>
                    </a:ext>
                  </a:extLst>
                </a:gridCol>
                <a:gridCol w="5214257">
                  <a:extLst>
                    <a:ext uri="{9D8B030D-6E8A-4147-A177-3AD203B41FA5}">
                      <a16:colId xmlns:a16="http://schemas.microsoft.com/office/drawing/2014/main" val="3201873917"/>
                    </a:ext>
                  </a:extLst>
                </a:gridCol>
              </a:tblGrid>
              <a:tr h="569807">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a:t>
                      </a:r>
                      <a:endParaRPr kumimoji="1" lang="en-US" altLang="ja-JP" dirty="0"/>
                    </a:p>
                    <a:p>
                      <a:pPr algn="ctr"/>
                      <a:r>
                        <a:rPr kumimoji="1" lang="ja-JP" altLang="en-US" dirty="0"/>
                        <a:t>発生予測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管理の種類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予防管理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325604">
                <a:tc>
                  <a:txBody>
                    <a:bodyPr/>
                    <a:lstStyle/>
                    <a:p>
                      <a:pPr algn="ctr"/>
                      <a:r>
                        <a:rPr kumimoji="1" lang="en-US" altLang="ja-JP" dirty="0"/>
                        <a:t>10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極めて高い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なし</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予防管理なし。</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3976"/>
                  </a:ext>
                </a:extLst>
              </a:tr>
              <a:tr h="325604">
                <a:tc>
                  <a:txBody>
                    <a:bodyPr/>
                    <a:lstStyle/>
                    <a:p>
                      <a:pPr algn="ctr"/>
                      <a:r>
                        <a:rPr kumimoji="1" lang="en-US" altLang="ja-JP" dirty="0"/>
                        <a:t>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非常に高い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行動的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ほとんど効果がない。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802897"/>
                  </a:ext>
                </a:extLst>
              </a:tr>
              <a:tr h="325604">
                <a:tc>
                  <a:txBody>
                    <a:bodyPr/>
                    <a:lstStyle/>
                    <a:p>
                      <a:pPr algn="ctr"/>
                      <a:r>
                        <a:rPr kumimoji="1" lang="en-US" altLang="ja-JP" dirty="0"/>
                        <a:t>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0155930"/>
                  </a:ext>
                </a:extLst>
              </a:tr>
              <a:tr h="325604">
                <a:tc>
                  <a:txBody>
                    <a:bodyPr/>
                    <a:lstStyle/>
                    <a:p>
                      <a:pPr algn="ctr"/>
                      <a:r>
                        <a:rPr kumimoji="1" lang="en-US" altLang="ja-JP" dirty="0"/>
                        <a:t>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r>
                        <a:rPr kumimoji="1" lang="ja-JP" altLang="en-US" dirty="0"/>
                        <a:t>行動的又は技術的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ある程度効果がある。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443737"/>
                  </a:ext>
                </a:extLst>
              </a:tr>
              <a:tr h="325604">
                <a:tc>
                  <a:txBody>
                    <a:bodyPr/>
                    <a:lstStyle/>
                    <a:p>
                      <a:pPr algn="ctr"/>
                      <a:r>
                        <a:rPr kumimoji="1" lang="en-US" altLang="ja-JP" dirty="0"/>
                        <a:t>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2569846"/>
                  </a:ext>
                </a:extLst>
              </a:tr>
              <a:tr h="325604">
                <a:tc>
                  <a:txBody>
                    <a:bodyPr/>
                    <a:lstStyle/>
                    <a:p>
                      <a:pPr algn="ctr"/>
                      <a:r>
                        <a:rPr kumimoji="1" lang="en-US" altLang="ja-JP" dirty="0"/>
                        <a:t>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中程度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効果がある。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048214"/>
                  </a:ext>
                </a:extLst>
              </a:tr>
              <a:tr h="325604">
                <a:tc>
                  <a:txBody>
                    <a:bodyPr/>
                    <a:lstStyle/>
                    <a:p>
                      <a:pPr algn="ctr"/>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9893343"/>
                  </a:ext>
                </a:extLst>
              </a:tr>
              <a:tr h="325604">
                <a:tc>
                  <a:txBody>
                    <a:bodyPr/>
                    <a:lstStyle/>
                    <a:p>
                      <a:pPr algn="ctr"/>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低い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ベストプラクティス、行動又は技術的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非常に効果がある。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099343"/>
                  </a:ext>
                </a:extLst>
              </a:tr>
              <a:tr h="325604">
                <a:tc>
                  <a:txBody>
                    <a:bodyPr/>
                    <a:lstStyle/>
                    <a:p>
                      <a:pPr algn="ctr"/>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非常に低い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385486"/>
                  </a:ext>
                </a:extLst>
              </a:tr>
              <a:tr h="569807">
                <a:tc>
                  <a:txBody>
                    <a:bodyPr/>
                    <a:lstStyle/>
                    <a:p>
                      <a:pPr algn="ctr"/>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極めて低い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技術的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設計又はプロセスに起因する故障原因の発生防止に有効で、故障原因を創り出すことはできない。</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918948"/>
                  </a:ext>
                </a:extLst>
              </a:tr>
            </a:tbl>
          </a:graphicData>
        </a:graphic>
      </p:graphicFrame>
    </p:spTree>
    <p:extLst>
      <p:ext uri="{BB962C8B-B14F-4D97-AF65-F5344CB8AC3E}">
        <p14:creationId xmlns:p14="http://schemas.microsoft.com/office/powerpoint/2010/main" val="4279092512"/>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36914"/>
            <a:ext cx="10515600" cy="491943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r>
              <a:rPr lang="ja-JP" altLang="en-US" sz="2400" u="sng" dirty="0"/>
              <a:t>工程</a:t>
            </a:r>
            <a:r>
              <a:rPr lang="en-US" altLang="ja-JP" sz="2400" u="sng" dirty="0"/>
              <a:t>FMEA</a:t>
            </a:r>
            <a:r>
              <a:rPr lang="ja-JP" altLang="en-US" sz="2400" u="sng" dirty="0"/>
              <a:t>の検出可能性（</a:t>
            </a:r>
            <a:r>
              <a:rPr lang="en-US" altLang="ja-JP" sz="2400" u="sng" dirty="0"/>
              <a:t>D</a:t>
            </a:r>
            <a:r>
              <a:rPr lang="ja-JP" altLang="en-US" sz="2400" u="sng" dirty="0"/>
              <a:t>）評価基準</a:t>
            </a: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490</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0" y="1938865"/>
          <a:ext cx="10515600" cy="3830563"/>
        </p:xfrm>
        <a:graphic>
          <a:graphicData uri="http://schemas.openxmlformats.org/drawingml/2006/table">
            <a:tbl>
              <a:tblPr firstRow="1" bandRow="1">
                <a:tableStyleId>{5940675A-B579-460E-94D1-54222C63F5DA}</a:tableStyleId>
              </a:tblPr>
              <a:tblGrid>
                <a:gridCol w="642257">
                  <a:extLst>
                    <a:ext uri="{9D8B030D-6E8A-4147-A177-3AD203B41FA5}">
                      <a16:colId xmlns:a16="http://schemas.microsoft.com/office/drawing/2014/main" val="2868594551"/>
                    </a:ext>
                  </a:extLst>
                </a:gridCol>
                <a:gridCol w="1393372">
                  <a:extLst>
                    <a:ext uri="{9D8B030D-6E8A-4147-A177-3AD203B41FA5}">
                      <a16:colId xmlns:a16="http://schemas.microsoft.com/office/drawing/2014/main" val="3241245691"/>
                    </a:ext>
                  </a:extLst>
                </a:gridCol>
                <a:gridCol w="3352800">
                  <a:extLst>
                    <a:ext uri="{9D8B030D-6E8A-4147-A177-3AD203B41FA5}">
                      <a16:colId xmlns:a16="http://schemas.microsoft.com/office/drawing/2014/main" val="1549224104"/>
                    </a:ext>
                  </a:extLst>
                </a:gridCol>
                <a:gridCol w="5127171">
                  <a:extLst>
                    <a:ext uri="{9D8B030D-6E8A-4147-A177-3AD203B41FA5}">
                      <a16:colId xmlns:a16="http://schemas.microsoft.com/office/drawing/2014/main" val="3201873917"/>
                    </a:ext>
                  </a:extLst>
                </a:gridCol>
              </a:tblGrid>
              <a:tr h="403217">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検出方法の成熟度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検出の機会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705630">
                <a:tc>
                  <a:txBody>
                    <a:bodyPr/>
                    <a:lstStyle/>
                    <a:p>
                      <a:pPr algn="ctr"/>
                      <a:r>
                        <a:rPr kumimoji="1" lang="en-US" altLang="ja-JP" dirty="0"/>
                        <a:t>10</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非常に低い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試験又は検査方法が</a:t>
                      </a:r>
                      <a:r>
                        <a:rPr kumimoji="1" lang="ja-JP" altLang="en-US" dirty="0">
                          <a:solidFill>
                            <a:srgbClr val="FF0000"/>
                          </a:solidFill>
                          <a:effectLst>
                            <a:outerShdw blurRad="38100" dist="38100" dir="2700000" algn="tl">
                              <a:srgbClr val="000000">
                                <a:alpha val="43137"/>
                              </a:srgbClr>
                            </a:outerShdw>
                          </a:effectLst>
                        </a:rPr>
                        <a:t>確立されていない。</a:t>
                      </a:r>
                      <a:endParaRPr kumimoji="1" lang="en-US" altLang="ja-JP" dirty="0">
                        <a:solidFill>
                          <a:srgbClr val="FF0000"/>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故障モードは</a:t>
                      </a:r>
                      <a:r>
                        <a:rPr kumimoji="1" lang="ja-JP" altLang="en-US" dirty="0">
                          <a:solidFill>
                            <a:srgbClr val="FF0000"/>
                          </a:solidFill>
                          <a:effectLst>
                            <a:outerShdw blurRad="38100" dist="38100" dir="2700000" algn="tl">
                              <a:srgbClr val="000000">
                                <a:alpha val="43137"/>
                              </a:srgbClr>
                            </a:outerShdw>
                          </a:effectLst>
                        </a:rPr>
                        <a:t>検出されない</a:t>
                      </a:r>
                      <a:r>
                        <a:rPr kumimoji="1" lang="ja-JP" altLang="en-US" dirty="0"/>
                        <a:t>、又は</a:t>
                      </a:r>
                      <a:r>
                        <a:rPr kumimoji="1" lang="ja-JP" altLang="en-US" dirty="0">
                          <a:solidFill>
                            <a:srgbClr val="FF0000"/>
                          </a:solidFill>
                          <a:effectLst>
                            <a:outerShdw blurRad="38100" dist="38100" dir="2700000" algn="tl">
                              <a:srgbClr val="000000">
                                <a:alpha val="43137"/>
                              </a:srgbClr>
                            </a:outerShdw>
                          </a:effectLst>
                        </a:rPr>
                        <a:t>検出できない</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313976"/>
                  </a:ext>
                </a:extLst>
              </a:tr>
              <a:tr h="705630">
                <a:tc>
                  <a:txBody>
                    <a:bodyPr/>
                    <a:lstStyle/>
                    <a:p>
                      <a:pPr algn="ctr"/>
                      <a:r>
                        <a:rPr kumimoji="1" lang="en-US" altLang="ja-JP" dirty="0"/>
                        <a:t>9</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試験又は検査方法が故障モードを検出する</a:t>
                      </a:r>
                      <a:r>
                        <a:rPr kumimoji="1" lang="ja-JP" altLang="en-US" dirty="0">
                          <a:solidFill>
                            <a:srgbClr val="FF0000"/>
                          </a:solidFill>
                          <a:effectLst>
                            <a:outerShdw blurRad="38100" dist="38100" dir="2700000" algn="tl">
                              <a:srgbClr val="000000">
                                <a:alpha val="43137"/>
                              </a:srgbClr>
                            </a:outerShdw>
                          </a:effectLst>
                        </a:rPr>
                        <a:t>可能性は低い</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故障モードは、ランダム又は散発的な監査（評価・検証）では</a:t>
                      </a:r>
                      <a:r>
                        <a:rPr kumimoji="1" lang="ja-JP" altLang="en-US" dirty="0">
                          <a:solidFill>
                            <a:srgbClr val="FF0000"/>
                          </a:solidFill>
                          <a:effectLst>
                            <a:outerShdw blurRad="38100" dist="38100" dir="2700000" algn="tl">
                              <a:srgbClr val="000000">
                                <a:alpha val="43137"/>
                              </a:srgbClr>
                            </a:outerShdw>
                          </a:effectLst>
                        </a:rPr>
                        <a:t>簡単には検出されない</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802897"/>
                  </a:ext>
                </a:extLst>
              </a:tr>
              <a:tr h="1008043">
                <a:tc>
                  <a:txBody>
                    <a:bodyPr/>
                    <a:lstStyle/>
                    <a:p>
                      <a:pPr algn="ctr"/>
                      <a:r>
                        <a:rPr kumimoji="1" lang="en-US" altLang="ja-JP" dirty="0"/>
                        <a:t>8</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低い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試験又は検査方法は、</a:t>
                      </a:r>
                      <a:r>
                        <a:rPr kumimoji="1" lang="ja-JP" altLang="en-US" dirty="0">
                          <a:solidFill>
                            <a:srgbClr val="FF0000"/>
                          </a:solidFill>
                          <a:effectLst>
                            <a:outerShdw blurRad="38100" dist="38100" dir="2700000" algn="tl">
                              <a:srgbClr val="000000">
                                <a:alpha val="43137"/>
                              </a:srgbClr>
                            </a:outerShdw>
                          </a:effectLst>
                        </a:rPr>
                        <a:t>有効であるとは証明されていない</a:t>
                      </a:r>
                      <a:r>
                        <a:rPr kumimoji="1" lang="ja-JP" altLang="en-US" dirty="0"/>
                        <a:t>。（例：組織での経験がない。最低限度の</a:t>
                      </a:r>
                      <a:r>
                        <a:rPr kumimoji="1" lang="en-US" altLang="ja-JP" dirty="0"/>
                        <a:t>GRR</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故障モード又は故障原因を検出するための</a:t>
                      </a:r>
                      <a:r>
                        <a:rPr kumimoji="1" lang="ja-JP" altLang="en-US" dirty="0">
                          <a:solidFill>
                            <a:srgbClr val="FF0000"/>
                          </a:solidFill>
                          <a:effectLst>
                            <a:outerShdw blurRad="38100" dist="38100" dir="2700000" algn="tl">
                              <a:srgbClr val="000000">
                                <a:alpha val="43137"/>
                              </a:srgbClr>
                            </a:outerShdw>
                          </a:effectLst>
                        </a:rPr>
                        <a:t>人による検査</a:t>
                      </a:r>
                      <a:r>
                        <a:rPr kumimoji="1" lang="ja-JP" altLang="en-US" dirty="0"/>
                        <a:t>（目視、触覚など）又は手動ゲージ（計量及び計数）の使用。</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7792542"/>
                  </a:ext>
                </a:extLst>
              </a:tr>
              <a:tr h="1008043">
                <a:tc>
                  <a:txBody>
                    <a:bodyPr/>
                    <a:lstStyle/>
                    <a:p>
                      <a:pPr algn="ctr"/>
                      <a:r>
                        <a:rPr kumimoji="1" lang="en-US" altLang="ja-JP" dirty="0"/>
                        <a:t>7</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機械ベースの検出</a:t>
                      </a:r>
                      <a:r>
                        <a:rPr kumimoji="1" lang="ja-JP" altLang="en-US" dirty="0"/>
                        <a:t>（ブザーなどによる通知）、或いは故障モード又は故障原因を検出する座標測定機器（三次元測定機など）の使用。</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1642221"/>
                  </a:ext>
                </a:extLst>
              </a:tr>
            </a:tbl>
          </a:graphicData>
        </a:graphic>
      </p:graphicFrame>
    </p:spTree>
    <p:extLst>
      <p:ext uri="{BB962C8B-B14F-4D97-AF65-F5344CB8AC3E}">
        <p14:creationId xmlns:p14="http://schemas.microsoft.com/office/powerpoint/2010/main" val="718022935"/>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36914"/>
            <a:ext cx="10515600" cy="491943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491</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0" y="1436914"/>
          <a:ext cx="10515600" cy="4919435"/>
        </p:xfrm>
        <a:graphic>
          <a:graphicData uri="http://schemas.openxmlformats.org/drawingml/2006/table">
            <a:tbl>
              <a:tblPr firstRow="1" bandRow="1">
                <a:tableStyleId>{5940675A-B579-460E-94D1-54222C63F5DA}</a:tableStyleId>
              </a:tblPr>
              <a:tblGrid>
                <a:gridCol w="642257">
                  <a:extLst>
                    <a:ext uri="{9D8B030D-6E8A-4147-A177-3AD203B41FA5}">
                      <a16:colId xmlns:a16="http://schemas.microsoft.com/office/drawing/2014/main" val="2868594551"/>
                    </a:ext>
                  </a:extLst>
                </a:gridCol>
                <a:gridCol w="1393372">
                  <a:extLst>
                    <a:ext uri="{9D8B030D-6E8A-4147-A177-3AD203B41FA5}">
                      <a16:colId xmlns:a16="http://schemas.microsoft.com/office/drawing/2014/main" val="3241245691"/>
                    </a:ext>
                  </a:extLst>
                </a:gridCol>
                <a:gridCol w="3352800">
                  <a:extLst>
                    <a:ext uri="{9D8B030D-6E8A-4147-A177-3AD203B41FA5}">
                      <a16:colId xmlns:a16="http://schemas.microsoft.com/office/drawing/2014/main" val="1549224104"/>
                    </a:ext>
                  </a:extLst>
                </a:gridCol>
                <a:gridCol w="5127171">
                  <a:extLst>
                    <a:ext uri="{9D8B030D-6E8A-4147-A177-3AD203B41FA5}">
                      <a16:colId xmlns:a16="http://schemas.microsoft.com/office/drawing/2014/main" val="3201873917"/>
                    </a:ext>
                  </a:extLst>
                </a:gridCol>
              </a:tblGrid>
              <a:tr h="393555">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検出方法の成熟度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検出の機会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1279053">
                <a:tc>
                  <a:txBody>
                    <a:bodyPr/>
                    <a:lstStyle/>
                    <a:p>
                      <a:pPr algn="ctr"/>
                      <a:r>
                        <a:rPr kumimoji="1" lang="en-US" altLang="ja-JP" dirty="0"/>
                        <a:t>6</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中程度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試験又は検査方法は、</a:t>
                      </a:r>
                      <a:r>
                        <a:rPr kumimoji="1" lang="ja-JP" altLang="en-US" dirty="0">
                          <a:solidFill>
                            <a:srgbClr val="FF0000"/>
                          </a:solidFill>
                          <a:effectLst>
                            <a:outerShdw blurRad="38100" dist="38100" dir="2700000" algn="tl">
                              <a:srgbClr val="000000">
                                <a:alpha val="43137"/>
                              </a:srgbClr>
                            </a:outerShdw>
                          </a:effectLst>
                        </a:rPr>
                        <a:t>有効で信頼性があると証明されている</a:t>
                      </a:r>
                      <a:r>
                        <a:rPr kumimoji="1" lang="ja-JP" altLang="en-US" dirty="0"/>
                        <a:t>。（例：組織での経験がある。許容可能な</a:t>
                      </a:r>
                      <a:r>
                        <a:rPr kumimoji="1" lang="en-US" altLang="ja-JP" dirty="0"/>
                        <a:t>GRR</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故障モード又は故障原因を検出するための</a:t>
                      </a:r>
                      <a:r>
                        <a:rPr kumimoji="1" lang="ja-JP" altLang="en-US" dirty="0">
                          <a:solidFill>
                            <a:srgbClr val="FF0000"/>
                          </a:solidFill>
                          <a:effectLst>
                            <a:outerShdw blurRad="38100" dist="38100" dir="2700000" algn="tl">
                              <a:srgbClr val="000000">
                                <a:alpha val="43137"/>
                              </a:srgbClr>
                            </a:outerShdw>
                          </a:effectLst>
                        </a:rPr>
                        <a:t>人による検査</a:t>
                      </a:r>
                      <a:r>
                        <a:rPr kumimoji="1" lang="ja-JP" altLang="en-US" dirty="0"/>
                        <a:t>（目視、触覚など）又は手動ゲージ（計量及び計数）の使用。（製品サンプルチェック含む。）</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2898972"/>
                  </a:ext>
                </a:extLst>
              </a:tr>
              <a:tr h="1279053">
                <a:tc>
                  <a:txBody>
                    <a:bodyPr/>
                    <a:lstStyle/>
                    <a:p>
                      <a:pPr algn="ctr"/>
                      <a:r>
                        <a:rPr kumimoji="1" lang="en-US" altLang="ja-JP" dirty="0"/>
                        <a:t>5</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機械ベースの検出</a:t>
                      </a:r>
                      <a:r>
                        <a:rPr kumimoji="1" lang="ja-JP" altLang="en-US" dirty="0"/>
                        <a:t>（ブザーなどによる通知）、或いは故障モード又は故障原因を検出する座標測定機器（三次元測定機など）の使用。（製品サンプルチェック含む。）</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596468"/>
                  </a:ext>
                </a:extLst>
              </a:tr>
              <a:tr h="983887">
                <a:tc>
                  <a:txBody>
                    <a:bodyPr/>
                    <a:lstStyle/>
                    <a:p>
                      <a:pPr algn="ctr"/>
                      <a:r>
                        <a:rPr kumimoji="1" lang="en-US" altLang="ja-JP" dirty="0"/>
                        <a:t>4</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試験又は検査の</a:t>
                      </a:r>
                      <a:r>
                        <a:rPr kumimoji="1" lang="ja-JP" altLang="en-US" dirty="0">
                          <a:solidFill>
                            <a:srgbClr val="FF0000"/>
                          </a:solidFill>
                          <a:effectLst>
                            <a:outerShdw blurRad="38100" dist="38100" dir="2700000" algn="tl">
                              <a:srgbClr val="000000">
                                <a:alpha val="43137"/>
                              </a:srgbClr>
                            </a:outerShdw>
                          </a:effectLst>
                        </a:rPr>
                        <a:t>システムは、有効で信頼できることが証明されている</a:t>
                      </a:r>
                      <a:r>
                        <a:rPr kumimoji="1" lang="ja-JP" altLang="en-US" dirty="0"/>
                        <a:t>。（例：組織は同一プロセスの経験がある。許容可能な</a:t>
                      </a:r>
                      <a:r>
                        <a:rPr kumimoji="1" lang="en-US" altLang="ja-JP" dirty="0"/>
                        <a:t>GRR</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後工程の故障モードを検出</a:t>
                      </a:r>
                      <a:r>
                        <a:rPr kumimoji="1" lang="ja-JP" altLang="en-US" dirty="0"/>
                        <a:t>し、それ以降の処置を防止する機械ベースのシステムにより、不適合を識別し、不適合品置場へ分離する。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9432088"/>
                  </a:ext>
                </a:extLst>
              </a:tr>
              <a:tr h="983887">
                <a:tc>
                  <a:txBody>
                    <a:bodyPr/>
                    <a:lstStyle/>
                    <a:p>
                      <a:pPr algn="ctr"/>
                      <a:r>
                        <a:rPr kumimoji="1" lang="en-US" altLang="ja-JP" dirty="0"/>
                        <a:t>3</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solidFill>
                            <a:srgbClr val="FF0000"/>
                          </a:solidFill>
                          <a:effectLst>
                            <a:outerShdw blurRad="38100" dist="38100" dir="2700000" algn="tl">
                              <a:srgbClr val="000000">
                                <a:alpha val="43137"/>
                              </a:srgbClr>
                            </a:outerShdw>
                          </a:effectLst>
                        </a:rPr>
                        <a:t>自工程の故障モードを検出</a:t>
                      </a:r>
                      <a:r>
                        <a:rPr kumimoji="1" lang="ja-JP" altLang="en-US" dirty="0"/>
                        <a:t>し、それ以降の処置を防止する機械ベースのシステムにより、不適合を識別し、不適合品置場へ分離する。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4779537"/>
                  </a:ext>
                </a:extLst>
              </a:tr>
            </a:tbl>
          </a:graphicData>
        </a:graphic>
      </p:graphicFrame>
    </p:spTree>
    <p:extLst>
      <p:ext uri="{BB962C8B-B14F-4D97-AF65-F5344CB8AC3E}">
        <p14:creationId xmlns:p14="http://schemas.microsoft.com/office/powerpoint/2010/main" val="1490007216"/>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36914"/>
            <a:ext cx="10515600" cy="491943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492</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5">
            <a:extLst>
              <a:ext uri="{FF2B5EF4-FFF2-40B4-BE49-F238E27FC236}">
                <a16:creationId xmlns:a16="http://schemas.microsoft.com/office/drawing/2014/main" id="{F1D9908B-0F47-4B6D-9CFC-7A9D29481BED}"/>
              </a:ext>
            </a:extLst>
          </p:cNvPr>
          <p:cNvGraphicFramePr>
            <a:graphicFrameLocks noGrp="1"/>
          </p:cNvGraphicFramePr>
          <p:nvPr/>
        </p:nvGraphicFramePr>
        <p:xfrm>
          <a:off x="838200" y="1436914"/>
          <a:ext cx="10515600" cy="2558142"/>
        </p:xfrm>
        <a:graphic>
          <a:graphicData uri="http://schemas.openxmlformats.org/drawingml/2006/table">
            <a:tbl>
              <a:tblPr firstRow="1" bandRow="1">
                <a:tableStyleId>{5940675A-B579-460E-94D1-54222C63F5DA}</a:tableStyleId>
              </a:tblPr>
              <a:tblGrid>
                <a:gridCol w="642257">
                  <a:extLst>
                    <a:ext uri="{9D8B030D-6E8A-4147-A177-3AD203B41FA5}">
                      <a16:colId xmlns:a16="http://schemas.microsoft.com/office/drawing/2014/main" val="2868594551"/>
                    </a:ext>
                  </a:extLst>
                </a:gridCol>
                <a:gridCol w="1393372">
                  <a:extLst>
                    <a:ext uri="{9D8B030D-6E8A-4147-A177-3AD203B41FA5}">
                      <a16:colId xmlns:a16="http://schemas.microsoft.com/office/drawing/2014/main" val="3241245691"/>
                    </a:ext>
                  </a:extLst>
                </a:gridCol>
                <a:gridCol w="3352800">
                  <a:extLst>
                    <a:ext uri="{9D8B030D-6E8A-4147-A177-3AD203B41FA5}">
                      <a16:colId xmlns:a16="http://schemas.microsoft.com/office/drawing/2014/main" val="1549224104"/>
                    </a:ext>
                  </a:extLst>
                </a:gridCol>
                <a:gridCol w="5127171">
                  <a:extLst>
                    <a:ext uri="{9D8B030D-6E8A-4147-A177-3AD203B41FA5}">
                      <a16:colId xmlns:a16="http://schemas.microsoft.com/office/drawing/2014/main" val="3201873917"/>
                    </a:ext>
                  </a:extLst>
                </a:gridCol>
              </a:tblGrid>
              <a:tr h="453019">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検出方法の成熟度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検出の機会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91493423"/>
                  </a:ext>
                </a:extLst>
              </a:tr>
              <a:tr h="1368330">
                <a:tc>
                  <a:txBody>
                    <a:bodyPr/>
                    <a:lstStyle/>
                    <a:p>
                      <a:pPr algn="ctr"/>
                      <a:r>
                        <a:rPr kumimoji="1" lang="en-US" altLang="ja-JP" dirty="0"/>
                        <a:t>2</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solidFill>
                            <a:srgbClr val="FF0000"/>
                          </a:solidFill>
                          <a:effectLst>
                            <a:outerShdw blurRad="38100" dist="38100" dir="2700000" algn="tl">
                              <a:srgbClr val="000000">
                                <a:alpha val="43137"/>
                              </a:srgbClr>
                            </a:outerShdw>
                          </a:effectLst>
                        </a:rPr>
                        <a:t>検出方法は、有効で信頼できることが証明されている</a:t>
                      </a:r>
                      <a:r>
                        <a:rPr kumimoji="1" lang="ja-JP" altLang="en-US" dirty="0"/>
                        <a:t>。（例：組織が手法、ポカヨケなどの経験がある。）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原因を検出し、故障モード（不適合製品）の</a:t>
                      </a:r>
                      <a:r>
                        <a:rPr kumimoji="1" lang="ja-JP" altLang="en-US" dirty="0">
                          <a:solidFill>
                            <a:srgbClr val="FF0000"/>
                          </a:solidFill>
                          <a:effectLst>
                            <a:outerShdw blurRad="38100" dist="38100" dir="2700000" algn="tl">
                              <a:srgbClr val="000000">
                                <a:alpha val="43137"/>
                              </a:srgbClr>
                            </a:outerShdw>
                          </a:effectLst>
                        </a:rPr>
                        <a:t>発生を防ぐ機械ベースの検出方法</a:t>
                      </a:r>
                      <a:r>
                        <a:rPr kumimoji="1" lang="ja-JP" altLang="en-US" dirty="0"/>
                        <a:t>。</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774799"/>
                  </a:ext>
                </a:extLst>
              </a:tr>
              <a:tr h="736793">
                <a:tc>
                  <a:txBody>
                    <a:bodyPr/>
                    <a:lstStyle/>
                    <a:p>
                      <a:pPr algn="ctr"/>
                      <a:r>
                        <a:rPr kumimoji="1" lang="en-US" altLang="ja-JP" dirty="0"/>
                        <a:t>1</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非常に高い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kumimoji="1" lang="ja-JP" altLang="en-US" dirty="0"/>
                        <a:t>設計、或いは製造工程によって、故障モードは物理的に発生しない、若しくは、検出方法は故障モード又は故障原因を</a:t>
                      </a:r>
                      <a:r>
                        <a:rPr kumimoji="1" lang="ja-JP" altLang="en-US" dirty="0">
                          <a:solidFill>
                            <a:srgbClr val="FF0000"/>
                          </a:solidFill>
                          <a:effectLst>
                            <a:outerShdw blurRad="38100" dist="38100" dir="2700000" algn="tl">
                              <a:srgbClr val="000000">
                                <a:alpha val="43137"/>
                              </a:srgbClr>
                            </a:outerShdw>
                          </a:effectLst>
                        </a:rPr>
                        <a:t>常に検出できる</a:t>
                      </a:r>
                      <a:r>
                        <a:rPr kumimoji="1" lang="ja-JP" altLang="en-US" dirty="0"/>
                        <a:t>ことが証明されている。</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9245638"/>
                  </a:ext>
                </a:extLst>
              </a:tr>
            </a:tbl>
          </a:graphicData>
        </a:graphic>
      </p:graphicFrame>
    </p:spTree>
    <p:extLst>
      <p:ext uri="{BB962C8B-B14F-4D97-AF65-F5344CB8AC3E}">
        <p14:creationId xmlns:p14="http://schemas.microsoft.com/office/powerpoint/2010/main" val="627317904"/>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1" indent="-457200">
              <a:lnSpc>
                <a:spcPct val="100000"/>
              </a:lnSpc>
              <a:buFont typeface="+mj-ea"/>
              <a:buAutoNum type="circleNumDbPlain" startAt="6"/>
            </a:pPr>
            <a:r>
              <a:rPr lang="ja-JP" altLang="en-US" dirty="0"/>
              <a:t>処置優先度</a:t>
            </a:r>
            <a:endParaRPr lang="en-US" altLang="ja-JP" dirty="0"/>
          </a:p>
          <a:p>
            <a:pPr lvl="2">
              <a:lnSpc>
                <a:spcPct val="100000"/>
              </a:lnSpc>
            </a:pPr>
            <a:r>
              <a:rPr lang="ja-JP" altLang="en-US" sz="2400" dirty="0"/>
              <a:t>厳しさ、発生頻度及び検出可能性の評価後、リスク低減のための取組みが必要となる。限りある資源を</a:t>
            </a:r>
            <a:r>
              <a:rPr lang="ja-JP" altLang="en-US" sz="2400" dirty="0">
                <a:solidFill>
                  <a:srgbClr val="FF0000"/>
                </a:solidFill>
                <a:effectLst>
                  <a:outerShdw blurRad="38100" dist="38100" dir="2700000" algn="tl">
                    <a:srgbClr val="000000">
                      <a:alpha val="43137"/>
                    </a:srgbClr>
                  </a:outerShdw>
                </a:effectLst>
              </a:rPr>
              <a:t>効果的に投資するために優先順位を決定する</a:t>
            </a:r>
            <a:r>
              <a:rPr lang="ja-JP" altLang="en-US" sz="2400" dirty="0"/>
              <a:t>。</a:t>
            </a:r>
            <a:endParaRPr lang="en-US" altLang="ja-JP" sz="2400" dirty="0"/>
          </a:p>
          <a:p>
            <a:pPr lvl="2">
              <a:lnSpc>
                <a:spcPct val="100000"/>
              </a:lnSpc>
            </a:pPr>
            <a:r>
              <a:rPr lang="en-US" altLang="ja-JP" sz="2400" dirty="0"/>
              <a:t>AIAG&amp;VDA</a:t>
            </a:r>
            <a:r>
              <a:rPr lang="ja-JP" altLang="en-US" sz="2400" dirty="0"/>
              <a:t>ハンドブックでは、リスク優先数（</a:t>
            </a:r>
            <a:r>
              <a:rPr lang="en-US" altLang="ja-JP" sz="2400" dirty="0"/>
              <a:t>RPN</a:t>
            </a:r>
            <a:r>
              <a:rPr lang="ja-JP" altLang="en-US" sz="2400" dirty="0"/>
              <a:t>：</a:t>
            </a:r>
            <a:r>
              <a:rPr lang="en-US" altLang="ja-JP" sz="2400" dirty="0"/>
              <a:t>S×O×D</a:t>
            </a:r>
            <a:r>
              <a:rPr lang="ja-JP" altLang="en-US" sz="2400" dirty="0"/>
              <a:t>）は推奨しない。➠「</a:t>
            </a:r>
            <a:r>
              <a:rPr lang="en-US" altLang="ja-JP" sz="2400" dirty="0"/>
              <a:t>S</a:t>
            </a:r>
            <a:r>
              <a:rPr lang="ja-JP" altLang="en-US" sz="2400" dirty="0"/>
              <a:t>」「</a:t>
            </a:r>
            <a:r>
              <a:rPr lang="en-US" altLang="ja-JP" sz="2400" dirty="0"/>
              <a:t>O</a:t>
            </a:r>
            <a:r>
              <a:rPr lang="ja-JP" altLang="en-US" sz="2400" dirty="0"/>
              <a:t>」「</a:t>
            </a:r>
            <a:r>
              <a:rPr lang="en-US" altLang="ja-JP" sz="2400" dirty="0"/>
              <a:t>D</a:t>
            </a:r>
            <a:r>
              <a:rPr lang="ja-JP" altLang="en-US" sz="2400" dirty="0"/>
              <a:t>」の重みが同等のため。</a:t>
            </a:r>
            <a:endParaRPr lang="en-US" altLang="ja-JP" sz="2400" dirty="0"/>
          </a:p>
          <a:p>
            <a:pPr lvl="2">
              <a:lnSpc>
                <a:spcPct val="100000"/>
              </a:lnSpc>
            </a:pPr>
            <a:r>
              <a:rPr lang="en-US" altLang="ja-JP" sz="2400" dirty="0"/>
              <a:t>AIAG&amp;VDA</a:t>
            </a:r>
            <a:r>
              <a:rPr lang="ja-JP" altLang="en-US" sz="2400" dirty="0"/>
              <a:t>ハンドブックでは、処置優先度（</a:t>
            </a:r>
            <a:r>
              <a:rPr lang="en-US" altLang="ja-JP" sz="2400" dirty="0"/>
              <a:t>AP</a:t>
            </a:r>
            <a:r>
              <a:rPr lang="ja-JP" altLang="en-US" sz="2400" dirty="0"/>
              <a:t>）を推奨する。　➠</a:t>
            </a:r>
            <a:r>
              <a:rPr lang="ja-JP" altLang="en-US" sz="2400" dirty="0">
                <a:solidFill>
                  <a:srgbClr val="FF0000"/>
                </a:solidFill>
                <a:effectLst>
                  <a:outerShdw blurRad="38100" dist="38100" dir="2700000" algn="tl">
                    <a:srgbClr val="000000">
                      <a:alpha val="43137"/>
                    </a:srgbClr>
                  </a:outerShdw>
                </a:effectLst>
              </a:rPr>
              <a:t>「</a:t>
            </a:r>
            <a:r>
              <a:rPr lang="en-US" altLang="ja-JP" sz="2400" dirty="0">
                <a:solidFill>
                  <a:srgbClr val="FF0000"/>
                </a:solidFill>
                <a:effectLst>
                  <a:outerShdw blurRad="38100" dist="38100" dir="2700000" algn="tl">
                    <a:srgbClr val="000000">
                      <a:alpha val="43137"/>
                    </a:srgbClr>
                  </a:outerShdw>
                </a:effectLst>
              </a:rPr>
              <a:t>S</a:t>
            </a:r>
            <a:r>
              <a:rPr lang="ja-JP" altLang="en-US" sz="2400" dirty="0">
                <a:solidFill>
                  <a:srgbClr val="FF0000"/>
                </a:solidFill>
                <a:effectLst>
                  <a:outerShdw blurRad="38100" dist="38100" dir="2700000" algn="tl">
                    <a:srgbClr val="000000">
                      <a:alpha val="43137"/>
                    </a:srgbClr>
                  </a:outerShdw>
                </a:effectLst>
              </a:rPr>
              <a:t>」「</a:t>
            </a:r>
            <a:r>
              <a:rPr lang="en-US" altLang="ja-JP" sz="2400" dirty="0">
                <a:solidFill>
                  <a:srgbClr val="FF0000"/>
                </a:solidFill>
                <a:effectLst>
                  <a:outerShdw blurRad="38100" dist="38100" dir="2700000" algn="tl">
                    <a:srgbClr val="000000">
                      <a:alpha val="43137"/>
                    </a:srgbClr>
                  </a:outerShdw>
                </a:effectLst>
              </a:rPr>
              <a:t>O</a:t>
            </a:r>
            <a:r>
              <a:rPr lang="ja-JP" altLang="en-US" sz="2400" dirty="0">
                <a:solidFill>
                  <a:srgbClr val="FF0000"/>
                </a:solidFill>
                <a:effectLst>
                  <a:outerShdw blurRad="38100" dist="38100" dir="2700000" algn="tl">
                    <a:srgbClr val="000000">
                      <a:alpha val="43137"/>
                    </a:srgbClr>
                  </a:outerShdw>
                </a:effectLst>
              </a:rPr>
              <a:t>」「</a:t>
            </a:r>
            <a:r>
              <a:rPr lang="en-US" altLang="ja-JP" sz="2400" dirty="0">
                <a:solidFill>
                  <a:srgbClr val="FF0000"/>
                </a:solidFill>
                <a:effectLst>
                  <a:outerShdw blurRad="38100" dist="38100" dir="2700000" algn="tl">
                    <a:srgbClr val="000000">
                      <a:alpha val="43137"/>
                    </a:srgbClr>
                  </a:outerShdw>
                </a:effectLst>
              </a:rPr>
              <a:t>D</a:t>
            </a:r>
            <a:r>
              <a:rPr lang="ja-JP" altLang="en-US" sz="2400" dirty="0">
                <a:solidFill>
                  <a:srgbClr val="FF0000"/>
                </a:solidFill>
                <a:effectLst>
                  <a:outerShdw blurRad="38100" dist="38100" dir="2700000" algn="tl">
                    <a:srgbClr val="000000">
                      <a:alpha val="43137"/>
                    </a:srgbClr>
                  </a:outerShdw>
                </a:effectLst>
              </a:rPr>
              <a:t>」の重みを考慮</a:t>
            </a:r>
            <a:r>
              <a:rPr lang="ja-JP" altLang="en-US" sz="2400" dirty="0"/>
              <a:t>し、連携した</a:t>
            </a:r>
            <a:r>
              <a:rPr lang="ja-JP" altLang="en-US" sz="2400" dirty="0">
                <a:solidFill>
                  <a:srgbClr val="FF0000"/>
                </a:solidFill>
                <a:effectLst>
                  <a:outerShdw blurRad="38100" dist="38100" dir="2700000" algn="tl">
                    <a:srgbClr val="000000">
                      <a:alpha val="43137"/>
                    </a:srgbClr>
                  </a:outerShdw>
                </a:effectLst>
              </a:rPr>
              <a:t>「処置優先度（</a:t>
            </a:r>
            <a:r>
              <a:rPr lang="en-US" altLang="ja-JP" sz="2400" dirty="0">
                <a:solidFill>
                  <a:srgbClr val="FF0000"/>
                </a:solidFill>
                <a:effectLst>
                  <a:outerShdw blurRad="38100" dist="38100" dir="2700000" algn="tl">
                    <a:srgbClr val="000000">
                      <a:alpha val="43137"/>
                    </a:srgbClr>
                  </a:outerShdw>
                </a:effectLst>
              </a:rPr>
              <a:t>AP</a:t>
            </a:r>
            <a:r>
              <a:rPr lang="ja-JP" altLang="en-US" sz="2400" dirty="0">
                <a:solidFill>
                  <a:srgbClr val="FF0000"/>
                </a:solidFill>
                <a:effectLst>
                  <a:outerShdw blurRad="38100" dist="38100" dir="2700000" algn="tl">
                    <a:srgbClr val="000000">
                      <a:alpha val="43137"/>
                    </a:srgbClr>
                  </a:outerShdw>
                </a:effectLst>
              </a:rPr>
              <a:t>）ランク表」により処置優先度を判断する</a:t>
            </a:r>
            <a:r>
              <a:rPr lang="ja-JP" altLang="en-US" sz="2400" dirty="0"/>
              <a:t>。</a:t>
            </a:r>
            <a:endParaRPr lang="en-US" altLang="ja-JP" sz="2400"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493</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518201939"/>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nSpc>
                <a:spcPct val="100000"/>
              </a:lnSpc>
              <a:buNone/>
            </a:pPr>
            <a:r>
              <a:rPr lang="ja-JP" altLang="en-US" sz="2400" dirty="0"/>
              <a:t>処置優先度表</a:t>
            </a:r>
            <a:endParaRPr lang="en-US" altLang="ja-JP" sz="2400"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494</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2" name="表 2">
            <a:extLst>
              <a:ext uri="{FF2B5EF4-FFF2-40B4-BE49-F238E27FC236}">
                <a16:creationId xmlns:a16="http://schemas.microsoft.com/office/drawing/2014/main" id="{2EBBAA12-D374-4C88-9474-EAABD5165726}"/>
              </a:ext>
            </a:extLst>
          </p:cNvPr>
          <p:cNvGraphicFramePr>
            <a:graphicFrameLocks noGrp="1"/>
          </p:cNvGraphicFramePr>
          <p:nvPr/>
        </p:nvGraphicFramePr>
        <p:xfrm>
          <a:off x="1524000" y="2058609"/>
          <a:ext cx="9829800" cy="3962400"/>
        </p:xfrm>
        <a:graphic>
          <a:graphicData uri="http://schemas.openxmlformats.org/drawingml/2006/table">
            <a:tbl>
              <a:tblPr firstRow="1" bandRow="1">
                <a:tableStyleId>{5940675A-B579-460E-94D1-54222C63F5DA}</a:tableStyleId>
              </a:tblPr>
              <a:tblGrid>
                <a:gridCol w="2416629">
                  <a:extLst>
                    <a:ext uri="{9D8B030D-6E8A-4147-A177-3AD203B41FA5}">
                      <a16:colId xmlns:a16="http://schemas.microsoft.com/office/drawing/2014/main" val="3278026033"/>
                    </a:ext>
                  </a:extLst>
                </a:gridCol>
                <a:gridCol w="7413171">
                  <a:extLst>
                    <a:ext uri="{9D8B030D-6E8A-4147-A177-3AD203B41FA5}">
                      <a16:colId xmlns:a16="http://schemas.microsoft.com/office/drawing/2014/main" val="1726850054"/>
                    </a:ext>
                  </a:extLst>
                </a:gridCol>
              </a:tblGrid>
              <a:tr h="370840">
                <a:tc>
                  <a:txBody>
                    <a:bodyPr/>
                    <a:lstStyle/>
                    <a:p>
                      <a:r>
                        <a:rPr kumimoji="1" lang="ja-JP" altLang="en-US" sz="2200" dirty="0"/>
                        <a:t>優先度　高（</a:t>
                      </a:r>
                      <a:r>
                        <a:rPr kumimoji="1" lang="en-US" altLang="ja-JP" sz="2200" dirty="0"/>
                        <a:t>H</a:t>
                      </a:r>
                      <a:r>
                        <a:rPr kumimoji="1" lang="ja-JP" altLang="en-US" sz="2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r>
                        <a:rPr kumimoji="1" lang="ja-JP" altLang="en-US" sz="2200" dirty="0"/>
                        <a:t>処置の優先度が最も高い。</a:t>
                      </a:r>
                      <a:endParaRPr kumimoji="1" lang="en-US" altLang="ja-JP" sz="2200" dirty="0"/>
                    </a:p>
                    <a:p>
                      <a:r>
                        <a:rPr kumimoji="1" lang="ja-JP" altLang="en-US" sz="2200" dirty="0"/>
                        <a:t>予防管理及び検出管理を改善するために</a:t>
                      </a:r>
                      <a:r>
                        <a:rPr kumimoji="1" lang="ja-JP" altLang="en-US" sz="2200" dirty="0">
                          <a:solidFill>
                            <a:srgbClr val="FF0000"/>
                          </a:solidFill>
                          <a:effectLst>
                            <a:outerShdw blurRad="38100" dist="38100" dir="2700000" algn="tl">
                              <a:srgbClr val="000000">
                                <a:alpha val="43137"/>
                              </a:srgbClr>
                            </a:outerShdw>
                          </a:effectLst>
                        </a:rPr>
                        <a:t>適切な処置を特定する</a:t>
                      </a:r>
                      <a:r>
                        <a:rPr kumimoji="1" lang="ja-JP" altLang="en-US" sz="2200" dirty="0"/>
                        <a:t>か、現行の管理が適切であることの根拠を示し、それを文書化する。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9239655"/>
                  </a:ext>
                </a:extLst>
              </a:tr>
              <a:tr h="370840">
                <a:tc>
                  <a:txBody>
                    <a:bodyPr/>
                    <a:lstStyle/>
                    <a:p>
                      <a:r>
                        <a:rPr kumimoji="1" lang="ja-JP" altLang="en-US" sz="2200" dirty="0"/>
                        <a:t>優先度　中（</a:t>
                      </a:r>
                      <a:r>
                        <a:rPr kumimoji="1" lang="en-US" altLang="ja-JP" sz="2200" dirty="0"/>
                        <a:t>M</a:t>
                      </a:r>
                      <a:r>
                        <a:rPr kumimoji="1" lang="ja-JP" altLang="en-US" sz="2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r>
                        <a:rPr kumimoji="1" lang="ja-JP" altLang="en-US" sz="2200" dirty="0"/>
                        <a:t>処置の優先度は中程度。</a:t>
                      </a:r>
                      <a:endParaRPr kumimoji="1" lang="en-US" altLang="ja-JP" sz="2200" dirty="0"/>
                    </a:p>
                    <a:p>
                      <a:r>
                        <a:rPr kumimoji="1" lang="ja-JP" altLang="en-US" sz="2200" dirty="0"/>
                        <a:t>予防管理及び検出管理を改善するために</a:t>
                      </a:r>
                      <a:r>
                        <a:rPr kumimoji="1" lang="ja-JP" altLang="en-US" sz="2200" dirty="0">
                          <a:solidFill>
                            <a:srgbClr val="FF0000"/>
                          </a:solidFill>
                          <a:effectLst>
                            <a:outerShdw blurRad="38100" dist="38100" dir="2700000" algn="tl">
                              <a:srgbClr val="000000">
                                <a:alpha val="43137"/>
                              </a:srgbClr>
                            </a:outerShdw>
                          </a:effectLst>
                        </a:rPr>
                        <a:t>適切な処置を特定する</a:t>
                      </a:r>
                      <a:r>
                        <a:rPr kumimoji="1" lang="ja-JP" altLang="en-US" sz="2200" dirty="0"/>
                        <a:t>か、組織の裁量で、現行の管理が適切であることの根拠を示し、それを文書化する。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0113938"/>
                  </a:ext>
                </a:extLst>
              </a:tr>
              <a:tr h="370840">
                <a:tc>
                  <a:txBody>
                    <a:bodyPr/>
                    <a:lstStyle/>
                    <a:p>
                      <a:r>
                        <a:rPr kumimoji="1" lang="ja-JP" altLang="en-US" sz="2200" dirty="0"/>
                        <a:t>優先度　低（</a:t>
                      </a:r>
                      <a:r>
                        <a:rPr kumimoji="1" lang="en-US" altLang="ja-JP" sz="2200" dirty="0"/>
                        <a:t>L</a:t>
                      </a:r>
                      <a:r>
                        <a:rPr kumimoji="1" lang="ja-JP" altLang="en-US" sz="2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r>
                        <a:rPr kumimoji="1" lang="ja-JP" altLang="en-US" sz="2200" dirty="0"/>
                        <a:t>処置の優先度は低い。</a:t>
                      </a:r>
                      <a:endParaRPr kumimoji="1" lang="en-US" altLang="ja-JP" sz="2200" dirty="0"/>
                    </a:p>
                    <a:p>
                      <a:r>
                        <a:rPr kumimoji="1" lang="ja-JP" altLang="en-US" sz="2200" dirty="0"/>
                        <a:t>予防管理及び検出管理を改善するために</a:t>
                      </a:r>
                      <a:r>
                        <a:rPr kumimoji="1" lang="ja-JP" altLang="en-US" sz="2200" dirty="0">
                          <a:solidFill>
                            <a:srgbClr val="FF0000"/>
                          </a:solidFill>
                          <a:effectLst>
                            <a:outerShdw blurRad="38100" dist="38100" dir="2700000" algn="tl">
                              <a:srgbClr val="000000">
                                <a:alpha val="43137"/>
                              </a:srgbClr>
                            </a:outerShdw>
                          </a:effectLst>
                        </a:rPr>
                        <a:t>適切な処置を特定することが可能</a:t>
                      </a:r>
                      <a:r>
                        <a:rPr kumimoji="1" lang="ja-JP" altLang="en-US" sz="2200" dirty="0"/>
                        <a:t>である。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98995"/>
                  </a:ext>
                </a:extLst>
              </a:tr>
            </a:tbl>
          </a:graphicData>
        </a:graphic>
      </p:graphicFrame>
    </p:spTree>
    <p:extLst>
      <p:ext uri="{BB962C8B-B14F-4D97-AF65-F5344CB8AC3E}">
        <p14:creationId xmlns:p14="http://schemas.microsoft.com/office/powerpoint/2010/main" val="2681229021"/>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gn="ctr">
              <a:lnSpc>
                <a:spcPct val="100000"/>
              </a:lnSpc>
              <a:buNone/>
            </a:pPr>
            <a:r>
              <a:rPr lang="ja-JP" altLang="en-US" sz="2400" u="sng" dirty="0"/>
              <a:t>処置優先度（</a:t>
            </a:r>
            <a:r>
              <a:rPr lang="en-US" altLang="ja-JP" sz="2400" u="sng" dirty="0"/>
              <a:t>AP</a:t>
            </a:r>
            <a:r>
              <a:rPr lang="ja-JP" altLang="en-US" sz="2400" u="sng" dirty="0"/>
              <a:t>）ランク表</a:t>
            </a: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495</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2088832"/>
          <a:ext cx="10515603" cy="4267521"/>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37658">
                  <a:extLst>
                    <a:ext uri="{9D8B030D-6E8A-4147-A177-3AD203B41FA5}">
                      <a16:colId xmlns:a16="http://schemas.microsoft.com/office/drawing/2014/main" val="1425981820"/>
                    </a:ext>
                  </a:extLst>
                </a:gridCol>
                <a:gridCol w="957942">
                  <a:extLst>
                    <a:ext uri="{9D8B030D-6E8A-4147-A177-3AD203B41FA5}">
                      <a16:colId xmlns:a16="http://schemas.microsoft.com/office/drawing/2014/main" val="4116928382"/>
                    </a:ext>
                  </a:extLst>
                </a:gridCol>
                <a:gridCol w="2873829">
                  <a:extLst>
                    <a:ext uri="{9D8B030D-6E8A-4147-A177-3AD203B41FA5}">
                      <a16:colId xmlns:a16="http://schemas.microsoft.com/office/drawing/2014/main" val="438357205"/>
                    </a:ext>
                  </a:extLst>
                </a:gridCol>
                <a:gridCol w="1045029">
                  <a:extLst>
                    <a:ext uri="{9D8B030D-6E8A-4147-A177-3AD203B41FA5}">
                      <a16:colId xmlns:a16="http://schemas.microsoft.com/office/drawing/2014/main" val="2489212972"/>
                    </a:ext>
                  </a:extLst>
                </a:gridCol>
                <a:gridCol w="1240974">
                  <a:extLst>
                    <a:ext uri="{9D8B030D-6E8A-4147-A177-3AD203B41FA5}">
                      <a16:colId xmlns:a16="http://schemas.microsoft.com/office/drawing/2014/main" val="1530752992"/>
                    </a:ext>
                  </a:extLst>
                </a:gridCol>
              </a:tblGrid>
              <a:tr h="474169">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74169">
                <a:tc rowSpan="8">
                  <a:txBody>
                    <a:bodyPr/>
                    <a:lstStyle/>
                    <a:p>
                      <a:pPr algn="ctr"/>
                      <a:r>
                        <a:rPr kumimoji="1" lang="ja-JP" altLang="en-US" dirty="0"/>
                        <a:t>製品又は工場への影響が非常に大きい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a:r>
                        <a:rPr kumimoji="1" lang="en-US" altLang="ja-JP" dirty="0"/>
                        <a:t>9-10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8-10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56283181"/>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416636524"/>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880557257"/>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4139134144"/>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6-7</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158396245"/>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778980854"/>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1018873"/>
                  </a:ext>
                </a:extLst>
              </a:tr>
              <a:tr h="47416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025457915"/>
                  </a:ext>
                </a:extLst>
              </a:tr>
            </a:tbl>
          </a:graphicData>
        </a:graphic>
      </p:graphicFrame>
    </p:spTree>
    <p:extLst>
      <p:ext uri="{BB962C8B-B14F-4D97-AF65-F5344CB8AC3E}">
        <p14:creationId xmlns:p14="http://schemas.microsoft.com/office/powerpoint/2010/main" val="1717843087"/>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496</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1"/>
          <a:ext cx="10515603" cy="4780940"/>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59429">
                  <a:extLst>
                    <a:ext uri="{9D8B030D-6E8A-4147-A177-3AD203B41FA5}">
                      <a16:colId xmlns:a16="http://schemas.microsoft.com/office/drawing/2014/main" val="1425981820"/>
                    </a:ext>
                  </a:extLst>
                </a:gridCol>
                <a:gridCol w="1001486">
                  <a:extLst>
                    <a:ext uri="{9D8B030D-6E8A-4147-A177-3AD203B41FA5}">
                      <a16:colId xmlns:a16="http://schemas.microsoft.com/office/drawing/2014/main" val="4116928382"/>
                    </a:ext>
                  </a:extLst>
                </a:gridCol>
                <a:gridCol w="2862943">
                  <a:extLst>
                    <a:ext uri="{9D8B030D-6E8A-4147-A177-3AD203B41FA5}">
                      <a16:colId xmlns:a16="http://schemas.microsoft.com/office/drawing/2014/main" val="438357205"/>
                    </a:ext>
                  </a:extLst>
                </a:gridCol>
                <a:gridCol w="968828">
                  <a:extLst>
                    <a:ext uri="{9D8B030D-6E8A-4147-A177-3AD203B41FA5}">
                      <a16:colId xmlns:a16="http://schemas.microsoft.com/office/drawing/2014/main" val="2489212972"/>
                    </a:ext>
                  </a:extLst>
                </a:gridCol>
                <a:gridCol w="1262746">
                  <a:extLst>
                    <a:ext uri="{9D8B030D-6E8A-4147-A177-3AD203B41FA5}">
                      <a16:colId xmlns:a16="http://schemas.microsoft.com/office/drawing/2014/main" val="1530752992"/>
                    </a:ext>
                  </a:extLst>
                </a:gridCol>
              </a:tblGrid>
              <a:tr h="478094">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78094">
                <a:tc rowSpan="9">
                  <a:txBody>
                    <a:bodyPr/>
                    <a:lstStyle/>
                    <a:p>
                      <a:pPr algn="ctr"/>
                      <a:r>
                        <a:rPr kumimoji="1" lang="ja-JP" altLang="en-US" dirty="0"/>
                        <a:t>製品又は工場への影響が非常に大きい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9">
                  <a:txBody>
                    <a:bodyPr/>
                    <a:lstStyle/>
                    <a:p>
                      <a:pPr algn="ctr"/>
                      <a:r>
                        <a:rPr kumimoji="1" lang="en-US" altLang="ja-JP" dirty="0"/>
                        <a:t>9-10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4-5</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56283181"/>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416636524"/>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880557257"/>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4139134144"/>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158396245"/>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778980854"/>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1018873"/>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r h="478094">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240098972"/>
                  </a:ext>
                </a:extLst>
              </a:tr>
            </a:tbl>
          </a:graphicData>
        </a:graphic>
      </p:graphicFrame>
    </p:spTree>
    <p:extLst>
      <p:ext uri="{BB962C8B-B14F-4D97-AF65-F5344CB8AC3E}">
        <p14:creationId xmlns:p14="http://schemas.microsoft.com/office/powerpoint/2010/main" val="2616988379"/>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497</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1"/>
          <a:ext cx="10515603" cy="4259331"/>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26772">
                  <a:extLst>
                    <a:ext uri="{9D8B030D-6E8A-4147-A177-3AD203B41FA5}">
                      <a16:colId xmlns:a16="http://schemas.microsoft.com/office/drawing/2014/main" val="1425981820"/>
                    </a:ext>
                  </a:extLst>
                </a:gridCol>
                <a:gridCol w="1012371">
                  <a:extLst>
                    <a:ext uri="{9D8B030D-6E8A-4147-A177-3AD203B41FA5}">
                      <a16:colId xmlns:a16="http://schemas.microsoft.com/office/drawing/2014/main" val="4116928382"/>
                    </a:ext>
                  </a:extLst>
                </a:gridCol>
                <a:gridCol w="2743200">
                  <a:extLst>
                    <a:ext uri="{9D8B030D-6E8A-4147-A177-3AD203B41FA5}">
                      <a16:colId xmlns:a16="http://schemas.microsoft.com/office/drawing/2014/main" val="438357205"/>
                    </a:ext>
                  </a:extLst>
                </a:gridCol>
                <a:gridCol w="1045029">
                  <a:extLst>
                    <a:ext uri="{9D8B030D-6E8A-4147-A177-3AD203B41FA5}">
                      <a16:colId xmlns:a16="http://schemas.microsoft.com/office/drawing/2014/main" val="2489212972"/>
                    </a:ext>
                  </a:extLst>
                </a:gridCol>
                <a:gridCol w="1328060">
                  <a:extLst>
                    <a:ext uri="{9D8B030D-6E8A-4147-A177-3AD203B41FA5}">
                      <a16:colId xmlns:a16="http://schemas.microsoft.com/office/drawing/2014/main" val="1530752992"/>
                    </a:ext>
                  </a:extLst>
                </a:gridCol>
              </a:tblGrid>
              <a:tr h="473259">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73259">
                <a:tc rowSpan="8">
                  <a:txBody>
                    <a:bodyPr/>
                    <a:lstStyle/>
                    <a:p>
                      <a:pPr algn="ctr"/>
                      <a:r>
                        <a:rPr kumimoji="1" lang="ja-JP" altLang="en-US" dirty="0"/>
                        <a:t>製品又は工場への影響が大きい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a:r>
                        <a:rPr kumimoji="1" lang="en-US" altLang="ja-JP" dirty="0"/>
                        <a:t>7-8</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8-10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56283181"/>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416636524"/>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880557257"/>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4139134144"/>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6-7</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158396245"/>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1778980854"/>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1018873"/>
                  </a:ext>
                </a:extLst>
              </a:tr>
              <a:tr h="473259">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025457915"/>
                  </a:ext>
                </a:extLst>
              </a:tr>
            </a:tbl>
          </a:graphicData>
        </a:graphic>
      </p:graphicFrame>
    </p:spTree>
    <p:extLst>
      <p:ext uri="{BB962C8B-B14F-4D97-AF65-F5344CB8AC3E}">
        <p14:creationId xmlns:p14="http://schemas.microsoft.com/office/powerpoint/2010/main" val="3909685537"/>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498</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2"/>
          <a:ext cx="10515603" cy="4302870"/>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70315">
                  <a:extLst>
                    <a:ext uri="{9D8B030D-6E8A-4147-A177-3AD203B41FA5}">
                      <a16:colId xmlns:a16="http://schemas.microsoft.com/office/drawing/2014/main" val="1425981820"/>
                    </a:ext>
                  </a:extLst>
                </a:gridCol>
                <a:gridCol w="1023257">
                  <a:extLst>
                    <a:ext uri="{9D8B030D-6E8A-4147-A177-3AD203B41FA5}">
                      <a16:colId xmlns:a16="http://schemas.microsoft.com/office/drawing/2014/main" val="4116928382"/>
                    </a:ext>
                  </a:extLst>
                </a:gridCol>
                <a:gridCol w="2775857">
                  <a:extLst>
                    <a:ext uri="{9D8B030D-6E8A-4147-A177-3AD203B41FA5}">
                      <a16:colId xmlns:a16="http://schemas.microsoft.com/office/drawing/2014/main" val="438357205"/>
                    </a:ext>
                  </a:extLst>
                </a:gridCol>
                <a:gridCol w="1001486">
                  <a:extLst>
                    <a:ext uri="{9D8B030D-6E8A-4147-A177-3AD203B41FA5}">
                      <a16:colId xmlns:a16="http://schemas.microsoft.com/office/drawing/2014/main" val="2489212972"/>
                    </a:ext>
                  </a:extLst>
                </a:gridCol>
                <a:gridCol w="1284517">
                  <a:extLst>
                    <a:ext uri="{9D8B030D-6E8A-4147-A177-3AD203B41FA5}">
                      <a16:colId xmlns:a16="http://schemas.microsoft.com/office/drawing/2014/main" val="1530752992"/>
                    </a:ext>
                  </a:extLst>
                </a:gridCol>
              </a:tblGrid>
              <a:tr h="430287">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30287">
                <a:tc rowSpan="9">
                  <a:txBody>
                    <a:bodyPr/>
                    <a:lstStyle/>
                    <a:p>
                      <a:pPr algn="ctr"/>
                      <a:r>
                        <a:rPr kumimoji="1" lang="ja-JP" altLang="en-US" dirty="0"/>
                        <a:t>製品又は工場への影響が大きい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9">
                  <a:txBody>
                    <a:bodyPr/>
                    <a:lstStyle/>
                    <a:p>
                      <a:pPr algn="ctr"/>
                      <a:r>
                        <a:rPr kumimoji="1" lang="en-US" altLang="ja-JP" dirty="0"/>
                        <a:t>7-8</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4-5</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56283181"/>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416636524"/>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880557257"/>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4139134144"/>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158396245"/>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778980854"/>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1018873"/>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r h="43028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240098972"/>
                  </a:ext>
                </a:extLst>
              </a:tr>
            </a:tbl>
          </a:graphicData>
        </a:graphic>
      </p:graphicFrame>
    </p:spTree>
    <p:extLst>
      <p:ext uri="{BB962C8B-B14F-4D97-AF65-F5344CB8AC3E}">
        <p14:creationId xmlns:p14="http://schemas.microsoft.com/office/powerpoint/2010/main" val="2709325113"/>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499</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2"/>
          <a:ext cx="10515603" cy="4074273"/>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92086">
                  <a:extLst>
                    <a:ext uri="{9D8B030D-6E8A-4147-A177-3AD203B41FA5}">
                      <a16:colId xmlns:a16="http://schemas.microsoft.com/office/drawing/2014/main" val="1425981820"/>
                    </a:ext>
                  </a:extLst>
                </a:gridCol>
                <a:gridCol w="990600">
                  <a:extLst>
                    <a:ext uri="{9D8B030D-6E8A-4147-A177-3AD203B41FA5}">
                      <a16:colId xmlns:a16="http://schemas.microsoft.com/office/drawing/2014/main" val="4116928382"/>
                    </a:ext>
                  </a:extLst>
                </a:gridCol>
                <a:gridCol w="2797629">
                  <a:extLst>
                    <a:ext uri="{9D8B030D-6E8A-4147-A177-3AD203B41FA5}">
                      <a16:colId xmlns:a16="http://schemas.microsoft.com/office/drawing/2014/main" val="438357205"/>
                    </a:ext>
                  </a:extLst>
                </a:gridCol>
                <a:gridCol w="990600">
                  <a:extLst>
                    <a:ext uri="{9D8B030D-6E8A-4147-A177-3AD203B41FA5}">
                      <a16:colId xmlns:a16="http://schemas.microsoft.com/office/drawing/2014/main" val="2489212972"/>
                    </a:ext>
                  </a:extLst>
                </a:gridCol>
                <a:gridCol w="1284517">
                  <a:extLst>
                    <a:ext uri="{9D8B030D-6E8A-4147-A177-3AD203B41FA5}">
                      <a16:colId xmlns:a16="http://schemas.microsoft.com/office/drawing/2014/main" val="1530752992"/>
                    </a:ext>
                  </a:extLst>
                </a:gridCol>
              </a:tblGrid>
              <a:tr h="452697">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52697">
                <a:tc rowSpan="8">
                  <a:txBody>
                    <a:bodyPr/>
                    <a:lstStyle/>
                    <a:p>
                      <a:pPr algn="ctr"/>
                      <a:r>
                        <a:rPr kumimoji="1" lang="ja-JP" altLang="en-US" dirty="0"/>
                        <a:t>製品又は工場への影響が中程度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a:r>
                        <a:rPr kumimoji="1" lang="en-US" altLang="ja-JP" dirty="0"/>
                        <a:t>4-6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8-10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2256283181"/>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extLst>
                  <a:ext uri="{0D108BD9-81ED-4DB2-BD59-A6C34878D82A}">
                    <a16:rowId xmlns:a16="http://schemas.microsoft.com/office/drawing/2014/main" val="3416636524"/>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880557257"/>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4139134144"/>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6-7</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158396245"/>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778980854"/>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221018873"/>
                  </a:ext>
                </a:extLst>
              </a:tr>
              <a:tr h="452697">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bl>
          </a:graphicData>
        </a:graphic>
      </p:graphicFrame>
    </p:spTree>
    <p:extLst>
      <p:ext uri="{BB962C8B-B14F-4D97-AF65-F5344CB8AC3E}">
        <p14:creationId xmlns:p14="http://schemas.microsoft.com/office/powerpoint/2010/main" val="1592629956"/>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500</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2"/>
          <a:ext cx="10515603" cy="4281100"/>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92086">
                  <a:extLst>
                    <a:ext uri="{9D8B030D-6E8A-4147-A177-3AD203B41FA5}">
                      <a16:colId xmlns:a16="http://schemas.microsoft.com/office/drawing/2014/main" val="1425981820"/>
                    </a:ext>
                  </a:extLst>
                </a:gridCol>
                <a:gridCol w="979714">
                  <a:extLst>
                    <a:ext uri="{9D8B030D-6E8A-4147-A177-3AD203B41FA5}">
                      <a16:colId xmlns:a16="http://schemas.microsoft.com/office/drawing/2014/main" val="4116928382"/>
                    </a:ext>
                  </a:extLst>
                </a:gridCol>
                <a:gridCol w="2775858">
                  <a:extLst>
                    <a:ext uri="{9D8B030D-6E8A-4147-A177-3AD203B41FA5}">
                      <a16:colId xmlns:a16="http://schemas.microsoft.com/office/drawing/2014/main" val="438357205"/>
                    </a:ext>
                  </a:extLst>
                </a:gridCol>
                <a:gridCol w="990600">
                  <a:extLst>
                    <a:ext uri="{9D8B030D-6E8A-4147-A177-3AD203B41FA5}">
                      <a16:colId xmlns:a16="http://schemas.microsoft.com/office/drawing/2014/main" val="2489212972"/>
                    </a:ext>
                  </a:extLst>
                </a:gridCol>
                <a:gridCol w="1317174">
                  <a:extLst>
                    <a:ext uri="{9D8B030D-6E8A-4147-A177-3AD203B41FA5}">
                      <a16:colId xmlns:a16="http://schemas.microsoft.com/office/drawing/2014/main" val="1530752992"/>
                    </a:ext>
                  </a:extLst>
                </a:gridCol>
              </a:tblGrid>
              <a:tr h="428110">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28110">
                <a:tc rowSpan="9">
                  <a:txBody>
                    <a:bodyPr/>
                    <a:lstStyle/>
                    <a:p>
                      <a:pPr algn="ctr"/>
                      <a:r>
                        <a:rPr kumimoji="1" lang="ja-JP" altLang="en-US" dirty="0"/>
                        <a:t>製品又は工場への影響が中程度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9">
                  <a:txBody>
                    <a:bodyPr/>
                    <a:lstStyle/>
                    <a:p>
                      <a:pPr algn="ctr"/>
                      <a:r>
                        <a:rPr kumimoji="1" lang="en-US" altLang="ja-JP" dirty="0"/>
                        <a:t>4-6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4-5</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2256283181"/>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416636524"/>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880557257"/>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4139134144"/>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158396245"/>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778980854"/>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1018873"/>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r h="42811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240098972"/>
                  </a:ext>
                </a:extLst>
              </a:tr>
            </a:tbl>
          </a:graphicData>
        </a:graphic>
      </p:graphicFrame>
    </p:spTree>
    <p:extLst>
      <p:ext uri="{BB962C8B-B14F-4D97-AF65-F5344CB8AC3E}">
        <p14:creationId xmlns:p14="http://schemas.microsoft.com/office/powerpoint/2010/main" val="794485687"/>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501</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2"/>
          <a:ext cx="10515603" cy="3998070"/>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1926772">
                  <a:extLst>
                    <a:ext uri="{9D8B030D-6E8A-4147-A177-3AD203B41FA5}">
                      <a16:colId xmlns:a16="http://schemas.microsoft.com/office/drawing/2014/main" val="1425981820"/>
                    </a:ext>
                  </a:extLst>
                </a:gridCol>
                <a:gridCol w="990600">
                  <a:extLst>
                    <a:ext uri="{9D8B030D-6E8A-4147-A177-3AD203B41FA5}">
                      <a16:colId xmlns:a16="http://schemas.microsoft.com/office/drawing/2014/main" val="4116928382"/>
                    </a:ext>
                  </a:extLst>
                </a:gridCol>
                <a:gridCol w="2775857">
                  <a:extLst>
                    <a:ext uri="{9D8B030D-6E8A-4147-A177-3AD203B41FA5}">
                      <a16:colId xmlns:a16="http://schemas.microsoft.com/office/drawing/2014/main" val="438357205"/>
                    </a:ext>
                  </a:extLst>
                </a:gridCol>
                <a:gridCol w="1045029">
                  <a:extLst>
                    <a:ext uri="{9D8B030D-6E8A-4147-A177-3AD203B41FA5}">
                      <a16:colId xmlns:a16="http://schemas.microsoft.com/office/drawing/2014/main" val="2489212972"/>
                    </a:ext>
                  </a:extLst>
                </a:gridCol>
                <a:gridCol w="1317174">
                  <a:extLst>
                    <a:ext uri="{9D8B030D-6E8A-4147-A177-3AD203B41FA5}">
                      <a16:colId xmlns:a16="http://schemas.microsoft.com/office/drawing/2014/main" val="1530752992"/>
                    </a:ext>
                  </a:extLst>
                </a:gridCol>
              </a:tblGrid>
              <a:tr h="444230">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44230">
                <a:tc rowSpan="8">
                  <a:txBody>
                    <a:bodyPr/>
                    <a:lstStyle/>
                    <a:p>
                      <a:pPr algn="ctr"/>
                      <a:r>
                        <a:rPr kumimoji="1" lang="ja-JP" altLang="en-US" dirty="0"/>
                        <a:t>製品又は工場への影響が小さい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8-10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2256283181"/>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416636524"/>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880557257"/>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4139134144"/>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6-7</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低いー非常に低い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158396245"/>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778980854"/>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1018873"/>
                  </a:ext>
                </a:extLst>
              </a:tr>
              <a:tr h="44423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bl>
          </a:graphicData>
        </a:graphic>
      </p:graphicFrame>
    </p:spTree>
    <p:extLst>
      <p:ext uri="{BB962C8B-B14F-4D97-AF65-F5344CB8AC3E}">
        <p14:creationId xmlns:p14="http://schemas.microsoft.com/office/powerpoint/2010/main" val="1414579079"/>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914400" lvl="2" indent="0" algn="ctr">
              <a:lnSpc>
                <a:spcPct val="100000"/>
              </a:lnSpc>
              <a:buNone/>
            </a:pPr>
            <a:endParaRPr lang="en-US" altLang="ja-JP" sz="2400" u="sng" dirty="0"/>
          </a:p>
          <a:p>
            <a:pPr marL="914400" lvl="2" indent="0">
              <a:lnSpc>
                <a:spcPct val="100000"/>
              </a:lnSpc>
              <a:buNone/>
            </a:pPr>
            <a:endParaRPr lang="ja-JP" altLang="en-US" sz="2400" dirty="0"/>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502</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graphicFrame>
        <p:nvGraphicFramePr>
          <p:cNvPr id="6" name="表 7">
            <a:extLst>
              <a:ext uri="{FF2B5EF4-FFF2-40B4-BE49-F238E27FC236}">
                <a16:creationId xmlns:a16="http://schemas.microsoft.com/office/drawing/2014/main" id="{2F67C21B-5DCA-4C64-B0A7-EB11405734AB}"/>
              </a:ext>
            </a:extLst>
          </p:cNvPr>
          <p:cNvGraphicFramePr>
            <a:graphicFrameLocks noGrp="1"/>
          </p:cNvGraphicFramePr>
          <p:nvPr/>
        </p:nvGraphicFramePr>
        <p:xfrm>
          <a:off x="838200" y="1575411"/>
          <a:ext cx="10515603" cy="4780936"/>
        </p:xfrm>
        <a:graphic>
          <a:graphicData uri="http://schemas.openxmlformats.org/drawingml/2006/table">
            <a:tbl>
              <a:tblPr firstRow="1" bandRow="1">
                <a:tableStyleId>{5940675A-B579-460E-94D1-54222C63F5DA}</a:tableStyleId>
              </a:tblPr>
              <a:tblGrid>
                <a:gridCol w="1513114">
                  <a:extLst>
                    <a:ext uri="{9D8B030D-6E8A-4147-A177-3AD203B41FA5}">
                      <a16:colId xmlns:a16="http://schemas.microsoft.com/office/drawing/2014/main" val="2042926253"/>
                    </a:ext>
                  </a:extLst>
                </a:gridCol>
                <a:gridCol w="947057">
                  <a:extLst>
                    <a:ext uri="{9D8B030D-6E8A-4147-A177-3AD203B41FA5}">
                      <a16:colId xmlns:a16="http://schemas.microsoft.com/office/drawing/2014/main" val="25297545"/>
                    </a:ext>
                  </a:extLst>
                </a:gridCol>
                <a:gridCol w="2024743">
                  <a:extLst>
                    <a:ext uri="{9D8B030D-6E8A-4147-A177-3AD203B41FA5}">
                      <a16:colId xmlns:a16="http://schemas.microsoft.com/office/drawing/2014/main" val="1425981820"/>
                    </a:ext>
                  </a:extLst>
                </a:gridCol>
                <a:gridCol w="957943">
                  <a:extLst>
                    <a:ext uri="{9D8B030D-6E8A-4147-A177-3AD203B41FA5}">
                      <a16:colId xmlns:a16="http://schemas.microsoft.com/office/drawing/2014/main" val="4116928382"/>
                    </a:ext>
                  </a:extLst>
                </a:gridCol>
                <a:gridCol w="2775857">
                  <a:extLst>
                    <a:ext uri="{9D8B030D-6E8A-4147-A177-3AD203B41FA5}">
                      <a16:colId xmlns:a16="http://schemas.microsoft.com/office/drawing/2014/main" val="438357205"/>
                    </a:ext>
                  </a:extLst>
                </a:gridCol>
                <a:gridCol w="1012372">
                  <a:extLst>
                    <a:ext uri="{9D8B030D-6E8A-4147-A177-3AD203B41FA5}">
                      <a16:colId xmlns:a16="http://schemas.microsoft.com/office/drawing/2014/main" val="2489212972"/>
                    </a:ext>
                  </a:extLst>
                </a:gridCol>
                <a:gridCol w="1284517">
                  <a:extLst>
                    <a:ext uri="{9D8B030D-6E8A-4147-A177-3AD203B41FA5}">
                      <a16:colId xmlns:a16="http://schemas.microsoft.com/office/drawing/2014/main" val="1530752992"/>
                    </a:ext>
                  </a:extLst>
                </a:gridCol>
              </a:tblGrid>
              <a:tr h="407720">
                <a:tc>
                  <a:txBody>
                    <a:bodyPr/>
                    <a:lstStyle/>
                    <a:p>
                      <a:pPr algn="ctr"/>
                      <a:r>
                        <a:rPr kumimoji="1" lang="ja-JP" altLang="en-US" dirty="0"/>
                        <a:t>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S</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故障原因発生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O</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検出能力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D</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dirty="0"/>
                        <a:t>AP</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54353510"/>
                  </a:ext>
                </a:extLst>
              </a:tr>
              <a:tr h="407720">
                <a:tc rowSpan="9">
                  <a:txBody>
                    <a:bodyPr/>
                    <a:lstStyle/>
                    <a:p>
                      <a:pPr algn="ctr"/>
                      <a:r>
                        <a:rPr kumimoji="1" lang="ja-JP" altLang="en-US" dirty="0"/>
                        <a:t>製品又は工場への影響が小さい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9">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4-5</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56283181"/>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416636524"/>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880557257"/>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4139134144"/>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ja-JP" altLang="en-US" dirty="0"/>
                        <a:t>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kumimoji="1" lang="en-US" altLang="ja-JP" dirty="0"/>
                        <a:t>2-3</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低い－非常に低い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7-10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158396245"/>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中程度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5-6</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778980854"/>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2-4</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21018873"/>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025457915"/>
                  </a:ext>
                </a:extLst>
              </a:tr>
              <a:tr h="407720">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240098972"/>
                  </a:ext>
                </a:extLst>
              </a:tr>
              <a:tr h="703736">
                <a:tc>
                  <a:txBody>
                    <a:bodyPr/>
                    <a:lstStyle/>
                    <a:p>
                      <a:pPr algn="ctr"/>
                      <a:r>
                        <a:rPr kumimoji="1" lang="ja-JP" altLang="en-US" dirty="0"/>
                        <a:t>認識できる影響なし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非常に低い－非常に高い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非常に高い－非常に低い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t>1-10</a:t>
                      </a:r>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t>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795834778"/>
                  </a:ext>
                </a:extLst>
              </a:tr>
            </a:tbl>
          </a:graphicData>
        </a:graphic>
      </p:graphicFrame>
    </p:spTree>
    <p:extLst>
      <p:ext uri="{BB962C8B-B14F-4D97-AF65-F5344CB8AC3E}">
        <p14:creationId xmlns:p14="http://schemas.microsoft.com/office/powerpoint/2010/main" val="3854665472"/>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7"/>
            </a:pPr>
            <a:r>
              <a:rPr lang="ja-JP" altLang="en-US" sz="2400" dirty="0"/>
              <a:t>ステップ６：最適化</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marL="914400" lvl="2" indent="0">
              <a:lnSpc>
                <a:spcPct val="100000"/>
              </a:lnSpc>
              <a:buNone/>
            </a:pPr>
            <a:r>
              <a:rPr lang="ja-JP" altLang="en-US" sz="2400" dirty="0"/>
              <a:t>顧客と利害関係者の期待に沿わない製品を納入するリスクを最少にするための処置の実施と評価。</a:t>
            </a:r>
            <a:endParaRPr lang="en-US" altLang="ja-JP" sz="2400" dirty="0"/>
          </a:p>
          <a:p>
            <a:pPr lvl="2">
              <a:lnSpc>
                <a:spcPct val="100000"/>
              </a:lnSpc>
            </a:pPr>
            <a:r>
              <a:rPr lang="ja-JP" altLang="en-US" sz="2400" dirty="0"/>
              <a:t>リスク低減のために必要な処置の決定及び責任権限の明確化</a:t>
            </a:r>
          </a:p>
          <a:p>
            <a:pPr lvl="2">
              <a:lnSpc>
                <a:spcPct val="100000"/>
              </a:lnSpc>
            </a:pPr>
            <a:r>
              <a:rPr lang="ja-JP" altLang="en-US" sz="2400" dirty="0"/>
              <a:t>処置の実施に関する文書化（リスク再分析含む）</a:t>
            </a:r>
            <a:endParaRPr lang="en-US" altLang="ja-JP" sz="2400" dirty="0"/>
          </a:p>
          <a:p>
            <a:pPr lvl="2">
              <a:lnSpc>
                <a:spcPct val="100000"/>
              </a:lnSpc>
            </a:pPr>
            <a:r>
              <a:rPr lang="ja-JP" altLang="en-US" sz="2400" dirty="0"/>
              <a:t>予防管理及び検出管理の改善の基礎</a:t>
            </a:r>
            <a:endParaRPr lang="en-US" altLang="ja-JP" sz="2400" dirty="0"/>
          </a:p>
          <a:p>
            <a:pPr marL="971550" lvl="1" indent="-514350">
              <a:lnSpc>
                <a:spcPct val="100000"/>
              </a:lnSpc>
              <a:buFont typeface="+mj-ea"/>
              <a:buAutoNum type="circleNumDbPlain"/>
            </a:pPr>
            <a:r>
              <a:rPr lang="ja-JP" altLang="en-US" dirty="0"/>
              <a:t>処置の状態</a:t>
            </a:r>
            <a:endParaRPr lang="en-US" altLang="ja-JP" sz="2400" dirty="0"/>
          </a:p>
          <a:p>
            <a:pPr lvl="2">
              <a:lnSpc>
                <a:spcPct val="100000"/>
              </a:lnSpc>
            </a:pPr>
            <a:r>
              <a:rPr lang="ja-JP" altLang="en-US" sz="2400" dirty="0"/>
              <a:t>未決定：処置の検討中</a:t>
            </a:r>
            <a:endParaRPr lang="en-US" altLang="ja-JP" sz="2400" dirty="0"/>
          </a:p>
          <a:p>
            <a:pPr lvl="2">
              <a:lnSpc>
                <a:spcPct val="100000"/>
              </a:lnSpc>
            </a:pPr>
            <a:r>
              <a:rPr lang="ja-JP" altLang="en-US" sz="2400" dirty="0"/>
              <a:t>保留（決定保留　</a:t>
            </a:r>
            <a:r>
              <a:rPr lang="en-US" altLang="ja-JP" sz="2400" dirty="0"/>
              <a:t>or</a:t>
            </a:r>
            <a:r>
              <a:rPr lang="ja-JP" altLang="en-US" sz="2400" dirty="0"/>
              <a:t>　実施保留）</a:t>
            </a:r>
            <a:endParaRPr lang="en-US" altLang="ja-JP" sz="2400" dirty="0"/>
          </a:p>
          <a:p>
            <a:pPr lvl="2">
              <a:lnSpc>
                <a:spcPct val="100000"/>
              </a:lnSpc>
            </a:pPr>
            <a:r>
              <a:rPr lang="ja-JP" altLang="en-US" sz="2400" dirty="0"/>
              <a:t>完了：有効性の再評価を含めた完了</a:t>
            </a:r>
            <a:endParaRPr lang="en-US" altLang="ja-JP" sz="2400" dirty="0"/>
          </a:p>
          <a:p>
            <a:pPr lvl="2">
              <a:lnSpc>
                <a:spcPct val="100000"/>
              </a:lnSpc>
            </a:pPr>
            <a:r>
              <a:rPr lang="ja-JP" altLang="en-US" sz="2400" dirty="0"/>
              <a:t>不実施：技術的限界など組織としての限界</a:t>
            </a:r>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503</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
        <p:nvSpPr>
          <p:cNvPr id="9" name="吹き出し: 角を丸めた四角形 8">
            <a:extLst>
              <a:ext uri="{FF2B5EF4-FFF2-40B4-BE49-F238E27FC236}">
                <a16:creationId xmlns:a16="http://schemas.microsoft.com/office/drawing/2014/main" id="{B668FDA6-6F43-4FA0-9347-01FFF2EE8D93}"/>
              </a:ext>
            </a:extLst>
          </p:cNvPr>
          <p:cNvSpPr/>
          <p:nvPr/>
        </p:nvSpPr>
        <p:spPr>
          <a:xfrm>
            <a:off x="7086600" y="4572000"/>
            <a:ext cx="4191000" cy="1121229"/>
          </a:xfrm>
          <a:prstGeom prst="wedgeRoundRectCallout">
            <a:avLst>
              <a:gd name="adj1" fmla="val -53719"/>
              <a:gd name="adj2" fmla="val -21909"/>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処置には、実施完了後にリスクが低減されない処置もあり得る。</a:t>
            </a:r>
          </a:p>
        </p:txBody>
      </p:sp>
    </p:spTree>
    <p:extLst>
      <p:ext uri="{BB962C8B-B14F-4D97-AF65-F5344CB8AC3E}">
        <p14:creationId xmlns:p14="http://schemas.microsoft.com/office/powerpoint/2010/main" val="3096544001"/>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575412"/>
            <a:ext cx="10515600" cy="478093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8"/>
            </a:pPr>
            <a:r>
              <a:rPr lang="ja-JP" altLang="en-US" sz="2400" dirty="0"/>
              <a:t>ステップ７：結果の文書化</a:t>
            </a:r>
            <a:endParaRPr lang="en-US" altLang="ja-JP" sz="2400" dirty="0"/>
          </a:p>
          <a:p>
            <a:pPr marL="914400" lvl="1" indent="-457200">
              <a:lnSpc>
                <a:spcPct val="100000"/>
              </a:lnSpc>
              <a:buFont typeface="+mj-ea"/>
              <a:buAutoNum type="circleNumDbPlain"/>
            </a:pPr>
            <a:r>
              <a:rPr lang="ja-JP" altLang="en-US" dirty="0"/>
              <a:t>目的</a:t>
            </a:r>
            <a:endParaRPr lang="en-US" altLang="ja-JP" dirty="0"/>
          </a:p>
          <a:p>
            <a:pPr marL="914400" lvl="2" indent="0">
              <a:lnSpc>
                <a:spcPct val="100000"/>
              </a:lnSpc>
              <a:buNone/>
            </a:pPr>
            <a:r>
              <a:rPr lang="en-US" altLang="ja-JP" sz="2400" dirty="0"/>
              <a:t>FMEA</a:t>
            </a:r>
            <a:r>
              <a:rPr lang="ja-JP" altLang="en-US" sz="2400" dirty="0"/>
              <a:t>の結果の共有。（顧客及びサプライヤーを含む）</a:t>
            </a:r>
            <a:endParaRPr lang="en-US" altLang="ja-JP" sz="2400" dirty="0"/>
          </a:p>
          <a:p>
            <a:pPr marL="971550" lvl="1" indent="-514350">
              <a:lnSpc>
                <a:spcPct val="100000"/>
              </a:lnSpc>
              <a:buFont typeface="+mj-ea"/>
              <a:buAutoNum type="circleNumDbPlain"/>
            </a:pPr>
            <a:r>
              <a:rPr lang="ja-JP" altLang="en-US" dirty="0"/>
              <a:t>共有化の内容</a:t>
            </a:r>
            <a:endParaRPr lang="en-US" altLang="ja-JP" dirty="0"/>
          </a:p>
          <a:p>
            <a:pPr lvl="2">
              <a:lnSpc>
                <a:spcPct val="100000"/>
              </a:lnSpc>
            </a:pPr>
            <a:r>
              <a:rPr lang="ja-JP" altLang="en-US" sz="2400" dirty="0"/>
              <a:t>ステップ１の計画に対するチェック（目的、完了期限、適用範囲など）</a:t>
            </a:r>
            <a:endParaRPr lang="en-US" altLang="ja-JP" sz="2400" dirty="0"/>
          </a:p>
          <a:p>
            <a:pPr lvl="2">
              <a:lnSpc>
                <a:spcPct val="100000"/>
              </a:lnSpc>
            </a:pPr>
            <a:r>
              <a:rPr lang="en-US" altLang="ja-JP" sz="2400" dirty="0"/>
              <a:t>FMEA</a:t>
            </a:r>
            <a:r>
              <a:rPr lang="ja-JP" altLang="en-US" sz="2400" dirty="0"/>
              <a:t>の結果（特に</a:t>
            </a:r>
            <a:r>
              <a:rPr lang="ja-JP" altLang="en-US" sz="2400" dirty="0">
                <a:solidFill>
                  <a:srgbClr val="FF0000"/>
                </a:solidFill>
                <a:effectLst>
                  <a:outerShdw blurRad="38100" dist="38100" dir="2700000" algn="tl">
                    <a:srgbClr val="000000">
                      <a:alpha val="43137"/>
                    </a:srgbClr>
                  </a:outerShdw>
                </a:effectLst>
              </a:rPr>
              <a:t>高リスクに対する処置結果</a:t>
            </a:r>
            <a:r>
              <a:rPr lang="ja-JP" altLang="en-US" sz="2400" dirty="0"/>
              <a:t>）</a:t>
            </a:r>
            <a:endParaRPr lang="en-US" altLang="ja-JP" sz="2400" dirty="0"/>
          </a:p>
          <a:p>
            <a:pPr lvl="2">
              <a:lnSpc>
                <a:spcPct val="100000"/>
              </a:lnSpc>
            </a:pPr>
            <a:r>
              <a:rPr lang="ja-JP" altLang="en-US" sz="2400" dirty="0"/>
              <a:t>実施した処置内容及び再評価結果</a:t>
            </a:r>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504</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４．ＦＭＥＡ（工程ＦＭＥＡの実施）</a:t>
            </a:r>
          </a:p>
        </p:txBody>
      </p:sp>
    </p:spTree>
    <p:extLst>
      <p:ext uri="{BB962C8B-B14F-4D97-AF65-F5344CB8AC3E}">
        <p14:creationId xmlns:p14="http://schemas.microsoft.com/office/powerpoint/2010/main" val="3727270716"/>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0"/>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７ステップアプローチの採用</a:t>
            </a:r>
          </a:p>
          <a:p>
            <a:pPr lvl="2">
              <a:lnSpc>
                <a:spcPct val="100000"/>
              </a:lnSpc>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505</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fontScale="90000"/>
          </a:bodyPr>
          <a:lstStyle/>
          <a:p>
            <a:r>
              <a:rPr lang="ja-JP" altLang="en-US" sz="3000" b="1" dirty="0">
                <a:solidFill>
                  <a:schemeClr val="bg1"/>
                </a:solidFill>
              </a:rPr>
              <a:t>４．ＦＭＥＡ（</a:t>
            </a:r>
            <a:r>
              <a:rPr lang="en-US" altLang="ja-JP" sz="2700" b="1" dirty="0">
                <a:solidFill>
                  <a:schemeClr val="bg1"/>
                </a:solidFill>
              </a:rPr>
              <a:t>AIAG</a:t>
            </a:r>
            <a:r>
              <a:rPr lang="ja-JP" altLang="en-US" sz="2700" b="1" dirty="0">
                <a:solidFill>
                  <a:schemeClr val="bg1"/>
                </a:solidFill>
              </a:rPr>
              <a:t>第４版　⇔　</a:t>
            </a:r>
            <a:r>
              <a:rPr lang="en-US" altLang="ja-JP" sz="2700" b="1" dirty="0">
                <a:solidFill>
                  <a:schemeClr val="bg1"/>
                </a:solidFill>
              </a:rPr>
              <a:t>AIAG&amp;VDA</a:t>
            </a:r>
            <a:r>
              <a:rPr lang="ja-JP" altLang="en-US" sz="2700" b="1" dirty="0">
                <a:solidFill>
                  <a:schemeClr val="bg1"/>
                </a:solidFill>
              </a:rPr>
              <a:t>ハンドブック主な変更点</a:t>
            </a:r>
            <a:r>
              <a:rPr lang="ja-JP" altLang="en-US" sz="3000" b="1" dirty="0">
                <a:solidFill>
                  <a:schemeClr val="bg1"/>
                </a:solidFill>
              </a:rPr>
              <a:t>）</a:t>
            </a:r>
          </a:p>
        </p:txBody>
      </p:sp>
      <p:graphicFrame>
        <p:nvGraphicFramePr>
          <p:cNvPr id="2" name="表 2">
            <a:extLst>
              <a:ext uri="{FF2B5EF4-FFF2-40B4-BE49-F238E27FC236}">
                <a16:creationId xmlns:a16="http://schemas.microsoft.com/office/drawing/2014/main" id="{D7896C06-C4EF-48BF-BC77-81616E9B46DA}"/>
              </a:ext>
            </a:extLst>
          </p:cNvPr>
          <p:cNvGraphicFramePr>
            <a:graphicFrameLocks noGrp="1"/>
          </p:cNvGraphicFramePr>
          <p:nvPr/>
        </p:nvGraphicFramePr>
        <p:xfrm>
          <a:off x="1480457" y="1905000"/>
          <a:ext cx="9470571" cy="4451345"/>
        </p:xfrm>
        <a:graphic>
          <a:graphicData uri="http://schemas.openxmlformats.org/drawingml/2006/table">
            <a:tbl>
              <a:tblPr firstRow="1" bandRow="1">
                <a:tableStyleId>{5940675A-B579-460E-94D1-54222C63F5DA}</a:tableStyleId>
              </a:tblPr>
              <a:tblGrid>
                <a:gridCol w="1240972">
                  <a:extLst>
                    <a:ext uri="{9D8B030D-6E8A-4147-A177-3AD203B41FA5}">
                      <a16:colId xmlns:a16="http://schemas.microsoft.com/office/drawing/2014/main" val="2514015840"/>
                    </a:ext>
                  </a:extLst>
                </a:gridCol>
                <a:gridCol w="3570514">
                  <a:extLst>
                    <a:ext uri="{9D8B030D-6E8A-4147-A177-3AD203B41FA5}">
                      <a16:colId xmlns:a16="http://schemas.microsoft.com/office/drawing/2014/main" val="1496660185"/>
                    </a:ext>
                  </a:extLst>
                </a:gridCol>
                <a:gridCol w="4659085">
                  <a:extLst>
                    <a:ext uri="{9D8B030D-6E8A-4147-A177-3AD203B41FA5}">
                      <a16:colId xmlns:a16="http://schemas.microsoft.com/office/drawing/2014/main" val="3874323451"/>
                    </a:ext>
                  </a:extLst>
                </a:gridCol>
              </a:tblGrid>
              <a:tr h="404669">
                <a:tc>
                  <a:txBody>
                    <a:bodyPr/>
                    <a:lstStyle/>
                    <a:p>
                      <a:pPr algn="ctr"/>
                      <a:r>
                        <a:rPr kumimoji="1" lang="ja-JP" altLang="en-US" sz="1800" dirty="0"/>
                        <a:t>ステップ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1800" dirty="0"/>
                        <a:t>AIAG&amp;VDA</a:t>
                      </a:r>
                      <a:r>
                        <a:rPr kumimoji="1" lang="ja-JP" altLang="en-US" sz="1800" dirty="0"/>
                        <a:t>ハンドブック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1800" dirty="0"/>
                        <a:t>AIAG</a:t>
                      </a:r>
                      <a:r>
                        <a:rPr kumimoji="1" lang="ja-JP" altLang="en-US" sz="1800" dirty="0"/>
                        <a:t>第４版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881590111"/>
                  </a:ext>
                </a:extLst>
              </a:tr>
              <a:tr h="337223">
                <a:tc rowSpan="3">
                  <a:txBody>
                    <a:bodyPr/>
                    <a:lstStyle/>
                    <a:p>
                      <a:pPr algn="ctr"/>
                      <a:r>
                        <a:rPr kumimoji="1" lang="ja-JP" altLang="en-US" sz="1600" dirty="0"/>
                        <a:t>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r>
                        <a:rPr kumimoji="1" lang="ja-JP" altLang="en-US" sz="1600" dirty="0"/>
                        <a:t>計画策定及び準備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チームの特定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390843"/>
                  </a:ext>
                </a:extLst>
              </a:tr>
              <a:tr h="337223">
                <a:tc vMerge="1">
                  <a:txBody>
                    <a:bodyPr/>
                    <a:lstStyle/>
                    <a:p>
                      <a:pPr algn="ct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適用範囲の決定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6855909"/>
                  </a:ext>
                </a:extLst>
              </a:tr>
              <a:tr h="337223">
                <a:tc vMerge="1">
                  <a:txBody>
                    <a:bodyPr/>
                    <a:lstStyle/>
                    <a:p>
                      <a:pPr algn="ct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顧客の定義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09251"/>
                  </a:ext>
                </a:extLst>
              </a:tr>
              <a:tr h="337223">
                <a:tc>
                  <a:txBody>
                    <a:bodyPr/>
                    <a:lstStyle/>
                    <a:p>
                      <a:pPr algn="ctr"/>
                      <a:r>
                        <a:rPr kumimoji="1" lang="ja-JP" altLang="en-US" sz="1600" dirty="0"/>
                        <a:t>２</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構造分析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sz="1600" dirty="0"/>
                        <a:t>機能、要求事項及び仕様の特定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776705"/>
                  </a:ext>
                </a:extLst>
              </a:tr>
              <a:tr h="337223">
                <a:tc>
                  <a:txBody>
                    <a:bodyPr/>
                    <a:lstStyle/>
                    <a:p>
                      <a:pPr algn="ctr"/>
                      <a:r>
                        <a:rPr kumimoji="1" lang="ja-JP" altLang="en-US" sz="1600" dirty="0"/>
                        <a:t>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機能分析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928162"/>
                  </a:ext>
                </a:extLst>
              </a:tr>
              <a:tr h="337223">
                <a:tc rowSpan="3">
                  <a:txBody>
                    <a:bodyPr/>
                    <a:lstStyle/>
                    <a:p>
                      <a:pPr algn="ctr"/>
                      <a:r>
                        <a:rPr kumimoji="1" lang="ja-JP" altLang="en-US" sz="1600" dirty="0"/>
                        <a:t>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r>
                        <a:rPr kumimoji="1" lang="ja-JP" altLang="en-US" sz="1600" dirty="0"/>
                        <a:t>故障分析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潜在的故障モードの特定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473208"/>
                  </a:ext>
                </a:extLst>
              </a:tr>
              <a:tr h="337223">
                <a:tc vMerge="1">
                  <a:txBody>
                    <a:bodyPr/>
                    <a:lstStyle/>
                    <a:p>
                      <a:pPr algn="ct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潜在的故障影響の特定</a:t>
                      </a:r>
                      <a:endParaRPr kumimoji="1" lang="en-US" altLang="ja-JP"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9576973"/>
                  </a:ext>
                </a:extLst>
              </a:tr>
              <a:tr h="337223">
                <a:tc vMerge="1">
                  <a:txBody>
                    <a:bodyPr/>
                    <a:lstStyle/>
                    <a:p>
                      <a:pPr algn="ct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潜在的故障原因の特定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955206"/>
                  </a:ext>
                </a:extLst>
              </a:tr>
              <a:tr h="337223">
                <a:tc rowSpan="2">
                  <a:txBody>
                    <a:bodyPr/>
                    <a:lstStyle/>
                    <a:p>
                      <a:pPr algn="ctr"/>
                      <a:r>
                        <a:rPr kumimoji="1" lang="ja-JP" altLang="en-US" sz="1600" dirty="0"/>
                        <a:t>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sz="1600" dirty="0"/>
                        <a:t>リスク分析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管理の特定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255216"/>
                  </a:ext>
                </a:extLst>
              </a:tr>
              <a:tr h="337223">
                <a:tc vMerge="1">
                  <a:txBody>
                    <a:bodyPr/>
                    <a:lstStyle/>
                    <a:p>
                      <a:pPr algn="ct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リスクの特定及び評価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1080472"/>
                  </a:ext>
                </a:extLst>
              </a:tr>
              <a:tr h="337223">
                <a:tc>
                  <a:txBody>
                    <a:bodyPr/>
                    <a:lstStyle/>
                    <a:p>
                      <a:pPr algn="ctr"/>
                      <a:r>
                        <a:rPr kumimoji="1" lang="ja-JP" altLang="en-US" sz="1600" dirty="0"/>
                        <a:t>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最適化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推奨処置及び結果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7619783"/>
                  </a:ext>
                </a:extLst>
              </a:tr>
              <a:tr h="337223">
                <a:tc>
                  <a:txBody>
                    <a:bodyPr/>
                    <a:lstStyle/>
                    <a:p>
                      <a:pPr algn="ctr"/>
                      <a:r>
                        <a:rPr kumimoji="1" lang="ja-JP" altLang="en-US" sz="1600" dirty="0"/>
                        <a:t>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結果の文書化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7034471"/>
                  </a:ext>
                </a:extLst>
              </a:tr>
            </a:tbl>
          </a:graphicData>
        </a:graphic>
      </p:graphicFrame>
    </p:spTree>
    <p:extLst>
      <p:ext uri="{BB962C8B-B14F-4D97-AF65-F5344CB8AC3E}">
        <p14:creationId xmlns:p14="http://schemas.microsoft.com/office/powerpoint/2010/main" val="3949103814"/>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1"/>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処置優先度</a:t>
            </a: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r>
              <a:rPr lang="ja-JP" altLang="en-US" sz="2400" dirty="0"/>
              <a:t>５Ｔの導入</a:t>
            </a:r>
            <a:endParaRPr lang="en-US" altLang="ja-JP" sz="2400" dirty="0"/>
          </a:p>
          <a:p>
            <a:pPr marL="457200" lvl="1" indent="0">
              <a:lnSpc>
                <a:spcPct val="100000"/>
              </a:lnSpc>
              <a:buNone/>
            </a:pPr>
            <a:r>
              <a:rPr lang="ja-JP" altLang="en-US" dirty="0"/>
              <a:t>ステップ１における計画事項　</a:t>
            </a:r>
            <a:r>
              <a:rPr lang="ja-JP" altLang="en-US" sz="2000" dirty="0"/>
              <a:t>～　</a:t>
            </a:r>
            <a:r>
              <a:rPr lang="en-US" altLang="ja-JP" sz="2000" dirty="0"/>
              <a:t>FMEA</a:t>
            </a:r>
            <a:r>
              <a:rPr lang="ja-JP" altLang="en-US" sz="2000" dirty="0"/>
              <a:t>手法</a:t>
            </a:r>
            <a:r>
              <a:rPr lang="en-US" altLang="ja-JP" sz="2000" dirty="0"/>
              <a:t>2</a:t>
            </a:r>
            <a:r>
              <a:rPr lang="ja-JP" altLang="en-US" sz="2000" dirty="0"/>
              <a:t>項参照　～</a:t>
            </a:r>
            <a:endParaRPr lang="en-US" altLang="ja-JP" sz="2000" dirty="0"/>
          </a:p>
          <a:p>
            <a:pPr marL="457200" indent="-457200">
              <a:lnSpc>
                <a:spcPct val="100000"/>
              </a:lnSpc>
              <a:buFont typeface="+mj-lt"/>
              <a:buAutoNum type="arabicPeriod" startAt="2"/>
            </a:pPr>
            <a:r>
              <a:rPr lang="en-US" altLang="ja-JP" sz="2400" dirty="0"/>
              <a:t>FMEA-MSR</a:t>
            </a:r>
            <a:r>
              <a:rPr lang="ja-JP" altLang="en-US" sz="2400" dirty="0"/>
              <a:t>の追加</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506</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fontScale="90000"/>
          </a:bodyPr>
          <a:lstStyle/>
          <a:p>
            <a:r>
              <a:rPr lang="ja-JP" altLang="en-US" sz="3000" b="1" dirty="0">
                <a:solidFill>
                  <a:schemeClr val="bg1"/>
                </a:solidFill>
              </a:rPr>
              <a:t>４．ＦＭＥＡ（</a:t>
            </a:r>
            <a:r>
              <a:rPr lang="en-US" altLang="ja-JP" sz="2700" b="1" dirty="0">
                <a:solidFill>
                  <a:schemeClr val="bg1"/>
                </a:solidFill>
              </a:rPr>
              <a:t>AIAG</a:t>
            </a:r>
            <a:r>
              <a:rPr lang="ja-JP" altLang="en-US" sz="2700" b="1" dirty="0">
                <a:solidFill>
                  <a:schemeClr val="bg1"/>
                </a:solidFill>
              </a:rPr>
              <a:t>第４版　⇔　</a:t>
            </a:r>
            <a:r>
              <a:rPr lang="en-US" altLang="ja-JP" sz="2700" b="1" dirty="0">
                <a:solidFill>
                  <a:schemeClr val="bg1"/>
                </a:solidFill>
              </a:rPr>
              <a:t>AIAG&amp;VDA</a:t>
            </a:r>
            <a:r>
              <a:rPr lang="ja-JP" altLang="en-US" sz="2700" b="1" dirty="0">
                <a:solidFill>
                  <a:schemeClr val="bg1"/>
                </a:solidFill>
              </a:rPr>
              <a:t>ハンドブック主な変更点</a:t>
            </a:r>
            <a:r>
              <a:rPr lang="ja-JP" altLang="en-US" sz="3000" b="1" dirty="0">
                <a:solidFill>
                  <a:schemeClr val="bg1"/>
                </a:solidFill>
              </a:rPr>
              <a:t>）</a:t>
            </a:r>
          </a:p>
        </p:txBody>
      </p:sp>
      <p:graphicFrame>
        <p:nvGraphicFramePr>
          <p:cNvPr id="3" name="表 5">
            <a:extLst>
              <a:ext uri="{FF2B5EF4-FFF2-40B4-BE49-F238E27FC236}">
                <a16:creationId xmlns:a16="http://schemas.microsoft.com/office/drawing/2014/main" id="{BB684FDB-FF5F-4BA1-87F3-E026C310DB02}"/>
              </a:ext>
            </a:extLst>
          </p:cNvPr>
          <p:cNvGraphicFramePr>
            <a:graphicFrameLocks noGrp="1"/>
          </p:cNvGraphicFramePr>
          <p:nvPr/>
        </p:nvGraphicFramePr>
        <p:xfrm>
          <a:off x="1400628" y="1949751"/>
          <a:ext cx="9583058" cy="2774649"/>
        </p:xfrm>
        <a:graphic>
          <a:graphicData uri="http://schemas.openxmlformats.org/drawingml/2006/table">
            <a:tbl>
              <a:tblPr firstRow="1" bandRow="1">
                <a:tableStyleId>{5940675A-B579-460E-94D1-54222C63F5DA}</a:tableStyleId>
              </a:tblPr>
              <a:tblGrid>
                <a:gridCol w="4791529">
                  <a:extLst>
                    <a:ext uri="{9D8B030D-6E8A-4147-A177-3AD203B41FA5}">
                      <a16:colId xmlns:a16="http://schemas.microsoft.com/office/drawing/2014/main" val="1180044245"/>
                    </a:ext>
                  </a:extLst>
                </a:gridCol>
                <a:gridCol w="4791529">
                  <a:extLst>
                    <a:ext uri="{9D8B030D-6E8A-4147-A177-3AD203B41FA5}">
                      <a16:colId xmlns:a16="http://schemas.microsoft.com/office/drawing/2014/main" val="3464512515"/>
                    </a:ext>
                  </a:extLst>
                </a:gridCol>
              </a:tblGrid>
              <a:tr h="474611">
                <a:tc>
                  <a:txBody>
                    <a:bodyPr/>
                    <a:lstStyle/>
                    <a:p>
                      <a:pPr algn="ctr"/>
                      <a:r>
                        <a:rPr kumimoji="1" lang="en-US" altLang="ja-JP" sz="2000" dirty="0"/>
                        <a:t>AIAG&amp;VDA</a:t>
                      </a:r>
                      <a:r>
                        <a:rPr kumimoji="1" lang="ja-JP" altLang="en-US" sz="2000" dirty="0"/>
                        <a:t>ハンドブック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en-US" altLang="ja-JP" sz="2000" dirty="0"/>
                        <a:t>AIAG</a:t>
                      </a:r>
                      <a:r>
                        <a:rPr kumimoji="1" lang="ja-JP" altLang="en-US" sz="2000" dirty="0"/>
                        <a:t>第４版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996884726"/>
                  </a:ext>
                </a:extLst>
              </a:tr>
              <a:tr h="2300038">
                <a:tc>
                  <a:txBody>
                    <a:bodyPr/>
                    <a:lstStyle/>
                    <a:p>
                      <a:r>
                        <a:rPr kumimoji="1" lang="ja-JP" altLang="en-US" sz="2000" dirty="0"/>
                        <a:t>厳しさ（</a:t>
                      </a:r>
                      <a:r>
                        <a:rPr kumimoji="1" lang="en-US" altLang="ja-JP" sz="2000" dirty="0"/>
                        <a:t>S</a:t>
                      </a:r>
                      <a:r>
                        <a:rPr kumimoji="1" lang="ja-JP" altLang="en-US" sz="2000" dirty="0"/>
                        <a:t>）、発生頻度（</a:t>
                      </a:r>
                      <a:r>
                        <a:rPr kumimoji="1" lang="en-US" altLang="ja-JP" sz="2000" dirty="0"/>
                        <a:t>O</a:t>
                      </a:r>
                      <a:r>
                        <a:rPr kumimoji="1" lang="ja-JP" altLang="en-US" sz="2000" dirty="0"/>
                        <a:t>）、検出可能性（</a:t>
                      </a:r>
                      <a:r>
                        <a:rPr kumimoji="1" lang="en-US" altLang="ja-JP" sz="2000" dirty="0"/>
                        <a:t>D</a:t>
                      </a:r>
                      <a:r>
                        <a:rPr kumimoji="1" lang="ja-JP" altLang="en-US" sz="2000" dirty="0"/>
                        <a:t>）の重みと関連させた処置優先度（</a:t>
                      </a:r>
                      <a:r>
                        <a:rPr kumimoji="1" lang="en-US" altLang="ja-JP" sz="2000" dirty="0"/>
                        <a:t>AP</a:t>
                      </a:r>
                      <a:r>
                        <a:rPr kumimoji="1" lang="ja-JP" altLang="en-US" sz="2000" dirty="0"/>
                        <a:t>）により次のランク分け</a:t>
                      </a:r>
                      <a:endParaRPr kumimoji="1" lang="en-US" altLang="ja-JP" sz="2000" dirty="0"/>
                    </a:p>
                    <a:p>
                      <a:pPr marL="342900" indent="-342900">
                        <a:buFont typeface="Arial" panose="020B0604020202020204" pitchFamily="34" charset="0"/>
                        <a:buChar char="•"/>
                      </a:pPr>
                      <a:r>
                        <a:rPr kumimoji="1" lang="ja-JP" altLang="en-US" sz="2000" dirty="0"/>
                        <a:t>優先度　高</a:t>
                      </a:r>
                      <a:endParaRPr kumimoji="1" lang="en-US" altLang="ja-JP" sz="2000" dirty="0"/>
                    </a:p>
                    <a:p>
                      <a:pPr marL="342900" indent="-342900">
                        <a:buFont typeface="Arial" panose="020B0604020202020204" pitchFamily="34" charset="0"/>
                        <a:buChar char="•"/>
                      </a:pPr>
                      <a:r>
                        <a:rPr kumimoji="1" lang="ja-JP" altLang="en-US" sz="2000" dirty="0"/>
                        <a:t>優先度　中</a:t>
                      </a:r>
                      <a:endParaRPr kumimoji="1" lang="en-US" altLang="ja-JP" sz="2000" dirty="0"/>
                    </a:p>
                    <a:p>
                      <a:pPr marL="342900" indent="-342900">
                        <a:buFont typeface="Arial" panose="020B0604020202020204" pitchFamily="34" charset="0"/>
                        <a:buChar char="•"/>
                      </a:pPr>
                      <a:r>
                        <a:rPr kumimoji="1" lang="ja-JP" altLang="en-US" sz="2000" dirty="0"/>
                        <a:t>優先度　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厳しさ（</a:t>
                      </a:r>
                      <a:r>
                        <a:rPr kumimoji="1" lang="en-US" altLang="ja-JP" sz="2000" dirty="0"/>
                        <a:t>S</a:t>
                      </a:r>
                      <a:r>
                        <a:rPr kumimoji="1" lang="ja-JP" altLang="en-US" sz="2000" dirty="0"/>
                        <a:t>）</a:t>
                      </a:r>
                      <a:r>
                        <a:rPr kumimoji="1" lang="en-US" altLang="ja-JP" sz="2000" dirty="0"/>
                        <a:t>×</a:t>
                      </a:r>
                      <a:r>
                        <a:rPr kumimoji="1" lang="ja-JP" altLang="en-US" sz="2000" dirty="0"/>
                        <a:t>発生頻度（</a:t>
                      </a:r>
                      <a:r>
                        <a:rPr kumimoji="1" lang="en-US" altLang="ja-JP" sz="2000" dirty="0"/>
                        <a:t>O</a:t>
                      </a:r>
                      <a:r>
                        <a:rPr kumimoji="1" lang="ja-JP" altLang="en-US" sz="2000" dirty="0"/>
                        <a:t>）</a:t>
                      </a:r>
                      <a:r>
                        <a:rPr kumimoji="1" lang="en-US" altLang="ja-JP" sz="2000" dirty="0"/>
                        <a:t>×</a:t>
                      </a:r>
                      <a:r>
                        <a:rPr kumimoji="1" lang="ja-JP" altLang="en-US" sz="2000" dirty="0"/>
                        <a:t>検出可能性（</a:t>
                      </a:r>
                      <a:r>
                        <a:rPr kumimoji="1" lang="en-US" altLang="ja-JP" sz="2000" dirty="0"/>
                        <a:t>D</a:t>
                      </a:r>
                      <a:r>
                        <a:rPr kumimoji="1" lang="ja-JP" altLang="en-US" sz="2000" dirty="0"/>
                        <a:t>）＝優先度（</a:t>
                      </a:r>
                      <a:r>
                        <a:rPr kumimoji="1" lang="en-US" altLang="ja-JP" sz="2000" dirty="0"/>
                        <a:t>RPN</a:t>
                      </a:r>
                      <a:r>
                        <a:rPr kumimoji="1" lang="ja-JP" altLang="en-US" sz="2000" dirty="0"/>
                        <a:t>）を考慮し、厳しさ（</a:t>
                      </a:r>
                      <a:r>
                        <a:rPr kumimoji="1" lang="en-US" altLang="ja-JP" sz="2000" dirty="0"/>
                        <a:t>S</a:t>
                      </a:r>
                      <a:r>
                        <a:rPr kumimoji="1" lang="ja-JP" altLang="en-US" sz="2000" dirty="0"/>
                        <a:t>）の重みを最優先にした優先度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519215"/>
                  </a:ext>
                </a:extLst>
              </a:tr>
            </a:tbl>
          </a:graphicData>
        </a:graphic>
      </p:graphicFrame>
    </p:spTree>
    <p:extLst>
      <p:ext uri="{BB962C8B-B14F-4D97-AF65-F5344CB8AC3E}">
        <p14:creationId xmlns:p14="http://schemas.microsoft.com/office/powerpoint/2010/main" val="1699955205"/>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1"/>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507</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a:t>
            </a:r>
            <a:r>
              <a:rPr lang="ja-JP" altLang="en-US" sz="2700" b="1" dirty="0">
                <a:solidFill>
                  <a:schemeClr val="bg1"/>
                </a:solidFill>
              </a:rPr>
              <a:t>様式及び記載要領</a:t>
            </a:r>
            <a:r>
              <a:rPr lang="ja-JP" altLang="en-US" sz="3000" b="1" dirty="0">
                <a:solidFill>
                  <a:schemeClr val="bg1"/>
                </a:solidFill>
              </a:rPr>
              <a:t>）</a:t>
            </a:r>
          </a:p>
        </p:txBody>
      </p:sp>
      <p:pic>
        <p:nvPicPr>
          <p:cNvPr id="8" name="図 7">
            <a:extLst>
              <a:ext uri="{FF2B5EF4-FFF2-40B4-BE49-F238E27FC236}">
                <a16:creationId xmlns:a16="http://schemas.microsoft.com/office/drawing/2014/main" id="{7608BD6C-33E4-4C71-AB69-7C0A72058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47799"/>
            <a:ext cx="10515600" cy="490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133136"/>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B8F68EC5-EA41-4F99-AF96-106DA9A7C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47799"/>
            <a:ext cx="10515600" cy="4908549"/>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1"/>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508</a:t>
            </a:fld>
            <a:endParaRPr kumimoji="1" lang="ja-JP" altLang="en-US"/>
          </a:p>
        </p:txBody>
      </p:sp>
      <p:sp>
        <p:nvSpPr>
          <p:cNvPr id="12" name="タイトル 1">
            <a:extLst>
              <a:ext uri="{FF2B5EF4-FFF2-40B4-BE49-F238E27FC236}">
                <a16:creationId xmlns:a16="http://schemas.microsoft.com/office/drawing/2014/main" id="{CA950099-C4C0-4C29-A90B-2D25EFE0B8D8}"/>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６．</a:t>
            </a:r>
            <a:r>
              <a:rPr lang="ja-JP" altLang="en-US" sz="2700" b="1" dirty="0">
                <a:solidFill>
                  <a:schemeClr val="bg1"/>
                </a:solidFill>
              </a:rPr>
              <a:t>様式及び記載要領</a:t>
            </a:r>
            <a:endParaRPr lang="ja-JP" altLang="en-US" sz="3000" b="1" dirty="0">
              <a:solidFill>
                <a:schemeClr val="bg1"/>
              </a:solidFill>
            </a:endParaRPr>
          </a:p>
        </p:txBody>
      </p:sp>
      <p:sp>
        <p:nvSpPr>
          <p:cNvPr id="2" name="楕円 1">
            <a:extLst>
              <a:ext uri="{FF2B5EF4-FFF2-40B4-BE49-F238E27FC236}">
                <a16:creationId xmlns:a16="http://schemas.microsoft.com/office/drawing/2014/main" id="{069FF101-6ECD-4A5F-A830-B56F73C0F445}"/>
              </a:ext>
            </a:extLst>
          </p:cNvPr>
          <p:cNvSpPr/>
          <p:nvPr/>
        </p:nvSpPr>
        <p:spPr>
          <a:xfrm>
            <a:off x="5106836" y="2206469"/>
            <a:ext cx="1682151" cy="495958"/>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rgbClr val="FF0000"/>
                </a:solidFill>
              </a:rPr>
              <a:t>このＭが</a:t>
            </a:r>
          </a:p>
        </p:txBody>
      </p:sp>
      <p:sp>
        <p:nvSpPr>
          <p:cNvPr id="8" name="楕円 7">
            <a:extLst>
              <a:ext uri="{FF2B5EF4-FFF2-40B4-BE49-F238E27FC236}">
                <a16:creationId xmlns:a16="http://schemas.microsoft.com/office/drawing/2014/main" id="{C8459E86-1239-45FF-B130-D892CD7E4B97}"/>
              </a:ext>
            </a:extLst>
          </p:cNvPr>
          <p:cNvSpPr/>
          <p:nvPr/>
        </p:nvSpPr>
        <p:spPr>
          <a:xfrm>
            <a:off x="9523562" y="2134177"/>
            <a:ext cx="2037272" cy="640542"/>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rgbClr val="FF0000"/>
                </a:solidFill>
              </a:rPr>
              <a:t>こういう機能を果たせば</a:t>
            </a:r>
          </a:p>
        </p:txBody>
      </p:sp>
      <p:sp>
        <p:nvSpPr>
          <p:cNvPr id="10" name="楕円 9">
            <a:extLst>
              <a:ext uri="{FF2B5EF4-FFF2-40B4-BE49-F238E27FC236}">
                <a16:creationId xmlns:a16="http://schemas.microsoft.com/office/drawing/2014/main" id="{9BCE6DF5-476B-4B68-A30F-AB0C12AE5244}"/>
              </a:ext>
            </a:extLst>
          </p:cNvPr>
          <p:cNvSpPr/>
          <p:nvPr/>
        </p:nvSpPr>
        <p:spPr>
          <a:xfrm>
            <a:off x="8153400" y="5850015"/>
            <a:ext cx="1682151" cy="495958"/>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rgbClr val="FF0000"/>
                </a:solidFill>
              </a:rPr>
              <a:t>こうなる</a:t>
            </a:r>
            <a:endParaRPr kumimoji="1" lang="ja-JP" altLang="en-US" sz="1600" dirty="0">
              <a:solidFill>
                <a:srgbClr val="FF0000"/>
              </a:solidFill>
            </a:endParaRPr>
          </a:p>
        </p:txBody>
      </p:sp>
      <p:cxnSp>
        <p:nvCxnSpPr>
          <p:cNvPr id="6" name="直線矢印コネクタ 5">
            <a:extLst>
              <a:ext uri="{FF2B5EF4-FFF2-40B4-BE49-F238E27FC236}">
                <a16:creationId xmlns:a16="http://schemas.microsoft.com/office/drawing/2014/main" id="{638690B2-38A6-46CA-9DBF-F242E3D71FE4}"/>
              </a:ext>
            </a:extLst>
          </p:cNvPr>
          <p:cNvCxnSpPr>
            <a:cxnSpLocks/>
            <a:stCxn id="2" idx="6"/>
            <a:endCxn id="8" idx="2"/>
          </p:cNvCxnSpPr>
          <p:nvPr/>
        </p:nvCxnSpPr>
        <p:spPr>
          <a:xfrm>
            <a:off x="6788987" y="2454448"/>
            <a:ext cx="2734575"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ADBBBB06-199B-4C0A-980E-99FA70E2F5E7}"/>
              </a:ext>
            </a:extLst>
          </p:cNvPr>
          <p:cNvCxnSpPr>
            <a:stCxn id="8" idx="4"/>
            <a:endCxn id="10" idx="0"/>
          </p:cNvCxnSpPr>
          <p:nvPr/>
        </p:nvCxnSpPr>
        <p:spPr>
          <a:xfrm flipH="1">
            <a:off x="8994476" y="2774719"/>
            <a:ext cx="1547722" cy="307529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00243"/>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F55E0215-CEA3-44AA-9912-623785A74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7" y="1447801"/>
            <a:ext cx="10515600" cy="4908548"/>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1"/>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509</a:t>
            </a:fld>
            <a:endParaRPr kumimoji="1" lang="ja-JP" altLang="en-US"/>
          </a:p>
        </p:txBody>
      </p:sp>
      <p:sp>
        <p:nvSpPr>
          <p:cNvPr id="12" name="タイトル 1">
            <a:extLst>
              <a:ext uri="{FF2B5EF4-FFF2-40B4-BE49-F238E27FC236}">
                <a16:creationId xmlns:a16="http://schemas.microsoft.com/office/drawing/2014/main" id="{5B703F46-17BF-4ACD-A053-75013EA43BD5}"/>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６．</a:t>
            </a:r>
            <a:r>
              <a:rPr lang="ja-JP" altLang="en-US" sz="2700" b="1" dirty="0">
                <a:solidFill>
                  <a:schemeClr val="bg1"/>
                </a:solidFill>
              </a:rPr>
              <a:t>様式及び記載要領</a:t>
            </a:r>
            <a:endParaRPr lang="ja-JP" altLang="en-US" sz="3000" b="1" dirty="0">
              <a:solidFill>
                <a:schemeClr val="bg1"/>
              </a:solidFill>
            </a:endParaRPr>
          </a:p>
        </p:txBody>
      </p:sp>
      <p:sp>
        <p:nvSpPr>
          <p:cNvPr id="9" name="楕円 8">
            <a:extLst>
              <a:ext uri="{FF2B5EF4-FFF2-40B4-BE49-F238E27FC236}">
                <a16:creationId xmlns:a16="http://schemas.microsoft.com/office/drawing/2014/main" id="{4310FA88-1E4E-485F-8CD9-D5BE80424ED7}"/>
              </a:ext>
            </a:extLst>
          </p:cNvPr>
          <p:cNvSpPr/>
          <p:nvPr/>
        </p:nvSpPr>
        <p:spPr>
          <a:xfrm>
            <a:off x="4537494" y="2060144"/>
            <a:ext cx="2037272" cy="640542"/>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rgbClr val="FF0000"/>
                </a:solidFill>
              </a:rPr>
              <a:t>こうなると</a:t>
            </a:r>
          </a:p>
        </p:txBody>
      </p:sp>
      <p:sp>
        <p:nvSpPr>
          <p:cNvPr id="10" name="楕円 9">
            <a:extLst>
              <a:ext uri="{FF2B5EF4-FFF2-40B4-BE49-F238E27FC236}">
                <a16:creationId xmlns:a16="http://schemas.microsoft.com/office/drawing/2014/main" id="{78C654B7-2D90-49D9-97E4-B18369FA2A09}"/>
              </a:ext>
            </a:extLst>
          </p:cNvPr>
          <p:cNvSpPr/>
          <p:nvPr/>
        </p:nvSpPr>
        <p:spPr>
          <a:xfrm>
            <a:off x="2855343" y="4477586"/>
            <a:ext cx="1682151" cy="495958"/>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rgbClr val="FF0000"/>
                </a:solidFill>
              </a:rPr>
              <a:t>失敗し</a:t>
            </a:r>
            <a:endParaRPr kumimoji="1" lang="ja-JP" altLang="en-US" sz="1600" dirty="0">
              <a:solidFill>
                <a:srgbClr val="FF0000"/>
              </a:solidFill>
            </a:endParaRPr>
          </a:p>
        </p:txBody>
      </p:sp>
      <p:cxnSp>
        <p:nvCxnSpPr>
          <p:cNvPr id="11" name="直線矢印コネクタ 10">
            <a:extLst>
              <a:ext uri="{FF2B5EF4-FFF2-40B4-BE49-F238E27FC236}">
                <a16:creationId xmlns:a16="http://schemas.microsoft.com/office/drawing/2014/main" id="{D83172BD-4D42-4D1E-8A54-1BFE7E0EC6A3}"/>
              </a:ext>
            </a:extLst>
          </p:cNvPr>
          <p:cNvCxnSpPr>
            <a:cxnSpLocks/>
            <a:endCxn id="9" idx="2"/>
          </p:cNvCxnSpPr>
          <p:nvPr/>
        </p:nvCxnSpPr>
        <p:spPr>
          <a:xfrm>
            <a:off x="664234" y="766812"/>
            <a:ext cx="3873260" cy="161360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37E1ED73-8CCB-4507-8179-1EE9F01CBCDB}"/>
              </a:ext>
            </a:extLst>
          </p:cNvPr>
          <p:cNvCxnSpPr>
            <a:stCxn id="9" idx="4"/>
            <a:endCxn id="10" idx="0"/>
          </p:cNvCxnSpPr>
          <p:nvPr/>
        </p:nvCxnSpPr>
        <p:spPr>
          <a:xfrm flipH="1">
            <a:off x="3696419" y="2700686"/>
            <a:ext cx="1859711" cy="17769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13">
            <a:extLst>
              <a:ext uri="{FF2B5EF4-FFF2-40B4-BE49-F238E27FC236}">
                <a16:creationId xmlns:a16="http://schemas.microsoft.com/office/drawing/2014/main" id="{DFFBD4A7-2109-4DCB-8DCC-521359A0F388}"/>
              </a:ext>
            </a:extLst>
          </p:cNvPr>
          <p:cNvSpPr/>
          <p:nvPr/>
        </p:nvSpPr>
        <p:spPr>
          <a:xfrm>
            <a:off x="838197" y="2071214"/>
            <a:ext cx="2103408" cy="618403"/>
          </a:xfrm>
          <a:prstGeom prst="ellipse">
            <a:avLst/>
          </a:prstGeom>
          <a:solidFill>
            <a:srgbClr val="FFCCCC">
              <a:alpha val="30000"/>
            </a:srgb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rgbClr val="FF0000"/>
                </a:solidFill>
              </a:rPr>
              <a:t>こういう現象が起こる</a:t>
            </a:r>
          </a:p>
        </p:txBody>
      </p:sp>
      <p:cxnSp>
        <p:nvCxnSpPr>
          <p:cNvPr id="15" name="直線矢印コネクタ 14">
            <a:extLst>
              <a:ext uri="{FF2B5EF4-FFF2-40B4-BE49-F238E27FC236}">
                <a16:creationId xmlns:a16="http://schemas.microsoft.com/office/drawing/2014/main" id="{2EB5FDC8-0193-4B7F-A7CD-49B482B60EBC}"/>
              </a:ext>
            </a:extLst>
          </p:cNvPr>
          <p:cNvCxnSpPr>
            <a:cxnSpLocks/>
            <a:stCxn id="10" idx="1"/>
            <a:endCxn id="14" idx="4"/>
          </p:cNvCxnSpPr>
          <p:nvPr/>
        </p:nvCxnSpPr>
        <p:spPr>
          <a:xfrm flipH="1" flipV="1">
            <a:off x="1889901" y="2689617"/>
            <a:ext cx="1211787" cy="18606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00501B29-0753-45F5-A25E-F546F406F983}"/>
              </a:ext>
            </a:extLst>
          </p:cNvPr>
          <p:cNvSpPr/>
          <p:nvPr/>
        </p:nvSpPr>
        <p:spPr>
          <a:xfrm>
            <a:off x="959835" y="3133793"/>
            <a:ext cx="1412787" cy="14164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600" b="1" dirty="0">
                <a:solidFill>
                  <a:schemeClr val="tx1">
                    <a:alpha val="30000"/>
                  </a:schemeClr>
                </a:solidFill>
              </a:rPr>
              <a:t>Ｓ</a:t>
            </a:r>
          </a:p>
        </p:txBody>
      </p:sp>
      <p:sp>
        <p:nvSpPr>
          <p:cNvPr id="3" name="正方形/長方形 2">
            <a:extLst>
              <a:ext uri="{FF2B5EF4-FFF2-40B4-BE49-F238E27FC236}">
                <a16:creationId xmlns:a16="http://schemas.microsoft.com/office/drawing/2014/main" id="{5FF59F6A-8C8C-44F7-97E9-BC1650B6381F}"/>
              </a:ext>
            </a:extLst>
          </p:cNvPr>
          <p:cNvSpPr/>
          <p:nvPr/>
        </p:nvSpPr>
        <p:spPr>
          <a:xfrm>
            <a:off x="6428305" y="3133793"/>
            <a:ext cx="1412787" cy="14164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600" b="1" dirty="0">
                <a:solidFill>
                  <a:schemeClr val="tx1">
                    <a:alpha val="30000"/>
                  </a:schemeClr>
                </a:solidFill>
              </a:rPr>
              <a:t>Ｏ</a:t>
            </a:r>
          </a:p>
        </p:txBody>
      </p:sp>
      <p:sp>
        <p:nvSpPr>
          <p:cNvPr id="6" name="正方形/長方形 5">
            <a:extLst>
              <a:ext uri="{FF2B5EF4-FFF2-40B4-BE49-F238E27FC236}">
                <a16:creationId xmlns:a16="http://schemas.microsoft.com/office/drawing/2014/main" id="{AF4A819D-948F-4310-8E7E-B7E07ECC4968}"/>
              </a:ext>
            </a:extLst>
          </p:cNvPr>
          <p:cNvSpPr/>
          <p:nvPr/>
        </p:nvSpPr>
        <p:spPr>
          <a:xfrm>
            <a:off x="8454329" y="3133793"/>
            <a:ext cx="1412787" cy="14164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600" b="1" dirty="0">
                <a:solidFill>
                  <a:schemeClr val="tx1">
                    <a:alpha val="30000"/>
                  </a:schemeClr>
                </a:solidFill>
              </a:rPr>
              <a:t>Ｄ</a:t>
            </a:r>
          </a:p>
        </p:txBody>
      </p:sp>
    </p:spTree>
    <p:extLst>
      <p:ext uri="{BB962C8B-B14F-4D97-AF65-F5344CB8AC3E}">
        <p14:creationId xmlns:p14="http://schemas.microsoft.com/office/powerpoint/2010/main" val="2410317817"/>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47801"/>
            <a:ext cx="10515600" cy="4908550"/>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510</a:t>
            </a:fld>
            <a:endParaRPr kumimoji="1" lang="ja-JP" altLang="en-US"/>
          </a:p>
        </p:txBody>
      </p:sp>
      <p:sp>
        <p:nvSpPr>
          <p:cNvPr id="10" name="タイトル 1">
            <a:extLst>
              <a:ext uri="{FF2B5EF4-FFF2-40B4-BE49-F238E27FC236}">
                <a16:creationId xmlns:a16="http://schemas.microsoft.com/office/drawing/2014/main" id="{DA45C231-91B3-4B57-8485-5CD086FFFA09}"/>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４．ＦＭＥＡ（</a:t>
            </a:r>
            <a:r>
              <a:rPr lang="ja-JP" altLang="en-US" sz="2700" b="1" dirty="0">
                <a:solidFill>
                  <a:schemeClr val="bg1"/>
                </a:solidFill>
              </a:rPr>
              <a:t>様式及び記載要領</a:t>
            </a:r>
            <a:r>
              <a:rPr lang="ja-JP" altLang="en-US" sz="3000" b="1" dirty="0">
                <a:solidFill>
                  <a:schemeClr val="bg1"/>
                </a:solidFill>
              </a:rPr>
              <a:t>）</a:t>
            </a:r>
          </a:p>
        </p:txBody>
      </p:sp>
      <p:pic>
        <p:nvPicPr>
          <p:cNvPr id="11" name="図 10">
            <a:extLst>
              <a:ext uri="{FF2B5EF4-FFF2-40B4-BE49-F238E27FC236}">
                <a16:creationId xmlns:a16="http://schemas.microsoft.com/office/drawing/2014/main" id="{185329F0-EB3D-4E45-9580-0DD264F1A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47800"/>
            <a:ext cx="10515600" cy="490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2949467"/>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3726489612"/>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511</a:t>
            </a:fld>
            <a:endParaRPr kumimoji="1" lang="ja-JP" altLang="en-US"/>
          </a:p>
        </p:txBody>
      </p:sp>
    </p:spTree>
    <p:extLst>
      <p:ext uri="{BB962C8B-B14F-4D97-AF65-F5344CB8AC3E}">
        <p14:creationId xmlns:p14="http://schemas.microsoft.com/office/powerpoint/2010/main" val="282248552"/>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統計的手法とは</a:t>
            </a:r>
            <a:endParaRPr lang="en-US" altLang="ja-JP" sz="22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５．ＳＰＣ（ＳＰＣの基礎）</a:t>
            </a:r>
          </a:p>
        </p:txBody>
      </p:sp>
      <p:graphicFrame>
        <p:nvGraphicFramePr>
          <p:cNvPr id="2" name="表 1">
            <a:extLst>
              <a:ext uri="{FF2B5EF4-FFF2-40B4-BE49-F238E27FC236}">
                <a16:creationId xmlns:a16="http://schemas.microsoft.com/office/drawing/2014/main" id="{BCBCAF50-961E-4DFC-8DCB-3E034A8402A1}"/>
              </a:ext>
            </a:extLst>
          </p:cNvPr>
          <p:cNvGraphicFramePr>
            <a:graphicFrameLocks noGrp="1"/>
          </p:cNvGraphicFramePr>
          <p:nvPr>
            <p:extLst>
              <p:ext uri="{D42A27DB-BD31-4B8C-83A1-F6EECF244321}">
                <p14:modId xmlns:p14="http://schemas.microsoft.com/office/powerpoint/2010/main" val="761214218"/>
              </p:ext>
            </p:extLst>
          </p:nvPr>
        </p:nvGraphicFramePr>
        <p:xfrm>
          <a:off x="838199" y="1788302"/>
          <a:ext cx="10515600" cy="1188720"/>
        </p:xfrm>
        <a:graphic>
          <a:graphicData uri="http://schemas.openxmlformats.org/drawingml/2006/table">
            <a:tbl>
              <a:tblPr firstRow="1" bandRow="1">
                <a:tableStyleId>{5940675A-B579-460E-94D1-54222C63F5DA}</a:tableStyleId>
              </a:tblPr>
              <a:tblGrid>
                <a:gridCol w="1938052">
                  <a:extLst>
                    <a:ext uri="{9D8B030D-6E8A-4147-A177-3AD203B41FA5}">
                      <a16:colId xmlns:a16="http://schemas.microsoft.com/office/drawing/2014/main" val="3098325566"/>
                    </a:ext>
                  </a:extLst>
                </a:gridCol>
                <a:gridCol w="8577548">
                  <a:extLst>
                    <a:ext uri="{9D8B030D-6E8A-4147-A177-3AD203B41FA5}">
                      <a16:colId xmlns:a16="http://schemas.microsoft.com/office/drawing/2014/main" val="1247080026"/>
                    </a:ext>
                  </a:extLst>
                </a:gridCol>
              </a:tblGrid>
              <a:tr h="370840">
                <a:tc>
                  <a:txBody>
                    <a:bodyPr/>
                    <a:lstStyle/>
                    <a:p>
                      <a:pPr algn="ctr"/>
                      <a:r>
                        <a:rPr kumimoji="1" lang="ja-JP" altLang="en-US" sz="2200" dirty="0"/>
                        <a:t>「推定」</a:t>
                      </a:r>
                    </a:p>
                  </a:txBody>
                  <a:tcPr anchor="ctr">
                    <a:solidFill>
                      <a:schemeClr val="accent1">
                        <a:lumMod val="20000"/>
                        <a:lumOff val="80000"/>
                      </a:schemeClr>
                    </a:solidFill>
                  </a:tcPr>
                </a:tc>
                <a:tc>
                  <a:txBody>
                    <a:bodyPr/>
                    <a:lstStyle/>
                    <a:p>
                      <a:r>
                        <a:rPr kumimoji="1" lang="ja-JP" altLang="en-US" sz="2200" dirty="0"/>
                        <a:t>サンプルデータから母集団の「平均値」や「標準偏差」を推定する。</a:t>
                      </a:r>
                    </a:p>
                  </a:txBody>
                  <a:tcPr anchor="ctr">
                    <a:solidFill>
                      <a:schemeClr val="accent1">
                        <a:lumMod val="20000"/>
                        <a:lumOff val="80000"/>
                      </a:schemeClr>
                    </a:solidFill>
                  </a:tcPr>
                </a:tc>
                <a:extLst>
                  <a:ext uri="{0D108BD9-81ED-4DB2-BD59-A6C34878D82A}">
                    <a16:rowId xmlns:a16="http://schemas.microsoft.com/office/drawing/2014/main" val="1504213171"/>
                  </a:ext>
                </a:extLst>
              </a:tr>
              <a:tr h="370840">
                <a:tc>
                  <a:txBody>
                    <a:bodyPr/>
                    <a:lstStyle/>
                    <a:p>
                      <a:pPr algn="ctr"/>
                      <a:r>
                        <a:rPr kumimoji="1" lang="ja-JP" altLang="en-US" sz="2200" dirty="0"/>
                        <a:t>「母集団」</a:t>
                      </a:r>
                    </a:p>
                  </a:txBody>
                  <a:tcPr anchor="ctr">
                    <a:solidFill>
                      <a:schemeClr val="accent1">
                        <a:lumMod val="20000"/>
                        <a:lumOff val="80000"/>
                      </a:schemeClr>
                    </a:solidFill>
                  </a:tcPr>
                </a:tc>
                <a:tc>
                  <a:txBody>
                    <a:bodyPr/>
                    <a:lstStyle/>
                    <a:p>
                      <a:r>
                        <a:rPr kumimoji="1" lang="ja-JP" altLang="en-US" sz="2200" dirty="0"/>
                        <a:t>統計的調査の対象になっている特性の集団で、サンプルを抽出する対象となる基の全体集団。</a:t>
                      </a:r>
                      <a:endParaRPr kumimoji="1" lang="en-US" altLang="ja-JP" sz="2200" dirty="0"/>
                    </a:p>
                  </a:txBody>
                  <a:tcPr anchor="ctr">
                    <a:solidFill>
                      <a:schemeClr val="accent1">
                        <a:lumMod val="20000"/>
                        <a:lumOff val="80000"/>
                      </a:schemeClr>
                    </a:solidFill>
                  </a:tcPr>
                </a:tc>
                <a:extLst>
                  <a:ext uri="{0D108BD9-81ED-4DB2-BD59-A6C34878D82A}">
                    <a16:rowId xmlns:a16="http://schemas.microsoft.com/office/drawing/2014/main" val="982923092"/>
                  </a:ext>
                </a:extLst>
              </a:tr>
            </a:tbl>
          </a:graphicData>
        </a:graphic>
      </p:graphicFrame>
      <p:sp>
        <p:nvSpPr>
          <p:cNvPr id="3" name="楕円 2">
            <a:extLst>
              <a:ext uri="{FF2B5EF4-FFF2-40B4-BE49-F238E27FC236}">
                <a16:creationId xmlns:a16="http://schemas.microsoft.com/office/drawing/2014/main" id="{753AA366-B24B-4D0D-9857-1B515FFC7066}"/>
              </a:ext>
            </a:extLst>
          </p:cNvPr>
          <p:cNvSpPr/>
          <p:nvPr/>
        </p:nvSpPr>
        <p:spPr>
          <a:xfrm>
            <a:off x="1211855" y="3880979"/>
            <a:ext cx="4505899" cy="2255416"/>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2800" dirty="0">
                <a:solidFill>
                  <a:schemeClr val="tx1"/>
                </a:solidFill>
              </a:rPr>
              <a:t>母集団</a:t>
            </a:r>
          </a:p>
        </p:txBody>
      </p:sp>
      <p:sp>
        <p:nvSpPr>
          <p:cNvPr id="6" name="楕円 5">
            <a:extLst>
              <a:ext uri="{FF2B5EF4-FFF2-40B4-BE49-F238E27FC236}">
                <a16:creationId xmlns:a16="http://schemas.microsoft.com/office/drawing/2014/main" id="{89B37B22-9138-4193-A8F1-6EF0B3A902FB}"/>
              </a:ext>
            </a:extLst>
          </p:cNvPr>
          <p:cNvSpPr/>
          <p:nvPr/>
        </p:nvSpPr>
        <p:spPr>
          <a:xfrm>
            <a:off x="7887159" y="4452302"/>
            <a:ext cx="3205909" cy="118872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2800" dirty="0">
                <a:solidFill>
                  <a:schemeClr val="tx1"/>
                </a:solidFill>
              </a:rPr>
              <a:t>サンプル</a:t>
            </a:r>
          </a:p>
        </p:txBody>
      </p:sp>
      <p:sp>
        <p:nvSpPr>
          <p:cNvPr id="8" name="正方形/長方形 7">
            <a:extLst>
              <a:ext uri="{FF2B5EF4-FFF2-40B4-BE49-F238E27FC236}">
                <a16:creationId xmlns:a16="http://schemas.microsoft.com/office/drawing/2014/main" id="{EBD027AF-DE61-4F7D-9F34-5A608793146B}"/>
              </a:ext>
            </a:extLst>
          </p:cNvPr>
          <p:cNvSpPr/>
          <p:nvPr/>
        </p:nvSpPr>
        <p:spPr>
          <a:xfrm>
            <a:off x="2585289" y="5388035"/>
            <a:ext cx="1759029" cy="70754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600" dirty="0">
                <a:solidFill>
                  <a:schemeClr val="tx1"/>
                </a:solidFill>
              </a:rPr>
              <a:t>μ</a:t>
            </a:r>
            <a:r>
              <a:rPr lang="ja-JP" altLang="en-US" sz="3600" dirty="0">
                <a:solidFill>
                  <a:schemeClr val="tx1"/>
                </a:solidFill>
              </a:rPr>
              <a:t>・</a:t>
            </a:r>
            <a:r>
              <a:rPr lang="en-US" altLang="ja-JP" sz="3600" dirty="0">
                <a:solidFill>
                  <a:schemeClr val="tx1"/>
                </a:solidFill>
              </a:rPr>
              <a:t>σ</a:t>
            </a:r>
            <a:endParaRPr kumimoji="1" lang="ja-JP" altLang="en-US" sz="3600" dirty="0">
              <a:solidFill>
                <a:schemeClr val="tx1"/>
              </a:solidFill>
            </a:endParaRPr>
          </a:p>
        </p:txBody>
      </p:sp>
      <p:sp>
        <p:nvSpPr>
          <p:cNvPr id="10" name="正方形/長方形 9">
            <a:extLst>
              <a:ext uri="{FF2B5EF4-FFF2-40B4-BE49-F238E27FC236}">
                <a16:creationId xmlns:a16="http://schemas.microsoft.com/office/drawing/2014/main" id="{D68366CD-A57B-4473-ACB3-C7C795C534E8}"/>
              </a:ext>
            </a:extLst>
          </p:cNvPr>
          <p:cNvSpPr/>
          <p:nvPr/>
        </p:nvSpPr>
        <p:spPr>
          <a:xfrm>
            <a:off x="8655586" y="5388035"/>
            <a:ext cx="1759029" cy="70754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solidFill>
                  <a:schemeClr val="tx1"/>
                </a:solidFill>
              </a:rPr>
              <a:t>ｘ・ｓ</a:t>
            </a:r>
            <a:endParaRPr kumimoji="1" lang="ja-JP" altLang="en-US" sz="3600" dirty="0">
              <a:solidFill>
                <a:schemeClr val="tx1"/>
              </a:solidFill>
            </a:endParaRPr>
          </a:p>
        </p:txBody>
      </p:sp>
      <p:cxnSp>
        <p:nvCxnSpPr>
          <p:cNvPr id="12" name="直線コネクタ 11">
            <a:extLst>
              <a:ext uri="{FF2B5EF4-FFF2-40B4-BE49-F238E27FC236}">
                <a16:creationId xmlns:a16="http://schemas.microsoft.com/office/drawing/2014/main" id="{68DA9519-EB8F-4B7F-9AE0-2B44AEC9D676}"/>
              </a:ext>
            </a:extLst>
          </p:cNvPr>
          <p:cNvCxnSpPr>
            <a:cxnSpLocks/>
          </p:cNvCxnSpPr>
          <p:nvPr/>
        </p:nvCxnSpPr>
        <p:spPr>
          <a:xfrm>
            <a:off x="8957096" y="5598099"/>
            <a:ext cx="2440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矢印: 右 15">
            <a:extLst>
              <a:ext uri="{FF2B5EF4-FFF2-40B4-BE49-F238E27FC236}">
                <a16:creationId xmlns:a16="http://schemas.microsoft.com/office/drawing/2014/main" id="{B3F7A68A-FBFC-4627-8235-32A91F4ADE5B}"/>
              </a:ext>
            </a:extLst>
          </p:cNvPr>
          <p:cNvSpPr/>
          <p:nvPr/>
        </p:nvSpPr>
        <p:spPr>
          <a:xfrm>
            <a:off x="5957372" y="4572000"/>
            <a:ext cx="1687290" cy="843651"/>
          </a:xfrm>
          <a:prstGeom prst="rightArrow">
            <a:avLst>
              <a:gd name="adj1" fmla="val 76117"/>
              <a:gd name="adj2" fmla="val 50000"/>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2400" dirty="0">
                <a:solidFill>
                  <a:schemeClr val="tx1"/>
                </a:solidFill>
              </a:rPr>
              <a:t>抽出</a:t>
            </a:r>
          </a:p>
        </p:txBody>
      </p:sp>
      <p:sp>
        <p:nvSpPr>
          <p:cNvPr id="17" name="矢印: 上カーブ 16">
            <a:extLst>
              <a:ext uri="{FF2B5EF4-FFF2-40B4-BE49-F238E27FC236}">
                <a16:creationId xmlns:a16="http://schemas.microsoft.com/office/drawing/2014/main" id="{4891377C-EBED-40AF-AF8C-FC375689AE02}"/>
              </a:ext>
            </a:extLst>
          </p:cNvPr>
          <p:cNvSpPr/>
          <p:nvPr/>
        </p:nvSpPr>
        <p:spPr>
          <a:xfrm rot="11253246">
            <a:off x="4561771" y="3390159"/>
            <a:ext cx="4044243" cy="102114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正方形/長方形 17">
            <a:extLst>
              <a:ext uri="{FF2B5EF4-FFF2-40B4-BE49-F238E27FC236}">
                <a16:creationId xmlns:a16="http://schemas.microsoft.com/office/drawing/2014/main" id="{609A8E8B-D7B1-4948-B656-75B00C88848E}"/>
              </a:ext>
            </a:extLst>
          </p:cNvPr>
          <p:cNvSpPr/>
          <p:nvPr/>
        </p:nvSpPr>
        <p:spPr>
          <a:xfrm>
            <a:off x="6150166" y="3269255"/>
            <a:ext cx="1759029" cy="7075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推定</a:t>
            </a:r>
            <a:endParaRPr kumimoji="1" lang="ja-JP" altLang="en-US" sz="2400" dirty="0">
              <a:solidFill>
                <a:schemeClr val="tx1"/>
              </a:solidFill>
            </a:endParaRPr>
          </a:p>
        </p:txBody>
      </p:sp>
      <p:graphicFrame>
        <p:nvGraphicFramePr>
          <p:cNvPr id="19" name="表 18">
            <a:extLst>
              <a:ext uri="{FF2B5EF4-FFF2-40B4-BE49-F238E27FC236}">
                <a16:creationId xmlns:a16="http://schemas.microsoft.com/office/drawing/2014/main" id="{1469FB7E-BAC3-4505-89E2-8032D474C426}"/>
              </a:ext>
            </a:extLst>
          </p:cNvPr>
          <p:cNvGraphicFramePr>
            <a:graphicFrameLocks noGrp="1"/>
          </p:cNvGraphicFramePr>
          <p:nvPr>
            <p:extLst>
              <p:ext uri="{D42A27DB-BD31-4B8C-83A1-F6EECF244321}">
                <p14:modId xmlns:p14="http://schemas.microsoft.com/office/powerpoint/2010/main" val="2956803151"/>
              </p:ext>
            </p:extLst>
          </p:nvPr>
        </p:nvGraphicFramePr>
        <p:xfrm>
          <a:off x="8153400" y="3108524"/>
          <a:ext cx="3120222" cy="914400"/>
        </p:xfrm>
        <a:graphic>
          <a:graphicData uri="http://schemas.openxmlformats.org/drawingml/2006/table">
            <a:tbl>
              <a:tblPr firstRow="1" bandRow="1">
                <a:tableStyleId>{5940675A-B579-460E-94D1-54222C63F5DA}</a:tableStyleId>
              </a:tblPr>
              <a:tblGrid>
                <a:gridCol w="1339850">
                  <a:extLst>
                    <a:ext uri="{9D8B030D-6E8A-4147-A177-3AD203B41FA5}">
                      <a16:colId xmlns:a16="http://schemas.microsoft.com/office/drawing/2014/main" val="2830675774"/>
                    </a:ext>
                  </a:extLst>
                </a:gridCol>
                <a:gridCol w="1780372">
                  <a:extLst>
                    <a:ext uri="{9D8B030D-6E8A-4147-A177-3AD203B41FA5}">
                      <a16:colId xmlns:a16="http://schemas.microsoft.com/office/drawing/2014/main" val="2707824812"/>
                    </a:ext>
                  </a:extLst>
                </a:gridCol>
              </a:tblGrid>
              <a:tr h="370840">
                <a:tc>
                  <a:txBody>
                    <a:bodyPr/>
                    <a:lstStyle/>
                    <a:p>
                      <a:r>
                        <a:rPr kumimoji="1" lang="en-US" altLang="ja-JP" sz="2400" dirty="0"/>
                        <a:t>μ</a:t>
                      </a:r>
                      <a:r>
                        <a:rPr kumimoji="1" lang="ja-JP" altLang="en-US" sz="2400" dirty="0"/>
                        <a:t>　ｘ</a:t>
                      </a:r>
                    </a:p>
                  </a:txBody>
                  <a:tcPr anchor="ctr" anchorCtr="1"/>
                </a:tc>
                <a:tc>
                  <a:txBody>
                    <a:bodyPr/>
                    <a:lstStyle/>
                    <a:p>
                      <a:r>
                        <a:rPr kumimoji="1" lang="ja-JP" altLang="en-US" sz="2400" dirty="0"/>
                        <a:t>平均値</a:t>
                      </a:r>
                    </a:p>
                  </a:txBody>
                  <a:tcPr anchor="ctr" anchorCtr="1"/>
                </a:tc>
                <a:extLst>
                  <a:ext uri="{0D108BD9-81ED-4DB2-BD59-A6C34878D82A}">
                    <a16:rowId xmlns:a16="http://schemas.microsoft.com/office/drawing/2014/main" val="2400836635"/>
                  </a:ext>
                </a:extLst>
              </a:tr>
              <a:tr h="370840">
                <a:tc>
                  <a:txBody>
                    <a:bodyPr/>
                    <a:lstStyle/>
                    <a:p>
                      <a:r>
                        <a:rPr kumimoji="1" lang="en-US" altLang="ja-JP" sz="2400" dirty="0"/>
                        <a:t>σ</a:t>
                      </a:r>
                      <a:r>
                        <a:rPr kumimoji="1" lang="ja-JP" altLang="en-US" sz="2400" dirty="0"/>
                        <a:t>　ｓ</a:t>
                      </a:r>
                    </a:p>
                  </a:txBody>
                  <a:tcPr anchor="ctr" anchorCtr="1"/>
                </a:tc>
                <a:tc>
                  <a:txBody>
                    <a:bodyPr/>
                    <a:lstStyle/>
                    <a:p>
                      <a:r>
                        <a:rPr kumimoji="1" lang="ja-JP" altLang="en-US" sz="2400" dirty="0"/>
                        <a:t>標準偏差</a:t>
                      </a:r>
                    </a:p>
                  </a:txBody>
                  <a:tcPr anchor="ctr" anchorCtr="1"/>
                </a:tc>
                <a:extLst>
                  <a:ext uri="{0D108BD9-81ED-4DB2-BD59-A6C34878D82A}">
                    <a16:rowId xmlns:a16="http://schemas.microsoft.com/office/drawing/2014/main" val="1066627038"/>
                  </a:ext>
                </a:extLst>
              </a:tr>
            </a:tbl>
          </a:graphicData>
        </a:graphic>
      </p:graphicFrame>
      <p:cxnSp>
        <p:nvCxnSpPr>
          <p:cNvPr id="20" name="直線コネクタ 19">
            <a:extLst>
              <a:ext uri="{FF2B5EF4-FFF2-40B4-BE49-F238E27FC236}">
                <a16:creationId xmlns:a16="http://schemas.microsoft.com/office/drawing/2014/main" id="{4A457930-A265-4C66-8E6B-40BCDBB36765}"/>
              </a:ext>
            </a:extLst>
          </p:cNvPr>
          <p:cNvCxnSpPr>
            <a:cxnSpLocks/>
          </p:cNvCxnSpPr>
          <p:nvPr/>
        </p:nvCxnSpPr>
        <p:spPr>
          <a:xfrm>
            <a:off x="9055100" y="3237037"/>
            <a:ext cx="146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1608542"/>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ＳＰＣとは</a:t>
            </a:r>
            <a:endParaRPr lang="en-US" altLang="ja-JP" sz="2400" dirty="0"/>
          </a:p>
          <a:p>
            <a:pPr lvl="1">
              <a:lnSpc>
                <a:spcPct val="100000"/>
              </a:lnSpc>
              <a:buFont typeface="Wingdings" panose="05000000000000000000" pitchFamily="2" charset="2"/>
              <a:buChar char="Ø"/>
            </a:pPr>
            <a:r>
              <a:rPr lang="ja-JP" altLang="en-US" sz="2200" dirty="0"/>
              <a:t>統計的工程管理（</a:t>
            </a:r>
            <a:r>
              <a:rPr lang="en-US" altLang="ja-JP" sz="1800" dirty="0"/>
              <a:t>statistical</a:t>
            </a:r>
            <a:r>
              <a:rPr lang="ja-JP" altLang="en-US" sz="1800" dirty="0"/>
              <a:t>　</a:t>
            </a:r>
            <a:r>
              <a:rPr lang="en-US" altLang="ja-JP" sz="1800" dirty="0"/>
              <a:t>process</a:t>
            </a:r>
            <a:r>
              <a:rPr lang="ja-JP" altLang="en-US" sz="1800" dirty="0"/>
              <a:t>　</a:t>
            </a:r>
            <a:r>
              <a:rPr lang="en-US" altLang="ja-JP" sz="1800" dirty="0"/>
              <a:t>control</a:t>
            </a:r>
            <a:r>
              <a:rPr lang="ja-JP" altLang="en-US" sz="2200" dirty="0"/>
              <a:t>）。</a:t>
            </a:r>
            <a:endParaRPr lang="en-US" altLang="ja-JP" sz="2200" dirty="0"/>
          </a:p>
          <a:p>
            <a:pPr lvl="1">
              <a:lnSpc>
                <a:spcPct val="100000"/>
              </a:lnSpc>
              <a:buFont typeface="Wingdings" panose="05000000000000000000" pitchFamily="2" charset="2"/>
              <a:buChar char="Ø"/>
            </a:pPr>
            <a:r>
              <a:rPr lang="ja-JP" altLang="en-US" sz="2200" dirty="0"/>
              <a:t>製造工程を統計的技法を用いて管理（安定しているか／能力があるか）すること。</a:t>
            </a:r>
            <a:endParaRPr lang="en-US" altLang="ja-JP" sz="2200" dirty="0"/>
          </a:p>
          <a:p>
            <a:pPr marL="457200" lvl="1" indent="0">
              <a:lnSpc>
                <a:spcPct val="100000"/>
              </a:lnSpc>
              <a:buNone/>
            </a:pPr>
            <a:r>
              <a:rPr lang="en-US" altLang="ja-JP" sz="2200" dirty="0"/>
              <a:t>※SPC</a:t>
            </a:r>
            <a:r>
              <a:rPr lang="ja-JP" altLang="en-US" sz="2200" dirty="0" err="1"/>
              <a:t>には</a:t>
            </a:r>
            <a:r>
              <a:rPr lang="ja-JP" altLang="en-US" sz="2200" dirty="0"/>
              <a:t>種々の技法があるが、</a:t>
            </a:r>
            <a:r>
              <a:rPr lang="en-US" altLang="ja-JP" sz="2200" dirty="0"/>
              <a:t>IATF16949</a:t>
            </a:r>
            <a:r>
              <a:rPr lang="ja-JP" altLang="en-US" sz="2200" dirty="0"/>
              <a:t>においても最もよく使用される「Ｘ－Ｒ管理図」と「工程能力指数」について取り扱う。</a:t>
            </a:r>
            <a:endParaRPr lang="en-US" altLang="ja-JP" sz="2200" dirty="0"/>
          </a:p>
          <a:p>
            <a:pPr marL="514350" indent="-514350">
              <a:lnSpc>
                <a:spcPct val="100000"/>
              </a:lnSpc>
              <a:buFont typeface="+mj-lt"/>
              <a:buAutoNum type="arabicPeriod" startAt="2"/>
            </a:pPr>
            <a:r>
              <a:rPr lang="ja-JP" altLang="en-US" sz="2400" dirty="0"/>
              <a:t>製品の特性データの　“分布”</a:t>
            </a:r>
            <a:endParaRPr lang="en-US" altLang="ja-JP" sz="2400" dirty="0"/>
          </a:p>
          <a:p>
            <a:pPr lvl="1">
              <a:lnSpc>
                <a:spcPct val="100000"/>
              </a:lnSpc>
              <a:buFont typeface="Wingdings" panose="05000000000000000000" pitchFamily="2" charset="2"/>
              <a:buChar char="Ø"/>
            </a:pPr>
            <a:r>
              <a:rPr lang="ja-JP" altLang="en-US" sz="2200" dirty="0"/>
              <a:t>製品は常にばらついた（変動した）特性で製造される。</a:t>
            </a:r>
            <a:endParaRPr lang="en-US" altLang="ja-JP" sz="22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５．ＳＰＣ（ＳＰＣの基礎）</a:t>
            </a:r>
          </a:p>
        </p:txBody>
      </p:sp>
      <p:grpSp>
        <p:nvGrpSpPr>
          <p:cNvPr id="20" name="グループ化 19">
            <a:extLst>
              <a:ext uri="{FF2B5EF4-FFF2-40B4-BE49-F238E27FC236}">
                <a16:creationId xmlns:a16="http://schemas.microsoft.com/office/drawing/2014/main" id="{8C473098-0C7E-47F9-A111-81D9C0F143FF}"/>
              </a:ext>
            </a:extLst>
          </p:cNvPr>
          <p:cNvGrpSpPr/>
          <p:nvPr/>
        </p:nvGrpSpPr>
        <p:grpSpPr>
          <a:xfrm>
            <a:off x="1567044" y="4506475"/>
            <a:ext cx="3467663" cy="1767053"/>
            <a:chOff x="0" y="0"/>
            <a:chExt cx="2007113" cy="1767053"/>
          </a:xfrm>
        </p:grpSpPr>
        <p:grpSp>
          <p:nvGrpSpPr>
            <p:cNvPr id="21" name="グループ化 20">
              <a:extLst>
                <a:ext uri="{FF2B5EF4-FFF2-40B4-BE49-F238E27FC236}">
                  <a16:creationId xmlns:a16="http://schemas.microsoft.com/office/drawing/2014/main" id="{144AEDB1-1295-499B-A5CA-2FCBFAD2C655}"/>
                </a:ext>
              </a:extLst>
            </p:cNvPr>
            <p:cNvGrpSpPr/>
            <p:nvPr/>
          </p:nvGrpSpPr>
          <p:grpSpPr>
            <a:xfrm>
              <a:off x="0" y="0"/>
              <a:ext cx="2007113" cy="1767053"/>
              <a:chOff x="0" y="0"/>
              <a:chExt cx="2006625" cy="1767053"/>
            </a:xfrm>
          </p:grpSpPr>
          <p:grpSp>
            <p:nvGrpSpPr>
              <p:cNvPr id="26" name="グループ化 25">
                <a:extLst>
                  <a:ext uri="{FF2B5EF4-FFF2-40B4-BE49-F238E27FC236}">
                    <a16:creationId xmlns:a16="http://schemas.microsoft.com/office/drawing/2014/main" id="{1006DCDE-3234-495F-AB99-9C72276AAFC0}"/>
                  </a:ext>
                </a:extLst>
              </p:cNvPr>
              <p:cNvGrpSpPr/>
              <p:nvPr/>
            </p:nvGrpSpPr>
            <p:grpSpPr>
              <a:xfrm>
                <a:off x="9675" y="95983"/>
                <a:ext cx="1996950" cy="1498290"/>
                <a:chOff x="9675" y="95983"/>
                <a:chExt cx="1997345" cy="1512274"/>
              </a:xfrm>
            </p:grpSpPr>
            <p:sp>
              <p:nvSpPr>
                <p:cNvPr id="30" name="フリーフォーム: 図形 29">
                  <a:extLst>
                    <a:ext uri="{FF2B5EF4-FFF2-40B4-BE49-F238E27FC236}">
                      <a16:creationId xmlns:a16="http://schemas.microsoft.com/office/drawing/2014/main" id="{39D6BF22-A049-4A89-BC42-1B106CDDCD07}"/>
                    </a:ext>
                  </a:extLst>
                </p:cNvPr>
                <p:cNvSpPr/>
                <p:nvPr/>
              </p:nvSpPr>
              <p:spPr>
                <a:xfrm>
                  <a:off x="1005881" y="9619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1" name="フリーフォーム: 図形 30">
                  <a:extLst>
                    <a:ext uri="{FF2B5EF4-FFF2-40B4-BE49-F238E27FC236}">
                      <a16:creationId xmlns:a16="http://schemas.microsoft.com/office/drawing/2014/main" id="{096C66EA-D34D-4B0D-9655-0E5A8EF0ECA5}"/>
                    </a:ext>
                  </a:extLst>
                </p:cNvPr>
                <p:cNvSpPr/>
                <p:nvPr/>
              </p:nvSpPr>
              <p:spPr>
                <a:xfrm>
                  <a:off x="9675" y="9598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27" name="直線コネクタ 26">
                <a:extLst>
                  <a:ext uri="{FF2B5EF4-FFF2-40B4-BE49-F238E27FC236}">
                    <a16:creationId xmlns:a16="http://schemas.microsoft.com/office/drawing/2014/main" id="{9E6DADD2-0DCC-452C-9C31-CAA325A2139A}"/>
                  </a:ext>
                </a:extLst>
              </p:cNvPr>
              <p:cNvCxnSpPr/>
              <p:nvPr/>
            </p:nvCxnSpPr>
            <p:spPr>
              <a:xfrm flipH="1">
                <a:off x="1001655" y="0"/>
                <a:ext cx="0" cy="161113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A1DE80FE-D642-4780-AADD-A294BE571EB7}"/>
                  </a:ext>
                </a:extLst>
              </p:cNvPr>
              <p:cNvCxnSpPr/>
              <p:nvPr/>
            </p:nvCxnSpPr>
            <p:spPr>
              <a:xfrm>
                <a:off x="0" y="1668517"/>
                <a:ext cx="199964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8E29DE30-9A98-4863-9361-FEB1F2438EAB}"/>
                  </a:ext>
                </a:extLst>
              </p:cNvPr>
              <p:cNvSpPr/>
              <p:nvPr/>
            </p:nvSpPr>
            <p:spPr>
              <a:xfrm>
                <a:off x="765477" y="1543489"/>
                <a:ext cx="475756" cy="223564"/>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幅</a:t>
                </a:r>
              </a:p>
            </p:txBody>
          </p:sp>
        </p:grpSp>
        <p:sp>
          <p:nvSpPr>
            <p:cNvPr id="22" name="正方形/長方形 21">
              <a:extLst>
                <a:ext uri="{FF2B5EF4-FFF2-40B4-BE49-F238E27FC236}">
                  <a16:creationId xmlns:a16="http://schemas.microsoft.com/office/drawing/2014/main" id="{BCC9E044-CF2F-41F3-A8FE-46AB10021CD3}"/>
                </a:ext>
              </a:extLst>
            </p:cNvPr>
            <p:cNvSpPr/>
            <p:nvPr/>
          </p:nvSpPr>
          <p:spPr>
            <a:xfrm>
              <a:off x="1474843" y="121635"/>
              <a:ext cx="466396" cy="22038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位置</a:t>
              </a:r>
            </a:p>
          </p:txBody>
        </p:sp>
        <p:sp>
          <p:nvSpPr>
            <p:cNvPr id="23" name="正方形/長方形 22">
              <a:extLst>
                <a:ext uri="{FF2B5EF4-FFF2-40B4-BE49-F238E27FC236}">
                  <a16:creationId xmlns:a16="http://schemas.microsoft.com/office/drawing/2014/main" id="{7F012520-E6D0-4587-A4E8-1BC41F94DA17}"/>
                </a:ext>
              </a:extLst>
            </p:cNvPr>
            <p:cNvSpPr/>
            <p:nvPr/>
          </p:nvSpPr>
          <p:spPr>
            <a:xfrm>
              <a:off x="1527394" y="673428"/>
              <a:ext cx="469249" cy="22673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形</a:t>
              </a:r>
            </a:p>
          </p:txBody>
        </p:sp>
        <p:cxnSp>
          <p:nvCxnSpPr>
            <p:cNvPr id="24" name="直線矢印コネクタ 23">
              <a:extLst>
                <a:ext uri="{FF2B5EF4-FFF2-40B4-BE49-F238E27FC236}">
                  <a16:creationId xmlns:a16="http://schemas.microsoft.com/office/drawing/2014/main" id="{69AB12EE-5E75-477D-8DB6-A73708FEEBF7}"/>
                </a:ext>
              </a:extLst>
            </p:cNvPr>
            <p:cNvCxnSpPr/>
            <p:nvPr/>
          </p:nvCxnSpPr>
          <p:spPr>
            <a:xfrm flipH="1">
              <a:off x="1014796" y="315529"/>
              <a:ext cx="463002" cy="2099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D7F049C7-4413-483A-94EB-F03547E9A95D}"/>
                </a:ext>
              </a:extLst>
            </p:cNvPr>
            <p:cNvCxnSpPr/>
            <p:nvPr/>
          </p:nvCxnSpPr>
          <p:spPr>
            <a:xfrm flipH="1">
              <a:off x="1274599" y="853966"/>
              <a:ext cx="253777" cy="114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2" name="表 1">
            <a:extLst>
              <a:ext uri="{FF2B5EF4-FFF2-40B4-BE49-F238E27FC236}">
                <a16:creationId xmlns:a16="http://schemas.microsoft.com/office/drawing/2014/main" id="{FD37F170-DABC-4AFA-A69F-41EC146B923B}"/>
              </a:ext>
            </a:extLst>
          </p:cNvPr>
          <p:cNvGraphicFramePr>
            <a:graphicFrameLocks noGrp="1"/>
          </p:cNvGraphicFramePr>
          <p:nvPr>
            <p:extLst>
              <p:ext uri="{D42A27DB-BD31-4B8C-83A1-F6EECF244321}">
                <p14:modId xmlns:p14="http://schemas.microsoft.com/office/powerpoint/2010/main" val="4141440483"/>
              </p:ext>
            </p:extLst>
          </p:nvPr>
        </p:nvGraphicFramePr>
        <p:xfrm>
          <a:off x="5323327" y="5062472"/>
          <a:ext cx="5916788" cy="1188720"/>
        </p:xfrm>
        <a:graphic>
          <a:graphicData uri="http://schemas.openxmlformats.org/drawingml/2006/table">
            <a:tbl>
              <a:tblPr firstRow="1" bandRow="1">
                <a:tableStyleId>{5940675A-B579-460E-94D1-54222C63F5DA}</a:tableStyleId>
              </a:tblPr>
              <a:tblGrid>
                <a:gridCol w="1110985">
                  <a:extLst>
                    <a:ext uri="{9D8B030D-6E8A-4147-A177-3AD203B41FA5}">
                      <a16:colId xmlns:a16="http://schemas.microsoft.com/office/drawing/2014/main" val="1364715448"/>
                    </a:ext>
                  </a:extLst>
                </a:gridCol>
                <a:gridCol w="4805803">
                  <a:extLst>
                    <a:ext uri="{9D8B030D-6E8A-4147-A177-3AD203B41FA5}">
                      <a16:colId xmlns:a16="http://schemas.microsoft.com/office/drawing/2014/main" val="3936916542"/>
                    </a:ext>
                  </a:extLst>
                </a:gridCol>
              </a:tblGrid>
              <a:tr h="370840">
                <a:tc>
                  <a:txBody>
                    <a:bodyPr/>
                    <a:lstStyle/>
                    <a:p>
                      <a:pPr algn="ctr"/>
                      <a:r>
                        <a:rPr kumimoji="1" lang="ja-JP" altLang="en-US" sz="2000" dirty="0"/>
                        <a:t>位置</a:t>
                      </a:r>
                    </a:p>
                  </a:txBody>
                  <a:tcPr>
                    <a:solidFill>
                      <a:schemeClr val="tx2">
                        <a:lumMod val="20000"/>
                        <a:lumOff val="80000"/>
                      </a:schemeClr>
                    </a:solidFill>
                  </a:tcPr>
                </a:tc>
                <a:tc>
                  <a:txBody>
                    <a:bodyPr/>
                    <a:lstStyle/>
                    <a:p>
                      <a:r>
                        <a:rPr kumimoji="1" lang="ja-JP" altLang="en-US" sz="2000" dirty="0"/>
                        <a:t>中心値</a:t>
                      </a:r>
                    </a:p>
                  </a:txBody>
                  <a:tcPr>
                    <a:solidFill>
                      <a:schemeClr val="tx2">
                        <a:lumMod val="20000"/>
                        <a:lumOff val="80000"/>
                      </a:schemeClr>
                    </a:solidFill>
                  </a:tcPr>
                </a:tc>
                <a:extLst>
                  <a:ext uri="{0D108BD9-81ED-4DB2-BD59-A6C34878D82A}">
                    <a16:rowId xmlns:a16="http://schemas.microsoft.com/office/drawing/2014/main" val="1000186578"/>
                  </a:ext>
                </a:extLst>
              </a:tr>
              <a:tr h="370840">
                <a:tc>
                  <a:txBody>
                    <a:bodyPr/>
                    <a:lstStyle/>
                    <a:p>
                      <a:pPr algn="ctr"/>
                      <a:r>
                        <a:rPr kumimoji="1" lang="ja-JP" altLang="en-US" sz="2000" dirty="0"/>
                        <a:t>幅</a:t>
                      </a:r>
                    </a:p>
                  </a:txBody>
                  <a:tcPr>
                    <a:solidFill>
                      <a:schemeClr val="tx2">
                        <a:lumMod val="20000"/>
                        <a:lumOff val="80000"/>
                      </a:schemeClr>
                    </a:solidFill>
                  </a:tcPr>
                </a:tc>
                <a:tc>
                  <a:txBody>
                    <a:bodyPr/>
                    <a:lstStyle/>
                    <a:p>
                      <a:r>
                        <a:rPr kumimoji="1" lang="ja-JP" altLang="en-US" sz="2000" dirty="0"/>
                        <a:t>最大値と最小値の幅（広がり）</a:t>
                      </a:r>
                    </a:p>
                  </a:txBody>
                  <a:tcPr>
                    <a:solidFill>
                      <a:schemeClr val="tx2">
                        <a:lumMod val="20000"/>
                        <a:lumOff val="80000"/>
                      </a:schemeClr>
                    </a:solidFill>
                  </a:tcPr>
                </a:tc>
                <a:extLst>
                  <a:ext uri="{0D108BD9-81ED-4DB2-BD59-A6C34878D82A}">
                    <a16:rowId xmlns:a16="http://schemas.microsoft.com/office/drawing/2014/main" val="2339060408"/>
                  </a:ext>
                </a:extLst>
              </a:tr>
              <a:tr h="370840">
                <a:tc>
                  <a:txBody>
                    <a:bodyPr/>
                    <a:lstStyle/>
                    <a:p>
                      <a:pPr algn="ctr"/>
                      <a:r>
                        <a:rPr kumimoji="1" lang="ja-JP" altLang="en-US" sz="2000" dirty="0"/>
                        <a:t>形</a:t>
                      </a:r>
                    </a:p>
                  </a:txBody>
                  <a:tcPr>
                    <a:solidFill>
                      <a:schemeClr val="tx2">
                        <a:lumMod val="20000"/>
                        <a:lumOff val="80000"/>
                      </a:schemeClr>
                    </a:solidFill>
                  </a:tcPr>
                </a:tc>
                <a:tc>
                  <a:txBody>
                    <a:bodyPr/>
                    <a:lstStyle/>
                    <a:p>
                      <a:r>
                        <a:rPr kumimoji="1" lang="ja-JP" altLang="en-US" sz="2000" dirty="0"/>
                        <a:t>分布の形状（左右対称性／ゆがみなど）</a:t>
                      </a:r>
                    </a:p>
                  </a:txBody>
                  <a:tcPr>
                    <a:solidFill>
                      <a:schemeClr val="tx2">
                        <a:lumMod val="20000"/>
                        <a:lumOff val="80000"/>
                      </a:schemeClr>
                    </a:solidFill>
                  </a:tcPr>
                </a:tc>
                <a:extLst>
                  <a:ext uri="{0D108BD9-81ED-4DB2-BD59-A6C34878D82A}">
                    <a16:rowId xmlns:a16="http://schemas.microsoft.com/office/drawing/2014/main" val="2656605110"/>
                  </a:ext>
                </a:extLst>
              </a:tr>
            </a:tbl>
          </a:graphicData>
        </a:graphic>
      </p:graphicFrame>
      <p:cxnSp>
        <p:nvCxnSpPr>
          <p:cNvPr id="19" name="直線コネクタ 18">
            <a:extLst>
              <a:ext uri="{FF2B5EF4-FFF2-40B4-BE49-F238E27FC236}">
                <a16:creationId xmlns:a16="http://schemas.microsoft.com/office/drawing/2014/main" id="{A354865D-CA57-4F55-B673-B2F362028D06}"/>
              </a:ext>
            </a:extLst>
          </p:cNvPr>
          <p:cNvCxnSpPr>
            <a:cxnSpLocks/>
          </p:cNvCxnSpPr>
          <p:nvPr/>
        </p:nvCxnSpPr>
        <p:spPr>
          <a:xfrm>
            <a:off x="1715679" y="32818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420933"/>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製品特性が変動（ばらつく）する原因　➠　「</a:t>
            </a:r>
            <a:r>
              <a:rPr lang="en-US" altLang="ja-JP" sz="2400" dirty="0">
                <a:solidFill>
                  <a:srgbClr val="FF0000"/>
                </a:solidFill>
                <a:effectLst>
                  <a:outerShdw blurRad="38100" dist="38100" dir="2700000" algn="tl">
                    <a:srgbClr val="000000">
                      <a:alpha val="43137"/>
                    </a:srgbClr>
                  </a:outerShdw>
                </a:effectLst>
              </a:rPr>
              <a:t>5M1E</a:t>
            </a:r>
            <a:r>
              <a:rPr lang="ja-JP" altLang="en-US" sz="2400" dirty="0"/>
              <a:t>」</a:t>
            </a:r>
            <a:endParaRPr lang="en-US" altLang="ja-JP" sz="22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５．ＳＰＣ（ＳＰＣの基礎）</a:t>
            </a:r>
          </a:p>
        </p:txBody>
      </p:sp>
      <p:sp>
        <p:nvSpPr>
          <p:cNvPr id="3" name="四角形: 角を丸くする 2">
            <a:extLst>
              <a:ext uri="{FF2B5EF4-FFF2-40B4-BE49-F238E27FC236}">
                <a16:creationId xmlns:a16="http://schemas.microsoft.com/office/drawing/2014/main" id="{7C347427-E298-4B55-9ED2-06F85B53A346}"/>
              </a:ext>
            </a:extLst>
          </p:cNvPr>
          <p:cNvSpPr/>
          <p:nvPr/>
        </p:nvSpPr>
        <p:spPr>
          <a:xfrm>
            <a:off x="8527056" y="3515491"/>
            <a:ext cx="2577947" cy="1035586"/>
          </a:xfrm>
          <a:prstGeom prst="roundRect">
            <a:avLst/>
          </a:prstGeom>
          <a:solidFill>
            <a:schemeClr val="tx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200" dirty="0"/>
              <a:t>製品特性の変動</a:t>
            </a:r>
            <a:endParaRPr kumimoji="1" lang="en-US" altLang="ja-JP" sz="2200" dirty="0"/>
          </a:p>
          <a:p>
            <a:pPr algn="ctr"/>
            <a:r>
              <a:rPr lang="ja-JP" altLang="en-US" sz="2200" dirty="0"/>
              <a:t>（ばらつき）</a:t>
            </a:r>
            <a:endParaRPr kumimoji="1" lang="ja-JP" altLang="en-US" sz="2200" dirty="0"/>
          </a:p>
        </p:txBody>
      </p:sp>
      <p:sp>
        <p:nvSpPr>
          <p:cNvPr id="33" name="四角形: 角を丸くする 32">
            <a:extLst>
              <a:ext uri="{FF2B5EF4-FFF2-40B4-BE49-F238E27FC236}">
                <a16:creationId xmlns:a16="http://schemas.microsoft.com/office/drawing/2014/main" id="{14ADC924-E2E7-496C-A808-BF6FB75555DA}"/>
              </a:ext>
            </a:extLst>
          </p:cNvPr>
          <p:cNvSpPr/>
          <p:nvPr/>
        </p:nvSpPr>
        <p:spPr>
          <a:xfrm>
            <a:off x="6757012" y="4834570"/>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製造環境</a:t>
            </a:r>
            <a:endParaRPr kumimoji="1" lang="en-US" altLang="ja-JP" sz="2000" dirty="0">
              <a:solidFill>
                <a:schemeClr val="tx1"/>
              </a:solidFill>
            </a:endParaRPr>
          </a:p>
          <a:p>
            <a:pPr algn="ctr"/>
            <a:r>
              <a:rPr lang="en-US" altLang="ja-JP" dirty="0">
                <a:solidFill>
                  <a:schemeClr val="tx1"/>
                </a:solidFill>
              </a:rPr>
              <a:t>environment</a:t>
            </a:r>
            <a:endParaRPr kumimoji="1" lang="ja-JP" altLang="en-US" dirty="0">
              <a:solidFill>
                <a:schemeClr val="tx1"/>
              </a:solidFill>
            </a:endParaRPr>
          </a:p>
        </p:txBody>
      </p:sp>
      <p:sp>
        <p:nvSpPr>
          <p:cNvPr id="34" name="四角形: 角を丸くする 33">
            <a:extLst>
              <a:ext uri="{FF2B5EF4-FFF2-40B4-BE49-F238E27FC236}">
                <a16:creationId xmlns:a16="http://schemas.microsoft.com/office/drawing/2014/main" id="{25659269-1B0E-4114-9FE7-054E96C7D93E}"/>
              </a:ext>
            </a:extLst>
          </p:cNvPr>
          <p:cNvSpPr/>
          <p:nvPr/>
        </p:nvSpPr>
        <p:spPr>
          <a:xfrm>
            <a:off x="4038601" y="4834570"/>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測定方法</a:t>
            </a:r>
            <a:endParaRPr kumimoji="1" lang="en-US" altLang="ja-JP" sz="2000" dirty="0">
              <a:solidFill>
                <a:schemeClr val="tx1"/>
              </a:solidFill>
            </a:endParaRPr>
          </a:p>
          <a:p>
            <a:pPr algn="ctr"/>
            <a:r>
              <a:rPr lang="en-US" altLang="ja-JP" dirty="0">
                <a:solidFill>
                  <a:schemeClr val="tx1"/>
                </a:solidFill>
              </a:rPr>
              <a:t>measurement</a:t>
            </a:r>
            <a:endParaRPr kumimoji="1" lang="ja-JP" altLang="en-US" dirty="0">
              <a:solidFill>
                <a:schemeClr val="tx1"/>
              </a:solidFill>
            </a:endParaRPr>
          </a:p>
        </p:txBody>
      </p:sp>
      <p:sp>
        <p:nvSpPr>
          <p:cNvPr id="35" name="四角形: 角を丸くする 34">
            <a:extLst>
              <a:ext uri="{FF2B5EF4-FFF2-40B4-BE49-F238E27FC236}">
                <a16:creationId xmlns:a16="http://schemas.microsoft.com/office/drawing/2014/main" id="{FE9EB33D-FA2E-444E-9EB3-3E34B49130D9}"/>
              </a:ext>
            </a:extLst>
          </p:cNvPr>
          <p:cNvSpPr/>
          <p:nvPr/>
        </p:nvSpPr>
        <p:spPr>
          <a:xfrm>
            <a:off x="1319730" y="4834570"/>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作業者</a:t>
            </a:r>
            <a:endParaRPr kumimoji="1" lang="en-US" altLang="ja-JP" sz="2000" dirty="0">
              <a:solidFill>
                <a:schemeClr val="tx1"/>
              </a:solidFill>
            </a:endParaRPr>
          </a:p>
          <a:p>
            <a:pPr algn="ctr"/>
            <a:r>
              <a:rPr lang="en-US" altLang="ja-JP" dirty="0">
                <a:solidFill>
                  <a:schemeClr val="tx1"/>
                </a:solidFill>
              </a:rPr>
              <a:t>man</a:t>
            </a:r>
            <a:endParaRPr kumimoji="1" lang="ja-JP" altLang="en-US" dirty="0">
              <a:solidFill>
                <a:schemeClr val="tx1"/>
              </a:solidFill>
            </a:endParaRPr>
          </a:p>
        </p:txBody>
      </p:sp>
      <p:sp>
        <p:nvSpPr>
          <p:cNvPr id="36" name="四角形: 角を丸くする 35">
            <a:extLst>
              <a:ext uri="{FF2B5EF4-FFF2-40B4-BE49-F238E27FC236}">
                <a16:creationId xmlns:a16="http://schemas.microsoft.com/office/drawing/2014/main" id="{24179FD3-BB1A-4DC5-BD4B-1DD8F888CE37}"/>
              </a:ext>
            </a:extLst>
          </p:cNvPr>
          <p:cNvSpPr/>
          <p:nvPr/>
        </p:nvSpPr>
        <p:spPr>
          <a:xfrm>
            <a:off x="6757013" y="2196412"/>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製造方法</a:t>
            </a:r>
            <a:endParaRPr kumimoji="1" lang="en-US" altLang="ja-JP" sz="2000" dirty="0">
              <a:solidFill>
                <a:schemeClr val="tx1"/>
              </a:solidFill>
            </a:endParaRPr>
          </a:p>
          <a:p>
            <a:pPr algn="ctr"/>
            <a:r>
              <a:rPr lang="en-US" altLang="ja-JP" dirty="0">
                <a:solidFill>
                  <a:schemeClr val="tx1"/>
                </a:solidFill>
              </a:rPr>
              <a:t>method</a:t>
            </a:r>
            <a:endParaRPr kumimoji="1" lang="ja-JP" altLang="en-US" dirty="0">
              <a:solidFill>
                <a:schemeClr val="tx1"/>
              </a:solidFill>
            </a:endParaRPr>
          </a:p>
        </p:txBody>
      </p:sp>
      <p:sp>
        <p:nvSpPr>
          <p:cNvPr id="37" name="四角形: 角を丸くする 36">
            <a:extLst>
              <a:ext uri="{FF2B5EF4-FFF2-40B4-BE49-F238E27FC236}">
                <a16:creationId xmlns:a16="http://schemas.microsoft.com/office/drawing/2014/main" id="{4BBCD45A-9E0E-461B-AD99-72F4BDF821E1}"/>
              </a:ext>
            </a:extLst>
          </p:cNvPr>
          <p:cNvSpPr/>
          <p:nvPr/>
        </p:nvSpPr>
        <p:spPr>
          <a:xfrm>
            <a:off x="4038601" y="2190521"/>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製造装置</a:t>
            </a:r>
            <a:endParaRPr kumimoji="1" lang="en-US" altLang="ja-JP" sz="2000" dirty="0">
              <a:solidFill>
                <a:schemeClr val="tx1"/>
              </a:solidFill>
            </a:endParaRPr>
          </a:p>
          <a:p>
            <a:pPr algn="ctr"/>
            <a:r>
              <a:rPr lang="en-US" altLang="ja-JP" dirty="0">
                <a:solidFill>
                  <a:schemeClr val="tx1"/>
                </a:solidFill>
              </a:rPr>
              <a:t>machine</a:t>
            </a:r>
            <a:endParaRPr kumimoji="1" lang="ja-JP" altLang="en-US" dirty="0">
              <a:solidFill>
                <a:schemeClr val="tx1"/>
              </a:solidFill>
            </a:endParaRPr>
          </a:p>
        </p:txBody>
      </p:sp>
      <p:sp>
        <p:nvSpPr>
          <p:cNvPr id="38" name="四角形: 角を丸くする 37">
            <a:extLst>
              <a:ext uri="{FF2B5EF4-FFF2-40B4-BE49-F238E27FC236}">
                <a16:creationId xmlns:a16="http://schemas.microsoft.com/office/drawing/2014/main" id="{C79F3DA9-EDC8-4B35-8CDC-0BC3EAD0B920}"/>
              </a:ext>
            </a:extLst>
          </p:cNvPr>
          <p:cNvSpPr/>
          <p:nvPr/>
        </p:nvSpPr>
        <p:spPr>
          <a:xfrm>
            <a:off x="1320189" y="2190521"/>
            <a:ext cx="2111566" cy="1035586"/>
          </a:xfrm>
          <a:prstGeom prst="round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材料</a:t>
            </a:r>
            <a:endParaRPr kumimoji="1" lang="en-US" altLang="ja-JP" sz="2000" dirty="0">
              <a:solidFill>
                <a:schemeClr val="tx1"/>
              </a:solidFill>
            </a:endParaRPr>
          </a:p>
          <a:p>
            <a:pPr algn="ctr"/>
            <a:r>
              <a:rPr lang="en-US" altLang="ja-JP" dirty="0">
                <a:solidFill>
                  <a:schemeClr val="tx1"/>
                </a:solidFill>
              </a:rPr>
              <a:t>material</a:t>
            </a:r>
            <a:endParaRPr kumimoji="1" lang="ja-JP" altLang="en-US" dirty="0">
              <a:solidFill>
                <a:schemeClr val="tx1"/>
              </a:solidFill>
            </a:endParaRPr>
          </a:p>
        </p:txBody>
      </p:sp>
      <p:cxnSp>
        <p:nvCxnSpPr>
          <p:cNvPr id="8" name="直線矢印コネクタ 7">
            <a:extLst>
              <a:ext uri="{FF2B5EF4-FFF2-40B4-BE49-F238E27FC236}">
                <a16:creationId xmlns:a16="http://schemas.microsoft.com/office/drawing/2014/main" id="{EDD98CD8-DA61-48E3-8172-4BE7A86F9F52}"/>
              </a:ext>
            </a:extLst>
          </p:cNvPr>
          <p:cNvCxnSpPr>
            <a:cxnSpLocks/>
            <a:endCxn id="3" idx="1"/>
          </p:cNvCxnSpPr>
          <p:nvPr/>
        </p:nvCxnSpPr>
        <p:spPr>
          <a:xfrm>
            <a:off x="1319730" y="4033284"/>
            <a:ext cx="720732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AE9C44D-4CE2-4060-8BD2-9950E85B7430}"/>
              </a:ext>
            </a:extLst>
          </p:cNvPr>
          <p:cNvCxnSpPr>
            <a:stCxn id="36" idx="2"/>
          </p:cNvCxnSpPr>
          <p:nvPr/>
        </p:nvCxnSpPr>
        <p:spPr>
          <a:xfrm>
            <a:off x="7812796" y="3231998"/>
            <a:ext cx="438838" cy="8012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CF5EB976-487A-44F2-B36F-E492E1BC5C0E}"/>
              </a:ext>
            </a:extLst>
          </p:cNvPr>
          <p:cNvCxnSpPr>
            <a:cxnSpLocks/>
            <a:stCxn id="33" idx="0"/>
          </p:cNvCxnSpPr>
          <p:nvPr/>
        </p:nvCxnSpPr>
        <p:spPr>
          <a:xfrm flipV="1">
            <a:off x="7812795" y="4033283"/>
            <a:ext cx="438839" cy="8012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42E37A48-A065-47D4-92F5-66114526AE4B}"/>
              </a:ext>
            </a:extLst>
          </p:cNvPr>
          <p:cNvCxnSpPr>
            <a:stCxn id="34" idx="0"/>
          </p:cNvCxnSpPr>
          <p:nvPr/>
        </p:nvCxnSpPr>
        <p:spPr>
          <a:xfrm flipV="1">
            <a:off x="5094384" y="4033283"/>
            <a:ext cx="590320" cy="8012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324D00E9-293A-439F-AA9F-BB2B533F3983}"/>
              </a:ext>
            </a:extLst>
          </p:cNvPr>
          <p:cNvCxnSpPr>
            <a:stCxn id="37" idx="2"/>
          </p:cNvCxnSpPr>
          <p:nvPr/>
        </p:nvCxnSpPr>
        <p:spPr>
          <a:xfrm>
            <a:off x="5094384" y="3226107"/>
            <a:ext cx="536154" cy="8012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B669FF07-0D3D-48AC-BECB-8790FBB8B60E}"/>
              </a:ext>
            </a:extLst>
          </p:cNvPr>
          <p:cNvCxnSpPr>
            <a:stCxn id="35" idx="0"/>
          </p:cNvCxnSpPr>
          <p:nvPr/>
        </p:nvCxnSpPr>
        <p:spPr>
          <a:xfrm flipV="1">
            <a:off x="2375513" y="4027392"/>
            <a:ext cx="626125" cy="8071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D59F345C-6DD3-4111-BB4F-9B084AA802B4}"/>
              </a:ext>
            </a:extLst>
          </p:cNvPr>
          <p:cNvCxnSpPr>
            <a:stCxn id="38" idx="2"/>
          </p:cNvCxnSpPr>
          <p:nvPr/>
        </p:nvCxnSpPr>
        <p:spPr>
          <a:xfrm>
            <a:off x="2375972" y="3226107"/>
            <a:ext cx="590321" cy="8012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219049"/>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工程の安定性と工程能力。</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515</a:t>
            </a:fld>
            <a:endParaRPr kumimoji="1" lang="ja-JP" altLang="en-US"/>
          </a:p>
        </p:txBody>
      </p:sp>
      <p:graphicFrame>
        <p:nvGraphicFramePr>
          <p:cNvPr id="3" name="表 2">
            <a:extLst>
              <a:ext uri="{FF2B5EF4-FFF2-40B4-BE49-F238E27FC236}">
                <a16:creationId xmlns:a16="http://schemas.microsoft.com/office/drawing/2014/main" id="{475FC078-B47C-49C2-B422-F4CDA9B81313}"/>
              </a:ext>
            </a:extLst>
          </p:cNvPr>
          <p:cNvGraphicFramePr>
            <a:graphicFrameLocks noGrp="1"/>
          </p:cNvGraphicFramePr>
          <p:nvPr>
            <p:extLst>
              <p:ext uri="{D42A27DB-BD31-4B8C-83A1-F6EECF244321}">
                <p14:modId xmlns:p14="http://schemas.microsoft.com/office/powerpoint/2010/main" val="705195047"/>
              </p:ext>
            </p:extLst>
          </p:nvPr>
        </p:nvGraphicFramePr>
        <p:xfrm>
          <a:off x="838200" y="1937330"/>
          <a:ext cx="10515600" cy="4412554"/>
        </p:xfrm>
        <a:graphic>
          <a:graphicData uri="http://schemas.openxmlformats.org/drawingml/2006/table">
            <a:tbl>
              <a:tblPr firstRow="1" bandRow="1">
                <a:tableStyleId>{5940675A-B579-460E-94D1-54222C63F5DA}</a:tableStyleId>
              </a:tblPr>
              <a:tblGrid>
                <a:gridCol w="737212">
                  <a:extLst>
                    <a:ext uri="{9D8B030D-6E8A-4147-A177-3AD203B41FA5}">
                      <a16:colId xmlns:a16="http://schemas.microsoft.com/office/drawing/2014/main" val="1913558725"/>
                    </a:ext>
                  </a:extLst>
                </a:gridCol>
                <a:gridCol w="4858439">
                  <a:extLst>
                    <a:ext uri="{9D8B030D-6E8A-4147-A177-3AD203B41FA5}">
                      <a16:colId xmlns:a16="http://schemas.microsoft.com/office/drawing/2014/main" val="1809510168"/>
                    </a:ext>
                  </a:extLst>
                </a:gridCol>
                <a:gridCol w="4919949">
                  <a:extLst>
                    <a:ext uri="{9D8B030D-6E8A-4147-A177-3AD203B41FA5}">
                      <a16:colId xmlns:a16="http://schemas.microsoft.com/office/drawing/2014/main" val="3142935545"/>
                    </a:ext>
                  </a:extLst>
                </a:gridCol>
              </a:tblGrid>
              <a:tr h="670010">
                <a:tc>
                  <a:txBody>
                    <a:bodyPr/>
                    <a:lstStyle/>
                    <a:p>
                      <a:endParaRPr kumimoji="1" lang="ja-JP" altLang="en-US" dirty="0"/>
                    </a:p>
                  </a:txBody>
                  <a:tcPr>
                    <a:solidFill>
                      <a:schemeClr val="tx2">
                        <a:lumMod val="20000"/>
                        <a:lumOff val="80000"/>
                      </a:schemeClr>
                    </a:solidFill>
                  </a:tcPr>
                </a:tc>
                <a:tc>
                  <a:txBody>
                    <a:bodyPr/>
                    <a:lstStyle/>
                    <a:p>
                      <a:r>
                        <a:rPr kumimoji="1" lang="ja-JP" altLang="en-US" sz="2000" dirty="0"/>
                        <a:t>安定</a:t>
                      </a:r>
                    </a:p>
                  </a:txBody>
                  <a:tcPr anchor="ctr" anchorCtr="1">
                    <a:solidFill>
                      <a:schemeClr val="tx2">
                        <a:lumMod val="20000"/>
                        <a:lumOff val="80000"/>
                      </a:schemeClr>
                    </a:solidFill>
                  </a:tcPr>
                </a:tc>
                <a:tc>
                  <a:txBody>
                    <a:bodyPr/>
                    <a:lstStyle/>
                    <a:p>
                      <a:r>
                        <a:rPr kumimoji="1" lang="ja-JP" altLang="en-US" sz="2000" dirty="0"/>
                        <a:t>不安定</a:t>
                      </a:r>
                    </a:p>
                  </a:txBody>
                  <a:tcPr anchor="ctr" anchorCtr="1">
                    <a:solidFill>
                      <a:schemeClr val="tx2">
                        <a:lumMod val="20000"/>
                        <a:lumOff val="80000"/>
                      </a:schemeClr>
                    </a:solidFill>
                  </a:tcPr>
                </a:tc>
                <a:extLst>
                  <a:ext uri="{0D108BD9-81ED-4DB2-BD59-A6C34878D82A}">
                    <a16:rowId xmlns:a16="http://schemas.microsoft.com/office/drawing/2014/main" val="2750931259"/>
                  </a:ext>
                </a:extLst>
              </a:tr>
              <a:tr h="1871611">
                <a:tc>
                  <a:txBody>
                    <a:bodyPr/>
                    <a:lstStyle/>
                    <a:p>
                      <a:r>
                        <a:rPr kumimoji="1" lang="ja-JP" altLang="en-US" sz="2000" dirty="0"/>
                        <a:t>能力あり</a:t>
                      </a:r>
                    </a:p>
                  </a:txBody>
                  <a:tcPr vert="eaVert" anchor="ctr" anchorCtr="1">
                    <a:solidFill>
                      <a:schemeClr val="tx2">
                        <a:lumMod val="20000"/>
                        <a:lumOff val="80000"/>
                      </a:schemeClr>
                    </a:solidFill>
                  </a:tcPr>
                </a:tc>
                <a:tc>
                  <a:txBody>
                    <a:bodyPr/>
                    <a:lstStyle/>
                    <a:p>
                      <a:endParaRPr kumimoji="1" lang="ja-JP" altLang="en-US" dirty="0"/>
                    </a:p>
                  </a:txBody>
                  <a:tcPr>
                    <a:solidFill>
                      <a:schemeClr val="accent4">
                        <a:lumMod val="20000"/>
                        <a:lumOff val="80000"/>
                      </a:schemeClr>
                    </a:solidFill>
                  </a:tcPr>
                </a:tc>
                <a:tc>
                  <a:txBody>
                    <a:bodyPr/>
                    <a:lstStyle/>
                    <a:p>
                      <a:endParaRPr kumimoji="1" lang="ja-JP" altLang="en-US" dirty="0"/>
                    </a:p>
                  </a:txBody>
                  <a:tcPr/>
                </a:tc>
                <a:extLst>
                  <a:ext uri="{0D108BD9-81ED-4DB2-BD59-A6C34878D82A}">
                    <a16:rowId xmlns:a16="http://schemas.microsoft.com/office/drawing/2014/main" val="105028712"/>
                  </a:ext>
                </a:extLst>
              </a:tr>
              <a:tr h="1870933">
                <a:tc>
                  <a:txBody>
                    <a:bodyPr/>
                    <a:lstStyle/>
                    <a:p>
                      <a:r>
                        <a:rPr kumimoji="1" lang="ja-JP" altLang="en-US" sz="2000" dirty="0"/>
                        <a:t>能力なし</a:t>
                      </a:r>
                    </a:p>
                  </a:txBody>
                  <a:tcPr vert="eaVert" anchor="ctr" anchorCtr="1">
                    <a:solidFill>
                      <a:schemeClr val="tx2">
                        <a:lumMod val="20000"/>
                        <a:lumOff val="80000"/>
                      </a:schemeClr>
                    </a:solidFill>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623119089"/>
                  </a:ext>
                </a:extLst>
              </a:tr>
            </a:tbl>
          </a:graphicData>
        </a:graphic>
      </p:graphicFrame>
      <p:grpSp>
        <p:nvGrpSpPr>
          <p:cNvPr id="45" name="グループ化 44">
            <a:extLst>
              <a:ext uri="{FF2B5EF4-FFF2-40B4-BE49-F238E27FC236}">
                <a16:creationId xmlns:a16="http://schemas.microsoft.com/office/drawing/2014/main" id="{DE903EF0-839D-4910-9924-A1B7C1D951D1}"/>
              </a:ext>
            </a:extLst>
          </p:cNvPr>
          <p:cNvGrpSpPr/>
          <p:nvPr/>
        </p:nvGrpSpPr>
        <p:grpSpPr>
          <a:xfrm>
            <a:off x="2665795" y="2644625"/>
            <a:ext cx="2745609" cy="1767053"/>
            <a:chOff x="0" y="0"/>
            <a:chExt cx="2745609" cy="1767053"/>
          </a:xfrm>
        </p:grpSpPr>
        <p:grpSp>
          <p:nvGrpSpPr>
            <p:cNvPr id="46" name="グループ化 45">
              <a:extLst>
                <a:ext uri="{FF2B5EF4-FFF2-40B4-BE49-F238E27FC236}">
                  <a16:creationId xmlns:a16="http://schemas.microsoft.com/office/drawing/2014/main" id="{E4E29D61-1502-4F4A-9D8E-1D28CAA49F15}"/>
                </a:ext>
              </a:extLst>
            </p:cNvPr>
            <p:cNvGrpSpPr/>
            <p:nvPr/>
          </p:nvGrpSpPr>
          <p:grpSpPr>
            <a:xfrm>
              <a:off x="383662" y="95983"/>
              <a:ext cx="1994642" cy="1498290"/>
              <a:chOff x="383662" y="95983"/>
              <a:chExt cx="1997345" cy="1512274"/>
            </a:xfrm>
          </p:grpSpPr>
          <p:sp>
            <p:nvSpPr>
              <p:cNvPr id="53" name="フリーフォーム: 図形 52">
                <a:extLst>
                  <a:ext uri="{FF2B5EF4-FFF2-40B4-BE49-F238E27FC236}">
                    <a16:creationId xmlns:a16="http://schemas.microsoft.com/office/drawing/2014/main" id="{4F313F1F-07AC-4DB2-9316-A1709B0C7E9A}"/>
                  </a:ext>
                </a:extLst>
              </p:cNvPr>
              <p:cNvSpPr/>
              <p:nvPr/>
            </p:nvSpPr>
            <p:spPr>
              <a:xfrm>
                <a:off x="1379868" y="9619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54" name="フリーフォーム: 図形 53">
                <a:extLst>
                  <a:ext uri="{FF2B5EF4-FFF2-40B4-BE49-F238E27FC236}">
                    <a16:creationId xmlns:a16="http://schemas.microsoft.com/office/drawing/2014/main" id="{9AAB680E-50ED-49B0-B371-552970EF6417}"/>
                  </a:ext>
                </a:extLst>
              </p:cNvPr>
              <p:cNvSpPr/>
              <p:nvPr/>
            </p:nvSpPr>
            <p:spPr>
              <a:xfrm>
                <a:off x="383662" y="9598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47" name="直線コネクタ 46">
              <a:extLst>
                <a:ext uri="{FF2B5EF4-FFF2-40B4-BE49-F238E27FC236}">
                  <a16:creationId xmlns:a16="http://schemas.microsoft.com/office/drawing/2014/main" id="{9AFC0488-A06D-46B6-A72E-97C35882CBE4}"/>
                </a:ext>
              </a:extLst>
            </p:cNvPr>
            <p:cNvCxnSpPr/>
            <p:nvPr/>
          </p:nvCxnSpPr>
          <p:spPr>
            <a:xfrm flipH="1">
              <a:off x="1374495" y="0"/>
              <a:ext cx="0" cy="16143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A4FF9221-AF59-41A4-8C42-559711A27A4E}"/>
                </a:ext>
              </a:extLst>
            </p:cNvPr>
            <p:cNvCxnSpPr/>
            <p:nvPr/>
          </p:nvCxnSpPr>
          <p:spPr>
            <a:xfrm>
              <a:off x="0" y="1671692"/>
              <a:ext cx="2745609"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7459B2E4-FA00-44F8-ABC3-105267B4A6ED}"/>
                </a:ext>
              </a:extLst>
            </p:cNvPr>
            <p:cNvSpPr/>
            <p:nvPr/>
          </p:nvSpPr>
          <p:spPr>
            <a:xfrm>
              <a:off x="1066117" y="1546664"/>
              <a:ext cx="623329" cy="22038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50" name="正方形/長方形 49">
              <a:extLst>
                <a:ext uri="{FF2B5EF4-FFF2-40B4-BE49-F238E27FC236}">
                  <a16:creationId xmlns:a16="http://schemas.microsoft.com/office/drawing/2014/main" id="{44B1AAA0-AA0A-432B-9808-2186E654F615}"/>
                </a:ext>
              </a:extLst>
            </p:cNvPr>
            <p:cNvSpPr/>
            <p:nvPr/>
          </p:nvSpPr>
          <p:spPr>
            <a:xfrm>
              <a:off x="1737602" y="439902"/>
              <a:ext cx="351549"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51" name="正方形/長方形 50">
              <a:extLst>
                <a:ext uri="{FF2B5EF4-FFF2-40B4-BE49-F238E27FC236}">
                  <a16:creationId xmlns:a16="http://schemas.microsoft.com/office/drawing/2014/main" id="{1E1AFEE1-21CA-4210-8A9B-0A2DDD42E0A4}"/>
                </a:ext>
              </a:extLst>
            </p:cNvPr>
            <p:cNvSpPr/>
            <p:nvPr/>
          </p:nvSpPr>
          <p:spPr>
            <a:xfrm>
              <a:off x="2118381" y="436946"/>
              <a:ext cx="354724" cy="21721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52" name="直線矢印コネクタ 51">
              <a:extLst>
                <a:ext uri="{FF2B5EF4-FFF2-40B4-BE49-F238E27FC236}">
                  <a16:creationId xmlns:a16="http://schemas.microsoft.com/office/drawing/2014/main" id="{B2DDABF5-67BC-4377-BAE7-2665BFECE0B3}"/>
                </a:ext>
              </a:extLst>
            </p:cNvPr>
            <p:cNvCxnSpPr>
              <a:stCxn id="50" idx="2"/>
              <a:endCxn id="53" idx="3"/>
            </p:cNvCxnSpPr>
            <p:nvPr/>
          </p:nvCxnSpPr>
          <p:spPr>
            <a:xfrm flipH="1">
              <a:off x="1629796" y="650766"/>
              <a:ext cx="283581" cy="1926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55" name="グループ化 54">
            <a:extLst>
              <a:ext uri="{FF2B5EF4-FFF2-40B4-BE49-F238E27FC236}">
                <a16:creationId xmlns:a16="http://schemas.microsoft.com/office/drawing/2014/main" id="{CAC3635B-1E3A-407C-BFDC-C6A2113236DA}"/>
              </a:ext>
            </a:extLst>
          </p:cNvPr>
          <p:cNvGrpSpPr/>
          <p:nvPr/>
        </p:nvGrpSpPr>
        <p:grpSpPr>
          <a:xfrm>
            <a:off x="7622661" y="2614737"/>
            <a:ext cx="2742434" cy="1796941"/>
            <a:chOff x="0" y="0"/>
            <a:chExt cx="2742434" cy="1796941"/>
          </a:xfrm>
        </p:grpSpPr>
        <p:grpSp>
          <p:nvGrpSpPr>
            <p:cNvPr id="56" name="グループ化 55">
              <a:extLst>
                <a:ext uri="{FF2B5EF4-FFF2-40B4-BE49-F238E27FC236}">
                  <a16:creationId xmlns:a16="http://schemas.microsoft.com/office/drawing/2014/main" id="{F403FCBA-BE11-49A5-945E-4C7D417D9AF2}"/>
                </a:ext>
              </a:extLst>
            </p:cNvPr>
            <p:cNvGrpSpPr/>
            <p:nvPr/>
          </p:nvGrpSpPr>
          <p:grpSpPr>
            <a:xfrm>
              <a:off x="184583" y="134773"/>
              <a:ext cx="2357117" cy="1501891"/>
              <a:chOff x="184590" y="134773"/>
              <a:chExt cx="2351672" cy="1501891"/>
            </a:xfrm>
          </p:grpSpPr>
          <p:grpSp>
            <p:nvGrpSpPr>
              <p:cNvPr id="103" name="グループ化 102">
                <a:extLst>
                  <a:ext uri="{FF2B5EF4-FFF2-40B4-BE49-F238E27FC236}">
                    <a16:creationId xmlns:a16="http://schemas.microsoft.com/office/drawing/2014/main" id="{0292FDF0-FC1E-4807-939A-394044D97084}"/>
                  </a:ext>
                </a:extLst>
              </p:cNvPr>
              <p:cNvGrpSpPr/>
              <p:nvPr/>
            </p:nvGrpSpPr>
            <p:grpSpPr>
              <a:xfrm>
                <a:off x="184590" y="138167"/>
                <a:ext cx="2000122" cy="1495541"/>
                <a:chOff x="184590" y="138167"/>
                <a:chExt cx="1997345" cy="1512274"/>
              </a:xfrm>
            </p:grpSpPr>
            <p:sp>
              <p:nvSpPr>
                <p:cNvPr id="107" name="フリーフォーム: 図形 106">
                  <a:extLst>
                    <a:ext uri="{FF2B5EF4-FFF2-40B4-BE49-F238E27FC236}">
                      <a16:creationId xmlns:a16="http://schemas.microsoft.com/office/drawing/2014/main" id="{1B0A07AB-401B-4446-B01E-3A9047FA3835}"/>
                    </a:ext>
                  </a:extLst>
                </p:cNvPr>
                <p:cNvSpPr/>
                <p:nvPr/>
              </p:nvSpPr>
              <p:spPr>
                <a:xfrm>
                  <a:off x="1180796" y="138378"/>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08" name="フリーフォーム: 図形 107">
                  <a:extLst>
                    <a:ext uri="{FF2B5EF4-FFF2-40B4-BE49-F238E27FC236}">
                      <a16:creationId xmlns:a16="http://schemas.microsoft.com/office/drawing/2014/main" id="{316839D3-0703-4E31-ADD9-D9FCB090F8E1}"/>
                    </a:ext>
                  </a:extLst>
                </p:cNvPr>
                <p:cNvSpPr/>
                <p:nvPr/>
              </p:nvSpPr>
              <p:spPr>
                <a:xfrm>
                  <a:off x="184590" y="138167"/>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104" name="グループ化 103">
                <a:extLst>
                  <a:ext uri="{FF2B5EF4-FFF2-40B4-BE49-F238E27FC236}">
                    <a16:creationId xmlns:a16="http://schemas.microsoft.com/office/drawing/2014/main" id="{5BD312A8-74E7-4535-B9A7-01644AAF9886}"/>
                  </a:ext>
                </a:extLst>
              </p:cNvPr>
              <p:cNvGrpSpPr/>
              <p:nvPr/>
            </p:nvGrpSpPr>
            <p:grpSpPr>
              <a:xfrm>
                <a:off x="542490" y="134773"/>
                <a:ext cx="1993772" cy="1501891"/>
                <a:chOff x="542490" y="134773"/>
                <a:chExt cx="1997345" cy="1512274"/>
              </a:xfrm>
            </p:grpSpPr>
            <p:sp>
              <p:nvSpPr>
                <p:cNvPr id="105" name="フリーフォーム: 図形 104">
                  <a:extLst>
                    <a:ext uri="{FF2B5EF4-FFF2-40B4-BE49-F238E27FC236}">
                      <a16:creationId xmlns:a16="http://schemas.microsoft.com/office/drawing/2014/main" id="{F9116240-B980-46DF-99CC-9D6287E85397}"/>
                    </a:ext>
                  </a:extLst>
                </p:cNvPr>
                <p:cNvSpPr/>
                <p:nvPr/>
              </p:nvSpPr>
              <p:spPr>
                <a:xfrm>
                  <a:off x="1538696" y="13498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06" name="フリーフォーム: 図形 105">
                  <a:extLst>
                    <a:ext uri="{FF2B5EF4-FFF2-40B4-BE49-F238E27FC236}">
                      <a16:creationId xmlns:a16="http://schemas.microsoft.com/office/drawing/2014/main" id="{A03A08A5-E61C-4CC2-889C-632DED6528A3}"/>
                    </a:ext>
                  </a:extLst>
                </p:cNvPr>
                <p:cNvSpPr/>
                <p:nvPr/>
              </p:nvSpPr>
              <p:spPr>
                <a:xfrm>
                  <a:off x="542490" y="13477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cxnSp>
          <p:nvCxnSpPr>
            <p:cNvPr id="57" name="直線コネクタ 56">
              <a:extLst>
                <a:ext uri="{FF2B5EF4-FFF2-40B4-BE49-F238E27FC236}">
                  <a16:creationId xmlns:a16="http://schemas.microsoft.com/office/drawing/2014/main" id="{449FD3C9-B0DE-4526-94B2-5DEDC178F6F5}"/>
                </a:ext>
              </a:extLst>
            </p:cNvPr>
            <p:cNvCxnSpPr/>
            <p:nvPr/>
          </p:nvCxnSpPr>
          <p:spPr>
            <a:xfrm flipH="1">
              <a:off x="1534339" y="9744"/>
              <a:ext cx="0" cy="161453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32405AFE-EABB-4034-9FC3-4CF57CA71406}"/>
                </a:ext>
              </a:extLst>
            </p:cNvPr>
            <p:cNvCxnSpPr/>
            <p:nvPr/>
          </p:nvCxnSpPr>
          <p:spPr>
            <a:xfrm flipH="1">
              <a:off x="1155866" y="0"/>
              <a:ext cx="0" cy="16050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5C6FCF84-63DE-4218-BDCC-48980F401102}"/>
                </a:ext>
              </a:extLst>
            </p:cNvPr>
            <p:cNvCxnSpPr/>
            <p:nvPr/>
          </p:nvCxnSpPr>
          <p:spPr>
            <a:xfrm>
              <a:off x="0" y="1695230"/>
              <a:ext cx="274243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E3AE3C5C-C65D-4A69-9A20-6435606BC9D6}"/>
                </a:ext>
              </a:extLst>
            </p:cNvPr>
            <p:cNvSpPr/>
            <p:nvPr/>
          </p:nvSpPr>
          <p:spPr>
            <a:xfrm>
              <a:off x="1063455" y="1570202"/>
              <a:ext cx="625496" cy="22673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99" name="正方形/長方形 98">
              <a:extLst>
                <a:ext uri="{FF2B5EF4-FFF2-40B4-BE49-F238E27FC236}">
                  <a16:creationId xmlns:a16="http://schemas.microsoft.com/office/drawing/2014/main" id="{54A68A02-C889-49B1-815F-566A8AF73093}"/>
                </a:ext>
              </a:extLst>
            </p:cNvPr>
            <p:cNvSpPr/>
            <p:nvPr/>
          </p:nvSpPr>
          <p:spPr>
            <a:xfrm>
              <a:off x="459573" y="374431"/>
              <a:ext cx="361074"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00" name="正方形/長方形 99">
              <a:extLst>
                <a:ext uri="{FF2B5EF4-FFF2-40B4-BE49-F238E27FC236}">
                  <a16:creationId xmlns:a16="http://schemas.microsoft.com/office/drawing/2014/main" id="{AF21A60B-C437-4A3A-91D2-915222D773FC}"/>
                </a:ext>
              </a:extLst>
            </p:cNvPr>
            <p:cNvSpPr/>
            <p:nvPr/>
          </p:nvSpPr>
          <p:spPr>
            <a:xfrm>
              <a:off x="1934194" y="374650"/>
              <a:ext cx="357899" cy="21403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01" name="直線矢印コネクタ 100">
              <a:extLst>
                <a:ext uri="{FF2B5EF4-FFF2-40B4-BE49-F238E27FC236}">
                  <a16:creationId xmlns:a16="http://schemas.microsoft.com/office/drawing/2014/main" id="{AF9830FC-685D-4041-A0F5-02683E68058C}"/>
                </a:ext>
              </a:extLst>
            </p:cNvPr>
            <p:cNvCxnSpPr>
              <a:stCxn id="99" idx="2"/>
            </p:cNvCxnSpPr>
            <p:nvPr/>
          </p:nvCxnSpPr>
          <p:spPr>
            <a:xfrm>
              <a:off x="643285" y="585295"/>
              <a:ext cx="296295" cy="17692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2" name="直線矢印コネクタ 101">
              <a:extLst>
                <a:ext uri="{FF2B5EF4-FFF2-40B4-BE49-F238E27FC236}">
                  <a16:creationId xmlns:a16="http://schemas.microsoft.com/office/drawing/2014/main" id="{F7FBC9DE-5C18-41D1-A21D-5CE7E53E0937}"/>
                </a:ext>
              </a:extLst>
            </p:cNvPr>
            <p:cNvCxnSpPr>
              <a:stCxn id="100" idx="2"/>
            </p:cNvCxnSpPr>
            <p:nvPr/>
          </p:nvCxnSpPr>
          <p:spPr>
            <a:xfrm flipH="1">
              <a:off x="1760701" y="585514"/>
              <a:ext cx="355618" cy="1764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09" name="グループ化 108">
            <a:extLst>
              <a:ext uri="{FF2B5EF4-FFF2-40B4-BE49-F238E27FC236}">
                <a16:creationId xmlns:a16="http://schemas.microsoft.com/office/drawing/2014/main" id="{0B520DB2-BFD3-4C49-BF5C-BDC464F2A731}"/>
              </a:ext>
            </a:extLst>
          </p:cNvPr>
          <p:cNvGrpSpPr/>
          <p:nvPr/>
        </p:nvGrpSpPr>
        <p:grpSpPr>
          <a:xfrm>
            <a:off x="2418565" y="4889335"/>
            <a:ext cx="3240067" cy="1356601"/>
            <a:chOff x="-3175" y="0"/>
            <a:chExt cx="3236889" cy="1356601"/>
          </a:xfrm>
        </p:grpSpPr>
        <p:grpSp>
          <p:nvGrpSpPr>
            <p:cNvPr id="110" name="グループ化 109">
              <a:extLst>
                <a:ext uri="{FF2B5EF4-FFF2-40B4-BE49-F238E27FC236}">
                  <a16:creationId xmlns:a16="http://schemas.microsoft.com/office/drawing/2014/main" id="{01C26B82-64DB-4BFD-9615-73F19C9D1A1A}"/>
                </a:ext>
              </a:extLst>
            </p:cNvPr>
            <p:cNvGrpSpPr/>
            <p:nvPr/>
          </p:nvGrpSpPr>
          <p:grpSpPr>
            <a:xfrm>
              <a:off x="-3175" y="118818"/>
              <a:ext cx="3236889" cy="1067962"/>
              <a:chOff x="-3175" y="118818"/>
              <a:chExt cx="3250365" cy="1070132"/>
            </a:xfrm>
          </p:grpSpPr>
          <p:sp>
            <p:nvSpPr>
              <p:cNvPr id="117" name="フリーフォーム: 図形 116">
                <a:extLst>
                  <a:ext uri="{FF2B5EF4-FFF2-40B4-BE49-F238E27FC236}">
                    <a16:creationId xmlns:a16="http://schemas.microsoft.com/office/drawing/2014/main" id="{CCA425DA-C9A0-4930-8D31-7512CB8DEED3}"/>
                  </a:ext>
                </a:extLst>
              </p:cNvPr>
              <p:cNvSpPr/>
              <p:nvPr/>
            </p:nvSpPr>
            <p:spPr>
              <a:xfrm>
                <a:off x="1618874" y="118818"/>
                <a:ext cx="1628316" cy="1070131"/>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18" name="フリーフォーム: 図形 117">
                <a:extLst>
                  <a:ext uri="{FF2B5EF4-FFF2-40B4-BE49-F238E27FC236}">
                    <a16:creationId xmlns:a16="http://schemas.microsoft.com/office/drawing/2014/main" id="{B20B75B7-DC48-4BBF-A240-974A37320309}"/>
                  </a:ext>
                </a:extLst>
              </p:cNvPr>
              <p:cNvSpPr/>
              <p:nvPr/>
            </p:nvSpPr>
            <p:spPr>
              <a:xfrm>
                <a:off x="-3175" y="120156"/>
                <a:ext cx="1617579" cy="106879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111" name="直線コネクタ 110">
              <a:extLst>
                <a:ext uri="{FF2B5EF4-FFF2-40B4-BE49-F238E27FC236}">
                  <a16:creationId xmlns:a16="http://schemas.microsoft.com/office/drawing/2014/main" id="{EF2C01FF-A45F-41A7-8051-56AD2A3CB37B}"/>
                </a:ext>
              </a:extLst>
            </p:cNvPr>
            <p:cNvCxnSpPr/>
            <p:nvPr/>
          </p:nvCxnSpPr>
          <p:spPr>
            <a:xfrm>
              <a:off x="1617744" y="0"/>
              <a:ext cx="0" cy="12003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2" name="直線矢印コネクタ 111">
              <a:extLst>
                <a:ext uri="{FF2B5EF4-FFF2-40B4-BE49-F238E27FC236}">
                  <a16:creationId xmlns:a16="http://schemas.microsoft.com/office/drawing/2014/main" id="{49B32249-C430-4CBD-AEEE-11CB792CF9B0}"/>
                </a:ext>
              </a:extLst>
            </p:cNvPr>
            <p:cNvCxnSpPr/>
            <p:nvPr/>
          </p:nvCxnSpPr>
          <p:spPr>
            <a:xfrm>
              <a:off x="247762" y="1261240"/>
              <a:ext cx="274609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23EA59C7-978F-43DD-8560-15CED24B7BBB}"/>
                </a:ext>
              </a:extLst>
            </p:cNvPr>
            <p:cNvSpPr/>
            <p:nvPr/>
          </p:nvSpPr>
          <p:spPr>
            <a:xfrm>
              <a:off x="1314066" y="1136212"/>
              <a:ext cx="623439" cy="220389"/>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114" name="正方形/長方形 113">
              <a:extLst>
                <a:ext uri="{FF2B5EF4-FFF2-40B4-BE49-F238E27FC236}">
                  <a16:creationId xmlns:a16="http://schemas.microsoft.com/office/drawing/2014/main" id="{5A3EE536-BED3-40FC-9A70-71F9B09D4996}"/>
                </a:ext>
              </a:extLst>
            </p:cNvPr>
            <p:cNvSpPr/>
            <p:nvPr/>
          </p:nvSpPr>
          <p:spPr>
            <a:xfrm>
              <a:off x="2139398" y="288815"/>
              <a:ext cx="357899" cy="22038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15" name="正方形/長方形 114">
              <a:extLst>
                <a:ext uri="{FF2B5EF4-FFF2-40B4-BE49-F238E27FC236}">
                  <a16:creationId xmlns:a16="http://schemas.microsoft.com/office/drawing/2014/main" id="{397A0E3F-C11E-422A-B7FF-011163036056}"/>
                </a:ext>
              </a:extLst>
            </p:cNvPr>
            <p:cNvSpPr/>
            <p:nvPr/>
          </p:nvSpPr>
          <p:spPr>
            <a:xfrm>
              <a:off x="2520177" y="292209"/>
              <a:ext cx="351549" cy="21721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16" name="直線矢印コネクタ 115">
              <a:extLst>
                <a:ext uri="{FF2B5EF4-FFF2-40B4-BE49-F238E27FC236}">
                  <a16:creationId xmlns:a16="http://schemas.microsoft.com/office/drawing/2014/main" id="{7A5BB0B9-E846-41D1-A7D0-65DC12DE48D9}"/>
                </a:ext>
              </a:extLst>
            </p:cNvPr>
            <p:cNvCxnSpPr>
              <a:stCxn id="114" idx="2"/>
            </p:cNvCxnSpPr>
            <p:nvPr/>
          </p:nvCxnSpPr>
          <p:spPr>
            <a:xfrm flipH="1">
              <a:off x="2034767" y="499679"/>
              <a:ext cx="277231" cy="1926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19" name="グループ化 118">
            <a:extLst>
              <a:ext uri="{FF2B5EF4-FFF2-40B4-BE49-F238E27FC236}">
                <a16:creationId xmlns:a16="http://schemas.microsoft.com/office/drawing/2014/main" id="{CB64FC2B-89BF-4FD1-9823-61C27A38B26E}"/>
              </a:ext>
            </a:extLst>
          </p:cNvPr>
          <p:cNvGrpSpPr/>
          <p:nvPr/>
        </p:nvGrpSpPr>
        <p:grpSpPr>
          <a:xfrm>
            <a:off x="7565678" y="4457129"/>
            <a:ext cx="2968940" cy="1846097"/>
            <a:chOff x="0" y="0"/>
            <a:chExt cx="2968940" cy="1846097"/>
          </a:xfrm>
        </p:grpSpPr>
        <p:grpSp>
          <p:nvGrpSpPr>
            <p:cNvPr id="120" name="グループ化 119">
              <a:extLst>
                <a:ext uri="{FF2B5EF4-FFF2-40B4-BE49-F238E27FC236}">
                  <a16:creationId xmlns:a16="http://schemas.microsoft.com/office/drawing/2014/main" id="{08454770-5E65-4001-A4F5-A35021D28A41}"/>
                </a:ext>
              </a:extLst>
            </p:cNvPr>
            <p:cNvGrpSpPr/>
            <p:nvPr/>
          </p:nvGrpSpPr>
          <p:grpSpPr>
            <a:xfrm>
              <a:off x="0" y="120597"/>
              <a:ext cx="2968940" cy="1497215"/>
              <a:chOff x="0" y="120597"/>
              <a:chExt cx="2968934" cy="1508242"/>
            </a:xfrm>
          </p:grpSpPr>
          <p:grpSp>
            <p:nvGrpSpPr>
              <p:cNvPr id="129" name="グループ化 128">
                <a:extLst>
                  <a:ext uri="{FF2B5EF4-FFF2-40B4-BE49-F238E27FC236}">
                    <a16:creationId xmlns:a16="http://schemas.microsoft.com/office/drawing/2014/main" id="{47717429-C7DA-4075-879B-61A121D31E67}"/>
                  </a:ext>
                </a:extLst>
              </p:cNvPr>
              <p:cNvGrpSpPr/>
              <p:nvPr/>
            </p:nvGrpSpPr>
            <p:grpSpPr>
              <a:xfrm>
                <a:off x="968812" y="120597"/>
                <a:ext cx="2000122" cy="1508241"/>
                <a:chOff x="968812" y="120597"/>
                <a:chExt cx="1997345" cy="1512274"/>
              </a:xfrm>
            </p:grpSpPr>
            <p:sp>
              <p:nvSpPr>
                <p:cNvPr id="133" name="フリーフォーム: 図形 132">
                  <a:extLst>
                    <a:ext uri="{FF2B5EF4-FFF2-40B4-BE49-F238E27FC236}">
                      <a16:creationId xmlns:a16="http://schemas.microsoft.com/office/drawing/2014/main" id="{0D009538-305D-4F77-8EFB-E99627E73300}"/>
                    </a:ext>
                  </a:extLst>
                </p:cNvPr>
                <p:cNvSpPr/>
                <p:nvPr/>
              </p:nvSpPr>
              <p:spPr>
                <a:xfrm>
                  <a:off x="1965018" y="120808"/>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34" name="フリーフォーム: 図形 133">
                  <a:extLst>
                    <a:ext uri="{FF2B5EF4-FFF2-40B4-BE49-F238E27FC236}">
                      <a16:creationId xmlns:a16="http://schemas.microsoft.com/office/drawing/2014/main" id="{02EF2C88-C953-4F2B-B460-985C28BD11D6}"/>
                    </a:ext>
                  </a:extLst>
                </p:cNvPr>
                <p:cNvSpPr/>
                <p:nvPr/>
              </p:nvSpPr>
              <p:spPr>
                <a:xfrm>
                  <a:off x="968812" y="120597"/>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130" name="グループ化 129">
                <a:extLst>
                  <a:ext uri="{FF2B5EF4-FFF2-40B4-BE49-F238E27FC236}">
                    <a16:creationId xmlns:a16="http://schemas.microsoft.com/office/drawing/2014/main" id="{7BE3E451-34D2-4EF9-BBDC-CFEAB8FD590D}"/>
                  </a:ext>
                </a:extLst>
              </p:cNvPr>
              <p:cNvGrpSpPr/>
              <p:nvPr/>
            </p:nvGrpSpPr>
            <p:grpSpPr>
              <a:xfrm>
                <a:off x="0" y="130123"/>
                <a:ext cx="2000122" cy="1498716"/>
                <a:chOff x="0" y="130123"/>
                <a:chExt cx="1997345" cy="1512274"/>
              </a:xfrm>
            </p:grpSpPr>
            <p:sp>
              <p:nvSpPr>
                <p:cNvPr id="131" name="フリーフォーム: 図形 130">
                  <a:extLst>
                    <a:ext uri="{FF2B5EF4-FFF2-40B4-BE49-F238E27FC236}">
                      <a16:creationId xmlns:a16="http://schemas.microsoft.com/office/drawing/2014/main" id="{16170CB3-C75B-40F2-9DF7-7CB499E82FBD}"/>
                    </a:ext>
                  </a:extLst>
                </p:cNvPr>
                <p:cNvSpPr/>
                <p:nvPr/>
              </p:nvSpPr>
              <p:spPr>
                <a:xfrm>
                  <a:off x="996206" y="13033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32" name="フリーフォーム: 図形 131">
                  <a:extLst>
                    <a:ext uri="{FF2B5EF4-FFF2-40B4-BE49-F238E27FC236}">
                      <a16:creationId xmlns:a16="http://schemas.microsoft.com/office/drawing/2014/main" id="{CD9EB668-A70A-4502-ABA0-8940957FAB1F}"/>
                    </a:ext>
                  </a:extLst>
                </p:cNvPr>
                <p:cNvSpPr/>
                <p:nvPr/>
              </p:nvSpPr>
              <p:spPr>
                <a:xfrm>
                  <a:off x="0" y="13012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cxnSp>
          <p:nvCxnSpPr>
            <p:cNvPr id="121" name="直線コネクタ 120">
              <a:extLst>
                <a:ext uri="{FF2B5EF4-FFF2-40B4-BE49-F238E27FC236}">
                  <a16:creationId xmlns:a16="http://schemas.microsoft.com/office/drawing/2014/main" id="{18328668-E9C0-4AC7-931E-B964AC16761E}"/>
                </a:ext>
              </a:extLst>
            </p:cNvPr>
            <p:cNvCxnSpPr/>
            <p:nvPr/>
          </p:nvCxnSpPr>
          <p:spPr>
            <a:xfrm flipH="1">
              <a:off x="981953" y="0"/>
              <a:ext cx="0" cy="161243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73CD5E70-B6B6-4C0B-AB42-795DD80E3853}"/>
                </a:ext>
              </a:extLst>
            </p:cNvPr>
            <p:cNvCxnSpPr/>
            <p:nvPr/>
          </p:nvCxnSpPr>
          <p:spPr>
            <a:xfrm flipH="1">
              <a:off x="1950769" y="3157"/>
              <a:ext cx="0" cy="16092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E0B88541-37CF-4A0A-AA8F-E3B35CDE74B8}"/>
                </a:ext>
              </a:extLst>
            </p:cNvPr>
            <p:cNvCxnSpPr/>
            <p:nvPr/>
          </p:nvCxnSpPr>
          <p:spPr>
            <a:xfrm>
              <a:off x="88894" y="1751064"/>
              <a:ext cx="2751723"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4718A6B1-F943-433E-B5AB-3FEF714A0AD4}"/>
                </a:ext>
              </a:extLst>
            </p:cNvPr>
            <p:cNvSpPr/>
            <p:nvPr/>
          </p:nvSpPr>
          <p:spPr>
            <a:xfrm>
              <a:off x="1163735" y="1626466"/>
              <a:ext cx="624719" cy="219631"/>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a:t>
              </a:r>
            </a:p>
          </p:txBody>
        </p:sp>
        <p:sp>
          <p:nvSpPr>
            <p:cNvPr id="125" name="正方形/長方形 124">
              <a:extLst>
                <a:ext uri="{FF2B5EF4-FFF2-40B4-BE49-F238E27FC236}">
                  <a16:creationId xmlns:a16="http://schemas.microsoft.com/office/drawing/2014/main" id="{512CFE8D-D175-43FF-94C7-604AE6B5B47C}"/>
                </a:ext>
              </a:extLst>
            </p:cNvPr>
            <p:cNvSpPr/>
            <p:nvPr/>
          </p:nvSpPr>
          <p:spPr>
            <a:xfrm>
              <a:off x="272508" y="387568"/>
              <a:ext cx="364249" cy="207689"/>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t1</a:t>
              </a:r>
            </a:p>
          </p:txBody>
        </p:sp>
        <p:sp>
          <p:nvSpPr>
            <p:cNvPr id="126" name="正方形/長方形 125">
              <a:extLst>
                <a:ext uri="{FF2B5EF4-FFF2-40B4-BE49-F238E27FC236}">
                  <a16:creationId xmlns:a16="http://schemas.microsoft.com/office/drawing/2014/main" id="{0002F412-8B79-42FE-BE4F-CA10B1AA85DC}"/>
                </a:ext>
              </a:extLst>
            </p:cNvPr>
            <p:cNvSpPr/>
            <p:nvPr/>
          </p:nvSpPr>
          <p:spPr>
            <a:xfrm>
              <a:off x="2361217" y="387787"/>
              <a:ext cx="364249" cy="210864"/>
            </a:xfrm>
            <a:prstGeom prst="rect">
              <a:avLst/>
            </a:prstGeom>
            <a:solidFill>
              <a:sysClr val="window" lastClr="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t2</a:t>
              </a:r>
            </a:p>
          </p:txBody>
        </p:sp>
        <p:cxnSp>
          <p:nvCxnSpPr>
            <p:cNvPr id="127" name="直線矢印コネクタ 126">
              <a:extLst>
                <a:ext uri="{FF2B5EF4-FFF2-40B4-BE49-F238E27FC236}">
                  <a16:creationId xmlns:a16="http://schemas.microsoft.com/office/drawing/2014/main" id="{4239A0D8-9774-4B6B-8164-D1E03EA3DF62}"/>
                </a:ext>
              </a:extLst>
            </p:cNvPr>
            <p:cNvCxnSpPr>
              <a:stCxn id="125" idx="2"/>
            </p:cNvCxnSpPr>
            <p:nvPr/>
          </p:nvCxnSpPr>
          <p:spPr>
            <a:xfrm>
              <a:off x="462570" y="598432"/>
              <a:ext cx="286770" cy="17057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直線矢印コネクタ 127">
              <a:extLst>
                <a:ext uri="{FF2B5EF4-FFF2-40B4-BE49-F238E27FC236}">
                  <a16:creationId xmlns:a16="http://schemas.microsoft.com/office/drawing/2014/main" id="{D16CFDAC-2E1C-4740-9FED-7A90F77FD67D}"/>
                </a:ext>
              </a:extLst>
            </p:cNvPr>
            <p:cNvCxnSpPr>
              <a:stCxn id="126" idx="2"/>
            </p:cNvCxnSpPr>
            <p:nvPr/>
          </p:nvCxnSpPr>
          <p:spPr>
            <a:xfrm flipH="1">
              <a:off x="2187724" y="595476"/>
              <a:ext cx="355618" cy="1764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60" name="タイトル 1">
            <a:extLst>
              <a:ext uri="{FF2B5EF4-FFF2-40B4-BE49-F238E27FC236}">
                <a16:creationId xmlns:a16="http://schemas.microsoft.com/office/drawing/2014/main" id="{868905D5-00EA-4A56-B555-FB7E0B2C78E2}"/>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５．ＳＰＣ（工程の安定と能力）</a:t>
            </a:r>
          </a:p>
        </p:txBody>
      </p:sp>
      <p:sp>
        <p:nvSpPr>
          <p:cNvPr id="6" name="四角形: 角を丸くする 5">
            <a:extLst>
              <a:ext uri="{FF2B5EF4-FFF2-40B4-BE49-F238E27FC236}">
                <a16:creationId xmlns:a16="http://schemas.microsoft.com/office/drawing/2014/main" id="{52A85BC5-145E-4841-973E-52CEBF2E4BD0}"/>
              </a:ext>
            </a:extLst>
          </p:cNvPr>
          <p:cNvSpPr/>
          <p:nvPr/>
        </p:nvSpPr>
        <p:spPr>
          <a:xfrm>
            <a:off x="1685581" y="2740608"/>
            <a:ext cx="577337" cy="3328958"/>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nchorCtr="1"/>
          <a:lstStyle/>
          <a:p>
            <a:pPr algn="ctr"/>
            <a:r>
              <a:rPr kumimoji="1" lang="ja-JP" altLang="en-US" sz="2000" dirty="0">
                <a:solidFill>
                  <a:schemeClr val="tx1"/>
                </a:solidFill>
              </a:rPr>
              <a:t>予測できる</a:t>
            </a:r>
          </a:p>
        </p:txBody>
      </p:sp>
      <p:sp>
        <p:nvSpPr>
          <p:cNvPr id="62" name="四角形: 角を丸くする 61">
            <a:extLst>
              <a:ext uri="{FF2B5EF4-FFF2-40B4-BE49-F238E27FC236}">
                <a16:creationId xmlns:a16="http://schemas.microsoft.com/office/drawing/2014/main" id="{D7B22A8B-8CD8-4A36-B9CD-37A97C8719C2}"/>
              </a:ext>
            </a:extLst>
          </p:cNvPr>
          <p:cNvSpPr/>
          <p:nvPr/>
        </p:nvSpPr>
        <p:spPr>
          <a:xfrm>
            <a:off x="10663977" y="2740608"/>
            <a:ext cx="577337" cy="332895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nchorCtr="1"/>
          <a:lstStyle/>
          <a:p>
            <a:pPr algn="ctr"/>
            <a:r>
              <a:rPr kumimoji="1" lang="ja-JP" altLang="en-US" sz="2000" dirty="0">
                <a:solidFill>
                  <a:schemeClr val="tx1"/>
                </a:solidFill>
              </a:rPr>
              <a:t>予測できない</a:t>
            </a:r>
          </a:p>
        </p:txBody>
      </p:sp>
      <p:sp>
        <p:nvSpPr>
          <p:cNvPr id="8" name="四角形: 角を丸くする 7">
            <a:extLst>
              <a:ext uri="{FF2B5EF4-FFF2-40B4-BE49-F238E27FC236}">
                <a16:creationId xmlns:a16="http://schemas.microsoft.com/office/drawing/2014/main" id="{7B1C95B1-44B0-4C99-B8EC-9DD86C42B27E}"/>
              </a:ext>
            </a:extLst>
          </p:cNvPr>
          <p:cNvSpPr/>
          <p:nvPr/>
        </p:nvSpPr>
        <p:spPr>
          <a:xfrm>
            <a:off x="5296287" y="2740608"/>
            <a:ext cx="2536339" cy="55478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規格を満たせる</a:t>
            </a:r>
          </a:p>
        </p:txBody>
      </p:sp>
      <p:sp>
        <p:nvSpPr>
          <p:cNvPr id="64" name="四角形: 角を丸くする 63">
            <a:extLst>
              <a:ext uri="{FF2B5EF4-FFF2-40B4-BE49-F238E27FC236}">
                <a16:creationId xmlns:a16="http://schemas.microsoft.com/office/drawing/2014/main" id="{88CF1390-13C0-46AE-B844-E337C80097F3}"/>
              </a:ext>
            </a:extLst>
          </p:cNvPr>
          <p:cNvSpPr/>
          <p:nvPr/>
        </p:nvSpPr>
        <p:spPr>
          <a:xfrm>
            <a:off x="5296286" y="4569474"/>
            <a:ext cx="2536339" cy="554781"/>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規格を満たせない</a:t>
            </a:r>
          </a:p>
        </p:txBody>
      </p:sp>
    </p:spTree>
    <p:extLst>
      <p:ext uri="{BB962C8B-B14F-4D97-AF65-F5344CB8AC3E}">
        <p14:creationId xmlns:p14="http://schemas.microsoft.com/office/powerpoint/2010/main" val="1602549068"/>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不安定と能力不足における処置。</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516</a:t>
            </a:fld>
            <a:endParaRPr kumimoji="1" lang="ja-JP" altLang="en-US"/>
          </a:p>
        </p:txBody>
      </p:sp>
      <p:graphicFrame>
        <p:nvGraphicFramePr>
          <p:cNvPr id="3" name="表 2">
            <a:extLst>
              <a:ext uri="{FF2B5EF4-FFF2-40B4-BE49-F238E27FC236}">
                <a16:creationId xmlns:a16="http://schemas.microsoft.com/office/drawing/2014/main" id="{475FC078-B47C-49C2-B422-F4CDA9B81313}"/>
              </a:ext>
            </a:extLst>
          </p:cNvPr>
          <p:cNvGraphicFramePr>
            <a:graphicFrameLocks noGrp="1"/>
          </p:cNvGraphicFramePr>
          <p:nvPr>
            <p:extLst>
              <p:ext uri="{D42A27DB-BD31-4B8C-83A1-F6EECF244321}">
                <p14:modId xmlns:p14="http://schemas.microsoft.com/office/powerpoint/2010/main" val="3773725275"/>
              </p:ext>
            </p:extLst>
          </p:nvPr>
        </p:nvGraphicFramePr>
        <p:xfrm>
          <a:off x="838200" y="1937330"/>
          <a:ext cx="10515600" cy="4412554"/>
        </p:xfrm>
        <a:graphic>
          <a:graphicData uri="http://schemas.openxmlformats.org/drawingml/2006/table">
            <a:tbl>
              <a:tblPr firstRow="1" bandRow="1">
                <a:tableStyleId>{5940675A-B579-460E-94D1-54222C63F5DA}</a:tableStyleId>
              </a:tblPr>
              <a:tblGrid>
                <a:gridCol w="737212">
                  <a:extLst>
                    <a:ext uri="{9D8B030D-6E8A-4147-A177-3AD203B41FA5}">
                      <a16:colId xmlns:a16="http://schemas.microsoft.com/office/drawing/2014/main" val="1913558725"/>
                    </a:ext>
                  </a:extLst>
                </a:gridCol>
                <a:gridCol w="4858439">
                  <a:extLst>
                    <a:ext uri="{9D8B030D-6E8A-4147-A177-3AD203B41FA5}">
                      <a16:colId xmlns:a16="http://schemas.microsoft.com/office/drawing/2014/main" val="1809510168"/>
                    </a:ext>
                  </a:extLst>
                </a:gridCol>
                <a:gridCol w="4919949">
                  <a:extLst>
                    <a:ext uri="{9D8B030D-6E8A-4147-A177-3AD203B41FA5}">
                      <a16:colId xmlns:a16="http://schemas.microsoft.com/office/drawing/2014/main" val="3142935545"/>
                    </a:ext>
                  </a:extLst>
                </a:gridCol>
              </a:tblGrid>
              <a:tr h="670010">
                <a:tc>
                  <a:txBody>
                    <a:bodyPr/>
                    <a:lstStyle/>
                    <a:p>
                      <a:endParaRPr kumimoji="1" lang="ja-JP" altLang="en-US" sz="2400" dirty="0"/>
                    </a:p>
                  </a:txBody>
                  <a:tcPr>
                    <a:solidFill>
                      <a:schemeClr val="tx2">
                        <a:lumMod val="20000"/>
                        <a:lumOff val="80000"/>
                      </a:schemeClr>
                    </a:solidFill>
                  </a:tcPr>
                </a:tc>
                <a:tc>
                  <a:txBody>
                    <a:bodyPr/>
                    <a:lstStyle/>
                    <a:p>
                      <a:r>
                        <a:rPr kumimoji="1" lang="ja-JP" altLang="en-US" sz="2400" dirty="0"/>
                        <a:t>安定</a:t>
                      </a:r>
                    </a:p>
                  </a:txBody>
                  <a:tcPr anchor="ctr" anchorCtr="1">
                    <a:solidFill>
                      <a:schemeClr val="tx2">
                        <a:lumMod val="20000"/>
                        <a:lumOff val="80000"/>
                      </a:schemeClr>
                    </a:solidFill>
                  </a:tcPr>
                </a:tc>
                <a:tc>
                  <a:txBody>
                    <a:bodyPr/>
                    <a:lstStyle/>
                    <a:p>
                      <a:r>
                        <a:rPr kumimoji="1" lang="ja-JP" altLang="en-US" sz="2400" dirty="0"/>
                        <a:t>不安定</a:t>
                      </a:r>
                    </a:p>
                  </a:txBody>
                  <a:tcPr anchor="ctr" anchorCtr="1">
                    <a:solidFill>
                      <a:schemeClr val="tx2">
                        <a:lumMod val="20000"/>
                        <a:lumOff val="80000"/>
                      </a:schemeClr>
                    </a:solidFill>
                  </a:tcPr>
                </a:tc>
                <a:extLst>
                  <a:ext uri="{0D108BD9-81ED-4DB2-BD59-A6C34878D82A}">
                    <a16:rowId xmlns:a16="http://schemas.microsoft.com/office/drawing/2014/main" val="2750931259"/>
                  </a:ext>
                </a:extLst>
              </a:tr>
              <a:tr h="1871611">
                <a:tc>
                  <a:txBody>
                    <a:bodyPr/>
                    <a:lstStyle/>
                    <a:p>
                      <a:r>
                        <a:rPr kumimoji="1" lang="ja-JP" altLang="en-US" sz="2400" dirty="0"/>
                        <a:t>能力あり</a:t>
                      </a:r>
                    </a:p>
                  </a:txBody>
                  <a:tcPr vert="eaVert" anchor="ctr" anchorCtr="1">
                    <a:solidFill>
                      <a:schemeClr val="tx2">
                        <a:lumMod val="20000"/>
                        <a:lumOff val="80000"/>
                      </a:schemeClr>
                    </a:solidFill>
                  </a:tcPr>
                </a:tc>
                <a:tc>
                  <a:txBody>
                    <a:bodyPr/>
                    <a:lstStyle/>
                    <a:p>
                      <a:r>
                        <a:rPr kumimoji="1" lang="ja-JP" altLang="en-US" sz="2400" dirty="0"/>
                        <a:t>理想の状態であり、</a:t>
                      </a:r>
                      <a:r>
                        <a:rPr kumimoji="1" lang="ja-JP" altLang="en-US" sz="2400" dirty="0">
                          <a:solidFill>
                            <a:srgbClr val="FF0000"/>
                          </a:solidFill>
                          <a:effectLst>
                            <a:outerShdw blurRad="38100" dist="38100" dir="2700000" algn="tl">
                              <a:srgbClr val="000000">
                                <a:alpha val="43137"/>
                              </a:srgbClr>
                            </a:outerShdw>
                          </a:effectLst>
                        </a:rPr>
                        <a:t>処置は不要</a:t>
                      </a:r>
                      <a:r>
                        <a:rPr kumimoji="1" lang="ja-JP" altLang="en-US" sz="2400" dirty="0"/>
                        <a:t>。</a:t>
                      </a:r>
                    </a:p>
                  </a:txBody>
                  <a:tcPr anchor="ctr" anchorCtr="1">
                    <a:solidFill>
                      <a:schemeClr val="accent4">
                        <a:lumMod val="20000"/>
                        <a:lumOff val="80000"/>
                      </a:schemeClr>
                    </a:solidFill>
                  </a:tcPr>
                </a:tc>
                <a:tc>
                  <a:txBody>
                    <a:bodyPr/>
                    <a:lstStyle/>
                    <a:p>
                      <a:r>
                        <a:rPr kumimoji="1" lang="ja-JP" altLang="en-US" sz="2400" dirty="0">
                          <a:solidFill>
                            <a:srgbClr val="FF0000"/>
                          </a:solidFill>
                          <a:effectLst>
                            <a:outerShdw blurRad="38100" dist="38100" dir="2700000" algn="tl">
                              <a:srgbClr val="000000">
                                <a:alpha val="43137"/>
                              </a:srgbClr>
                            </a:outerShdw>
                          </a:effectLst>
                        </a:rPr>
                        <a:t>特別原因</a:t>
                      </a:r>
                      <a:r>
                        <a:rPr kumimoji="1" lang="ja-JP" altLang="en-US" sz="2400" dirty="0"/>
                        <a:t>を特定し、対策することが必要。ただし、条件付きで顧客が生産の継続を認めることもある。</a:t>
                      </a:r>
                    </a:p>
                  </a:txBody>
                  <a:tcPr anchor="ctr" anchorCtr="1"/>
                </a:tc>
                <a:extLst>
                  <a:ext uri="{0D108BD9-81ED-4DB2-BD59-A6C34878D82A}">
                    <a16:rowId xmlns:a16="http://schemas.microsoft.com/office/drawing/2014/main" val="105028712"/>
                  </a:ext>
                </a:extLst>
              </a:tr>
              <a:tr h="1870933">
                <a:tc>
                  <a:txBody>
                    <a:bodyPr/>
                    <a:lstStyle/>
                    <a:p>
                      <a:r>
                        <a:rPr kumimoji="1" lang="ja-JP" altLang="en-US" sz="2400" dirty="0"/>
                        <a:t>能力なし</a:t>
                      </a:r>
                    </a:p>
                  </a:txBody>
                  <a:tcPr vert="eaVert" anchor="ctr" anchorCtr="1">
                    <a:solidFill>
                      <a:schemeClr val="tx2">
                        <a:lumMod val="20000"/>
                        <a:lumOff val="80000"/>
                      </a:schemeClr>
                    </a:solidFill>
                  </a:tcPr>
                </a:tc>
                <a:tc>
                  <a:txBody>
                    <a:bodyPr/>
                    <a:lstStyle/>
                    <a:p>
                      <a:r>
                        <a:rPr kumimoji="1" lang="ja-JP" altLang="en-US" sz="2400" dirty="0">
                          <a:solidFill>
                            <a:srgbClr val="FF0000"/>
                          </a:solidFill>
                          <a:effectLst>
                            <a:outerShdw blurRad="38100" dist="38100" dir="2700000" algn="tl">
                              <a:srgbClr val="000000">
                                <a:alpha val="43137"/>
                              </a:srgbClr>
                            </a:outerShdw>
                          </a:effectLst>
                        </a:rPr>
                        <a:t>共通原因</a:t>
                      </a:r>
                      <a:r>
                        <a:rPr kumimoji="1" lang="ja-JP" altLang="en-US" sz="2400" dirty="0"/>
                        <a:t>の削減が必要。</a:t>
                      </a:r>
                    </a:p>
                  </a:txBody>
                  <a:tcPr anchor="ctr" anchorCtr="1"/>
                </a:tc>
                <a:tc>
                  <a:txBody>
                    <a:bodyPr/>
                    <a:lstStyle/>
                    <a:p>
                      <a:r>
                        <a:rPr kumimoji="1" lang="ja-JP" altLang="en-US" sz="2400" dirty="0">
                          <a:solidFill>
                            <a:srgbClr val="FF0000"/>
                          </a:solidFill>
                          <a:effectLst>
                            <a:outerShdw blurRad="38100" dist="38100" dir="2700000" algn="tl">
                              <a:srgbClr val="000000">
                                <a:alpha val="43137"/>
                              </a:srgbClr>
                            </a:outerShdw>
                          </a:effectLst>
                        </a:rPr>
                        <a:t>共通原因、特別原因</a:t>
                      </a:r>
                      <a:r>
                        <a:rPr kumimoji="1" lang="ja-JP" altLang="en-US" sz="2400" dirty="0"/>
                        <a:t>ともに削減が必要。</a:t>
                      </a:r>
                    </a:p>
                  </a:txBody>
                  <a:tcPr anchor="ctr" anchorCtr="1"/>
                </a:tc>
                <a:extLst>
                  <a:ext uri="{0D108BD9-81ED-4DB2-BD59-A6C34878D82A}">
                    <a16:rowId xmlns:a16="http://schemas.microsoft.com/office/drawing/2014/main" val="1623119089"/>
                  </a:ext>
                </a:extLst>
              </a:tr>
            </a:tbl>
          </a:graphicData>
        </a:graphic>
      </p:graphicFrame>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５．ＳＰＣ（工程の安定と能力）</a:t>
            </a:r>
          </a:p>
        </p:txBody>
      </p:sp>
    </p:spTree>
    <p:extLst>
      <p:ext uri="{BB962C8B-B14F-4D97-AF65-F5344CB8AC3E}">
        <p14:creationId xmlns:p14="http://schemas.microsoft.com/office/powerpoint/2010/main" val="2003405446"/>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工程管理における処置では次の</a:t>
            </a:r>
            <a:r>
              <a:rPr lang="en-US" altLang="ja-JP" sz="2400" dirty="0"/>
              <a:t>2</a:t>
            </a:r>
            <a:r>
              <a:rPr lang="ja-JP" altLang="en-US" sz="2400" dirty="0" err="1"/>
              <a:t>つに</a:t>
            </a:r>
            <a:r>
              <a:rPr lang="ja-JP" altLang="en-US" sz="2400" dirty="0"/>
              <a:t>注意する。</a:t>
            </a: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r>
              <a:rPr lang="ja-JP" altLang="en-US" sz="2400" dirty="0"/>
              <a:t>共通原因変動と特別原因変動</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517</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５．ＳＰＣ（工程の安定と能力）</a:t>
            </a:r>
          </a:p>
        </p:txBody>
      </p:sp>
      <p:graphicFrame>
        <p:nvGraphicFramePr>
          <p:cNvPr id="2" name="表 1">
            <a:extLst>
              <a:ext uri="{FF2B5EF4-FFF2-40B4-BE49-F238E27FC236}">
                <a16:creationId xmlns:a16="http://schemas.microsoft.com/office/drawing/2014/main" id="{B79CA62E-11E2-4C61-9912-8424E9DA190C}"/>
              </a:ext>
            </a:extLst>
          </p:cNvPr>
          <p:cNvGraphicFramePr>
            <a:graphicFrameLocks noGrp="1"/>
          </p:cNvGraphicFramePr>
          <p:nvPr>
            <p:extLst>
              <p:ext uri="{D42A27DB-BD31-4B8C-83A1-F6EECF244321}">
                <p14:modId xmlns:p14="http://schemas.microsoft.com/office/powerpoint/2010/main" val="751734950"/>
              </p:ext>
            </p:extLst>
          </p:nvPr>
        </p:nvGraphicFramePr>
        <p:xfrm>
          <a:off x="838200" y="1942538"/>
          <a:ext cx="10515600" cy="2286000"/>
        </p:xfrm>
        <a:graphic>
          <a:graphicData uri="http://schemas.openxmlformats.org/drawingml/2006/table">
            <a:tbl>
              <a:tblPr firstRow="1" bandRow="1">
                <a:tableStyleId>{5940675A-B579-460E-94D1-54222C63F5DA}</a:tableStyleId>
              </a:tblPr>
              <a:tblGrid>
                <a:gridCol w="2444827">
                  <a:extLst>
                    <a:ext uri="{9D8B030D-6E8A-4147-A177-3AD203B41FA5}">
                      <a16:colId xmlns:a16="http://schemas.microsoft.com/office/drawing/2014/main" val="1046940642"/>
                    </a:ext>
                  </a:extLst>
                </a:gridCol>
                <a:gridCol w="1575412">
                  <a:extLst>
                    <a:ext uri="{9D8B030D-6E8A-4147-A177-3AD203B41FA5}">
                      <a16:colId xmlns:a16="http://schemas.microsoft.com/office/drawing/2014/main" val="854461382"/>
                    </a:ext>
                  </a:extLst>
                </a:gridCol>
                <a:gridCol w="1586428">
                  <a:extLst>
                    <a:ext uri="{9D8B030D-6E8A-4147-A177-3AD203B41FA5}">
                      <a16:colId xmlns:a16="http://schemas.microsoft.com/office/drawing/2014/main" val="2001115826"/>
                    </a:ext>
                  </a:extLst>
                </a:gridCol>
                <a:gridCol w="4908933">
                  <a:extLst>
                    <a:ext uri="{9D8B030D-6E8A-4147-A177-3AD203B41FA5}">
                      <a16:colId xmlns:a16="http://schemas.microsoft.com/office/drawing/2014/main" val="4090075909"/>
                    </a:ext>
                  </a:extLst>
                </a:gridCol>
              </a:tblGrid>
              <a:tr h="370840">
                <a:tc>
                  <a:txBody>
                    <a:bodyPr/>
                    <a:lstStyle/>
                    <a:p>
                      <a:pPr algn="ctr"/>
                      <a:r>
                        <a:rPr kumimoji="1" lang="ja-JP" altLang="en-US" sz="2200" dirty="0"/>
                        <a:t>注意区分</a:t>
                      </a:r>
                    </a:p>
                  </a:txBody>
                  <a:tcPr>
                    <a:solidFill>
                      <a:schemeClr val="tx2">
                        <a:lumMod val="40000"/>
                        <a:lumOff val="60000"/>
                      </a:schemeClr>
                    </a:solidFill>
                  </a:tcPr>
                </a:tc>
                <a:tc>
                  <a:txBody>
                    <a:bodyPr/>
                    <a:lstStyle/>
                    <a:p>
                      <a:pPr algn="ctr"/>
                      <a:r>
                        <a:rPr kumimoji="1" lang="ja-JP" altLang="en-US" sz="2200" dirty="0"/>
                        <a:t>実際</a:t>
                      </a:r>
                    </a:p>
                  </a:txBody>
                  <a:tcPr>
                    <a:solidFill>
                      <a:schemeClr val="tx2">
                        <a:lumMod val="40000"/>
                        <a:lumOff val="60000"/>
                      </a:schemeClr>
                    </a:solidFill>
                  </a:tcPr>
                </a:tc>
                <a:tc>
                  <a:txBody>
                    <a:bodyPr/>
                    <a:lstStyle/>
                    <a:p>
                      <a:pPr algn="ctr"/>
                      <a:r>
                        <a:rPr kumimoji="1" lang="ja-JP" altLang="en-US" sz="2200" dirty="0"/>
                        <a:t>誤った判断</a:t>
                      </a:r>
                    </a:p>
                  </a:txBody>
                  <a:tcPr>
                    <a:solidFill>
                      <a:schemeClr val="tx2">
                        <a:lumMod val="40000"/>
                        <a:lumOff val="60000"/>
                      </a:schemeClr>
                    </a:solidFill>
                  </a:tcPr>
                </a:tc>
                <a:tc>
                  <a:txBody>
                    <a:bodyPr/>
                    <a:lstStyle/>
                    <a:p>
                      <a:pPr algn="ctr"/>
                      <a:r>
                        <a:rPr kumimoji="1" lang="ja-JP" altLang="en-US" sz="2200" dirty="0"/>
                        <a:t>結果</a:t>
                      </a:r>
                    </a:p>
                  </a:txBody>
                  <a:tcPr>
                    <a:solidFill>
                      <a:schemeClr val="tx2">
                        <a:lumMod val="40000"/>
                        <a:lumOff val="60000"/>
                      </a:schemeClr>
                    </a:solidFill>
                  </a:tcPr>
                </a:tc>
                <a:extLst>
                  <a:ext uri="{0D108BD9-81ED-4DB2-BD59-A6C34878D82A}">
                    <a16:rowId xmlns:a16="http://schemas.microsoft.com/office/drawing/2014/main" val="4184529263"/>
                  </a:ext>
                </a:extLst>
              </a:tr>
              <a:tr h="370840">
                <a:tc>
                  <a:txBody>
                    <a:bodyPr/>
                    <a:lstStyle/>
                    <a:p>
                      <a:r>
                        <a:rPr kumimoji="1" lang="ja-JP" altLang="en-US" sz="2200" dirty="0"/>
                        <a:t>過剰管理</a:t>
                      </a:r>
                      <a:endParaRPr kumimoji="1" lang="en-US" altLang="ja-JP" sz="2200" dirty="0"/>
                    </a:p>
                    <a:p>
                      <a:r>
                        <a:rPr kumimoji="1" lang="ja-JP" altLang="en-US" sz="2200" dirty="0"/>
                        <a:t>（第一種の誤り）</a:t>
                      </a:r>
                    </a:p>
                  </a:txBody>
                  <a:tcPr/>
                </a:tc>
                <a:tc>
                  <a:txBody>
                    <a:bodyPr/>
                    <a:lstStyle/>
                    <a:p>
                      <a:pPr algn="ctr"/>
                      <a:r>
                        <a:rPr kumimoji="1" lang="ja-JP" altLang="en-US" sz="2200" dirty="0"/>
                        <a:t>共通原因</a:t>
                      </a:r>
                    </a:p>
                  </a:txBody>
                  <a:tcPr/>
                </a:tc>
                <a:tc>
                  <a:txBody>
                    <a:bodyPr/>
                    <a:lstStyle/>
                    <a:p>
                      <a:pPr algn="ctr"/>
                      <a:r>
                        <a:rPr kumimoji="1" lang="ja-JP" altLang="en-US" sz="2200" dirty="0"/>
                        <a:t>特別原因</a:t>
                      </a:r>
                    </a:p>
                  </a:txBody>
                  <a:tcPr/>
                </a:tc>
                <a:tc>
                  <a:txBody>
                    <a:bodyPr/>
                    <a:lstStyle/>
                    <a:p>
                      <a:r>
                        <a:rPr kumimoji="1" lang="ja-JP" altLang="en-US" sz="2200" dirty="0"/>
                        <a:t>直近の結果だけに基づき製造条件を調整（変更）してしまう。</a:t>
                      </a:r>
                      <a:endParaRPr kumimoji="1" lang="en-US" altLang="ja-JP" sz="2200" dirty="0"/>
                    </a:p>
                    <a:p>
                      <a:r>
                        <a:rPr kumimoji="1" lang="ja-JP" altLang="en-US" sz="2200" dirty="0"/>
                        <a:t>➠　かえって悪化する。</a:t>
                      </a:r>
                      <a:endParaRPr kumimoji="1" lang="en-US" altLang="ja-JP" sz="2200" dirty="0"/>
                    </a:p>
                  </a:txBody>
                  <a:tcPr/>
                </a:tc>
                <a:extLst>
                  <a:ext uri="{0D108BD9-81ED-4DB2-BD59-A6C34878D82A}">
                    <a16:rowId xmlns:a16="http://schemas.microsoft.com/office/drawing/2014/main" val="3882992811"/>
                  </a:ext>
                </a:extLst>
              </a:tr>
              <a:tr h="370840">
                <a:tc>
                  <a:txBody>
                    <a:bodyPr/>
                    <a:lstStyle/>
                    <a:p>
                      <a:r>
                        <a:rPr kumimoji="1" lang="ja-JP" altLang="en-US" sz="2200" dirty="0"/>
                        <a:t>管理不足</a:t>
                      </a:r>
                      <a:endParaRPr kumimoji="1" lang="en-US" altLang="ja-JP" sz="2200" dirty="0"/>
                    </a:p>
                    <a:p>
                      <a:r>
                        <a:rPr kumimoji="1" lang="ja-JP" altLang="en-US" sz="2200" dirty="0"/>
                        <a:t>（第二種の誤り）</a:t>
                      </a:r>
                    </a:p>
                  </a:txBody>
                  <a:tcPr/>
                </a:tc>
                <a:tc>
                  <a:txBody>
                    <a:bodyPr/>
                    <a:lstStyle/>
                    <a:p>
                      <a:pPr algn="ctr"/>
                      <a:r>
                        <a:rPr kumimoji="1" lang="ja-JP" altLang="en-US" sz="2200" dirty="0"/>
                        <a:t>特別原因</a:t>
                      </a:r>
                    </a:p>
                  </a:txBody>
                  <a:tcPr/>
                </a:tc>
                <a:tc>
                  <a:txBody>
                    <a:bodyPr/>
                    <a:lstStyle/>
                    <a:p>
                      <a:pPr algn="ctr"/>
                      <a:r>
                        <a:rPr kumimoji="1" lang="ja-JP" altLang="en-US" sz="2200" dirty="0"/>
                        <a:t>共通原因</a:t>
                      </a:r>
                    </a:p>
                  </a:txBody>
                  <a:tcPr/>
                </a:tc>
                <a:tc>
                  <a:txBody>
                    <a:bodyPr/>
                    <a:lstStyle/>
                    <a:p>
                      <a:r>
                        <a:rPr kumimoji="1" lang="ja-JP" altLang="en-US" sz="2200" dirty="0"/>
                        <a:t>特別原因が認知されず改善されない。</a:t>
                      </a:r>
                      <a:endParaRPr kumimoji="1" lang="en-US" altLang="ja-JP" sz="2200" dirty="0"/>
                    </a:p>
                    <a:p>
                      <a:r>
                        <a:rPr kumimoji="1" lang="ja-JP" altLang="en-US" sz="2200" dirty="0"/>
                        <a:t>➠　放置される。</a:t>
                      </a:r>
                    </a:p>
                  </a:txBody>
                  <a:tcPr/>
                </a:tc>
                <a:extLst>
                  <a:ext uri="{0D108BD9-81ED-4DB2-BD59-A6C34878D82A}">
                    <a16:rowId xmlns:a16="http://schemas.microsoft.com/office/drawing/2014/main" val="2386928365"/>
                  </a:ext>
                </a:extLst>
              </a:tr>
            </a:tbl>
          </a:graphicData>
        </a:graphic>
      </p:graphicFrame>
      <p:graphicFrame>
        <p:nvGraphicFramePr>
          <p:cNvPr id="6" name="表 5">
            <a:extLst>
              <a:ext uri="{FF2B5EF4-FFF2-40B4-BE49-F238E27FC236}">
                <a16:creationId xmlns:a16="http://schemas.microsoft.com/office/drawing/2014/main" id="{08ABD115-D819-472A-9FF5-EE41D054267A}"/>
              </a:ext>
            </a:extLst>
          </p:cNvPr>
          <p:cNvGraphicFramePr>
            <a:graphicFrameLocks noGrp="1"/>
          </p:cNvGraphicFramePr>
          <p:nvPr>
            <p:extLst>
              <p:ext uri="{D42A27DB-BD31-4B8C-83A1-F6EECF244321}">
                <p14:modId xmlns:p14="http://schemas.microsoft.com/office/powerpoint/2010/main" val="3238353751"/>
              </p:ext>
            </p:extLst>
          </p:nvPr>
        </p:nvGraphicFramePr>
        <p:xfrm>
          <a:off x="838200" y="4899486"/>
          <a:ext cx="10515600" cy="1148772"/>
        </p:xfrm>
        <a:graphic>
          <a:graphicData uri="http://schemas.openxmlformats.org/drawingml/2006/table">
            <a:tbl>
              <a:tblPr firstRow="1" bandRow="1">
                <a:tableStyleId>{5940675A-B579-460E-94D1-54222C63F5DA}</a:tableStyleId>
              </a:tblPr>
              <a:tblGrid>
                <a:gridCol w="2301607">
                  <a:extLst>
                    <a:ext uri="{9D8B030D-6E8A-4147-A177-3AD203B41FA5}">
                      <a16:colId xmlns:a16="http://schemas.microsoft.com/office/drawing/2014/main" val="3589906251"/>
                    </a:ext>
                  </a:extLst>
                </a:gridCol>
                <a:gridCol w="8213993">
                  <a:extLst>
                    <a:ext uri="{9D8B030D-6E8A-4147-A177-3AD203B41FA5}">
                      <a16:colId xmlns:a16="http://schemas.microsoft.com/office/drawing/2014/main" val="3371161503"/>
                    </a:ext>
                  </a:extLst>
                </a:gridCol>
              </a:tblGrid>
              <a:tr h="574386">
                <a:tc>
                  <a:txBody>
                    <a:bodyPr/>
                    <a:lstStyle/>
                    <a:p>
                      <a:r>
                        <a:rPr kumimoji="1" lang="ja-JP" altLang="en-US" sz="2200" dirty="0"/>
                        <a:t>共通原因変動</a:t>
                      </a:r>
                    </a:p>
                  </a:txBody>
                  <a:tcPr anchor="ctr">
                    <a:solidFill>
                      <a:schemeClr val="tx2">
                        <a:lumMod val="20000"/>
                        <a:lumOff val="80000"/>
                      </a:schemeClr>
                    </a:solidFill>
                  </a:tcPr>
                </a:tc>
                <a:tc>
                  <a:txBody>
                    <a:bodyPr/>
                    <a:lstStyle/>
                    <a:p>
                      <a:r>
                        <a:rPr kumimoji="1" lang="ja-JP" altLang="en-US" sz="2200" dirty="0"/>
                        <a:t>統計的管理状態にある変動。偶然誤差ともいう。</a:t>
                      </a:r>
                    </a:p>
                  </a:txBody>
                  <a:tcPr anchor="ctr">
                    <a:noFill/>
                  </a:tcPr>
                </a:tc>
                <a:extLst>
                  <a:ext uri="{0D108BD9-81ED-4DB2-BD59-A6C34878D82A}">
                    <a16:rowId xmlns:a16="http://schemas.microsoft.com/office/drawing/2014/main" val="3526751054"/>
                  </a:ext>
                </a:extLst>
              </a:tr>
              <a:tr h="574386">
                <a:tc>
                  <a:txBody>
                    <a:bodyPr/>
                    <a:lstStyle/>
                    <a:p>
                      <a:r>
                        <a:rPr kumimoji="1" lang="ja-JP" altLang="en-US" sz="2200" dirty="0"/>
                        <a:t>特別原因変動</a:t>
                      </a:r>
                    </a:p>
                  </a:txBody>
                  <a:tcPr anchor="ctr">
                    <a:solidFill>
                      <a:schemeClr val="tx2">
                        <a:lumMod val="20000"/>
                        <a:lumOff val="80000"/>
                      </a:schemeClr>
                    </a:solidFill>
                  </a:tcPr>
                </a:tc>
                <a:tc>
                  <a:txBody>
                    <a:bodyPr/>
                    <a:lstStyle/>
                    <a:p>
                      <a:r>
                        <a:rPr kumimoji="1" lang="ja-JP" altLang="en-US" sz="2200" dirty="0"/>
                        <a:t>材料不良／工具の摩耗／未成熟操作／設備不具合など。</a:t>
                      </a:r>
                    </a:p>
                  </a:txBody>
                  <a:tcPr anchor="ctr">
                    <a:noFill/>
                  </a:tcPr>
                </a:tc>
                <a:extLst>
                  <a:ext uri="{0D108BD9-81ED-4DB2-BD59-A6C34878D82A}">
                    <a16:rowId xmlns:a16="http://schemas.microsoft.com/office/drawing/2014/main" val="274438687"/>
                  </a:ext>
                </a:extLst>
              </a:tr>
            </a:tbl>
          </a:graphicData>
        </a:graphic>
      </p:graphicFrame>
    </p:spTree>
    <p:extLst>
      <p:ext uri="{BB962C8B-B14F-4D97-AF65-F5344CB8AC3E}">
        <p14:creationId xmlns:p14="http://schemas.microsoft.com/office/powerpoint/2010/main" val="1150093023"/>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正規分布とＸ</a:t>
            </a:r>
            <a:r>
              <a:rPr lang="en-US" altLang="ja-JP" sz="2400" dirty="0"/>
              <a:t>-</a:t>
            </a:r>
            <a:r>
              <a:rPr lang="ja-JP" altLang="en-US" sz="2400" dirty="0"/>
              <a:t>Ｒ管理図の管理限界線</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518</a:t>
            </a:fld>
            <a:endParaRPr kumimoji="1" lang="ja-JP" altLang="en-US"/>
          </a:p>
        </p:txBody>
      </p:sp>
      <p:pic>
        <p:nvPicPr>
          <p:cNvPr id="11" name="図 10">
            <a:extLst>
              <a:ext uri="{FF2B5EF4-FFF2-40B4-BE49-F238E27FC236}">
                <a16:creationId xmlns:a16="http://schemas.microsoft.com/office/drawing/2014/main" id="{533B67CF-6BBC-4E89-A51C-D45EC40D6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278" y="1775717"/>
            <a:ext cx="9353320" cy="4596961"/>
          </a:xfrm>
          <a:prstGeom prst="rect">
            <a:avLst/>
          </a:prstGeom>
          <a:noFill/>
          <a:extLst>
            <a:ext uri="{909E8E84-426E-40DD-AFC4-6F175D3DCCD1}">
              <a14:hiddenFill xmlns:a14="http://schemas.microsoft.com/office/drawing/2010/main">
                <a:solidFill>
                  <a:srgbClr val="FFFFFF"/>
                </a:solidFill>
              </a14:hiddenFill>
            </a:ext>
          </a:extLst>
        </p:spPr>
      </p:pic>
      <p:sp>
        <p:nvSpPr>
          <p:cNvPr id="8" name="タイトル 1">
            <a:extLst>
              <a:ext uri="{FF2B5EF4-FFF2-40B4-BE49-F238E27FC236}">
                <a16:creationId xmlns:a16="http://schemas.microsoft.com/office/drawing/2014/main" id="{1F026E2D-06C6-4CF5-A067-08342437D8E8}"/>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9" name="直線コネクタ 8">
            <a:extLst>
              <a:ext uri="{FF2B5EF4-FFF2-40B4-BE49-F238E27FC236}">
                <a16:creationId xmlns:a16="http://schemas.microsoft.com/office/drawing/2014/main" id="{40DA4EC1-A7B9-425B-8006-2C9B1359B915}"/>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D6D8431-93EE-4968-9978-24A7EF69BA94}"/>
              </a:ext>
            </a:extLst>
          </p:cNvPr>
          <p:cNvCxnSpPr>
            <a:cxnSpLocks/>
          </p:cNvCxnSpPr>
          <p:nvPr/>
        </p:nvCxnSpPr>
        <p:spPr>
          <a:xfrm>
            <a:off x="2969444" y="140595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341322"/>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519</a:t>
            </a:fld>
            <a:endParaRPr kumimoji="1" lang="ja-JP" altLang="en-US"/>
          </a:p>
        </p:txBody>
      </p:sp>
      <p:pic>
        <p:nvPicPr>
          <p:cNvPr id="8" name="図 7">
            <a:extLst>
              <a:ext uri="{FF2B5EF4-FFF2-40B4-BE49-F238E27FC236}">
                <a16:creationId xmlns:a16="http://schemas.microsoft.com/office/drawing/2014/main" id="{AA2254A2-C612-45B0-A6D1-931CDB123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22024"/>
            <a:ext cx="10515600" cy="5034326"/>
          </a:xfrm>
          <a:prstGeom prst="rect">
            <a:avLst/>
          </a:prstGeom>
          <a:noFill/>
          <a:extLst>
            <a:ext uri="{909E8E84-426E-40DD-AFC4-6F175D3DCCD1}">
              <a14:hiddenFill xmlns:a14="http://schemas.microsoft.com/office/drawing/2010/main">
                <a:solidFill>
                  <a:srgbClr val="FFFFFF"/>
                </a:solidFill>
              </a14:hiddenFill>
            </a:ext>
          </a:extLst>
        </p:spPr>
      </p:pic>
      <p:sp>
        <p:nvSpPr>
          <p:cNvPr id="9" name="タイトル 1">
            <a:extLst>
              <a:ext uri="{FF2B5EF4-FFF2-40B4-BE49-F238E27FC236}">
                <a16:creationId xmlns:a16="http://schemas.microsoft.com/office/drawing/2014/main" id="{4DAA6C56-E052-452A-B0BA-C1DBECE7A0FD}"/>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11" name="直線コネクタ 10">
            <a:extLst>
              <a:ext uri="{FF2B5EF4-FFF2-40B4-BE49-F238E27FC236}">
                <a16:creationId xmlns:a16="http://schemas.microsoft.com/office/drawing/2014/main" id="{C05F0088-486A-4BD7-815E-493D8B08E3F8}"/>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831351"/>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Ｘ－Ｒ管理図の作成手順</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520</a:t>
            </a:fld>
            <a:endParaRPr kumimoji="1" lang="ja-JP" altLang="en-US"/>
          </a:p>
        </p:txBody>
      </p:sp>
      <p:graphicFrame>
        <p:nvGraphicFramePr>
          <p:cNvPr id="3" name="表 2">
            <a:extLst>
              <a:ext uri="{FF2B5EF4-FFF2-40B4-BE49-F238E27FC236}">
                <a16:creationId xmlns:a16="http://schemas.microsoft.com/office/drawing/2014/main" id="{1FBA2381-9C36-4957-AE6D-A8191F4EF46F}"/>
              </a:ext>
            </a:extLst>
          </p:cNvPr>
          <p:cNvGraphicFramePr>
            <a:graphicFrameLocks noGrp="1"/>
          </p:cNvGraphicFramePr>
          <p:nvPr>
            <p:extLst>
              <p:ext uri="{D42A27DB-BD31-4B8C-83A1-F6EECF244321}">
                <p14:modId xmlns:p14="http://schemas.microsoft.com/office/powerpoint/2010/main" val="4072023727"/>
              </p:ext>
            </p:extLst>
          </p:nvPr>
        </p:nvGraphicFramePr>
        <p:xfrm>
          <a:off x="838200" y="1832370"/>
          <a:ext cx="10515600" cy="4511040"/>
        </p:xfrm>
        <a:graphic>
          <a:graphicData uri="http://schemas.openxmlformats.org/drawingml/2006/table">
            <a:tbl>
              <a:tblPr firstRow="1" bandRow="1">
                <a:tableStyleId>{5940675A-B579-460E-94D1-54222C63F5DA}</a:tableStyleId>
              </a:tblPr>
              <a:tblGrid>
                <a:gridCol w="1552460">
                  <a:extLst>
                    <a:ext uri="{9D8B030D-6E8A-4147-A177-3AD203B41FA5}">
                      <a16:colId xmlns:a16="http://schemas.microsoft.com/office/drawing/2014/main" val="263429061"/>
                    </a:ext>
                  </a:extLst>
                </a:gridCol>
                <a:gridCol w="2269475">
                  <a:extLst>
                    <a:ext uri="{9D8B030D-6E8A-4147-A177-3AD203B41FA5}">
                      <a16:colId xmlns:a16="http://schemas.microsoft.com/office/drawing/2014/main" val="2673811328"/>
                    </a:ext>
                  </a:extLst>
                </a:gridCol>
                <a:gridCol w="6693665">
                  <a:extLst>
                    <a:ext uri="{9D8B030D-6E8A-4147-A177-3AD203B41FA5}">
                      <a16:colId xmlns:a16="http://schemas.microsoft.com/office/drawing/2014/main" val="1301525528"/>
                    </a:ext>
                  </a:extLst>
                </a:gridCol>
              </a:tblGrid>
              <a:tr h="370840">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1661078342"/>
                  </a:ext>
                </a:extLst>
              </a:tr>
              <a:tr h="370840">
                <a:tc rowSpan="3">
                  <a:txBody>
                    <a:bodyPr/>
                    <a:lstStyle/>
                    <a:p>
                      <a:r>
                        <a:rPr kumimoji="1" lang="ja-JP" altLang="en-US" sz="2000" b="1" dirty="0"/>
                        <a:t>準備</a:t>
                      </a:r>
                      <a:endParaRPr kumimoji="1" lang="en-US" altLang="ja-JP" sz="2000" b="1" dirty="0"/>
                    </a:p>
                    <a:p>
                      <a:r>
                        <a:rPr kumimoji="1" lang="ja-JP" altLang="en-US" sz="2000" dirty="0"/>
                        <a:t>ステップ１</a:t>
                      </a:r>
                      <a:endParaRPr kumimoji="1" lang="en-US" altLang="ja-JP" sz="2000" dirty="0"/>
                    </a:p>
                  </a:txBody>
                  <a:tcPr/>
                </a:tc>
                <a:tc>
                  <a:txBody>
                    <a:bodyPr/>
                    <a:lstStyle/>
                    <a:p>
                      <a:r>
                        <a:rPr kumimoji="1" lang="ja-JP" altLang="en-US" sz="2000" dirty="0"/>
                        <a:t>対象とする工程と特性の決定</a:t>
                      </a:r>
                    </a:p>
                  </a:txBody>
                  <a:tcPr/>
                </a:tc>
                <a:tc>
                  <a:txBody>
                    <a:bodyPr/>
                    <a:lstStyle/>
                    <a:p>
                      <a:pPr marL="457200" indent="-457200">
                        <a:buFont typeface="+mj-ea"/>
                        <a:buAutoNum type="circleNumDbPlain"/>
                      </a:pPr>
                      <a:r>
                        <a:rPr kumimoji="1" lang="ja-JP" altLang="en-US" sz="2000" dirty="0"/>
                        <a:t>管理図を作成する工程と特性を決定する。</a:t>
                      </a:r>
                    </a:p>
                  </a:txBody>
                  <a:tcPr/>
                </a:tc>
                <a:extLst>
                  <a:ext uri="{0D108BD9-81ED-4DB2-BD59-A6C34878D82A}">
                    <a16:rowId xmlns:a16="http://schemas.microsoft.com/office/drawing/2014/main" val="3681732377"/>
                  </a:ext>
                </a:extLst>
              </a:tr>
              <a:tr h="370840">
                <a:tc vMerge="1">
                  <a:txBody>
                    <a:bodyPr/>
                    <a:lstStyle/>
                    <a:p>
                      <a:endParaRPr kumimoji="1" lang="ja-JP" altLang="en-US" sz="2000" dirty="0"/>
                    </a:p>
                  </a:txBody>
                  <a:tcPr/>
                </a:tc>
                <a:tc>
                  <a:txBody>
                    <a:bodyPr/>
                    <a:lstStyle/>
                    <a:p>
                      <a:r>
                        <a:rPr kumimoji="1" lang="ja-JP" altLang="en-US" sz="2000" dirty="0"/>
                        <a:t>サンプリング計画の作成</a:t>
                      </a:r>
                    </a:p>
                  </a:txBody>
                  <a:tcPr/>
                </a:tc>
                <a:tc>
                  <a:txBody>
                    <a:bodyPr/>
                    <a:lstStyle/>
                    <a:p>
                      <a:pPr marL="457200" indent="-457200">
                        <a:buFont typeface="+mj-ea"/>
                        <a:buAutoNum type="circleNumDbPlain"/>
                      </a:pPr>
                      <a:r>
                        <a:rPr kumimoji="1" lang="ja-JP" altLang="en-US" sz="2000" dirty="0"/>
                        <a:t>サンプル数ｎ、サブグループ数ｋ、サブグループ間隔</a:t>
                      </a:r>
                      <a:r>
                        <a:rPr kumimoji="1" lang="ja-JP" altLang="en-US" sz="2000" dirty="0" err="1"/>
                        <a:t>ｆ</a:t>
                      </a:r>
                      <a:r>
                        <a:rPr kumimoji="1" lang="ja-JP" altLang="en-US" sz="2000" dirty="0"/>
                        <a:t>を決定する。（ｎ≧</a:t>
                      </a:r>
                      <a:r>
                        <a:rPr kumimoji="1" lang="en-US" altLang="ja-JP" sz="2000" dirty="0"/>
                        <a:t>4</a:t>
                      </a:r>
                      <a:r>
                        <a:rPr kumimoji="1" lang="ja-JP" altLang="en-US" sz="2000" dirty="0" err="1"/>
                        <a:t>、</a:t>
                      </a:r>
                      <a:r>
                        <a:rPr kumimoji="1" lang="ja-JP" altLang="en-US" sz="2000" dirty="0"/>
                        <a:t>ｋ＝</a:t>
                      </a:r>
                      <a:r>
                        <a:rPr kumimoji="1" lang="en-US" altLang="ja-JP" sz="2000" dirty="0"/>
                        <a:t>25</a:t>
                      </a:r>
                      <a:r>
                        <a:rPr kumimoji="1" lang="ja-JP" altLang="en-US" sz="2000" dirty="0" err="1"/>
                        <a:t>、</a:t>
                      </a:r>
                      <a:r>
                        <a:rPr kumimoji="1" lang="ja-JP" altLang="en-US" sz="2000" dirty="0"/>
                        <a:t>サンプル総数</a:t>
                      </a:r>
                      <a:r>
                        <a:rPr kumimoji="1" lang="en-US" altLang="ja-JP" sz="2000" dirty="0"/>
                        <a:t>100</a:t>
                      </a:r>
                      <a:r>
                        <a:rPr kumimoji="1" lang="ja-JP" altLang="en-US" sz="2000" dirty="0"/>
                        <a:t>以上とする。）</a:t>
                      </a:r>
                    </a:p>
                  </a:txBody>
                  <a:tcPr/>
                </a:tc>
                <a:extLst>
                  <a:ext uri="{0D108BD9-81ED-4DB2-BD59-A6C34878D82A}">
                    <a16:rowId xmlns:a16="http://schemas.microsoft.com/office/drawing/2014/main" val="4225831971"/>
                  </a:ext>
                </a:extLst>
              </a:tr>
              <a:tr h="370840">
                <a:tc vMerge="1">
                  <a:txBody>
                    <a:bodyPr/>
                    <a:lstStyle/>
                    <a:p>
                      <a:endParaRPr kumimoji="1" lang="ja-JP" altLang="en-US" sz="2000" dirty="0"/>
                    </a:p>
                  </a:txBody>
                  <a:tcPr/>
                </a:tc>
                <a:tc>
                  <a:txBody>
                    <a:bodyPr/>
                    <a:lstStyle/>
                    <a:p>
                      <a:r>
                        <a:rPr kumimoji="1" lang="ja-JP" altLang="en-US" sz="2000" dirty="0"/>
                        <a:t>測定システムの評価（</a:t>
                      </a:r>
                      <a:r>
                        <a:rPr kumimoji="1" lang="en-US" altLang="ja-JP" sz="2000" dirty="0"/>
                        <a:t>MSA</a:t>
                      </a:r>
                      <a:r>
                        <a:rPr kumimoji="1" lang="ja-JP" altLang="en-US" sz="2000" dirty="0"/>
                        <a:t>）</a:t>
                      </a:r>
                    </a:p>
                  </a:txBody>
                  <a:tcPr/>
                </a:tc>
                <a:tc>
                  <a:txBody>
                    <a:bodyPr/>
                    <a:lstStyle/>
                    <a:p>
                      <a:pPr marL="457200" indent="-457200">
                        <a:buFont typeface="+mj-ea"/>
                        <a:buAutoNum type="circleNumDbPlain"/>
                      </a:pPr>
                      <a:r>
                        <a:rPr kumimoji="1" lang="ja-JP" altLang="en-US" sz="2000" dirty="0"/>
                        <a:t>測定システムの変動が受入れられるかどうか評価する。</a:t>
                      </a:r>
                    </a:p>
                  </a:txBody>
                  <a:tcPr/>
                </a:tc>
                <a:extLst>
                  <a:ext uri="{0D108BD9-81ED-4DB2-BD59-A6C34878D82A}">
                    <a16:rowId xmlns:a16="http://schemas.microsoft.com/office/drawing/2014/main" val="1780732675"/>
                  </a:ext>
                </a:extLst>
              </a:tr>
              <a:tr h="370840">
                <a:tc>
                  <a:txBody>
                    <a:bodyPr/>
                    <a:lstStyle/>
                    <a:p>
                      <a:r>
                        <a:rPr kumimoji="1" lang="ja-JP" altLang="en-US" sz="2000" b="1" dirty="0"/>
                        <a:t>測定</a:t>
                      </a:r>
                      <a:endParaRPr kumimoji="1" lang="en-US" altLang="ja-JP" sz="2000" b="1" dirty="0"/>
                    </a:p>
                    <a:p>
                      <a:r>
                        <a:rPr kumimoji="1" lang="ja-JP" altLang="en-US" sz="2000" dirty="0"/>
                        <a:t>ステップ２</a:t>
                      </a:r>
                      <a:endParaRPr kumimoji="1" lang="en-US" altLang="ja-JP" sz="2000" dirty="0"/>
                    </a:p>
                  </a:txBody>
                  <a:tcPr/>
                </a:tc>
                <a:tc>
                  <a:txBody>
                    <a:bodyPr/>
                    <a:lstStyle/>
                    <a:p>
                      <a:r>
                        <a:rPr kumimoji="1" lang="ja-JP" altLang="en-US" sz="2000" dirty="0"/>
                        <a:t>データの測定</a:t>
                      </a:r>
                    </a:p>
                  </a:txBody>
                  <a:tcPr/>
                </a:tc>
                <a:tc>
                  <a:txBody>
                    <a:bodyPr/>
                    <a:lstStyle/>
                    <a:p>
                      <a:pPr marL="457200" indent="-457200">
                        <a:buFont typeface="+mj-ea"/>
                        <a:buAutoNum type="circleNumDbPlain"/>
                      </a:pPr>
                      <a:r>
                        <a:rPr kumimoji="1" lang="ja-JP" altLang="en-US" sz="2000" dirty="0"/>
                        <a:t>定められた時間間隔（測定頻度、サブグループ間隔）でデータを測定する。</a:t>
                      </a:r>
                    </a:p>
                  </a:txBody>
                  <a:tcPr/>
                </a:tc>
                <a:extLst>
                  <a:ext uri="{0D108BD9-81ED-4DB2-BD59-A6C34878D82A}">
                    <a16:rowId xmlns:a16="http://schemas.microsoft.com/office/drawing/2014/main" val="476169353"/>
                  </a:ext>
                </a:extLst>
              </a:tr>
              <a:tr h="370840">
                <a:tc>
                  <a:txBody>
                    <a:bodyPr/>
                    <a:lstStyle/>
                    <a:p>
                      <a:r>
                        <a:rPr kumimoji="1" lang="ja-JP" altLang="en-US" sz="2000" b="1" dirty="0"/>
                        <a:t>管理図作成</a:t>
                      </a:r>
                      <a:endParaRPr kumimoji="1" lang="en-US" altLang="ja-JP" sz="2000" b="1" dirty="0"/>
                    </a:p>
                    <a:p>
                      <a:r>
                        <a:rPr kumimoji="1" lang="ja-JP" altLang="en-US" sz="2000" dirty="0"/>
                        <a:t>ステップ３</a:t>
                      </a:r>
                      <a:endParaRPr kumimoji="1" lang="en-US" altLang="ja-JP" sz="2000" dirty="0"/>
                    </a:p>
                  </a:txBody>
                  <a:tcPr/>
                </a:tc>
                <a:tc>
                  <a:txBody>
                    <a:bodyPr/>
                    <a:lstStyle/>
                    <a:p>
                      <a:r>
                        <a:rPr kumimoji="1" lang="ja-JP" altLang="en-US" sz="2000" dirty="0"/>
                        <a:t>管理統計量の算出</a:t>
                      </a:r>
                      <a:endParaRPr kumimoji="1" lang="en-US" altLang="ja-JP" sz="2000" dirty="0"/>
                    </a:p>
                    <a:p>
                      <a:r>
                        <a:rPr kumimoji="1" lang="ja-JP" altLang="en-US" sz="2000" dirty="0"/>
                        <a:t>管理図への記入</a:t>
                      </a:r>
                    </a:p>
                  </a:txBody>
                  <a:tcPr/>
                </a:tc>
                <a:tc>
                  <a:txBody>
                    <a:bodyPr/>
                    <a:lstStyle/>
                    <a:p>
                      <a:pPr marL="457200" indent="-457200">
                        <a:buFont typeface="+mj-ea"/>
                        <a:buAutoNum type="circleNumDbPlain"/>
                      </a:pPr>
                      <a:r>
                        <a:rPr kumimoji="1" lang="ja-JP" altLang="en-US" sz="2000" dirty="0"/>
                        <a:t>測定データから、平均値Ｘ及び範囲Ｒを表す管理統計量のデータにまとめる。</a:t>
                      </a:r>
                      <a:endParaRPr kumimoji="1" lang="en-US" altLang="ja-JP" sz="2000" dirty="0"/>
                    </a:p>
                    <a:p>
                      <a:pPr marL="457200" indent="-457200">
                        <a:buFont typeface="+mj-ea"/>
                        <a:buAutoNum type="circleNumDbPlain"/>
                      </a:pPr>
                      <a:r>
                        <a:rPr kumimoji="1" lang="ja-JP" altLang="en-US" sz="2000" dirty="0"/>
                        <a:t>Ｘ管理図及びＲ管理図に①の点を記入する。</a:t>
                      </a:r>
                    </a:p>
                  </a:txBody>
                  <a:tcPr/>
                </a:tc>
                <a:extLst>
                  <a:ext uri="{0D108BD9-81ED-4DB2-BD59-A6C34878D82A}">
                    <a16:rowId xmlns:a16="http://schemas.microsoft.com/office/drawing/2014/main" val="2037734753"/>
                  </a:ext>
                </a:extLst>
              </a:tr>
            </a:tbl>
          </a:graphicData>
        </a:graphic>
      </p:graphicFrame>
      <p:cxnSp>
        <p:nvCxnSpPr>
          <p:cNvPr id="8" name="直線コネクタ 7">
            <a:extLst>
              <a:ext uri="{FF2B5EF4-FFF2-40B4-BE49-F238E27FC236}">
                <a16:creationId xmlns:a16="http://schemas.microsoft.com/office/drawing/2014/main" id="{84F1C2ED-6B6C-4124-9A7A-4D05219F8C83}"/>
              </a:ext>
            </a:extLst>
          </p:cNvPr>
          <p:cNvCxnSpPr>
            <a:cxnSpLocks/>
          </p:cNvCxnSpPr>
          <p:nvPr/>
        </p:nvCxnSpPr>
        <p:spPr>
          <a:xfrm>
            <a:off x="8059918" y="5384066"/>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53ABCDC-AAA5-49FE-96FB-8B904D7F0EAF}"/>
              </a:ext>
            </a:extLst>
          </p:cNvPr>
          <p:cNvCxnSpPr>
            <a:cxnSpLocks/>
          </p:cNvCxnSpPr>
          <p:nvPr/>
        </p:nvCxnSpPr>
        <p:spPr>
          <a:xfrm>
            <a:off x="5261729" y="599837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3ADC6FA7-FFC6-4E96-AB48-08763D1AABE5}"/>
              </a:ext>
            </a:extLst>
          </p:cNvPr>
          <p:cNvCxnSpPr>
            <a:cxnSpLocks/>
          </p:cNvCxnSpPr>
          <p:nvPr/>
        </p:nvCxnSpPr>
        <p:spPr>
          <a:xfrm>
            <a:off x="1455656" y="139743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タイトル 1">
            <a:extLst>
              <a:ext uri="{FF2B5EF4-FFF2-40B4-BE49-F238E27FC236}">
                <a16:creationId xmlns:a16="http://schemas.microsoft.com/office/drawing/2014/main" id="{B0610229-61B0-4D7E-80D0-8225993753E3}"/>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13" name="直線コネクタ 12">
            <a:extLst>
              <a:ext uri="{FF2B5EF4-FFF2-40B4-BE49-F238E27FC236}">
                <a16:creationId xmlns:a16="http://schemas.microsoft.com/office/drawing/2014/main" id="{117D90AB-BE27-4278-8990-FBD55F0E4215}"/>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760018"/>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521</a:t>
            </a:fld>
            <a:endParaRPr kumimoji="1" lang="ja-JP" altLang="en-US"/>
          </a:p>
        </p:txBody>
      </p:sp>
      <p:graphicFrame>
        <p:nvGraphicFramePr>
          <p:cNvPr id="3" name="表 2">
            <a:extLst>
              <a:ext uri="{FF2B5EF4-FFF2-40B4-BE49-F238E27FC236}">
                <a16:creationId xmlns:a16="http://schemas.microsoft.com/office/drawing/2014/main" id="{1FBA2381-9C36-4957-AE6D-A8191F4EF46F}"/>
              </a:ext>
            </a:extLst>
          </p:cNvPr>
          <p:cNvGraphicFramePr>
            <a:graphicFrameLocks noGrp="1"/>
          </p:cNvGraphicFramePr>
          <p:nvPr>
            <p:extLst>
              <p:ext uri="{D42A27DB-BD31-4B8C-83A1-F6EECF244321}">
                <p14:modId xmlns:p14="http://schemas.microsoft.com/office/powerpoint/2010/main" val="985107015"/>
              </p:ext>
            </p:extLst>
          </p:nvPr>
        </p:nvGraphicFramePr>
        <p:xfrm>
          <a:off x="838200" y="1322024"/>
          <a:ext cx="10515600" cy="5034326"/>
        </p:xfrm>
        <a:graphic>
          <a:graphicData uri="http://schemas.openxmlformats.org/drawingml/2006/table">
            <a:tbl>
              <a:tblPr firstRow="1" bandRow="1">
                <a:tableStyleId>{5940675A-B579-460E-94D1-54222C63F5DA}</a:tableStyleId>
              </a:tblPr>
              <a:tblGrid>
                <a:gridCol w="1552460">
                  <a:extLst>
                    <a:ext uri="{9D8B030D-6E8A-4147-A177-3AD203B41FA5}">
                      <a16:colId xmlns:a16="http://schemas.microsoft.com/office/drawing/2014/main" val="263429061"/>
                    </a:ext>
                  </a:extLst>
                </a:gridCol>
                <a:gridCol w="1991559">
                  <a:extLst>
                    <a:ext uri="{9D8B030D-6E8A-4147-A177-3AD203B41FA5}">
                      <a16:colId xmlns:a16="http://schemas.microsoft.com/office/drawing/2014/main" val="2673811328"/>
                    </a:ext>
                  </a:extLst>
                </a:gridCol>
                <a:gridCol w="6971581">
                  <a:extLst>
                    <a:ext uri="{9D8B030D-6E8A-4147-A177-3AD203B41FA5}">
                      <a16:colId xmlns:a16="http://schemas.microsoft.com/office/drawing/2014/main" val="1301525528"/>
                    </a:ext>
                  </a:extLst>
                </a:gridCol>
              </a:tblGrid>
              <a:tr h="411612">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1661078342"/>
                  </a:ext>
                </a:extLst>
              </a:tr>
              <a:tr h="1583121">
                <a:tc rowSpan="2">
                  <a:txBody>
                    <a:bodyPr/>
                    <a:lstStyle/>
                    <a:p>
                      <a:r>
                        <a:rPr kumimoji="1" lang="ja-JP" altLang="en-US" sz="2000" dirty="0"/>
                        <a:t>ステップ３</a:t>
                      </a:r>
                      <a:endParaRPr kumimoji="1" lang="en-US" altLang="ja-JP" sz="2000" dirty="0"/>
                    </a:p>
                  </a:txBody>
                  <a:tcPr/>
                </a:tc>
                <a:tc>
                  <a:txBody>
                    <a:bodyPr/>
                    <a:lstStyle/>
                    <a:p>
                      <a:r>
                        <a:rPr kumimoji="1" lang="ja-JP" altLang="en-US" sz="2000" dirty="0"/>
                        <a:t>Ｒ管理図の管理限界の算出</a:t>
                      </a:r>
                    </a:p>
                  </a:txBody>
                  <a:tcPr/>
                </a:tc>
                <a:tc>
                  <a:txBody>
                    <a:bodyPr/>
                    <a:lstStyle/>
                    <a:p>
                      <a:pPr marL="457200" indent="-457200">
                        <a:buFont typeface="+mj-ea"/>
                        <a:buAutoNum type="circleNumDbPlain"/>
                      </a:pPr>
                      <a:r>
                        <a:rPr kumimoji="1" lang="ja-JP" altLang="en-US" sz="2000" dirty="0"/>
                        <a:t>Ｒ管理図の管理限界を算出し、管理統計量の</a:t>
                      </a:r>
                      <a:r>
                        <a:rPr kumimoji="1" lang="en-US" altLang="ja-JP" sz="2000" dirty="0"/>
                        <a:t>CL</a:t>
                      </a:r>
                      <a:r>
                        <a:rPr kumimoji="1" lang="ja-JP" altLang="en-US" sz="2000" dirty="0"/>
                        <a:t>及び</a:t>
                      </a:r>
                      <a:r>
                        <a:rPr kumimoji="1" lang="en-US" altLang="ja-JP" sz="2000" dirty="0"/>
                        <a:t>UCL</a:t>
                      </a:r>
                      <a:r>
                        <a:rPr kumimoji="1" lang="ja-JP" altLang="en-US" sz="2000" dirty="0" err="1"/>
                        <a:t>、</a:t>
                      </a:r>
                      <a:r>
                        <a:rPr kumimoji="1" lang="en-US" altLang="ja-JP" sz="2000" dirty="0"/>
                        <a:t>LCL</a:t>
                      </a:r>
                      <a:r>
                        <a:rPr kumimoji="1" lang="ja-JP" altLang="en-US" sz="2000" dirty="0"/>
                        <a:t>をＲ管理図上に描く。</a:t>
                      </a:r>
                      <a:endParaRPr kumimoji="1" lang="en-US" altLang="ja-JP" sz="2000" dirty="0"/>
                    </a:p>
                    <a:p>
                      <a:r>
                        <a:rPr kumimoji="1" lang="ja-JP" altLang="en-US" sz="2000" dirty="0"/>
                        <a:t>　　</a:t>
                      </a:r>
                      <a:r>
                        <a:rPr kumimoji="1" lang="en-US" altLang="ja-JP" sz="2000" dirty="0"/>
                        <a:t>CL</a:t>
                      </a:r>
                      <a:r>
                        <a:rPr kumimoji="1" lang="ja-JP" altLang="en-US" sz="2000" dirty="0"/>
                        <a:t>＝Ｒ（範囲の平均）</a:t>
                      </a:r>
                      <a:endParaRPr kumimoji="1" lang="en-US" altLang="ja-JP" sz="2000" dirty="0"/>
                    </a:p>
                    <a:p>
                      <a:r>
                        <a:rPr kumimoji="1" lang="ja-JP" altLang="en-US" sz="2000" dirty="0"/>
                        <a:t>　　</a:t>
                      </a:r>
                      <a:r>
                        <a:rPr kumimoji="1" lang="en-US" altLang="ja-JP" sz="2000" dirty="0"/>
                        <a:t>UCL</a:t>
                      </a:r>
                      <a:r>
                        <a:rPr kumimoji="1" lang="ja-JP" altLang="en-US" sz="2000" dirty="0"/>
                        <a:t>＝Ｒ</a:t>
                      </a:r>
                      <a:r>
                        <a:rPr kumimoji="1" lang="en-US" altLang="ja-JP" sz="2000" dirty="0"/>
                        <a:t>×D4</a:t>
                      </a:r>
                      <a:r>
                        <a:rPr kumimoji="1" lang="ja-JP" altLang="en-US" sz="2000" dirty="0"/>
                        <a:t>（係数）　</a:t>
                      </a:r>
                      <a:r>
                        <a:rPr kumimoji="1" lang="en-US" altLang="ja-JP" sz="2000" dirty="0"/>
                        <a:t>LCL</a:t>
                      </a:r>
                      <a:r>
                        <a:rPr kumimoji="1" lang="ja-JP" altLang="en-US" sz="2000" dirty="0"/>
                        <a:t>＝Ｒ</a:t>
                      </a:r>
                      <a:r>
                        <a:rPr kumimoji="1" lang="en-US" altLang="ja-JP" sz="2000" dirty="0"/>
                        <a:t>×D3</a:t>
                      </a:r>
                      <a:r>
                        <a:rPr kumimoji="1" lang="ja-JP" altLang="en-US" sz="2000" dirty="0"/>
                        <a:t>（係数）</a:t>
                      </a:r>
                      <a:endParaRPr kumimoji="1" lang="en-US" altLang="ja-JP" sz="2000" dirty="0"/>
                    </a:p>
                    <a:p>
                      <a:r>
                        <a:rPr kumimoji="1" lang="ja-JP" altLang="en-US" sz="1400" dirty="0"/>
                        <a:t>　　　</a:t>
                      </a:r>
                      <a:r>
                        <a:rPr kumimoji="1" lang="en-US" altLang="ja-JP" sz="1400" dirty="0"/>
                        <a:t>※LCL</a:t>
                      </a:r>
                      <a:r>
                        <a:rPr kumimoji="1" lang="ja-JP" altLang="en-US" sz="1400" dirty="0"/>
                        <a:t>はサブグループサイズ</a:t>
                      </a:r>
                      <a:r>
                        <a:rPr kumimoji="1" lang="en-US" altLang="ja-JP" sz="1400" dirty="0"/>
                        <a:t>7</a:t>
                      </a:r>
                      <a:r>
                        <a:rPr kumimoji="1" lang="ja-JP" altLang="en-US" sz="1400" dirty="0"/>
                        <a:t>以上</a:t>
                      </a:r>
                    </a:p>
                  </a:txBody>
                  <a:tcPr/>
                </a:tc>
                <a:extLst>
                  <a:ext uri="{0D108BD9-81ED-4DB2-BD59-A6C34878D82A}">
                    <a16:rowId xmlns:a16="http://schemas.microsoft.com/office/drawing/2014/main" val="3681732377"/>
                  </a:ext>
                </a:extLst>
              </a:tr>
              <a:tr h="1361484">
                <a:tc vMerge="1">
                  <a:txBody>
                    <a:bodyPr/>
                    <a:lstStyle/>
                    <a:p>
                      <a:endParaRPr kumimoji="1" lang="ja-JP" altLang="en-US" sz="2000" dirty="0"/>
                    </a:p>
                  </a:txBody>
                  <a:tcPr/>
                </a:tc>
                <a:tc>
                  <a:txBody>
                    <a:bodyPr/>
                    <a:lstStyle/>
                    <a:p>
                      <a:r>
                        <a:rPr kumimoji="1" lang="ja-JP" altLang="en-US" sz="2000" dirty="0"/>
                        <a:t>Ｘ管理図の管理限界の算出</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ea"/>
                        <a:buAutoNum type="circleNumDbPlain"/>
                        <a:tabLst/>
                        <a:defRPr/>
                      </a:pPr>
                      <a:r>
                        <a:rPr kumimoji="1" lang="ja-JP" altLang="en-US" sz="2000" dirty="0"/>
                        <a:t>Ｘ管理図の管理限界を算出し、管理統計量の</a:t>
                      </a:r>
                      <a:r>
                        <a:rPr kumimoji="1" lang="en-US" altLang="ja-JP" sz="2000" dirty="0"/>
                        <a:t>CL</a:t>
                      </a:r>
                      <a:r>
                        <a:rPr kumimoji="1" lang="ja-JP" altLang="en-US" sz="2000" dirty="0"/>
                        <a:t>及び</a:t>
                      </a:r>
                      <a:r>
                        <a:rPr kumimoji="1" lang="en-US" altLang="ja-JP" sz="2000" dirty="0"/>
                        <a:t>UCL</a:t>
                      </a:r>
                      <a:r>
                        <a:rPr kumimoji="1" lang="ja-JP" altLang="en-US" sz="2000" dirty="0" err="1"/>
                        <a:t>、</a:t>
                      </a:r>
                      <a:r>
                        <a:rPr kumimoji="1" lang="en-US" altLang="ja-JP" sz="2000" dirty="0"/>
                        <a:t>LCL</a:t>
                      </a:r>
                      <a:r>
                        <a:rPr kumimoji="1" lang="ja-JP" altLang="en-US" sz="2000" dirty="0"/>
                        <a:t>をＸ管理図上に描く。</a:t>
                      </a:r>
                      <a:endParaRPr kumimoji="1" lang="en-US" altLang="ja-JP" sz="20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　　</a:t>
                      </a:r>
                      <a:r>
                        <a:rPr kumimoji="1" lang="en-US" altLang="ja-JP" sz="2000" dirty="0"/>
                        <a:t>CL</a:t>
                      </a:r>
                      <a:r>
                        <a:rPr kumimoji="1" lang="ja-JP" altLang="en-US" sz="2000" dirty="0"/>
                        <a:t>＝Ｘ</a:t>
                      </a:r>
                      <a:r>
                        <a:rPr kumimoji="1" lang="ja-JP" altLang="en-US" sz="1200" dirty="0"/>
                        <a:t>　　　</a:t>
                      </a:r>
                      <a:r>
                        <a:rPr kumimoji="1" lang="en-US" altLang="ja-JP" sz="2000" dirty="0"/>
                        <a:t>UCL</a:t>
                      </a:r>
                      <a:r>
                        <a:rPr kumimoji="1" lang="ja-JP" altLang="en-US" sz="2000" dirty="0"/>
                        <a:t>＝Ｘ</a:t>
                      </a:r>
                      <a:r>
                        <a:rPr kumimoji="1" lang="en-US" altLang="ja-JP" sz="2000" dirty="0"/>
                        <a:t>+</a:t>
                      </a:r>
                      <a:r>
                        <a:rPr kumimoji="1" lang="ja-JP" altLang="en-US" sz="2000" dirty="0"/>
                        <a:t>Ｒ</a:t>
                      </a:r>
                      <a:r>
                        <a:rPr kumimoji="1" lang="en-US" altLang="ja-JP" sz="2000" dirty="0"/>
                        <a:t>×A2</a:t>
                      </a:r>
                      <a:r>
                        <a:rPr kumimoji="1" lang="ja-JP" altLang="en-US" sz="2000" dirty="0"/>
                        <a:t>（係数）</a:t>
                      </a:r>
                      <a:endParaRPr kumimoji="1" lang="en-US" altLang="ja-JP" sz="20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　　</a:t>
                      </a:r>
                      <a:r>
                        <a:rPr kumimoji="1" lang="en-US" altLang="ja-JP" sz="2000" dirty="0"/>
                        <a:t>LCL</a:t>
                      </a:r>
                      <a:r>
                        <a:rPr kumimoji="1" lang="ja-JP" altLang="en-US" sz="2000" dirty="0"/>
                        <a:t>＝Ｘ－Ｒ</a:t>
                      </a:r>
                      <a:r>
                        <a:rPr kumimoji="1" lang="en-US" altLang="ja-JP" sz="2000" dirty="0"/>
                        <a:t>×A2</a:t>
                      </a:r>
                      <a:r>
                        <a:rPr kumimoji="1" lang="ja-JP" altLang="en-US" sz="2000" dirty="0"/>
                        <a:t>（係数）</a:t>
                      </a:r>
                    </a:p>
                  </a:txBody>
                  <a:tcPr/>
                </a:tc>
                <a:extLst>
                  <a:ext uri="{0D108BD9-81ED-4DB2-BD59-A6C34878D82A}">
                    <a16:rowId xmlns:a16="http://schemas.microsoft.com/office/drawing/2014/main" val="1780732675"/>
                  </a:ext>
                </a:extLst>
              </a:tr>
              <a:tr h="1678109">
                <a:tc>
                  <a:txBody>
                    <a:bodyPr/>
                    <a:lstStyle/>
                    <a:p>
                      <a:r>
                        <a:rPr kumimoji="1" lang="ja-JP" altLang="en-US" sz="2000" b="1" dirty="0"/>
                        <a:t>Ｒ管理図評価</a:t>
                      </a:r>
                      <a:endParaRPr kumimoji="1" lang="en-US" altLang="ja-JP" sz="2000" b="1" dirty="0"/>
                    </a:p>
                    <a:p>
                      <a:r>
                        <a:rPr kumimoji="1" lang="ja-JP" altLang="en-US" sz="2000" dirty="0"/>
                        <a:t>ステップ４</a:t>
                      </a:r>
                      <a:endParaRPr kumimoji="1" lang="en-US" altLang="ja-JP" sz="2000" dirty="0"/>
                    </a:p>
                  </a:txBody>
                  <a:tcPr/>
                </a:tc>
                <a:tc>
                  <a:txBody>
                    <a:bodyPr/>
                    <a:lstStyle/>
                    <a:p>
                      <a:r>
                        <a:rPr kumimoji="1" lang="ja-JP" altLang="en-US" sz="2000" dirty="0"/>
                        <a:t>Ｒ管理図の評価</a:t>
                      </a:r>
                    </a:p>
                  </a:txBody>
                  <a:tcPr/>
                </a:tc>
                <a:tc>
                  <a:txBody>
                    <a:bodyPr/>
                    <a:lstStyle/>
                    <a:p>
                      <a:pPr marL="457200" indent="-457200">
                        <a:buFont typeface="+mj-ea"/>
                        <a:buAutoNum type="circleNumDbPlain"/>
                      </a:pPr>
                      <a:r>
                        <a:rPr kumimoji="1" lang="ja-JP" altLang="en-US" sz="2000" dirty="0"/>
                        <a:t>データの変動には、サブグループ内変動とサブグループ間変動がある。</a:t>
                      </a:r>
                      <a:endParaRPr kumimoji="1" lang="en-US" altLang="ja-JP" sz="2000" dirty="0"/>
                    </a:p>
                    <a:p>
                      <a:pPr marL="457200" indent="-457200">
                        <a:buFont typeface="+mj-ea"/>
                        <a:buAutoNum type="circleNumDbPlain"/>
                      </a:pPr>
                      <a:r>
                        <a:rPr kumimoji="1" lang="ja-JP" altLang="en-US" sz="2000" dirty="0"/>
                        <a:t>サブグループ内の変動は短期間の製品間の変動（製品のばらつき）を表し、サブグループ間の変動は測定期間における工程の変動を表す。</a:t>
                      </a:r>
                    </a:p>
                  </a:txBody>
                  <a:tcPr/>
                </a:tc>
                <a:extLst>
                  <a:ext uri="{0D108BD9-81ED-4DB2-BD59-A6C34878D82A}">
                    <a16:rowId xmlns:a16="http://schemas.microsoft.com/office/drawing/2014/main" val="2037734753"/>
                  </a:ext>
                </a:extLst>
              </a:tr>
            </a:tbl>
          </a:graphicData>
        </a:graphic>
      </p:graphicFrame>
      <p:cxnSp>
        <p:nvCxnSpPr>
          <p:cNvPr id="8" name="直線コネクタ 7">
            <a:extLst>
              <a:ext uri="{FF2B5EF4-FFF2-40B4-BE49-F238E27FC236}">
                <a16:creationId xmlns:a16="http://schemas.microsoft.com/office/drawing/2014/main" id="{61919FB9-FC3F-43A7-B6F8-3ECA4CF70A73}"/>
              </a:ext>
            </a:extLst>
          </p:cNvPr>
          <p:cNvCxnSpPr>
            <a:cxnSpLocks/>
          </p:cNvCxnSpPr>
          <p:nvPr/>
        </p:nvCxnSpPr>
        <p:spPr>
          <a:xfrm>
            <a:off x="5751287" y="2717852"/>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3990F1F6-1249-4690-82D9-CDB240161AE3}"/>
              </a:ext>
            </a:extLst>
          </p:cNvPr>
          <p:cNvCxnSpPr>
            <a:cxnSpLocks/>
          </p:cNvCxnSpPr>
          <p:nvPr/>
        </p:nvCxnSpPr>
        <p:spPr>
          <a:xfrm>
            <a:off x="8610600" y="272235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DB7112D-518E-4712-BC56-B40B83BF229C}"/>
              </a:ext>
            </a:extLst>
          </p:cNvPr>
          <p:cNvCxnSpPr>
            <a:cxnSpLocks/>
          </p:cNvCxnSpPr>
          <p:nvPr/>
        </p:nvCxnSpPr>
        <p:spPr>
          <a:xfrm>
            <a:off x="5582708" y="239105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942A83F5-128B-4498-9304-84AE5B1A438F}"/>
              </a:ext>
            </a:extLst>
          </p:cNvPr>
          <p:cNvCxnSpPr>
            <a:cxnSpLocks/>
          </p:cNvCxnSpPr>
          <p:nvPr/>
        </p:nvCxnSpPr>
        <p:spPr>
          <a:xfrm>
            <a:off x="6287996" y="429374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E28978EC-90E5-4A43-B454-9C94F5D2BDD0}"/>
              </a:ext>
            </a:extLst>
          </p:cNvPr>
          <p:cNvCxnSpPr>
            <a:cxnSpLocks/>
          </p:cNvCxnSpPr>
          <p:nvPr/>
        </p:nvCxnSpPr>
        <p:spPr>
          <a:xfrm>
            <a:off x="7489914" y="3979262"/>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B299E015-5201-43DD-B6C4-EBB41E4444C8}"/>
              </a:ext>
            </a:extLst>
          </p:cNvPr>
          <p:cNvCxnSpPr>
            <a:cxnSpLocks/>
          </p:cNvCxnSpPr>
          <p:nvPr/>
        </p:nvCxnSpPr>
        <p:spPr>
          <a:xfrm>
            <a:off x="6456575" y="368860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8A3FD99-5D81-4796-B68A-0B948A8829BE}"/>
              </a:ext>
            </a:extLst>
          </p:cNvPr>
          <p:cNvCxnSpPr>
            <a:cxnSpLocks/>
          </p:cNvCxnSpPr>
          <p:nvPr/>
        </p:nvCxnSpPr>
        <p:spPr>
          <a:xfrm>
            <a:off x="4987565" y="336023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グループ化 15">
            <a:extLst>
              <a:ext uri="{FF2B5EF4-FFF2-40B4-BE49-F238E27FC236}">
                <a16:creationId xmlns:a16="http://schemas.microsoft.com/office/drawing/2014/main" id="{325E81AC-D90C-4377-BFC2-AAF86649555D}"/>
              </a:ext>
            </a:extLst>
          </p:cNvPr>
          <p:cNvGrpSpPr/>
          <p:nvPr/>
        </p:nvGrpSpPr>
        <p:grpSpPr>
          <a:xfrm>
            <a:off x="7079055" y="3954816"/>
            <a:ext cx="154806" cy="29633"/>
            <a:chOff x="3183677" y="3102607"/>
            <a:chExt cx="154806" cy="29633"/>
          </a:xfrm>
        </p:grpSpPr>
        <p:cxnSp>
          <p:nvCxnSpPr>
            <p:cNvPr id="17" name="直線コネクタ 16">
              <a:extLst>
                <a:ext uri="{FF2B5EF4-FFF2-40B4-BE49-F238E27FC236}">
                  <a16:creationId xmlns:a16="http://schemas.microsoft.com/office/drawing/2014/main" id="{73E52AF9-4608-406E-AA2D-670FE8CC81F9}"/>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6C07A994-6451-43D2-BABA-D3651E25DFE5}"/>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グループ化 18">
            <a:extLst>
              <a:ext uri="{FF2B5EF4-FFF2-40B4-BE49-F238E27FC236}">
                <a16:creationId xmlns:a16="http://schemas.microsoft.com/office/drawing/2014/main" id="{EA04E2BB-06BF-41E7-BD8E-4D81414C776A}"/>
              </a:ext>
            </a:extLst>
          </p:cNvPr>
          <p:cNvGrpSpPr/>
          <p:nvPr/>
        </p:nvGrpSpPr>
        <p:grpSpPr>
          <a:xfrm>
            <a:off x="5596481" y="3949629"/>
            <a:ext cx="154806" cy="29633"/>
            <a:chOff x="3183677" y="3102607"/>
            <a:chExt cx="154806" cy="29633"/>
          </a:xfrm>
        </p:grpSpPr>
        <p:cxnSp>
          <p:nvCxnSpPr>
            <p:cNvPr id="20" name="直線コネクタ 19">
              <a:extLst>
                <a:ext uri="{FF2B5EF4-FFF2-40B4-BE49-F238E27FC236}">
                  <a16:creationId xmlns:a16="http://schemas.microsoft.com/office/drawing/2014/main" id="{7A1CDEA0-3860-463D-A5B1-0A93647BB6B1}"/>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C606D786-39D8-4DAE-A84A-428FB28AFEE3}"/>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グループ化 21">
            <a:extLst>
              <a:ext uri="{FF2B5EF4-FFF2-40B4-BE49-F238E27FC236}">
                <a16:creationId xmlns:a16="http://schemas.microsoft.com/office/drawing/2014/main" id="{640BD73E-BCB3-40C6-AAD7-BE3186136FEF}"/>
              </a:ext>
            </a:extLst>
          </p:cNvPr>
          <p:cNvGrpSpPr/>
          <p:nvPr/>
        </p:nvGrpSpPr>
        <p:grpSpPr>
          <a:xfrm>
            <a:off x="5773225" y="4264531"/>
            <a:ext cx="154806" cy="29633"/>
            <a:chOff x="3183677" y="3102607"/>
            <a:chExt cx="154806" cy="29633"/>
          </a:xfrm>
        </p:grpSpPr>
        <p:cxnSp>
          <p:nvCxnSpPr>
            <p:cNvPr id="23" name="直線コネクタ 22">
              <a:extLst>
                <a:ext uri="{FF2B5EF4-FFF2-40B4-BE49-F238E27FC236}">
                  <a16:creationId xmlns:a16="http://schemas.microsoft.com/office/drawing/2014/main" id="{51FFAD86-4159-4C20-A149-8B5375F37EB4}"/>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9DE3DEE-E572-4E3F-BF70-454E9CC12A7B}"/>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 name="直線コネクタ 24">
            <a:extLst>
              <a:ext uri="{FF2B5EF4-FFF2-40B4-BE49-F238E27FC236}">
                <a16:creationId xmlns:a16="http://schemas.microsoft.com/office/drawing/2014/main" id="{9D1400FC-5E3F-4E66-85C1-4D89DC648EE7}"/>
              </a:ext>
            </a:extLst>
          </p:cNvPr>
          <p:cNvCxnSpPr>
            <a:cxnSpLocks/>
          </p:cNvCxnSpPr>
          <p:nvPr/>
        </p:nvCxnSpPr>
        <p:spPr>
          <a:xfrm>
            <a:off x="2518846" y="336023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タイトル 1">
            <a:extLst>
              <a:ext uri="{FF2B5EF4-FFF2-40B4-BE49-F238E27FC236}">
                <a16:creationId xmlns:a16="http://schemas.microsoft.com/office/drawing/2014/main" id="{C3FFACAA-F9F2-4DBD-8D02-B7A3A9930E44}"/>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27" name="直線コネクタ 26">
            <a:extLst>
              <a:ext uri="{FF2B5EF4-FFF2-40B4-BE49-F238E27FC236}">
                <a16:creationId xmlns:a16="http://schemas.microsoft.com/office/drawing/2014/main" id="{B05E68CC-BDFE-4D4B-BB3C-134010A18291}"/>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833593"/>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522</a:t>
            </a:fld>
            <a:endParaRPr kumimoji="1" lang="ja-JP" altLang="en-US"/>
          </a:p>
        </p:txBody>
      </p:sp>
      <p:graphicFrame>
        <p:nvGraphicFramePr>
          <p:cNvPr id="3" name="表 2">
            <a:extLst>
              <a:ext uri="{FF2B5EF4-FFF2-40B4-BE49-F238E27FC236}">
                <a16:creationId xmlns:a16="http://schemas.microsoft.com/office/drawing/2014/main" id="{1FBA2381-9C36-4957-AE6D-A8191F4EF46F}"/>
              </a:ext>
            </a:extLst>
          </p:cNvPr>
          <p:cNvGraphicFramePr>
            <a:graphicFrameLocks noGrp="1"/>
          </p:cNvGraphicFramePr>
          <p:nvPr>
            <p:extLst>
              <p:ext uri="{D42A27DB-BD31-4B8C-83A1-F6EECF244321}">
                <p14:modId xmlns:p14="http://schemas.microsoft.com/office/powerpoint/2010/main" val="3787786901"/>
              </p:ext>
            </p:extLst>
          </p:nvPr>
        </p:nvGraphicFramePr>
        <p:xfrm>
          <a:off x="838200" y="1322024"/>
          <a:ext cx="10515600" cy="5034324"/>
        </p:xfrm>
        <a:graphic>
          <a:graphicData uri="http://schemas.openxmlformats.org/drawingml/2006/table">
            <a:tbl>
              <a:tblPr firstRow="1" bandRow="1">
                <a:tableStyleId>{5940675A-B579-460E-94D1-54222C63F5DA}</a:tableStyleId>
              </a:tblPr>
              <a:tblGrid>
                <a:gridCol w="1552460">
                  <a:extLst>
                    <a:ext uri="{9D8B030D-6E8A-4147-A177-3AD203B41FA5}">
                      <a16:colId xmlns:a16="http://schemas.microsoft.com/office/drawing/2014/main" val="263429061"/>
                    </a:ext>
                  </a:extLst>
                </a:gridCol>
                <a:gridCol w="2269475">
                  <a:extLst>
                    <a:ext uri="{9D8B030D-6E8A-4147-A177-3AD203B41FA5}">
                      <a16:colId xmlns:a16="http://schemas.microsoft.com/office/drawing/2014/main" val="2673811328"/>
                    </a:ext>
                  </a:extLst>
                </a:gridCol>
                <a:gridCol w="6693665">
                  <a:extLst>
                    <a:ext uri="{9D8B030D-6E8A-4147-A177-3AD203B41FA5}">
                      <a16:colId xmlns:a16="http://schemas.microsoft.com/office/drawing/2014/main" val="1301525528"/>
                    </a:ext>
                  </a:extLst>
                </a:gridCol>
              </a:tblGrid>
              <a:tr h="404478">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項目</a:t>
                      </a:r>
                    </a:p>
                  </a:txBody>
                  <a:tcPr>
                    <a:solidFill>
                      <a:schemeClr val="tx2">
                        <a:lumMod val="40000"/>
                        <a:lumOff val="60000"/>
                      </a:schemeClr>
                    </a:solidFill>
                  </a:tcPr>
                </a:tc>
                <a:tc>
                  <a:txBody>
                    <a:bodyPr/>
                    <a:lstStyle/>
                    <a:p>
                      <a:pPr algn="ctr"/>
                      <a:r>
                        <a:rPr kumimoji="1" lang="ja-JP" altLang="en-US" sz="2000" dirty="0"/>
                        <a:t>内容</a:t>
                      </a:r>
                    </a:p>
                  </a:txBody>
                  <a:tcPr>
                    <a:solidFill>
                      <a:schemeClr val="tx2">
                        <a:lumMod val="40000"/>
                        <a:lumOff val="60000"/>
                      </a:schemeClr>
                    </a:solidFill>
                  </a:tcPr>
                </a:tc>
                <a:extLst>
                  <a:ext uri="{0D108BD9-81ED-4DB2-BD59-A6C34878D82A}">
                    <a16:rowId xmlns:a16="http://schemas.microsoft.com/office/drawing/2014/main" val="1661078342"/>
                  </a:ext>
                </a:extLst>
              </a:tr>
              <a:tr h="2982005">
                <a:tc rowSpan="2">
                  <a:txBody>
                    <a:bodyPr/>
                    <a:lstStyle/>
                    <a:p>
                      <a:r>
                        <a:rPr kumimoji="1" lang="ja-JP" altLang="en-US" sz="2000" dirty="0"/>
                        <a:t>ステップ４</a:t>
                      </a:r>
                      <a:endParaRPr kumimoji="1" lang="en-US" altLang="ja-JP" sz="2000" dirty="0"/>
                    </a:p>
                  </a:txBody>
                  <a:tcPr/>
                </a:tc>
                <a:tc>
                  <a:txBody>
                    <a:bodyPr/>
                    <a:lstStyle/>
                    <a:p>
                      <a:r>
                        <a:rPr kumimoji="1" lang="ja-JP" altLang="en-US" sz="2000" dirty="0"/>
                        <a:t>Ｒ管理図の評価</a:t>
                      </a:r>
                    </a:p>
                  </a:txBody>
                  <a:tcPr/>
                </a:tc>
                <a:tc>
                  <a:txBody>
                    <a:bodyPr/>
                    <a:lstStyle/>
                    <a:p>
                      <a:pPr marL="457200" indent="-457200">
                        <a:buFont typeface="+mj-ea"/>
                        <a:buAutoNum type="circleNumDbPlain" startAt="3"/>
                      </a:pPr>
                      <a:r>
                        <a:rPr kumimoji="1" lang="ja-JP" altLang="en-US" sz="2000" dirty="0"/>
                        <a:t>これらのいずれの変動も、製品間変動に依存するため、Ｒ管理図を最初に分析する。</a:t>
                      </a:r>
                      <a:endParaRPr kumimoji="1" lang="en-US" altLang="ja-JP" sz="2000" dirty="0"/>
                    </a:p>
                    <a:p>
                      <a:pPr marL="457200" indent="-457200">
                        <a:buFont typeface="+mj-ea"/>
                        <a:buAutoNum type="circleNumDbPlain" startAt="4"/>
                      </a:pPr>
                      <a:r>
                        <a:rPr kumimoji="1" lang="ja-JP" altLang="en-US" sz="2000" dirty="0"/>
                        <a:t>管理図の異常判定ルールに従って、Ｒ管理図に描いた点を解析し、管理外れを示す点や異常なパターンなどが無いかを調べる。</a:t>
                      </a:r>
                      <a:endParaRPr kumimoji="1" lang="en-US" altLang="ja-JP" sz="2000" dirty="0"/>
                    </a:p>
                    <a:p>
                      <a:pPr marL="457200" indent="-457200">
                        <a:buFont typeface="+mj-ea"/>
                        <a:buAutoNum type="circleNumDbPlain" startAt="4"/>
                      </a:pPr>
                      <a:r>
                        <a:rPr kumimoji="1" lang="ja-JP" altLang="en-US" sz="2000" dirty="0"/>
                        <a:t>工程変動の特別原因が存在しない場合は、管理統計量の点は管理限界内にランダムに位置する。</a:t>
                      </a:r>
                      <a:endParaRPr kumimoji="1" lang="en-US" altLang="ja-JP" sz="2000" dirty="0"/>
                    </a:p>
                    <a:p>
                      <a:pPr marL="457200" indent="-457200">
                        <a:buFont typeface="+mj-ea"/>
                        <a:buAutoNum type="circleNumDbPlain" startAt="4"/>
                      </a:pPr>
                      <a:r>
                        <a:rPr kumimoji="1" lang="ja-JP" altLang="en-US" sz="2000" dirty="0"/>
                        <a:t>特別原因は工程の位置（平均）或いは幅（範囲）のいずれかに影響を及ぼす可能性がある。</a:t>
                      </a:r>
                      <a:endParaRPr kumimoji="1" lang="en-US" altLang="ja-JP" sz="2000" dirty="0"/>
                    </a:p>
                  </a:txBody>
                  <a:tcPr/>
                </a:tc>
                <a:extLst>
                  <a:ext uri="{0D108BD9-81ED-4DB2-BD59-A6C34878D82A}">
                    <a16:rowId xmlns:a16="http://schemas.microsoft.com/office/drawing/2014/main" val="2037734753"/>
                  </a:ext>
                </a:extLst>
              </a:tr>
              <a:tr h="1647841">
                <a:tc vMerge="1">
                  <a:txBody>
                    <a:bodyPr/>
                    <a:lstStyle/>
                    <a:p>
                      <a:endParaRPr kumimoji="1" lang="ja-JP" altLang="en-US" sz="2000" dirty="0"/>
                    </a:p>
                  </a:txBody>
                  <a:tcPr/>
                </a:tc>
                <a:tc>
                  <a:txBody>
                    <a:bodyPr/>
                    <a:lstStyle/>
                    <a:p>
                      <a:r>
                        <a:rPr kumimoji="1" lang="ja-JP" altLang="en-US" sz="2000" dirty="0"/>
                        <a:t>特別原因の検出、原因究明、工程改善</a:t>
                      </a:r>
                    </a:p>
                  </a:txBody>
                  <a:tcPr/>
                </a:tc>
                <a:tc>
                  <a:txBody>
                    <a:bodyPr/>
                    <a:lstStyle/>
                    <a:p>
                      <a:pPr marL="457200" indent="-457200">
                        <a:buFont typeface="+mj-ea"/>
                        <a:buAutoNum type="circleNumDbPlain"/>
                      </a:pPr>
                      <a:r>
                        <a:rPr kumimoji="1" lang="ja-JP" altLang="en-US" sz="2000" dirty="0"/>
                        <a:t>変動の特別原因を究明して対処する。</a:t>
                      </a:r>
                      <a:endParaRPr kumimoji="1" lang="en-US" altLang="ja-JP" sz="2000" dirty="0"/>
                    </a:p>
                    <a:p>
                      <a:pPr marL="457200" indent="-457200">
                        <a:buFont typeface="+mj-ea"/>
                        <a:buAutoNum type="circleNumDbPlain"/>
                      </a:pPr>
                      <a:r>
                        <a:rPr kumimoji="1" lang="ja-JP" altLang="en-US" sz="2000" dirty="0"/>
                        <a:t>出来事欄を、特別原因究明のために活用する。</a:t>
                      </a:r>
                      <a:endParaRPr kumimoji="1" lang="en-US" altLang="ja-JP" sz="2000" dirty="0"/>
                    </a:p>
                    <a:p>
                      <a:pPr marL="457200" indent="-457200">
                        <a:buFont typeface="+mj-ea"/>
                        <a:buAutoNum type="circleNumDbPlain"/>
                      </a:pPr>
                      <a:r>
                        <a:rPr kumimoji="1" lang="ja-JP" altLang="en-US" sz="2000" dirty="0"/>
                        <a:t>問題解決のために、ヒストグラム、パレート図、特性要因図などの品質管理技法を活用する。</a:t>
                      </a:r>
                      <a:endParaRPr kumimoji="1" lang="en-US" altLang="ja-JP" sz="2000" dirty="0"/>
                    </a:p>
                  </a:txBody>
                  <a:tcPr/>
                </a:tc>
                <a:extLst>
                  <a:ext uri="{0D108BD9-81ED-4DB2-BD59-A6C34878D82A}">
                    <a16:rowId xmlns:a16="http://schemas.microsoft.com/office/drawing/2014/main" val="3168328963"/>
                  </a:ext>
                </a:extLst>
              </a:tr>
            </a:tbl>
          </a:graphicData>
        </a:graphic>
      </p:graphicFrame>
      <p:sp>
        <p:nvSpPr>
          <p:cNvPr id="8" name="タイトル 1">
            <a:extLst>
              <a:ext uri="{FF2B5EF4-FFF2-40B4-BE49-F238E27FC236}">
                <a16:creationId xmlns:a16="http://schemas.microsoft.com/office/drawing/2014/main" id="{5C6DD5EF-8D4A-45FC-B377-4CAB75EC2F72}"/>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9" name="直線コネクタ 8">
            <a:extLst>
              <a:ext uri="{FF2B5EF4-FFF2-40B4-BE49-F238E27FC236}">
                <a16:creationId xmlns:a16="http://schemas.microsoft.com/office/drawing/2014/main" id="{ED9C9011-44D6-4936-9E5A-C047E0164C5E}"/>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080782"/>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523</a:t>
            </a:fld>
            <a:endParaRPr kumimoji="1" lang="ja-JP" altLang="en-US"/>
          </a:p>
        </p:txBody>
      </p:sp>
      <p:graphicFrame>
        <p:nvGraphicFramePr>
          <p:cNvPr id="2" name="表 1">
            <a:extLst>
              <a:ext uri="{FF2B5EF4-FFF2-40B4-BE49-F238E27FC236}">
                <a16:creationId xmlns:a16="http://schemas.microsoft.com/office/drawing/2014/main" id="{703B3D2E-FC20-483B-9EAF-CAC4E27EE433}"/>
              </a:ext>
            </a:extLst>
          </p:cNvPr>
          <p:cNvGraphicFramePr>
            <a:graphicFrameLocks noGrp="1"/>
          </p:cNvGraphicFramePr>
          <p:nvPr>
            <p:extLst>
              <p:ext uri="{D42A27DB-BD31-4B8C-83A1-F6EECF244321}">
                <p14:modId xmlns:p14="http://schemas.microsoft.com/office/powerpoint/2010/main" val="648176385"/>
              </p:ext>
            </p:extLst>
          </p:nvPr>
        </p:nvGraphicFramePr>
        <p:xfrm>
          <a:off x="838200" y="1322025"/>
          <a:ext cx="10515600" cy="5034325"/>
        </p:xfrm>
        <a:graphic>
          <a:graphicData uri="http://schemas.openxmlformats.org/drawingml/2006/table">
            <a:tbl>
              <a:tblPr firstRow="1" bandRow="1">
                <a:tableStyleId>{5940675A-B579-460E-94D1-54222C63F5DA}</a:tableStyleId>
              </a:tblPr>
              <a:tblGrid>
                <a:gridCol w="1475342">
                  <a:extLst>
                    <a:ext uri="{9D8B030D-6E8A-4147-A177-3AD203B41FA5}">
                      <a16:colId xmlns:a16="http://schemas.microsoft.com/office/drawing/2014/main" val="2871835243"/>
                    </a:ext>
                  </a:extLst>
                </a:gridCol>
                <a:gridCol w="2644048">
                  <a:extLst>
                    <a:ext uri="{9D8B030D-6E8A-4147-A177-3AD203B41FA5}">
                      <a16:colId xmlns:a16="http://schemas.microsoft.com/office/drawing/2014/main" val="3634007566"/>
                    </a:ext>
                  </a:extLst>
                </a:gridCol>
                <a:gridCol w="6396210">
                  <a:extLst>
                    <a:ext uri="{9D8B030D-6E8A-4147-A177-3AD203B41FA5}">
                      <a16:colId xmlns:a16="http://schemas.microsoft.com/office/drawing/2014/main" val="2067023696"/>
                    </a:ext>
                  </a:extLst>
                </a:gridCol>
              </a:tblGrid>
              <a:tr h="448234">
                <a:tc>
                  <a:txBody>
                    <a:bodyPr/>
                    <a:lstStyle/>
                    <a:p>
                      <a:pPr algn="ctr"/>
                      <a:r>
                        <a:rPr kumimoji="1" lang="ja-JP" altLang="en-US" sz="2000" dirty="0"/>
                        <a:t>分類</a:t>
                      </a:r>
                    </a:p>
                  </a:txBody>
                  <a:tcPr>
                    <a:solidFill>
                      <a:schemeClr val="tx2">
                        <a:lumMod val="40000"/>
                        <a:lumOff val="60000"/>
                      </a:schemeClr>
                    </a:solidFill>
                  </a:tcPr>
                </a:tc>
                <a:tc>
                  <a:txBody>
                    <a:bodyPr/>
                    <a:lstStyle/>
                    <a:p>
                      <a:pPr algn="ctr"/>
                      <a:r>
                        <a:rPr kumimoji="1" lang="ja-JP" altLang="en-US" sz="2000" dirty="0"/>
                        <a:t>ルール</a:t>
                      </a:r>
                    </a:p>
                  </a:txBody>
                  <a:tcPr>
                    <a:solidFill>
                      <a:schemeClr val="tx2">
                        <a:lumMod val="40000"/>
                        <a:lumOff val="60000"/>
                      </a:schemeClr>
                    </a:solidFill>
                  </a:tcPr>
                </a:tc>
                <a:tc>
                  <a:txBody>
                    <a:bodyPr/>
                    <a:lstStyle/>
                    <a:p>
                      <a:pPr algn="ctr"/>
                      <a:r>
                        <a:rPr kumimoji="1" lang="ja-JP" altLang="en-US" sz="2000" dirty="0"/>
                        <a:t>想定原因</a:t>
                      </a:r>
                    </a:p>
                  </a:txBody>
                  <a:tcPr>
                    <a:solidFill>
                      <a:schemeClr val="tx2">
                        <a:lumMod val="40000"/>
                        <a:lumOff val="60000"/>
                      </a:schemeClr>
                    </a:solidFill>
                  </a:tcPr>
                </a:tc>
                <a:extLst>
                  <a:ext uri="{0D108BD9-81ED-4DB2-BD59-A6C34878D82A}">
                    <a16:rowId xmlns:a16="http://schemas.microsoft.com/office/drawing/2014/main" val="2940165356"/>
                  </a:ext>
                </a:extLst>
              </a:tr>
              <a:tr h="1290156">
                <a:tc>
                  <a:txBody>
                    <a:bodyPr/>
                    <a:lstStyle/>
                    <a:p>
                      <a:r>
                        <a:rPr kumimoji="1" lang="ja-JP" altLang="en-US" sz="2000" dirty="0"/>
                        <a:t>ステップ５</a:t>
                      </a:r>
                      <a:endParaRPr kumimoji="1" lang="en-US" altLang="ja-JP" sz="2000" dirty="0"/>
                    </a:p>
                    <a:p>
                      <a:endParaRPr kumimoji="1" lang="ja-JP" altLang="en-US" sz="2000" dirty="0"/>
                    </a:p>
                  </a:txBody>
                  <a:tcPr/>
                </a:tc>
                <a:tc>
                  <a:txBody>
                    <a:bodyPr/>
                    <a:lstStyle/>
                    <a:p>
                      <a:r>
                        <a:rPr kumimoji="1" lang="ja-JP" altLang="en-US" sz="2000" dirty="0"/>
                        <a:t>Ｒ管理図の管理限界の再算出</a:t>
                      </a:r>
                    </a:p>
                  </a:txBody>
                  <a:tcPr/>
                </a:tc>
                <a:tc>
                  <a:txBody>
                    <a:bodyPr/>
                    <a:lstStyle/>
                    <a:p>
                      <a:pPr marL="457200" indent="-457200">
                        <a:buFont typeface="+mj-ea"/>
                        <a:buAutoNum type="circleNumDbPlain"/>
                      </a:pPr>
                      <a:r>
                        <a:rPr kumimoji="1" lang="ja-JP" altLang="en-US" sz="2000" dirty="0"/>
                        <a:t>特別原因を究明し、工程改善を行った後、その特性原因に影響されたサブグループのデータを取り除いて。新しい</a:t>
                      </a:r>
                      <a:r>
                        <a:rPr kumimoji="1" lang="en-US" altLang="ja-JP" sz="2000" dirty="0"/>
                        <a:t>R</a:t>
                      </a:r>
                      <a:r>
                        <a:rPr kumimoji="1" lang="ja-JP" altLang="en-US" sz="2000" dirty="0"/>
                        <a:t>及び</a:t>
                      </a:r>
                      <a:r>
                        <a:rPr kumimoji="1" lang="en-US" altLang="ja-JP" sz="2000" dirty="0"/>
                        <a:t>UCL</a:t>
                      </a:r>
                      <a:r>
                        <a:rPr kumimoji="1" lang="ja-JP" altLang="en-US" sz="2000" dirty="0" err="1"/>
                        <a:t>、</a:t>
                      </a:r>
                      <a:r>
                        <a:rPr kumimoji="1" lang="en-US" altLang="ja-JP" sz="2000" dirty="0"/>
                        <a:t>LCL</a:t>
                      </a:r>
                      <a:r>
                        <a:rPr kumimoji="1" lang="ja-JP" altLang="en-US" sz="2000" dirty="0"/>
                        <a:t>を再計算する。</a:t>
                      </a:r>
                    </a:p>
                  </a:txBody>
                  <a:tcPr/>
                </a:tc>
                <a:extLst>
                  <a:ext uri="{0D108BD9-81ED-4DB2-BD59-A6C34878D82A}">
                    <a16:rowId xmlns:a16="http://schemas.microsoft.com/office/drawing/2014/main" val="2102610878"/>
                  </a:ext>
                </a:extLst>
              </a:tr>
              <a:tr h="1137828">
                <a:tc rowSpan="2">
                  <a:txBody>
                    <a:bodyPr/>
                    <a:lstStyle/>
                    <a:p>
                      <a:r>
                        <a:rPr kumimoji="1" lang="ja-JP" altLang="en-US" sz="2000" b="1" dirty="0"/>
                        <a:t>Ｘ管理図の評価</a:t>
                      </a:r>
                      <a:endParaRPr kumimoji="1" lang="en-US" altLang="ja-JP" sz="2000" b="1" dirty="0"/>
                    </a:p>
                    <a:p>
                      <a:r>
                        <a:rPr kumimoji="1" lang="ja-JP" altLang="en-US" sz="2000" b="0" dirty="0"/>
                        <a:t>ステップ６</a:t>
                      </a:r>
                    </a:p>
                  </a:txBody>
                  <a:tcPr/>
                </a:tc>
                <a:tc>
                  <a:txBody>
                    <a:bodyPr/>
                    <a:lstStyle/>
                    <a:p>
                      <a:r>
                        <a:rPr kumimoji="1" lang="ja-JP" altLang="en-US" sz="2000" dirty="0"/>
                        <a:t>Ｘ管理図の評価</a:t>
                      </a:r>
                    </a:p>
                  </a:txBody>
                  <a:tcPr/>
                </a:tc>
                <a:tc>
                  <a:txBody>
                    <a:bodyPr/>
                    <a:lstStyle/>
                    <a:p>
                      <a:pPr marL="457200" indent="-457200">
                        <a:buFont typeface="+mj-ea"/>
                        <a:buAutoNum type="circleNumDbPlain"/>
                      </a:pPr>
                      <a:r>
                        <a:rPr kumimoji="1" lang="ja-JP" altLang="en-US" sz="2000" dirty="0"/>
                        <a:t>Ｒ管理図と同様、管理図の異常判定ルールに従って、Ｘ管理図に描いた点を解析して、特別原因があるかどうかを調べる。</a:t>
                      </a:r>
                    </a:p>
                  </a:txBody>
                  <a:tcPr/>
                </a:tc>
                <a:extLst>
                  <a:ext uri="{0D108BD9-81ED-4DB2-BD59-A6C34878D82A}">
                    <a16:rowId xmlns:a16="http://schemas.microsoft.com/office/drawing/2014/main" val="3196502788"/>
                  </a:ext>
                </a:extLst>
              </a:tr>
              <a:tr h="1020279">
                <a:tc vMerge="1">
                  <a:txBody>
                    <a:bodyPr/>
                    <a:lstStyle/>
                    <a:p>
                      <a:endParaRPr kumimoji="1" lang="ja-JP" altLang="en-US" sz="2000" dirty="0"/>
                    </a:p>
                  </a:txBody>
                  <a:tcPr/>
                </a:tc>
                <a:tc>
                  <a:txBody>
                    <a:bodyPr/>
                    <a:lstStyle/>
                    <a:p>
                      <a:r>
                        <a:rPr kumimoji="1" lang="ja-JP" altLang="en-US" sz="2000" dirty="0"/>
                        <a:t>特別原因の検出、原因究明、工程改善</a:t>
                      </a:r>
                    </a:p>
                  </a:txBody>
                  <a:tcPr/>
                </a:tc>
                <a:tc>
                  <a:txBody>
                    <a:bodyPr/>
                    <a:lstStyle/>
                    <a:p>
                      <a:pPr marL="457200" indent="-457200">
                        <a:buFont typeface="+mj-ea"/>
                        <a:buAutoNum type="circleNumDbPlain"/>
                      </a:pPr>
                      <a:r>
                        <a:rPr kumimoji="1" lang="ja-JP" altLang="en-US" sz="2000" dirty="0"/>
                        <a:t>管理状態を示さない場合は、特別原因の特定➠工程改善➠管理限界の再計算という一連の作業を繰り返す。</a:t>
                      </a:r>
                    </a:p>
                  </a:txBody>
                  <a:tcPr/>
                </a:tc>
                <a:extLst>
                  <a:ext uri="{0D108BD9-81ED-4DB2-BD59-A6C34878D82A}">
                    <a16:rowId xmlns:a16="http://schemas.microsoft.com/office/drawing/2014/main" val="1502301091"/>
                  </a:ext>
                </a:extLst>
              </a:tr>
              <a:tr h="1137828">
                <a:tc>
                  <a:txBody>
                    <a:bodyPr/>
                    <a:lstStyle/>
                    <a:p>
                      <a:r>
                        <a:rPr kumimoji="1" lang="ja-JP" altLang="en-US" sz="2000" dirty="0"/>
                        <a:t>ステップ７</a:t>
                      </a:r>
                    </a:p>
                  </a:txBody>
                  <a:tcPr/>
                </a:tc>
                <a:tc>
                  <a:txBody>
                    <a:bodyPr/>
                    <a:lstStyle/>
                    <a:p>
                      <a:r>
                        <a:rPr kumimoji="1" lang="ja-JP" altLang="en-US" sz="2000" dirty="0"/>
                        <a:t>Ｘ管理図の管理限界の再計算</a:t>
                      </a:r>
                    </a:p>
                  </a:txBody>
                  <a:tcPr/>
                </a:tc>
                <a:tc>
                  <a:txBody>
                    <a:bodyPr/>
                    <a:lstStyle/>
                    <a:p>
                      <a:pPr marL="457200" indent="-457200">
                        <a:buFont typeface="+mj-ea"/>
                        <a:buAutoNum type="circleNumDbPlain"/>
                      </a:pPr>
                      <a:r>
                        <a:rPr kumimoji="1" lang="ja-JP" altLang="en-US" sz="2000" dirty="0"/>
                        <a:t>Ｒ管理図と同じ方法で、Ｘ管理図の</a:t>
                      </a:r>
                      <a:r>
                        <a:rPr kumimoji="1" lang="en-US" altLang="ja-JP" sz="2000" dirty="0"/>
                        <a:t>UCL</a:t>
                      </a:r>
                      <a:r>
                        <a:rPr kumimoji="1" lang="ja-JP" altLang="en-US" sz="2000" dirty="0" err="1"/>
                        <a:t>、</a:t>
                      </a:r>
                      <a:r>
                        <a:rPr kumimoji="1" lang="en-US" altLang="ja-JP" sz="2000" dirty="0"/>
                        <a:t>LCL</a:t>
                      </a:r>
                      <a:r>
                        <a:rPr kumimoji="1" lang="ja-JP" altLang="en-US" sz="2000" dirty="0"/>
                        <a:t>を再計算する。</a:t>
                      </a:r>
                    </a:p>
                  </a:txBody>
                  <a:tcPr/>
                </a:tc>
                <a:extLst>
                  <a:ext uri="{0D108BD9-81ED-4DB2-BD59-A6C34878D82A}">
                    <a16:rowId xmlns:a16="http://schemas.microsoft.com/office/drawing/2014/main" val="1511083188"/>
                  </a:ext>
                </a:extLst>
              </a:tr>
            </a:tbl>
          </a:graphicData>
        </a:graphic>
      </p:graphicFrame>
      <p:cxnSp>
        <p:nvCxnSpPr>
          <p:cNvPr id="8" name="直線コネクタ 7">
            <a:extLst>
              <a:ext uri="{FF2B5EF4-FFF2-40B4-BE49-F238E27FC236}">
                <a16:creationId xmlns:a16="http://schemas.microsoft.com/office/drawing/2014/main" id="{6ACA4B1B-BE9C-43DE-8146-6BF785D4624B}"/>
              </a:ext>
            </a:extLst>
          </p:cNvPr>
          <p:cNvCxnSpPr>
            <a:cxnSpLocks/>
          </p:cNvCxnSpPr>
          <p:nvPr/>
        </p:nvCxnSpPr>
        <p:spPr>
          <a:xfrm>
            <a:off x="7279533" y="24381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CE14068-3E39-43F4-8C38-F50BE9EF0681}"/>
              </a:ext>
            </a:extLst>
          </p:cNvPr>
          <p:cNvCxnSpPr>
            <a:cxnSpLocks/>
          </p:cNvCxnSpPr>
          <p:nvPr/>
        </p:nvCxnSpPr>
        <p:spPr>
          <a:xfrm>
            <a:off x="6014852" y="3413077"/>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3392557-49C4-406D-809C-EEC0382D681E}"/>
              </a:ext>
            </a:extLst>
          </p:cNvPr>
          <p:cNvCxnSpPr>
            <a:cxnSpLocks/>
          </p:cNvCxnSpPr>
          <p:nvPr/>
        </p:nvCxnSpPr>
        <p:spPr>
          <a:xfrm>
            <a:off x="8313421" y="52575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590FD681-5B84-4D99-B084-D8CECDAB5E34}"/>
              </a:ext>
            </a:extLst>
          </p:cNvPr>
          <p:cNvCxnSpPr>
            <a:cxnSpLocks/>
          </p:cNvCxnSpPr>
          <p:nvPr/>
        </p:nvCxnSpPr>
        <p:spPr>
          <a:xfrm>
            <a:off x="2442094" y="3127131"/>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82F1F63E-3A78-4EF5-BEF2-1584E287C769}"/>
              </a:ext>
            </a:extLst>
          </p:cNvPr>
          <p:cNvCxnSpPr>
            <a:cxnSpLocks/>
          </p:cNvCxnSpPr>
          <p:nvPr/>
        </p:nvCxnSpPr>
        <p:spPr>
          <a:xfrm>
            <a:off x="2442094" y="52575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111C6F3-786F-472C-8D8D-CBE1F460EDED}"/>
              </a:ext>
            </a:extLst>
          </p:cNvPr>
          <p:cNvCxnSpPr>
            <a:cxnSpLocks/>
          </p:cNvCxnSpPr>
          <p:nvPr/>
        </p:nvCxnSpPr>
        <p:spPr>
          <a:xfrm>
            <a:off x="963657" y="3127131"/>
            <a:ext cx="16857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タイトル 1">
            <a:extLst>
              <a:ext uri="{FF2B5EF4-FFF2-40B4-BE49-F238E27FC236}">
                <a16:creationId xmlns:a16="http://schemas.microsoft.com/office/drawing/2014/main" id="{A3287CA8-65A6-49A0-88A8-B5760EC61AD7}"/>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cxnSp>
        <p:nvCxnSpPr>
          <p:cNvPr id="16" name="直線コネクタ 15">
            <a:extLst>
              <a:ext uri="{FF2B5EF4-FFF2-40B4-BE49-F238E27FC236}">
                <a16:creationId xmlns:a16="http://schemas.microsoft.com/office/drawing/2014/main" id="{C81B8520-AE83-41BE-B3E0-132892B6BD27}"/>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8955602"/>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524</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graphicFrame>
        <p:nvGraphicFramePr>
          <p:cNvPr id="2" name="表 1">
            <a:extLst>
              <a:ext uri="{FF2B5EF4-FFF2-40B4-BE49-F238E27FC236}">
                <a16:creationId xmlns:a16="http://schemas.microsoft.com/office/drawing/2014/main" id="{703B3D2E-FC20-483B-9EAF-CAC4E27EE433}"/>
              </a:ext>
            </a:extLst>
          </p:cNvPr>
          <p:cNvGraphicFramePr>
            <a:graphicFrameLocks noGrp="1"/>
          </p:cNvGraphicFramePr>
          <p:nvPr>
            <p:extLst>
              <p:ext uri="{D42A27DB-BD31-4B8C-83A1-F6EECF244321}">
                <p14:modId xmlns:p14="http://schemas.microsoft.com/office/powerpoint/2010/main" val="735063047"/>
              </p:ext>
            </p:extLst>
          </p:nvPr>
        </p:nvGraphicFramePr>
        <p:xfrm>
          <a:off x="838200" y="1322024"/>
          <a:ext cx="10515600" cy="5034325"/>
        </p:xfrm>
        <a:graphic>
          <a:graphicData uri="http://schemas.openxmlformats.org/drawingml/2006/table">
            <a:tbl>
              <a:tblPr firstRow="1" bandRow="1">
                <a:tableStyleId>{5940675A-B579-460E-94D1-54222C63F5DA}</a:tableStyleId>
              </a:tblPr>
              <a:tblGrid>
                <a:gridCol w="1475342">
                  <a:extLst>
                    <a:ext uri="{9D8B030D-6E8A-4147-A177-3AD203B41FA5}">
                      <a16:colId xmlns:a16="http://schemas.microsoft.com/office/drawing/2014/main" val="2871835243"/>
                    </a:ext>
                  </a:extLst>
                </a:gridCol>
                <a:gridCol w="2644048">
                  <a:extLst>
                    <a:ext uri="{9D8B030D-6E8A-4147-A177-3AD203B41FA5}">
                      <a16:colId xmlns:a16="http://schemas.microsoft.com/office/drawing/2014/main" val="3634007566"/>
                    </a:ext>
                  </a:extLst>
                </a:gridCol>
                <a:gridCol w="6396210">
                  <a:extLst>
                    <a:ext uri="{9D8B030D-6E8A-4147-A177-3AD203B41FA5}">
                      <a16:colId xmlns:a16="http://schemas.microsoft.com/office/drawing/2014/main" val="2067023696"/>
                    </a:ext>
                  </a:extLst>
                </a:gridCol>
              </a:tblGrid>
              <a:tr h="428177">
                <a:tc>
                  <a:txBody>
                    <a:bodyPr/>
                    <a:lstStyle/>
                    <a:p>
                      <a:pPr algn="ctr"/>
                      <a:r>
                        <a:rPr kumimoji="1" lang="ja-JP" altLang="en-US" sz="2000" dirty="0"/>
                        <a:t>分類</a:t>
                      </a:r>
                    </a:p>
                  </a:txBody>
                  <a:tcPr>
                    <a:solidFill>
                      <a:schemeClr val="tx2">
                        <a:lumMod val="40000"/>
                        <a:lumOff val="60000"/>
                      </a:schemeClr>
                    </a:solidFill>
                  </a:tcPr>
                </a:tc>
                <a:tc>
                  <a:txBody>
                    <a:bodyPr/>
                    <a:lstStyle/>
                    <a:p>
                      <a:pPr algn="ctr"/>
                      <a:r>
                        <a:rPr kumimoji="1" lang="ja-JP" altLang="en-US" sz="2000" dirty="0"/>
                        <a:t>ルール</a:t>
                      </a:r>
                    </a:p>
                  </a:txBody>
                  <a:tcPr>
                    <a:solidFill>
                      <a:schemeClr val="tx2">
                        <a:lumMod val="40000"/>
                        <a:lumOff val="60000"/>
                      </a:schemeClr>
                    </a:solidFill>
                  </a:tcPr>
                </a:tc>
                <a:tc>
                  <a:txBody>
                    <a:bodyPr/>
                    <a:lstStyle/>
                    <a:p>
                      <a:pPr algn="ctr"/>
                      <a:r>
                        <a:rPr kumimoji="1" lang="ja-JP" altLang="en-US" sz="2000" dirty="0"/>
                        <a:t>想定原因</a:t>
                      </a:r>
                    </a:p>
                  </a:txBody>
                  <a:tcPr>
                    <a:solidFill>
                      <a:schemeClr val="tx2">
                        <a:lumMod val="40000"/>
                        <a:lumOff val="60000"/>
                      </a:schemeClr>
                    </a:solidFill>
                  </a:tcPr>
                </a:tc>
                <a:extLst>
                  <a:ext uri="{0D108BD9-81ED-4DB2-BD59-A6C34878D82A}">
                    <a16:rowId xmlns:a16="http://schemas.microsoft.com/office/drawing/2014/main" val="2940165356"/>
                  </a:ext>
                </a:extLst>
              </a:tr>
              <a:tr h="1548026">
                <a:tc>
                  <a:txBody>
                    <a:bodyPr/>
                    <a:lstStyle/>
                    <a:p>
                      <a:r>
                        <a:rPr kumimoji="1" lang="ja-JP" altLang="en-US" sz="2000" b="1" dirty="0"/>
                        <a:t>量産工程への適用</a:t>
                      </a:r>
                      <a:endParaRPr kumimoji="1" lang="en-US" altLang="ja-JP" sz="2000" b="1" dirty="0"/>
                    </a:p>
                    <a:p>
                      <a:r>
                        <a:rPr kumimoji="1" lang="ja-JP" altLang="en-US" sz="2000" dirty="0"/>
                        <a:t>ステップ８</a:t>
                      </a:r>
                    </a:p>
                  </a:txBody>
                  <a:tcPr/>
                </a:tc>
                <a:tc>
                  <a:txBody>
                    <a:bodyPr/>
                    <a:lstStyle/>
                    <a:p>
                      <a:r>
                        <a:rPr kumimoji="1" lang="ja-JP" altLang="en-US" sz="2000" dirty="0"/>
                        <a:t>Ｘ－Ｒ管理図の新しい管理限界を量産工程に適用</a:t>
                      </a:r>
                    </a:p>
                  </a:txBody>
                  <a:tcPr/>
                </a:tc>
                <a:tc>
                  <a:txBody>
                    <a:bodyPr/>
                    <a:lstStyle/>
                    <a:p>
                      <a:pPr marL="457200" indent="-457200">
                        <a:buFont typeface="+mj-ea"/>
                        <a:buAutoNum type="circleNumDbPlain"/>
                      </a:pPr>
                      <a:r>
                        <a:rPr kumimoji="1" lang="ja-JP" altLang="en-US" sz="2000" dirty="0"/>
                        <a:t>Ｒ管理図及びＸ管理図の両方が管理状態となったことを確認する。</a:t>
                      </a:r>
                      <a:endParaRPr kumimoji="1" lang="en-US" altLang="ja-JP" sz="2000" dirty="0"/>
                    </a:p>
                    <a:p>
                      <a:pPr marL="457200" indent="-457200">
                        <a:buFont typeface="+mj-ea"/>
                        <a:buAutoNum type="circleNumDbPlain"/>
                      </a:pPr>
                      <a:r>
                        <a:rPr kumimoji="1" lang="ja-JP" altLang="en-US" sz="2000" dirty="0"/>
                        <a:t>Ｒ管理図及びＸ管理図の新しい管理基準を量産工程に適用する。</a:t>
                      </a:r>
                    </a:p>
                  </a:txBody>
                  <a:tcPr/>
                </a:tc>
                <a:extLst>
                  <a:ext uri="{0D108BD9-81ED-4DB2-BD59-A6C34878D82A}">
                    <a16:rowId xmlns:a16="http://schemas.microsoft.com/office/drawing/2014/main" val="2102610878"/>
                  </a:ext>
                </a:extLst>
              </a:tr>
              <a:tr h="1174619">
                <a:tc rowSpan="2">
                  <a:txBody>
                    <a:bodyPr/>
                    <a:lstStyle/>
                    <a:p>
                      <a:r>
                        <a:rPr kumimoji="1" lang="ja-JP" altLang="en-US" sz="2000" dirty="0"/>
                        <a:t>ステップ９</a:t>
                      </a:r>
                    </a:p>
                  </a:txBody>
                  <a:tcPr/>
                </a:tc>
                <a:tc>
                  <a:txBody>
                    <a:bodyPr/>
                    <a:lstStyle/>
                    <a:p>
                      <a:r>
                        <a:rPr kumimoji="1" lang="ja-JP" altLang="en-US" sz="2000" dirty="0"/>
                        <a:t>継続的なデータの測定</a:t>
                      </a:r>
                    </a:p>
                  </a:txBody>
                  <a:tcPr/>
                </a:tc>
                <a:tc>
                  <a:txBody>
                    <a:bodyPr/>
                    <a:lstStyle/>
                    <a:p>
                      <a:pPr marL="457200" indent="-457200">
                        <a:buFont typeface="+mj-ea"/>
                        <a:buAutoNum type="circleNumDbPlain"/>
                      </a:pPr>
                      <a:r>
                        <a:rPr kumimoji="1" lang="ja-JP" altLang="en-US" sz="2000" dirty="0"/>
                        <a:t>全ての特別原因が除去され、工程が統計的管理状態で操業されるようになった時の管理限界線を工程監視のために使用する。</a:t>
                      </a:r>
                    </a:p>
                  </a:txBody>
                  <a:tcPr/>
                </a:tc>
                <a:extLst>
                  <a:ext uri="{0D108BD9-81ED-4DB2-BD59-A6C34878D82A}">
                    <a16:rowId xmlns:a16="http://schemas.microsoft.com/office/drawing/2014/main" val="3196502788"/>
                  </a:ext>
                </a:extLst>
              </a:tr>
              <a:tr h="873226">
                <a:tc vMerge="1">
                  <a:txBody>
                    <a:bodyPr/>
                    <a:lstStyle/>
                    <a:p>
                      <a:endParaRPr kumimoji="1" lang="ja-JP" altLang="en-US" sz="2000" dirty="0"/>
                    </a:p>
                  </a:txBody>
                  <a:tcPr/>
                </a:tc>
                <a:tc>
                  <a:txBody>
                    <a:bodyPr/>
                    <a:lstStyle/>
                    <a:p>
                      <a:r>
                        <a:rPr kumimoji="1" lang="ja-JP" altLang="en-US" sz="2000" dirty="0"/>
                        <a:t>Ｘ－Ｒ管理図の継続的作成、評価</a:t>
                      </a:r>
                    </a:p>
                  </a:txBody>
                  <a:tcPr/>
                </a:tc>
                <a:tc>
                  <a:txBody>
                    <a:bodyPr/>
                    <a:lstStyle/>
                    <a:p>
                      <a:pPr marL="457200" indent="-457200">
                        <a:buFont typeface="+mj-ea"/>
                        <a:buAutoNum type="circleNumDbPlain"/>
                      </a:pPr>
                      <a:r>
                        <a:rPr kumimoji="1" lang="ja-JP" altLang="en-US" sz="2000" dirty="0"/>
                        <a:t>Ｒ管理図及びＸ管理図を継続的に作成し、工程が管理状態にあることを確認する。</a:t>
                      </a:r>
                    </a:p>
                  </a:txBody>
                  <a:tcPr/>
                </a:tc>
                <a:extLst>
                  <a:ext uri="{0D108BD9-81ED-4DB2-BD59-A6C34878D82A}">
                    <a16:rowId xmlns:a16="http://schemas.microsoft.com/office/drawing/2014/main" val="1502301091"/>
                  </a:ext>
                </a:extLst>
              </a:tr>
              <a:tr h="1010277">
                <a:tc>
                  <a:txBody>
                    <a:bodyPr/>
                    <a:lstStyle/>
                    <a:p>
                      <a:r>
                        <a:rPr kumimoji="1" lang="ja-JP" altLang="en-US" sz="2000" b="1" dirty="0"/>
                        <a:t>継続的改善</a:t>
                      </a:r>
                      <a:endParaRPr kumimoji="1" lang="en-US" altLang="ja-JP" sz="2000" b="1" dirty="0"/>
                    </a:p>
                    <a:p>
                      <a:r>
                        <a:rPr kumimoji="1" lang="ja-JP" altLang="en-US" sz="1900" dirty="0"/>
                        <a:t>ステップ</a:t>
                      </a:r>
                      <a:r>
                        <a:rPr kumimoji="1" lang="en-US" altLang="ja-JP" sz="1900" dirty="0"/>
                        <a:t>10</a:t>
                      </a:r>
                      <a:endParaRPr kumimoji="1" lang="ja-JP" altLang="en-US" sz="1900" dirty="0"/>
                    </a:p>
                  </a:txBody>
                  <a:tcPr/>
                </a:tc>
                <a:tc>
                  <a:txBody>
                    <a:bodyPr/>
                    <a:lstStyle/>
                    <a:p>
                      <a:r>
                        <a:rPr kumimoji="1" lang="ja-JP" altLang="en-US" sz="2000" dirty="0"/>
                        <a:t>工程管理への適用と継続的改善</a:t>
                      </a:r>
                    </a:p>
                  </a:txBody>
                  <a:tcPr/>
                </a:tc>
                <a:tc>
                  <a:txBody>
                    <a:bodyPr/>
                    <a:lstStyle/>
                    <a:p>
                      <a:pPr marL="457200" indent="-457200">
                        <a:buFont typeface="+mj-ea"/>
                        <a:buAutoNum type="circleNumDbPlain"/>
                      </a:pPr>
                      <a:r>
                        <a:rPr kumimoji="1" lang="ja-JP" altLang="en-US" sz="2000" dirty="0"/>
                        <a:t>管理状態を示さない場合は、特別原因の特定➠工程改善➠管理限界の再計算の作業を繰り返す。</a:t>
                      </a:r>
                    </a:p>
                  </a:txBody>
                  <a:tcPr/>
                </a:tc>
                <a:extLst>
                  <a:ext uri="{0D108BD9-81ED-4DB2-BD59-A6C34878D82A}">
                    <a16:rowId xmlns:a16="http://schemas.microsoft.com/office/drawing/2014/main" val="1511083188"/>
                  </a:ext>
                </a:extLst>
              </a:tr>
            </a:tbl>
          </a:graphicData>
        </a:graphic>
      </p:graphicFrame>
      <p:cxnSp>
        <p:nvCxnSpPr>
          <p:cNvPr id="8" name="直線コネクタ 7">
            <a:extLst>
              <a:ext uri="{FF2B5EF4-FFF2-40B4-BE49-F238E27FC236}">
                <a16:creationId xmlns:a16="http://schemas.microsoft.com/office/drawing/2014/main" id="{D4DF7E96-FA85-45EC-BCB9-9FE44FF2B104}"/>
              </a:ext>
            </a:extLst>
          </p:cNvPr>
          <p:cNvCxnSpPr>
            <a:cxnSpLocks/>
          </p:cNvCxnSpPr>
          <p:nvPr/>
        </p:nvCxnSpPr>
        <p:spPr>
          <a:xfrm>
            <a:off x="7062798" y="24326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C1034700-013C-476A-8DC1-2C1906F5E34E}"/>
              </a:ext>
            </a:extLst>
          </p:cNvPr>
          <p:cNvCxnSpPr>
            <a:cxnSpLocks/>
          </p:cNvCxnSpPr>
          <p:nvPr/>
        </p:nvCxnSpPr>
        <p:spPr>
          <a:xfrm>
            <a:off x="7062798" y="18230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999B91B7-D518-46D1-9811-EC1DA48105A0}"/>
              </a:ext>
            </a:extLst>
          </p:cNvPr>
          <p:cNvCxnSpPr>
            <a:cxnSpLocks/>
          </p:cNvCxnSpPr>
          <p:nvPr/>
        </p:nvCxnSpPr>
        <p:spPr>
          <a:xfrm>
            <a:off x="2454662" y="182308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D79A76BC-6126-4469-805A-30AC42600246}"/>
              </a:ext>
            </a:extLst>
          </p:cNvPr>
          <p:cNvCxnSpPr>
            <a:cxnSpLocks/>
          </p:cNvCxnSpPr>
          <p:nvPr/>
        </p:nvCxnSpPr>
        <p:spPr>
          <a:xfrm>
            <a:off x="2454662" y="451129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2D3CBBB1-3FA7-4994-88D4-669C56AAD45B}"/>
              </a:ext>
            </a:extLst>
          </p:cNvPr>
          <p:cNvCxnSpPr>
            <a:cxnSpLocks/>
          </p:cNvCxnSpPr>
          <p:nvPr/>
        </p:nvCxnSpPr>
        <p:spPr>
          <a:xfrm>
            <a:off x="7046619" y="4511299"/>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66E42C52-D938-44E7-A0A3-87225F150CF8}"/>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1619803"/>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en-US" altLang="ja-JP" sz="2400" dirty="0"/>
              <a:t>IATFA6949</a:t>
            </a:r>
            <a:r>
              <a:rPr lang="ja-JP" altLang="en-US" sz="2400" dirty="0"/>
              <a:t>における管理図異常判定ルール</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525</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graphicFrame>
        <p:nvGraphicFramePr>
          <p:cNvPr id="2" name="表 1">
            <a:extLst>
              <a:ext uri="{FF2B5EF4-FFF2-40B4-BE49-F238E27FC236}">
                <a16:creationId xmlns:a16="http://schemas.microsoft.com/office/drawing/2014/main" id="{703B3D2E-FC20-483B-9EAF-CAC4E27EE433}"/>
              </a:ext>
            </a:extLst>
          </p:cNvPr>
          <p:cNvGraphicFramePr>
            <a:graphicFrameLocks noGrp="1"/>
          </p:cNvGraphicFramePr>
          <p:nvPr/>
        </p:nvGraphicFramePr>
        <p:xfrm>
          <a:off x="838200" y="1810336"/>
          <a:ext cx="10515600" cy="4546014"/>
        </p:xfrm>
        <a:graphic>
          <a:graphicData uri="http://schemas.openxmlformats.org/drawingml/2006/table">
            <a:tbl>
              <a:tblPr firstRow="1" bandRow="1">
                <a:tableStyleId>{5940675A-B579-460E-94D1-54222C63F5DA}</a:tableStyleId>
              </a:tblPr>
              <a:tblGrid>
                <a:gridCol w="1475342">
                  <a:extLst>
                    <a:ext uri="{9D8B030D-6E8A-4147-A177-3AD203B41FA5}">
                      <a16:colId xmlns:a16="http://schemas.microsoft.com/office/drawing/2014/main" val="2871835243"/>
                    </a:ext>
                  </a:extLst>
                </a:gridCol>
                <a:gridCol w="2644048">
                  <a:extLst>
                    <a:ext uri="{9D8B030D-6E8A-4147-A177-3AD203B41FA5}">
                      <a16:colId xmlns:a16="http://schemas.microsoft.com/office/drawing/2014/main" val="3634007566"/>
                    </a:ext>
                  </a:extLst>
                </a:gridCol>
                <a:gridCol w="6396210">
                  <a:extLst>
                    <a:ext uri="{9D8B030D-6E8A-4147-A177-3AD203B41FA5}">
                      <a16:colId xmlns:a16="http://schemas.microsoft.com/office/drawing/2014/main" val="2067023696"/>
                    </a:ext>
                  </a:extLst>
                </a:gridCol>
              </a:tblGrid>
              <a:tr h="416184">
                <a:tc>
                  <a:txBody>
                    <a:bodyPr/>
                    <a:lstStyle/>
                    <a:p>
                      <a:pPr algn="ctr"/>
                      <a:r>
                        <a:rPr kumimoji="1" lang="ja-JP" altLang="en-US" sz="2000" dirty="0"/>
                        <a:t>分類</a:t>
                      </a:r>
                    </a:p>
                  </a:txBody>
                  <a:tcPr>
                    <a:solidFill>
                      <a:schemeClr val="tx2">
                        <a:lumMod val="40000"/>
                        <a:lumOff val="60000"/>
                      </a:schemeClr>
                    </a:solidFill>
                  </a:tcPr>
                </a:tc>
                <a:tc>
                  <a:txBody>
                    <a:bodyPr/>
                    <a:lstStyle/>
                    <a:p>
                      <a:pPr algn="ctr"/>
                      <a:r>
                        <a:rPr kumimoji="1" lang="ja-JP" altLang="en-US" sz="2000" dirty="0"/>
                        <a:t>ルール</a:t>
                      </a:r>
                    </a:p>
                  </a:txBody>
                  <a:tcPr>
                    <a:solidFill>
                      <a:schemeClr val="tx2">
                        <a:lumMod val="40000"/>
                        <a:lumOff val="60000"/>
                      </a:schemeClr>
                    </a:solidFill>
                  </a:tcPr>
                </a:tc>
                <a:tc>
                  <a:txBody>
                    <a:bodyPr/>
                    <a:lstStyle/>
                    <a:p>
                      <a:pPr algn="ctr"/>
                      <a:r>
                        <a:rPr kumimoji="1" lang="ja-JP" altLang="en-US" sz="2000" dirty="0"/>
                        <a:t>想定原因</a:t>
                      </a:r>
                    </a:p>
                  </a:txBody>
                  <a:tcPr>
                    <a:solidFill>
                      <a:schemeClr val="tx2">
                        <a:lumMod val="40000"/>
                        <a:lumOff val="60000"/>
                      </a:schemeClr>
                    </a:solidFill>
                  </a:tcPr>
                </a:tc>
                <a:extLst>
                  <a:ext uri="{0D108BD9-81ED-4DB2-BD59-A6C34878D82A}">
                    <a16:rowId xmlns:a16="http://schemas.microsoft.com/office/drawing/2014/main" val="2940165356"/>
                  </a:ext>
                </a:extLst>
              </a:tr>
              <a:tr h="2016894">
                <a:tc>
                  <a:txBody>
                    <a:bodyPr/>
                    <a:lstStyle/>
                    <a:p>
                      <a:r>
                        <a:rPr kumimoji="1" lang="ja-JP" altLang="en-US" sz="2000" dirty="0">
                          <a:solidFill>
                            <a:srgbClr val="FF0000"/>
                          </a:solidFill>
                          <a:effectLst>
                            <a:outerShdw blurRad="38100" dist="38100" dir="2700000" algn="tl">
                              <a:srgbClr val="000000">
                                <a:alpha val="43137"/>
                              </a:srgbClr>
                            </a:outerShdw>
                          </a:effectLst>
                        </a:rPr>
                        <a:t>管理限界</a:t>
                      </a:r>
                      <a:r>
                        <a:rPr kumimoji="1" lang="ja-JP" altLang="en-US" sz="2000" dirty="0"/>
                        <a:t>を超えている。</a:t>
                      </a:r>
                    </a:p>
                  </a:txBody>
                  <a:tcPr/>
                </a:tc>
                <a:tc>
                  <a:txBody>
                    <a:bodyPr/>
                    <a:lstStyle/>
                    <a:p>
                      <a:r>
                        <a:rPr kumimoji="1" lang="ja-JP" altLang="en-US" sz="2000" dirty="0"/>
                        <a:t>①管理限界の外側に点がある。</a:t>
                      </a:r>
                    </a:p>
                  </a:txBody>
                  <a:tcPr/>
                </a:tc>
                <a:tc>
                  <a:txBody>
                    <a:bodyPr/>
                    <a:lstStyle/>
                    <a:p>
                      <a:pPr marL="342900" indent="-342900">
                        <a:buFont typeface="Arial" panose="020B0604020202020204" pitchFamily="34" charset="0"/>
                        <a:buChar char="•"/>
                      </a:pPr>
                      <a:r>
                        <a:rPr kumimoji="1" lang="ja-JP" altLang="en-US" sz="2000" dirty="0"/>
                        <a:t>特性分布の中心位置が変化又は特性分布の広がりが増加（製品特性の悪化）</a:t>
                      </a:r>
                      <a:endParaRPr kumimoji="1" lang="en-US" altLang="ja-JP" sz="2000" dirty="0"/>
                    </a:p>
                    <a:p>
                      <a:pPr marL="342900" indent="-342900">
                        <a:buFont typeface="Arial" panose="020B0604020202020204" pitchFamily="34" charset="0"/>
                        <a:buChar char="•"/>
                      </a:pPr>
                      <a:r>
                        <a:rPr kumimoji="1" lang="ja-JP" altLang="en-US" sz="2000" dirty="0"/>
                        <a:t>管理図の記入ミス（</a:t>
                      </a:r>
                      <a:r>
                        <a:rPr kumimoji="1" lang="en-US" altLang="ja-JP" sz="2000" dirty="0"/>
                        <a:t>UCL</a:t>
                      </a:r>
                      <a:r>
                        <a:rPr kumimoji="1" lang="ja-JP" altLang="en-US" sz="2000" dirty="0" err="1"/>
                        <a:t>、</a:t>
                      </a:r>
                      <a:r>
                        <a:rPr kumimoji="1" lang="en-US" altLang="ja-JP" sz="2000" dirty="0"/>
                        <a:t>LCL</a:t>
                      </a:r>
                      <a:r>
                        <a:rPr kumimoji="1" lang="ja-JP" altLang="en-US" sz="2000" dirty="0"/>
                        <a:t>の計算違いなど）</a:t>
                      </a:r>
                      <a:endParaRPr kumimoji="1" lang="en-US" altLang="ja-JP" sz="2000" dirty="0"/>
                    </a:p>
                    <a:p>
                      <a:pPr marL="342900" indent="-342900">
                        <a:buFont typeface="Arial" panose="020B0604020202020204" pitchFamily="34" charset="0"/>
                        <a:buChar char="•"/>
                      </a:pPr>
                      <a:r>
                        <a:rPr kumimoji="1" lang="ja-JP" altLang="en-US" sz="2000" dirty="0"/>
                        <a:t>測定システムの変化（装置の異常、未熟な測定者への交替など）</a:t>
                      </a:r>
                      <a:endParaRPr kumimoji="1" lang="en-US" altLang="ja-JP" sz="2000" dirty="0"/>
                    </a:p>
                    <a:p>
                      <a:pPr marL="342900" indent="-342900">
                        <a:buFont typeface="Arial" panose="020B0604020202020204" pitchFamily="34" charset="0"/>
                        <a:buChar char="•"/>
                      </a:pPr>
                      <a:r>
                        <a:rPr kumimoji="1" lang="ja-JP" altLang="en-US" sz="2000" dirty="0"/>
                        <a:t>測定システムが不適切</a:t>
                      </a:r>
                    </a:p>
                  </a:txBody>
                  <a:tcPr/>
                </a:tc>
                <a:extLst>
                  <a:ext uri="{0D108BD9-81ED-4DB2-BD59-A6C34878D82A}">
                    <a16:rowId xmlns:a16="http://schemas.microsoft.com/office/drawing/2014/main" val="2102610878"/>
                  </a:ext>
                </a:extLst>
              </a:tr>
              <a:tr h="1056468">
                <a:tc rowSpan="2">
                  <a:txBody>
                    <a:bodyPr/>
                    <a:lstStyle/>
                    <a:p>
                      <a:r>
                        <a:rPr kumimoji="1" lang="ja-JP" altLang="en-US" sz="2000" dirty="0">
                          <a:solidFill>
                            <a:srgbClr val="FF0000"/>
                          </a:solidFill>
                          <a:effectLst>
                            <a:outerShdw blurRad="38100" dist="38100" dir="2700000" algn="tl">
                              <a:srgbClr val="000000">
                                <a:alpha val="43137"/>
                              </a:srgbClr>
                            </a:outerShdw>
                          </a:effectLst>
                        </a:rPr>
                        <a:t>“連”　</a:t>
                      </a:r>
                      <a:r>
                        <a:rPr kumimoji="1" lang="ja-JP" altLang="en-US" sz="2000" dirty="0"/>
                        <a:t>が特徴のあるパターンを示す。</a:t>
                      </a:r>
                    </a:p>
                  </a:txBody>
                  <a:tcPr/>
                </a:tc>
                <a:tc>
                  <a:txBody>
                    <a:bodyPr/>
                    <a:lstStyle/>
                    <a:p>
                      <a:r>
                        <a:rPr kumimoji="1" lang="ja-JP" altLang="en-US" sz="2000" dirty="0"/>
                        <a:t>②中心線の片側に連続して</a:t>
                      </a:r>
                      <a:r>
                        <a:rPr kumimoji="1" lang="en-US" altLang="ja-JP" sz="2000" dirty="0"/>
                        <a:t>7</a:t>
                      </a:r>
                      <a:r>
                        <a:rPr kumimoji="1" lang="ja-JP" altLang="en-US" sz="2000" dirty="0" err="1"/>
                        <a:t>つの</a:t>
                      </a:r>
                      <a:r>
                        <a:rPr kumimoji="1" lang="ja-JP" altLang="en-US" sz="2000" dirty="0"/>
                        <a:t>点（連）がある。</a:t>
                      </a:r>
                    </a:p>
                  </a:txBody>
                  <a:tcPr/>
                </a:tc>
                <a:tc>
                  <a:txBody>
                    <a:bodyPr/>
                    <a:lstStyle/>
                    <a:p>
                      <a:pPr marL="342900" indent="-342900">
                        <a:buFont typeface="Arial" panose="020B0604020202020204" pitchFamily="34" charset="0"/>
                        <a:buChar char="•"/>
                      </a:pPr>
                      <a:r>
                        <a:rPr kumimoji="1" lang="ja-JP" altLang="en-US" sz="2000" dirty="0"/>
                        <a:t>測定値のばらつきの増加（装置の不具合など）又は工程の変動（新規材料、不均質材料、シフトなど）</a:t>
                      </a:r>
                      <a:endParaRPr kumimoji="1" lang="en-US" altLang="ja-JP" sz="2000" dirty="0"/>
                    </a:p>
                    <a:p>
                      <a:pPr marL="342900" indent="-342900">
                        <a:buFont typeface="Arial" panose="020B0604020202020204" pitchFamily="34" charset="0"/>
                        <a:buChar char="•"/>
                      </a:pPr>
                      <a:r>
                        <a:rPr kumimoji="1" lang="ja-JP" altLang="en-US" sz="2000" dirty="0"/>
                        <a:t>測定システムの変化（新規装置、新規検査員など）</a:t>
                      </a:r>
                    </a:p>
                  </a:txBody>
                  <a:tcPr/>
                </a:tc>
                <a:extLst>
                  <a:ext uri="{0D108BD9-81ED-4DB2-BD59-A6C34878D82A}">
                    <a16:rowId xmlns:a16="http://schemas.microsoft.com/office/drawing/2014/main" val="3196502788"/>
                  </a:ext>
                </a:extLst>
              </a:tr>
              <a:tr h="1056468">
                <a:tc vMerge="1">
                  <a:txBody>
                    <a:bodyPr/>
                    <a:lstStyle/>
                    <a:p>
                      <a:endParaRPr kumimoji="1" lang="ja-JP" altLang="en-US" sz="2000" dirty="0"/>
                    </a:p>
                  </a:txBody>
                  <a:tcPr/>
                </a:tc>
                <a:tc>
                  <a:txBody>
                    <a:bodyPr/>
                    <a:lstStyle/>
                    <a:p>
                      <a:r>
                        <a:rPr kumimoji="1" lang="ja-JP" altLang="en-US" sz="2000" dirty="0"/>
                        <a:t>③連続して増加又は減少する</a:t>
                      </a:r>
                      <a:r>
                        <a:rPr kumimoji="1" lang="en-US" altLang="ja-JP" sz="2000" dirty="0"/>
                        <a:t>7</a:t>
                      </a:r>
                      <a:r>
                        <a:rPr kumimoji="1" lang="ja-JP" altLang="en-US" sz="2000" dirty="0" err="1"/>
                        <a:t>つの</a:t>
                      </a:r>
                      <a:r>
                        <a:rPr kumimoji="1" lang="ja-JP" altLang="en-US" sz="2000" dirty="0"/>
                        <a:t>点（連）がある。</a:t>
                      </a:r>
                    </a:p>
                  </a:txBody>
                  <a:tcPr/>
                </a:tc>
                <a:tc>
                  <a:txBody>
                    <a:bodyPr/>
                    <a:lstStyle/>
                    <a:p>
                      <a:r>
                        <a:rPr kumimoji="1" lang="ja-JP" altLang="en-US" sz="2000" dirty="0"/>
                        <a:t>同上</a:t>
                      </a:r>
                    </a:p>
                  </a:txBody>
                  <a:tcPr/>
                </a:tc>
                <a:extLst>
                  <a:ext uri="{0D108BD9-81ED-4DB2-BD59-A6C34878D82A}">
                    <a16:rowId xmlns:a16="http://schemas.microsoft.com/office/drawing/2014/main" val="1502301091"/>
                  </a:ext>
                </a:extLst>
              </a:tr>
            </a:tbl>
          </a:graphicData>
        </a:graphic>
      </p:graphicFrame>
      <p:cxnSp>
        <p:nvCxnSpPr>
          <p:cNvPr id="8" name="直線コネクタ 7">
            <a:extLst>
              <a:ext uri="{FF2B5EF4-FFF2-40B4-BE49-F238E27FC236}">
                <a16:creationId xmlns:a16="http://schemas.microsoft.com/office/drawing/2014/main" id="{A1BDBACD-B595-4897-BFC8-EDC8D515E13F}"/>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688595"/>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526</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graphicFrame>
        <p:nvGraphicFramePr>
          <p:cNvPr id="2" name="表 1">
            <a:extLst>
              <a:ext uri="{FF2B5EF4-FFF2-40B4-BE49-F238E27FC236}">
                <a16:creationId xmlns:a16="http://schemas.microsoft.com/office/drawing/2014/main" id="{703B3D2E-FC20-483B-9EAF-CAC4E27EE433}"/>
              </a:ext>
            </a:extLst>
          </p:cNvPr>
          <p:cNvGraphicFramePr>
            <a:graphicFrameLocks noGrp="1"/>
          </p:cNvGraphicFramePr>
          <p:nvPr/>
        </p:nvGraphicFramePr>
        <p:xfrm>
          <a:off x="838200" y="1322024"/>
          <a:ext cx="10515600" cy="5034326"/>
        </p:xfrm>
        <a:graphic>
          <a:graphicData uri="http://schemas.openxmlformats.org/drawingml/2006/table">
            <a:tbl>
              <a:tblPr firstRow="1" bandRow="1">
                <a:tableStyleId>{5940675A-B579-460E-94D1-54222C63F5DA}</a:tableStyleId>
              </a:tblPr>
              <a:tblGrid>
                <a:gridCol w="1475342">
                  <a:extLst>
                    <a:ext uri="{9D8B030D-6E8A-4147-A177-3AD203B41FA5}">
                      <a16:colId xmlns:a16="http://schemas.microsoft.com/office/drawing/2014/main" val="2871835243"/>
                    </a:ext>
                  </a:extLst>
                </a:gridCol>
                <a:gridCol w="2644048">
                  <a:extLst>
                    <a:ext uri="{9D8B030D-6E8A-4147-A177-3AD203B41FA5}">
                      <a16:colId xmlns:a16="http://schemas.microsoft.com/office/drawing/2014/main" val="3634007566"/>
                    </a:ext>
                  </a:extLst>
                </a:gridCol>
                <a:gridCol w="6396210">
                  <a:extLst>
                    <a:ext uri="{9D8B030D-6E8A-4147-A177-3AD203B41FA5}">
                      <a16:colId xmlns:a16="http://schemas.microsoft.com/office/drawing/2014/main" val="2067023696"/>
                    </a:ext>
                  </a:extLst>
                </a:gridCol>
              </a:tblGrid>
              <a:tr h="507335">
                <a:tc>
                  <a:txBody>
                    <a:bodyPr/>
                    <a:lstStyle/>
                    <a:p>
                      <a:pPr algn="ctr"/>
                      <a:r>
                        <a:rPr kumimoji="1" lang="ja-JP" altLang="en-US" sz="2000" dirty="0"/>
                        <a:t>分類</a:t>
                      </a:r>
                    </a:p>
                  </a:txBody>
                  <a:tcPr>
                    <a:solidFill>
                      <a:schemeClr val="tx2">
                        <a:lumMod val="40000"/>
                        <a:lumOff val="60000"/>
                      </a:schemeClr>
                    </a:solidFill>
                  </a:tcPr>
                </a:tc>
                <a:tc>
                  <a:txBody>
                    <a:bodyPr/>
                    <a:lstStyle/>
                    <a:p>
                      <a:pPr algn="ctr"/>
                      <a:r>
                        <a:rPr kumimoji="1" lang="ja-JP" altLang="en-US" sz="2000" dirty="0"/>
                        <a:t>ルール</a:t>
                      </a:r>
                    </a:p>
                  </a:txBody>
                  <a:tcPr>
                    <a:solidFill>
                      <a:schemeClr val="tx2">
                        <a:lumMod val="40000"/>
                        <a:lumOff val="60000"/>
                      </a:schemeClr>
                    </a:solidFill>
                  </a:tcPr>
                </a:tc>
                <a:tc>
                  <a:txBody>
                    <a:bodyPr/>
                    <a:lstStyle/>
                    <a:p>
                      <a:pPr algn="ctr"/>
                      <a:r>
                        <a:rPr kumimoji="1" lang="ja-JP" altLang="en-US" sz="2000" dirty="0"/>
                        <a:t>想定原因</a:t>
                      </a:r>
                    </a:p>
                  </a:txBody>
                  <a:tcPr>
                    <a:solidFill>
                      <a:schemeClr val="tx2">
                        <a:lumMod val="40000"/>
                        <a:lumOff val="60000"/>
                      </a:schemeClr>
                    </a:solidFill>
                  </a:tcPr>
                </a:tc>
                <a:extLst>
                  <a:ext uri="{0D108BD9-81ED-4DB2-BD59-A6C34878D82A}">
                    <a16:rowId xmlns:a16="http://schemas.microsoft.com/office/drawing/2014/main" val="2940165356"/>
                  </a:ext>
                </a:extLst>
              </a:tr>
              <a:tr h="2458625">
                <a:tc rowSpan="2">
                  <a:txBody>
                    <a:bodyPr/>
                    <a:lstStyle/>
                    <a:p>
                      <a:r>
                        <a:rPr kumimoji="1" lang="ja-JP" altLang="en-US" sz="2000" dirty="0"/>
                        <a:t>描いた点の中心線からの</a:t>
                      </a:r>
                      <a:r>
                        <a:rPr kumimoji="1" lang="ja-JP" altLang="en-US" sz="2000" dirty="0">
                          <a:solidFill>
                            <a:srgbClr val="FF0000"/>
                          </a:solidFill>
                          <a:effectLst>
                            <a:outerShdw blurRad="38100" dist="38100" dir="2700000" algn="tl">
                              <a:srgbClr val="000000">
                                <a:alpha val="43137"/>
                              </a:srgbClr>
                            </a:outerShdw>
                          </a:effectLst>
                        </a:rPr>
                        <a:t>分布量</a:t>
                      </a:r>
                      <a:r>
                        <a:rPr kumimoji="1" lang="ja-JP" altLang="en-US" sz="2000" dirty="0"/>
                        <a:t>が異常を示す。</a:t>
                      </a:r>
                    </a:p>
                  </a:txBody>
                  <a:tcPr/>
                </a:tc>
                <a:tc>
                  <a:txBody>
                    <a:bodyPr/>
                    <a:lstStyle/>
                    <a:p>
                      <a:r>
                        <a:rPr kumimoji="1" lang="ja-JP" altLang="en-US" sz="2000" dirty="0"/>
                        <a:t>④管理限界幅の中央</a:t>
                      </a:r>
                      <a:r>
                        <a:rPr kumimoji="1" lang="en-US" altLang="ja-JP" sz="2000" dirty="0"/>
                        <a:t>1/3</a:t>
                      </a:r>
                      <a:r>
                        <a:rPr kumimoji="1" lang="ja-JP" altLang="en-US" sz="2000" dirty="0"/>
                        <a:t>（</a:t>
                      </a:r>
                      <a:r>
                        <a:rPr kumimoji="1" lang="en-US" altLang="ja-JP" sz="2000" dirty="0"/>
                        <a:t>±1σ</a:t>
                      </a:r>
                      <a:r>
                        <a:rPr kumimoji="1" lang="ja-JP" altLang="en-US" sz="2000" dirty="0"/>
                        <a:t>）の範囲の点が、</a:t>
                      </a:r>
                      <a:r>
                        <a:rPr kumimoji="1" lang="en-US" altLang="ja-JP" sz="2000" dirty="0"/>
                        <a:t>2/3</a:t>
                      </a:r>
                      <a:r>
                        <a:rPr kumimoji="1" lang="ja-JP" altLang="en-US" sz="2000" dirty="0"/>
                        <a:t>よりもはるかに多い。（</a:t>
                      </a:r>
                      <a:r>
                        <a:rPr kumimoji="1" lang="en-US" altLang="ja-JP" sz="2000" dirty="0"/>
                        <a:t>90%</a:t>
                      </a:r>
                      <a:r>
                        <a:rPr kumimoji="1" lang="ja-JP" altLang="en-US" sz="2000" dirty="0"/>
                        <a:t>程度）</a:t>
                      </a:r>
                    </a:p>
                  </a:txBody>
                  <a:tcPr/>
                </a:tc>
                <a:tc>
                  <a:txBody>
                    <a:bodyPr/>
                    <a:lstStyle/>
                    <a:p>
                      <a:pPr marL="342900" indent="-342900">
                        <a:buFont typeface="Arial" panose="020B0604020202020204" pitchFamily="34" charset="0"/>
                        <a:buChar char="•"/>
                      </a:pPr>
                      <a:r>
                        <a:rPr kumimoji="1" lang="ja-JP" altLang="en-US" sz="2000" dirty="0"/>
                        <a:t>管理限界又は管理統計量（点）の計算違い又は記入ミス。</a:t>
                      </a:r>
                      <a:endParaRPr kumimoji="1" lang="en-US" altLang="ja-JP" sz="2000" dirty="0"/>
                    </a:p>
                    <a:p>
                      <a:pPr marL="342900" indent="-342900">
                        <a:buFont typeface="Arial" panose="020B0604020202020204" pitchFamily="34" charset="0"/>
                        <a:buChar char="•"/>
                      </a:pPr>
                      <a:r>
                        <a:rPr kumimoji="1" lang="ja-JP" altLang="en-US" sz="2000" dirty="0"/>
                        <a:t>サンプリング方法が不適切（層別サンプリングなど）</a:t>
                      </a:r>
                      <a:endParaRPr kumimoji="1" lang="en-US" altLang="ja-JP" sz="2000" dirty="0"/>
                    </a:p>
                    <a:p>
                      <a:pPr marL="342900" indent="-342900">
                        <a:buFont typeface="Arial" panose="020B0604020202020204" pitchFamily="34" charset="0"/>
                        <a:buChar char="•"/>
                      </a:pPr>
                      <a:r>
                        <a:rPr kumimoji="1" lang="ja-JP" altLang="en-US" sz="2000" dirty="0"/>
                        <a:t>データを加工している。（平均値から大きく外れたサブグループの削除など）</a:t>
                      </a:r>
                    </a:p>
                  </a:txBody>
                  <a:tcPr/>
                </a:tc>
                <a:extLst>
                  <a:ext uri="{0D108BD9-81ED-4DB2-BD59-A6C34878D82A}">
                    <a16:rowId xmlns:a16="http://schemas.microsoft.com/office/drawing/2014/main" val="2102610878"/>
                  </a:ext>
                </a:extLst>
              </a:tr>
              <a:tr h="2068366">
                <a:tc vMerge="1">
                  <a:txBody>
                    <a:bodyPr/>
                    <a:lstStyle/>
                    <a:p>
                      <a:endParaRPr kumimoji="1" lang="ja-JP" alt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➄管理限界幅の中央</a:t>
                      </a:r>
                      <a:r>
                        <a:rPr kumimoji="1" lang="en-US" altLang="ja-JP" sz="2000" dirty="0"/>
                        <a:t>1/3</a:t>
                      </a:r>
                      <a:r>
                        <a:rPr kumimoji="1" lang="ja-JP" altLang="en-US" sz="2000" dirty="0"/>
                        <a:t>（</a:t>
                      </a:r>
                      <a:r>
                        <a:rPr kumimoji="1" lang="en-US" altLang="ja-JP" sz="2000" dirty="0"/>
                        <a:t>±1σ</a:t>
                      </a:r>
                      <a:r>
                        <a:rPr kumimoji="1" lang="ja-JP" altLang="en-US" sz="2000" dirty="0"/>
                        <a:t>）の範囲の点が、</a:t>
                      </a:r>
                      <a:r>
                        <a:rPr kumimoji="1" lang="en-US" altLang="ja-JP" sz="2000" dirty="0"/>
                        <a:t>2/3</a:t>
                      </a:r>
                      <a:r>
                        <a:rPr kumimoji="1" lang="ja-JP" altLang="en-US" sz="2000" dirty="0"/>
                        <a:t>よりもはるかに少ない。（</a:t>
                      </a:r>
                      <a:r>
                        <a:rPr kumimoji="1" lang="en-US" altLang="ja-JP" sz="2000" dirty="0"/>
                        <a:t>40%</a:t>
                      </a:r>
                      <a:r>
                        <a:rPr kumimoji="1" lang="ja-JP" altLang="en-US" sz="2000" dirty="0"/>
                        <a:t>程度）</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2000" dirty="0"/>
                        <a:t>管理限界又は管理統計量（点）の計算違い又は記入ミス。</a:t>
                      </a:r>
                      <a:endParaRPr kumimoji="1" lang="en-US" altLang="ja-JP" sz="2000" dirty="0"/>
                    </a:p>
                    <a:p>
                      <a:pPr marL="342900" indent="-342900">
                        <a:buFont typeface="Arial" panose="020B0604020202020204" pitchFamily="34" charset="0"/>
                        <a:buChar char="•"/>
                      </a:pPr>
                      <a:r>
                        <a:rPr kumimoji="1" lang="ja-JP" altLang="en-US" sz="2000" dirty="0"/>
                        <a:t>サンプリング方法が原因で、連続するサブグループに著しく異なる変動を持つ</a:t>
                      </a:r>
                      <a:r>
                        <a:rPr kumimoji="1" lang="en-US" altLang="ja-JP" sz="2000" dirty="0"/>
                        <a:t>2</a:t>
                      </a:r>
                      <a:r>
                        <a:rPr kumimoji="1" lang="ja-JP" altLang="en-US" sz="2000" dirty="0"/>
                        <a:t>つ以上の工程の測定値が含まれている。（使用材料の混成ロットなど）</a:t>
                      </a:r>
                    </a:p>
                  </a:txBody>
                  <a:tcPr/>
                </a:tc>
                <a:extLst>
                  <a:ext uri="{0D108BD9-81ED-4DB2-BD59-A6C34878D82A}">
                    <a16:rowId xmlns:a16="http://schemas.microsoft.com/office/drawing/2014/main" val="1502301091"/>
                  </a:ext>
                </a:extLst>
              </a:tr>
            </a:tbl>
          </a:graphicData>
        </a:graphic>
      </p:graphicFrame>
      <p:cxnSp>
        <p:nvCxnSpPr>
          <p:cNvPr id="8" name="直線コネクタ 7">
            <a:extLst>
              <a:ext uri="{FF2B5EF4-FFF2-40B4-BE49-F238E27FC236}">
                <a16:creationId xmlns:a16="http://schemas.microsoft.com/office/drawing/2014/main" id="{B112ED40-F3CE-443C-BED7-BAE4A9FB071C}"/>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7306765"/>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22024"/>
            <a:ext cx="10515600" cy="50343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527</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５．ＳＰＣ（Ｘ－Ｒ管理図）</a:t>
            </a:r>
          </a:p>
        </p:txBody>
      </p:sp>
      <p:pic>
        <p:nvPicPr>
          <p:cNvPr id="9" name="図 8">
            <a:extLst>
              <a:ext uri="{FF2B5EF4-FFF2-40B4-BE49-F238E27FC236}">
                <a16:creationId xmlns:a16="http://schemas.microsoft.com/office/drawing/2014/main" id="{435B41BC-DB3D-4C62-B0CC-34140FE64C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322024"/>
            <a:ext cx="10515599" cy="503432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a:extLst>
              <a:ext uri="{FF2B5EF4-FFF2-40B4-BE49-F238E27FC236}">
                <a16:creationId xmlns:a16="http://schemas.microsoft.com/office/drawing/2014/main" id="{A31D3FCE-D803-4D19-A59C-C4BD309AB279}"/>
              </a:ext>
            </a:extLst>
          </p:cNvPr>
          <p:cNvCxnSpPr>
            <a:cxnSpLocks/>
          </p:cNvCxnSpPr>
          <p:nvPr/>
        </p:nvCxnSpPr>
        <p:spPr>
          <a:xfrm>
            <a:off x="3238658" y="561468"/>
            <a:ext cx="2398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13842"/>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工程の能力とは</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528</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sp>
        <p:nvSpPr>
          <p:cNvPr id="3" name="正方形/長方形 2">
            <a:extLst>
              <a:ext uri="{FF2B5EF4-FFF2-40B4-BE49-F238E27FC236}">
                <a16:creationId xmlns:a16="http://schemas.microsoft.com/office/drawing/2014/main" id="{2D76E6DF-EA38-4CAE-A457-C8FE365F1B3E}"/>
              </a:ext>
            </a:extLst>
          </p:cNvPr>
          <p:cNvSpPr/>
          <p:nvPr/>
        </p:nvSpPr>
        <p:spPr>
          <a:xfrm>
            <a:off x="1465243" y="1872868"/>
            <a:ext cx="8086381" cy="83728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2400" dirty="0">
                <a:solidFill>
                  <a:schemeClr val="tx1"/>
                </a:solidFill>
              </a:rPr>
              <a:t>工程の能力＝</a:t>
            </a:r>
            <a:r>
              <a:rPr kumimoji="1" lang="ja-JP" altLang="en-US" sz="2400" dirty="0">
                <a:solidFill>
                  <a:srgbClr val="FF0000"/>
                </a:solidFill>
              </a:rPr>
              <a:t>製品規格幅</a:t>
            </a:r>
            <a:r>
              <a:rPr kumimoji="1" lang="ja-JP" altLang="en-US" sz="2400" dirty="0">
                <a:solidFill>
                  <a:schemeClr val="tx1"/>
                </a:solidFill>
              </a:rPr>
              <a:t>／</a:t>
            </a:r>
            <a:r>
              <a:rPr kumimoji="1" lang="ja-JP" altLang="en-US" sz="2400" dirty="0">
                <a:solidFill>
                  <a:srgbClr val="0070C0"/>
                </a:solidFill>
              </a:rPr>
              <a:t>製品特性データ分布幅</a:t>
            </a:r>
          </a:p>
        </p:txBody>
      </p:sp>
      <p:grpSp>
        <p:nvGrpSpPr>
          <p:cNvPr id="9" name="グループ化 8">
            <a:extLst>
              <a:ext uri="{FF2B5EF4-FFF2-40B4-BE49-F238E27FC236}">
                <a16:creationId xmlns:a16="http://schemas.microsoft.com/office/drawing/2014/main" id="{2783248A-F4AB-4162-B8D3-2DD923D61185}"/>
              </a:ext>
            </a:extLst>
          </p:cNvPr>
          <p:cNvGrpSpPr/>
          <p:nvPr/>
        </p:nvGrpSpPr>
        <p:grpSpPr>
          <a:xfrm>
            <a:off x="991518" y="3162356"/>
            <a:ext cx="5199962" cy="2662923"/>
            <a:chOff x="0" y="-3175"/>
            <a:chExt cx="3165475" cy="1350034"/>
          </a:xfrm>
        </p:grpSpPr>
        <p:grpSp>
          <p:nvGrpSpPr>
            <p:cNvPr id="11" name="グループ化 10">
              <a:extLst>
                <a:ext uri="{FF2B5EF4-FFF2-40B4-BE49-F238E27FC236}">
                  <a16:creationId xmlns:a16="http://schemas.microsoft.com/office/drawing/2014/main" id="{C9074C01-787A-4F58-9E6B-B7637550F037}"/>
                </a:ext>
              </a:extLst>
            </p:cNvPr>
            <p:cNvGrpSpPr/>
            <p:nvPr/>
          </p:nvGrpSpPr>
          <p:grpSpPr>
            <a:xfrm>
              <a:off x="577621" y="-3175"/>
              <a:ext cx="1979609" cy="978577"/>
              <a:chOff x="577621" y="-3175"/>
              <a:chExt cx="1997345" cy="1512274"/>
            </a:xfrm>
          </p:grpSpPr>
          <p:sp>
            <p:nvSpPr>
              <p:cNvPr id="16" name="フリーフォーム: 図形 15">
                <a:extLst>
                  <a:ext uri="{FF2B5EF4-FFF2-40B4-BE49-F238E27FC236}">
                    <a16:creationId xmlns:a16="http://schemas.microsoft.com/office/drawing/2014/main" id="{6C1AE043-16F1-4281-A9F4-D91992292025}"/>
                  </a:ext>
                </a:extLst>
              </p:cNvPr>
              <p:cNvSpPr/>
              <p:nvPr/>
            </p:nvSpPr>
            <p:spPr>
              <a:xfrm>
                <a:off x="1573827" y="-296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17" name="フリーフォーム: 図形 16">
                <a:extLst>
                  <a:ext uri="{FF2B5EF4-FFF2-40B4-BE49-F238E27FC236}">
                    <a16:creationId xmlns:a16="http://schemas.microsoft.com/office/drawing/2014/main" id="{1400C898-E52F-436D-9E04-E7A8B9A4A690}"/>
                  </a:ext>
                </a:extLst>
              </p:cNvPr>
              <p:cNvSpPr/>
              <p:nvPr/>
            </p:nvSpPr>
            <p:spPr>
              <a:xfrm>
                <a:off x="577621" y="-3175"/>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2857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12" name="直線矢印コネクタ 11">
              <a:extLst>
                <a:ext uri="{FF2B5EF4-FFF2-40B4-BE49-F238E27FC236}">
                  <a16:creationId xmlns:a16="http://schemas.microsoft.com/office/drawing/2014/main" id="{8919726A-B5F9-4D70-95D8-73F2DF9D6876}"/>
                </a:ext>
              </a:extLst>
            </p:cNvPr>
            <p:cNvCxnSpPr/>
            <p:nvPr/>
          </p:nvCxnSpPr>
          <p:spPr>
            <a:xfrm>
              <a:off x="0" y="1252242"/>
              <a:ext cx="3165475"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590162F6-1BB8-4CA2-8A55-F3E1621B2051}"/>
                </a:ext>
              </a:extLst>
            </p:cNvPr>
            <p:cNvSpPr/>
            <p:nvPr/>
          </p:nvSpPr>
          <p:spPr>
            <a:xfrm>
              <a:off x="1286682" y="1131366"/>
              <a:ext cx="618631" cy="215493"/>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規格幅</a:t>
              </a:r>
            </a:p>
          </p:txBody>
        </p:sp>
        <p:cxnSp>
          <p:nvCxnSpPr>
            <p:cNvPr id="14" name="直線矢印コネクタ 13">
              <a:extLst>
                <a:ext uri="{FF2B5EF4-FFF2-40B4-BE49-F238E27FC236}">
                  <a16:creationId xmlns:a16="http://schemas.microsoft.com/office/drawing/2014/main" id="{737437A7-6128-4045-86AE-FE1BDBBD2176}"/>
                </a:ext>
              </a:extLst>
            </p:cNvPr>
            <p:cNvCxnSpPr/>
            <p:nvPr/>
          </p:nvCxnSpPr>
          <p:spPr>
            <a:xfrm>
              <a:off x="584200" y="1003527"/>
              <a:ext cx="1997075" cy="0"/>
            </a:xfrm>
            <a:prstGeom prst="straightConnector1">
              <a:avLst/>
            </a:prstGeom>
            <a:ln w="5715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AFA19865-B7E8-48EF-8294-8F077B04BFDB}"/>
                </a:ext>
              </a:extLst>
            </p:cNvPr>
            <p:cNvSpPr/>
            <p:nvPr/>
          </p:nvSpPr>
          <p:spPr>
            <a:xfrm>
              <a:off x="1286682" y="879476"/>
              <a:ext cx="618631" cy="221843"/>
            </a:xfrm>
            <a:prstGeom prst="rect">
              <a:avLst/>
            </a:prstGeom>
            <a:solidFill>
              <a:sysClr val="window" lastClr="FFFF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分布幅</a:t>
              </a:r>
            </a:p>
          </p:txBody>
        </p:sp>
      </p:grpSp>
      <p:sp>
        <p:nvSpPr>
          <p:cNvPr id="8" name="矢印: 下カーブ 7">
            <a:extLst>
              <a:ext uri="{FF2B5EF4-FFF2-40B4-BE49-F238E27FC236}">
                <a16:creationId xmlns:a16="http://schemas.microsoft.com/office/drawing/2014/main" id="{0145DCFE-9972-47FB-83F4-8EA4CEF7BC98}"/>
              </a:ext>
            </a:extLst>
          </p:cNvPr>
          <p:cNvSpPr/>
          <p:nvPr/>
        </p:nvSpPr>
        <p:spPr>
          <a:xfrm rot="6762226">
            <a:off x="4256290" y="3306635"/>
            <a:ext cx="1538454" cy="700951"/>
          </a:xfrm>
          <a:prstGeom prst="curved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矢印: 右 17">
            <a:extLst>
              <a:ext uri="{FF2B5EF4-FFF2-40B4-BE49-F238E27FC236}">
                <a16:creationId xmlns:a16="http://schemas.microsoft.com/office/drawing/2014/main" id="{21F7CC4C-2C4B-4BB0-8C9C-FBD81884965C}"/>
              </a:ext>
            </a:extLst>
          </p:cNvPr>
          <p:cNvSpPr/>
          <p:nvPr/>
        </p:nvSpPr>
        <p:spPr>
          <a:xfrm>
            <a:off x="6034968" y="4486665"/>
            <a:ext cx="440675" cy="1211839"/>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84706D03-21F5-435C-87E5-30B0BCD04CD5}"/>
              </a:ext>
            </a:extLst>
          </p:cNvPr>
          <p:cNvSpPr/>
          <p:nvPr/>
        </p:nvSpPr>
        <p:spPr>
          <a:xfrm>
            <a:off x="6665205" y="3789802"/>
            <a:ext cx="4521093" cy="2115223"/>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大きければ</a:t>
            </a:r>
            <a:endParaRPr kumimoji="1" lang="en-US" altLang="ja-JP" sz="2400" dirty="0">
              <a:solidFill>
                <a:schemeClr val="tx1"/>
              </a:solidFill>
            </a:endParaRPr>
          </a:p>
          <a:p>
            <a:pPr algn="ctr"/>
            <a:r>
              <a:rPr lang="ja-JP" altLang="en-US" sz="2400" b="1" dirty="0">
                <a:solidFill>
                  <a:schemeClr val="tx1"/>
                </a:solidFill>
                <a:effectLst>
                  <a:outerShdw blurRad="38100" dist="38100" dir="2700000" algn="tl">
                    <a:srgbClr val="000000">
                      <a:alpha val="43137"/>
                    </a:srgbClr>
                  </a:outerShdw>
                </a:effectLst>
              </a:rPr>
              <a:t>“能力が高い”</a:t>
            </a:r>
            <a:endParaRPr lang="en-US" altLang="ja-JP" sz="2400" b="1" dirty="0">
              <a:solidFill>
                <a:schemeClr val="tx1"/>
              </a:solidFill>
              <a:effectLst>
                <a:outerShdw blurRad="38100" dist="38100" dir="2700000" algn="tl">
                  <a:srgbClr val="000000">
                    <a:alpha val="43137"/>
                  </a:srgbClr>
                </a:outerShdw>
              </a:effectLst>
            </a:endParaRPr>
          </a:p>
          <a:p>
            <a:pPr algn="ctr"/>
            <a:r>
              <a:rPr kumimoji="1" lang="ja-JP" altLang="en-US" sz="2400" b="1" dirty="0">
                <a:solidFill>
                  <a:schemeClr val="tx1"/>
                </a:solidFill>
                <a:effectLst>
                  <a:outerShdw blurRad="38100" dist="38100" dir="2700000" algn="tl">
                    <a:srgbClr val="000000">
                      <a:alpha val="43137"/>
                    </a:srgbClr>
                  </a:outerShdw>
                </a:effectLst>
              </a:rPr>
              <a:t>“規格に対し余裕がある”</a:t>
            </a:r>
            <a:endParaRPr kumimoji="1" lang="en-US" altLang="ja-JP" sz="2400" b="1" dirty="0">
              <a:solidFill>
                <a:schemeClr val="tx1"/>
              </a:solidFill>
              <a:effectLst>
                <a:outerShdw blurRad="38100" dist="38100" dir="2700000" algn="tl">
                  <a:srgbClr val="000000">
                    <a:alpha val="43137"/>
                  </a:srgbClr>
                </a:outerShdw>
              </a:effectLst>
            </a:endParaRPr>
          </a:p>
          <a:p>
            <a:pPr algn="ctr"/>
            <a:r>
              <a:rPr lang="ja-JP" altLang="en-US" sz="2400" b="1" dirty="0">
                <a:solidFill>
                  <a:schemeClr val="tx1"/>
                </a:solidFill>
                <a:effectLst>
                  <a:outerShdw blurRad="38100" dist="38100" dir="2700000" algn="tl">
                    <a:srgbClr val="000000">
                      <a:alpha val="43137"/>
                    </a:srgbClr>
                  </a:outerShdw>
                </a:effectLst>
              </a:rPr>
              <a:t>“不良発生の可能性が低い”</a:t>
            </a:r>
            <a:endParaRPr kumimoji="1" lang="ja-JP"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52679342"/>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工程能力</a:t>
            </a:r>
            <a:r>
              <a:rPr lang="ja-JP" altLang="en-US" sz="1800" dirty="0"/>
              <a:t>（</a:t>
            </a:r>
            <a:r>
              <a:rPr lang="en-US" altLang="ja-JP" sz="1800" dirty="0"/>
              <a:t>capability</a:t>
            </a:r>
            <a:r>
              <a:rPr lang="ja-JP" altLang="en-US" sz="1800" dirty="0"/>
              <a:t> </a:t>
            </a:r>
            <a:r>
              <a:rPr lang="en-US" altLang="ja-JP" sz="1800" dirty="0"/>
              <a:t>index</a:t>
            </a:r>
            <a:r>
              <a:rPr lang="ja-JP" altLang="en-US" sz="1800" dirty="0"/>
              <a:t>）</a:t>
            </a:r>
            <a:r>
              <a:rPr lang="ja-JP" altLang="en-US" sz="2400" dirty="0"/>
              <a:t>指数と工程性能</a:t>
            </a:r>
            <a:r>
              <a:rPr lang="ja-JP" altLang="en-US" sz="1800" dirty="0"/>
              <a:t>（</a:t>
            </a:r>
            <a:r>
              <a:rPr lang="en-US" altLang="ja-JP" sz="1800" dirty="0"/>
              <a:t>performance index</a:t>
            </a:r>
            <a:r>
              <a:rPr lang="ja-JP" altLang="en-US" sz="1800" dirty="0"/>
              <a:t>）</a:t>
            </a:r>
            <a:r>
              <a:rPr lang="ja-JP" altLang="en-US" sz="2400" dirty="0"/>
              <a:t>指数</a:t>
            </a: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indent="-457200">
              <a:lnSpc>
                <a:spcPct val="100000"/>
              </a:lnSpc>
              <a:buFont typeface="+mj-lt"/>
              <a:buAutoNum type="arabicPeriod" startAt="2"/>
            </a:pPr>
            <a:endParaRPr lang="en-US" altLang="ja-JP" sz="2400" dirty="0"/>
          </a:p>
          <a:p>
            <a:pPr marL="457200" lvl="1" indent="0">
              <a:lnSpc>
                <a:spcPct val="100000"/>
              </a:lnSpc>
              <a:buNone/>
            </a:pPr>
            <a:r>
              <a:rPr lang="en-US" altLang="ja-JP" sz="1800" dirty="0"/>
              <a:t>※</a:t>
            </a:r>
            <a:r>
              <a:rPr lang="ja-JP" altLang="en-US" sz="1800" dirty="0"/>
              <a:t>ｋ＝規格幅の中心とデータ分布の中心の偏り（日本語の“かたより”のｋ）</a:t>
            </a:r>
            <a:endParaRPr lang="en-US" altLang="ja-JP" sz="18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529</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graphicFrame>
        <p:nvGraphicFramePr>
          <p:cNvPr id="2" name="表 1">
            <a:extLst>
              <a:ext uri="{FF2B5EF4-FFF2-40B4-BE49-F238E27FC236}">
                <a16:creationId xmlns:a16="http://schemas.microsoft.com/office/drawing/2014/main" id="{803EE21D-DEBF-4882-B71E-B268A9D7488A}"/>
              </a:ext>
            </a:extLst>
          </p:cNvPr>
          <p:cNvGraphicFramePr>
            <a:graphicFrameLocks noGrp="1"/>
          </p:cNvGraphicFramePr>
          <p:nvPr>
            <p:extLst>
              <p:ext uri="{D42A27DB-BD31-4B8C-83A1-F6EECF244321}">
                <p14:modId xmlns:p14="http://schemas.microsoft.com/office/powerpoint/2010/main" val="1377435246"/>
              </p:ext>
            </p:extLst>
          </p:nvPr>
        </p:nvGraphicFramePr>
        <p:xfrm>
          <a:off x="838200" y="1945641"/>
          <a:ext cx="10515600" cy="3802475"/>
        </p:xfrm>
        <a:graphic>
          <a:graphicData uri="http://schemas.openxmlformats.org/drawingml/2006/table">
            <a:tbl>
              <a:tblPr firstRow="1" bandRow="1">
                <a:tableStyleId>{5940675A-B579-460E-94D1-54222C63F5DA}</a:tableStyleId>
              </a:tblPr>
              <a:tblGrid>
                <a:gridCol w="4108373">
                  <a:extLst>
                    <a:ext uri="{9D8B030D-6E8A-4147-A177-3AD203B41FA5}">
                      <a16:colId xmlns:a16="http://schemas.microsoft.com/office/drawing/2014/main" val="62461417"/>
                    </a:ext>
                  </a:extLst>
                </a:gridCol>
                <a:gridCol w="3205909">
                  <a:extLst>
                    <a:ext uri="{9D8B030D-6E8A-4147-A177-3AD203B41FA5}">
                      <a16:colId xmlns:a16="http://schemas.microsoft.com/office/drawing/2014/main" val="2111741776"/>
                    </a:ext>
                  </a:extLst>
                </a:gridCol>
                <a:gridCol w="3201318">
                  <a:extLst>
                    <a:ext uri="{9D8B030D-6E8A-4147-A177-3AD203B41FA5}">
                      <a16:colId xmlns:a16="http://schemas.microsoft.com/office/drawing/2014/main" val="2476677922"/>
                    </a:ext>
                  </a:extLst>
                </a:gridCol>
              </a:tblGrid>
              <a:tr h="521403">
                <a:tc rowSpan="2">
                  <a:txBody>
                    <a:bodyPr/>
                    <a:lstStyle/>
                    <a:p>
                      <a:endParaRPr kumimoji="1" lang="ja-JP" altLang="en-US" sz="2000" dirty="0"/>
                    </a:p>
                  </a:txBody>
                  <a:tcPr>
                    <a:lnTlToBr w="12700" cap="flat" cmpd="sng" algn="ctr">
                      <a:solidFill>
                        <a:schemeClr val="tx1"/>
                      </a:solidFill>
                      <a:prstDash val="solid"/>
                      <a:round/>
                      <a:headEnd type="none" w="med" len="med"/>
                      <a:tailEnd type="none" w="med" len="med"/>
                    </a:lnTlToBr>
                    <a:solidFill>
                      <a:schemeClr val="tx2">
                        <a:lumMod val="20000"/>
                        <a:lumOff val="80000"/>
                      </a:schemeClr>
                    </a:solidFill>
                  </a:tcPr>
                </a:tc>
                <a:tc gridSpan="2">
                  <a:txBody>
                    <a:bodyPr/>
                    <a:lstStyle/>
                    <a:p>
                      <a:pPr algn="ctr"/>
                      <a:r>
                        <a:rPr kumimoji="1" lang="ja-JP" altLang="en-US" sz="2000" dirty="0"/>
                        <a:t>規格に対する工程能力の指数</a:t>
                      </a:r>
                    </a:p>
                  </a:txBody>
                  <a:tcPr anchor="ctr" anchorCtr="1">
                    <a:solidFill>
                      <a:schemeClr val="tx2">
                        <a:lumMod val="20000"/>
                        <a:lumOff val="80000"/>
                      </a:schemeClr>
                    </a:solidFill>
                  </a:tcPr>
                </a:tc>
                <a:tc hMerge="1">
                  <a:txBody>
                    <a:bodyPr/>
                    <a:lstStyle/>
                    <a:p>
                      <a:endParaRPr kumimoji="1" lang="ja-JP" altLang="en-US" sz="2000" dirty="0"/>
                    </a:p>
                  </a:txBody>
                  <a:tcPr/>
                </a:tc>
                <a:extLst>
                  <a:ext uri="{0D108BD9-81ED-4DB2-BD59-A6C34878D82A}">
                    <a16:rowId xmlns:a16="http://schemas.microsoft.com/office/drawing/2014/main" val="1615375635"/>
                  </a:ext>
                </a:extLst>
              </a:tr>
              <a:tr h="671708">
                <a:tc vMerge="1">
                  <a:txBody>
                    <a:bodyPr/>
                    <a:lstStyle/>
                    <a:p>
                      <a:endParaRPr kumimoji="1" lang="ja-JP" altLang="en-US" sz="2000" dirty="0"/>
                    </a:p>
                  </a:txBody>
                  <a:tcPr/>
                </a:tc>
                <a:tc>
                  <a:txBody>
                    <a:bodyPr/>
                    <a:lstStyle/>
                    <a:p>
                      <a:pPr algn="ctr"/>
                      <a:r>
                        <a:rPr kumimoji="1" lang="ja-JP" altLang="en-US" sz="2000" dirty="0"/>
                        <a:t>製品特性の</a:t>
                      </a:r>
                      <a:r>
                        <a:rPr kumimoji="1" lang="ja-JP" altLang="en-US" sz="2000" dirty="0">
                          <a:solidFill>
                            <a:srgbClr val="FF0000"/>
                          </a:solidFill>
                          <a:effectLst>
                            <a:outerShdw blurRad="38100" dist="38100" dir="2700000" algn="tl">
                              <a:srgbClr val="000000">
                                <a:alpha val="43137"/>
                              </a:srgbClr>
                            </a:outerShdw>
                          </a:effectLst>
                        </a:rPr>
                        <a:t>中心値のズレを考慮しない</a:t>
                      </a:r>
                      <a:r>
                        <a:rPr kumimoji="1" lang="ja-JP" altLang="en-US" sz="2000" dirty="0"/>
                        <a:t>場合</a:t>
                      </a:r>
                    </a:p>
                  </a:txBody>
                  <a:tcPr anchor="ctr" anchorCtr="1">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t>製品特性の</a:t>
                      </a:r>
                      <a:r>
                        <a:rPr kumimoji="1" lang="ja-JP" altLang="en-US" sz="2000" dirty="0">
                          <a:solidFill>
                            <a:srgbClr val="FF0000"/>
                          </a:solidFill>
                          <a:effectLst>
                            <a:outerShdw blurRad="38100" dist="38100" dir="2700000" algn="tl">
                              <a:srgbClr val="000000">
                                <a:alpha val="43137"/>
                              </a:srgbClr>
                            </a:outerShdw>
                          </a:effectLst>
                        </a:rPr>
                        <a:t>中心値のズレを考慮した</a:t>
                      </a:r>
                      <a:r>
                        <a:rPr kumimoji="1" lang="ja-JP" altLang="en-US" sz="2000" dirty="0"/>
                        <a:t>場合</a:t>
                      </a:r>
                    </a:p>
                  </a:txBody>
                  <a:tcPr anchor="ctr" anchorCtr="1">
                    <a:solidFill>
                      <a:schemeClr val="tx2">
                        <a:lumMod val="20000"/>
                        <a:lumOff val="80000"/>
                      </a:schemeClr>
                    </a:solidFill>
                  </a:tcPr>
                </a:tc>
                <a:extLst>
                  <a:ext uri="{0D108BD9-81ED-4DB2-BD59-A6C34878D82A}">
                    <a16:rowId xmlns:a16="http://schemas.microsoft.com/office/drawing/2014/main" val="2621966645"/>
                  </a:ext>
                </a:extLst>
              </a:tr>
              <a:tr h="1238912">
                <a:tc>
                  <a:txBody>
                    <a:bodyPr/>
                    <a:lstStyle/>
                    <a:p>
                      <a:r>
                        <a:rPr kumimoji="1" lang="ja-JP" altLang="en-US" sz="2200" b="1" dirty="0"/>
                        <a:t>工程能力指数</a:t>
                      </a:r>
                      <a:endParaRPr kumimoji="1" lang="en-US" altLang="ja-JP" sz="2200" b="1" dirty="0"/>
                    </a:p>
                    <a:p>
                      <a:r>
                        <a:rPr kumimoji="1" lang="ja-JP" altLang="en-US" sz="2000" dirty="0">
                          <a:solidFill>
                            <a:srgbClr val="FF0000"/>
                          </a:solidFill>
                          <a:effectLst>
                            <a:outerShdw blurRad="38100" dist="38100" dir="2700000" algn="tl">
                              <a:srgbClr val="000000">
                                <a:alpha val="43137"/>
                              </a:srgbClr>
                            </a:outerShdw>
                          </a:effectLst>
                        </a:rPr>
                        <a:t>安定状態にある工程</a:t>
                      </a:r>
                      <a:r>
                        <a:rPr kumimoji="1" lang="ja-JP" altLang="en-US" sz="2000" dirty="0"/>
                        <a:t>のアウトプット（製品）が規格を満足する能力</a:t>
                      </a:r>
                    </a:p>
                  </a:txBody>
                  <a:tcPr/>
                </a:tc>
                <a:tc>
                  <a:txBody>
                    <a:bodyPr/>
                    <a:lstStyle/>
                    <a:p>
                      <a:r>
                        <a:rPr kumimoji="1" lang="ja-JP" altLang="en-US" sz="2800" dirty="0"/>
                        <a:t>Ｃ</a:t>
                      </a:r>
                      <a:r>
                        <a:rPr kumimoji="1" lang="en-US" altLang="ja-JP" sz="2000" dirty="0"/>
                        <a:t>p</a:t>
                      </a:r>
                      <a:endParaRPr kumimoji="1" lang="ja-JP" altLang="en-US" sz="2000" dirty="0"/>
                    </a:p>
                  </a:txBody>
                  <a:tcPr anchor="ctr" anchorCtr="1"/>
                </a:tc>
                <a:tc>
                  <a:txBody>
                    <a:bodyPr/>
                    <a:lstStyle/>
                    <a:p>
                      <a:r>
                        <a:rPr kumimoji="1" lang="ja-JP" altLang="en-US" sz="2800" dirty="0"/>
                        <a:t>Ｃ</a:t>
                      </a:r>
                      <a:r>
                        <a:rPr kumimoji="1" lang="en-US" altLang="ja-JP" sz="2000" dirty="0"/>
                        <a:t>pk</a:t>
                      </a:r>
                      <a:endParaRPr kumimoji="1" lang="ja-JP" altLang="en-US" sz="2000" dirty="0"/>
                    </a:p>
                  </a:txBody>
                  <a:tcPr anchor="ctr" anchorCtr="1"/>
                </a:tc>
                <a:extLst>
                  <a:ext uri="{0D108BD9-81ED-4DB2-BD59-A6C34878D82A}">
                    <a16:rowId xmlns:a16="http://schemas.microsoft.com/office/drawing/2014/main" val="2380984277"/>
                  </a:ext>
                </a:extLst>
              </a:tr>
              <a:tr h="1285006">
                <a:tc>
                  <a:txBody>
                    <a:bodyPr/>
                    <a:lstStyle/>
                    <a:p>
                      <a:r>
                        <a:rPr kumimoji="1" lang="ja-JP" altLang="en-US" sz="2200" b="1" dirty="0"/>
                        <a:t>工程性能指数</a:t>
                      </a:r>
                      <a:endParaRPr kumimoji="1" lang="en-US" altLang="ja-JP" sz="2200" b="1" dirty="0"/>
                    </a:p>
                    <a:p>
                      <a:r>
                        <a:rPr kumimoji="1" lang="ja-JP" altLang="en-US" sz="2000" dirty="0">
                          <a:solidFill>
                            <a:srgbClr val="FF0000"/>
                          </a:solidFill>
                          <a:effectLst>
                            <a:outerShdw blurRad="38100" dist="38100" dir="2700000" algn="tl">
                              <a:srgbClr val="000000">
                                <a:alpha val="43137"/>
                              </a:srgbClr>
                            </a:outerShdw>
                          </a:effectLst>
                        </a:rPr>
                        <a:t>安定しているかどうかわからない工程</a:t>
                      </a:r>
                      <a:r>
                        <a:rPr kumimoji="1" lang="ja-JP" altLang="en-US" sz="2000" dirty="0"/>
                        <a:t>のアウトプット（製品）が規格を満足する能力</a:t>
                      </a:r>
                    </a:p>
                  </a:txBody>
                  <a:tcPr/>
                </a:tc>
                <a:tc>
                  <a:txBody>
                    <a:bodyPr/>
                    <a:lstStyle/>
                    <a:p>
                      <a:r>
                        <a:rPr kumimoji="1" lang="ja-JP" altLang="en-US" sz="2800" dirty="0"/>
                        <a:t>Ｐ</a:t>
                      </a:r>
                      <a:r>
                        <a:rPr kumimoji="1" lang="en-US" altLang="ja-JP" sz="2000" dirty="0"/>
                        <a:t>p</a:t>
                      </a:r>
                      <a:endParaRPr kumimoji="1" lang="ja-JP" altLang="en-US" sz="2000" dirty="0"/>
                    </a:p>
                  </a:txBody>
                  <a:tcPr anchor="ctr" anchorCtr="1"/>
                </a:tc>
                <a:tc>
                  <a:txBody>
                    <a:bodyPr/>
                    <a:lstStyle/>
                    <a:p>
                      <a:r>
                        <a:rPr kumimoji="1" lang="ja-JP" altLang="en-US" sz="2800" dirty="0"/>
                        <a:t>Ｐ</a:t>
                      </a:r>
                      <a:r>
                        <a:rPr kumimoji="1" lang="en-US" altLang="ja-JP" sz="2000" dirty="0"/>
                        <a:t>pk</a:t>
                      </a:r>
                      <a:endParaRPr kumimoji="1" lang="ja-JP" altLang="en-US" sz="2000" dirty="0"/>
                    </a:p>
                  </a:txBody>
                  <a:tcPr anchor="ctr" anchorCtr="1"/>
                </a:tc>
                <a:extLst>
                  <a:ext uri="{0D108BD9-81ED-4DB2-BD59-A6C34878D82A}">
                    <a16:rowId xmlns:a16="http://schemas.microsoft.com/office/drawing/2014/main" val="1159755195"/>
                  </a:ext>
                </a:extLst>
              </a:tr>
            </a:tbl>
          </a:graphicData>
        </a:graphic>
      </p:graphicFrame>
    </p:spTree>
    <p:extLst>
      <p:ext uri="{BB962C8B-B14F-4D97-AF65-F5344CB8AC3E}">
        <p14:creationId xmlns:p14="http://schemas.microsoft.com/office/powerpoint/2010/main" val="4124053552"/>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工程能力指数の算出</a:t>
            </a: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457200" indent="-457200">
              <a:lnSpc>
                <a:spcPct val="100000"/>
              </a:lnSpc>
              <a:buFont typeface="+mj-lt"/>
              <a:buAutoNum type="arabicPeriod" startAt="3"/>
            </a:pPr>
            <a:endParaRPr lang="en-US" altLang="ja-JP" sz="2400" dirty="0"/>
          </a:p>
          <a:p>
            <a:pPr marL="0" indent="0">
              <a:lnSpc>
                <a:spcPct val="100000"/>
              </a:lnSpc>
              <a:buNone/>
            </a:pPr>
            <a:r>
              <a:rPr lang="en-US" altLang="ja-JP" sz="2000" dirty="0"/>
              <a:t>※</a:t>
            </a:r>
            <a:r>
              <a:rPr lang="ja-JP" altLang="en-US" sz="2000" dirty="0" err="1"/>
              <a:t>ｄ</a:t>
            </a:r>
            <a:r>
              <a:rPr lang="en-US" altLang="ja-JP" sz="1200" dirty="0"/>
              <a:t>2</a:t>
            </a:r>
            <a:r>
              <a:rPr lang="ja-JP" altLang="en-US" sz="2000" dirty="0"/>
              <a:t>は定数（巻末参照）</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530</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pic>
        <p:nvPicPr>
          <p:cNvPr id="11" name="図 10">
            <a:extLst>
              <a:ext uri="{FF2B5EF4-FFF2-40B4-BE49-F238E27FC236}">
                <a16:creationId xmlns:a16="http://schemas.microsoft.com/office/drawing/2014/main" id="{E2C73F64-D281-46FC-88D7-C644A2DF1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754" y="3669128"/>
            <a:ext cx="7810958" cy="1311007"/>
          </a:xfrm>
          <a:prstGeom prst="rect">
            <a:avLst/>
          </a:prstGeom>
          <a:noFill/>
          <a:extLst>
            <a:ext uri="{909E8E84-426E-40DD-AFC4-6F175D3DCCD1}">
              <a14:hiddenFill xmlns:a14="http://schemas.microsoft.com/office/drawing/2010/main">
                <a:solidFill>
                  <a:srgbClr val="FFFFFF"/>
                </a:solidFill>
              </a14:hiddenFill>
            </a:ext>
          </a:extLst>
        </p:spPr>
      </p:pic>
      <p:pic>
        <p:nvPicPr>
          <p:cNvPr id="8" name="図 7">
            <a:extLst>
              <a:ext uri="{FF2B5EF4-FFF2-40B4-BE49-F238E27FC236}">
                <a16:creationId xmlns:a16="http://schemas.microsoft.com/office/drawing/2014/main" id="{B0F365CF-4D4A-4ABD-A160-60D25B067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5754" y="2081065"/>
            <a:ext cx="9919325" cy="1107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380281"/>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4"/>
            </a:pPr>
            <a:r>
              <a:rPr lang="ja-JP" altLang="en-US" sz="2400" dirty="0"/>
              <a:t>工程性能指数の算出</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531</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pic>
        <p:nvPicPr>
          <p:cNvPr id="12" name="図 11">
            <a:extLst>
              <a:ext uri="{FF2B5EF4-FFF2-40B4-BE49-F238E27FC236}">
                <a16:creationId xmlns:a16="http://schemas.microsoft.com/office/drawing/2014/main" id="{C2754D20-A06A-4924-A5A7-52A694542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816" y="3801333"/>
            <a:ext cx="6739531" cy="1189821"/>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FD617AF9-20A8-443E-A28D-7B30D23CF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816" y="2049137"/>
            <a:ext cx="9548832" cy="1288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042711"/>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工程能力の算出と評価</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532</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graphicFrame>
        <p:nvGraphicFramePr>
          <p:cNvPr id="2" name="表 1">
            <a:extLst>
              <a:ext uri="{FF2B5EF4-FFF2-40B4-BE49-F238E27FC236}">
                <a16:creationId xmlns:a16="http://schemas.microsoft.com/office/drawing/2014/main" id="{043CAA9D-5AE2-4896-ACDA-117F7244F183}"/>
              </a:ext>
            </a:extLst>
          </p:cNvPr>
          <p:cNvGraphicFramePr>
            <a:graphicFrameLocks noGrp="1"/>
          </p:cNvGraphicFramePr>
          <p:nvPr>
            <p:extLst>
              <p:ext uri="{D42A27DB-BD31-4B8C-83A1-F6EECF244321}">
                <p14:modId xmlns:p14="http://schemas.microsoft.com/office/powerpoint/2010/main" val="1941885313"/>
              </p:ext>
            </p:extLst>
          </p:nvPr>
        </p:nvGraphicFramePr>
        <p:xfrm>
          <a:off x="838200" y="1920504"/>
          <a:ext cx="10515600" cy="4435846"/>
        </p:xfrm>
        <a:graphic>
          <a:graphicData uri="http://schemas.openxmlformats.org/drawingml/2006/table">
            <a:tbl>
              <a:tblPr firstRow="1" bandRow="1">
                <a:tableStyleId>{5940675A-B579-460E-94D1-54222C63F5DA}</a:tableStyleId>
              </a:tblPr>
              <a:tblGrid>
                <a:gridCol w="1585511">
                  <a:extLst>
                    <a:ext uri="{9D8B030D-6E8A-4147-A177-3AD203B41FA5}">
                      <a16:colId xmlns:a16="http://schemas.microsoft.com/office/drawing/2014/main" val="1605111436"/>
                    </a:ext>
                  </a:extLst>
                </a:gridCol>
                <a:gridCol w="2060154">
                  <a:extLst>
                    <a:ext uri="{9D8B030D-6E8A-4147-A177-3AD203B41FA5}">
                      <a16:colId xmlns:a16="http://schemas.microsoft.com/office/drawing/2014/main" val="3921605885"/>
                    </a:ext>
                  </a:extLst>
                </a:gridCol>
                <a:gridCol w="6869935">
                  <a:extLst>
                    <a:ext uri="{9D8B030D-6E8A-4147-A177-3AD203B41FA5}">
                      <a16:colId xmlns:a16="http://schemas.microsoft.com/office/drawing/2014/main" val="4293748813"/>
                    </a:ext>
                  </a:extLst>
                </a:gridCol>
              </a:tblGrid>
              <a:tr h="427155">
                <a:tc>
                  <a:txBody>
                    <a:bodyPr/>
                    <a:lstStyle/>
                    <a:p>
                      <a:pPr algn="ctr"/>
                      <a:r>
                        <a:rPr kumimoji="1" lang="ja-JP" altLang="en-US" sz="2000" dirty="0"/>
                        <a:t>ステップ</a:t>
                      </a:r>
                    </a:p>
                  </a:txBody>
                  <a:tcPr>
                    <a:solidFill>
                      <a:schemeClr val="tx2">
                        <a:lumMod val="20000"/>
                        <a:lumOff val="80000"/>
                      </a:schemeClr>
                    </a:solidFill>
                  </a:tcPr>
                </a:tc>
                <a:tc>
                  <a:txBody>
                    <a:bodyPr/>
                    <a:lstStyle/>
                    <a:p>
                      <a:pPr algn="ctr"/>
                      <a:r>
                        <a:rPr kumimoji="1" lang="ja-JP" altLang="en-US" sz="2000" dirty="0"/>
                        <a:t>実施項目</a:t>
                      </a:r>
                    </a:p>
                  </a:txBody>
                  <a:tcPr>
                    <a:solidFill>
                      <a:schemeClr val="tx2">
                        <a:lumMod val="20000"/>
                        <a:lumOff val="80000"/>
                      </a:schemeClr>
                    </a:solidFill>
                  </a:tcPr>
                </a:tc>
                <a:tc>
                  <a:txBody>
                    <a:bodyPr/>
                    <a:lstStyle/>
                    <a:p>
                      <a:pPr algn="ctr"/>
                      <a:r>
                        <a:rPr kumimoji="1" lang="ja-JP" altLang="en-US" sz="2000" dirty="0"/>
                        <a:t>内容</a:t>
                      </a:r>
                    </a:p>
                  </a:txBody>
                  <a:tcPr>
                    <a:solidFill>
                      <a:schemeClr val="tx2">
                        <a:lumMod val="20000"/>
                        <a:lumOff val="80000"/>
                      </a:schemeClr>
                    </a:solidFill>
                  </a:tcPr>
                </a:tc>
                <a:extLst>
                  <a:ext uri="{0D108BD9-81ED-4DB2-BD59-A6C34878D82A}">
                    <a16:rowId xmlns:a16="http://schemas.microsoft.com/office/drawing/2014/main" val="4004616910"/>
                  </a:ext>
                </a:extLst>
              </a:tr>
              <a:tr h="1412899">
                <a:tc>
                  <a:txBody>
                    <a:bodyPr/>
                    <a:lstStyle/>
                    <a:p>
                      <a:r>
                        <a:rPr kumimoji="1" lang="ja-JP" altLang="en-US" sz="2000" b="1" dirty="0"/>
                        <a:t>準備</a:t>
                      </a:r>
                      <a:endParaRPr kumimoji="1" lang="en-US" altLang="ja-JP" sz="2000" b="1" dirty="0"/>
                    </a:p>
                    <a:p>
                      <a:r>
                        <a:rPr kumimoji="1" lang="ja-JP" altLang="en-US" sz="2000" dirty="0"/>
                        <a:t>ステップ１</a:t>
                      </a:r>
                    </a:p>
                  </a:txBody>
                  <a:tcPr/>
                </a:tc>
                <a:tc>
                  <a:txBody>
                    <a:bodyPr/>
                    <a:lstStyle/>
                    <a:p>
                      <a:r>
                        <a:rPr kumimoji="1" lang="ja-JP" altLang="en-US" sz="2000" dirty="0"/>
                        <a:t>サンプルの準備</a:t>
                      </a:r>
                    </a:p>
                  </a:txBody>
                  <a:tcPr/>
                </a:tc>
                <a:tc>
                  <a:txBody>
                    <a:bodyPr/>
                    <a:lstStyle/>
                    <a:p>
                      <a:pPr marL="457200" indent="-457200">
                        <a:buFont typeface="+mj-ea"/>
                        <a:buAutoNum type="circleNumDbPlain"/>
                      </a:pPr>
                      <a:r>
                        <a:rPr kumimoji="1" lang="ja-JP" altLang="en-US" sz="2000" dirty="0"/>
                        <a:t>サンプリング計画を作成する。</a:t>
                      </a:r>
                      <a:endParaRPr kumimoji="1" lang="en-US" altLang="ja-JP" sz="2000" dirty="0"/>
                    </a:p>
                    <a:p>
                      <a:pPr marL="457200" indent="-457200">
                        <a:buFont typeface="+mj-ea"/>
                        <a:buAutoNum type="circleNumDbPlain"/>
                      </a:pPr>
                      <a:r>
                        <a:rPr kumimoji="1" lang="ja-JP" altLang="en-US" sz="2000" dirty="0"/>
                        <a:t>工程から製品サンプルを選ぶ。</a:t>
                      </a:r>
                      <a:endParaRPr kumimoji="1" lang="en-US" altLang="ja-JP" sz="2000" dirty="0"/>
                    </a:p>
                    <a:p>
                      <a:pPr marL="457200" indent="-457200">
                        <a:buFont typeface="+mj-ea"/>
                        <a:buAutoNum type="circleNumDbPlain"/>
                      </a:pPr>
                      <a:r>
                        <a:rPr kumimoji="1" lang="ja-JP" altLang="en-US" sz="2000" dirty="0"/>
                        <a:t>サブグループ内サンプル数</a:t>
                      </a:r>
                      <a:r>
                        <a:rPr kumimoji="1" lang="en-US" altLang="ja-JP" sz="2000" dirty="0"/>
                        <a:t>n</a:t>
                      </a:r>
                      <a:r>
                        <a:rPr kumimoji="1" lang="ja-JP" altLang="en-US" sz="2000" dirty="0"/>
                        <a:t>≧</a:t>
                      </a:r>
                      <a:r>
                        <a:rPr kumimoji="1" lang="en-US" altLang="ja-JP" sz="2000" dirty="0"/>
                        <a:t>4</a:t>
                      </a:r>
                      <a:r>
                        <a:rPr kumimoji="1" lang="ja-JP" altLang="en-US" sz="2000" dirty="0" err="1"/>
                        <a:t>、</a:t>
                      </a:r>
                      <a:r>
                        <a:rPr kumimoji="1" lang="ja-JP" altLang="en-US" sz="2000" dirty="0"/>
                        <a:t>サブグループ数</a:t>
                      </a:r>
                      <a:r>
                        <a:rPr kumimoji="1" lang="en-US" altLang="ja-JP" sz="2000" dirty="0"/>
                        <a:t>k</a:t>
                      </a:r>
                      <a:r>
                        <a:rPr kumimoji="1" lang="ja-JP" altLang="en-US" sz="2000" dirty="0"/>
                        <a:t>≧</a:t>
                      </a:r>
                      <a:r>
                        <a:rPr kumimoji="1" lang="en-US" altLang="ja-JP" sz="2000" dirty="0"/>
                        <a:t>25</a:t>
                      </a:r>
                      <a:r>
                        <a:rPr kumimoji="1" lang="ja-JP" altLang="en-US" sz="2000" dirty="0" err="1"/>
                        <a:t>、</a:t>
                      </a:r>
                      <a:r>
                        <a:rPr kumimoji="1" lang="ja-JP" altLang="en-US" sz="2000" dirty="0"/>
                        <a:t>総サンプル数≧</a:t>
                      </a:r>
                      <a:r>
                        <a:rPr kumimoji="1" lang="en-US" altLang="ja-JP" sz="2000" dirty="0"/>
                        <a:t>100</a:t>
                      </a:r>
                      <a:r>
                        <a:rPr kumimoji="1" lang="ja-JP" altLang="en-US" sz="2000" dirty="0"/>
                        <a:t>とする。</a:t>
                      </a:r>
                    </a:p>
                  </a:txBody>
                  <a:tcPr/>
                </a:tc>
                <a:extLst>
                  <a:ext uri="{0D108BD9-81ED-4DB2-BD59-A6C34878D82A}">
                    <a16:rowId xmlns:a16="http://schemas.microsoft.com/office/drawing/2014/main" val="3648334512"/>
                  </a:ext>
                </a:extLst>
              </a:tr>
              <a:tr h="755737">
                <a:tc>
                  <a:txBody>
                    <a:bodyPr/>
                    <a:lstStyle/>
                    <a:p>
                      <a:r>
                        <a:rPr kumimoji="1" lang="ja-JP" altLang="en-US" sz="2000" b="1" dirty="0"/>
                        <a:t>管理図作成</a:t>
                      </a:r>
                      <a:endParaRPr kumimoji="1" lang="en-US" altLang="ja-JP" sz="2000" b="1" dirty="0"/>
                    </a:p>
                    <a:p>
                      <a:r>
                        <a:rPr kumimoji="1" lang="ja-JP" altLang="en-US" sz="2000" dirty="0"/>
                        <a:t>ステップ２</a:t>
                      </a:r>
                    </a:p>
                  </a:txBody>
                  <a:tcPr/>
                </a:tc>
                <a:tc>
                  <a:txBody>
                    <a:bodyPr/>
                    <a:lstStyle/>
                    <a:p>
                      <a:r>
                        <a:rPr kumimoji="1" lang="ja-JP" altLang="en-US" sz="2000" dirty="0"/>
                        <a:t>Ｘ－Ｒ管理図の作成</a:t>
                      </a:r>
                    </a:p>
                  </a:txBody>
                  <a:tcPr/>
                </a:tc>
                <a:tc>
                  <a:txBody>
                    <a:bodyPr/>
                    <a:lstStyle/>
                    <a:p>
                      <a:pPr marL="457200" indent="-457200">
                        <a:buFont typeface="+mj-ea"/>
                        <a:buAutoNum type="circleNumDbPlain"/>
                      </a:pPr>
                      <a:r>
                        <a:rPr kumimoji="1" lang="ja-JP" altLang="en-US" sz="2000" dirty="0"/>
                        <a:t>ヒストグラム及びＸ－Ｒ管理図を作成する。</a:t>
                      </a:r>
                    </a:p>
                  </a:txBody>
                  <a:tcPr/>
                </a:tc>
                <a:extLst>
                  <a:ext uri="{0D108BD9-81ED-4DB2-BD59-A6C34878D82A}">
                    <a16:rowId xmlns:a16="http://schemas.microsoft.com/office/drawing/2014/main" val="3836504130"/>
                  </a:ext>
                </a:extLst>
              </a:tr>
              <a:tr h="1084318">
                <a:tc rowSpan="2">
                  <a:txBody>
                    <a:bodyPr/>
                    <a:lstStyle/>
                    <a:p>
                      <a:r>
                        <a:rPr kumimoji="1" lang="ja-JP" altLang="en-US" sz="2000" dirty="0"/>
                        <a:t>ステップ３</a:t>
                      </a:r>
                    </a:p>
                  </a:txBody>
                  <a:tcPr/>
                </a:tc>
                <a:tc>
                  <a:txBody>
                    <a:bodyPr/>
                    <a:lstStyle/>
                    <a:p>
                      <a:r>
                        <a:rPr kumimoji="1" lang="ja-JP" altLang="en-US" sz="2000" dirty="0"/>
                        <a:t>Ｘ－Ｒ管理図の評価</a:t>
                      </a:r>
                    </a:p>
                  </a:txBody>
                  <a:tcPr/>
                </a:tc>
                <a:tc>
                  <a:txBody>
                    <a:bodyPr/>
                    <a:lstStyle/>
                    <a:p>
                      <a:pPr marL="457200" indent="-457200">
                        <a:buFont typeface="+mj-ea"/>
                        <a:buAutoNum type="circleNumDbPlain"/>
                      </a:pPr>
                      <a:r>
                        <a:rPr kumimoji="1" lang="ja-JP" altLang="en-US" sz="2000" dirty="0"/>
                        <a:t>ヒストグラムが正規分布を示すことを確認する。</a:t>
                      </a:r>
                      <a:endParaRPr kumimoji="1" lang="en-US" altLang="ja-JP" sz="2000" dirty="0"/>
                    </a:p>
                    <a:p>
                      <a:pPr marL="457200" indent="-457200">
                        <a:buFont typeface="+mj-ea"/>
                        <a:buAutoNum type="circleNumDbPlain"/>
                      </a:pPr>
                      <a:r>
                        <a:rPr kumimoji="1" lang="ja-JP" altLang="en-US" sz="2000" dirty="0"/>
                        <a:t>Ｘ－Ｒ管理図から工程が安定すなわち統計的管理状態にあることを確認する。</a:t>
                      </a:r>
                    </a:p>
                  </a:txBody>
                  <a:tcPr/>
                </a:tc>
                <a:extLst>
                  <a:ext uri="{0D108BD9-81ED-4DB2-BD59-A6C34878D82A}">
                    <a16:rowId xmlns:a16="http://schemas.microsoft.com/office/drawing/2014/main" val="1809416833"/>
                  </a:ext>
                </a:extLst>
              </a:tr>
              <a:tr h="755737">
                <a:tc vMerge="1">
                  <a:txBody>
                    <a:bodyPr/>
                    <a:lstStyle/>
                    <a:p>
                      <a:endParaRPr kumimoji="1" lang="ja-JP" altLang="en-US" sz="2000" dirty="0"/>
                    </a:p>
                  </a:txBody>
                  <a:tcPr/>
                </a:tc>
                <a:tc>
                  <a:txBody>
                    <a:bodyPr/>
                    <a:lstStyle/>
                    <a:p>
                      <a:r>
                        <a:rPr kumimoji="1" lang="ja-JP" altLang="en-US" sz="2000" dirty="0"/>
                        <a:t>Ｘ－Ｒ管理図に対する処置</a:t>
                      </a:r>
                    </a:p>
                  </a:txBody>
                  <a:tcPr/>
                </a:tc>
                <a:tc>
                  <a:txBody>
                    <a:bodyPr/>
                    <a:lstStyle/>
                    <a:p>
                      <a:pPr marL="457200" indent="-457200">
                        <a:buFont typeface="+mj-ea"/>
                        <a:buAutoNum type="circleNumDbPlain"/>
                      </a:pPr>
                      <a:r>
                        <a:rPr kumimoji="1" lang="ja-JP" altLang="en-US" sz="2000" dirty="0"/>
                        <a:t>ヒストグラム又はＸ－Ｒ管理図に異常が存在する場合は、その原因を究明して、処置を行う。</a:t>
                      </a:r>
                      <a:endParaRPr kumimoji="1" lang="en-US" altLang="ja-JP" sz="2000" dirty="0"/>
                    </a:p>
                  </a:txBody>
                  <a:tcPr/>
                </a:tc>
                <a:extLst>
                  <a:ext uri="{0D108BD9-81ED-4DB2-BD59-A6C34878D82A}">
                    <a16:rowId xmlns:a16="http://schemas.microsoft.com/office/drawing/2014/main" val="165506875"/>
                  </a:ext>
                </a:extLst>
              </a:tr>
            </a:tbl>
          </a:graphicData>
        </a:graphic>
      </p:graphicFrame>
      <p:cxnSp>
        <p:nvCxnSpPr>
          <p:cNvPr id="9" name="直線コネクタ 8">
            <a:extLst>
              <a:ext uri="{FF2B5EF4-FFF2-40B4-BE49-F238E27FC236}">
                <a16:creationId xmlns:a16="http://schemas.microsoft.com/office/drawing/2014/main" id="{13CADD3A-3C7F-4B50-BF1D-D5EE708F2A18}"/>
              </a:ext>
            </a:extLst>
          </p:cNvPr>
          <p:cNvCxnSpPr>
            <a:cxnSpLocks/>
          </p:cNvCxnSpPr>
          <p:nvPr/>
        </p:nvCxnSpPr>
        <p:spPr>
          <a:xfrm>
            <a:off x="7103095" y="5634660"/>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84F80A5-7244-429F-9549-4CC151FAC9EF}"/>
              </a:ext>
            </a:extLst>
          </p:cNvPr>
          <p:cNvCxnSpPr>
            <a:cxnSpLocks/>
          </p:cNvCxnSpPr>
          <p:nvPr/>
        </p:nvCxnSpPr>
        <p:spPr>
          <a:xfrm>
            <a:off x="5064783" y="487737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1C5FBA18-E40D-42FC-8D13-597BB2C28920}"/>
              </a:ext>
            </a:extLst>
          </p:cNvPr>
          <p:cNvCxnSpPr>
            <a:cxnSpLocks/>
          </p:cNvCxnSpPr>
          <p:nvPr/>
        </p:nvCxnSpPr>
        <p:spPr>
          <a:xfrm>
            <a:off x="7062798" y="380900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0952DABE-179F-4958-B9A1-BD48FBA4EBC1}"/>
              </a:ext>
            </a:extLst>
          </p:cNvPr>
          <p:cNvCxnSpPr>
            <a:cxnSpLocks/>
          </p:cNvCxnSpPr>
          <p:nvPr/>
        </p:nvCxnSpPr>
        <p:spPr>
          <a:xfrm>
            <a:off x="2566212" y="5634660"/>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E1CD67B-4608-4043-A676-7BEF2B11CE46}"/>
              </a:ext>
            </a:extLst>
          </p:cNvPr>
          <p:cNvCxnSpPr>
            <a:cxnSpLocks/>
          </p:cNvCxnSpPr>
          <p:nvPr/>
        </p:nvCxnSpPr>
        <p:spPr>
          <a:xfrm>
            <a:off x="2566212" y="4561575"/>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7BB81C6-5C4C-4452-B8B9-14547F7EE9B4}"/>
              </a:ext>
            </a:extLst>
          </p:cNvPr>
          <p:cNvCxnSpPr>
            <a:cxnSpLocks/>
          </p:cNvCxnSpPr>
          <p:nvPr/>
        </p:nvCxnSpPr>
        <p:spPr>
          <a:xfrm>
            <a:off x="2566212" y="380900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1711950"/>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533</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graphicFrame>
        <p:nvGraphicFramePr>
          <p:cNvPr id="2" name="表 1">
            <a:extLst>
              <a:ext uri="{FF2B5EF4-FFF2-40B4-BE49-F238E27FC236}">
                <a16:creationId xmlns:a16="http://schemas.microsoft.com/office/drawing/2014/main" id="{043CAA9D-5AE2-4896-ACDA-117F7244F183}"/>
              </a:ext>
            </a:extLst>
          </p:cNvPr>
          <p:cNvGraphicFramePr>
            <a:graphicFrameLocks noGrp="1"/>
          </p:cNvGraphicFramePr>
          <p:nvPr>
            <p:extLst>
              <p:ext uri="{D42A27DB-BD31-4B8C-83A1-F6EECF244321}">
                <p14:modId xmlns:p14="http://schemas.microsoft.com/office/powerpoint/2010/main" val="3327351935"/>
              </p:ext>
            </p:extLst>
          </p:nvPr>
        </p:nvGraphicFramePr>
        <p:xfrm>
          <a:off x="838200" y="1420662"/>
          <a:ext cx="10515600" cy="4935689"/>
        </p:xfrm>
        <a:graphic>
          <a:graphicData uri="http://schemas.openxmlformats.org/drawingml/2006/table">
            <a:tbl>
              <a:tblPr firstRow="1" bandRow="1">
                <a:tableStyleId>{5940675A-B579-460E-94D1-54222C63F5DA}</a:tableStyleId>
              </a:tblPr>
              <a:tblGrid>
                <a:gridCol w="1585511">
                  <a:extLst>
                    <a:ext uri="{9D8B030D-6E8A-4147-A177-3AD203B41FA5}">
                      <a16:colId xmlns:a16="http://schemas.microsoft.com/office/drawing/2014/main" val="1605111436"/>
                    </a:ext>
                  </a:extLst>
                </a:gridCol>
                <a:gridCol w="2060154">
                  <a:extLst>
                    <a:ext uri="{9D8B030D-6E8A-4147-A177-3AD203B41FA5}">
                      <a16:colId xmlns:a16="http://schemas.microsoft.com/office/drawing/2014/main" val="3921605885"/>
                    </a:ext>
                  </a:extLst>
                </a:gridCol>
                <a:gridCol w="6869935">
                  <a:extLst>
                    <a:ext uri="{9D8B030D-6E8A-4147-A177-3AD203B41FA5}">
                      <a16:colId xmlns:a16="http://schemas.microsoft.com/office/drawing/2014/main" val="4293748813"/>
                    </a:ext>
                  </a:extLst>
                </a:gridCol>
              </a:tblGrid>
              <a:tr h="473144">
                <a:tc>
                  <a:txBody>
                    <a:bodyPr/>
                    <a:lstStyle/>
                    <a:p>
                      <a:pPr algn="ctr"/>
                      <a:r>
                        <a:rPr kumimoji="1" lang="ja-JP" altLang="en-US" sz="2000" dirty="0"/>
                        <a:t>ステップ</a:t>
                      </a:r>
                    </a:p>
                  </a:txBody>
                  <a:tcPr>
                    <a:solidFill>
                      <a:schemeClr val="tx2">
                        <a:lumMod val="20000"/>
                        <a:lumOff val="80000"/>
                      </a:schemeClr>
                    </a:solidFill>
                  </a:tcPr>
                </a:tc>
                <a:tc>
                  <a:txBody>
                    <a:bodyPr/>
                    <a:lstStyle/>
                    <a:p>
                      <a:pPr algn="ctr"/>
                      <a:r>
                        <a:rPr kumimoji="1" lang="ja-JP" altLang="en-US" sz="2000" dirty="0"/>
                        <a:t>実施項目</a:t>
                      </a:r>
                    </a:p>
                  </a:txBody>
                  <a:tcPr>
                    <a:solidFill>
                      <a:schemeClr val="tx2">
                        <a:lumMod val="20000"/>
                        <a:lumOff val="80000"/>
                      </a:schemeClr>
                    </a:solidFill>
                  </a:tcPr>
                </a:tc>
                <a:tc>
                  <a:txBody>
                    <a:bodyPr/>
                    <a:lstStyle/>
                    <a:p>
                      <a:pPr algn="ctr"/>
                      <a:r>
                        <a:rPr kumimoji="1" lang="ja-JP" altLang="en-US" sz="2000" dirty="0"/>
                        <a:t>内容</a:t>
                      </a:r>
                    </a:p>
                  </a:txBody>
                  <a:tcPr>
                    <a:solidFill>
                      <a:schemeClr val="tx2">
                        <a:lumMod val="20000"/>
                        <a:lumOff val="80000"/>
                      </a:schemeClr>
                    </a:solidFill>
                  </a:tcPr>
                </a:tc>
                <a:extLst>
                  <a:ext uri="{0D108BD9-81ED-4DB2-BD59-A6C34878D82A}">
                    <a16:rowId xmlns:a16="http://schemas.microsoft.com/office/drawing/2014/main" val="4004616910"/>
                  </a:ext>
                </a:extLst>
              </a:tr>
              <a:tr h="1114133">
                <a:tc>
                  <a:txBody>
                    <a:bodyPr/>
                    <a:lstStyle/>
                    <a:p>
                      <a:r>
                        <a:rPr kumimoji="1" lang="ja-JP" altLang="en-US" sz="2000" b="1" dirty="0"/>
                        <a:t>工程能力算出</a:t>
                      </a:r>
                      <a:endParaRPr kumimoji="1" lang="en-US" altLang="ja-JP" sz="2000" b="1" dirty="0"/>
                    </a:p>
                    <a:p>
                      <a:r>
                        <a:rPr kumimoji="1" lang="ja-JP" altLang="en-US" sz="2000" dirty="0"/>
                        <a:t>ステップ４</a:t>
                      </a:r>
                    </a:p>
                  </a:txBody>
                  <a:tcPr/>
                </a:tc>
                <a:tc>
                  <a:txBody>
                    <a:bodyPr/>
                    <a:lstStyle/>
                    <a:p>
                      <a:r>
                        <a:rPr kumimoji="1" lang="ja-JP" altLang="en-US" sz="2000" dirty="0"/>
                        <a:t>標準偏差の算出</a:t>
                      </a:r>
                    </a:p>
                  </a:txBody>
                  <a:tcPr/>
                </a:tc>
                <a:tc>
                  <a:txBody>
                    <a:bodyPr/>
                    <a:lstStyle/>
                    <a:p>
                      <a:pPr marL="457200" indent="-457200">
                        <a:buFont typeface="+mj-ea"/>
                        <a:buAutoNum type="circleNumDbPlain"/>
                      </a:pPr>
                      <a:r>
                        <a:rPr kumimoji="1" lang="ja-JP" altLang="en-US" sz="2000" dirty="0"/>
                        <a:t>サブグループ内変動標準偏差「</a:t>
                      </a:r>
                      <a:r>
                        <a:rPr kumimoji="1" lang="en-US" altLang="ja-JP" sz="2000" dirty="0"/>
                        <a:t>σ</a:t>
                      </a:r>
                      <a:r>
                        <a:rPr kumimoji="1" lang="ja-JP" altLang="en-US" sz="2000" dirty="0"/>
                        <a:t>」及び全工程変動標準偏差「ｓ」を求める。</a:t>
                      </a:r>
                    </a:p>
                  </a:txBody>
                  <a:tcPr/>
                </a:tc>
                <a:extLst>
                  <a:ext uri="{0D108BD9-81ED-4DB2-BD59-A6C34878D82A}">
                    <a16:rowId xmlns:a16="http://schemas.microsoft.com/office/drawing/2014/main" val="3648334512"/>
                  </a:ext>
                </a:extLst>
              </a:tr>
              <a:tr h="837103">
                <a:tc rowSpan="2">
                  <a:txBody>
                    <a:bodyPr/>
                    <a:lstStyle/>
                    <a:p>
                      <a:r>
                        <a:rPr kumimoji="1" lang="ja-JP" altLang="en-US" sz="2000" dirty="0"/>
                        <a:t>ステップ５</a:t>
                      </a:r>
                    </a:p>
                  </a:txBody>
                  <a:tcPr/>
                </a:tc>
                <a:tc>
                  <a:txBody>
                    <a:bodyPr/>
                    <a:lstStyle/>
                    <a:p>
                      <a:r>
                        <a:rPr kumimoji="1" lang="ja-JP" altLang="en-US" sz="2000" dirty="0"/>
                        <a:t>工程能力指数</a:t>
                      </a:r>
                      <a:r>
                        <a:rPr kumimoji="1" lang="en-US" altLang="ja-JP" sz="2000" dirty="0"/>
                        <a:t>Cp</a:t>
                      </a:r>
                      <a:r>
                        <a:rPr kumimoji="1" lang="ja-JP" altLang="en-US" sz="2000" dirty="0" err="1"/>
                        <a:t>の算</a:t>
                      </a:r>
                      <a:r>
                        <a:rPr kumimoji="1" lang="ja-JP" altLang="en-US" sz="2000" dirty="0"/>
                        <a:t>出</a:t>
                      </a:r>
                    </a:p>
                  </a:txBody>
                  <a:tcPr/>
                </a:tc>
                <a:tc>
                  <a:txBody>
                    <a:bodyPr/>
                    <a:lstStyle/>
                    <a:p>
                      <a:pPr marL="457200" indent="-457200">
                        <a:buFont typeface="+mj-ea"/>
                        <a:buAutoNum type="circleNumDbPlain"/>
                      </a:pPr>
                      <a:r>
                        <a:rPr kumimoji="1" lang="ja-JP" altLang="en-US" sz="2000" dirty="0"/>
                        <a:t>工程の中心位置を考慮しない場合の工程能力指数</a:t>
                      </a:r>
                      <a:r>
                        <a:rPr kumimoji="1" lang="en-US" altLang="ja-JP" sz="2000" dirty="0"/>
                        <a:t>Cp</a:t>
                      </a:r>
                      <a:r>
                        <a:rPr kumimoji="1" lang="ja-JP" altLang="en-US" sz="2000" dirty="0"/>
                        <a:t>を求める。</a:t>
                      </a:r>
                    </a:p>
                  </a:txBody>
                  <a:tcPr/>
                </a:tc>
                <a:extLst>
                  <a:ext uri="{0D108BD9-81ED-4DB2-BD59-A6C34878D82A}">
                    <a16:rowId xmlns:a16="http://schemas.microsoft.com/office/drawing/2014/main" val="3836504130"/>
                  </a:ext>
                </a:extLst>
              </a:tr>
              <a:tr h="837103">
                <a:tc vMerge="1">
                  <a:txBody>
                    <a:bodyPr/>
                    <a:lstStyle/>
                    <a:p>
                      <a:endParaRPr kumimoji="1" lang="ja-JP" altLang="en-US" sz="2000" dirty="0"/>
                    </a:p>
                  </a:txBody>
                  <a:tcPr/>
                </a:tc>
                <a:tc>
                  <a:txBody>
                    <a:bodyPr/>
                    <a:lstStyle/>
                    <a:p>
                      <a:r>
                        <a:rPr kumimoji="1" lang="ja-JP" altLang="en-US" sz="2000" dirty="0"/>
                        <a:t>工程能力指数</a:t>
                      </a:r>
                      <a:r>
                        <a:rPr kumimoji="1" lang="en-US" altLang="ja-JP" sz="2000" dirty="0" err="1"/>
                        <a:t>Cpk</a:t>
                      </a:r>
                      <a:r>
                        <a:rPr kumimoji="1" lang="ja-JP" altLang="en-US" sz="2000" dirty="0" err="1"/>
                        <a:t>の算</a:t>
                      </a:r>
                      <a:r>
                        <a:rPr kumimoji="1" lang="ja-JP" altLang="en-US" sz="2000" dirty="0"/>
                        <a:t>出</a:t>
                      </a:r>
                    </a:p>
                  </a:txBody>
                  <a:tcPr/>
                </a:tc>
                <a:tc>
                  <a:txBody>
                    <a:bodyPr/>
                    <a:lstStyle/>
                    <a:p>
                      <a:pPr marL="457200" indent="-457200">
                        <a:buFont typeface="+mj-ea"/>
                        <a:buAutoNum type="circleNumDbPlain"/>
                      </a:pPr>
                      <a:r>
                        <a:rPr kumimoji="1" lang="ja-JP" altLang="en-US" sz="2000" dirty="0"/>
                        <a:t>工程の中心位置を考慮した場合の工程能力指数</a:t>
                      </a:r>
                      <a:r>
                        <a:rPr kumimoji="1" lang="en-US" altLang="ja-JP" sz="2000" dirty="0" err="1"/>
                        <a:t>Cpk</a:t>
                      </a:r>
                      <a:r>
                        <a:rPr kumimoji="1" lang="ja-JP" altLang="en-US" sz="2000" dirty="0"/>
                        <a:t>を求める。</a:t>
                      </a:r>
                      <a:endParaRPr kumimoji="1" lang="en-US" altLang="ja-JP" sz="2000" dirty="0"/>
                    </a:p>
                  </a:txBody>
                  <a:tcPr/>
                </a:tc>
                <a:extLst>
                  <a:ext uri="{0D108BD9-81ED-4DB2-BD59-A6C34878D82A}">
                    <a16:rowId xmlns:a16="http://schemas.microsoft.com/office/drawing/2014/main" val="165506875"/>
                  </a:ext>
                </a:extLst>
              </a:tr>
              <a:tr h="837103">
                <a:tc rowSpan="2">
                  <a:txBody>
                    <a:bodyPr/>
                    <a:lstStyle/>
                    <a:p>
                      <a:r>
                        <a:rPr kumimoji="1" lang="ja-JP" altLang="en-US" sz="2000" dirty="0"/>
                        <a:t>ステップ６</a:t>
                      </a:r>
                    </a:p>
                  </a:txBody>
                  <a:tcPr/>
                </a:tc>
                <a:tc>
                  <a:txBody>
                    <a:bodyPr/>
                    <a:lstStyle/>
                    <a:p>
                      <a:r>
                        <a:rPr kumimoji="1" lang="ja-JP" altLang="en-US" sz="2000" dirty="0"/>
                        <a:t>工程性能指数</a:t>
                      </a:r>
                      <a:r>
                        <a:rPr kumimoji="1" lang="en-US" altLang="ja-JP" sz="2000" dirty="0"/>
                        <a:t>Pp</a:t>
                      </a:r>
                      <a:r>
                        <a:rPr kumimoji="1" lang="ja-JP" altLang="en-US" sz="2000" dirty="0" err="1"/>
                        <a:t>の算</a:t>
                      </a:r>
                      <a:r>
                        <a:rPr kumimoji="1" lang="ja-JP" altLang="en-US" sz="2000" dirty="0"/>
                        <a:t>出</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ea"/>
                        <a:buAutoNum type="circleNumDbPlain"/>
                        <a:tabLst/>
                        <a:defRPr/>
                      </a:pPr>
                      <a:r>
                        <a:rPr kumimoji="1" lang="ja-JP" altLang="en-US" sz="2000" dirty="0"/>
                        <a:t>工程の中心位置を考慮しない場合の工程性能指数</a:t>
                      </a:r>
                      <a:r>
                        <a:rPr kumimoji="1" lang="en-US" altLang="ja-JP" sz="2000" dirty="0"/>
                        <a:t>Pp</a:t>
                      </a:r>
                      <a:r>
                        <a:rPr kumimoji="1" lang="ja-JP" altLang="en-US" sz="2000" dirty="0"/>
                        <a:t>を求める。</a:t>
                      </a:r>
                    </a:p>
                  </a:txBody>
                  <a:tcPr/>
                </a:tc>
                <a:extLst>
                  <a:ext uri="{0D108BD9-81ED-4DB2-BD59-A6C34878D82A}">
                    <a16:rowId xmlns:a16="http://schemas.microsoft.com/office/drawing/2014/main" val="1370382906"/>
                  </a:ext>
                </a:extLst>
              </a:tr>
              <a:tr h="837103">
                <a:tc vMerge="1">
                  <a:txBody>
                    <a:bodyPr/>
                    <a:lstStyle/>
                    <a:p>
                      <a:endParaRPr kumimoji="1" lang="ja-JP" altLang="en-US" sz="2000" dirty="0"/>
                    </a:p>
                  </a:txBody>
                  <a:tcPr/>
                </a:tc>
                <a:tc>
                  <a:txBody>
                    <a:bodyPr/>
                    <a:lstStyle/>
                    <a:p>
                      <a:r>
                        <a:rPr kumimoji="1" lang="ja-JP" altLang="en-US" sz="2000" dirty="0"/>
                        <a:t>工程性能指数</a:t>
                      </a:r>
                      <a:r>
                        <a:rPr kumimoji="1" lang="en-US" altLang="ja-JP" sz="2000" dirty="0" err="1"/>
                        <a:t>Ppk</a:t>
                      </a:r>
                      <a:r>
                        <a:rPr kumimoji="1" lang="ja-JP" altLang="en-US" sz="2000" dirty="0" err="1"/>
                        <a:t>の算</a:t>
                      </a:r>
                      <a:r>
                        <a:rPr kumimoji="1" lang="ja-JP" altLang="en-US" sz="2000" dirty="0"/>
                        <a:t>出</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ea"/>
                        <a:buAutoNum type="circleNumDbPlain"/>
                        <a:tabLst/>
                        <a:defRPr/>
                      </a:pPr>
                      <a:r>
                        <a:rPr kumimoji="1" lang="ja-JP" altLang="en-US" sz="2000" dirty="0"/>
                        <a:t>工程の中心位置を考慮した場合の工程性能指数</a:t>
                      </a:r>
                      <a:r>
                        <a:rPr kumimoji="1" lang="en-US" altLang="ja-JP" sz="2000" dirty="0" err="1"/>
                        <a:t>Ppk</a:t>
                      </a:r>
                      <a:r>
                        <a:rPr kumimoji="1" lang="ja-JP" altLang="en-US" sz="2000" dirty="0"/>
                        <a:t>を求める。</a:t>
                      </a:r>
                      <a:endParaRPr kumimoji="1" lang="en-US" altLang="ja-JP" sz="2000" dirty="0"/>
                    </a:p>
                  </a:txBody>
                  <a:tcPr/>
                </a:tc>
                <a:extLst>
                  <a:ext uri="{0D108BD9-81ED-4DB2-BD59-A6C34878D82A}">
                    <a16:rowId xmlns:a16="http://schemas.microsoft.com/office/drawing/2014/main" val="3428098267"/>
                  </a:ext>
                </a:extLst>
              </a:tr>
            </a:tbl>
          </a:graphicData>
        </a:graphic>
      </p:graphicFrame>
    </p:spTree>
    <p:extLst>
      <p:ext uri="{BB962C8B-B14F-4D97-AF65-F5344CB8AC3E}">
        <p14:creationId xmlns:p14="http://schemas.microsoft.com/office/powerpoint/2010/main" val="3364254750"/>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534</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a:t>
            </a:r>
          </a:p>
        </p:txBody>
      </p:sp>
      <p:graphicFrame>
        <p:nvGraphicFramePr>
          <p:cNvPr id="2" name="表 1">
            <a:extLst>
              <a:ext uri="{FF2B5EF4-FFF2-40B4-BE49-F238E27FC236}">
                <a16:creationId xmlns:a16="http://schemas.microsoft.com/office/drawing/2014/main" id="{043CAA9D-5AE2-4896-ACDA-117F7244F183}"/>
              </a:ext>
            </a:extLst>
          </p:cNvPr>
          <p:cNvGraphicFramePr>
            <a:graphicFrameLocks noGrp="1"/>
          </p:cNvGraphicFramePr>
          <p:nvPr>
            <p:extLst>
              <p:ext uri="{D42A27DB-BD31-4B8C-83A1-F6EECF244321}">
                <p14:modId xmlns:p14="http://schemas.microsoft.com/office/powerpoint/2010/main" val="3494804909"/>
              </p:ext>
            </p:extLst>
          </p:nvPr>
        </p:nvGraphicFramePr>
        <p:xfrm>
          <a:off x="838200" y="1420663"/>
          <a:ext cx="10515600" cy="4935687"/>
        </p:xfrm>
        <a:graphic>
          <a:graphicData uri="http://schemas.openxmlformats.org/drawingml/2006/table">
            <a:tbl>
              <a:tblPr firstRow="1" bandRow="1">
                <a:tableStyleId>{5940675A-B579-460E-94D1-54222C63F5DA}</a:tableStyleId>
              </a:tblPr>
              <a:tblGrid>
                <a:gridCol w="1497376">
                  <a:extLst>
                    <a:ext uri="{9D8B030D-6E8A-4147-A177-3AD203B41FA5}">
                      <a16:colId xmlns:a16="http://schemas.microsoft.com/office/drawing/2014/main" val="1605111436"/>
                    </a:ext>
                  </a:extLst>
                </a:gridCol>
                <a:gridCol w="1685581">
                  <a:extLst>
                    <a:ext uri="{9D8B030D-6E8A-4147-A177-3AD203B41FA5}">
                      <a16:colId xmlns:a16="http://schemas.microsoft.com/office/drawing/2014/main" val="3921605885"/>
                    </a:ext>
                  </a:extLst>
                </a:gridCol>
                <a:gridCol w="7332643">
                  <a:extLst>
                    <a:ext uri="{9D8B030D-6E8A-4147-A177-3AD203B41FA5}">
                      <a16:colId xmlns:a16="http://schemas.microsoft.com/office/drawing/2014/main" val="4293748813"/>
                    </a:ext>
                  </a:extLst>
                </a:gridCol>
              </a:tblGrid>
              <a:tr h="438153">
                <a:tc>
                  <a:txBody>
                    <a:bodyPr/>
                    <a:lstStyle/>
                    <a:p>
                      <a:pPr algn="ctr"/>
                      <a:r>
                        <a:rPr kumimoji="1" lang="ja-JP" altLang="en-US" sz="2000" dirty="0"/>
                        <a:t>ステップ</a:t>
                      </a:r>
                    </a:p>
                  </a:txBody>
                  <a:tcPr>
                    <a:solidFill>
                      <a:schemeClr val="tx2">
                        <a:lumMod val="20000"/>
                        <a:lumOff val="80000"/>
                      </a:schemeClr>
                    </a:solidFill>
                  </a:tcPr>
                </a:tc>
                <a:tc>
                  <a:txBody>
                    <a:bodyPr/>
                    <a:lstStyle/>
                    <a:p>
                      <a:pPr algn="ctr"/>
                      <a:r>
                        <a:rPr kumimoji="1" lang="ja-JP" altLang="en-US" sz="2000" dirty="0"/>
                        <a:t>実施項目</a:t>
                      </a:r>
                    </a:p>
                  </a:txBody>
                  <a:tcPr>
                    <a:solidFill>
                      <a:schemeClr val="tx2">
                        <a:lumMod val="20000"/>
                        <a:lumOff val="80000"/>
                      </a:schemeClr>
                    </a:solidFill>
                  </a:tcPr>
                </a:tc>
                <a:tc>
                  <a:txBody>
                    <a:bodyPr/>
                    <a:lstStyle/>
                    <a:p>
                      <a:pPr algn="ctr"/>
                      <a:r>
                        <a:rPr kumimoji="1" lang="ja-JP" altLang="en-US" sz="2000" dirty="0"/>
                        <a:t>内容</a:t>
                      </a:r>
                    </a:p>
                  </a:txBody>
                  <a:tcPr>
                    <a:solidFill>
                      <a:schemeClr val="tx2">
                        <a:lumMod val="20000"/>
                        <a:lumOff val="80000"/>
                      </a:schemeClr>
                    </a:solidFill>
                  </a:tcPr>
                </a:tc>
                <a:extLst>
                  <a:ext uri="{0D108BD9-81ED-4DB2-BD59-A6C34878D82A}">
                    <a16:rowId xmlns:a16="http://schemas.microsoft.com/office/drawing/2014/main" val="4004616910"/>
                  </a:ext>
                </a:extLst>
              </a:tr>
              <a:tr h="2381033">
                <a:tc>
                  <a:txBody>
                    <a:bodyPr/>
                    <a:lstStyle/>
                    <a:p>
                      <a:r>
                        <a:rPr kumimoji="1" lang="ja-JP" altLang="en-US" sz="2000" b="1" dirty="0"/>
                        <a:t>評価</a:t>
                      </a:r>
                      <a:endParaRPr kumimoji="1" lang="en-US" altLang="ja-JP" sz="2000" b="1" dirty="0"/>
                    </a:p>
                    <a:p>
                      <a:r>
                        <a:rPr kumimoji="1" lang="ja-JP" altLang="en-US" sz="2000" dirty="0"/>
                        <a:t>ステップ７</a:t>
                      </a:r>
                    </a:p>
                  </a:txBody>
                  <a:tcPr/>
                </a:tc>
                <a:tc>
                  <a:txBody>
                    <a:bodyPr/>
                    <a:lstStyle/>
                    <a:p>
                      <a:r>
                        <a:rPr kumimoji="1" lang="ja-JP" altLang="en-US" sz="2000" dirty="0"/>
                        <a:t>各指数の評価・分析</a:t>
                      </a:r>
                    </a:p>
                  </a:txBody>
                  <a:tcPr/>
                </a:tc>
                <a:tc>
                  <a:txBody>
                    <a:bodyPr/>
                    <a:lstStyle/>
                    <a:p>
                      <a:pPr marL="457200" indent="-457200">
                        <a:buFont typeface="+mj-ea"/>
                        <a:buAutoNum type="circleNumDbPlain"/>
                      </a:pPr>
                      <a:r>
                        <a:rPr kumimoji="1" lang="en-US" altLang="ja-JP" sz="2000" dirty="0"/>
                        <a:t>Cp</a:t>
                      </a:r>
                      <a:r>
                        <a:rPr kumimoji="1" lang="ja-JP" altLang="en-US" sz="2000" dirty="0" err="1"/>
                        <a:t>、</a:t>
                      </a:r>
                      <a:r>
                        <a:rPr kumimoji="1" lang="en-US" altLang="ja-JP" sz="2000" dirty="0" err="1"/>
                        <a:t>Cpk</a:t>
                      </a:r>
                      <a:r>
                        <a:rPr kumimoji="1" lang="ja-JP" altLang="en-US" sz="2000" dirty="0"/>
                        <a:t>及び</a:t>
                      </a:r>
                      <a:r>
                        <a:rPr kumimoji="1" lang="en-US" altLang="ja-JP" sz="2000" dirty="0"/>
                        <a:t>Pp</a:t>
                      </a:r>
                      <a:r>
                        <a:rPr kumimoji="1" lang="ja-JP" altLang="en-US" sz="2000" dirty="0" err="1"/>
                        <a:t>、</a:t>
                      </a:r>
                      <a:r>
                        <a:rPr kumimoji="1" lang="en-US" altLang="ja-JP" sz="2000" dirty="0" err="1"/>
                        <a:t>Ppk</a:t>
                      </a:r>
                      <a:r>
                        <a:rPr kumimoji="1" lang="ja-JP" altLang="en-US" sz="2000" dirty="0"/>
                        <a:t>の各指数を評価・分析する。</a:t>
                      </a:r>
                      <a:endParaRPr kumimoji="1" lang="en-US" altLang="ja-JP" sz="2000" dirty="0"/>
                    </a:p>
                    <a:p>
                      <a:pPr marL="457200" indent="-457200">
                        <a:buFont typeface="+mj-ea"/>
                        <a:buAutoNum type="circleNumDbPlain"/>
                      </a:pPr>
                      <a:r>
                        <a:rPr kumimoji="1" lang="ja-JP" altLang="en-US" sz="2000" dirty="0"/>
                        <a:t>安定した工程の</a:t>
                      </a:r>
                      <a:r>
                        <a:rPr kumimoji="1" lang="en-US" altLang="ja-JP" sz="2000" dirty="0"/>
                        <a:t>Cp</a:t>
                      </a:r>
                      <a:r>
                        <a:rPr kumimoji="1" lang="ja-JP" altLang="en-US" sz="2000" dirty="0" err="1"/>
                        <a:t>、</a:t>
                      </a:r>
                      <a:r>
                        <a:rPr kumimoji="1" lang="en-US" altLang="ja-JP" sz="2000" dirty="0" err="1"/>
                        <a:t>Cpk</a:t>
                      </a:r>
                      <a:r>
                        <a:rPr kumimoji="1" lang="ja-JP" altLang="en-US" sz="2000" dirty="0"/>
                        <a:t>と</a:t>
                      </a:r>
                      <a:r>
                        <a:rPr kumimoji="1" lang="en-US" altLang="ja-JP" sz="2000" dirty="0"/>
                        <a:t>Pp</a:t>
                      </a:r>
                      <a:r>
                        <a:rPr kumimoji="1" lang="ja-JP" altLang="en-US" sz="2000" dirty="0" err="1"/>
                        <a:t>、</a:t>
                      </a:r>
                      <a:r>
                        <a:rPr kumimoji="1" lang="en-US" altLang="ja-JP" sz="2000" dirty="0" err="1"/>
                        <a:t>Ppk</a:t>
                      </a:r>
                      <a:r>
                        <a:rPr kumimoji="1" lang="ja-JP" altLang="en-US" sz="2000" dirty="0"/>
                        <a:t>の値はほぼ等しくなる。</a:t>
                      </a:r>
                      <a:endParaRPr kumimoji="1" lang="en-US" altLang="ja-JP" sz="2000" dirty="0"/>
                    </a:p>
                    <a:p>
                      <a:pPr marL="457200" indent="-457200">
                        <a:buFont typeface="+mj-ea"/>
                        <a:buAutoNum type="circleNumDbPlain"/>
                      </a:pPr>
                      <a:r>
                        <a:rPr kumimoji="1" lang="en-US" altLang="ja-JP" sz="2000" dirty="0" err="1"/>
                        <a:t>Cpk</a:t>
                      </a:r>
                      <a:r>
                        <a:rPr kumimoji="1" lang="ja-JP" altLang="en-US" sz="2000" dirty="0"/>
                        <a:t>が</a:t>
                      </a:r>
                      <a:r>
                        <a:rPr kumimoji="1" lang="en-US" altLang="ja-JP" sz="2000" dirty="0"/>
                        <a:t>Cp</a:t>
                      </a:r>
                      <a:r>
                        <a:rPr kumimoji="1" lang="ja-JP" altLang="en-US" sz="2000" dirty="0"/>
                        <a:t>よりも小さい場合や、</a:t>
                      </a:r>
                      <a:r>
                        <a:rPr kumimoji="1" lang="en-US" altLang="ja-JP" sz="2000" dirty="0" err="1"/>
                        <a:t>Ppk</a:t>
                      </a:r>
                      <a:r>
                        <a:rPr kumimoji="1" lang="ja-JP" altLang="en-US" sz="2000" dirty="0"/>
                        <a:t>が</a:t>
                      </a:r>
                      <a:r>
                        <a:rPr kumimoji="1" lang="en-US" altLang="ja-JP" sz="2000" dirty="0"/>
                        <a:t>Pp</a:t>
                      </a:r>
                      <a:r>
                        <a:rPr kumimoji="1" lang="ja-JP" altLang="en-US" sz="2000" dirty="0"/>
                        <a:t>よりも小さい場合は、測定データの分布の中心が規格の中心から外れていることを示す。</a:t>
                      </a:r>
                      <a:endParaRPr kumimoji="1" lang="en-US" altLang="ja-JP" sz="2000" dirty="0"/>
                    </a:p>
                    <a:p>
                      <a:pPr marL="457200" indent="-457200">
                        <a:buFont typeface="+mj-ea"/>
                        <a:buAutoNum type="circleNumDbPlain"/>
                      </a:pPr>
                      <a:r>
                        <a:rPr kumimoji="1" lang="en-US" altLang="ja-JP" sz="2000" dirty="0" err="1"/>
                        <a:t>Cpk</a:t>
                      </a:r>
                      <a:r>
                        <a:rPr kumimoji="1" lang="ja-JP" altLang="en-US" sz="2000" dirty="0"/>
                        <a:t>と</a:t>
                      </a:r>
                      <a:r>
                        <a:rPr kumimoji="1" lang="en-US" altLang="ja-JP" sz="2000" dirty="0" err="1"/>
                        <a:t>Ppk</a:t>
                      </a:r>
                      <a:r>
                        <a:rPr kumimoji="1" lang="ja-JP" altLang="en-US" sz="2000" dirty="0"/>
                        <a:t>の値が異なる場合には、サブグループ間変動（工程変動➠特別原因）があることを示す。</a:t>
                      </a:r>
                    </a:p>
                  </a:txBody>
                  <a:tcPr/>
                </a:tc>
                <a:extLst>
                  <a:ext uri="{0D108BD9-81ED-4DB2-BD59-A6C34878D82A}">
                    <a16:rowId xmlns:a16="http://schemas.microsoft.com/office/drawing/2014/main" val="3648334512"/>
                  </a:ext>
                </a:extLst>
              </a:tr>
              <a:tr h="1341307">
                <a:tc rowSpan="2">
                  <a:txBody>
                    <a:bodyPr/>
                    <a:lstStyle/>
                    <a:p>
                      <a:r>
                        <a:rPr kumimoji="1" lang="ja-JP" altLang="en-US" sz="2000" b="1" dirty="0"/>
                        <a:t>改善</a:t>
                      </a:r>
                      <a:endParaRPr kumimoji="1" lang="en-US" altLang="ja-JP" sz="2000" b="1" dirty="0"/>
                    </a:p>
                    <a:p>
                      <a:r>
                        <a:rPr kumimoji="1" lang="ja-JP" altLang="en-US" sz="2000" dirty="0"/>
                        <a:t>ステップ８</a:t>
                      </a:r>
                    </a:p>
                  </a:txBody>
                  <a:tcPr/>
                </a:tc>
                <a:tc>
                  <a:txBody>
                    <a:bodyPr/>
                    <a:lstStyle/>
                    <a:p>
                      <a:r>
                        <a:rPr kumimoji="1" lang="ja-JP" altLang="en-US" sz="2000" dirty="0"/>
                        <a:t>各指標が異なる場合、原因を調査し処置する。</a:t>
                      </a:r>
                    </a:p>
                  </a:txBody>
                  <a:tcPr/>
                </a:tc>
                <a:tc>
                  <a:txBody>
                    <a:bodyPr/>
                    <a:lstStyle/>
                    <a:p>
                      <a:pPr marL="457200" indent="-457200">
                        <a:buFont typeface="+mj-ea"/>
                        <a:buAutoNum type="circleNumDbPlain"/>
                      </a:pPr>
                      <a:r>
                        <a:rPr kumimoji="1" lang="en-US" altLang="ja-JP" sz="2000" dirty="0"/>
                        <a:t>Cp</a:t>
                      </a:r>
                      <a:r>
                        <a:rPr kumimoji="1" lang="ja-JP" altLang="en-US" sz="2000" dirty="0" err="1"/>
                        <a:t>、</a:t>
                      </a:r>
                      <a:r>
                        <a:rPr kumimoji="1" lang="en-US" altLang="ja-JP" sz="2000" dirty="0" err="1"/>
                        <a:t>Cpk</a:t>
                      </a:r>
                      <a:r>
                        <a:rPr kumimoji="1" lang="ja-JP" altLang="en-US" sz="2000" dirty="0" err="1"/>
                        <a:t>、</a:t>
                      </a:r>
                      <a:r>
                        <a:rPr kumimoji="1" lang="en-US" altLang="ja-JP" sz="2000" dirty="0"/>
                        <a:t>Pp</a:t>
                      </a:r>
                      <a:r>
                        <a:rPr kumimoji="1" lang="ja-JP" altLang="en-US" sz="2000" dirty="0" err="1"/>
                        <a:t>、</a:t>
                      </a:r>
                      <a:r>
                        <a:rPr kumimoji="1" lang="en-US" altLang="ja-JP" sz="2000" dirty="0" err="1"/>
                        <a:t>Ppk</a:t>
                      </a:r>
                      <a:r>
                        <a:rPr kumimoji="1" lang="ja-JP" altLang="en-US" sz="2000" dirty="0"/>
                        <a:t>の各指標が異なる場合は、工程が管理状態になく、特別原因が存在する可能性がある。</a:t>
                      </a:r>
                      <a:endParaRPr kumimoji="1" lang="en-US" altLang="ja-JP" sz="2000" dirty="0"/>
                    </a:p>
                    <a:p>
                      <a:pPr marL="457200" indent="-457200">
                        <a:buFont typeface="+mj-ea"/>
                        <a:buAutoNum type="circleNumDbPlain"/>
                      </a:pPr>
                      <a:r>
                        <a:rPr kumimoji="1" lang="ja-JP" altLang="en-US" sz="2000" dirty="0"/>
                        <a:t>その原因を究明し、処置することにより工程を安定した状態にする。</a:t>
                      </a:r>
                    </a:p>
                  </a:txBody>
                  <a:tcPr/>
                </a:tc>
                <a:extLst>
                  <a:ext uri="{0D108BD9-81ED-4DB2-BD59-A6C34878D82A}">
                    <a16:rowId xmlns:a16="http://schemas.microsoft.com/office/drawing/2014/main" val="3836504130"/>
                  </a:ext>
                </a:extLst>
              </a:tr>
              <a:tr h="775194">
                <a:tc vMerge="1">
                  <a:txBody>
                    <a:bodyPr/>
                    <a:lstStyle/>
                    <a:p>
                      <a:endParaRPr kumimoji="1" lang="ja-JP" altLang="en-US" sz="2000" dirty="0"/>
                    </a:p>
                  </a:txBody>
                  <a:tcPr/>
                </a:tc>
                <a:tc>
                  <a:txBody>
                    <a:bodyPr/>
                    <a:lstStyle/>
                    <a:p>
                      <a:r>
                        <a:rPr kumimoji="1" lang="ja-JP" altLang="en-US" sz="2000" dirty="0"/>
                        <a:t>工程能力指数の再算出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上記の各ステップを繰り返す。</a:t>
                      </a:r>
                      <a:endParaRPr kumimoji="1" lang="en-US" altLang="ja-JP" sz="2000" dirty="0"/>
                    </a:p>
                  </a:txBody>
                  <a:tcPr/>
                </a:tc>
                <a:extLst>
                  <a:ext uri="{0D108BD9-81ED-4DB2-BD59-A6C34878D82A}">
                    <a16:rowId xmlns:a16="http://schemas.microsoft.com/office/drawing/2014/main" val="3428098267"/>
                  </a:ext>
                </a:extLst>
              </a:tr>
            </a:tbl>
          </a:graphicData>
        </a:graphic>
      </p:graphicFrame>
    </p:spTree>
    <p:extLst>
      <p:ext uri="{BB962C8B-B14F-4D97-AF65-F5344CB8AC3E}">
        <p14:creationId xmlns:p14="http://schemas.microsoft.com/office/powerpoint/2010/main" val="2917344816"/>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ja-JP" altLang="en-US" sz="2400" dirty="0"/>
              <a:t>前述のＸ－Ｒ管理図データから算出する。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535</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５．ＳＰＣ（工程能力指数の算出例）</a:t>
            </a:r>
          </a:p>
        </p:txBody>
      </p:sp>
      <p:graphicFrame>
        <p:nvGraphicFramePr>
          <p:cNvPr id="3" name="表 2">
            <a:extLst>
              <a:ext uri="{FF2B5EF4-FFF2-40B4-BE49-F238E27FC236}">
                <a16:creationId xmlns:a16="http://schemas.microsoft.com/office/drawing/2014/main" id="{7ACE9837-32FA-48C3-BE63-ECB1D21EB467}"/>
              </a:ext>
            </a:extLst>
          </p:cNvPr>
          <p:cNvGraphicFramePr>
            <a:graphicFrameLocks noGrp="1"/>
          </p:cNvGraphicFramePr>
          <p:nvPr>
            <p:extLst>
              <p:ext uri="{D42A27DB-BD31-4B8C-83A1-F6EECF244321}">
                <p14:modId xmlns:p14="http://schemas.microsoft.com/office/powerpoint/2010/main" val="3236024817"/>
              </p:ext>
            </p:extLst>
          </p:nvPr>
        </p:nvGraphicFramePr>
        <p:xfrm>
          <a:off x="838200" y="1887453"/>
          <a:ext cx="10515600" cy="4012270"/>
        </p:xfrm>
        <a:graphic>
          <a:graphicData uri="http://schemas.openxmlformats.org/drawingml/2006/table">
            <a:tbl>
              <a:tblPr firstRow="1" bandRow="1">
                <a:tableStyleId>{5940675A-B579-460E-94D1-54222C63F5DA}</a:tableStyleId>
              </a:tblPr>
              <a:tblGrid>
                <a:gridCol w="2114320">
                  <a:extLst>
                    <a:ext uri="{9D8B030D-6E8A-4147-A177-3AD203B41FA5}">
                      <a16:colId xmlns:a16="http://schemas.microsoft.com/office/drawing/2014/main" val="1312860127"/>
                    </a:ext>
                  </a:extLst>
                </a:gridCol>
                <a:gridCol w="3327094">
                  <a:extLst>
                    <a:ext uri="{9D8B030D-6E8A-4147-A177-3AD203B41FA5}">
                      <a16:colId xmlns:a16="http://schemas.microsoft.com/office/drawing/2014/main" val="2504759619"/>
                    </a:ext>
                  </a:extLst>
                </a:gridCol>
                <a:gridCol w="5074186">
                  <a:extLst>
                    <a:ext uri="{9D8B030D-6E8A-4147-A177-3AD203B41FA5}">
                      <a16:colId xmlns:a16="http://schemas.microsoft.com/office/drawing/2014/main" val="3380753114"/>
                    </a:ext>
                  </a:extLst>
                </a:gridCol>
              </a:tblGrid>
              <a:tr h="654357">
                <a:tc>
                  <a:txBody>
                    <a:bodyPr/>
                    <a:lstStyle/>
                    <a:p>
                      <a:pPr algn="ctr"/>
                      <a:endParaRPr kumimoji="1" lang="ja-JP" altLang="en-US" dirty="0"/>
                    </a:p>
                  </a:txBody>
                  <a:tcPr anchor="ctr">
                    <a:solidFill>
                      <a:schemeClr val="tx2">
                        <a:lumMod val="40000"/>
                        <a:lumOff val="60000"/>
                      </a:schemeClr>
                    </a:solidFill>
                  </a:tcPr>
                </a:tc>
                <a:tc>
                  <a:txBody>
                    <a:bodyPr/>
                    <a:lstStyle/>
                    <a:p>
                      <a:pPr algn="ctr"/>
                      <a:r>
                        <a:rPr kumimoji="1" lang="ja-JP" altLang="en-US" dirty="0"/>
                        <a:t>算出式</a:t>
                      </a:r>
                    </a:p>
                  </a:txBody>
                  <a:tcPr anchor="ctr">
                    <a:solidFill>
                      <a:schemeClr val="tx2">
                        <a:lumMod val="40000"/>
                        <a:lumOff val="60000"/>
                      </a:schemeClr>
                    </a:solidFill>
                  </a:tcPr>
                </a:tc>
                <a:tc>
                  <a:txBody>
                    <a:bodyPr/>
                    <a:lstStyle/>
                    <a:p>
                      <a:pPr algn="ctr"/>
                      <a:r>
                        <a:rPr kumimoji="1" lang="ja-JP" altLang="en-US" dirty="0"/>
                        <a:t>算出結果</a:t>
                      </a:r>
                    </a:p>
                  </a:txBody>
                  <a:tcPr anchor="ctr">
                    <a:solidFill>
                      <a:schemeClr val="tx2">
                        <a:lumMod val="40000"/>
                        <a:lumOff val="60000"/>
                      </a:schemeClr>
                    </a:solidFill>
                  </a:tcPr>
                </a:tc>
                <a:extLst>
                  <a:ext uri="{0D108BD9-81ED-4DB2-BD59-A6C34878D82A}">
                    <a16:rowId xmlns:a16="http://schemas.microsoft.com/office/drawing/2014/main" val="1443863259"/>
                  </a:ext>
                </a:extLst>
              </a:tr>
              <a:tr h="823026">
                <a:tc>
                  <a:txBody>
                    <a:bodyPr/>
                    <a:lstStyle/>
                    <a:p>
                      <a:r>
                        <a:rPr kumimoji="1" lang="ja-JP" altLang="en-US" dirty="0"/>
                        <a:t>測定データから</a:t>
                      </a:r>
                    </a:p>
                  </a:txBody>
                  <a:tcPr/>
                </a:tc>
                <a:tc gridSpan="2">
                  <a:txBody>
                    <a:bodyPr/>
                    <a:lstStyle/>
                    <a:p>
                      <a:r>
                        <a:rPr kumimoji="1" lang="ja-JP" altLang="en-US" dirty="0"/>
                        <a:t>平均値Ｘ＝</a:t>
                      </a:r>
                      <a:r>
                        <a:rPr kumimoji="1" lang="en-US" altLang="ja-JP" dirty="0"/>
                        <a:t>9.996</a:t>
                      </a:r>
                      <a:r>
                        <a:rPr kumimoji="1" lang="ja-JP" altLang="en-US" dirty="0"/>
                        <a:t>　範囲Ｒ＝</a:t>
                      </a:r>
                      <a:r>
                        <a:rPr kumimoji="1" lang="en-US" altLang="ja-JP" dirty="0"/>
                        <a:t>0.0452</a:t>
                      </a:r>
                    </a:p>
                    <a:p>
                      <a:r>
                        <a:rPr kumimoji="1" lang="ja-JP" altLang="en-US" dirty="0"/>
                        <a:t>規格幅ＵＳＬ＝</a:t>
                      </a:r>
                      <a:r>
                        <a:rPr kumimoji="1" lang="en-US" altLang="ja-JP" dirty="0"/>
                        <a:t>10.1</a:t>
                      </a:r>
                      <a:r>
                        <a:rPr kumimoji="1" lang="ja-JP" altLang="en-US" dirty="0"/>
                        <a:t>　ＬＳＬ＝</a:t>
                      </a:r>
                      <a:r>
                        <a:rPr kumimoji="1" lang="en-US" altLang="ja-JP" dirty="0"/>
                        <a:t>9.9</a:t>
                      </a:r>
                      <a:r>
                        <a:rPr kumimoji="1" lang="ja-JP" altLang="en-US" dirty="0"/>
                        <a:t>　</a:t>
                      </a:r>
                      <a:r>
                        <a:rPr kumimoji="1" lang="ja-JP" altLang="en-US" dirty="0" err="1"/>
                        <a:t>ｄ</a:t>
                      </a:r>
                      <a:r>
                        <a:rPr kumimoji="1" lang="en-US" altLang="ja-JP" sz="1400" dirty="0"/>
                        <a:t>2</a:t>
                      </a:r>
                      <a:r>
                        <a:rPr kumimoji="1" lang="ja-JP" altLang="en-US" sz="1800" dirty="0"/>
                        <a:t>＝</a:t>
                      </a:r>
                      <a:r>
                        <a:rPr kumimoji="1" lang="en-US" altLang="ja-JP" sz="1800" dirty="0"/>
                        <a:t>2.059</a:t>
                      </a:r>
                      <a:endParaRPr kumimoji="1" lang="ja-JP" altLang="en-US" sz="1800" dirty="0"/>
                    </a:p>
                  </a:txBody>
                  <a:tcPr/>
                </a:tc>
                <a:tc hMerge="1">
                  <a:txBody>
                    <a:bodyPr/>
                    <a:lstStyle/>
                    <a:p>
                      <a:endParaRPr kumimoji="1" lang="ja-JP" altLang="en-US"/>
                    </a:p>
                  </a:txBody>
                  <a:tcPr/>
                </a:tc>
                <a:extLst>
                  <a:ext uri="{0D108BD9-81ED-4DB2-BD59-A6C34878D82A}">
                    <a16:rowId xmlns:a16="http://schemas.microsoft.com/office/drawing/2014/main" val="3859872837"/>
                  </a:ext>
                </a:extLst>
              </a:tr>
              <a:tr h="1207164">
                <a:tc>
                  <a:txBody>
                    <a:bodyPr/>
                    <a:lstStyle/>
                    <a:p>
                      <a:r>
                        <a:rPr kumimoji="1" lang="ja-JP" altLang="en-US" dirty="0"/>
                        <a:t>サブグループ内変動標準偏差</a:t>
                      </a:r>
                      <a:r>
                        <a:rPr kumimoji="1" lang="en-US" altLang="ja-JP" dirty="0"/>
                        <a:t>σ</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193745117"/>
                  </a:ext>
                </a:extLst>
              </a:tr>
              <a:tr h="1327723">
                <a:tc>
                  <a:txBody>
                    <a:bodyPr/>
                    <a:lstStyle/>
                    <a:p>
                      <a:r>
                        <a:rPr kumimoji="1" lang="ja-JP" altLang="en-US" dirty="0"/>
                        <a:t>全工程変動標準偏差ｓ</a:t>
                      </a:r>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894173260"/>
                  </a:ext>
                </a:extLst>
              </a:tr>
            </a:tbl>
          </a:graphicData>
        </a:graphic>
      </p:graphicFrame>
      <p:pic>
        <p:nvPicPr>
          <p:cNvPr id="8" name="図 7">
            <a:extLst>
              <a:ext uri="{FF2B5EF4-FFF2-40B4-BE49-F238E27FC236}">
                <a16:creationId xmlns:a16="http://schemas.microsoft.com/office/drawing/2014/main" id="{0D5D8C78-54BD-4B61-B230-7C3ABD51AA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5578" y="3444493"/>
            <a:ext cx="1639809" cy="670471"/>
          </a:xfrm>
          <a:prstGeom prst="rect">
            <a:avLst/>
          </a:prstGeom>
          <a:noFill/>
          <a:extLst>
            <a:ext uri="{909E8E84-426E-40DD-AFC4-6F175D3DCCD1}">
              <a14:hiddenFill xmlns:a14="http://schemas.microsoft.com/office/drawing/2010/main">
                <a:solidFill>
                  <a:srgbClr val="FFFFFF"/>
                </a:solidFill>
              </a14:hiddenFill>
            </a:ext>
          </a:extLst>
        </p:spPr>
      </p:pic>
      <p:pic>
        <p:nvPicPr>
          <p:cNvPr id="9" name="図 8">
            <a:extLst>
              <a:ext uri="{FF2B5EF4-FFF2-40B4-BE49-F238E27FC236}">
                <a16:creationId xmlns:a16="http://schemas.microsoft.com/office/drawing/2014/main" id="{31239D7B-13DF-437C-8A18-0685AD0EE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332" y="3429000"/>
            <a:ext cx="3558770" cy="919860"/>
          </a:xfrm>
          <a:prstGeom prst="rect">
            <a:avLst/>
          </a:prstGeom>
          <a:noFill/>
          <a:extLst>
            <a:ext uri="{909E8E84-426E-40DD-AFC4-6F175D3DCCD1}">
              <a14:hiddenFill xmlns:a14="http://schemas.microsoft.com/office/drawing/2010/main">
                <a:solidFill>
                  <a:srgbClr val="FFFFFF"/>
                </a:solidFill>
              </a14:hiddenFill>
            </a:ext>
          </a:extLst>
        </p:spPr>
      </p:pic>
      <p:pic>
        <p:nvPicPr>
          <p:cNvPr id="11" name="図 10">
            <a:extLst>
              <a:ext uri="{FF2B5EF4-FFF2-40B4-BE49-F238E27FC236}">
                <a16:creationId xmlns:a16="http://schemas.microsoft.com/office/drawing/2014/main" id="{16FA9179-1700-4266-AE2D-192CF00BE3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464" y="4728017"/>
            <a:ext cx="2779441" cy="919861"/>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a:extLst>
              <a:ext uri="{FF2B5EF4-FFF2-40B4-BE49-F238E27FC236}">
                <a16:creationId xmlns:a16="http://schemas.microsoft.com/office/drawing/2014/main" id="{E6869D63-C7DB-49D6-AA3A-22F7B3373E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9402" y="4728017"/>
            <a:ext cx="1692315" cy="91986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線コネクタ 12">
            <a:extLst>
              <a:ext uri="{FF2B5EF4-FFF2-40B4-BE49-F238E27FC236}">
                <a16:creationId xmlns:a16="http://schemas.microsoft.com/office/drawing/2014/main" id="{37A3A477-3D78-4265-9214-B02E9E270F57}"/>
              </a:ext>
            </a:extLst>
          </p:cNvPr>
          <p:cNvCxnSpPr>
            <a:cxnSpLocks/>
          </p:cNvCxnSpPr>
          <p:nvPr/>
        </p:nvCxnSpPr>
        <p:spPr>
          <a:xfrm>
            <a:off x="1915763" y="1499436"/>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8D9A4F7D-22CC-4A91-81A6-F2F66FFE0D33}"/>
              </a:ext>
            </a:extLst>
          </p:cNvPr>
          <p:cNvCxnSpPr>
            <a:cxnSpLocks/>
          </p:cNvCxnSpPr>
          <p:nvPr/>
        </p:nvCxnSpPr>
        <p:spPr>
          <a:xfrm>
            <a:off x="3754448" y="2602503"/>
            <a:ext cx="16857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5883917"/>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536</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５．ＳＰＣ（工程能力指数の算出例）</a:t>
            </a:r>
          </a:p>
        </p:txBody>
      </p:sp>
      <p:graphicFrame>
        <p:nvGraphicFramePr>
          <p:cNvPr id="3" name="表 2">
            <a:extLst>
              <a:ext uri="{FF2B5EF4-FFF2-40B4-BE49-F238E27FC236}">
                <a16:creationId xmlns:a16="http://schemas.microsoft.com/office/drawing/2014/main" id="{7ACE9837-32FA-48C3-BE63-ECB1D21EB467}"/>
              </a:ext>
            </a:extLst>
          </p:cNvPr>
          <p:cNvGraphicFramePr>
            <a:graphicFrameLocks noGrp="1"/>
          </p:cNvGraphicFramePr>
          <p:nvPr>
            <p:extLst>
              <p:ext uri="{D42A27DB-BD31-4B8C-83A1-F6EECF244321}">
                <p14:modId xmlns:p14="http://schemas.microsoft.com/office/powerpoint/2010/main" val="2942834239"/>
              </p:ext>
            </p:extLst>
          </p:nvPr>
        </p:nvGraphicFramePr>
        <p:xfrm>
          <a:off x="838200" y="1425068"/>
          <a:ext cx="10515600" cy="4931282"/>
        </p:xfrm>
        <a:graphic>
          <a:graphicData uri="http://schemas.openxmlformats.org/drawingml/2006/table">
            <a:tbl>
              <a:tblPr firstRow="1" bandRow="1">
                <a:tableStyleId>{5940675A-B579-460E-94D1-54222C63F5DA}</a:tableStyleId>
              </a:tblPr>
              <a:tblGrid>
                <a:gridCol w="1288055">
                  <a:extLst>
                    <a:ext uri="{9D8B030D-6E8A-4147-A177-3AD203B41FA5}">
                      <a16:colId xmlns:a16="http://schemas.microsoft.com/office/drawing/2014/main" val="1312860127"/>
                    </a:ext>
                  </a:extLst>
                </a:gridCol>
                <a:gridCol w="859316">
                  <a:extLst>
                    <a:ext uri="{9D8B030D-6E8A-4147-A177-3AD203B41FA5}">
                      <a16:colId xmlns:a16="http://schemas.microsoft.com/office/drawing/2014/main" val="2750573813"/>
                    </a:ext>
                  </a:extLst>
                </a:gridCol>
                <a:gridCol w="2897436">
                  <a:extLst>
                    <a:ext uri="{9D8B030D-6E8A-4147-A177-3AD203B41FA5}">
                      <a16:colId xmlns:a16="http://schemas.microsoft.com/office/drawing/2014/main" val="2504759619"/>
                    </a:ext>
                  </a:extLst>
                </a:gridCol>
                <a:gridCol w="3283027">
                  <a:extLst>
                    <a:ext uri="{9D8B030D-6E8A-4147-A177-3AD203B41FA5}">
                      <a16:colId xmlns:a16="http://schemas.microsoft.com/office/drawing/2014/main" val="1428624572"/>
                    </a:ext>
                  </a:extLst>
                </a:gridCol>
                <a:gridCol w="2187766">
                  <a:extLst>
                    <a:ext uri="{9D8B030D-6E8A-4147-A177-3AD203B41FA5}">
                      <a16:colId xmlns:a16="http://schemas.microsoft.com/office/drawing/2014/main" val="3380753114"/>
                    </a:ext>
                  </a:extLst>
                </a:gridCol>
              </a:tblGrid>
              <a:tr h="693009">
                <a:tc gridSpan="2">
                  <a:txBody>
                    <a:bodyPr/>
                    <a:lstStyle/>
                    <a:p>
                      <a:pPr algn="ctr"/>
                      <a:endParaRPr kumimoji="1" lang="ja-JP" altLang="en-US" dirty="0"/>
                    </a:p>
                  </a:txBody>
                  <a:tcPr anchor="ctr">
                    <a:solidFill>
                      <a:schemeClr val="tx2">
                        <a:lumMod val="40000"/>
                        <a:lumOff val="60000"/>
                      </a:schemeClr>
                    </a:solidFill>
                  </a:tcPr>
                </a:tc>
                <a:tc hMerge="1">
                  <a:txBody>
                    <a:bodyPr/>
                    <a:lstStyle/>
                    <a:p>
                      <a:pPr algn="ctr"/>
                      <a:endParaRPr kumimoji="1" lang="ja-JP" altLang="en-US" dirty="0"/>
                    </a:p>
                  </a:txBody>
                  <a:tcPr anchor="ctr">
                    <a:solidFill>
                      <a:schemeClr val="tx2">
                        <a:lumMod val="40000"/>
                        <a:lumOff val="60000"/>
                      </a:schemeClr>
                    </a:solidFill>
                  </a:tcPr>
                </a:tc>
                <a:tc>
                  <a:txBody>
                    <a:bodyPr/>
                    <a:lstStyle/>
                    <a:p>
                      <a:pPr algn="ctr"/>
                      <a:r>
                        <a:rPr kumimoji="1" lang="ja-JP" altLang="en-US" dirty="0"/>
                        <a:t>算出式</a:t>
                      </a:r>
                    </a:p>
                  </a:txBody>
                  <a:tcPr anchor="ctr">
                    <a:solidFill>
                      <a:schemeClr val="tx2">
                        <a:lumMod val="40000"/>
                        <a:lumOff val="60000"/>
                      </a:schemeClr>
                    </a:solidFill>
                  </a:tcPr>
                </a:tc>
                <a:tc gridSpan="2">
                  <a:txBody>
                    <a:bodyPr/>
                    <a:lstStyle/>
                    <a:p>
                      <a:pPr algn="ctr"/>
                      <a:r>
                        <a:rPr kumimoji="1" lang="ja-JP" altLang="en-US" dirty="0"/>
                        <a:t>算出結果</a:t>
                      </a:r>
                    </a:p>
                  </a:txBody>
                  <a:tcPr anchor="ctr">
                    <a:solidFill>
                      <a:schemeClr val="tx2">
                        <a:lumMod val="40000"/>
                        <a:lumOff val="60000"/>
                      </a:schemeClr>
                    </a:solidFill>
                  </a:tcPr>
                </a:tc>
                <a:tc hMerge="1">
                  <a:txBody>
                    <a:bodyPr/>
                    <a:lstStyle/>
                    <a:p>
                      <a:pPr algn="ctr"/>
                      <a:endParaRPr kumimoji="1" lang="ja-JP" altLang="en-US" dirty="0"/>
                    </a:p>
                  </a:txBody>
                  <a:tcPr anchor="ctr">
                    <a:solidFill>
                      <a:schemeClr val="tx2">
                        <a:lumMod val="40000"/>
                        <a:lumOff val="60000"/>
                      </a:schemeClr>
                    </a:solidFill>
                  </a:tcPr>
                </a:tc>
                <a:extLst>
                  <a:ext uri="{0D108BD9-81ED-4DB2-BD59-A6C34878D82A}">
                    <a16:rowId xmlns:a16="http://schemas.microsoft.com/office/drawing/2014/main" val="1443863259"/>
                  </a:ext>
                </a:extLst>
              </a:tr>
              <a:tr h="691316">
                <a:tc rowSpan="3">
                  <a:txBody>
                    <a:bodyPr/>
                    <a:lstStyle/>
                    <a:p>
                      <a:r>
                        <a:rPr kumimoji="1" lang="ja-JP" altLang="en-US" dirty="0"/>
                        <a:t>工程能力指数</a:t>
                      </a:r>
                    </a:p>
                  </a:txBody>
                  <a:tcPr/>
                </a:tc>
                <a:tc>
                  <a:txBody>
                    <a:bodyPr/>
                    <a:lstStyle/>
                    <a:p>
                      <a:r>
                        <a:rPr kumimoji="1" lang="en-US" altLang="ja-JP" dirty="0"/>
                        <a:t>Cp</a:t>
                      </a:r>
                      <a:endParaRPr kumimoji="1" lang="ja-JP" altLang="en-US" dirty="0"/>
                    </a:p>
                  </a:txBody>
                  <a:tcPr/>
                </a:tc>
                <a:tc>
                  <a:txBody>
                    <a:bodyPr/>
                    <a:lstStyle/>
                    <a:p>
                      <a:endParaRPr kumimoji="1" lang="ja-JP" altLang="en-US" dirty="0"/>
                    </a:p>
                  </a:txBody>
                  <a:tcPr/>
                </a:tc>
                <a:tc gridSpan="2">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1193745117"/>
                  </a:ext>
                </a:extLst>
              </a:tr>
              <a:tr h="711725">
                <a:tc vMerge="1">
                  <a:txBody>
                    <a:bodyPr/>
                    <a:lstStyle/>
                    <a:p>
                      <a:endParaRPr kumimoji="1" lang="ja-JP" altLang="en-US" dirty="0"/>
                    </a:p>
                  </a:txBody>
                  <a:tcPr/>
                </a:tc>
                <a:tc rowSpan="2">
                  <a:txBody>
                    <a:bodyPr/>
                    <a:lstStyle/>
                    <a:p>
                      <a:r>
                        <a:rPr kumimoji="1" lang="en-US" altLang="ja-JP" dirty="0" err="1"/>
                        <a:t>Cpk</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rowSpan="2">
                  <a:txBody>
                    <a:bodyPr/>
                    <a:lstStyle/>
                    <a:p>
                      <a:r>
                        <a:rPr kumimoji="1" lang="ja-JP" altLang="en-US" dirty="0"/>
                        <a:t>結果、</a:t>
                      </a:r>
                      <a:endParaRPr kumimoji="1" lang="en-US" altLang="ja-JP" dirty="0"/>
                    </a:p>
                    <a:p>
                      <a:r>
                        <a:rPr kumimoji="1" lang="en-US" altLang="ja-JP" dirty="0" err="1"/>
                        <a:t>Cpk</a:t>
                      </a:r>
                      <a:r>
                        <a:rPr kumimoji="1" lang="ja-JP" altLang="en-US" dirty="0"/>
                        <a:t>＝</a:t>
                      </a:r>
                      <a:r>
                        <a:rPr kumimoji="1" lang="en-US" altLang="ja-JP" dirty="0"/>
                        <a:t>1.45</a:t>
                      </a:r>
                      <a:endParaRPr kumimoji="1" lang="ja-JP" altLang="en-US" dirty="0"/>
                    </a:p>
                  </a:txBody>
                  <a:tcPr/>
                </a:tc>
                <a:extLst>
                  <a:ext uri="{0D108BD9-81ED-4DB2-BD59-A6C34878D82A}">
                    <a16:rowId xmlns:a16="http://schemas.microsoft.com/office/drawing/2014/main" val="1894173260"/>
                  </a:ext>
                </a:extLst>
              </a:tr>
              <a:tr h="711725">
                <a:tc vMerge="1">
                  <a:txBody>
                    <a:bodyPr/>
                    <a:lstStyle/>
                    <a:p>
                      <a:endParaRPr kumimoji="1" lang="ja-JP" altLang="en-US" dirty="0"/>
                    </a:p>
                  </a:txBody>
                  <a:tcPr/>
                </a:tc>
                <a:tc vMerge="1">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vMerge="1">
                  <a:txBody>
                    <a:bodyPr/>
                    <a:lstStyle/>
                    <a:p>
                      <a:endParaRPr kumimoji="1" lang="ja-JP" altLang="en-US" dirty="0"/>
                    </a:p>
                  </a:txBody>
                  <a:tcPr/>
                </a:tc>
                <a:extLst>
                  <a:ext uri="{0D108BD9-81ED-4DB2-BD59-A6C34878D82A}">
                    <a16:rowId xmlns:a16="http://schemas.microsoft.com/office/drawing/2014/main" val="2530819024"/>
                  </a:ext>
                </a:extLst>
              </a:tr>
              <a:tr h="723393">
                <a:tc rowSpan="3">
                  <a:txBody>
                    <a:bodyPr/>
                    <a:lstStyle/>
                    <a:p>
                      <a:r>
                        <a:rPr kumimoji="1" lang="ja-JP" altLang="en-US" dirty="0"/>
                        <a:t>工程性能指数</a:t>
                      </a:r>
                    </a:p>
                  </a:txBody>
                  <a:tcPr/>
                </a:tc>
                <a:tc>
                  <a:txBody>
                    <a:bodyPr/>
                    <a:lstStyle/>
                    <a:p>
                      <a:r>
                        <a:rPr kumimoji="1" lang="en-US" altLang="ja-JP" dirty="0"/>
                        <a:t>Pp</a:t>
                      </a:r>
                      <a:endParaRPr kumimoji="1" lang="ja-JP" altLang="en-US" dirty="0"/>
                    </a:p>
                  </a:txBody>
                  <a:tcPr/>
                </a:tc>
                <a:tc>
                  <a:txBody>
                    <a:bodyPr/>
                    <a:lstStyle/>
                    <a:p>
                      <a:endParaRPr kumimoji="1" lang="ja-JP" altLang="en-US" dirty="0"/>
                    </a:p>
                  </a:txBody>
                  <a:tcPr/>
                </a:tc>
                <a:tc gridSpan="2">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3467745310"/>
                  </a:ext>
                </a:extLst>
              </a:tr>
              <a:tr h="700057">
                <a:tc vMerge="1">
                  <a:txBody>
                    <a:bodyPr/>
                    <a:lstStyle/>
                    <a:p>
                      <a:endParaRPr kumimoji="1" lang="ja-JP" altLang="en-US" dirty="0"/>
                    </a:p>
                  </a:txBody>
                  <a:tcPr/>
                </a:tc>
                <a:tc rowSpan="2">
                  <a:txBody>
                    <a:bodyPr/>
                    <a:lstStyle/>
                    <a:p>
                      <a:r>
                        <a:rPr kumimoji="1" lang="en-US" altLang="ja-JP" dirty="0" err="1"/>
                        <a:t>Ppk</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rowSpan="2">
                  <a:txBody>
                    <a:bodyPr/>
                    <a:lstStyle/>
                    <a:p>
                      <a:r>
                        <a:rPr kumimoji="1" lang="ja-JP" altLang="en-US" dirty="0"/>
                        <a:t>結果、</a:t>
                      </a:r>
                      <a:endParaRPr kumimoji="1" lang="en-US" altLang="ja-JP" dirty="0"/>
                    </a:p>
                    <a:p>
                      <a:r>
                        <a:rPr kumimoji="1" lang="en-US" altLang="ja-JP" dirty="0" err="1"/>
                        <a:t>Ppk</a:t>
                      </a:r>
                      <a:r>
                        <a:rPr kumimoji="1" lang="ja-JP" altLang="en-US" dirty="0"/>
                        <a:t>＝</a:t>
                      </a:r>
                      <a:r>
                        <a:rPr kumimoji="1" lang="en-US" altLang="ja-JP" dirty="0"/>
                        <a:t>1.68</a:t>
                      </a:r>
                      <a:endParaRPr kumimoji="1" lang="ja-JP" altLang="en-US" dirty="0"/>
                    </a:p>
                  </a:txBody>
                  <a:tcPr/>
                </a:tc>
                <a:extLst>
                  <a:ext uri="{0D108BD9-81ED-4DB2-BD59-A6C34878D82A}">
                    <a16:rowId xmlns:a16="http://schemas.microsoft.com/office/drawing/2014/main" val="3903506182"/>
                  </a:ext>
                </a:extLst>
              </a:tr>
              <a:tr h="700057">
                <a:tc vMerge="1">
                  <a:txBody>
                    <a:bodyPr/>
                    <a:lstStyle/>
                    <a:p>
                      <a:endParaRPr kumimoji="1" lang="ja-JP" altLang="en-US" dirty="0"/>
                    </a:p>
                  </a:txBody>
                  <a:tcPr/>
                </a:tc>
                <a:tc vMerge="1">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vMerge="1">
                  <a:txBody>
                    <a:bodyPr/>
                    <a:lstStyle/>
                    <a:p>
                      <a:endParaRPr kumimoji="1" lang="ja-JP" altLang="en-US" dirty="0"/>
                    </a:p>
                  </a:txBody>
                  <a:tcPr/>
                </a:tc>
                <a:extLst>
                  <a:ext uri="{0D108BD9-81ED-4DB2-BD59-A6C34878D82A}">
                    <a16:rowId xmlns:a16="http://schemas.microsoft.com/office/drawing/2014/main" val="3231611357"/>
                  </a:ext>
                </a:extLst>
              </a:tr>
            </a:tbl>
          </a:graphicData>
        </a:graphic>
      </p:graphicFrame>
      <p:pic>
        <p:nvPicPr>
          <p:cNvPr id="14" name="図 13">
            <a:extLst>
              <a:ext uri="{FF2B5EF4-FFF2-40B4-BE49-F238E27FC236}">
                <a16:creationId xmlns:a16="http://schemas.microsoft.com/office/drawing/2014/main" id="{1B99B506-FC52-46A3-9653-129D303B2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798" y="2103653"/>
            <a:ext cx="3018621" cy="665201"/>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a:extLst>
              <a:ext uri="{FF2B5EF4-FFF2-40B4-BE49-F238E27FC236}">
                <a16:creationId xmlns:a16="http://schemas.microsoft.com/office/drawing/2014/main" id="{8ABB150C-FA63-4CCA-B0FF-9E44034D3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589" y="2870042"/>
            <a:ext cx="2617416" cy="644338"/>
          </a:xfrm>
          <a:prstGeom prst="rect">
            <a:avLst/>
          </a:prstGeom>
          <a:noFill/>
          <a:extLst>
            <a:ext uri="{909E8E84-426E-40DD-AFC4-6F175D3DCCD1}">
              <a14:hiddenFill xmlns:a14="http://schemas.microsoft.com/office/drawing/2010/main">
                <a:solidFill>
                  <a:srgbClr val="FFFFFF"/>
                </a:solidFill>
              </a14:hiddenFill>
            </a:ext>
          </a:extLst>
        </p:spPr>
      </p:pic>
      <p:pic>
        <p:nvPicPr>
          <p:cNvPr id="16" name="図 15">
            <a:extLst>
              <a:ext uri="{FF2B5EF4-FFF2-40B4-BE49-F238E27FC236}">
                <a16:creationId xmlns:a16="http://schemas.microsoft.com/office/drawing/2014/main" id="{FF4A1379-B511-4BD2-BC9D-0F932DAD86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3797" y="2814380"/>
            <a:ext cx="3018621" cy="665200"/>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158F21CF-74C6-42F9-B009-ADF1F966AC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6588" y="3582078"/>
            <a:ext cx="2710149" cy="644337"/>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4D293A43-7F56-4225-8B3F-B48F925013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63797" y="3544500"/>
            <a:ext cx="3018622" cy="665199"/>
          </a:xfrm>
          <a:prstGeom prst="rect">
            <a:avLst/>
          </a:prstGeom>
          <a:noFill/>
          <a:extLst>
            <a:ext uri="{909E8E84-426E-40DD-AFC4-6F175D3DCCD1}">
              <a14:hiddenFill xmlns:a14="http://schemas.microsoft.com/office/drawing/2010/main">
                <a:solidFill>
                  <a:srgbClr val="FFFFFF"/>
                </a:solidFill>
              </a14:hiddenFill>
            </a:ext>
          </a:extLst>
        </p:spPr>
      </p:pic>
      <p:pic>
        <p:nvPicPr>
          <p:cNvPr id="19" name="図 18">
            <a:extLst>
              <a:ext uri="{FF2B5EF4-FFF2-40B4-BE49-F238E27FC236}">
                <a16:creationId xmlns:a16="http://schemas.microsoft.com/office/drawing/2014/main" id="{2F323158-B009-4EDF-892A-1B5B678A8D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6588" y="4294113"/>
            <a:ext cx="2710149" cy="658695"/>
          </a:xfrm>
          <a:prstGeom prst="rect">
            <a:avLst/>
          </a:prstGeom>
          <a:noFill/>
          <a:extLst>
            <a:ext uri="{909E8E84-426E-40DD-AFC4-6F175D3DCCD1}">
              <a14:hiddenFill xmlns:a14="http://schemas.microsoft.com/office/drawing/2010/main">
                <a:solidFill>
                  <a:srgbClr val="FFFFFF"/>
                </a:solidFill>
              </a14:hiddenFill>
            </a:ext>
          </a:extLst>
        </p:spPr>
      </p:pic>
      <p:pic>
        <p:nvPicPr>
          <p:cNvPr id="21" name="図 20">
            <a:extLst>
              <a:ext uri="{FF2B5EF4-FFF2-40B4-BE49-F238E27FC236}">
                <a16:creationId xmlns:a16="http://schemas.microsoft.com/office/drawing/2014/main" id="{E51B18D1-7B94-47D4-8922-A824ADFE50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6588" y="5020505"/>
            <a:ext cx="2710149" cy="596529"/>
          </a:xfrm>
          <a:prstGeom prst="rect">
            <a:avLst/>
          </a:prstGeom>
          <a:noFill/>
          <a:extLst>
            <a:ext uri="{909E8E84-426E-40DD-AFC4-6F175D3DCCD1}">
              <a14:hiddenFill xmlns:a14="http://schemas.microsoft.com/office/drawing/2010/main">
                <a:solidFill>
                  <a:srgbClr val="FFFFFF"/>
                </a:solidFill>
              </a14:hiddenFill>
            </a:ext>
          </a:extLst>
        </p:spPr>
      </p:pic>
      <p:pic>
        <p:nvPicPr>
          <p:cNvPr id="22" name="図 21">
            <a:extLst>
              <a:ext uri="{FF2B5EF4-FFF2-40B4-BE49-F238E27FC236}">
                <a16:creationId xmlns:a16="http://schemas.microsoft.com/office/drawing/2014/main" id="{3BCCB745-E385-4463-BD92-188C4B55D4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96847" y="4985345"/>
            <a:ext cx="3018621" cy="681916"/>
          </a:xfrm>
          <a:prstGeom prst="rect">
            <a:avLst/>
          </a:prstGeom>
          <a:noFill/>
          <a:extLst>
            <a:ext uri="{909E8E84-426E-40DD-AFC4-6F175D3DCCD1}">
              <a14:hiddenFill xmlns:a14="http://schemas.microsoft.com/office/drawing/2010/main">
                <a:solidFill>
                  <a:srgbClr val="FFFFFF"/>
                </a:solidFill>
              </a14:hiddenFill>
            </a:ext>
          </a:extLst>
        </p:spPr>
      </p:pic>
      <p:pic>
        <p:nvPicPr>
          <p:cNvPr id="23" name="図 22">
            <a:extLst>
              <a:ext uri="{FF2B5EF4-FFF2-40B4-BE49-F238E27FC236}">
                <a16:creationId xmlns:a16="http://schemas.microsoft.com/office/drawing/2014/main" id="{29861030-26C7-4B71-B032-EE2416EE322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6588" y="5713348"/>
            <a:ext cx="2677099" cy="622138"/>
          </a:xfrm>
          <a:prstGeom prst="rect">
            <a:avLst/>
          </a:prstGeom>
          <a:noFill/>
          <a:extLst>
            <a:ext uri="{909E8E84-426E-40DD-AFC4-6F175D3DCCD1}">
              <a14:hiddenFill xmlns:a14="http://schemas.microsoft.com/office/drawing/2010/main">
                <a:solidFill>
                  <a:srgbClr val="FFFFFF"/>
                </a:solidFill>
              </a14:hiddenFill>
            </a:ext>
          </a:extLst>
        </p:spPr>
      </p:pic>
      <p:pic>
        <p:nvPicPr>
          <p:cNvPr id="24" name="図 23">
            <a:extLst>
              <a:ext uri="{FF2B5EF4-FFF2-40B4-BE49-F238E27FC236}">
                <a16:creationId xmlns:a16="http://schemas.microsoft.com/office/drawing/2014/main" id="{C0845143-CD85-408F-9D99-946C8224EF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56265" y="5696071"/>
            <a:ext cx="3018621" cy="633060"/>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a:extLst>
              <a:ext uri="{FF2B5EF4-FFF2-40B4-BE49-F238E27FC236}">
                <a16:creationId xmlns:a16="http://schemas.microsoft.com/office/drawing/2014/main" id="{0586D0D8-DA17-4CF6-A76E-491DD8FA8ED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89032" y="4294113"/>
            <a:ext cx="2993386" cy="589009"/>
          </a:xfrm>
          <a:prstGeom prst="rect">
            <a:avLst/>
          </a:prstGeom>
          <a:noFill/>
          <a:extLst>
            <a:ext uri="{909E8E84-426E-40DD-AFC4-6F175D3DCCD1}">
              <a14:hiddenFill xmlns:a14="http://schemas.microsoft.com/office/drawing/2010/main">
                <a:solidFill>
                  <a:srgbClr val="FFFFFF"/>
                </a:solidFill>
              </a14:hiddenFill>
            </a:ext>
          </a:extLst>
        </p:spPr>
      </p:pic>
      <p:pic>
        <p:nvPicPr>
          <p:cNvPr id="20" name="図 19">
            <a:extLst>
              <a:ext uri="{FF2B5EF4-FFF2-40B4-BE49-F238E27FC236}">
                <a16:creationId xmlns:a16="http://schemas.microsoft.com/office/drawing/2014/main" id="{EB3195BB-6189-47F1-B97B-9F4E72E8FCF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96588" y="2124517"/>
            <a:ext cx="2835251" cy="644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309583"/>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工程能力と不良率の関係</a:t>
            </a: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endParaRPr lang="en-US" altLang="ja-JP" sz="2400" dirty="0"/>
          </a:p>
          <a:p>
            <a:pPr marL="457200" indent="-457200">
              <a:lnSpc>
                <a:spcPct val="100000"/>
              </a:lnSpc>
              <a:buFont typeface="+mj-lt"/>
              <a:buAutoNum type="arabicPeriod"/>
            </a:pPr>
            <a:r>
              <a:rPr lang="ja-JP" altLang="en-US" sz="2400" dirty="0"/>
              <a:t>一般的な工業製品の場合</a:t>
            </a:r>
            <a:r>
              <a:rPr lang="en-US" altLang="ja-JP" sz="2400" dirty="0" err="1"/>
              <a:t>Cpk</a:t>
            </a:r>
            <a:r>
              <a:rPr lang="ja-JP" altLang="en-US" sz="2400" dirty="0"/>
              <a:t>＝</a:t>
            </a:r>
            <a:r>
              <a:rPr lang="en-US" altLang="ja-JP" sz="2400" dirty="0"/>
              <a:t>1.33</a:t>
            </a:r>
            <a:r>
              <a:rPr lang="ja-JP" altLang="en-US" sz="2400" dirty="0"/>
              <a:t>で充分とされるが、自動車の場合、安全性能及び環境性能への影響の大きさから、１</a:t>
            </a:r>
            <a:r>
              <a:rPr lang="en-US" altLang="ja-JP" sz="2400" dirty="0"/>
              <a:t>ppm</a:t>
            </a:r>
            <a:r>
              <a:rPr lang="ja-JP" altLang="en-US" sz="2400" dirty="0"/>
              <a:t>程度の品質レベルが要求される。</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537</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５．ＳＰＣ（工程能力指数と不良率）</a:t>
            </a:r>
          </a:p>
        </p:txBody>
      </p:sp>
      <p:graphicFrame>
        <p:nvGraphicFramePr>
          <p:cNvPr id="3" name="表 2">
            <a:extLst>
              <a:ext uri="{FF2B5EF4-FFF2-40B4-BE49-F238E27FC236}">
                <a16:creationId xmlns:a16="http://schemas.microsoft.com/office/drawing/2014/main" id="{87743A22-3C9D-46D4-96B8-982A1E1A05DE}"/>
              </a:ext>
            </a:extLst>
          </p:cNvPr>
          <p:cNvGraphicFramePr>
            <a:graphicFrameLocks noGrp="1"/>
          </p:cNvGraphicFramePr>
          <p:nvPr>
            <p:extLst>
              <p:ext uri="{D42A27DB-BD31-4B8C-83A1-F6EECF244321}">
                <p14:modId xmlns:p14="http://schemas.microsoft.com/office/powerpoint/2010/main" val="1751307210"/>
              </p:ext>
            </p:extLst>
          </p:nvPr>
        </p:nvGraphicFramePr>
        <p:xfrm>
          <a:off x="838200" y="1865419"/>
          <a:ext cx="7468518" cy="2750646"/>
        </p:xfrm>
        <a:graphic>
          <a:graphicData uri="http://schemas.openxmlformats.org/drawingml/2006/table">
            <a:tbl>
              <a:tblPr firstRow="1" bandRow="1">
                <a:tableStyleId>{5940675A-B579-460E-94D1-54222C63F5DA}</a:tableStyleId>
              </a:tblPr>
              <a:tblGrid>
                <a:gridCol w="1973433">
                  <a:extLst>
                    <a:ext uri="{9D8B030D-6E8A-4147-A177-3AD203B41FA5}">
                      <a16:colId xmlns:a16="http://schemas.microsoft.com/office/drawing/2014/main" val="129109440"/>
                    </a:ext>
                  </a:extLst>
                </a:gridCol>
                <a:gridCol w="2842695">
                  <a:extLst>
                    <a:ext uri="{9D8B030D-6E8A-4147-A177-3AD203B41FA5}">
                      <a16:colId xmlns:a16="http://schemas.microsoft.com/office/drawing/2014/main" val="322446956"/>
                    </a:ext>
                  </a:extLst>
                </a:gridCol>
                <a:gridCol w="2652390">
                  <a:extLst>
                    <a:ext uri="{9D8B030D-6E8A-4147-A177-3AD203B41FA5}">
                      <a16:colId xmlns:a16="http://schemas.microsoft.com/office/drawing/2014/main" val="3168344048"/>
                    </a:ext>
                  </a:extLst>
                </a:gridCol>
              </a:tblGrid>
              <a:tr h="458441">
                <a:tc>
                  <a:txBody>
                    <a:bodyPr/>
                    <a:lstStyle/>
                    <a:p>
                      <a:pPr algn="ctr"/>
                      <a:r>
                        <a:rPr kumimoji="1" lang="ja-JP" altLang="en-US" sz="2000" dirty="0"/>
                        <a:t>工程能力指数</a:t>
                      </a:r>
                    </a:p>
                  </a:txBody>
                  <a:tcPr anchor="ctr">
                    <a:solidFill>
                      <a:schemeClr val="tx2">
                        <a:lumMod val="40000"/>
                        <a:lumOff val="60000"/>
                      </a:schemeClr>
                    </a:solidFill>
                  </a:tcPr>
                </a:tc>
                <a:tc>
                  <a:txBody>
                    <a:bodyPr/>
                    <a:lstStyle/>
                    <a:p>
                      <a:pPr algn="ctr"/>
                      <a:r>
                        <a:rPr kumimoji="1" lang="ja-JP" altLang="en-US" sz="2000" dirty="0"/>
                        <a:t>片側分布幅の比率</a:t>
                      </a:r>
                    </a:p>
                  </a:txBody>
                  <a:tcPr anchor="ctr">
                    <a:solidFill>
                      <a:schemeClr val="tx2">
                        <a:lumMod val="40000"/>
                        <a:lumOff val="60000"/>
                      </a:schemeClr>
                    </a:solidFill>
                  </a:tcPr>
                </a:tc>
                <a:tc>
                  <a:txBody>
                    <a:bodyPr/>
                    <a:lstStyle/>
                    <a:p>
                      <a:pPr algn="ctr"/>
                      <a:r>
                        <a:rPr kumimoji="1" lang="ja-JP" altLang="en-US" sz="2000" dirty="0"/>
                        <a:t>不良率</a:t>
                      </a:r>
                    </a:p>
                  </a:txBody>
                  <a:tcPr anchor="ctr">
                    <a:solidFill>
                      <a:schemeClr val="tx2">
                        <a:lumMod val="40000"/>
                        <a:lumOff val="60000"/>
                      </a:schemeClr>
                    </a:solidFill>
                  </a:tcPr>
                </a:tc>
                <a:extLst>
                  <a:ext uri="{0D108BD9-81ED-4DB2-BD59-A6C34878D82A}">
                    <a16:rowId xmlns:a16="http://schemas.microsoft.com/office/drawing/2014/main" val="1020272398"/>
                  </a:ext>
                </a:extLst>
              </a:tr>
              <a:tr h="458441">
                <a:tc>
                  <a:txBody>
                    <a:bodyPr/>
                    <a:lstStyle/>
                    <a:p>
                      <a:pPr algn="ctr"/>
                      <a:r>
                        <a:rPr kumimoji="1" lang="ja-JP" altLang="en-US" sz="2000" dirty="0"/>
                        <a:t>０．６７</a:t>
                      </a:r>
                    </a:p>
                  </a:txBody>
                  <a:tcPr anchor="ctr"/>
                </a:tc>
                <a:tc>
                  <a:txBody>
                    <a:bodyPr/>
                    <a:lstStyle/>
                    <a:p>
                      <a:pPr algn="ctr"/>
                      <a:r>
                        <a:rPr kumimoji="1" lang="ja-JP" altLang="en-US" sz="2000" dirty="0"/>
                        <a:t>２</a:t>
                      </a:r>
                      <a:r>
                        <a:rPr kumimoji="1" lang="en-US" altLang="ja-JP" sz="2000" dirty="0"/>
                        <a:t>σ</a:t>
                      </a:r>
                      <a:r>
                        <a:rPr kumimoji="1" lang="ja-JP" altLang="en-US" sz="2000" dirty="0"/>
                        <a:t>／３</a:t>
                      </a:r>
                      <a:r>
                        <a:rPr kumimoji="1" lang="en-US" altLang="ja-JP" sz="2000" dirty="0"/>
                        <a:t>σ</a:t>
                      </a:r>
                      <a:endParaRPr kumimoji="1" lang="ja-JP" altLang="en-US" sz="2000" dirty="0"/>
                    </a:p>
                  </a:txBody>
                  <a:tcPr anchor="ctr"/>
                </a:tc>
                <a:tc>
                  <a:txBody>
                    <a:bodyPr/>
                    <a:lstStyle/>
                    <a:p>
                      <a:pPr algn="ctr"/>
                      <a:r>
                        <a:rPr kumimoji="1" lang="ja-JP" altLang="en-US" sz="2000" dirty="0"/>
                        <a:t>４．５％</a:t>
                      </a:r>
                    </a:p>
                  </a:txBody>
                  <a:tcPr anchor="ctr"/>
                </a:tc>
                <a:extLst>
                  <a:ext uri="{0D108BD9-81ED-4DB2-BD59-A6C34878D82A}">
                    <a16:rowId xmlns:a16="http://schemas.microsoft.com/office/drawing/2014/main" val="1927304046"/>
                  </a:ext>
                </a:extLst>
              </a:tr>
              <a:tr h="458441">
                <a:tc>
                  <a:txBody>
                    <a:bodyPr/>
                    <a:lstStyle/>
                    <a:p>
                      <a:pPr algn="ctr"/>
                      <a:r>
                        <a:rPr kumimoji="1" lang="ja-JP" altLang="en-US" sz="2000" dirty="0"/>
                        <a:t>１．００</a:t>
                      </a:r>
                    </a:p>
                  </a:txBody>
                  <a:tcPr anchor="ctr"/>
                </a:tc>
                <a:tc>
                  <a:txBody>
                    <a:bodyPr/>
                    <a:lstStyle/>
                    <a:p>
                      <a:pPr algn="ctr"/>
                      <a:r>
                        <a:rPr kumimoji="1" lang="ja-JP" altLang="en-US" sz="2000" dirty="0"/>
                        <a:t>３</a:t>
                      </a:r>
                      <a:r>
                        <a:rPr kumimoji="1" lang="en-US" altLang="ja-JP" sz="2000" dirty="0"/>
                        <a:t>σ</a:t>
                      </a:r>
                      <a:r>
                        <a:rPr kumimoji="1" lang="ja-JP" altLang="en-US" sz="2000" dirty="0"/>
                        <a:t>／３</a:t>
                      </a:r>
                      <a:r>
                        <a:rPr kumimoji="1" lang="en-US" altLang="ja-JP" sz="2000" dirty="0"/>
                        <a:t>σ</a:t>
                      </a:r>
                      <a:endParaRPr kumimoji="1" lang="ja-JP" altLang="en-US" sz="2000" dirty="0"/>
                    </a:p>
                  </a:txBody>
                  <a:tcPr anchor="ctr"/>
                </a:tc>
                <a:tc>
                  <a:txBody>
                    <a:bodyPr/>
                    <a:lstStyle/>
                    <a:p>
                      <a:pPr algn="ctr"/>
                      <a:r>
                        <a:rPr kumimoji="1" lang="ja-JP" altLang="en-US" sz="2000" dirty="0"/>
                        <a:t>０．２７％</a:t>
                      </a:r>
                    </a:p>
                  </a:txBody>
                  <a:tcPr anchor="ctr"/>
                </a:tc>
                <a:extLst>
                  <a:ext uri="{0D108BD9-81ED-4DB2-BD59-A6C34878D82A}">
                    <a16:rowId xmlns:a16="http://schemas.microsoft.com/office/drawing/2014/main" val="2020966978"/>
                  </a:ext>
                </a:extLst>
              </a:tr>
              <a:tr h="458441">
                <a:tc>
                  <a:txBody>
                    <a:bodyPr/>
                    <a:lstStyle/>
                    <a:p>
                      <a:pPr algn="ctr"/>
                      <a:r>
                        <a:rPr kumimoji="1" lang="ja-JP" altLang="en-US" sz="2000" dirty="0"/>
                        <a:t>１．３３</a:t>
                      </a:r>
                    </a:p>
                  </a:txBody>
                  <a:tcPr anchor="ctr"/>
                </a:tc>
                <a:tc>
                  <a:txBody>
                    <a:bodyPr/>
                    <a:lstStyle/>
                    <a:p>
                      <a:pPr algn="ctr"/>
                      <a:r>
                        <a:rPr kumimoji="1" lang="ja-JP" altLang="en-US" sz="2000" dirty="0"/>
                        <a:t>４</a:t>
                      </a:r>
                      <a:r>
                        <a:rPr kumimoji="1" lang="en-US" altLang="ja-JP" sz="2000" dirty="0"/>
                        <a:t>σ</a:t>
                      </a:r>
                      <a:r>
                        <a:rPr kumimoji="1" lang="ja-JP" altLang="en-US" sz="2000" dirty="0"/>
                        <a:t>／３</a:t>
                      </a:r>
                      <a:r>
                        <a:rPr kumimoji="1" lang="en-US" altLang="ja-JP" sz="2000" dirty="0"/>
                        <a:t>σ</a:t>
                      </a:r>
                      <a:endParaRPr kumimoji="1" lang="ja-JP" altLang="en-US" sz="2000" dirty="0"/>
                    </a:p>
                  </a:txBody>
                  <a:tcPr anchor="ctr"/>
                </a:tc>
                <a:tc>
                  <a:txBody>
                    <a:bodyPr/>
                    <a:lstStyle/>
                    <a:p>
                      <a:pPr algn="ctr"/>
                      <a:r>
                        <a:rPr kumimoji="1" lang="ja-JP" altLang="en-US" sz="2000" dirty="0"/>
                        <a:t>６３</a:t>
                      </a:r>
                      <a:r>
                        <a:rPr kumimoji="1" lang="en-US" altLang="ja-JP" sz="2000" dirty="0"/>
                        <a:t>ppm</a:t>
                      </a:r>
                      <a:endParaRPr kumimoji="1" lang="ja-JP" altLang="en-US" sz="2000" dirty="0"/>
                    </a:p>
                  </a:txBody>
                  <a:tcPr anchor="ctr"/>
                </a:tc>
                <a:extLst>
                  <a:ext uri="{0D108BD9-81ED-4DB2-BD59-A6C34878D82A}">
                    <a16:rowId xmlns:a16="http://schemas.microsoft.com/office/drawing/2014/main" val="470405772"/>
                  </a:ext>
                </a:extLst>
              </a:tr>
              <a:tr h="458441">
                <a:tc>
                  <a:txBody>
                    <a:bodyPr/>
                    <a:lstStyle/>
                    <a:p>
                      <a:pPr algn="ctr"/>
                      <a:r>
                        <a:rPr kumimoji="1" lang="ja-JP" altLang="en-US" sz="2000" dirty="0"/>
                        <a:t>１．６７</a:t>
                      </a:r>
                    </a:p>
                  </a:txBody>
                  <a:tcPr anchor="ctr"/>
                </a:tc>
                <a:tc>
                  <a:txBody>
                    <a:bodyPr/>
                    <a:lstStyle/>
                    <a:p>
                      <a:pPr algn="ctr"/>
                      <a:r>
                        <a:rPr kumimoji="1" lang="ja-JP" altLang="en-US" sz="2000" dirty="0"/>
                        <a:t>５</a:t>
                      </a:r>
                      <a:r>
                        <a:rPr kumimoji="1" lang="en-US" altLang="ja-JP" sz="2000" dirty="0"/>
                        <a:t>σ</a:t>
                      </a:r>
                      <a:r>
                        <a:rPr kumimoji="1" lang="ja-JP" altLang="en-US" sz="2000" dirty="0"/>
                        <a:t>／３</a:t>
                      </a:r>
                      <a:r>
                        <a:rPr kumimoji="1" lang="en-US" altLang="ja-JP" sz="2000" dirty="0"/>
                        <a:t>σ</a:t>
                      </a:r>
                      <a:endParaRPr kumimoji="1" lang="ja-JP" altLang="en-US" sz="2000" dirty="0"/>
                    </a:p>
                  </a:txBody>
                  <a:tcPr anchor="ctr"/>
                </a:tc>
                <a:tc>
                  <a:txBody>
                    <a:bodyPr/>
                    <a:lstStyle/>
                    <a:p>
                      <a:pPr algn="ctr"/>
                      <a:r>
                        <a:rPr kumimoji="1" lang="ja-JP" altLang="en-US" sz="2000" dirty="0"/>
                        <a:t>０．５７</a:t>
                      </a:r>
                      <a:r>
                        <a:rPr kumimoji="1" lang="en-US" altLang="ja-JP" sz="2000" dirty="0"/>
                        <a:t>ppm</a:t>
                      </a:r>
                      <a:endParaRPr kumimoji="1" lang="ja-JP" altLang="en-US" sz="2000" dirty="0"/>
                    </a:p>
                  </a:txBody>
                  <a:tcPr anchor="ctr"/>
                </a:tc>
                <a:extLst>
                  <a:ext uri="{0D108BD9-81ED-4DB2-BD59-A6C34878D82A}">
                    <a16:rowId xmlns:a16="http://schemas.microsoft.com/office/drawing/2014/main" val="3615059084"/>
                  </a:ext>
                </a:extLst>
              </a:tr>
              <a:tr h="458441">
                <a:tc>
                  <a:txBody>
                    <a:bodyPr/>
                    <a:lstStyle/>
                    <a:p>
                      <a:pPr algn="ctr"/>
                      <a:r>
                        <a:rPr kumimoji="1" lang="ja-JP" altLang="en-US" sz="2000" dirty="0"/>
                        <a:t>２．００</a:t>
                      </a:r>
                    </a:p>
                  </a:txBody>
                  <a:tcPr anchor="ctr"/>
                </a:tc>
                <a:tc>
                  <a:txBody>
                    <a:bodyPr/>
                    <a:lstStyle/>
                    <a:p>
                      <a:pPr algn="ctr"/>
                      <a:r>
                        <a:rPr kumimoji="1" lang="ja-JP" altLang="en-US" sz="2000" dirty="0"/>
                        <a:t>６</a:t>
                      </a:r>
                      <a:r>
                        <a:rPr kumimoji="1" lang="en-US" altLang="ja-JP" sz="2000" dirty="0"/>
                        <a:t>σ</a:t>
                      </a:r>
                      <a:r>
                        <a:rPr kumimoji="1" lang="ja-JP" altLang="en-US" sz="2000" dirty="0"/>
                        <a:t>／３</a:t>
                      </a:r>
                      <a:r>
                        <a:rPr kumimoji="1" lang="en-US" altLang="ja-JP" sz="2000" dirty="0"/>
                        <a:t>σ</a:t>
                      </a:r>
                      <a:endParaRPr kumimoji="1" lang="ja-JP" altLang="en-US" sz="2000" dirty="0"/>
                    </a:p>
                  </a:txBody>
                  <a:tcPr anchor="ctr"/>
                </a:tc>
                <a:tc>
                  <a:txBody>
                    <a:bodyPr/>
                    <a:lstStyle/>
                    <a:p>
                      <a:pPr algn="ctr"/>
                      <a:r>
                        <a:rPr kumimoji="1" lang="ja-JP" altLang="en-US" sz="2000" dirty="0"/>
                        <a:t>０．００２</a:t>
                      </a:r>
                      <a:r>
                        <a:rPr kumimoji="1" lang="en-US" altLang="ja-JP" sz="2000" dirty="0"/>
                        <a:t>ppm</a:t>
                      </a:r>
                      <a:endParaRPr kumimoji="1" lang="ja-JP" altLang="en-US" sz="2000" dirty="0"/>
                    </a:p>
                  </a:txBody>
                  <a:tcPr anchor="ctr"/>
                </a:tc>
                <a:extLst>
                  <a:ext uri="{0D108BD9-81ED-4DB2-BD59-A6C34878D82A}">
                    <a16:rowId xmlns:a16="http://schemas.microsoft.com/office/drawing/2014/main" val="492397302"/>
                  </a:ext>
                </a:extLst>
              </a:tr>
            </a:tbl>
          </a:graphicData>
        </a:graphic>
      </p:graphicFrame>
      <p:sp>
        <p:nvSpPr>
          <p:cNvPr id="6" name="吹き出し: 角を丸めた四角形 5">
            <a:extLst>
              <a:ext uri="{FF2B5EF4-FFF2-40B4-BE49-F238E27FC236}">
                <a16:creationId xmlns:a16="http://schemas.microsoft.com/office/drawing/2014/main" id="{63B98572-7CCB-4A34-9054-14ED92B872C5}"/>
              </a:ext>
            </a:extLst>
          </p:cNvPr>
          <p:cNvSpPr/>
          <p:nvPr/>
        </p:nvSpPr>
        <p:spPr>
          <a:xfrm>
            <a:off x="8497218" y="2126255"/>
            <a:ext cx="2666082" cy="1578166"/>
          </a:xfrm>
          <a:prstGeom prst="wedgeRoundRectCallout">
            <a:avLst>
              <a:gd name="adj1" fmla="val -57731"/>
              <a:gd name="adj2" fmla="val 68395"/>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200" dirty="0">
                <a:solidFill>
                  <a:schemeClr val="tx1"/>
                </a:solidFill>
              </a:rPr>
              <a:t>PPAP</a:t>
            </a:r>
            <a:r>
              <a:rPr kumimoji="1" lang="ja-JP" altLang="en-US" sz="2200" dirty="0">
                <a:solidFill>
                  <a:schemeClr val="tx1"/>
                </a:solidFill>
              </a:rPr>
              <a:t>参照</a:t>
            </a:r>
            <a:endParaRPr kumimoji="1" lang="en-US" altLang="ja-JP" sz="2200" dirty="0">
              <a:solidFill>
                <a:schemeClr val="tx1"/>
              </a:solidFill>
            </a:endParaRPr>
          </a:p>
          <a:p>
            <a:pPr algn="ctr"/>
            <a:r>
              <a:rPr kumimoji="1" lang="ja-JP" altLang="en-US" sz="2200" dirty="0">
                <a:solidFill>
                  <a:schemeClr val="tx1"/>
                </a:solidFill>
              </a:rPr>
              <a:t>マニュアル要求</a:t>
            </a:r>
            <a:endParaRPr kumimoji="1" lang="en-US" altLang="ja-JP" sz="2200" dirty="0">
              <a:solidFill>
                <a:schemeClr val="tx1"/>
              </a:solidFill>
            </a:endParaRPr>
          </a:p>
          <a:p>
            <a:pPr algn="ctr"/>
            <a:r>
              <a:rPr kumimoji="1" lang="ja-JP" altLang="en-US" sz="2200" dirty="0">
                <a:solidFill>
                  <a:srgbClr val="FF0000"/>
                </a:solidFill>
                <a:effectLst>
                  <a:outerShdw blurRad="38100" dist="38100" dir="2700000" algn="tl">
                    <a:srgbClr val="000000">
                      <a:alpha val="43137"/>
                    </a:srgbClr>
                  </a:outerShdw>
                </a:effectLst>
              </a:rPr>
              <a:t>１．６７</a:t>
            </a:r>
          </a:p>
        </p:txBody>
      </p:sp>
    </p:spTree>
    <p:extLst>
      <p:ext uri="{BB962C8B-B14F-4D97-AF65-F5344CB8AC3E}">
        <p14:creationId xmlns:p14="http://schemas.microsoft.com/office/powerpoint/2010/main" val="3694146363"/>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538</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管理図の種類</a:t>
            </a:r>
          </a:p>
        </p:txBody>
      </p:sp>
      <p:pic>
        <p:nvPicPr>
          <p:cNvPr id="9" name="図 8">
            <a:extLst>
              <a:ext uri="{FF2B5EF4-FFF2-40B4-BE49-F238E27FC236}">
                <a16:creationId xmlns:a16="http://schemas.microsoft.com/office/drawing/2014/main" id="{4B94AEB8-46B1-41FF-B91B-EAA4CC8AD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85740"/>
            <a:ext cx="10515599" cy="4970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50405"/>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539</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計量値管理図の定数表</a:t>
            </a:r>
          </a:p>
        </p:txBody>
      </p:sp>
      <p:graphicFrame>
        <p:nvGraphicFramePr>
          <p:cNvPr id="3" name="表 2">
            <a:extLst>
              <a:ext uri="{FF2B5EF4-FFF2-40B4-BE49-F238E27FC236}">
                <a16:creationId xmlns:a16="http://schemas.microsoft.com/office/drawing/2014/main" id="{E5EB2862-D410-44C7-A25B-5215E47DF5BE}"/>
              </a:ext>
            </a:extLst>
          </p:cNvPr>
          <p:cNvGraphicFramePr>
            <a:graphicFrameLocks noGrp="1"/>
          </p:cNvGraphicFramePr>
          <p:nvPr/>
        </p:nvGraphicFramePr>
        <p:xfrm>
          <a:off x="838199" y="1420662"/>
          <a:ext cx="10515600" cy="4935693"/>
        </p:xfrm>
        <a:graphic>
          <a:graphicData uri="http://schemas.openxmlformats.org/drawingml/2006/table">
            <a:tbl>
              <a:tblPr firstRow="1" bandRow="1">
                <a:tableStyleId>{5940675A-B579-460E-94D1-54222C63F5DA}</a:tableStyleId>
              </a:tblPr>
              <a:tblGrid>
                <a:gridCol w="1051560">
                  <a:extLst>
                    <a:ext uri="{9D8B030D-6E8A-4147-A177-3AD203B41FA5}">
                      <a16:colId xmlns:a16="http://schemas.microsoft.com/office/drawing/2014/main" val="545338639"/>
                    </a:ext>
                  </a:extLst>
                </a:gridCol>
                <a:gridCol w="1051560">
                  <a:extLst>
                    <a:ext uri="{9D8B030D-6E8A-4147-A177-3AD203B41FA5}">
                      <a16:colId xmlns:a16="http://schemas.microsoft.com/office/drawing/2014/main" val="3613066176"/>
                    </a:ext>
                  </a:extLst>
                </a:gridCol>
                <a:gridCol w="1051560">
                  <a:extLst>
                    <a:ext uri="{9D8B030D-6E8A-4147-A177-3AD203B41FA5}">
                      <a16:colId xmlns:a16="http://schemas.microsoft.com/office/drawing/2014/main" val="793769312"/>
                    </a:ext>
                  </a:extLst>
                </a:gridCol>
                <a:gridCol w="1051560">
                  <a:extLst>
                    <a:ext uri="{9D8B030D-6E8A-4147-A177-3AD203B41FA5}">
                      <a16:colId xmlns:a16="http://schemas.microsoft.com/office/drawing/2014/main" val="3234123672"/>
                    </a:ext>
                  </a:extLst>
                </a:gridCol>
                <a:gridCol w="1051560">
                  <a:extLst>
                    <a:ext uri="{9D8B030D-6E8A-4147-A177-3AD203B41FA5}">
                      <a16:colId xmlns:a16="http://schemas.microsoft.com/office/drawing/2014/main" val="1766370517"/>
                    </a:ext>
                  </a:extLst>
                </a:gridCol>
                <a:gridCol w="1051560">
                  <a:extLst>
                    <a:ext uri="{9D8B030D-6E8A-4147-A177-3AD203B41FA5}">
                      <a16:colId xmlns:a16="http://schemas.microsoft.com/office/drawing/2014/main" val="2526118023"/>
                    </a:ext>
                  </a:extLst>
                </a:gridCol>
                <a:gridCol w="1051560">
                  <a:extLst>
                    <a:ext uri="{9D8B030D-6E8A-4147-A177-3AD203B41FA5}">
                      <a16:colId xmlns:a16="http://schemas.microsoft.com/office/drawing/2014/main" val="574788307"/>
                    </a:ext>
                  </a:extLst>
                </a:gridCol>
                <a:gridCol w="1051560">
                  <a:extLst>
                    <a:ext uri="{9D8B030D-6E8A-4147-A177-3AD203B41FA5}">
                      <a16:colId xmlns:a16="http://schemas.microsoft.com/office/drawing/2014/main" val="2215821907"/>
                    </a:ext>
                  </a:extLst>
                </a:gridCol>
                <a:gridCol w="1051560">
                  <a:extLst>
                    <a:ext uri="{9D8B030D-6E8A-4147-A177-3AD203B41FA5}">
                      <a16:colId xmlns:a16="http://schemas.microsoft.com/office/drawing/2014/main" val="306921426"/>
                    </a:ext>
                  </a:extLst>
                </a:gridCol>
                <a:gridCol w="1051560">
                  <a:extLst>
                    <a:ext uri="{9D8B030D-6E8A-4147-A177-3AD203B41FA5}">
                      <a16:colId xmlns:a16="http://schemas.microsoft.com/office/drawing/2014/main" val="1635712651"/>
                    </a:ext>
                  </a:extLst>
                </a:gridCol>
              </a:tblGrid>
              <a:tr h="656613">
                <a:tc>
                  <a:txBody>
                    <a:bodyPr/>
                    <a:lstStyle/>
                    <a:p>
                      <a:endParaRPr kumimoji="1" lang="ja-JP" altLang="en-US" dirty="0"/>
                    </a:p>
                  </a:txBody>
                  <a:tcPr>
                    <a:lnTlToBr w="12700" cap="flat" cmpd="sng" algn="ctr">
                      <a:solidFill>
                        <a:schemeClr val="tx1"/>
                      </a:solidFill>
                      <a:prstDash val="solid"/>
                      <a:round/>
                      <a:headEnd type="none" w="med" len="med"/>
                      <a:tailEnd type="none" w="med" len="med"/>
                    </a:lnTlToBr>
                    <a:solidFill>
                      <a:schemeClr val="tx2">
                        <a:lumMod val="20000"/>
                        <a:lumOff val="80000"/>
                      </a:schemeClr>
                    </a:solidFill>
                  </a:tcPr>
                </a:tc>
                <a:tc>
                  <a:txBody>
                    <a:bodyPr/>
                    <a:lstStyle/>
                    <a:p>
                      <a:r>
                        <a:rPr kumimoji="1" lang="ja-JP" altLang="en-US" dirty="0"/>
                        <a:t>２</a:t>
                      </a:r>
                    </a:p>
                  </a:txBody>
                  <a:tcPr anchor="ctr" anchorCtr="1">
                    <a:solidFill>
                      <a:schemeClr val="tx2">
                        <a:lumMod val="20000"/>
                        <a:lumOff val="80000"/>
                      </a:schemeClr>
                    </a:solidFill>
                  </a:tcPr>
                </a:tc>
                <a:tc>
                  <a:txBody>
                    <a:bodyPr/>
                    <a:lstStyle/>
                    <a:p>
                      <a:r>
                        <a:rPr kumimoji="1" lang="ja-JP" altLang="en-US" dirty="0"/>
                        <a:t>３</a:t>
                      </a:r>
                    </a:p>
                  </a:txBody>
                  <a:tcPr anchor="ctr" anchorCtr="1">
                    <a:solidFill>
                      <a:schemeClr val="tx2">
                        <a:lumMod val="20000"/>
                        <a:lumOff val="80000"/>
                      </a:schemeClr>
                    </a:solidFill>
                  </a:tcPr>
                </a:tc>
                <a:tc>
                  <a:txBody>
                    <a:bodyPr/>
                    <a:lstStyle/>
                    <a:p>
                      <a:r>
                        <a:rPr kumimoji="1" lang="ja-JP" altLang="en-US" dirty="0"/>
                        <a:t>４</a:t>
                      </a:r>
                    </a:p>
                  </a:txBody>
                  <a:tcPr anchor="ctr" anchorCtr="1">
                    <a:solidFill>
                      <a:schemeClr val="tx2">
                        <a:lumMod val="20000"/>
                        <a:lumOff val="80000"/>
                      </a:schemeClr>
                    </a:solidFill>
                  </a:tcPr>
                </a:tc>
                <a:tc>
                  <a:txBody>
                    <a:bodyPr/>
                    <a:lstStyle/>
                    <a:p>
                      <a:r>
                        <a:rPr kumimoji="1" lang="ja-JP" altLang="en-US" dirty="0"/>
                        <a:t>５</a:t>
                      </a:r>
                    </a:p>
                  </a:txBody>
                  <a:tcPr anchor="ctr" anchorCtr="1">
                    <a:solidFill>
                      <a:schemeClr val="tx2">
                        <a:lumMod val="20000"/>
                        <a:lumOff val="80000"/>
                      </a:schemeClr>
                    </a:solidFill>
                  </a:tcPr>
                </a:tc>
                <a:tc>
                  <a:txBody>
                    <a:bodyPr/>
                    <a:lstStyle/>
                    <a:p>
                      <a:r>
                        <a:rPr kumimoji="1" lang="ja-JP" altLang="en-US" dirty="0"/>
                        <a:t>６</a:t>
                      </a:r>
                    </a:p>
                  </a:txBody>
                  <a:tcPr anchor="ctr" anchorCtr="1">
                    <a:solidFill>
                      <a:schemeClr val="tx2">
                        <a:lumMod val="20000"/>
                        <a:lumOff val="80000"/>
                      </a:schemeClr>
                    </a:solidFill>
                  </a:tcPr>
                </a:tc>
                <a:tc>
                  <a:txBody>
                    <a:bodyPr/>
                    <a:lstStyle/>
                    <a:p>
                      <a:r>
                        <a:rPr kumimoji="1" lang="ja-JP" altLang="en-US" dirty="0"/>
                        <a:t>７</a:t>
                      </a:r>
                    </a:p>
                  </a:txBody>
                  <a:tcPr anchor="ctr" anchorCtr="1">
                    <a:solidFill>
                      <a:schemeClr val="tx2">
                        <a:lumMod val="20000"/>
                        <a:lumOff val="80000"/>
                      </a:schemeClr>
                    </a:solidFill>
                  </a:tcPr>
                </a:tc>
                <a:tc>
                  <a:txBody>
                    <a:bodyPr/>
                    <a:lstStyle/>
                    <a:p>
                      <a:r>
                        <a:rPr kumimoji="1" lang="ja-JP" altLang="en-US" dirty="0"/>
                        <a:t>８</a:t>
                      </a:r>
                    </a:p>
                  </a:txBody>
                  <a:tcPr anchor="ctr" anchorCtr="1">
                    <a:solidFill>
                      <a:schemeClr val="tx2">
                        <a:lumMod val="20000"/>
                        <a:lumOff val="80000"/>
                      </a:schemeClr>
                    </a:solidFill>
                  </a:tcPr>
                </a:tc>
                <a:tc>
                  <a:txBody>
                    <a:bodyPr/>
                    <a:lstStyle/>
                    <a:p>
                      <a:r>
                        <a:rPr kumimoji="1" lang="ja-JP" altLang="en-US" dirty="0"/>
                        <a:t>９</a:t>
                      </a:r>
                    </a:p>
                  </a:txBody>
                  <a:tcPr anchor="ctr" anchorCtr="1">
                    <a:solidFill>
                      <a:schemeClr val="tx2">
                        <a:lumMod val="20000"/>
                        <a:lumOff val="80000"/>
                      </a:schemeClr>
                    </a:solidFill>
                  </a:tcPr>
                </a:tc>
                <a:tc>
                  <a:txBody>
                    <a:bodyPr/>
                    <a:lstStyle/>
                    <a:p>
                      <a:r>
                        <a:rPr kumimoji="1" lang="ja-JP" altLang="en-US" dirty="0"/>
                        <a:t>１０</a:t>
                      </a:r>
                    </a:p>
                  </a:txBody>
                  <a:tcPr anchor="ctr" anchorCtr="1">
                    <a:solidFill>
                      <a:schemeClr val="tx2">
                        <a:lumMod val="20000"/>
                        <a:lumOff val="80000"/>
                      </a:schemeClr>
                    </a:solidFill>
                  </a:tcPr>
                </a:tc>
                <a:extLst>
                  <a:ext uri="{0D108BD9-81ED-4DB2-BD59-A6C34878D82A}">
                    <a16:rowId xmlns:a16="http://schemas.microsoft.com/office/drawing/2014/main" val="1672121459"/>
                  </a:ext>
                </a:extLst>
              </a:tr>
              <a:tr h="427908">
                <a:tc>
                  <a:txBody>
                    <a:bodyPr/>
                    <a:lstStyle/>
                    <a:p>
                      <a:r>
                        <a:rPr kumimoji="1" lang="ja-JP" altLang="en-US" b="1" dirty="0"/>
                        <a:t>Ａ</a:t>
                      </a:r>
                      <a:r>
                        <a:rPr kumimoji="1" lang="en-US" altLang="ja-JP" sz="1400" b="1" dirty="0"/>
                        <a:t>2</a:t>
                      </a:r>
                    </a:p>
                  </a:txBody>
                  <a:tcPr anchor="ctr" anchorCtr="1">
                    <a:solidFill>
                      <a:schemeClr val="tx2">
                        <a:lumMod val="20000"/>
                        <a:lumOff val="80000"/>
                      </a:schemeClr>
                    </a:solidFill>
                  </a:tcPr>
                </a:tc>
                <a:tc>
                  <a:txBody>
                    <a:bodyPr/>
                    <a:lstStyle/>
                    <a:p>
                      <a:pPr algn="r"/>
                      <a:r>
                        <a:rPr kumimoji="1" lang="en-US" altLang="ja-JP" dirty="0"/>
                        <a:t>1.880</a:t>
                      </a:r>
                      <a:endParaRPr kumimoji="1" lang="ja-JP" altLang="en-US" dirty="0"/>
                    </a:p>
                  </a:txBody>
                  <a:tcPr anchor="ctr" anchorCtr="1"/>
                </a:tc>
                <a:tc>
                  <a:txBody>
                    <a:bodyPr/>
                    <a:lstStyle/>
                    <a:p>
                      <a:pPr algn="r"/>
                      <a:r>
                        <a:rPr kumimoji="1" lang="en-US" altLang="ja-JP" dirty="0"/>
                        <a:t>1.023</a:t>
                      </a:r>
                      <a:endParaRPr kumimoji="1" lang="ja-JP" altLang="en-US" dirty="0"/>
                    </a:p>
                  </a:txBody>
                  <a:tcPr anchor="ctr" anchorCtr="1"/>
                </a:tc>
                <a:tc>
                  <a:txBody>
                    <a:bodyPr/>
                    <a:lstStyle/>
                    <a:p>
                      <a:pPr algn="r"/>
                      <a:r>
                        <a:rPr kumimoji="1" lang="en-US" altLang="ja-JP" dirty="0"/>
                        <a:t>0.729</a:t>
                      </a:r>
                      <a:endParaRPr kumimoji="1" lang="ja-JP" altLang="en-US" dirty="0"/>
                    </a:p>
                  </a:txBody>
                  <a:tcPr anchor="ctr" anchorCtr="1"/>
                </a:tc>
                <a:tc>
                  <a:txBody>
                    <a:bodyPr/>
                    <a:lstStyle/>
                    <a:p>
                      <a:pPr algn="r"/>
                      <a:r>
                        <a:rPr kumimoji="1" lang="en-US" altLang="ja-JP" dirty="0"/>
                        <a:t>0.577</a:t>
                      </a:r>
                      <a:endParaRPr kumimoji="1" lang="ja-JP" altLang="en-US" dirty="0"/>
                    </a:p>
                  </a:txBody>
                  <a:tcPr anchor="ctr" anchorCtr="1"/>
                </a:tc>
                <a:tc>
                  <a:txBody>
                    <a:bodyPr/>
                    <a:lstStyle/>
                    <a:p>
                      <a:pPr algn="r"/>
                      <a:r>
                        <a:rPr kumimoji="1" lang="en-US" altLang="ja-JP" dirty="0"/>
                        <a:t>0.483</a:t>
                      </a:r>
                      <a:endParaRPr kumimoji="1" lang="ja-JP" altLang="en-US" dirty="0"/>
                    </a:p>
                  </a:txBody>
                  <a:tcPr anchor="ctr" anchorCtr="1"/>
                </a:tc>
                <a:tc>
                  <a:txBody>
                    <a:bodyPr/>
                    <a:lstStyle/>
                    <a:p>
                      <a:pPr algn="r"/>
                      <a:r>
                        <a:rPr kumimoji="1" lang="en-US" altLang="ja-JP" dirty="0"/>
                        <a:t>0.419</a:t>
                      </a:r>
                      <a:endParaRPr kumimoji="1" lang="ja-JP" altLang="en-US" dirty="0"/>
                    </a:p>
                  </a:txBody>
                  <a:tcPr anchor="ctr" anchorCtr="1"/>
                </a:tc>
                <a:tc>
                  <a:txBody>
                    <a:bodyPr/>
                    <a:lstStyle/>
                    <a:p>
                      <a:pPr algn="r"/>
                      <a:r>
                        <a:rPr kumimoji="1" lang="en-US" altLang="ja-JP" dirty="0"/>
                        <a:t>0.373</a:t>
                      </a:r>
                      <a:endParaRPr kumimoji="1" lang="ja-JP" altLang="en-US" dirty="0"/>
                    </a:p>
                  </a:txBody>
                  <a:tcPr anchor="ctr" anchorCtr="1"/>
                </a:tc>
                <a:tc>
                  <a:txBody>
                    <a:bodyPr/>
                    <a:lstStyle/>
                    <a:p>
                      <a:pPr algn="r"/>
                      <a:r>
                        <a:rPr kumimoji="1" lang="en-US" altLang="ja-JP" dirty="0"/>
                        <a:t>0.337</a:t>
                      </a:r>
                      <a:endParaRPr kumimoji="1" lang="ja-JP" altLang="en-US" dirty="0"/>
                    </a:p>
                  </a:txBody>
                  <a:tcPr anchor="ctr" anchorCtr="1"/>
                </a:tc>
                <a:tc>
                  <a:txBody>
                    <a:bodyPr/>
                    <a:lstStyle/>
                    <a:p>
                      <a:pPr algn="r"/>
                      <a:r>
                        <a:rPr kumimoji="1" lang="en-US" altLang="ja-JP" dirty="0"/>
                        <a:t>0.308</a:t>
                      </a:r>
                      <a:endParaRPr kumimoji="1" lang="ja-JP" altLang="en-US" dirty="0"/>
                    </a:p>
                  </a:txBody>
                  <a:tcPr anchor="ctr" anchorCtr="1"/>
                </a:tc>
                <a:extLst>
                  <a:ext uri="{0D108BD9-81ED-4DB2-BD59-A6C34878D82A}">
                    <a16:rowId xmlns:a16="http://schemas.microsoft.com/office/drawing/2014/main" val="2268207266"/>
                  </a:ext>
                </a:extLst>
              </a:tr>
              <a:tr h="427908">
                <a:tc>
                  <a:txBody>
                    <a:bodyPr/>
                    <a:lstStyle/>
                    <a:p>
                      <a:r>
                        <a:rPr kumimoji="1" lang="ja-JP" altLang="en-US" b="1" dirty="0"/>
                        <a:t>Ａ</a:t>
                      </a:r>
                      <a:r>
                        <a:rPr kumimoji="1" lang="en-US" altLang="ja-JP" sz="1400" b="1" dirty="0"/>
                        <a:t>2m</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1.880</a:t>
                      </a:r>
                      <a:endParaRPr kumimoji="1" lang="ja-JP" altLang="en-US" dirty="0"/>
                    </a:p>
                  </a:txBody>
                  <a:tcPr anchor="ctr" anchorCtr="1"/>
                </a:tc>
                <a:tc>
                  <a:txBody>
                    <a:bodyPr/>
                    <a:lstStyle/>
                    <a:p>
                      <a:pPr algn="r"/>
                      <a:r>
                        <a:rPr kumimoji="1" lang="en-US" altLang="ja-JP" dirty="0"/>
                        <a:t>1.187</a:t>
                      </a:r>
                      <a:endParaRPr kumimoji="1" lang="ja-JP" altLang="en-US" dirty="0"/>
                    </a:p>
                  </a:txBody>
                  <a:tcPr anchor="ctr" anchorCtr="1"/>
                </a:tc>
                <a:tc>
                  <a:txBody>
                    <a:bodyPr/>
                    <a:lstStyle/>
                    <a:p>
                      <a:pPr algn="r"/>
                      <a:r>
                        <a:rPr kumimoji="1" lang="en-US" altLang="ja-JP" dirty="0"/>
                        <a:t>0.796</a:t>
                      </a:r>
                      <a:endParaRPr kumimoji="1" lang="ja-JP" altLang="en-US" dirty="0"/>
                    </a:p>
                  </a:txBody>
                  <a:tcPr anchor="ctr" anchorCtr="1"/>
                </a:tc>
                <a:tc>
                  <a:txBody>
                    <a:bodyPr/>
                    <a:lstStyle/>
                    <a:p>
                      <a:pPr algn="r"/>
                      <a:r>
                        <a:rPr kumimoji="1" lang="en-US" altLang="ja-JP" dirty="0"/>
                        <a:t>0.691</a:t>
                      </a:r>
                      <a:endParaRPr kumimoji="1" lang="ja-JP" altLang="en-US" dirty="0"/>
                    </a:p>
                  </a:txBody>
                  <a:tcPr anchor="ctr" anchorCtr="1"/>
                </a:tc>
                <a:tc>
                  <a:txBody>
                    <a:bodyPr/>
                    <a:lstStyle/>
                    <a:p>
                      <a:pPr algn="r"/>
                      <a:r>
                        <a:rPr kumimoji="1" lang="en-US" altLang="ja-JP" dirty="0"/>
                        <a:t>0.547</a:t>
                      </a:r>
                      <a:endParaRPr kumimoji="1" lang="ja-JP" altLang="en-US" dirty="0"/>
                    </a:p>
                  </a:txBody>
                  <a:tcPr anchor="ctr" anchorCtr="1"/>
                </a:tc>
                <a:tc>
                  <a:txBody>
                    <a:bodyPr/>
                    <a:lstStyle/>
                    <a:p>
                      <a:pPr algn="r"/>
                      <a:r>
                        <a:rPr kumimoji="1" lang="en-US" altLang="ja-JP" dirty="0"/>
                        <a:t>0.509</a:t>
                      </a:r>
                      <a:endParaRPr kumimoji="1" lang="ja-JP" altLang="en-US" dirty="0"/>
                    </a:p>
                  </a:txBody>
                  <a:tcPr anchor="ctr" anchorCtr="1"/>
                </a:tc>
                <a:tc>
                  <a:txBody>
                    <a:bodyPr/>
                    <a:lstStyle/>
                    <a:p>
                      <a:pPr algn="r"/>
                      <a:r>
                        <a:rPr kumimoji="1" lang="en-US" altLang="ja-JP" dirty="0"/>
                        <a:t>0.432</a:t>
                      </a:r>
                      <a:endParaRPr kumimoji="1" lang="ja-JP" altLang="en-US" dirty="0"/>
                    </a:p>
                  </a:txBody>
                  <a:tcPr anchor="ctr" anchorCtr="1"/>
                </a:tc>
                <a:tc>
                  <a:txBody>
                    <a:bodyPr/>
                    <a:lstStyle/>
                    <a:p>
                      <a:pPr algn="r"/>
                      <a:r>
                        <a:rPr kumimoji="1" lang="en-US" altLang="ja-JP" dirty="0"/>
                        <a:t>0.412</a:t>
                      </a:r>
                      <a:endParaRPr kumimoji="1" lang="ja-JP" altLang="en-US" dirty="0"/>
                    </a:p>
                  </a:txBody>
                  <a:tcPr anchor="ctr" anchorCtr="1"/>
                </a:tc>
                <a:tc>
                  <a:txBody>
                    <a:bodyPr/>
                    <a:lstStyle/>
                    <a:p>
                      <a:pPr algn="r"/>
                      <a:r>
                        <a:rPr kumimoji="1" lang="en-US" altLang="ja-JP" dirty="0"/>
                        <a:t>0.363</a:t>
                      </a:r>
                      <a:endParaRPr kumimoji="1" lang="ja-JP" altLang="en-US" dirty="0"/>
                    </a:p>
                  </a:txBody>
                  <a:tcPr anchor="ctr" anchorCtr="1"/>
                </a:tc>
                <a:extLst>
                  <a:ext uri="{0D108BD9-81ED-4DB2-BD59-A6C34878D82A}">
                    <a16:rowId xmlns:a16="http://schemas.microsoft.com/office/drawing/2014/main" val="3706727408"/>
                  </a:ext>
                </a:extLst>
              </a:tr>
              <a:tr h="427908">
                <a:tc>
                  <a:txBody>
                    <a:bodyPr/>
                    <a:lstStyle/>
                    <a:p>
                      <a:r>
                        <a:rPr kumimoji="1" lang="ja-JP" altLang="en-US" b="1" dirty="0"/>
                        <a:t>Ａ</a:t>
                      </a:r>
                      <a:r>
                        <a:rPr kumimoji="1" lang="en-US" altLang="ja-JP" sz="1400" b="1" dirty="0"/>
                        <a:t>3</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2.659</a:t>
                      </a:r>
                      <a:endParaRPr kumimoji="1" lang="ja-JP" altLang="en-US" dirty="0"/>
                    </a:p>
                  </a:txBody>
                  <a:tcPr anchor="ctr" anchorCtr="1"/>
                </a:tc>
                <a:tc>
                  <a:txBody>
                    <a:bodyPr/>
                    <a:lstStyle/>
                    <a:p>
                      <a:pPr algn="r"/>
                      <a:r>
                        <a:rPr kumimoji="1" lang="en-US" altLang="ja-JP" dirty="0"/>
                        <a:t>1.954</a:t>
                      </a:r>
                      <a:endParaRPr kumimoji="1" lang="ja-JP" altLang="en-US" dirty="0"/>
                    </a:p>
                  </a:txBody>
                  <a:tcPr anchor="ctr" anchorCtr="1"/>
                </a:tc>
                <a:tc>
                  <a:txBody>
                    <a:bodyPr/>
                    <a:lstStyle/>
                    <a:p>
                      <a:pPr algn="r"/>
                      <a:r>
                        <a:rPr kumimoji="1" lang="en-US" altLang="ja-JP" dirty="0"/>
                        <a:t>1.628</a:t>
                      </a:r>
                      <a:endParaRPr kumimoji="1" lang="ja-JP" altLang="en-US" dirty="0"/>
                    </a:p>
                  </a:txBody>
                  <a:tcPr anchor="ctr" anchorCtr="1"/>
                </a:tc>
                <a:tc>
                  <a:txBody>
                    <a:bodyPr/>
                    <a:lstStyle/>
                    <a:p>
                      <a:pPr algn="r"/>
                      <a:r>
                        <a:rPr kumimoji="1" lang="en-US" altLang="ja-JP" dirty="0"/>
                        <a:t>1.427</a:t>
                      </a:r>
                      <a:endParaRPr kumimoji="1" lang="ja-JP" altLang="en-US" dirty="0"/>
                    </a:p>
                  </a:txBody>
                  <a:tcPr anchor="ctr" anchorCtr="1"/>
                </a:tc>
                <a:tc>
                  <a:txBody>
                    <a:bodyPr/>
                    <a:lstStyle/>
                    <a:p>
                      <a:pPr algn="r"/>
                      <a:r>
                        <a:rPr kumimoji="1" lang="en-US" altLang="ja-JP" dirty="0"/>
                        <a:t>1.287</a:t>
                      </a:r>
                      <a:endParaRPr kumimoji="1" lang="ja-JP" altLang="en-US" dirty="0"/>
                    </a:p>
                  </a:txBody>
                  <a:tcPr anchor="ctr" anchorCtr="1"/>
                </a:tc>
                <a:tc>
                  <a:txBody>
                    <a:bodyPr/>
                    <a:lstStyle/>
                    <a:p>
                      <a:pPr algn="r"/>
                      <a:r>
                        <a:rPr kumimoji="1" lang="en-US" altLang="ja-JP" dirty="0"/>
                        <a:t>1.182</a:t>
                      </a:r>
                      <a:endParaRPr kumimoji="1" lang="ja-JP" altLang="en-US" dirty="0"/>
                    </a:p>
                  </a:txBody>
                  <a:tcPr anchor="ctr" anchorCtr="1"/>
                </a:tc>
                <a:tc>
                  <a:txBody>
                    <a:bodyPr/>
                    <a:lstStyle/>
                    <a:p>
                      <a:pPr algn="r"/>
                      <a:r>
                        <a:rPr kumimoji="1" lang="en-US" altLang="ja-JP" dirty="0"/>
                        <a:t>1.099</a:t>
                      </a:r>
                      <a:endParaRPr kumimoji="1" lang="ja-JP" altLang="en-US" dirty="0"/>
                    </a:p>
                  </a:txBody>
                  <a:tcPr anchor="ctr" anchorCtr="1"/>
                </a:tc>
                <a:tc>
                  <a:txBody>
                    <a:bodyPr/>
                    <a:lstStyle/>
                    <a:p>
                      <a:pPr algn="r"/>
                      <a:r>
                        <a:rPr kumimoji="1" lang="en-US" altLang="ja-JP" dirty="0"/>
                        <a:t>1.032</a:t>
                      </a:r>
                      <a:endParaRPr kumimoji="1" lang="ja-JP" altLang="en-US" dirty="0"/>
                    </a:p>
                  </a:txBody>
                  <a:tcPr anchor="ctr" anchorCtr="1"/>
                </a:tc>
                <a:tc>
                  <a:txBody>
                    <a:bodyPr/>
                    <a:lstStyle/>
                    <a:p>
                      <a:pPr algn="r"/>
                      <a:r>
                        <a:rPr kumimoji="1" lang="en-US" altLang="ja-JP" dirty="0"/>
                        <a:t>0.975</a:t>
                      </a:r>
                      <a:endParaRPr kumimoji="1" lang="ja-JP" altLang="en-US" dirty="0"/>
                    </a:p>
                  </a:txBody>
                  <a:tcPr anchor="ctr" anchorCtr="1"/>
                </a:tc>
                <a:extLst>
                  <a:ext uri="{0D108BD9-81ED-4DB2-BD59-A6C34878D82A}">
                    <a16:rowId xmlns:a16="http://schemas.microsoft.com/office/drawing/2014/main" val="1134673698"/>
                  </a:ext>
                </a:extLst>
              </a:tr>
              <a:tr h="427908">
                <a:tc>
                  <a:txBody>
                    <a:bodyPr/>
                    <a:lstStyle/>
                    <a:p>
                      <a:r>
                        <a:rPr kumimoji="1" lang="ja-JP" altLang="en-US" b="1" dirty="0"/>
                        <a:t>Ｂ</a:t>
                      </a:r>
                      <a:r>
                        <a:rPr kumimoji="1" lang="en-US" altLang="ja-JP" sz="1400" b="1" dirty="0"/>
                        <a:t>3</a:t>
                      </a:r>
                      <a:endParaRPr kumimoji="1" lang="ja-JP" altLang="en-US" sz="1400" b="1" dirty="0"/>
                    </a:p>
                  </a:txBody>
                  <a:tcPr anchor="ctr" anchorCtr="1">
                    <a:solidFill>
                      <a:schemeClr val="tx2">
                        <a:lumMod val="20000"/>
                        <a:lumOff val="80000"/>
                      </a:schemeClr>
                    </a:solidFill>
                  </a:tcPr>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en-US" altLang="ja-JP" dirty="0"/>
                        <a:t>0.030</a:t>
                      </a:r>
                      <a:endParaRPr kumimoji="1" lang="ja-JP" altLang="en-US" dirty="0"/>
                    </a:p>
                  </a:txBody>
                  <a:tcPr anchor="ctr" anchorCtr="1"/>
                </a:tc>
                <a:tc>
                  <a:txBody>
                    <a:bodyPr/>
                    <a:lstStyle/>
                    <a:p>
                      <a:pPr algn="r"/>
                      <a:r>
                        <a:rPr kumimoji="1" lang="en-US" altLang="ja-JP" dirty="0"/>
                        <a:t>0.118</a:t>
                      </a:r>
                      <a:endParaRPr kumimoji="1" lang="ja-JP" altLang="en-US" dirty="0"/>
                    </a:p>
                  </a:txBody>
                  <a:tcPr anchor="ctr" anchorCtr="1"/>
                </a:tc>
                <a:tc>
                  <a:txBody>
                    <a:bodyPr/>
                    <a:lstStyle/>
                    <a:p>
                      <a:pPr algn="r"/>
                      <a:r>
                        <a:rPr kumimoji="1" lang="en-US" altLang="ja-JP" dirty="0"/>
                        <a:t>0.185</a:t>
                      </a:r>
                      <a:endParaRPr kumimoji="1" lang="ja-JP" altLang="en-US" dirty="0"/>
                    </a:p>
                  </a:txBody>
                  <a:tcPr anchor="ctr" anchorCtr="1"/>
                </a:tc>
                <a:tc>
                  <a:txBody>
                    <a:bodyPr/>
                    <a:lstStyle/>
                    <a:p>
                      <a:pPr algn="r"/>
                      <a:r>
                        <a:rPr kumimoji="1" lang="en-US" altLang="ja-JP" dirty="0"/>
                        <a:t>0.239</a:t>
                      </a:r>
                      <a:endParaRPr kumimoji="1" lang="ja-JP" altLang="en-US" dirty="0"/>
                    </a:p>
                  </a:txBody>
                  <a:tcPr anchor="ctr" anchorCtr="1"/>
                </a:tc>
                <a:tc>
                  <a:txBody>
                    <a:bodyPr/>
                    <a:lstStyle/>
                    <a:p>
                      <a:pPr algn="r"/>
                      <a:r>
                        <a:rPr kumimoji="1" lang="en-US" altLang="ja-JP" dirty="0"/>
                        <a:t>0.284</a:t>
                      </a:r>
                      <a:endParaRPr kumimoji="1" lang="ja-JP" altLang="en-US" dirty="0"/>
                    </a:p>
                  </a:txBody>
                  <a:tcPr anchor="ctr" anchorCtr="1"/>
                </a:tc>
                <a:extLst>
                  <a:ext uri="{0D108BD9-81ED-4DB2-BD59-A6C34878D82A}">
                    <a16:rowId xmlns:a16="http://schemas.microsoft.com/office/drawing/2014/main" val="190610276"/>
                  </a:ext>
                </a:extLst>
              </a:tr>
              <a:tr h="427908">
                <a:tc>
                  <a:txBody>
                    <a:bodyPr/>
                    <a:lstStyle/>
                    <a:p>
                      <a:r>
                        <a:rPr kumimoji="1" lang="ja-JP" altLang="en-US" b="1" dirty="0"/>
                        <a:t>Ｂ</a:t>
                      </a:r>
                      <a:r>
                        <a:rPr kumimoji="1" lang="en-US" altLang="ja-JP" sz="1400" b="1" dirty="0"/>
                        <a:t>4</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3.267</a:t>
                      </a:r>
                      <a:endParaRPr kumimoji="1" lang="ja-JP" altLang="en-US" dirty="0"/>
                    </a:p>
                  </a:txBody>
                  <a:tcPr anchor="ctr" anchorCtr="1"/>
                </a:tc>
                <a:tc>
                  <a:txBody>
                    <a:bodyPr/>
                    <a:lstStyle/>
                    <a:p>
                      <a:pPr algn="r"/>
                      <a:r>
                        <a:rPr kumimoji="1" lang="en-US" altLang="ja-JP" dirty="0"/>
                        <a:t>2.568</a:t>
                      </a:r>
                      <a:endParaRPr kumimoji="1" lang="ja-JP" altLang="en-US" dirty="0"/>
                    </a:p>
                  </a:txBody>
                  <a:tcPr anchor="ctr" anchorCtr="1"/>
                </a:tc>
                <a:tc>
                  <a:txBody>
                    <a:bodyPr/>
                    <a:lstStyle/>
                    <a:p>
                      <a:pPr algn="r"/>
                      <a:r>
                        <a:rPr kumimoji="1" lang="en-US" altLang="ja-JP" dirty="0"/>
                        <a:t>2.266</a:t>
                      </a:r>
                      <a:endParaRPr kumimoji="1" lang="ja-JP" altLang="en-US" dirty="0"/>
                    </a:p>
                  </a:txBody>
                  <a:tcPr anchor="ctr" anchorCtr="1"/>
                </a:tc>
                <a:tc>
                  <a:txBody>
                    <a:bodyPr/>
                    <a:lstStyle/>
                    <a:p>
                      <a:pPr algn="r"/>
                      <a:r>
                        <a:rPr kumimoji="1" lang="en-US" altLang="ja-JP" dirty="0"/>
                        <a:t>2.089</a:t>
                      </a:r>
                      <a:endParaRPr kumimoji="1" lang="ja-JP" altLang="en-US" dirty="0"/>
                    </a:p>
                  </a:txBody>
                  <a:tcPr anchor="ctr" anchorCtr="1"/>
                </a:tc>
                <a:tc>
                  <a:txBody>
                    <a:bodyPr/>
                    <a:lstStyle/>
                    <a:p>
                      <a:pPr algn="r"/>
                      <a:r>
                        <a:rPr kumimoji="1" lang="en-US" altLang="ja-JP" dirty="0"/>
                        <a:t>1.970</a:t>
                      </a:r>
                      <a:endParaRPr kumimoji="1" lang="ja-JP" altLang="en-US" dirty="0"/>
                    </a:p>
                  </a:txBody>
                  <a:tcPr anchor="ctr" anchorCtr="1"/>
                </a:tc>
                <a:tc>
                  <a:txBody>
                    <a:bodyPr/>
                    <a:lstStyle/>
                    <a:p>
                      <a:pPr algn="r"/>
                      <a:r>
                        <a:rPr kumimoji="1" lang="en-US" altLang="ja-JP" dirty="0"/>
                        <a:t>1.882</a:t>
                      </a:r>
                      <a:endParaRPr kumimoji="1" lang="ja-JP" altLang="en-US" dirty="0"/>
                    </a:p>
                  </a:txBody>
                  <a:tcPr anchor="ctr" anchorCtr="1"/>
                </a:tc>
                <a:tc>
                  <a:txBody>
                    <a:bodyPr/>
                    <a:lstStyle/>
                    <a:p>
                      <a:pPr algn="r"/>
                      <a:r>
                        <a:rPr kumimoji="1" lang="en-US" altLang="ja-JP" dirty="0"/>
                        <a:t>1.815</a:t>
                      </a:r>
                      <a:endParaRPr kumimoji="1" lang="ja-JP" altLang="en-US" dirty="0"/>
                    </a:p>
                  </a:txBody>
                  <a:tcPr anchor="ctr" anchorCtr="1"/>
                </a:tc>
                <a:tc>
                  <a:txBody>
                    <a:bodyPr/>
                    <a:lstStyle/>
                    <a:p>
                      <a:pPr algn="r"/>
                      <a:r>
                        <a:rPr kumimoji="1" lang="en-US" altLang="ja-JP" dirty="0"/>
                        <a:t>1.761</a:t>
                      </a:r>
                      <a:endParaRPr kumimoji="1" lang="ja-JP" altLang="en-US" dirty="0"/>
                    </a:p>
                  </a:txBody>
                  <a:tcPr anchor="ctr" anchorCtr="1"/>
                </a:tc>
                <a:tc>
                  <a:txBody>
                    <a:bodyPr/>
                    <a:lstStyle/>
                    <a:p>
                      <a:pPr algn="r"/>
                      <a:r>
                        <a:rPr kumimoji="1" lang="en-US" altLang="ja-JP" dirty="0"/>
                        <a:t>1.716</a:t>
                      </a:r>
                      <a:endParaRPr kumimoji="1" lang="ja-JP" altLang="en-US" dirty="0"/>
                    </a:p>
                  </a:txBody>
                  <a:tcPr anchor="ctr" anchorCtr="1"/>
                </a:tc>
                <a:extLst>
                  <a:ext uri="{0D108BD9-81ED-4DB2-BD59-A6C34878D82A}">
                    <a16:rowId xmlns:a16="http://schemas.microsoft.com/office/drawing/2014/main" val="2640391403"/>
                  </a:ext>
                </a:extLst>
              </a:tr>
              <a:tr h="427908">
                <a:tc>
                  <a:txBody>
                    <a:bodyPr/>
                    <a:lstStyle/>
                    <a:p>
                      <a:r>
                        <a:rPr kumimoji="1" lang="ja-JP" altLang="en-US" b="1" dirty="0"/>
                        <a:t>Ｄ</a:t>
                      </a:r>
                      <a:r>
                        <a:rPr kumimoji="1" lang="en-US" altLang="ja-JP" sz="1400" b="1" dirty="0"/>
                        <a:t>3</a:t>
                      </a:r>
                      <a:endParaRPr kumimoji="1" lang="ja-JP" altLang="en-US" sz="1400" b="1" dirty="0"/>
                    </a:p>
                  </a:txBody>
                  <a:tcPr anchor="ctr" anchorCtr="1">
                    <a:solidFill>
                      <a:schemeClr val="tx2">
                        <a:lumMod val="20000"/>
                        <a:lumOff val="80000"/>
                      </a:schemeClr>
                    </a:solidFill>
                  </a:tcPr>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ja-JP" altLang="en-US" dirty="0"/>
                        <a:t>－</a:t>
                      </a:r>
                    </a:p>
                  </a:txBody>
                  <a:tcPr anchor="ctr" anchorCtr="1"/>
                </a:tc>
                <a:tc>
                  <a:txBody>
                    <a:bodyPr/>
                    <a:lstStyle/>
                    <a:p>
                      <a:pPr algn="r"/>
                      <a:r>
                        <a:rPr kumimoji="1" lang="en-US" altLang="ja-JP" dirty="0"/>
                        <a:t>0.076</a:t>
                      </a:r>
                      <a:endParaRPr kumimoji="1" lang="ja-JP" altLang="en-US" dirty="0"/>
                    </a:p>
                  </a:txBody>
                  <a:tcPr anchor="ctr" anchorCtr="1"/>
                </a:tc>
                <a:tc>
                  <a:txBody>
                    <a:bodyPr/>
                    <a:lstStyle/>
                    <a:p>
                      <a:pPr algn="r"/>
                      <a:r>
                        <a:rPr kumimoji="1" lang="en-US" altLang="ja-JP" dirty="0"/>
                        <a:t>0.136</a:t>
                      </a:r>
                      <a:endParaRPr kumimoji="1" lang="ja-JP" altLang="en-US" dirty="0"/>
                    </a:p>
                  </a:txBody>
                  <a:tcPr anchor="ctr" anchorCtr="1"/>
                </a:tc>
                <a:tc>
                  <a:txBody>
                    <a:bodyPr/>
                    <a:lstStyle/>
                    <a:p>
                      <a:pPr algn="r"/>
                      <a:r>
                        <a:rPr kumimoji="1" lang="en-US" altLang="ja-JP" dirty="0"/>
                        <a:t>0.184</a:t>
                      </a:r>
                      <a:endParaRPr kumimoji="1" lang="ja-JP" altLang="en-US" dirty="0"/>
                    </a:p>
                  </a:txBody>
                  <a:tcPr anchor="ctr" anchorCtr="1"/>
                </a:tc>
                <a:tc>
                  <a:txBody>
                    <a:bodyPr/>
                    <a:lstStyle/>
                    <a:p>
                      <a:pPr algn="r"/>
                      <a:r>
                        <a:rPr kumimoji="1" lang="en-US" altLang="ja-JP" dirty="0"/>
                        <a:t>0.223</a:t>
                      </a:r>
                      <a:endParaRPr kumimoji="1" lang="ja-JP" altLang="en-US" dirty="0"/>
                    </a:p>
                  </a:txBody>
                  <a:tcPr anchor="ctr" anchorCtr="1"/>
                </a:tc>
                <a:extLst>
                  <a:ext uri="{0D108BD9-81ED-4DB2-BD59-A6C34878D82A}">
                    <a16:rowId xmlns:a16="http://schemas.microsoft.com/office/drawing/2014/main" val="2704207001"/>
                  </a:ext>
                </a:extLst>
              </a:tr>
              <a:tr h="427908">
                <a:tc>
                  <a:txBody>
                    <a:bodyPr/>
                    <a:lstStyle/>
                    <a:p>
                      <a:r>
                        <a:rPr kumimoji="1" lang="ja-JP" altLang="en-US" b="1" dirty="0"/>
                        <a:t>Ｄ</a:t>
                      </a:r>
                      <a:r>
                        <a:rPr kumimoji="1" lang="en-US" altLang="ja-JP" sz="1400" b="1" dirty="0"/>
                        <a:t>4</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3.267</a:t>
                      </a:r>
                      <a:endParaRPr kumimoji="1" lang="ja-JP" altLang="en-US" dirty="0"/>
                    </a:p>
                  </a:txBody>
                  <a:tcPr anchor="ctr" anchorCtr="1"/>
                </a:tc>
                <a:tc>
                  <a:txBody>
                    <a:bodyPr/>
                    <a:lstStyle/>
                    <a:p>
                      <a:pPr algn="r"/>
                      <a:r>
                        <a:rPr kumimoji="1" lang="en-US" altLang="ja-JP" dirty="0"/>
                        <a:t>2.575</a:t>
                      </a:r>
                      <a:endParaRPr kumimoji="1" lang="ja-JP" altLang="en-US" dirty="0"/>
                    </a:p>
                  </a:txBody>
                  <a:tcPr anchor="ctr" anchorCtr="1"/>
                </a:tc>
                <a:tc>
                  <a:txBody>
                    <a:bodyPr/>
                    <a:lstStyle/>
                    <a:p>
                      <a:pPr algn="r"/>
                      <a:r>
                        <a:rPr kumimoji="1" lang="en-US" altLang="ja-JP" dirty="0"/>
                        <a:t>2.282</a:t>
                      </a:r>
                      <a:endParaRPr kumimoji="1" lang="ja-JP" altLang="en-US" dirty="0"/>
                    </a:p>
                  </a:txBody>
                  <a:tcPr anchor="ctr" anchorCtr="1"/>
                </a:tc>
                <a:tc>
                  <a:txBody>
                    <a:bodyPr/>
                    <a:lstStyle/>
                    <a:p>
                      <a:pPr algn="r"/>
                      <a:r>
                        <a:rPr kumimoji="1" lang="en-US" altLang="ja-JP" dirty="0"/>
                        <a:t>2.115</a:t>
                      </a:r>
                      <a:endParaRPr kumimoji="1" lang="ja-JP" altLang="en-US" dirty="0"/>
                    </a:p>
                  </a:txBody>
                  <a:tcPr anchor="ctr" anchorCtr="1"/>
                </a:tc>
                <a:tc>
                  <a:txBody>
                    <a:bodyPr/>
                    <a:lstStyle/>
                    <a:p>
                      <a:pPr algn="r"/>
                      <a:r>
                        <a:rPr kumimoji="1" lang="en-US" altLang="ja-JP" dirty="0"/>
                        <a:t>2.004</a:t>
                      </a:r>
                      <a:endParaRPr kumimoji="1" lang="ja-JP" altLang="en-US" dirty="0"/>
                    </a:p>
                  </a:txBody>
                  <a:tcPr anchor="ctr" anchorCtr="1"/>
                </a:tc>
                <a:tc>
                  <a:txBody>
                    <a:bodyPr/>
                    <a:lstStyle/>
                    <a:p>
                      <a:pPr algn="r"/>
                      <a:r>
                        <a:rPr kumimoji="1" lang="en-US" altLang="ja-JP" dirty="0"/>
                        <a:t>1.924</a:t>
                      </a:r>
                      <a:endParaRPr kumimoji="1" lang="ja-JP" altLang="en-US" dirty="0"/>
                    </a:p>
                  </a:txBody>
                  <a:tcPr anchor="ctr" anchorCtr="1"/>
                </a:tc>
                <a:tc>
                  <a:txBody>
                    <a:bodyPr/>
                    <a:lstStyle/>
                    <a:p>
                      <a:pPr algn="r"/>
                      <a:r>
                        <a:rPr kumimoji="1" lang="en-US" altLang="ja-JP" dirty="0"/>
                        <a:t>1.864</a:t>
                      </a:r>
                      <a:endParaRPr kumimoji="1" lang="ja-JP" altLang="en-US" dirty="0"/>
                    </a:p>
                  </a:txBody>
                  <a:tcPr anchor="ctr" anchorCtr="1"/>
                </a:tc>
                <a:tc>
                  <a:txBody>
                    <a:bodyPr/>
                    <a:lstStyle/>
                    <a:p>
                      <a:pPr algn="r"/>
                      <a:r>
                        <a:rPr kumimoji="1" lang="en-US" altLang="ja-JP" dirty="0"/>
                        <a:t>1.816</a:t>
                      </a:r>
                      <a:endParaRPr kumimoji="1" lang="ja-JP" altLang="en-US" dirty="0"/>
                    </a:p>
                  </a:txBody>
                  <a:tcPr anchor="ctr" anchorCtr="1"/>
                </a:tc>
                <a:tc>
                  <a:txBody>
                    <a:bodyPr/>
                    <a:lstStyle/>
                    <a:p>
                      <a:pPr algn="r"/>
                      <a:r>
                        <a:rPr kumimoji="1" lang="en-US" altLang="ja-JP" dirty="0"/>
                        <a:t>1.777</a:t>
                      </a:r>
                      <a:endParaRPr kumimoji="1" lang="ja-JP" altLang="en-US" dirty="0"/>
                    </a:p>
                  </a:txBody>
                  <a:tcPr anchor="ctr" anchorCtr="1"/>
                </a:tc>
                <a:extLst>
                  <a:ext uri="{0D108BD9-81ED-4DB2-BD59-A6C34878D82A}">
                    <a16:rowId xmlns:a16="http://schemas.microsoft.com/office/drawing/2014/main" val="49459121"/>
                  </a:ext>
                </a:extLst>
              </a:tr>
              <a:tr h="427908">
                <a:tc>
                  <a:txBody>
                    <a:bodyPr/>
                    <a:lstStyle/>
                    <a:p>
                      <a:r>
                        <a:rPr kumimoji="1" lang="ja-JP" altLang="en-US" b="1" dirty="0"/>
                        <a:t>Ｅ</a:t>
                      </a:r>
                      <a:r>
                        <a:rPr kumimoji="1" lang="en-US" altLang="ja-JP" sz="1400" b="1" dirty="0"/>
                        <a:t>2</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2.659</a:t>
                      </a:r>
                      <a:endParaRPr kumimoji="1" lang="ja-JP" altLang="en-US" dirty="0"/>
                    </a:p>
                  </a:txBody>
                  <a:tcPr anchor="ctr" anchorCtr="1"/>
                </a:tc>
                <a:tc>
                  <a:txBody>
                    <a:bodyPr/>
                    <a:lstStyle/>
                    <a:p>
                      <a:pPr algn="r"/>
                      <a:r>
                        <a:rPr kumimoji="1" lang="en-US" altLang="ja-JP" dirty="0"/>
                        <a:t>1.772</a:t>
                      </a:r>
                      <a:endParaRPr kumimoji="1" lang="ja-JP" altLang="en-US" dirty="0"/>
                    </a:p>
                  </a:txBody>
                  <a:tcPr anchor="ctr" anchorCtr="1"/>
                </a:tc>
                <a:tc>
                  <a:txBody>
                    <a:bodyPr/>
                    <a:lstStyle/>
                    <a:p>
                      <a:pPr algn="r"/>
                      <a:r>
                        <a:rPr kumimoji="1" lang="en-US" altLang="ja-JP" dirty="0"/>
                        <a:t>1.457</a:t>
                      </a:r>
                      <a:endParaRPr kumimoji="1" lang="ja-JP" altLang="en-US" dirty="0"/>
                    </a:p>
                  </a:txBody>
                  <a:tcPr anchor="ctr" anchorCtr="1"/>
                </a:tc>
                <a:tc>
                  <a:txBody>
                    <a:bodyPr/>
                    <a:lstStyle/>
                    <a:p>
                      <a:pPr algn="r"/>
                      <a:r>
                        <a:rPr kumimoji="1" lang="en-US" altLang="ja-JP" dirty="0"/>
                        <a:t>1.290</a:t>
                      </a:r>
                      <a:endParaRPr kumimoji="1" lang="ja-JP" altLang="en-US" dirty="0"/>
                    </a:p>
                  </a:txBody>
                  <a:tcPr anchor="ctr" anchorCtr="1"/>
                </a:tc>
                <a:tc>
                  <a:txBody>
                    <a:bodyPr/>
                    <a:lstStyle/>
                    <a:p>
                      <a:pPr algn="r"/>
                      <a:r>
                        <a:rPr kumimoji="1" lang="en-US" altLang="ja-JP" dirty="0"/>
                        <a:t>1.184</a:t>
                      </a:r>
                      <a:endParaRPr kumimoji="1" lang="ja-JP" altLang="en-US" dirty="0"/>
                    </a:p>
                  </a:txBody>
                  <a:tcPr anchor="ctr" anchorCtr="1"/>
                </a:tc>
                <a:tc>
                  <a:txBody>
                    <a:bodyPr/>
                    <a:lstStyle/>
                    <a:p>
                      <a:pPr algn="r"/>
                      <a:r>
                        <a:rPr kumimoji="1" lang="en-US" altLang="ja-JP" dirty="0"/>
                        <a:t>1.109</a:t>
                      </a:r>
                      <a:endParaRPr kumimoji="1" lang="ja-JP" altLang="en-US" dirty="0"/>
                    </a:p>
                  </a:txBody>
                  <a:tcPr anchor="ctr" anchorCtr="1"/>
                </a:tc>
                <a:tc>
                  <a:txBody>
                    <a:bodyPr/>
                    <a:lstStyle/>
                    <a:p>
                      <a:pPr algn="r"/>
                      <a:r>
                        <a:rPr kumimoji="1" lang="en-US" altLang="ja-JP" dirty="0"/>
                        <a:t>1.054</a:t>
                      </a:r>
                      <a:endParaRPr kumimoji="1" lang="ja-JP" altLang="en-US" dirty="0"/>
                    </a:p>
                  </a:txBody>
                  <a:tcPr anchor="ctr" anchorCtr="1"/>
                </a:tc>
                <a:tc>
                  <a:txBody>
                    <a:bodyPr/>
                    <a:lstStyle/>
                    <a:p>
                      <a:pPr algn="r"/>
                      <a:r>
                        <a:rPr kumimoji="1" lang="en-US" altLang="ja-JP" dirty="0"/>
                        <a:t>1.010</a:t>
                      </a:r>
                      <a:endParaRPr kumimoji="1" lang="ja-JP" altLang="en-US" dirty="0"/>
                    </a:p>
                  </a:txBody>
                  <a:tcPr anchor="ctr" anchorCtr="1"/>
                </a:tc>
                <a:tc>
                  <a:txBody>
                    <a:bodyPr/>
                    <a:lstStyle/>
                    <a:p>
                      <a:pPr algn="r"/>
                      <a:r>
                        <a:rPr kumimoji="1" lang="en-US" altLang="ja-JP" dirty="0"/>
                        <a:t>0.975</a:t>
                      </a:r>
                      <a:endParaRPr kumimoji="1" lang="ja-JP" altLang="en-US" dirty="0"/>
                    </a:p>
                  </a:txBody>
                  <a:tcPr anchor="ctr" anchorCtr="1"/>
                </a:tc>
                <a:extLst>
                  <a:ext uri="{0D108BD9-81ED-4DB2-BD59-A6C34878D82A}">
                    <a16:rowId xmlns:a16="http://schemas.microsoft.com/office/drawing/2014/main" val="3312722029"/>
                  </a:ext>
                </a:extLst>
              </a:tr>
              <a:tr h="427908">
                <a:tc>
                  <a:txBody>
                    <a:bodyPr/>
                    <a:lstStyle/>
                    <a:p>
                      <a:r>
                        <a:rPr kumimoji="1" lang="ja-JP" altLang="en-US" b="1" dirty="0" err="1"/>
                        <a:t>ｄ</a:t>
                      </a:r>
                      <a:r>
                        <a:rPr kumimoji="1" lang="en-US" altLang="ja-JP" sz="1400" b="1" dirty="0"/>
                        <a:t>2</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1.128</a:t>
                      </a:r>
                      <a:endParaRPr kumimoji="1" lang="ja-JP" altLang="en-US" dirty="0"/>
                    </a:p>
                  </a:txBody>
                  <a:tcPr anchor="ctr" anchorCtr="1"/>
                </a:tc>
                <a:tc>
                  <a:txBody>
                    <a:bodyPr/>
                    <a:lstStyle/>
                    <a:p>
                      <a:pPr algn="r"/>
                      <a:r>
                        <a:rPr kumimoji="1" lang="en-US" altLang="ja-JP" dirty="0"/>
                        <a:t>1.693</a:t>
                      </a:r>
                      <a:endParaRPr kumimoji="1" lang="ja-JP" altLang="en-US" dirty="0"/>
                    </a:p>
                  </a:txBody>
                  <a:tcPr anchor="ctr" anchorCtr="1"/>
                </a:tc>
                <a:tc>
                  <a:txBody>
                    <a:bodyPr/>
                    <a:lstStyle/>
                    <a:p>
                      <a:pPr algn="r"/>
                      <a:r>
                        <a:rPr kumimoji="1" lang="en-US" altLang="ja-JP" dirty="0"/>
                        <a:t>2.059</a:t>
                      </a:r>
                      <a:endParaRPr kumimoji="1" lang="ja-JP" altLang="en-US" dirty="0"/>
                    </a:p>
                  </a:txBody>
                  <a:tcPr anchor="ctr" anchorCtr="1"/>
                </a:tc>
                <a:tc>
                  <a:txBody>
                    <a:bodyPr/>
                    <a:lstStyle/>
                    <a:p>
                      <a:pPr algn="r"/>
                      <a:r>
                        <a:rPr kumimoji="1" lang="en-US" altLang="ja-JP" dirty="0"/>
                        <a:t>2.326</a:t>
                      </a:r>
                      <a:endParaRPr kumimoji="1" lang="ja-JP" altLang="en-US" dirty="0"/>
                    </a:p>
                  </a:txBody>
                  <a:tcPr anchor="ctr" anchorCtr="1"/>
                </a:tc>
                <a:tc>
                  <a:txBody>
                    <a:bodyPr/>
                    <a:lstStyle/>
                    <a:p>
                      <a:pPr algn="r"/>
                      <a:r>
                        <a:rPr kumimoji="1" lang="en-US" altLang="ja-JP" dirty="0"/>
                        <a:t>2.534</a:t>
                      </a:r>
                      <a:endParaRPr kumimoji="1" lang="ja-JP" altLang="en-US" dirty="0"/>
                    </a:p>
                  </a:txBody>
                  <a:tcPr anchor="ctr" anchorCtr="1"/>
                </a:tc>
                <a:tc>
                  <a:txBody>
                    <a:bodyPr/>
                    <a:lstStyle/>
                    <a:p>
                      <a:pPr algn="r"/>
                      <a:r>
                        <a:rPr kumimoji="1" lang="en-US" altLang="ja-JP" dirty="0"/>
                        <a:t>2.704</a:t>
                      </a:r>
                      <a:endParaRPr kumimoji="1" lang="ja-JP" altLang="en-US" dirty="0"/>
                    </a:p>
                  </a:txBody>
                  <a:tcPr anchor="ctr" anchorCtr="1"/>
                </a:tc>
                <a:tc>
                  <a:txBody>
                    <a:bodyPr/>
                    <a:lstStyle/>
                    <a:p>
                      <a:pPr algn="r"/>
                      <a:r>
                        <a:rPr kumimoji="1" lang="en-US" altLang="ja-JP" dirty="0"/>
                        <a:t>2.847</a:t>
                      </a:r>
                      <a:endParaRPr kumimoji="1" lang="ja-JP" altLang="en-US" dirty="0"/>
                    </a:p>
                  </a:txBody>
                  <a:tcPr anchor="ctr" anchorCtr="1"/>
                </a:tc>
                <a:tc>
                  <a:txBody>
                    <a:bodyPr/>
                    <a:lstStyle/>
                    <a:p>
                      <a:pPr algn="r"/>
                      <a:r>
                        <a:rPr kumimoji="1" lang="en-US" altLang="ja-JP" dirty="0"/>
                        <a:t>2.970</a:t>
                      </a:r>
                      <a:endParaRPr kumimoji="1" lang="ja-JP" altLang="en-US" dirty="0"/>
                    </a:p>
                  </a:txBody>
                  <a:tcPr anchor="ctr" anchorCtr="1"/>
                </a:tc>
                <a:tc>
                  <a:txBody>
                    <a:bodyPr/>
                    <a:lstStyle/>
                    <a:p>
                      <a:pPr algn="r"/>
                      <a:r>
                        <a:rPr kumimoji="1" lang="en-US" altLang="ja-JP" dirty="0"/>
                        <a:t>3.078</a:t>
                      </a:r>
                      <a:endParaRPr kumimoji="1" lang="ja-JP" altLang="en-US" dirty="0"/>
                    </a:p>
                  </a:txBody>
                  <a:tcPr anchor="ctr" anchorCtr="1"/>
                </a:tc>
                <a:extLst>
                  <a:ext uri="{0D108BD9-81ED-4DB2-BD59-A6C34878D82A}">
                    <a16:rowId xmlns:a16="http://schemas.microsoft.com/office/drawing/2014/main" val="362289084"/>
                  </a:ext>
                </a:extLst>
              </a:tr>
              <a:tr h="427908">
                <a:tc>
                  <a:txBody>
                    <a:bodyPr/>
                    <a:lstStyle/>
                    <a:p>
                      <a:r>
                        <a:rPr kumimoji="1" lang="ja-JP" altLang="en-US" b="1" dirty="0" err="1"/>
                        <a:t>ｃ</a:t>
                      </a:r>
                      <a:r>
                        <a:rPr kumimoji="1" lang="en-US" altLang="ja-JP" sz="1400" b="1" dirty="0"/>
                        <a:t>4</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0.798</a:t>
                      </a:r>
                      <a:endParaRPr kumimoji="1" lang="ja-JP" altLang="en-US" dirty="0"/>
                    </a:p>
                  </a:txBody>
                  <a:tcPr anchor="ctr" anchorCtr="1"/>
                </a:tc>
                <a:tc>
                  <a:txBody>
                    <a:bodyPr/>
                    <a:lstStyle/>
                    <a:p>
                      <a:pPr algn="r"/>
                      <a:r>
                        <a:rPr kumimoji="1" lang="en-US" altLang="ja-JP" dirty="0"/>
                        <a:t>0.886</a:t>
                      </a:r>
                      <a:endParaRPr kumimoji="1" lang="ja-JP" altLang="en-US" dirty="0"/>
                    </a:p>
                  </a:txBody>
                  <a:tcPr anchor="ctr" anchorCtr="1"/>
                </a:tc>
                <a:tc>
                  <a:txBody>
                    <a:bodyPr/>
                    <a:lstStyle/>
                    <a:p>
                      <a:pPr algn="r"/>
                      <a:r>
                        <a:rPr kumimoji="1" lang="en-US" altLang="ja-JP" dirty="0"/>
                        <a:t>0.921</a:t>
                      </a:r>
                      <a:endParaRPr kumimoji="1" lang="ja-JP" altLang="en-US" dirty="0"/>
                    </a:p>
                  </a:txBody>
                  <a:tcPr anchor="ctr" anchorCtr="1"/>
                </a:tc>
                <a:tc>
                  <a:txBody>
                    <a:bodyPr/>
                    <a:lstStyle/>
                    <a:p>
                      <a:pPr algn="r"/>
                      <a:r>
                        <a:rPr kumimoji="1" lang="en-US" altLang="ja-JP" dirty="0"/>
                        <a:t>0.941</a:t>
                      </a:r>
                      <a:endParaRPr kumimoji="1" lang="ja-JP" altLang="en-US" dirty="0"/>
                    </a:p>
                  </a:txBody>
                  <a:tcPr anchor="ctr" anchorCtr="1"/>
                </a:tc>
                <a:tc>
                  <a:txBody>
                    <a:bodyPr/>
                    <a:lstStyle/>
                    <a:p>
                      <a:pPr algn="r"/>
                      <a:r>
                        <a:rPr kumimoji="1" lang="en-US" altLang="ja-JP" dirty="0"/>
                        <a:t>0.952</a:t>
                      </a:r>
                      <a:endParaRPr kumimoji="1" lang="ja-JP" altLang="en-US" dirty="0"/>
                    </a:p>
                  </a:txBody>
                  <a:tcPr anchor="ctr" anchorCtr="1"/>
                </a:tc>
                <a:tc>
                  <a:txBody>
                    <a:bodyPr/>
                    <a:lstStyle/>
                    <a:p>
                      <a:pPr algn="r"/>
                      <a:r>
                        <a:rPr kumimoji="1" lang="en-US" altLang="ja-JP" dirty="0"/>
                        <a:t>0.959</a:t>
                      </a:r>
                      <a:endParaRPr kumimoji="1" lang="ja-JP" altLang="en-US" dirty="0"/>
                    </a:p>
                  </a:txBody>
                  <a:tcPr anchor="ctr" anchorCtr="1"/>
                </a:tc>
                <a:tc>
                  <a:txBody>
                    <a:bodyPr/>
                    <a:lstStyle/>
                    <a:p>
                      <a:pPr algn="r"/>
                      <a:r>
                        <a:rPr kumimoji="1" lang="en-US" altLang="ja-JP" dirty="0"/>
                        <a:t>0.965</a:t>
                      </a:r>
                      <a:endParaRPr kumimoji="1" lang="ja-JP" altLang="en-US" dirty="0"/>
                    </a:p>
                  </a:txBody>
                  <a:tcPr anchor="ctr" anchorCtr="1"/>
                </a:tc>
                <a:tc>
                  <a:txBody>
                    <a:bodyPr/>
                    <a:lstStyle/>
                    <a:p>
                      <a:pPr algn="r"/>
                      <a:r>
                        <a:rPr kumimoji="1" lang="en-US" altLang="ja-JP" dirty="0"/>
                        <a:t>0.969</a:t>
                      </a:r>
                      <a:endParaRPr kumimoji="1" lang="ja-JP" altLang="en-US" dirty="0"/>
                    </a:p>
                  </a:txBody>
                  <a:tcPr anchor="ctr" anchorCtr="1"/>
                </a:tc>
                <a:tc>
                  <a:txBody>
                    <a:bodyPr/>
                    <a:lstStyle/>
                    <a:p>
                      <a:pPr algn="r"/>
                      <a:r>
                        <a:rPr kumimoji="1" lang="en-US" altLang="ja-JP" dirty="0"/>
                        <a:t>0.973</a:t>
                      </a:r>
                      <a:endParaRPr kumimoji="1" lang="ja-JP" altLang="en-US" dirty="0"/>
                    </a:p>
                  </a:txBody>
                  <a:tcPr anchor="ctr" anchorCtr="1"/>
                </a:tc>
                <a:extLst>
                  <a:ext uri="{0D108BD9-81ED-4DB2-BD59-A6C34878D82A}">
                    <a16:rowId xmlns:a16="http://schemas.microsoft.com/office/drawing/2014/main" val="652195166"/>
                  </a:ext>
                </a:extLst>
              </a:tr>
            </a:tbl>
          </a:graphicData>
        </a:graphic>
      </p:graphicFrame>
    </p:spTree>
    <p:extLst>
      <p:ext uri="{BB962C8B-B14F-4D97-AF65-F5344CB8AC3E}">
        <p14:creationId xmlns:p14="http://schemas.microsoft.com/office/powerpoint/2010/main" val="931868527"/>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614BCE-3E0B-4492-BFB2-2A2A2BBEF6C1}"/>
              </a:ext>
            </a:extLst>
          </p:cNvPr>
          <p:cNvSpPr>
            <a:spLocks noGrp="1"/>
          </p:cNvSpPr>
          <p:nvPr>
            <p:ph type="title"/>
          </p:nvPr>
        </p:nvSpPr>
        <p:spPr>
          <a:xfrm>
            <a:off x="838200" y="365125"/>
            <a:ext cx="10515600" cy="918845"/>
          </a:xfrm>
          <a:solidFill>
            <a:schemeClr val="tx2"/>
          </a:solidFill>
        </p:spPr>
        <p:txBody>
          <a:bodyPr/>
          <a:lstStyle/>
          <a:p>
            <a:r>
              <a:rPr lang="ja-JP" altLang="en-US" dirty="0">
                <a:solidFill>
                  <a:schemeClr val="bg1"/>
                </a:solidFill>
              </a:rPr>
              <a:t>第３章の構成</a:t>
            </a:r>
            <a:endParaRPr kumimoji="1" lang="ja-JP" altLang="en-US" dirty="0">
              <a:solidFill>
                <a:schemeClr val="bg1"/>
              </a:solidFill>
            </a:endParaRPr>
          </a:p>
        </p:txBody>
      </p:sp>
      <p:graphicFrame>
        <p:nvGraphicFramePr>
          <p:cNvPr id="6" name="コンテンツ プレースホルダー 5">
            <a:extLst>
              <a:ext uri="{FF2B5EF4-FFF2-40B4-BE49-F238E27FC236}">
                <a16:creationId xmlns:a16="http://schemas.microsoft.com/office/drawing/2014/main" id="{5CA4D697-4519-4FD3-AB8A-1B9675FDB9CE}"/>
              </a:ext>
            </a:extLst>
          </p:cNvPr>
          <p:cNvGraphicFramePr>
            <a:graphicFrameLocks noGrp="1"/>
          </p:cNvGraphicFramePr>
          <p:nvPr>
            <p:ph idx="1"/>
            <p:extLst>
              <p:ext uri="{D42A27DB-BD31-4B8C-83A1-F6EECF244321}">
                <p14:modId xmlns:p14="http://schemas.microsoft.com/office/powerpoint/2010/main" val="941156068"/>
              </p:ext>
            </p:extLst>
          </p:nvPr>
        </p:nvGraphicFramePr>
        <p:xfrm>
          <a:off x="1249680" y="2113280"/>
          <a:ext cx="9489440" cy="341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540</a:t>
            </a:fld>
            <a:endParaRPr kumimoji="1" lang="ja-JP" altLang="en-US"/>
          </a:p>
        </p:txBody>
      </p:sp>
    </p:spTree>
    <p:extLst>
      <p:ext uri="{BB962C8B-B14F-4D97-AF65-F5344CB8AC3E}">
        <p14:creationId xmlns:p14="http://schemas.microsoft.com/office/powerpoint/2010/main" val="2079234980"/>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測定システムの変動とは、例えば</a:t>
            </a:r>
            <a:endParaRPr lang="en-US" altLang="ja-JP" sz="2400" dirty="0"/>
          </a:p>
          <a:p>
            <a:pPr lvl="1">
              <a:lnSpc>
                <a:spcPct val="100000"/>
              </a:lnSpc>
              <a:buFont typeface="Wingdings" panose="05000000000000000000" pitchFamily="2" charset="2"/>
              <a:buChar char="Ø"/>
            </a:pPr>
            <a:r>
              <a:rPr lang="ja-JP" altLang="en-US" sz="2200" dirty="0"/>
              <a:t>Ａさんが同じ測定を５回繰り返す　➠</a:t>
            </a:r>
            <a:endParaRPr lang="en-US" altLang="ja-JP" sz="2200" dirty="0"/>
          </a:p>
          <a:p>
            <a:pPr lvl="1">
              <a:lnSpc>
                <a:spcPct val="100000"/>
              </a:lnSpc>
              <a:buFont typeface="Wingdings" panose="05000000000000000000" pitchFamily="2" charset="2"/>
              <a:buChar char="Ø"/>
            </a:pPr>
            <a:r>
              <a:rPr lang="ja-JP" altLang="en-US" sz="2200" dirty="0"/>
              <a:t>ＡさんとＢさんが同じ測定を行う　➠</a:t>
            </a:r>
            <a:endParaRPr lang="en-US" altLang="ja-JP" sz="2200" dirty="0"/>
          </a:p>
          <a:p>
            <a:pPr lvl="1">
              <a:lnSpc>
                <a:spcPct val="100000"/>
              </a:lnSpc>
              <a:buFont typeface="Wingdings" panose="05000000000000000000" pitchFamily="2" charset="2"/>
              <a:buChar char="Ø"/>
            </a:pPr>
            <a:r>
              <a:rPr lang="ja-JP" altLang="en-US" sz="2200" dirty="0"/>
              <a:t>Ａさんが違う機器で測定を行う　　➠</a:t>
            </a:r>
            <a:endParaRPr lang="en-US" altLang="ja-JP" sz="2200" dirty="0"/>
          </a:p>
          <a:p>
            <a:pPr lvl="1">
              <a:lnSpc>
                <a:spcPct val="100000"/>
              </a:lnSpc>
              <a:buFont typeface="Wingdings" panose="05000000000000000000" pitchFamily="2" charset="2"/>
              <a:buChar char="Ø"/>
            </a:pPr>
            <a:endParaRPr lang="en-US" altLang="ja-JP" sz="2200" dirty="0"/>
          </a:p>
          <a:p>
            <a:pPr marL="514350" indent="-514350">
              <a:lnSpc>
                <a:spcPct val="100000"/>
              </a:lnSpc>
              <a:buFont typeface="+mj-lt"/>
              <a:buAutoNum type="arabicPeriod"/>
            </a:pPr>
            <a:r>
              <a:rPr lang="ja-JP" altLang="en-US" sz="2400" dirty="0"/>
              <a:t>測定システムの変動が測定結果を変動させる。</a:t>
            </a:r>
            <a:endParaRPr lang="en-US" altLang="ja-JP" sz="24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sp>
        <p:nvSpPr>
          <p:cNvPr id="11" name="四角形: 角を丸くする 10">
            <a:extLst>
              <a:ext uri="{FF2B5EF4-FFF2-40B4-BE49-F238E27FC236}">
                <a16:creationId xmlns:a16="http://schemas.microsoft.com/office/drawing/2014/main" id="{E1DE1A61-450A-4CAF-8DC2-2D1857A74632}"/>
              </a:ext>
            </a:extLst>
          </p:cNvPr>
          <p:cNvSpPr/>
          <p:nvPr/>
        </p:nvSpPr>
        <p:spPr>
          <a:xfrm>
            <a:off x="6510969" y="1542362"/>
            <a:ext cx="4726236" cy="114575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200" dirty="0">
                <a:solidFill>
                  <a:schemeClr val="tx1"/>
                </a:solidFill>
              </a:rPr>
              <a:t>同一製品の同一特性を測定しているにも関わらず、</a:t>
            </a:r>
            <a:r>
              <a:rPr lang="ja-JP" altLang="en-US" sz="2200" dirty="0">
                <a:solidFill>
                  <a:srgbClr val="FF0000"/>
                </a:solidFill>
                <a:effectLst>
                  <a:outerShdw blurRad="38100" dist="38100" dir="2700000" algn="tl">
                    <a:srgbClr val="000000">
                      <a:alpha val="43137"/>
                    </a:srgbClr>
                  </a:outerShdw>
                </a:effectLst>
              </a:rPr>
              <a:t>測定結果が異なる可能性</a:t>
            </a:r>
            <a:r>
              <a:rPr lang="ja-JP" altLang="en-US" sz="2200" dirty="0">
                <a:solidFill>
                  <a:schemeClr val="tx1"/>
                </a:solidFill>
              </a:rPr>
              <a:t>がある。</a:t>
            </a:r>
            <a:endParaRPr kumimoji="1" lang="ja-JP" altLang="en-US" sz="2200" dirty="0">
              <a:solidFill>
                <a:schemeClr val="tx1"/>
              </a:solidFill>
            </a:endParaRPr>
          </a:p>
        </p:txBody>
      </p:sp>
      <p:sp>
        <p:nvSpPr>
          <p:cNvPr id="13" name="矢印: 下 12">
            <a:extLst>
              <a:ext uri="{FF2B5EF4-FFF2-40B4-BE49-F238E27FC236}">
                <a16:creationId xmlns:a16="http://schemas.microsoft.com/office/drawing/2014/main" id="{A78FBA63-D666-4C78-AEA0-D8FEF870B7FE}"/>
              </a:ext>
            </a:extLst>
          </p:cNvPr>
          <p:cNvSpPr/>
          <p:nvPr/>
        </p:nvSpPr>
        <p:spPr>
          <a:xfrm>
            <a:off x="8471971" y="2677099"/>
            <a:ext cx="793215" cy="187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6D3206E6-8ED6-42FF-AB09-C3BB5CDF4D98}"/>
              </a:ext>
            </a:extLst>
          </p:cNvPr>
          <p:cNvSpPr/>
          <p:nvPr/>
        </p:nvSpPr>
        <p:spPr>
          <a:xfrm>
            <a:off x="6819441" y="2864386"/>
            <a:ext cx="4098275" cy="56461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測定システムの変動</a:t>
            </a:r>
          </a:p>
        </p:txBody>
      </p:sp>
      <p:sp>
        <p:nvSpPr>
          <p:cNvPr id="15" name="正方形/長方形 14">
            <a:extLst>
              <a:ext uri="{FF2B5EF4-FFF2-40B4-BE49-F238E27FC236}">
                <a16:creationId xmlns:a16="http://schemas.microsoft.com/office/drawing/2014/main" id="{D45DF63B-5041-452D-B815-9532EF55D951}"/>
              </a:ext>
            </a:extLst>
          </p:cNvPr>
          <p:cNvSpPr/>
          <p:nvPr/>
        </p:nvSpPr>
        <p:spPr>
          <a:xfrm>
            <a:off x="1274284" y="4032173"/>
            <a:ext cx="2764316" cy="842406"/>
          </a:xfrm>
          <a:prstGeom prst="rect">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特性の変動</a:t>
            </a:r>
            <a:endParaRPr kumimoji="1" lang="en-US" altLang="ja-JP" sz="2000" dirty="0">
              <a:solidFill>
                <a:schemeClr val="tx1"/>
              </a:solidFill>
            </a:endParaRPr>
          </a:p>
          <a:p>
            <a:pPr algn="ctr"/>
            <a:r>
              <a:rPr lang="ja-JP" altLang="en-US" sz="2000" dirty="0">
                <a:solidFill>
                  <a:srgbClr val="FF0000"/>
                </a:solidFill>
                <a:effectLst>
                  <a:outerShdw blurRad="38100" dist="38100" dir="2700000" algn="tl">
                    <a:srgbClr val="000000">
                      <a:alpha val="43137"/>
                    </a:srgbClr>
                  </a:outerShdw>
                </a:effectLst>
              </a:rPr>
              <a:t>（実際の値）</a:t>
            </a:r>
            <a:endParaRPr kumimoji="1" lang="ja-JP" altLang="en-US" sz="2000" dirty="0">
              <a:solidFill>
                <a:srgbClr val="FF0000"/>
              </a:solidFill>
              <a:effectLst>
                <a:outerShdw blurRad="38100" dist="38100" dir="2700000" algn="tl">
                  <a:srgbClr val="000000">
                    <a:alpha val="43137"/>
                  </a:srgbClr>
                </a:outerShdw>
              </a:effectLst>
            </a:endParaRPr>
          </a:p>
        </p:txBody>
      </p:sp>
      <p:sp>
        <p:nvSpPr>
          <p:cNvPr id="21" name="正方形/長方形 20">
            <a:extLst>
              <a:ext uri="{FF2B5EF4-FFF2-40B4-BE49-F238E27FC236}">
                <a16:creationId xmlns:a16="http://schemas.microsoft.com/office/drawing/2014/main" id="{E78A35A7-6234-419A-B1E1-05D69514E06A}"/>
              </a:ext>
            </a:extLst>
          </p:cNvPr>
          <p:cNvSpPr/>
          <p:nvPr/>
        </p:nvSpPr>
        <p:spPr>
          <a:xfrm>
            <a:off x="4713842" y="4032173"/>
            <a:ext cx="2764316" cy="842406"/>
          </a:xfrm>
          <a:prstGeom prst="rect">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測定システムの変動</a:t>
            </a:r>
          </a:p>
        </p:txBody>
      </p:sp>
      <p:sp>
        <p:nvSpPr>
          <p:cNvPr id="22" name="正方形/長方形 21">
            <a:extLst>
              <a:ext uri="{FF2B5EF4-FFF2-40B4-BE49-F238E27FC236}">
                <a16:creationId xmlns:a16="http://schemas.microsoft.com/office/drawing/2014/main" id="{630E7399-ECC0-4255-A57A-E17704B391BA}"/>
              </a:ext>
            </a:extLst>
          </p:cNvPr>
          <p:cNvSpPr/>
          <p:nvPr/>
        </p:nvSpPr>
        <p:spPr>
          <a:xfrm>
            <a:off x="8153400" y="4045029"/>
            <a:ext cx="2764316" cy="842406"/>
          </a:xfrm>
          <a:prstGeom prst="rect">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測定結果の変動</a:t>
            </a:r>
            <a:endParaRPr kumimoji="1" lang="en-US" altLang="ja-JP" sz="2000" dirty="0">
              <a:solidFill>
                <a:schemeClr val="tx1"/>
              </a:solidFill>
            </a:endParaRPr>
          </a:p>
          <a:p>
            <a:pPr algn="ctr"/>
            <a:r>
              <a:rPr lang="ja-JP" altLang="en-US" sz="2000" dirty="0">
                <a:solidFill>
                  <a:srgbClr val="FF0000"/>
                </a:solidFill>
                <a:effectLst>
                  <a:outerShdw blurRad="38100" dist="38100" dir="2700000" algn="tl">
                    <a:srgbClr val="000000">
                      <a:alpha val="43137"/>
                    </a:srgbClr>
                  </a:outerShdw>
                </a:effectLst>
              </a:rPr>
              <a:t>（測定値）</a:t>
            </a:r>
            <a:endParaRPr kumimoji="1" lang="ja-JP" altLang="en-US" sz="2000" dirty="0">
              <a:solidFill>
                <a:srgbClr val="FF0000"/>
              </a:solidFill>
              <a:effectLst>
                <a:outerShdw blurRad="38100" dist="38100" dir="2700000" algn="tl">
                  <a:srgbClr val="000000">
                    <a:alpha val="43137"/>
                  </a:srgbClr>
                </a:outerShdw>
              </a:effectLst>
            </a:endParaRPr>
          </a:p>
        </p:txBody>
      </p:sp>
      <p:sp>
        <p:nvSpPr>
          <p:cNvPr id="23" name="正方形/長方形 22">
            <a:extLst>
              <a:ext uri="{FF2B5EF4-FFF2-40B4-BE49-F238E27FC236}">
                <a16:creationId xmlns:a16="http://schemas.microsoft.com/office/drawing/2014/main" id="{55F0CBD3-38E7-4F00-8CD0-2AE2E2CF5769}"/>
              </a:ext>
            </a:extLst>
          </p:cNvPr>
          <p:cNvSpPr/>
          <p:nvPr/>
        </p:nvSpPr>
        <p:spPr>
          <a:xfrm>
            <a:off x="3646583" y="5233012"/>
            <a:ext cx="4825388" cy="936700"/>
          </a:xfrm>
          <a:prstGeom prst="rect">
            <a:avLst/>
          </a:prstGeom>
          <a:solidFill>
            <a:schemeClr val="tx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変動の要因</a:t>
            </a:r>
            <a:endParaRPr kumimoji="1" lang="en-US" altLang="ja-JP" sz="2000" dirty="0">
              <a:solidFill>
                <a:schemeClr val="tx1"/>
              </a:solidFill>
            </a:endParaRPr>
          </a:p>
          <a:p>
            <a:pPr algn="ctr"/>
            <a:r>
              <a:rPr lang="ja-JP" altLang="en-US" sz="2000" dirty="0">
                <a:solidFill>
                  <a:schemeClr val="tx1"/>
                </a:solidFill>
              </a:rPr>
              <a:t>（測定機器／測定者／測定環境など）</a:t>
            </a:r>
            <a:endParaRPr kumimoji="1" lang="ja-JP" altLang="en-US" sz="2000" dirty="0">
              <a:solidFill>
                <a:schemeClr val="tx1"/>
              </a:solidFill>
            </a:endParaRPr>
          </a:p>
        </p:txBody>
      </p:sp>
      <p:sp>
        <p:nvSpPr>
          <p:cNvPr id="24" name="加算記号 23">
            <a:extLst>
              <a:ext uri="{FF2B5EF4-FFF2-40B4-BE49-F238E27FC236}">
                <a16:creationId xmlns:a16="http://schemas.microsoft.com/office/drawing/2014/main" id="{8D49300A-B70B-4E48-8FFF-B41AEDDD3296}"/>
              </a:ext>
            </a:extLst>
          </p:cNvPr>
          <p:cNvSpPr/>
          <p:nvPr/>
        </p:nvSpPr>
        <p:spPr>
          <a:xfrm>
            <a:off x="4095291" y="4157015"/>
            <a:ext cx="561860" cy="65511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右 24">
            <a:extLst>
              <a:ext uri="{FF2B5EF4-FFF2-40B4-BE49-F238E27FC236}">
                <a16:creationId xmlns:a16="http://schemas.microsoft.com/office/drawing/2014/main" id="{00C5E05E-5CF2-4F50-BB75-9BF48AE61F21}"/>
              </a:ext>
            </a:extLst>
          </p:cNvPr>
          <p:cNvSpPr/>
          <p:nvPr/>
        </p:nvSpPr>
        <p:spPr>
          <a:xfrm>
            <a:off x="7666363" y="4222215"/>
            <a:ext cx="341523" cy="564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右 25">
            <a:extLst>
              <a:ext uri="{FF2B5EF4-FFF2-40B4-BE49-F238E27FC236}">
                <a16:creationId xmlns:a16="http://schemas.microsoft.com/office/drawing/2014/main" id="{E12D7F72-15DC-400B-9A90-994787262038}"/>
              </a:ext>
            </a:extLst>
          </p:cNvPr>
          <p:cNvSpPr/>
          <p:nvPr/>
        </p:nvSpPr>
        <p:spPr>
          <a:xfrm rot="16200000">
            <a:off x="5986654" y="4604722"/>
            <a:ext cx="218692" cy="8515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8035313"/>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測定システム変動の特性要因図</a:t>
            </a:r>
            <a:endParaRPr lang="en-US" altLang="ja-JP" sz="24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pic>
        <p:nvPicPr>
          <p:cNvPr id="16" name="図 15">
            <a:extLst>
              <a:ext uri="{FF2B5EF4-FFF2-40B4-BE49-F238E27FC236}">
                <a16:creationId xmlns:a16="http://schemas.microsoft.com/office/drawing/2014/main" id="{192FE4C7-44A2-4C30-9090-E88BB8946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812178"/>
            <a:ext cx="10515599" cy="4544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648345"/>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543</a:t>
            </a:fld>
            <a:endParaRPr kumimoji="1" lang="ja-JP" altLang="en-US"/>
          </a:p>
        </p:txBody>
      </p:sp>
      <p:sp>
        <p:nvSpPr>
          <p:cNvPr id="3" name="コンテンツ プレースホルダー 2">
            <a:extLst>
              <a:ext uri="{FF2B5EF4-FFF2-40B4-BE49-F238E27FC236}">
                <a16:creationId xmlns:a16="http://schemas.microsoft.com/office/drawing/2014/main" id="{DC15FF21-72F3-42A7-ABBD-8893E0D77F25}"/>
              </a:ext>
            </a:extLst>
          </p:cNvPr>
          <p:cNvSpPr>
            <a:spLocks noGrp="1"/>
          </p:cNvSpPr>
          <p:nvPr>
            <p:ph idx="1"/>
          </p:nvPr>
        </p:nvSpPr>
        <p:spPr>
          <a:xfrm>
            <a:off x="838200" y="1524000"/>
            <a:ext cx="10515600" cy="459036"/>
          </a:xfrm>
          <a:ln w="12700">
            <a:noFill/>
          </a:ln>
        </p:spPr>
        <p:txBody>
          <a:bodyPr>
            <a:normAutofit/>
          </a:bodyPr>
          <a:lstStyle/>
          <a:p>
            <a:pPr marL="457200" indent="-457200">
              <a:buFont typeface="+mj-lt"/>
              <a:buAutoNum type="arabicPeriod" startAt="4"/>
            </a:pPr>
            <a:r>
              <a:rPr lang="ja-JP" altLang="en-US" sz="2400" u="sng" dirty="0"/>
              <a:t>測定システムの変動要素</a:t>
            </a:r>
            <a:endParaRPr lang="en-US" altLang="ja-JP" sz="2400" u="sng" dirty="0"/>
          </a:p>
          <a:p>
            <a:pPr marL="914400" lvl="1" indent="-457200">
              <a:buFont typeface="+mj-ea"/>
              <a:buAutoNum type="circleNumDbPlain"/>
            </a:pPr>
            <a:endParaRPr lang="ja-JP" altLang="en-US" dirty="0"/>
          </a:p>
          <a:p>
            <a:pPr>
              <a:buFont typeface="Wingdings" panose="05000000000000000000" pitchFamily="2" charset="2"/>
              <a:buChar char="u"/>
            </a:pPr>
            <a:endParaRPr lang="en-US" altLang="ja-JP" dirty="0"/>
          </a:p>
        </p:txBody>
      </p:sp>
      <p:graphicFrame>
        <p:nvGraphicFramePr>
          <p:cNvPr id="6" name="表 5">
            <a:extLst>
              <a:ext uri="{FF2B5EF4-FFF2-40B4-BE49-F238E27FC236}">
                <a16:creationId xmlns:a16="http://schemas.microsoft.com/office/drawing/2014/main" id="{0A09E79B-AC48-4AE9-AA7A-23392DB7080A}"/>
              </a:ext>
            </a:extLst>
          </p:cNvPr>
          <p:cNvGraphicFramePr>
            <a:graphicFrameLocks noGrp="1"/>
          </p:cNvGraphicFramePr>
          <p:nvPr>
            <p:extLst>
              <p:ext uri="{D42A27DB-BD31-4B8C-83A1-F6EECF244321}">
                <p14:modId xmlns:p14="http://schemas.microsoft.com/office/powerpoint/2010/main" val="4129859425"/>
              </p:ext>
            </p:extLst>
          </p:nvPr>
        </p:nvGraphicFramePr>
        <p:xfrm>
          <a:off x="838199" y="1983036"/>
          <a:ext cx="10515600" cy="4359375"/>
        </p:xfrm>
        <a:graphic>
          <a:graphicData uri="http://schemas.openxmlformats.org/drawingml/2006/table">
            <a:tbl>
              <a:tblPr firstRow="1" bandRow="1">
                <a:tableStyleId>{5940675A-B579-460E-94D1-54222C63F5DA}</a:tableStyleId>
              </a:tblPr>
              <a:tblGrid>
                <a:gridCol w="781281">
                  <a:extLst>
                    <a:ext uri="{9D8B030D-6E8A-4147-A177-3AD203B41FA5}">
                      <a16:colId xmlns:a16="http://schemas.microsoft.com/office/drawing/2014/main" val="1626439948"/>
                    </a:ext>
                  </a:extLst>
                </a:gridCol>
                <a:gridCol w="2071171">
                  <a:extLst>
                    <a:ext uri="{9D8B030D-6E8A-4147-A177-3AD203B41FA5}">
                      <a16:colId xmlns:a16="http://schemas.microsoft.com/office/drawing/2014/main" val="2180148106"/>
                    </a:ext>
                  </a:extLst>
                </a:gridCol>
                <a:gridCol w="6180462">
                  <a:extLst>
                    <a:ext uri="{9D8B030D-6E8A-4147-A177-3AD203B41FA5}">
                      <a16:colId xmlns:a16="http://schemas.microsoft.com/office/drawing/2014/main" val="689499387"/>
                    </a:ext>
                  </a:extLst>
                </a:gridCol>
                <a:gridCol w="1482686">
                  <a:extLst>
                    <a:ext uri="{9D8B030D-6E8A-4147-A177-3AD203B41FA5}">
                      <a16:colId xmlns:a16="http://schemas.microsoft.com/office/drawing/2014/main" val="376617094"/>
                    </a:ext>
                  </a:extLst>
                </a:gridCol>
              </a:tblGrid>
              <a:tr h="539827">
                <a:tc>
                  <a:txBody>
                    <a:bodyPr/>
                    <a:lstStyle/>
                    <a:p>
                      <a:pPr algn="ctr"/>
                      <a:r>
                        <a:rPr kumimoji="1" lang="ja-JP" altLang="en-US" dirty="0"/>
                        <a:t>区分</a:t>
                      </a:r>
                    </a:p>
                  </a:txBody>
                  <a:tcPr anchor="ctr">
                    <a:solidFill>
                      <a:schemeClr val="tx2">
                        <a:lumMod val="40000"/>
                        <a:lumOff val="60000"/>
                      </a:schemeClr>
                    </a:solidFill>
                  </a:tcPr>
                </a:tc>
                <a:tc>
                  <a:txBody>
                    <a:bodyPr/>
                    <a:lstStyle/>
                    <a:p>
                      <a:pPr algn="ctr"/>
                      <a:r>
                        <a:rPr kumimoji="1" lang="ja-JP" altLang="en-US" dirty="0"/>
                        <a:t>変動の種類</a:t>
                      </a:r>
                    </a:p>
                  </a:txBody>
                  <a:tcPr anchor="ctr">
                    <a:solidFill>
                      <a:schemeClr val="tx2">
                        <a:lumMod val="40000"/>
                        <a:lumOff val="60000"/>
                      </a:schemeClr>
                    </a:solidFill>
                  </a:tcPr>
                </a:tc>
                <a:tc>
                  <a:txBody>
                    <a:bodyPr/>
                    <a:lstStyle/>
                    <a:p>
                      <a:pPr algn="ctr"/>
                      <a:r>
                        <a:rPr kumimoji="1" lang="ja-JP" altLang="en-US" dirty="0"/>
                        <a:t>内容</a:t>
                      </a:r>
                    </a:p>
                  </a:txBody>
                  <a:tcPr anchor="ctr">
                    <a:solidFill>
                      <a:schemeClr val="tx2">
                        <a:lumMod val="40000"/>
                        <a:lumOff val="60000"/>
                      </a:schemeClr>
                    </a:solidFill>
                  </a:tcPr>
                </a:tc>
                <a:tc>
                  <a:txBody>
                    <a:bodyPr/>
                    <a:lstStyle/>
                    <a:p>
                      <a:pPr algn="ctr"/>
                      <a:r>
                        <a:rPr kumimoji="1" lang="ja-JP" altLang="en-US" dirty="0"/>
                        <a:t>解析方法例</a:t>
                      </a:r>
                    </a:p>
                  </a:txBody>
                  <a:tcPr anchor="ctr">
                    <a:solidFill>
                      <a:schemeClr val="tx2">
                        <a:lumMod val="40000"/>
                        <a:lumOff val="60000"/>
                      </a:schemeClr>
                    </a:solidFill>
                  </a:tcPr>
                </a:tc>
                <a:extLst>
                  <a:ext uri="{0D108BD9-81ED-4DB2-BD59-A6C34878D82A}">
                    <a16:rowId xmlns:a16="http://schemas.microsoft.com/office/drawing/2014/main" val="2038463199"/>
                  </a:ext>
                </a:extLst>
              </a:tr>
              <a:tr h="572877">
                <a:tc rowSpan="3">
                  <a:txBody>
                    <a:bodyPr/>
                    <a:lstStyle/>
                    <a:p>
                      <a:r>
                        <a:rPr kumimoji="1" lang="ja-JP" altLang="en-US" dirty="0"/>
                        <a:t>位置の変動</a:t>
                      </a:r>
                    </a:p>
                  </a:txBody>
                  <a:tcPr vert="eaVert" anchor="ctr"/>
                </a:tc>
                <a:tc>
                  <a:txBody>
                    <a:bodyPr/>
                    <a:lstStyle/>
                    <a:p>
                      <a:r>
                        <a:rPr kumimoji="1" lang="ja-JP" altLang="en-US" dirty="0"/>
                        <a:t>偏り</a:t>
                      </a:r>
                      <a:endParaRPr kumimoji="1" lang="en-US" altLang="ja-JP" dirty="0"/>
                    </a:p>
                    <a:p>
                      <a:r>
                        <a:rPr kumimoji="1" lang="ja-JP" altLang="en-US" sz="1600" dirty="0"/>
                        <a:t>（</a:t>
                      </a:r>
                      <a:r>
                        <a:rPr kumimoji="1" lang="en-US" altLang="ja-JP" sz="1600" dirty="0"/>
                        <a:t>bias</a:t>
                      </a:r>
                      <a:r>
                        <a:rPr kumimoji="1" lang="ja-JP" altLang="en-US" sz="1600" dirty="0"/>
                        <a:t>）</a:t>
                      </a:r>
                    </a:p>
                  </a:txBody>
                  <a:tcPr anchor="ctr"/>
                </a:tc>
                <a:tc>
                  <a:txBody>
                    <a:bodyPr/>
                    <a:lstStyle/>
                    <a:p>
                      <a:r>
                        <a:rPr kumimoji="1" lang="ja-JP" altLang="en-US" sz="1600" dirty="0"/>
                        <a:t>・測定値の平均値と基準値（参照値、真の値）との差。</a:t>
                      </a:r>
                    </a:p>
                  </a:txBody>
                  <a:tcPr anchor="ctr"/>
                </a:tc>
                <a:tc>
                  <a:txBody>
                    <a:bodyPr/>
                    <a:lstStyle/>
                    <a:p>
                      <a:r>
                        <a:rPr kumimoji="1" lang="ja-JP" altLang="en-US" sz="1600" dirty="0"/>
                        <a:t>偏り評価</a:t>
                      </a:r>
                      <a:endParaRPr kumimoji="1" lang="en-US" altLang="ja-JP" sz="1600" dirty="0"/>
                    </a:p>
                    <a:p>
                      <a:r>
                        <a:rPr kumimoji="1" lang="ja-JP" altLang="en-US" sz="1600" dirty="0"/>
                        <a:t>（校正）</a:t>
                      </a:r>
                    </a:p>
                  </a:txBody>
                  <a:tcPr anchor="ctr"/>
                </a:tc>
                <a:extLst>
                  <a:ext uri="{0D108BD9-81ED-4DB2-BD59-A6C34878D82A}">
                    <a16:rowId xmlns:a16="http://schemas.microsoft.com/office/drawing/2014/main" val="2117580365"/>
                  </a:ext>
                </a:extLst>
              </a:tr>
              <a:tr h="822960">
                <a:tc vMerge="1">
                  <a:txBody>
                    <a:bodyPr/>
                    <a:lstStyle/>
                    <a:p>
                      <a:endParaRPr kumimoji="1" lang="ja-JP" altLang="en-US" dirty="0"/>
                    </a:p>
                  </a:txBody>
                  <a:tcPr anchor="ctr"/>
                </a:tc>
                <a:tc>
                  <a:txBody>
                    <a:bodyPr/>
                    <a:lstStyle/>
                    <a:p>
                      <a:r>
                        <a:rPr kumimoji="1" lang="ja-JP" altLang="en-US" dirty="0"/>
                        <a:t>安定性</a:t>
                      </a:r>
                      <a:endParaRPr kumimoji="1" lang="en-US" altLang="ja-JP" dirty="0"/>
                    </a:p>
                    <a:p>
                      <a:r>
                        <a:rPr kumimoji="1" lang="ja-JP" altLang="en-US" sz="1600" dirty="0"/>
                        <a:t>（</a:t>
                      </a:r>
                      <a:r>
                        <a:rPr kumimoji="1" lang="en-US" altLang="ja-JP" sz="1600" dirty="0"/>
                        <a:t>stability</a:t>
                      </a:r>
                      <a:r>
                        <a:rPr kumimoji="1" lang="ja-JP" altLang="en-US" sz="1600" dirty="0"/>
                        <a:t>）</a:t>
                      </a:r>
                    </a:p>
                  </a:txBody>
                  <a:tcPr anchor="ctr"/>
                </a:tc>
                <a:tc>
                  <a:txBody>
                    <a:bodyPr/>
                    <a:lstStyle/>
                    <a:p>
                      <a:r>
                        <a:rPr kumimoji="1" lang="ja-JP" altLang="en-US" sz="1600" dirty="0"/>
                        <a:t>・一人の測定者が、同一製品の同一特性を、同じ測定機器を使って、一定の時間間隔をおいて測定した時の測定値の平均値の差。</a:t>
                      </a:r>
                      <a:endParaRPr kumimoji="1" lang="en-US" altLang="ja-JP" sz="1600" dirty="0"/>
                    </a:p>
                    <a:p>
                      <a:r>
                        <a:rPr kumimoji="1" lang="ja-JP" altLang="en-US" sz="1600" dirty="0"/>
                        <a:t>・ドリフトとも言う。</a:t>
                      </a:r>
                    </a:p>
                  </a:txBody>
                  <a:tcPr anchor="ctr"/>
                </a:tc>
                <a:tc>
                  <a:txBody>
                    <a:bodyPr/>
                    <a:lstStyle/>
                    <a:p>
                      <a:r>
                        <a:rPr kumimoji="1" lang="ja-JP" altLang="en-US" sz="1600" dirty="0"/>
                        <a:t>Ｘ－Ｒ管理図</a:t>
                      </a:r>
                    </a:p>
                  </a:txBody>
                  <a:tcPr anchor="ctr">
                    <a:solidFill>
                      <a:schemeClr val="accent2">
                        <a:lumMod val="20000"/>
                        <a:lumOff val="80000"/>
                      </a:schemeClr>
                    </a:solidFill>
                  </a:tcPr>
                </a:tc>
                <a:extLst>
                  <a:ext uri="{0D108BD9-81ED-4DB2-BD59-A6C34878D82A}">
                    <a16:rowId xmlns:a16="http://schemas.microsoft.com/office/drawing/2014/main" val="2799193429"/>
                  </a:ext>
                </a:extLst>
              </a:tr>
              <a:tr h="528442">
                <a:tc vMerge="1">
                  <a:txBody>
                    <a:bodyPr/>
                    <a:lstStyle/>
                    <a:p>
                      <a:endParaRPr kumimoji="1" lang="ja-JP" altLang="en-US" dirty="0"/>
                    </a:p>
                  </a:txBody>
                  <a:tcPr anchor="ctr"/>
                </a:tc>
                <a:tc>
                  <a:txBody>
                    <a:bodyPr/>
                    <a:lstStyle/>
                    <a:p>
                      <a:r>
                        <a:rPr kumimoji="1" lang="ja-JP" altLang="en-US" dirty="0"/>
                        <a:t>直線性</a:t>
                      </a:r>
                      <a:endParaRPr kumimoji="1" lang="en-US" altLang="ja-JP" dirty="0"/>
                    </a:p>
                    <a:p>
                      <a:r>
                        <a:rPr kumimoji="1" lang="ja-JP" altLang="en-US" sz="1600" dirty="0"/>
                        <a:t>（</a:t>
                      </a:r>
                      <a:r>
                        <a:rPr kumimoji="1" lang="en-US" altLang="ja-JP" sz="1600" dirty="0"/>
                        <a:t>linearity</a:t>
                      </a:r>
                      <a:r>
                        <a:rPr kumimoji="1" lang="ja-JP" altLang="en-US" sz="1600" dirty="0"/>
                        <a:t>）</a:t>
                      </a:r>
                    </a:p>
                  </a:txBody>
                  <a:tcPr anchor="ctr"/>
                </a:tc>
                <a:tc>
                  <a:txBody>
                    <a:bodyPr/>
                    <a:lstStyle/>
                    <a:p>
                      <a:r>
                        <a:rPr kumimoji="1" lang="ja-JP" altLang="en-US" sz="1600" dirty="0"/>
                        <a:t>・測定機器の使用（測定）範囲全体にわたる偏りの変化。</a:t>
                      </a:r>
                    </a:p>
                  </a:txBody>
                  <a:tcPr anchor="ctr"/>
                </a:tc>
                <a:tc>
                  <a:txBody>
                    <a:bodyPr/>
                    <a:lstStyle/>
                    <a:p>
                      <a:r>
                        <a:rPr kumimoji="1" lang="ja-JP" altLang="en-US" sz="1600" dirty="0"/>
                        <a:t>直線性評価</a:t>
                      </a:r>
                      <a:endParaRPr kumimoji="1" lang="en-US" altLang="ja-JP" sz="1600" dirty="0"/>
                    </a:p>
                    <a:p>
                      <a:r>
                        <a:rPr kumimoji="1" lang="ja-JP" altLang="en-US" sz="1600" dirty="0"/>
                        <a:t>（校正）</a:t>
                      </a:r>
                    </a:p>
                  </a:txBody>
                  <a:tcPr anchor="ctr"/>
                </a:tc>
                <a:extLst>
                  <a:ext uri="{0D108BD9-81ED-4DB2-BD59-A6C34878D82A}">
                    <a16:rowId xmlns:a16="http://schemas.microsoft.com/office/drawing/2014/main" val="4012631384"/>
                  </a:ext>
                </a:extLst>
              </a:tr>
              <a:tr h="954428">
                <a:tc rowSpan="2">
                  <a:txBody>
                    <a:bodyPr/>
                    <a:lstStyle/>
                    <a:p>
                      <a:r>
                        <a:rPr kumimoji="1" lang="ja-JP" altLang="en-US" dirty="0"/>
                        <a:t>幅の変動</a:t>
                      </a:r>
                    </a:p>
                  </a:txBody>
                  <a:tcPr vert="eaVert" anchor="ctr"/>
                </a:tc>
                <a:tc>
                  <a:txBody>
                    <a:bodyPr/>
                    <a:lstStyle/>
                    <a:p>
                      <a:r>
                        <a:rPr kumimoji="1" lang="ja-JP" altLang="en-US" dirty="0"/>
                        <a:t>繰返し性</a:t>
                      </a:r>
                      <a:endParaRPr kumimoji="1" lang="en-US" altLang="ja-JP" dirty="0"/>
                    </a:p>
                    <a:p>
                      <a:r>
                        <a:rPr kumimoji="1" lang="ja-JP" altLang="en-US" sz="1600" dirty="0"/>
                        <a:t>（</a:t>
                      </a:r>
                      <a:r>
                        <a:rPr kumimoji="1" lang="en-US" altLang="ja-JP" sz="1600" dirty="0"/>
                        <a:t>repeatability</a:t>
                      </a:r>
                      <a:r>
                        <a:rPr kumimoji="1" lang="ja-JP" altLang="en-US" sz="1600" dirty="0"/>
                        <a:t>）</a:t>
                      </a:r>
                    </a:p>
                  </a:txBody>
                  <a:tcPr anchor="ctr"/>
                </a:tc>
                <a:tc>
                  <a:txBody>
                    <a:bodyPr/>
                    <a:lstStyle/>
                    <a:p>
                      <a:r>
                        <a:rPr kumimoji="1" lang="ja-JP" altLang="en-US" sz="1600" dirty="0"/>
                        <a:t>・一人の測定者が、同一製品の同一特性を、同じ測定機器を使って、数回測定した時の測定値の変動（幅）。（装置変動：</a:t>
                      </a:r>
                      <a:r>
                        <a:rPr kumimoji="1" lang="en-US" altLang="ja-JP" sz="1600" dirty="0"/>
                        <a:t>EV</a:t>
                      </a:r>
                      <a:r>
                        <a:rPr kumimoji="1" lang="ja-JP" altLang="en-US" sz="1600" dirty="0"/>
                        <a:t>）</a:t>
                      </a:r>
                    </a:p>
                  </a:txBody>
                  <a:tcPr anchor="ctr"/>
                </a:tc>
                <a:tc rowSpan="2">
                  <a:txBody>
                    <a:bodyPr/>
                    <a:lstStyle/>
                    <a:p>
                      <a:r>
                        <a:rPr kumimoji="1" lang="ja-JP" altLang="en-US" sz="1600" dirty="0"/>
                        <a:t>％ＧＲＲ</a:t>
                      </a:r>
                    </a:p>
                  </a:txBody>
                  <a:tcPr>
                    <a:solidFill>
                      <a:schemeClr val="accent2">
                        <a:lumMod val="20000"/>
                        <a:lumOff val="80000"/>
                      </a:schemeClr>
                    </a:solidFill>
                  </a:tcPr>
                </a:tc>
                <a:extLst>
                  <a:ext uri="{0D108BD9-81ED-4DB2-BD59-A6C34878D82A}">
                    <a16:rowId xmlns:a16="http://schemas.microsoft.com/office/drawing/2014/main" val="2965754564"/>
                  </a:ext>
                </a:extLst>
              </a:tr>
              <a:tr h="728886">
                <a:tc vMerge="1">
                  <a:txBody>
                    <a:bodyPr/>
                    <a:lstStyle/>
                    <a:p>
                      <a:endParaRPr kumimoji="1" lang="ja-JP" altLang="en-US" dirty="0"/>
                    </a:p>
                  </a:txBody>
                  <a:tcPr anchor="ctr"/>
                </a:tc>
                <a:tc>
                  <a:txBody>
                    <a:bodyPr/>
                    <a:lstStyle/>
                    <a:p>
                      <a:r>
                        <a:rPr kumimoji="1" lang="ja-JP" altLang="en-US" dirty="0"/>
                        <a:t>再現性</a:t>
                      </a:r>
                      <a:endParaRPr kumimoji="1" lang="en-US" altLang="ja-JP" dirty="0"/>
                    </a:p>
                    <a:p>
                      <a:r>
                        <a:rPr kumimoji="1" lang="ja-JP" altLang="en-US" sz="1600" dirty="0"/>
                        <a:t>（</a:t>
                      </a:r>
                      <a:r>
                        <a:rPr kumimoji="1" lang="en-US" altLang="ja-JP" sz="1600" dirty="0"/>
                        <a:t>reproducibility</a:t>
                      </a:r>
                      <a:r>
                        <a:rPr kumimoji="1" lang="ja-JP" altLang="en-US" sz="1600" dirty="0"/>
                        <a:t>）</a:t>
                      </a:r>
                    </a:p>
                  </a:txBody>
                  <a:tcPr anchor="ctr"/>
                </a:tc>
                <a:tc>
                  <a:txBody>
                    <a:bodyPr/>
                    <a:lstStyle/>
                    <a:p>
                      <a:r>
                        <a:rPr kumimoji="1" lang="ja-JP" altLang="en-US" sz="1600" dirty="0"/>
                        <a:t>・異なる測定者が、同一製品の同一特性を、同じ測定機器を使って、数回測定した時の各測定者ごとの平均値の変動。（測定者変動：</a:t>
                      </a:r>
                      <a:r>
                        <a:rPr kumimoji="1" lang="en-US" altLang="ja-JP" sz="1600" dirty="0"/>
                        <a:t>AV</a:t>
                      </a:r>
                      <a:r>
                        <a:rPr kumimoji="1" lang="ja-JP" altLang="en-US" sz="1600" dirty="0"/>
                        <a:t>）</a:t>
                      </a:r>
                    </a:p>
                  </a:txBody>
                  <a:tcPr anchor="ctr"/>
                </a:tc>
                <a:tc vMerge="1">
                  <a:txBody>
                    <a:bodyPr/>
                    <a:lstStyle/>
                    <a:p>
                      <a:endParaRPr kumimoji="1" lang="ja-JP" altLang="en-US" dirty="0"/>
                    </a:p>
                  </a:txBody>
                  <a:tcPr anchor="ctr"/>
                </a:tc>
                <a:extLst>
                  <a:ext uri="{0D108BD9-81ED-4DB2-BD59-A6C34878D82A}">
                    <a16:rowId xmlns:a16="http://schemas.microsoft.com/office/drawing/2014/main" val="71731339"/>
                  </a:ext>
                </a:extLst>
              </a:tr>
            </a:tbl>
          </a:graphicData>
        </a:graphic>
      </p:graphicFrame>
      <p:graphicFrame>
        <p:nvGraphicFramePr>
          <p:cNvPr id="7" name="表 6">
            <a:extLst>
              <a:ext uri="{FF2B5EF4-FFF2-40B4-BE49-F238E27FC236}">
                <a16:creationId xmlns:a16="http://schemas.microsoft.com/office/drawing/2014/main" id="{A1532F8B-95D6-4709-ACAE-14E426F5DC28}"/>
              </a:ext>
            </a:extLst>
          </p:cNvPr>
          <p:cNvGraphicFramePr>
            <a:graphicFrameLocks noGrp="1"/>
          </p:cNvGraphicFramePr>
          <p:nvPr/>
        </p:nvGraphicFramePr>
        <p:xfrm>
          <a:off x="9871112" y="4979624"/>
          <a:ext cx="1482687" cy="1366778"/>
        </p:xfrm>
        <a:graphic>
          <a:graphicData uri="http://schemas.openxmlformats.org/drawingml/2006/table">
            <a:tbl>
              <a:tblPr firstRow="1" bandRow="1">
                <a:tableStyleId>{5940675A-B579-460E-94D1-54222C63F5DA}</a:tableStyleId>
              </a:tblPr>
              <a:tblGrid>
                <a:gridCol w="822217">
                  <a:extLst>
                    <a:ext uri="{9D8B030D-6E8A-4147-A177-3AD203B41FA5}">
                      <a16:colId xmlns:a16="http://schemas.microsoft.com/office/drawing/2014/main" val="525733494"/>
                    </a:ext>
                  </a:extLst>
                </a:gridCol>
                <a:gridCol w="660470">
                  <a:extLst>
                    <a:ext uri="{9D8B030D-6E8A-4147-A177-3AD203B41FA5}">
                      <a16:colId xmlns:a16="http://schemas.microsoft.com/office/drawing/2014/main" val="642153133"/>
                    </a:ext>
                  </a:extLst>
                </a:gridCol>
              </a:tblGrid>
              <a:tr h="453209">
                <a:tc>
                  <a:txBody>
                    <a:bodyPr/>
                    <a:lstStyle/>
                    <a:p>
                      <a:r>
                        <a:rPr kumimoji="1" lang="ja-JP" altLang="en-US" sz="1200" dirty="0"/>
                        <a:t>１０％未満</a:t>
                      </a:r>
                    </a:p>
                  </a:txBody>
                  <a:tcPr>
                    <a:solidFill>
                      <a:schemeClr val="accent2">
                        <a:lumMod val="20000"/>
                        <a:lumOff val="80000"/>
                      </a:schemeClr>
                    </a:solidFill>
                  </a:tcPr>
                </a:tc>
                <a:tc>
                  <a:txBody>
                    <a:bodyPr/>
                    <a:lstStyle/>
                    <a:p>
                      <a:r>
                        <a:rPr kumimoji="1" lang="ja-JP" altLang="en-US" sz="1200" dirty="0"/>
                        <a:t>合格</a:t>
                      </a:r>
                    </a:p>
                  </a:txBody>
                  <a:tcPr>
                    <a:solidFill>
                      <a:schemeClr val="accent2">
                        <a:lumMod val="20000"/>
                        <a:lumOff val="80000"/>
                      </a:schemeClr>
                    </a:solidFill>
                  </a:tcPr>
                </a:tc>
                <a:extLst>
                  <a:ext uri="{0D108BD9-81ED-4DB2-BD59-A6C34878D82A}">
                    <a16:rowId xmlns:a16="http://schemas.microsoft.com/office/drawing/2014/main" val="1309335406"/>
                  </a:ext>
                </a:extLst>
              </a:tr>
              <a:tr h="511945">
                <a:tc>
                  <a:txBody>
                    <a:bodyPr/>
                    <a:lstStyle/>
                    <a:p>
                      <a:r>
                        <a:rPr kumimoji="1" lang="ja-JP" altLang="en-US" sz="1200" dirty="0"/>
                        <a:t>１０％～</a:t>
                      </a:r>
                      <a:endParaRPr kumimoji="1" lang="en-US" altLang="ja-JP" sz="1200" dirty="0"/>
                    </a:p>
                    <a:p>
                      <a:r>
                        <a:rPr kumimoji="1" lang="ja-JP" altLang="en-US" sz="1200" dirty="0"/>
                        <a:t>３０％</a:t>
                      </a:r>
                    </a:p>
                  </a:txBody>
                  <a:tcPr>
                    <a:solidFill>
                      <a:schemeClr val="accent2">
                        <a:lumMod val="20000"/>
                        <a:lumOff val="80000"/>
                      </a:schemeClr>
                    </a:solidFill>
                  </a:tcPr>
                </a:tc>
                <a:tc>
                  <a:txBody>
                    <a:bodyPr/>
                    <a:lstStyle/>
                    <a:p>
                      <a:r>
                        <a:rPr kumimoji="1" lang="ja-JP" altLang="en-US" sz="1200" dirty="0"/>
                        <a:t>条件付合格</a:t>
                      </a:r>
                    </a:p>
                  </a:txBody>
                  <a:tcPr>
                    <a:solidFill>
                      <a:schemeClr val="accent2">
                        <a:lumMod val="20000"/>
                        <a:lumOff val="80000"/>
                      </a:schemeClr>
                    </a:solidFill>
                  </a:tcPr>
                </a:tc>
                <a:extLst>
                  <a:ext uri="{0D108BD9-81ED-4DB2-BD59-A6C34878D82A}">
                    <a16:rowId xmlns:a16="http://schemas.microsoft.com/office/drawing/2014/main" val="2037875429"/>
                  </a:ext>
                </a:extLst>
              </a:tr>
              <a:tr h="397633">
                <a:tc>
                  <a:txBody>
                    <a:bodyPr/>
                    <a:lstStyle/>
                    <a:p>
                      <a:r>
                        <a:rPr kumimoji="1" lang="ja-JP" altLang="en-US" sz="1200" dirty="0"/>
                        <a:t>３０％超</a:t>
                      </a:r>
                    </a:p>
                  </a:txBody>
                  <a:tcPr>
                    <a:solidFill>
                      <a:schemeClr val="accent2">
                        <a:lumMod val="20000"/>
                        <a:lumOff val="80000"/>
                      </a:schemeClr>
                    </a:solidFill>
                  </a:tcPr>
                </a:tc>
                <a:tc>
                  <a:txBody>
                    <a:bodyPr/>
                    <a:lstStyle/>
                    <a:p>
                      <a:r>
                        <a:rPr kumimoji="1" lang="ja-JP" altLang="en-US" sz="1200" dirty="0"/>
                        <a:t>不合格</a:t>
                      </a:r>
                    </a:p>
                  </a:txBody>
                  <a:tcPr>
                    <a:solidFill>
                      <a:schemeClr val="accent2">
                        <a:lumMod val="20000"/>
                        <a:lumOff val="80000"/>
                      </a:schemeClr>
                    </a:solidFill>
                  </a:tcPr>
                </a:tc>
                <a:extLst>
                  <a:ext uri="{0D108BD9-81ED-4DB2-BD59-A6C34878D82A}">
                    <a16:rowId xmlns:a16="http://schemas.microsoft.com/office/drawing/2014/main" val="721977463"/>
                  </a:ext>
                </a:extLst>
              </a:tr>
            </a:tbl>
          </a:graphicData>
        </a:graphic>
      </p:graphicFrame>
      <p:sp>
        <p:nvSpPr>
          <p:cNvPr id="10" name="タイトル 1">
            <a:extLst>
              <a:ext uri="{FF2B5EF4-FFF2-40B4-BE49-F238E27FC236}">
                <a16:creationId xmlns:a16="http://schemas.microsoft.com/office/drawing/2014/main" id="{8EEA1C95-9B47-40FE-9052-52520464C85A}"/>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cxnSp>
        <p:nvCxnSpPr>
          <p:cNvPr id="8" name="直線コネクタ 7">
            <a:extLst>
              <a:ext uri="{FF2B5EF4-FFF2-40B4-BE49-F238E27FC236}">
                <a16:creationId xmlns:a16="http://schemas.microsoft.com/office/drawing/2014/main" id="{1A89AD4B-FAA6-47C6-8BFF-954EA061E7CA}"/>
              </a:ext>
            </a:extLst>
          </p:cNvPr>
          <p:cNvCxnSpPr>
            <a:cxnSpLocks/>
          </p:cNvCxnSpPr>
          <p:nvPr/>
        </p:nvCxnSpPr>
        <p:spPr>
          <a:xfrm>
            <a:off x="9981225" y="342900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872430"/>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graphicFrame>
        <p:nvGraphicFramePr>
          <p:cNvPr id="3" name="表 2">
            <a:extLst>
              <a:ext uri="{FF2B5EF4-FFF2-40B4-BE49-F238E27FC236}">
                <a16:creationId xmlns:a16="http://schemas.microsoft.com/office/drawing/2014/main" id="{8BD0EB9E-D196-4FCC-ADC9-32F27A72EFAA}"/>
              </a:ext>
            </a:extLst>
          </p:cNvPr>
          <p:cNvGraphicFramePr>
            <a:graphicFrameLocks noGrp="1"/>
          </p:cNvGraphicFramePr>
          <p:nvPr/>
        </p:nvGraphicFramePr>
        <p:xfrm>
          <a:off x="838200" y="1344058"/>
          <a:ext cx="10515600" cy="5012292"/>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1000387191"/>
                    </a:ext>
                  </a:extLst>
                </a:gridCol>
                <a:gridCol w="3505200">
                  <a:extLst>
                    <a:ext uri="{9D8B030D-6E8A-4147-A177-3AD203B41FA5}">
                      <a16:colId xmlns:a16="http://schemas.microsoft.com/office/drawing/2014/main" val="2444082027"/>
                    </a:ext>
                  </a:extLst>
                </a:gridCol>
                <a:gridCol w="3505200">
                  <a:extLst>
                    <a:ext uri="{9D8B030D-6E8A-4147-A177-3AD203B41FA5}">
                      <a16:colId xmlns:a16="http://schemas.microsoft.com/office/drawing/2014/main" val="3207964618"/>
                    </a:ext>
                  </a:extLst>
                </a:gridCol>
              </a:tblGrid>
              <a:tr h="2506146">
                <a:tc>
                  <a:txBody>
                    <a:bodyPr/>
                    <a:lstStyle/>
                    <a:p>
                      <a:r>
                        <a:rPr kumimoji="1" lang="ja-JP" altLang="en-US" b="1" u="sng" dirty="0"/>
                        <a:t>偏り</a:t>
                      </a:r>
                    </a:p>
                  </a:txBody>
                  <a:tcPr/>
                </a:tc>
                <a:tc>
                  <a:txBody>
                    <a:bodyPr/>
                    <a:lstStyle/>
                    <a:p>
                      <a:r>
                        <a:rPr kumimoji="1" lang="ja-JP" altLang="en-US" b="1" u="sng" dirty="0"/>
                        <a:t>直線性</a:t>
                      </a:r>
                    </a:p>
                  </a:txBody>
                  <a:tcPr/>
                </a:tc>
                <a:tc>
                  <a:txBody>
                    <a:bodyPr/>
                    <a:lstStyle/>
                    <a:p>
                      <a:r>
                        <a:rPr kumimoji="1" lang="ja-JP" altLang="en-US" b="1" dirty="0">
                          <a:effectLst>
                            <a:outerShdw blurRad="38100" dist="38100" dir="2700000" algn="tl">
                              <a:srgbClr val="000000">
                                <a:alpha val="43137"/>
                              </a:srgbClr>
                            </a:outerShdw>
                          </a:effectLst>
                        </a:rPr>
                        <a:t>再現性</a:t>
                      </a:r>
                    </a:p>
                  </a:txBody>
                  <a:tcPr>
                    <a:solidFill>
                      <a:schemeClr val="accent5">
                        <a:lumMod val="20000"/>
                        <a:lumOff val="80000"/>
                      </a:schemeClr>
                    </a:solidFill>
                  </a:tcPr>
                </a:tc>
                <a:extLst>
                  <a:ext uri="{0D108BD9-81ED-4DB2-BD59-A6C34878D82A}">
                    <a16:rowId xmlns:a16="http://schemas.microsoft.com/office/drawing/2014/main" val="590910726"/>
                  </a:ext>
                </a:extLst>
              </a:tr>
              <a:tr h="2506146">
                <a:tc>
                  <a:txBody>
                    <a:bodyPr/>
                    <a:lstStyle/>
                    <a:p>
                      <a:r>
                        <a:rPr kumimoji="1" lang="ja-JP" altLang="en-US" b="1" u="sng" dirty="0"/>
                        <a:t>安定性</a:t>
                      </a:r>
                    </a:p>
                  </a:txBody>
                  <a:tcPr>
                    <a:solidFill>
                      <a:schemeClr val="accent5">
                        <a:lumMod val="20000"/>
                        <a:lumOff val="80000"/>
                      </a:schemeClr>
                    </a:solidFill>
                  </a:tcPr>
                </a:tc>
                <a:tc>
                  <a:txBody>
                    <a:bodyPr/>
                    <a:lstStyle/>
                    <a:p>
                      <a:r>
                        <a:rPr kumimoji="1" lang="ja-JP" altLang="en-US" b="1" u="sng" dirty="0"/>
                        <a:t>繰返し性</a:t>
                      </a:r>
                    </a:p>
                  </a:txBody>
                  <a:tcPr>
                    <a:solidFill>
                      <a:schemeClr val="accent5">
                        <a:lumMod val="20000"/>
                        <a:lumOff val="80000"/>
                      </a:schemeClr>
                    </a:solidFill>
                  </a:tcPr>
                </a:tc>
                <a:tc>
                  <a:txBody>
                    <a:bodyPr/>
                    <a:lstStyle/>
                    <a:p>
                      <a:r>
                        <a:rPr kumimoji="1" lang="ja-JP" altLang="en-US" b="1" u="sng" dirty="0"/>
                        <a:t>繰返し性・再現性（</a:t>
                      </a:r>
                      <a:r>
                        <a:rPr kumimoji="1" lang="en-US" altLang="ja-JP" b="1" u="sng" dirty="0"/>
                        <a:t>GRR</a:t>
                      </a:r>
                      <a:r>
                        <a:rPr kumimoji="1" lang="ja-JP" altLang="en-US" b="1" u="sng" dirty="0"/>
                        <a:t>）</a:t>
                      </a:r>
                    </a:p>
                  </a:txBody>
                  <a:tcPr>
                    <a:solidFill>
                      <a:schemeClr val="accent5">
                        <a:lumMod val="20000"/>
                        <a:lumOff val="80000"/>
                      </a:schemeClr>
                    </a:solidFill>
                  </a:tcPr>
                </a:tc>
                <a:extLst>
                  <a:ext uri="{0D108BD9-81ED-4DB2-BD59-A6C34878D82A}">
                    <a16:rowId xmlns:a16="http://schemas.microsoft.com/office/drawing/2014/main" val="2875869467"/>
                  </a:ext>
                </a:extLst>
              </a:tr>
            </a:tbl>
          </a:graphicData>
        </a:graphic>
      </p:graphicFrame>
      <p:pic>
        <p:nvPicPr>
          <p:cNvPr id="8" name="図 7">
            <a:extLst>
              <a:ext uri="{FF2B5EF4-FFF2-40B4-BE49-F238E27FC236}">
                <a16:creationId xmlns:a16="http://schemas.microsoft.com/office/drawing/2014/main" id="{DD4071DD-E10F-45D0-972C-B7E98A455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181" y="1676536"/>
            <a:ext cx="3230643" cy="205818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a:extLst>
              <a:ext uri="{FF2B5EF4-FFF2-40B4-BE49-F238E27FC236}">
                <a16:creationId xmlns:a16="http://schemas.microsoft.com/office/drawing/2014/main" id="{0512620F-6DC9-4C0B-AB27-730EBDA108E6}"/>
              </a:ext>
            </a:extLst>
          </p:cNvPr>
          <p:cNvGrpSpPr/>
          <p:nvPr/>
        </p:nvGrpSpPr>
        <p:grpSpPr>
          <a:xfrm>
            <a:off x="1098853" y="1676535"/>
            <a:ext cx="3098574" cy="2058181"/>
            <a:chOff x="0" y="0"/>
            <a:chExt cx="2395828" cy="1622534"/>
          </a:xfrm>
        </p:grpSpPr>
        <p:grpSp>
          <p:nvGrpSpPr>
            <p:cNvPr id="11" name="グループ化 10">
              <a:extLst>
                <a:ext uri="{FF2B5EF4-FFF2-40B4-BE49-F238E27FC236}">
                  <a16:creationId xmlns:a16="http://schemas.microsoft.com/office/drawing/2014/main" id="{5C9735A6-5532-46B6-93DE-000563DFC656}"/>
                </a:ext>
              </a:extLst>
            </p:cNvPr>
            <p:cNvGrpSpPr/>
            <p:nvPr/>
          </p:nvGrpSpPr>
          <p:grpSpPr>
            <a:xfrm>
              <a:off x="137589" y="98824"/>
              <a:ext cx="1995362" cy="1498321"/>
              <a:chOff x="137589" y="98824"/>
              <a:chExt cx="1997345" cy="1512274"/>
            </a:xfrm>
          </p:grpSpPr>
          <p:sp>
            <p:nvSpPr>
              <p:cNvPr id="22" name="フリーフォーム: 図形 21">
                <a:extLst>
                  <a:ext uri="{FF2B5EF4-FFF2-40B4-BE49-F238E27FC236}">
                    <a16:creationId xmlns:a16="http://schemas.microsoft.com/office/drawing/2014/main" id="{C258B4B6-96B0-4FA3-A969-C8B4A8BB40FF}"/>
                  </a:ext>
                </a:extLst>
              </p:cNvPr>
              <p:cNvSpPr/>
              <p:nvPr/>
            </p:nvSpPr>
            <p:spPr>
              <a:xfrm>
                <a:off x="1133795" y="99035"/>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3" name="フリーフォーム: 図形 22">
                <a:extLst>
                  <a:ext uri="{FF2B5EF4-FFF2-40B4-BE49-F238E27FC236}">
                    <a16:creationId xmlns:a16="http://schemas.microsoft.com/office/drawing/2014/main" id="{30BC920F-592D-480D-BEFF-B14DC78C0E15}"/>
                  </a:ext>
                </a:extLst>
              </p:cNvPr>
              <p:cNvSpPr/>
              <p:nvPr/>
            </p:nvSpPr>
            <p:spPr>
              <a:xfrm>
                <a:off x="137589" y="98824"/>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12" name="直線コネクタ 11">
              <a:extLst>
                <a:ext uri="{FF2B5EF4-FFF2-40B4-BE49-F238E27FC236}">
                  <a16:creationId xmlns:a16="http://schemas.microsoft.com/office/drawing/2014/main" id="{8C42C531-CFA6-4A6B-BEE4-FD495F938CE7}"/>
                </a:ext>
              </a:extLst>
            </p:cNvPr>
            <p:cNvCxnSpPr/>
            <p:nvPr/>
          </p:nvCxnSpPr>
          <p:spPr>
            <a:xfrm flipH="1">
              <a:off x="1128793" y="2779"/>
              <a:ext cx="0" cy="16111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D92A4670-785E-40EB-BDBC-A728DC16A584}"/>
                </a:ext>
              </a:extLst>
            </p:cNvPr>
            <p:cNvSpPr/>
            <p:nvPr/>
          </p:nvSpPr>
          <p:spPr>
            <a:xfrm>
              <a:off x="153942" y="229074"/>
              <a:ext cx="606652" cy="23327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基準値</a:t>
              </a:r>
              <a:endParaRPr kumimoji="1" lang="en-US" altLang="ja-JP" sz="1100">
                <a:solidFill>
                  <a:schemeClr val="tx1"/>
                </a:solidFill>
              </a:endParaRPr>
            </a:p>
          </p:txBody>
        </p:sp>
        <p:cxnSp>
          <p:nvCxnSpPr>
            <p:cNvPr id="14" name="直線矢印コネクタ 13">
              <a:extLst>
                <a:ext uri="{FF2B5EF4-FFF2-40B4-BE49-F238E27FC236}">
                  <a16:creationId xmlns:a16="http://schemas.microsoft.com/office/drawing/2014/main" id="{760B4A68-F2FD-42F1-AD91-3B3ED781CD0B}"/>
                </a:ext>
              </a:extLst>
            </p:cNvPr>
            <p:cNvCxnSpPr>
              <a:stCxn id="18" idx="2"/>
            </p:cNvCxnSpPr>
            <p:nvPr/>
          </p:nvCxnSpPr>
          <p:spPr>
            <a:xfrm flipH="1">
              <a:off x="1126722" y="766233"/>
              <a:ext cx="738230" cy="3675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769C142C-BDF7-4F0D-B4E9-7EFB1521A2DB}"/>
                </a:ext>
              </a:extLst>
            </p:cNvPr>
            <p:cNvCxnSpPr/>
            <p:nvPr/>
          </p:nvCxnSpPr>
          <p:spPr>
            <a:xfrm>
              <a:off x="0" y="1607880"/>
              <a:ext cx="22583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792257DC-B5D8-4A67-A733-2F1CFBFC95F5}"/>
                </a:ext>
              </a:extLst>
            </p:cNvPr>
            <p:cNvCxnSpPr/>
            <p:nvPr/>
          </p:nvCxnSpPr>
          <p:spPr>
            <a:xfrm flipH="1">
              <a:off x="916911" y="0"/>
              <a:ext cx="0" cy="16143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6E237E9D-3BB2-4BCB-B15E-77E5F3ADBBDF}"/>
                </a:ext>
              </a:extLst>
            </p:cNvPr>
            <p:cNvCxnSpPr>
              <a:stCxn id="13" idx="2"/>
            </p:cNvCxnSpPr>
            <p:nvPr/>
          </p:nvCxnSpPr>
          <p:spPr>
            <a:xfrm>
              <a:off x="457142" y="459178"/>
              <a:ext cx="419959" cy="1282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B1D2874D-E299-4604-AEFB-DF6D339E305E}"/>
                </a:ext>
              </a:extLst>
            </p:cNvPr>
            <p:cNvSpPr/>
            <p:nvPr/>
          </p:nvSpPr>
          <p:spPr>
            <a:xfrm>
              <a:off x="1334326" y="535877"/>
              <a:ext cx="1061502" cy="230356"/>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測定値の平均</a:t>
              </a:r>
              <a:endParaRPr kumimoji="1" lang="en-US" altLang="ja-JP" sz="1100">
                <a:solidFill>
                  <a:schemeClr val="tx1"/>
                </a:solidFill>
              </a:endParaRPr>
            </a:p>
          </p:txBody>
        </p:sp>
        <p:sp>
          <p:nvSpPr>
            <p:cNvPr id="19" name="矢印: 左右 18">
              <a:extLst>
                <a:ext uri="{FF2B5EF4-FFF2-40B4-BE49-F238E27FC236}">
                  <a16:creationId xmlns:a16="http://schemas.microsoft.com/office/drawing/2014/main" id="{FE9C077B-C199-413D-85FD-72E0AA96073F}"/>
                </a:ext>
              </a:extLst>
            </p:cNvPr>
            <p:cNvSpPr/>
            <p:nvPr/>
          </p:nvSpPr>
          <p:spPr>
            <a:xfrm>
              <a:off x="903234" y="1461089"/>
              <a:ext cx="233990" cy="161445"/>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0" name="正方形/長方形 19">
              <a:extLst>
                <a:ext uri="{FF2B5EF4-FFF2-40B4-BE49-F238E27FC236}">
                  <a16:creationId xmlns:a16="http://schemas.microsoft.com/office/drawing/2014/main" id="{96536AD9-9FB8-4EE1-8E7C-14F5465FBDBF}"/>
                </a:ext>
              </a:extLst>
            </p:cNvPr>
            <p:cNvSpPr/>
            <p:nvPr/>
          </p:nvSpPr>
          <p:spPr>
            <a:xfrm>
              <a:off x="1566118" y="1009961"/>
              <a:ext cx="475062" cy="23670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偏り</a:t>
              </a:r>
              <a:endParaRPr kumimoji="1" lang="en-US" altLang="ja-JP" sz="1100">
                <a:solidFill>
                  <a:schemeClr val="tx1"/>
                </a:solidFill>
              </a:endParaRPr>
            </a:p>
          </p:txBody>
        </p:sp>
        <p:cxnSp>
          <p:nvCxnSpPr>
            <p:cNvPr id="21" name="直線矢印コネクタ 20">
              <a:extLst>
                <a:ext uri="{FF2B5EF4-FFF2-40B4-BE49-F238E27FC236}">
                  <a16:creationId xmlns:a16="http://schemas.microsoft.com/office/drawing/2014/main" id="{3B989247-6D72-44AC-83DA-9F866E7F62FB}"/>
                </a:ext>
              </a:extLst>
            </p:cNvPr>
            <p:cNvCxnSpPr>
              <a:stCxn id="20" idx="2"/>
              <a:endCxn id="19" idx="7"/>
            </p:cNvCxnSpPr>
            <p:nvPr/>
          </p:nvCxnSpPr>
          <p:spPr>
            <a:xfrm flipH="1">
              <a:off x="1134049" y="1246668"/>
              <a:ext cx="666426" cy="29819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96716352-199A-4888-9DAF-305EE5CC1FD9}"/>
              </a:ext>
            </a:extLst>
          </p:cNvPr>
          <p:cNvGrpSpPr/>
          <p:nvPr/>
        </p:nvGrpSpPr>
        <p:grpSpPr>
          <a:xfrm>
            <a:off x="969484" y="4221815"/>
            <a:ext cx="3305062" cy="2009669"/>
            <a:chOff x="0" y="0"/>
            <a:chExt cx="2995881" cy="1625710"/>
          </a:xfrm>
        </p:grpSpPr>
        <p:grpSp>
          <p:nvGrpSpPr>
            <p:cNvPr id="25" name="グループ化 24">
              <a:extLst>
                <a:ext uri="{FF2B5EF4-FFF2-40B4-BE49-F238E27FC236}">
                  <a16:creationId xmlns:a16="http://schemas.microsoft.com/office/drawing/2014/main" id="{722E9645-2048-4E03-BA99-C98EB6424DCE}"/>
                </a:ext>
              </a:extLst>
            </p:cNvPr>
            <p:cNvGrpSpPr/>
            <p:nvPr/>
          </p:nvGrpSpPr>
          <p:grpSpPr>
            <a:xfrm>
              <a:off x="233016" y="98678"/>
              <a:ext cx="1998536" cy="1498321"/>
              <a:chOff x="233016" y="98678"/>
              <a:chExt cx="1997345" cy="1512274"/>
            </a:xfrm>
          </p:grpSpPr>
          <p:sp>
            <p:nvSpPr>
              <p:cNvPr id="39" name="フリーフォーム: 図形 38">
                <a:extLst>
                  <a:ext uri="{FF2B5EF4-FFF2-40B4-BE49-F238E27FC236}">
                    <a16:creationId xmlns:a16="http://schemas.microsoft.com/office/drawing/2014/main" id="{A6089D15-7A12-4619-ABEB-AE10F44F41BC}"/>
                  </a:ext>
                </a:extLst>
              </p:cNvPr>
              <p:cNvSpPr/>
              <p:nvPr/>
            </p:nvSpPr>
            <p:spPr>
              <a:xfrm>
                <a:off x="1229222" y="98889"/>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40" name="フリーフォーム: 図形 39">
                <a:extLst>
                  <a:ext uri="{FF2B5EF4-FFF2-40B4-BE49-F238E27FC236}">
                    <a16:creationId xmlns:a16="http://schemas.microsoft.com/office/drawing/2014/main" id="{F39D5D8F-BE73-474D-8036-90634166C074}"/>
                  </a:ext>
                </a:extLst>
              </p:cNvPr>
              <p:cNvSpPr/>
              <p:nvPr/>
            </p:nvSpPr>
            <p:spPr>
              <a:xfrm>
                <a:off x="233016" y="98678"/>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26" name="グループ化 25">
              <a:extLst>
                <a:ext uri="{FF2B5EF4-FFF2-40B4-BE49-F238E27FC236}">
                  <a16:creationId xmlns:a16="http://schemas.microsoft.com/office/drawing/2014/main" id="{B5280816-AC9D-4592-93DF-D7C4FAD253A0}"/>
                </a:ext>
              </a:extLst>
            </p:cNvPr>
            <p:cNvGrpSpPr/>
            <p:nvPr/>
          </p:nvGrpSpPr>
          <p:grpSpPr>
            <a:xfrm>
              <a:off x="752039" y="95504"/>
              <a:ext cx="1992188" cy="1498321"/>
              <a:chOff x="752039" y="95504"/>
              <a:chExt cx="1997345" cy="1512274"/>
            </a:xfrm>
          </p:grpSpPr>
          <p:sp>
            <p:nvSpPr>
              <p:cNvPr id="37" name="フリーフォーム: 図形 36">
                <a:extLst>
                  <a:ext uri="{FF2B5EF4-FFF2-40B4-BE49-F238E27FC236}">
                    <a16:creationId xmlns:a16="http://schemas.microsoft.com/office/drawing/2014/main" id="{607CB243-DADD-4028-9328-255A5A2F50AD}"/>
                  </a:ext>
                </a:extLst>
              </p:cNvPr>
              <p:cNvSpPr/>
              <p:nvPr/>
            </p:nvSpPr>
            <p:spPr>
              <a:xfrm>
                <a:off x="1748245" y="95715"/>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8" name="フリーフォーム: 図形 37">
                <a:extLst>
                  <a:ext uri="{FF2B5EF4-FFF2-40B4-BE49-F238E27FC236}">
                    <a16:creationId xmlns:a16="http://schemas.microsoft.com/office/drawing/2014/main" id="{0BB56C15-8861-4CDF-ADBD-BC6DCB007CA0}"/>
                  </a:ext>
                </a:extLst>
              </p:cNvPr>
              <p:cNvSpPr/>
              <p:nvPr/>
            </p:nvSpPr>
            <p:spPr>
              <a:xfrm>
                <a:off x="752039" y="95504"/>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27" name="直線コネクタ 26">
              <a:extLst>
                <a:ext uri="{FF2B5EF4-FFF2-40B4-BE49-F238E27FC236}">
                  <a16:creationId xmlns:a16="http://schemas.microsoft.com/office/drawing/2014/main" id="{0357CD8B-934B-44F8-AA41-F1147153B970}"/>
                </a:ext>
              </a:extLst>
            </p:cNvPr>
            <p:cNvCxnSpPr/>
            <p:nvPr/>
          </p:nvCxnSpPr>
          <p:spPr>
            <a:xfrm>
              <a:off x="182703" y="1615207"/>
              <a:ext cx="267645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F3B6EEE2-02BD-4810-825F-D1A01A92458C}"/>
                </a:ext>
              </a:extLst>
            </p:cNvPr>
            <p:cNvCxnSpPr/>
            <p:nvPr/>
          </p:nvCxnSpPr>
          <p:spPr>
            <a:xfrm flipH="1">
              <a:off x="1746370" y="0"/>
              <a:ext cx="0" cy="16143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87029FC1-D867-47C5-BA40-C7955E283D69}"/>
                </a:ext>
              </a:extLst>
            </p:cNvPr>
            <p:cNvCxnSpPr/>
            <p:nvPr/>
          </p:nvCxnSpPr>
          <p:spPr>
            <a:xfrm flipH="1">
              <a:off x="1232475" y="0"/>
              <a:ext cx="0" cy="161754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700B3D00-41A6-4C4F-AEF1-6966B750D7E1}"/>
                </a:ext>
              </a:extLst>
            </p:cNvPr>
            <p:cNvSpPr/>
            <p:nvPr/>
          </p:nvSpPr>
          <p:spPr>
            <a:xfrm>
              <a:off x="0" y="220313"/>
              <a:ext cx="1149856" cy="230104"/>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時間</a:t>
              </a:r>
              <a:r>
                <a:rPr kumimoji="1" lang="en-US" altLang="ja-JP" sz="1100">
                  <a:solidFill>
                    <a:schemeClr val="tx1"/>
                  </a:solidFill>
                </a:rPr>
                <a:t>t1</a:t>
              </a:r>
              <a:r>
                <a:rPr kumimoji="1" lang="ja-JP" altLang="en-US" sz="1100">
                  <a:solidFill>
                    <a:schemeClr val="tx1"/>
                  </a:solidFill>
                </a:rPr>
                <a:t>分布中心</a:t>
              </a:r>
              <a:endParaRPr kumimoji="1" lang="en-US" altLang="ja-JP" sz="1100">
                <a:solidFill>
                  <a:schemeClr val="tx1"/>
                </a:solidFill>
              </a:endParaRPr>
            </a:p>
          </p:txBody>
        </p:sp>
        <p:cxnSp>
          <p:nvCxnSpPr>
            <p:cNvPr id="31" name="直線矢印コネクタ 30">
              <a:extLst>
                <a:ext uri="{FF2B5EF4-FFF2-40B4-BE49-F238E27FC236}">
                  <a16:creationId xmlns:a16="http://schemas.microsoft.com/office/drawing/2014/main" id="{718EC663-8EFA-413E-9245-C34C6D7F8842}"/>
                </a:ext>
              </a:extLst>
            </p:cNvPr>
            <p:cNvCxnSpPr>
              <a:stCxn id="30" idx="2"/>
            </p:cNvCxnSpPr>
            <p:nvPr/>
          </p:nvCxnSpPr>
          <p:spPr>
            <a:xfrm>
              <a:off x="575055" y="450417"/>
              <a:ext cx="635439" cy="1589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A098492C-4CB5-4ED4-998D-61A7FB6DB8AE}"/>
                </a:ext>
              </a:extLst>
            </p:cNvPr>
            <p:cNvSpPr/>
            <p:nvPr/>
          </p:nvSpPr>
          <p:spPr>
            <a:xfrm>
              <a:off x="1846025" y="242293"/>
              <a:ext cx="1149856" cy="2303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時間</a:t>
              </a:r>
              <a:r>
                <a:rPr kumimoji="1" lang="en-US" altLang="ja-JP" sz="1100">
                  <a:solidFill>
                    <a:schemeClr val="tx1"/>
                  </a:solidFill>
                </a:rPr>
                <a:t>t2</a:t>
              </a:r>
              <a:r>
                <a:rPr kumimoji="1" lang="ja-JP" altLang="en-US" sz="1100">
                  <a:solidFill>
                    <a:schemeClr val="tx1"/>
                  </a:solidFill>
                </a:rPr>
                <a:t>分布中心</a:t>
              </a:r>
              <a:endParaRPr kumimoji="1" lang="en-US" altLang="ja-JP" sz="1100">
                <a:solidFill>
                  <a:schemeClr val="tx1"/>
                </a:solidFill>
              </a:endParaRPr>
            </a:p>
          </p:txBody>
        </p:sp>
        <p:cxnSp>
          <p:nvCxnSpPr>
            <p:cNvPr id="33" name="直線矢印コネクタ 32">
              <a:extLst>
                <a:ext uri="{FF2B5EF4-FFF2-40B4-BE49-F238E27FC236}">
                  <a16:creationId xmlns:a16="http://schemas.microsoft.com/office/drawing/2014/main" id="{88F040B6-1FB5-4292-AE69-6E457DD92787}"/>
                </a:ext>
              </a:extLst>
            </p:cNvPr>
            <p:cNvCxnSpPr>
              <a:stCxn id="32" idx="2"/>
            </p:cNvCxnSpPr>
            <p:nvPr/>
          </p:nvCxnSpPr>
          <p:spPr>
            <a:xfrm flipH="1">
              <a:off x="1768351" y="469476"/>
              <a:ext cx="649552" cy="15457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矢印: 左右 33">
              <a:extLst>
                <a:ext uri="{FF2B5EF4-FFF2-40B4-BE49-F238E27FC236}">
                  <a16:creationId xmlns:a16="http://schemas.microsoft.com/office/drawing/2014/main" id="{F188B9CE-F761-4119-931A-CB156D154251}"/>
                </a:ext>
              </a:extLst>
            </p:cNvPr>
            <p:cNvSpPr/>
            <p:nvPr/>
          </p:nvSpPr>
          <p:spPr>
            <a:xfrm>
              <a:off x="1208295" y="1470615"/>
              <a:ext cx="549552" cy="155095"/>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5" name="正方形/長方形 34">
              <a:extLst>
                <a:ext uri="{FF2B5EF4-FFF2-40B4-BE49-F238E27FC236}">
                  <a16:creationId xmlns:a16="http://schemas.microsoft.com/office/drawing/2014/main" id="{8A160409-8CC4-48D6-9D9C-5AF99AA3F876}"/>
                </a:ext>
              </a:extLst>
            </p:cNvPr>
            <p:cNvSpPr/>
            <p:nvPr/>
          </p:nvSpPr>
          <p:spPr>
            <a:xfrm>
              <a:off x="2123976" y="884175"/>
              <a:ext cx="621854" cy="23035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安定性</a:t>
              </a:r>
              <a:endParaRPr kumimoji="1" lang="en-US" altLang="ja-JP" sz="1100">
                <a:solidFill>
                  <a:schemeClr val="tx1"/>
                </a:solidFill>
              </a:endParaRPr>
            </a:p>
          </p:txBody>
        </p:sp>
        <p:cxnSp>
          <p:nvCxnSpPr>
            <p:cNvPr id="36" name="直線矢印コネクタ 35">
              <a:extLst>
                <a:ext uri="{FF2B5EF4-FFF2-40B4-BE49-F238E27FC236}">
                  <a16:creationId xmlns:a16="http://schemas.microsoft.com/office/drawing/2014/main" id="{074456EA-79F7-41B6-97CC-326C6B5E57E7}"/>
                </a:ext>
              </a:extLst>
            </p:cNvPr>
            <p:cNvCxnSpPr>
              <a:stCxn id="35" idx="2"/>
              <a:endCxn id="34" idx="1"/>
            </p:cNvCxnSpPr>
            <p:nvPr/>
          </p:nvCxnSpPr>
          <p:spPr>
            <a:xfrm flipH="1">
              <a:off x="1479896" y="1117707"/>
              <a:ext cx="958182" cy="38850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41" name="グループ化 40">
            <a:extLst>
              <a:ext uri="{FF2B5EF4-FFF2-40B4-BE49-F238E27FC236}">
                <a16:creationId xmlns:a16="http://schemas.microsoft.com/office/drawing/2014/main" id="{03FF7FD1-3843-479C-93A8-231F518E3611}"/>
              </a:ext>
            </a:extLst>
          </p:cNvPr>
          <p:cNvGrpSpPr/>
          <p:nvPr/>
        </p:nvGrpSpPr>
        <p:grpSpPr>
          <a:xfrm>
            <a:off x="4563850" y="4289064"/>
            <a:ext cx="2971685" cy="1942418"/>
            <a:chOff x="0" y="0"/>
            <a:chExt cx="2251969" cy="1744346"/>
          </a:xfrm>
        </p:grpSpPr>
        <p:grpSp>
          <p:nvGrpSpPr>
            <p:cNvPr id="42" name="グループ化 41">
              <a:extLst>
                <a:ext uri="{FF2B5EF4-FFF2-40B4-BE49-F238E27FC236}">
                  <a16:creationId xmlns:a16="http://schemas.microsoft.com/office/drawing/2014/main" id="{61B06742-72FB-4356-A45B-A368DCD5C74A}"/>
                </a:ext>
              </a:extLst>
            </p:cNvPr>
            <p:cNvGrpSpPr/>
            <p:nvPr/>
          </p:nvGrpSpPr>
          <p:grpSpPr>
            <a:xfrm>
              <a:off x="134773" y="82221"/>
              <a:ext cx="1998536" cy="1498321"/>
              <a:chOff x="134773" y="82221"/>
              <a:chExt cx="1997345" cy="1512274"/>
            </a:xfrm>
          </p:grpSpPr>
          <p:sp>
            <p:nvSpPr>
              <p:cNvPr id="48" name="フリーフォーム: 図形 47">
                <a:extLst>
                  <a:ext uri="{FF2B5EF4-FFF2-40B4-BE49-F238E27FC236}">
                    <a16:creationId xmlns:a16="http://schemas.microsoft.com/office/drawing/2014/main" id="{2A482AC7-597A-4811-B0D5-F84D32471053}"/>
                  </a:ext>
                </a:extLst>
              </p:cNvPr>
              <p:cNvSpPr/>
              <p:nvPr/>
            </p:nvSpPr>
            <p:spPr>
              <a:xfrm>
                <a:off x="1130979" y="82432"/>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49" name="フリーフォーム: 図形 48">
                <a:extLst>
                  <a:ext uri="{FF2B5EF4-FFF2-40B4-BE49-F238E27FC236}">
                    <a16:creationId xmlns:a16="http://schemas.microsoft.com/office/drawing/2014/main" id="{23220411-6D58-40D3-85AB-74648513E352}"/>
                  </a:ext>
                </a:extLst>
              </p:cNvPr>
              <p:cNvSpPr/>
              <p:nvPr/>
            </p:nvSpPr>
            <p:spPr>
              <a:xfrm>
                <a:off x="134773" y="82221"/>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43" name="直線コネクタ 42">
              <a:extLst>
                <a:ext uri="{FF2B5EF4-FFF2-40B4-BE49-F238E27FC236}">
                  <a16:creationId xmlns:a16="http://schemas.microsoft.com/office/drawing/2014/main" id="{C0423058-1A26-43B7-A7B5-0F45F7713129}"/>
                </a:ext>
              </a:extLst>
            </p:cNvPr>
            <p:cNvCxnSpPr/>
            <p:nvPr/>
          </p:nvCxnSpPr>
          <p:spPr>
            <a:xfrm flipH="1">
              <a:off x="1128793" y="0"/>
              <a:ext cx="0" cy="16143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5E10C4C9-27B0-489E-9347-7D2F8598CC80}"/>
                </a:ext>
              </a:extLst>
            </p:cNvPr>
            <p:cNvCxnSpPr/>
            <p:nvPr/>
          </p:nvCxnSpPr>
          <p:spPr>
            <a:xfrm>
              <a:off x="0" y="1601926"/>
              <a:ext cx="225196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5" name="矢印: 左右 44">
              <a:extLst>
                <a:ext uri="{FF2B5EF4-FFF2-40B4-BE49-F238E27FC236}">
                  <a16:creationId xmlns:a16="http://schemas.microsoft.com/office/drawing/2014/main" id="{7848CF98-5AC0-42C8-BAC0-0BCCE67E9E2E}"/>
                </a:ext>
              </a:extLst>
            </p:cNvPr>
            <p:cNvSpPr/>
            <p:nvPr/>
          </p:nvSpPr>
          <p:spPr>
            <a:xfrm>
              <a:off x="134774" y="1579726"/>
              <a:ext cx="1991082" cy="164620"/>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46" name="正方形/長方形 45">
              <a:extLst>
                <a:ext uri="{FF2B5EF4-FFF2-40B4-BE49-F238E27FC236}">
                  <a16:creationId xmlns:a16="http://schemas.microsoft.com/office/drawing/2014/main" id="{0AE4EB3A-7AA7-477D-B5DD-6F2990D34C1D}"/>
                </a:ext>
              </a:extLst>
            </p:cNvPr>
            <p:cNvSpPr/>
            <p:nvPr/>
          </p:nvSpPr>
          <p:spPr>
            <a:xfrm>
              <a:off x="1251497" y="1013532"/>
              <a:ext cx="789683" cy="23035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繰返し性</a:t>
              </a:r>
              <a:endParaRPr kumimoji="1" lang="en-US" altLang="ja-JP" sz="1100">
                <a:solidFill>
                  <a:schemeClr val="tx1"/>
                </a:solidFill>
              </a:endParaRPr>
            </a:p>
          </p:txBody>
        </p:sp>
        <p:cxnSp>
          <p:nvCxnSpPr>
            <p:cNvPr id="47" name="直線矢印コネクタ 46">
              <a:extLst>
                <a:ext uri="{FF2B5EF4-FFF2-40B4-BE49-F238E27FC236}">
                  <a16:creationId xmlns:a16="http://schemas.microsoft.com/office/drawing/2014/main" id="{C8D81FC9-01DB-4DBF-897B-6D35DD76165E}"/>
                </a:ext>
              </a:extLst>
            </p:cNvPr>
            <p:cNvCxnSpPr>
              <a:stCxn id="46" idx="2"/>
              <a:endCxn id="45" idx="5"/>
            </p:cNvCxnSpPr>
            <p:nvPr/>
          </p:nvCxnSpPr>
          <p:spPr>
            <a:xfrm flipH="1">
              <a:off x="1133490" y="1247064"/>
              <a:ext cx="512849" cy="45930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50" name="グループ化 49">
            <a:extLst>
              <a:ext uri="{FF2B5EF4-FFF2-40B4-BE49-F238E27FC236}">
                <a16:creationId xmlns:a16="http://schemas.microsoft.com/office/drawing/2014/main" id="{89B721DB-D05E-4243-8B07-B2E7305BE80B}"/>
              </a:ext>
            </a:extLst>
          </p:cNvPr>
          <p:cNvGrpSpPr/>
          <p:nvPr/>
        </p:nvGrpSpPr>
        <p:grpSpPr>
          <a:xfrm>
            <a:off x="7977921" y="1801893"/>
            <a:ext cx="3230643" cy="1900617"/>
            <a:chOff x="0" y="0"/>
            <a:chExt cx="2679851" cy="1638089"/>
          </a:xfrm>
        </p:grpSpPr>
        <p:grpSp>
          <p:nvGrpSpPr>
            <p:cNvPr id="51" name="グループ化 50">
              <a:extLst>
                <a:ext uri="{FF2B5EF4-FFF2-40B4-BE49-F238E27FC236}">
                  <a16:creationId xmlns:a16="http://schemas.microsoft.com/office/drawing/2014/main" id="{E5FD7D01-833D-42AC-A3D9-0C459AAFFFC2}"/>
                </a:ext>
              </a:extLst>
            </p:cNvPr>
            <p:cNvGrpSpPr/>
            <p:nvPr/>
          </p:nvGrpSpPr>
          <p:grpSpPr>
            <a:xfrm>
              <a:off x="56881" y="95503"/>
              <a:ext cx="1992188" cy="1498321"/>
              <a:chOff x="56881" y="95503"/>
              <a:chExt cx="1997345" cy="1512274"/>
            </a:xfrm>
          </p:grpSpPr>
          <p:sp>
            <p:nvSpPr>
              <p:cNvPr id="65" name="フリーフォーム: 図形 64">
                <a:extLst>
                  <a:ext uri="{FF2B5EF4-FFF2-40B4-BE49-F238E27FC236}">
                    <a16:creationId xmlns:a16="http://schemas.microsoft.com/office/drawing/2014/main" id="{A1B3DD76-5E71-4690-8622-5F767D9E127E}"/>
                  </a:ext>
                </a:extLst>
              </p:cNvPr>
              <p:cNvSpPr/>
              <p:nvPr/>
            </p:nvSpPr>
            <p:spPr>
              <a:xfrm>
                <a:off x="1053087" y="95714"/>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6" name="フリーフォーム: 図形 65">
                <a:extLst>
                  <a:ext uri="{FF2B5EF4-FFF2-40B4-BE49-F238E27FC236}">
                    <a16:creationId xmlns:a16="http://schemas.microsoft.com/office/drawing/2014/main" id="{C93BD69C-3FDD-4508-A01D-8CB6C9CECA1F}"/>
                  </a:ext>
                </a:extLst>
              </p:cNvPr>
              <p:cNvSpPr/>
              <p:nvPr/>
            </p:nvSpPr>
            <p:spPr>
              <a:xfrm>
                <a:off x="56881" y="95503"/>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52" name="グループ化 51">
              <a:extLst>
                <a:ext uri="{FF2B5EF4-FFF2-40B4-BE49-F238E27FC236}">
                  <a16:creationId xmlns:a16="http://schemas.microsoft.com/office/drawing/2014/main" id="{18103DCA-734A-4E8E-BE72-EB1B893717FC}"/>
                </a:ext>
              </a:extLst>
            </p:cNvPr>
            <p:cNvGrpSpPr/>
            <p:nvPr/>
          </p:nvGrpSpPr>
          <p:grpSpPr>
            <a:xfrm>
              <a:off x="569554" y="105029"/>
              <a:ext cx="1998536" cy="1498321"/>
              <a:chOff x="569554" y="105029"/>
              <a:chExt cx="1997345" cy="1512274"/>
            </a:xfrm>
          </p:grpSpPr>
          <p:sp>
            <p:nvSpPr>
              <p:cNvPr id="63" name="フリーフォーム: 図形 62">
                <a:extLst>
                  <a:ext uri="{FF2B5EF4-FFF2-40B4-BE49-F238E27FC236}">
                    <a16:creationId xmlns:a16="http://schemas.microsoft.com/office/drawing/2014/main" id="{06C2A39A-80B4-46B0-A647-ACAA385A808E}"/>
                  </a:ext>
                </a:extLst>
              </p:cNvPr>
              <p:cNvSpPr/>
              <p:nvPr/>
            </p:nvSpPr>
            <p:spPr>
              <a:xfrm>
                <a:off x="1565760" y="105240"/>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4" name="フリーフォーム: 図形 63">
                <a:extLst>
                  <a:ext uri="{FF2B5EF4-FFF2-40B4-BE49-F238E27FC236}">
                    <a16:creationId xmlns:a16="http://schemas.microsoft.com/office/drawing/2014/main" id="{F110FFC2-AC75-4471-BF64-0CA633CCA0C5}"/>
                  </a:ext>
                </a:extLst>
              </p:cNvPr>
              <p:cNvSpPr/>
              <p:nvPr/>
            </p:nvSpPr>
            <p:spPr>
              <a:xfrm>
                <a:off x="569554" y="105029"/>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53" name="直線コネクタ 52">
              <a:extLst>
                <a:ext uri="{FF2B5EF4-FFF2-40B4-BE49-F238E27FC236}">
                  <a16:creationId xmlns:a16="http://schemas.microsoft.com/office/drawing/2014/main" id="{E395140C-D7D5-4B15-91DE-8DF12924AB57}"/>
                </a:ext>
              </a:extLst>
            </p:cNvPr>
            <p:cNvCxnSpPr/>
            <p:nvPr/>
          </p:nvCxnSpPr>
          <p:spPr>
            <a:xfrm>
              <a:off x="3393" y="1615207"/>
              <a:ext cx="267645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03BD35C1-4E22-425F-877D-ED5AF8FCB91C}"/>
                </a:ext>
              </a:extLst>
            </p:cNvPr>
            <p:cNvCxnSpPr/>
            <p:nvPr/>
          </p:nvCxnSpPr>
          <p:spPr>
            <a:xfrm flipH="1">
              <a:off x="1576585" y="0"/>
              <a:ext cx="0" cy="16111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8CC9C33-D43A-431D-9F23-967B11BDEDBC}"/>
                </a:ext>
              </a:extLst>
            </p:cNvPr>
            <p:cNvCxnSpPr/>
            <p:nvPr/>
          </p:nvCxnSpPr>
          <p:spPr>
            <a:xfrm flipH="1">
              <a:off x="1056340" y="0"/>
              <a:ext cx="0" cy="162071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5DD22787-7C74-4EBD-892E-5FEA90B7CEAF}"/>
                </a:ext>
              </a:extLst>
            </p:cNvPr>
            <p:cNvSpPr/>
            <p:nvPr/>
          </p:nvSpPr>
          <p:spPr>
            <a:xfrm>
              <a:off x="0" y="289034"/>
              <a:ext cx="791451" cy="22692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測定者Ａ</a:t>
              </a:r>
              <a:endParaRPr kumimoji="1" lang="en-US" altLang="ja-JP" sz="1100">
                <a:solidFill>
                  <a:schemeClr val="tx1"/>
                </a:solidFill>
              </a:endParaRPr>
            </a:p>
          </p:txBody>
        </p:sp>
        <p:cxnSp>
          <p:nvCxnSpPr>
            <p:cNvPr id="57" name="直線矢印コネクタ 56">
              <a:extLst>
                <a:ext uri="{FF2B5EF4-FFF2-40B4-BE49-F238E27FC236}">
                  <a16:creationId xmlns:a16="http://schemas.microsoft.com/office/drawing/2014/main" id="{BA2EB769-663E-40B5-A8CC-28F2665054C9}"/>
                </a:ext>
              </a:extLst>
            </p:cNvPr>
            <p:cNvCxnSpPr>
              <a:stCxn id="56" idx="2"/>
            </p:cNvCxnSpPr>
            <p:nvPr/>
          </p:nvCxnSpPr>
          <p:spPr>
            <a:xfrm>
              <a:off x="398901" y="515963"/>
              <a:ext cx="631056" cy="15580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56CA2B49-6B28-4909-A27E-70E050689991}"/>
                </a:ext>
              </a:extLst>
            </p:cNvPr>
            <p:cNvSpPr/>
            <p:nvPr/>
          </p:nvSpPr>
          <p:spPr>
            <a:xfrm>
              <a:off x="1780189" y="307839"/>
              <a:ext cx="758606" cy="2303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測定者Ｂ</a:t>
              </a:r>
              <a:endParaRPr kumimoji="1" lang="en-US" altLang="ja-JP" sz="1100">
                <a:solidFill>
                  <a:schemeClr val="tx1"/>
                </a:solidFill>
              </a:endParaRPr>
            </a:p>
          </p:txBody>
        </p:sp>
        <p:cxnSp>
          <p:nvCxnSpPr>
            <p:cNvPr id="59" name="直線矢印コネクタ 58">
              <a:extLst>
                <a:ext uri="{FF2B5EF4-FFF2-40B4-BE49-F238E27FC236}">
                  <a16:creationId xmlns:a16="http://schemas.microsoft.com/office/drawing/2014/main" id="{86BF113F-C96B-4C1C-93A6-533680559EB7}"/>
                </a:ext>
              </a:extLst>
            </p:cNvPr>
            <p:cNvCxnSpPr>
              <a:stCxn id="58" idx="2"/>
            </p:cNvCxnSpPr>
            <p:nvPr/>
          </p:nvCxnSpPr>
          <p:spPr>
            <a:xfrm flipH="1">
              <a:off x="1597340" y="538197"/>
              <a:ext cx="563740" cy="14505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0" name="矢印: 左右 59">
              <a:extLst>
                <a:ext uri="{FF2B5EF4-FFF2-40B4-BE49-F238E27FC236}">
                  <a16:creationId xmlns:a16="http://schemas.microsoft.com/office/drawing/2014/main" id="{C90AB07E-9C17-40DD-93EA-B8D95B3ACBEA}"/>
                </a:ext>
              </a:extLst>
            </p:cNvPr>
            <p:cNvSpPr/>
            <p:nvPr/>
          </p:nvSpPr>
          <p:spPr>
            <a:xfrm>
              <a:off x="1051034" y="1476644"/>
              <a:ext cx="546377" cy="161445"/>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1" name="正方形/長方形 60">
              <a:extLst>
                <a:ext uri="{FF2B5EF4-FFF2-40B4-BE49-F238E27FC236}">
                  <a16:creationId xmlns:a16="http://schemas.microsoft.com/office/drawing/2014/main" id="{2B819296-4E9B-477D-AD04-CC4B2E0B870F}"/>
                </a:ext>
              </a:extLst>
            </p:cNvPr>
            <p:cNvSpPr/>
            <p:nvPr/>
          </p:nvSpPr>
          <p:spPr>
            <a:xfrm>
              <a:off x="1966715" y="893379"/>
              <a:ext cx="625029" cy="22718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再現性</a:t>
              </a:r>
              <a:endParaRPr kumimoji="1" lang="en-US" altLang="ja-JP" sz="1100">
                <a:solidFill>
                  <a:schemeClr val="tx1"/>
                </a:solidFill>
              </a:endParaRPr>
            </a:p>
          </p:txBody>
        </p:sp>
        <p:cxnSp>
          <p:nvCxnSpPr>
            <p:cNvPr id="62" name="直線矢印コネクタ 61">
              <a:extLst>
                <a:ext uri="{FF2B5EF4-FFF2-40B4-BE49-F238E27FC236}">
                  <a16:creationId xmlns:a16="http://schemas.microsoft.com/office/drawing/2014/main" id="{902E1F5C-6C88-425A-8BB8-A523277F29D1}"/>
                </a:ext>
              </a:extLst>
            </p:cNvPr>
            <p:cNvCxnSpPr>
              <a:stCxn id="61" idx="2"/>
              <a:endCxn id="60" idx="1"/>
            </p:cNvCxnSpPr>
            <p:nvPr/>
          </p:nvCxnSpPr>
          <p:spPr>
            <a:xfrm flipH="1">
              <a:off x="1327398" y="1123736"/>
              <a:ext cx="951832" cy="39009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67" name="グループ化 66">
            <a:extLst>
              <a:ext uri="{FF2B5EF4-FFF2-40B4-BE49-F238E27FC236}">
                <a16:creationId xmlns:a16="http://schemas.microsoft.com/office/drawing/2014/main" id="{C353E365-D9C2-4F24-A899-53A0B5726DE5}"/>
              </a:ext>
            </a:extLst>
          </p:cNvPr>
          <p:cNvGrpSpPr/>
          <p:nvPr/>
        </p:nvGrpSpPr>
        <p:grpSpPr>
          <a:xfrm>
            <a:off x="8049846" y="4266216"/>
            <a:ext cx="3158717" cy="1972503"/>
            <a:chOff x="0" y="0"/>
            <a:chExt cx="2679851" cy="1756329"/>
          </a:xfrm>
        </p:grpSpPr>
        <p:grpSp>
          <p:nvGrpSpPr>
            <p:cNvPr id="68" name="グループ化 67">
              <a:extLst>
                <a:ext uri="{FF2B5EF4-FFF2-40B4-BE49-F238E27FC236}">
                  <a16:creationId xmlns:a16="http://schemas.microsoft.com/office/drawing/2014/main" id="{AD898ADE-D972-4602-ABC3-A23461C98768}"/>
                </a:ext>
              </a:extLst>
            </p:cNvPr>
            <p:cNvGrpSpPr/>
            <p:nvPr/>
          </p:nvGrpSpPr>
          <p:grpSpPr>
            <a:xfrm>
              <a:off x="56881" y="92328"/>
              <a:ext cx="1985837" cy="1498321"/>
              <a:chOff x="56881" y="92328"/>
              <a:chExt cx="1997345" cy="1512274"/>
            </a:xfrm>
          </p:grpSpPr>
          <p:sp>
            <p:nvSpPr>
              <p:cNvPr id="82" name="フリーフォーム: 図形 81">
                <a:extLst>
                  <a:ext uri="{FF2B5EF4-FFF2-40B4-BE49-F238E27FC236}">
                    <a16:creationId xmlns:a16="http://schemas.microsoft.com/office/drawing/2014/main" id="{A946BDD0-E4C1-4172-9D20-5BD28374C3D3}"/>
                  </a:ext>
                </a:extLst>
              </p:cNvPr>
              <p:cNvSpPr/>
              <p:nvPr/>
            </p:nvSpPr>
            <p:spPr>
              <a:xfrm>
                <a:off x="1053087" y="92539"/>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3" name="フリーフォーム: 図形 82">
                <a:extLst>
                  <a:ext uri="{FF2B5EF4-FFF2-40B4-BE49-F238E27FC236}">
                    <a16:creationId xmlns:a16="http://schemas.microsoft.com/office/drawing/2014/main" id="{4FFC6490-8C89-4CA6-A60B-DE47D32C8D8D}"/>
                  </a:ext>
                </a:extLst>
              </p:cNvPr>
              <p:cNvSpPr/>
              <p:nvPr/>
            </p:nvSpPr>
            <p:spPr>
              <a:xfrm>
                <a:off x="56881" y="92328"/>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69" name="グループ化 68">
              <a:extLst>
                <a:ext uri="{FF2B5EF4-FFF2-40B4-BE49-F238E27FC236}">
                  <a16:creationId xmlns:a16="http://schemas.microsoft.com/office/drawing/2014/main" id="{16F083EB-7E65-469C-9E20-65BC80994AD4}"/>
                </a:ext>
              </a:extLst>
            </p:cNvPr>
            <p:cNvGrpSpPr/>
            <p:nvPr/>
          </p:nvGrpSpPr>
          <p:grpSpPr>
            <a:xfrm>
              <a:off x="563204" y="101854"/>
              <a:ext cx="1998536" cy="1498321"/>
              <a:chOff x="563204" y="101854"/>
              <a:chExt cx="1997345" cy="1512274"/>
            </a:xfrm>
          </p:grpSpPr>
          <p:sp>
            <p:nvSpPr>
              <p:cNvPr id="80" name="フリーフォーム: 図形 79">
                <a:extLst>
                  <a:ext uri="{FF2B5EF4-FFF2-40B4-BE49-F238E27FC236}">
                    <a16:creationId xmlns:a16="http://schemas.microsoft.com/office/drawing/2014/main" id="{A0CEBA9D-6668-4E07-906D-9DAE0EB69006}"/>
                  </a:ext>
                </a:extLst>
              </p:cNvPr>
              <p:cNvSpPr/>
              <p:nvPr/>
            </p:nvSpPr>
            <p:spPr>
              <a:xfrm>
                <a:off x="1559410" y="102065"/>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1" name="フリーフォーム: 図形 80">
                <a:extLst>
                  <a:ext uri="{FF2B5EF4-FFF2-40B4-BE49-F238E27FC236}">
                    <a16:creationId xmlns:a16="http://schemas.microsoft.com/office/drawing/2014/main" id="{8B890EF9-BF9A-45F8-A719-77E170988920}"/>
                  </a:ext>
                </a:extLst>
              </p:cNvPr>
              <p:cNvSpPr/>
              <p:nvPr/>
            </p:nvSpPr>
            <p:spPr>
              <a:xfrm>
                <a:off x="563204" y="101854"/>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70" name="直線コネクタ 69">
              <a:extLst>
                <a:ext uri="{FF2B5EF4-FFF2-40B4-BE49-F238E27FC236}">
                  <a16:creationId xmlns:a16="http://schemas.microsoft.com/office/drawing/2014/main" id="{447E803D-6A6C-42D7-AF03-6C16A2A1387F}"/>
                </a:ext>
              </a:extLst>
            </p:cNvPr>
            <p:cNvCxnSpPr/>
            <p:nvPr/>
          </p:nvCxnSpPr>
          <p:spPr>
            <a:xfrm>
              <a:off x="218" y="1615207"/>
              <a:ext cx="267963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94C198E4-D4EE-4925-8C90-C62662B2C572}"/>
                </a:ext>
              </a:extLst>
            </p:cNvPr>
            <p:cNvCxnSpPr/>
            <p:nvPr/>
          </p:nvCxnSpPr>
          <p:spPr>
            <a:xfrm flipH="1">
              <a:off x="1570235" y="0"/>
              <a:ext cx="0" cy="16111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F6E595C4-709B-46C0-AB85-02E1CAE49A48}"/>
                </a:ext>
              </a:extLst>
            </p:cNvPr>
            <p:cNvCxnSpPr/>
            <p:nvPr/>
          </p:nvCxnSpPr>
          <p:spPr>
            <a:xfrm flipH="1">
              <a:off x="1056340" y="0"/>
              <a:ext cx="0" cy="16238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A89F67B3-51B0-4E15-9748-12A4239EE68D}"/>
                </a:ext>
              </a:extLst>
            </p:cNvPr>
            <p:cNvSpPr/>
            <p:nvPr/>
          </p:nvSpPr>
          <p:spPr>
            <a:xfrm>
              <a:off x="0" y="289034"/>
              <a:ext cx="788276" cy="22692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測定者Ａ</a:t>
              </a:r>
              <a:endParaRPr kumimoji="1" lang="en-US" altLang="ja-JP" sz="1100">
                <a:solidFill>
                  <a:schemeClr val="tx1"/>
                </a:solidFill>
              </a:endParaRPr>
            </a:p>
          </p:txBody>
        </p:sp>
        <p:cxnSp>
          <p:nvCxnSpPr>
            <p:cNvPr id="74" name="直線矢印コネクタ 73">
              <a:extLst>
                <a:ext uri="{FF2B5EF4-FFF2-40B4-BE49-F238E27FC236}">
                  <a16:creationId xmlns:a16="http://schemas.microsoft.com/office/drawing/2014/main" id="{F74F1E02-BC43-457D-95C4-93DCAE73265C}"/>
                </a:ext>
              </a:extLst>
            </p:cNvPr>
            <p:cNvCxnSpPr>
              <a:stCxn id="73" idx="2"/>
            </p:cNvCxnSpPr>
            <p:nvPr/>
          </p:nvCxnSpPr>
          <p:spPr>
            <a:xfrm>
              <a:off x="395726" y="515963"/>
              <a:ext cx="627881" cy="1462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正方形/長方形 74">
              <a:extLst>
                <a:ext uri="{FF2B5EF4-FFF2-40B4-BE49-F238E27FC236}">
                  <a16:creationId xmlns:a16="http://schemas.microsoft.com/office/drawing/2014/main" id="{5039A75F-1A93-42AD-A761-3623086329C0}"/>
                </a:ext>
              </a:extLst>
            </p:cNvPr>
            <p:cNvSpPr/>
            <p:nvPr/>
          </p:nvSpPr>
          <p:spPr>
            <a:xfrm>
              <a:off x="1773839" y="307839"/>
              <a:ext cx="761781" cy="2303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測定者Ｂ</a:t>
              </a:r>
              <a:endParaRPr kumimoji="1" lang="en-US" altLang="ja-JP" sz="1100">
                <a:solidFill>
                  <a:schemeClr val="tx1"/>
                </a:solidFill>
              </a:endParaRPr>
            </a:p>
          </p:txBody>
        </p:sp>
        <p:cxnSp>
          <p:nvCxnSpPr>
            <p:cNvPr id="76" name="直線矢印コネクタ 75">
              <a:extLst>
                <a:ext uri="{FF2B5EF4-FFF2-40B4-BE49-F238E27FC236}">
                  <a16:creationId xmlns:a16="http://schemas.microsoft.com/office/drawing/2014/main" id="{FC959FB2-A333-4050-ABD5-364114F1D887}"/>
                </a:ext>
              </a:extLst>
            </p:cNvPr>
            <p:cNvCxnSpPr>
              <a:stCxn id="75" idx="2"/>
            </p:cNvCxnSpPr>
            <p:nvPr/>
          </p:nvCxnSpPr>
          <p:spPr>
            <a:xfrm flipH="1">
              <a:off x="1600515" y="538197"/>
              <a:ext cx="560565" cy="14505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7" name="矢印: 左右 76">
              <a:extLst>
                <a:ext uri="{FF2B5EF4-FFF2-40B4-BE49-F238E27FC236}">
                  <a16:creationId xmlns:a16="http://schemas.microsoft.com/office/drawing/2014/main" id="{E7B6FA15-8789-45F5-9477-7B91A6854285}"/>
                </a:ext>
              </a:extLst>
            </p:cNvPr>
            <p:cNvSpPr/>
            <p:nvPr/>
          </p:nvSpPr>
          <p:spPr>
            <a:xfrm>
              <a:off x="36457" y="1591709"/>
              <a:ext cx="2556043" cy="164620"/>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8" name="正方形/長方形 77">
              <a:extLst>
                <a:ext uri="{FF2B5EF4-FFF2-40B4-BE49-F238E27FC236}">
                  <a16:creationId xmlns:a16="http://schemas.microsoft.com/office/drawing/2014/main" id="{B06C7C69-633D-4BA8-AA7C-AE8FA345B57D}"/>
                </a:ext>
              </a:extLst>
            </p:cNvPr>
            <p:cNvSpPr/>
            <p:nvPr/>
          </p:nvSpPr>
          <p:spPr>
            <a:xfrm>
              <a:off x="1931276" y="1037895"/>
              <a:ext cx="689120" cy="23035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ＧＲＲ</a:t>
              </a:r>
              <a:endParaRPr kumimoji="1" lang="en-US" altLang="ja-JP" sz="1100">
                <a:solidFill>
                  <a:schemeClr val="tx1"/>
                </a:solidFill>
              </a:endParaRPr>
            </a:p>
          </p:txBody>
        </p:sp>
        <p:cxnSp>
          <p:nvCxnSpPr>
            <p:cNvPr id="79" name="直線矢印コネクタ 78">
              <a:extLst>
                <a:ext uri="{FF2B5EF4-FFF2-40B4-BE49-F238E27FC236}">
                  <a16:creationId xmlns:a16="http://schemas.microsoft.com/office/drawing/2014/main" id="{512617F5-AAF0-4AB2-A6C1-9D0CB3728F11}"/>
                </a:ext>
              </a:extLst>
            </p:cNvPr>
            <p:cNvCxnSpPr>
              <a:stCxn id="78" idx="2"/>
              <a:endCxn id="77" idx="5"/>
            </p:cNvCxnSpPr>
            <p:nvPr/>
          </p:nvCxnSpPr>
          <p:spPr>
            <a:xfrm flipH="1">
              <a:off x="1314479" y="1265077"/>
              <a:ext cx="961357" cy="4532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13926029"/>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測定システム変動の製品評価への影響</a:t>
            </a:r>
            <a:endParaRPr lang="en-US" altLang="ja-JP" sz="2400" dirty="0"/>
          </a:p>
          <a:p>
            <a:pPr marL="914400" lvl="1" indent="-457200">
              <a:lnSpc>
                <a:spcPct val="100000"/>
              </a:lnSpc>
              <a:buFont typeface="+mj-ea"/>
              <a:buAutoNum type="circleNumDbPlain"/>
            </a:pPr>
            <a:r>
              <a:rPr lang="ja-JP" altLang="en-US" sz="2200" dirty="0"/>
              <a:t>工程能力が未熟（</a:t>
            </a:r>
            <a:r>
              <a:rPr lang="en-US" altLang="ja-JP" sz="2200" dirty="0"/>
              <a:t>1.0</a:t>
            </a:r>
            <a:r>
              <a:rPr lang="ja-JP" altLang="en-US" sz="2200" dirty="0"/>
              <a:t>未満など）な場合、全数検査が必要となり、規格上限と規格下限を判定基準に検査を行う。</a:t>
            </a:r>
            <a:endParaRPr lang="en-US" altLang="ja-JP" sz="2200" dirty="0"/>
          </a:p>
          <a:p>
            <a:pPr marL="914400" lvl="1" indent="-457200">
              <a:lnSpc>
                <a:spcPct val="100000"/>
              </a:lnSpc>
              <a:buFont typeface="+mj-ea"/>
              <a:buAutoNum type="circleNumDbPlain"/>
            </a:pPr>
            <a:r>
              <a:rPr lang="ja-JP" altLang="en-US" sz="2200" dirty="0"/>
              <a:t>測定システム変動の大きさにより、</a:t>
            </a:r>
            <a:r>
              <a:rPr lang="ja-JP" altLang="en-US" sz="2200" dirty="0">
                <a:solidFill>
                  <a:srgbClr val="FF0000"/>
                </a:solidFill>
                <a:effectLst>
                  <a:outerShdw blurRad="38100" dist="38100" dir="2700000" algn="tl">
                    <a:srgbClr val="000000">
                      <a:alpha val="43137"/>
                    </a:srgbClr>
                  </a:outerShdw>
                </a:effectLst>
              </a:rPr>
              <a:t>規格上限付近と規格下限付近の判定</a:t>
            </a:r>
            <a:r>
              <a:rPr lang="ja-JP" altLang="en-US" sz="2200" dirty="0"/>
              <a:t>に次の誤りが生じる。</a:t>
            </a:r>
            <a:endParaRPr lang="en-US" altLang="ja-JP" sz="2200" dirty="0"/>
          </a:p>
          <a:p>
            <a:pPr lvl="2">
              <a:lnSpc>
                <a:spcPct val="100000"/>
              </a:lnSpc>
              <a:buFont typeface="Wingdings" panose="05000000000000000000" pitchFamily="2" charset="2"/>
              <a:buChar char="Ø"/>
            </a:pPr>
            <a:r>
              <a:rPr lang="ja-JP" altLang="en-US" sz="2200" dirty="0"/>
              <a:t>良品を不良品と判定する。（第一種の誤り）</a:t>
            </a:r>
            <a:endParaRPr lang="en-US" altLang="ja-JP" sz="2200" dirty="0"/>
          </a:p>
          <a:p>
            <a:pPr lvl="2">
              <a:lnSpc>
                <a:spcPct val="100000"/>
              </a:lnSpc>
              <a:buFont typeface="Wingdings" panose="05000000000000000000" pitchFamily="2" charset="2"/>
              <a:buChar char="Ø"/>
            </a:pPr>
            <a:r>
              <a:rPr lang="ja-JP" altLang="en-US" sz="2200" dirty="0">
                <a:solidFill>
                  <a:srgbClr val="FF0000"/>
                </a:solidFill>
                <a:effectLst>
                  <a:outerShdw blurRad="38100" dist="38100" dir="2700000" algn="tl">
                    <a:srgbClr val="000000">
                      <a:alpha val="43137"/>
                    </a:srgbClr>
                  </a:outerShdw>
                </a:effectLst>
              </a:rPr>
              <a:t>不良品を良品</a:t>
            </a:r>
            <a:r>
              <a:rPr lang="ja-JP" altLang="en-US" sz="2200" dirty="0"/>
              <a:t>と判定する。（第二種の誤り／ミス率、消費者リスク）</a:t>
            </a:r>
            <a:endParaRPr lang="en-US" altLang="ja-JP" sz="22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grpSp>
        <p:nvGrpSpPr>
          <p:cNvPr id="24" name="グループ化 23">
            <a:extLst>
              <a:ext uri="{FF2B5EF4-FFF2-40B4-BE49-F238E27FC236}">
                <a16:creationId xmlns:a16="http://schemas.microsoft.com/office/drawing/2014/main" id="{1E6B73D6-0141-447A-A1B5-10D406F80AD6}"/>
              </a:ext>
            </a:extLst>
          </p:cNvPr>
          <p:cNvGrpSpPr/>
          <p:nvPr/>
        </p:nvGrpSpPr>
        <p:grpSpPr>
          <a:xfrm>
            <a:off x="2524903" y="4244078"/>
            <a:ext cx="7346209" cy="1987414"/>
            <a:chOff x="0" y="0"/>
            <a:chExt cx="5132629" cy="1649696"/>
          </a:xfrm>
        </p:grpSpPr>
        <p:grpSp>
          <p:nvGrpSpPr>
            <p:cNvPr id="25" name="グループ化 24">
              <a:extLst>
                <a:ext uri="{FF2B5EF4-FFF2-40B4-BE49-F238E27FC236}">
                  <a16:creationId xmlns:a16="http://schemas.microsoft.com/office/drawing/2014/main" id="{F300CD58-EEA5-4811-A185-981C5DDA162D}"/>
                </a:ext>
              </a:extLst>
            </p:cNvPr>
            <p:cNvGrpSpPr/>
            <p:nvPr/>
          </p:nvGrpSpPr>
          <p:grpSpPr>
            <a:xfrm>
              <a:off x="493575" y="115147"/>
              <a:ext cx="2004886" cy="1497425"/>
              <a:chOff x="493575" y="115147"/>
              <a:chExt cx="1997345" cy="1512274"/>
            </a:xfrm>
          </p:grpSpPr>
          <p:sp>
            <p:nvSpPr>
              <p:cNvPr id="37" name="フリーフォーム: 図形 36">
                <a:extLst>
                  <a:ext uri="{FF2B5EF4-FFF2-40B4-BE49-F238E27FC236}">
                    <a16:creationId xmlns:a16="http://schemas.microsoft.com/office/drawing/2014/main" id="{4933A8F9-5FEE-49EB-A009-C17E014012E2}"/>
                  </a:ext>
                </a:extLst>
              </p:cNvPr>
              <p:cNvSpPr/>
              <p:nvPr/>
            </p:nvSpPr>
            <p:spPr>
              <a:xfrm>
                <a:off x="1489781" y="115358"/>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8" name="フリーフォーム: 図形 37">
                <a:extLst>
                  <a:ext uri="{FF2B5EF4-FFF2-40B4-BE49-F238E27FC236}">
                    <a16:creationId xmlns:a16="http://schemas.microsoft.com/office/drawing/2014/main" id="{4174B579-4F47-4DF5-A50D-CE7C6D222515}"/>
                  </a:ext>
                </a:extLst>
              </p:cNvPr>
              <p:cNvSpPr/>
              <p:nvPr/>
            </p:nvSpPr>
            <p:spPr>
              <a:xfrm>
                <a:off x="493575" y="115147"/>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26" name="直線コネクタ 25">
              <a:extLst>
                <a:ext uri="{FF2B5EF4-FFF2-40B4-BE49-F238E27FC236}">
                  <a16:creationId xmlns:a16="http://schemas.microsoft.com/office/drawing/2014/main" id="{0191DAF0-4D59-4243-965E-50A5899ED9FF}"/>
                </a:ext>
              </a:extLst>
            </p:cNvPr>
            <p:cNvCxnSpPr/>
            <p:nvPr/>
          </p:nvCxnSpPr>
          <p:spPr>
            <a:xfrm flipH="1">
              <a:off x="1487595" y="29452"/>
              <a:ext cx="0" cy="16202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9EB4BF7-E93E-40E3-8894-FFE15004C52A}"/>
                </a:ext>
              </a:extLst>
            </p:cNvPr>
            <p:cNvCxnSpPr/>
            <p:nvPr/>
          </p:nvCxnSpPr>
          <p:spPr>
            <a:xfrm>
              <a:off x="355627" y="1630860"/>
              <a:ext cx="225514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75A8819B-8ABE-480A-97B8-C816795F706B}"/>
                </a:ext>
              </a:extLst>
            </p:cNvPr>
            <p:cNvCxnSpPr/>
            <p:nvPr/>
          </p:nvCxnSpPr>
          <p:spPr>
            <a:xfrm flipH="1">
              <a:off x="953183" y="9965"/>
              <a:ext cx="0" cy="1623419"/>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6749B39-9D2B-4952-89D7-5958EC22D51C}"/>
                </a:ext>
              </a:extLst>
            </p:cNvPr>
            <p:cNvCxnSpPr/>
            <p:nvPr/>
          </p:nvCxnSpPr>
          <p:spPr>
            <a:xfrm flipH="1">
              <a:off x="2000823" y="16314"/>
              <a:ext cx="0" cy="1623419"/>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D5718167-6B14-4EE0-850D-B2344F2B72CB}"/>
                </a:ext>
              </a:extLst>
            </p:cNvPr>
            <p:cNvSpPr/>
            <p:nvPr/>
          </p:nvSpPr>
          <p:spPr>
            <a:xfrm>
              <a:off x="0" y="36354"/>
              <a:ext cx="1164669" cy="228691"/>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800">
                  <a:solidFill>
                    <a:schemeClr val="tx1"/>
                  </a:solidFill>
                </a:rPr>
                <a:t>ＬＳＬ</a:t>
              </a:r>
              <a:endParaRPr kumimoji="1" lang="en-US" altLang="ja-JP" sz="1800">
                <a:solidFill>
                  <a:schemeClr val="tx1"/>
                </a:solidFill>
              </a:endParaRPr>
            </a:p>
          </p:txBody>
        </p:sp>
        <p:sp>
          <p:nvSpPr>
            <p:cNvPr id="31" name="正方形/長方形 30">
              <a:extLst>
                <a:ext uri="{FF2B5EF4-FFF2-40B4-BE49-F238E27FC236}">
                  <a16:creationId xmlns:a16="http://schemas.microsoft.com/office/drawing/2014/main" id="{FEB4F42A-AAC1-42DF-A8B2-71E25C6E608A}"/>
                </a:ext>
              </a:extLst>
            </p:cNvPr>
            <p:cNvSpPr/>
            <p:nvPr/>
          </p:nvSpPr>
          <p:spPr>
            <a:xfrm>
              <a:off x="1757758" y="29672"/>
              <a:ext cx="1155548" cy="230984"/>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800">
                  <a:solidFill>
                    <a:schemeClr val="tx1"/>
                  </a:solidFill>
                </a:rPr>
                <a:t>ＵＳＬ</a:t>
              </a:r>
              <a:endParaRPr kumimoji="1" lang="en-US" altLang="ja-JP" sz="1800">
                <a:solidFill>
                  <a:schemeClr val="tx1"/>
                </a:solidFill>
              </a:endParaRPr>
            </a:p>
          </p:txBody>
        </p:sp>
        <p:sp>
          <p:nvSpPr>
            <p:cNvPr id="32" name="正方形/長方形 31">
              <a:extLst>
                <a:ext uri="{FF2B5EF4-FFF2-40B4-BE49-F238E27FC236}">
                  <a16:creationId xmlns:a16="http://schemas.microsoft.com/office/drawing/2014/main" id="{469F08C8-84BA-42C7-8B90-B85A338C24FA}"/>
                </a:ext>
              </a:extLst>
            </p:cNvPr>
            <p:cNvSpPr/>
            <p:nvPr/>
          </p:nvSpPr>
          <p:spPr>
            <a:xfrm>
              <a:off x="834942" y="1225003"/>
              <a:ext cx="229914" cy="404101"/>
            </a:xfrm>
            <a:prstGeom prst="rect">
              <a:avLst/>
            </a:prstGeom>
            <a:solidFill>
              <a:schemeClr val="bg1">
                <a:lumMod val="6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3" name="正方形/長方形 32">
              <a:extLst>
                <a:ext uri="{FF2B5EF4-FFF2-40B4-BE49-F238E27FC236}">
                  <a16:creationId xmlns:a16="http://schemas.microsoft.com/office/drawing/2014/main" id="{49BB0B42-98D2-483D-A344-CB7D41939322}"/>
                </a:ext>
              </a:extLst>
            </p:cNvPr>
            <p:cNvSpPr/>
            <p:nvPr/>
          </p:nvSpPr>
          <p:spPr>
            <a:xfrm>
              <a:off x="1885976" y="1218654"/>
              <a:ext cx="226739" cy="404101"/>
            </a:xfrm>
            <a:prstGeom prst="rect">
              <a:avLst/>
            </a:prstGeom>
            <a:solidFill>
              <a:schemeClr val="bg1">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4" name="正方形/長方形 33">
              <a:extLst>
                <a:ext uri="{FF2B5EF4-FFF2-40B4-BE49-F238E27FC236}">
                  <a16:creationId xmlns:a16="http://schemas.microsoft.com/office/drawing/2014/main" id="{3C688C9F-AC86-40D2-85CE-B6423A47D3F3}"/>
                </a:ext>
              </a:extLst>
            </p:cNvPr>
            <p:cNvSpPr/>
            <p:nvPr/>
          </p:nvSpPr>
          <p:spPr>
            <a:xfrm>
              <a:off x="2791946" y="0"/>
              <a:ext cx="2340683" cy="918371"/>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800">
                  <a:solidFill>
                    <a:schemeClr val="tx1"/>
                  </a:solidFill>
                </a:rPr>
                <a:t>規格付近の</a:t>
              </a:r>
              <a:endParaRPr kumimoji="1" lang="en-US" altLang="ja-JP" sz="1800">
                <a:solidFill>
                  <a:schemeClr val="tx1"/>
                </a:solidFill>
              </a:endParaRPr>
            </a:p>
            <a:p>
              <a:pPr algn="l"/>
              <a:r>
                <a:rPr kumimoji="1" lang="ja-JP" altLang="en-US" sz="1800">
                  <a:solidFill>
                    <a:schemeClr val="tx1"/>
                  </a:solidFill>
                </a:rPr>
                <a:t>グレーゾーン</a:t>
              </a:r>
              <a:endParaRPr kumimoji="1" lang="en-US" altLang="ja-JP" sz="1800">
                <a:solidFill>
                  <a:schemeClr val="tx1"/>
                </a:solidFill>
              </a:endParaRPr>
            </a:p>
          </p:txBody>
        </p:sp>
        <p:cxnSp>
          <p:nvCxnSpPr>
            <p:cNvPr id="35" name="直線矢印コネクタ 34">
              <a:extLst>
                <a:ext uri="{FF2B5EF4-FFF2-40B4-BE49-F238E27FC236}">
                  <a16:creationId xmlns:a16="http://schemas.microsoft.com/office/drawing/2014/main" id="{6ED88C9B-CAAC-4263-B17D-A58804726C54}"/>
                </a:ext>
              </a:extLst>
            </p:cNvPr>
            <p:cNvCxnSpPr>
              <a:stCxn id="34" idx="1"/>
              <a:endCxn id="32" idx="3"/>
            </p:cNvCxnSpPr>
            <p:nvPr/>
          </p:nvCxnSpPr>
          <p:spPr>
            <a:xfrm flipH="1">
              <a:off x="1064856" y="459186"/>
              <a:ext cx="1727089" cy="9678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06D773CC-9D1A-421D-9543-D6A1A94CA21B}"/>
                </a:ext>
              </a:extLst>
            </p:cNvPr>
            <p:cNvCxnSpPr>
              <a:stCxn id="34" idx="2"/>
              <a:endCxn id="33" idx="3"/>
            </p:cNvCxnSpPr>
            <p:nvPr/>
          </p:nvCxnSpPr>
          <p:spPr>
            <a:xfrm flipH="1">
              <a:off x="2112715" y="918371"/>
              <a:ext cx="1849572" cy="5023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1707376"/>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6"/>
            </a:pPr>
            <a:r>
              <a:rPr lang="ja-JP" altLang="en-US" sz="2400" dirty="0"/>
              <a:t>測定システム変動の工程評価への影響</a:t>
            </a:r>
            <a:endParaRPr lang="en-US" altLang="ja-JP" sz="2400" dirty="0"/>
          </a:p>
          <a:p>
            <a:pPr marL="914400" lvl="1" indent="-457200">
              <a:lnSpc>
                <a:spcPct val="100000"/>
              </a:lnSpc>
              <a:buFont typeface="+mj-ea"/>
              <a:buAutoNum type="circleNumDbPlain"/>
            </a:pPr>
            <a:r>
              <a:rPr lang="ja-JP" altLang="en-US" dirty="0"/>
              <a:t>実際の工程変動と測定された工程変動</a:t>
            </a:r>
            <a:endParaRPr lang="en-US" altLang="ja-JP" dirty="0"/>
          </a:p>
          <a:p>
            <a:pPr marL="914400" lvl="2" indent="0">
              <a:lnSpc>
                <a:spcPct val="100000"/>
              </a:lnSpc>
              <a:buNone/>
            </a:pPr>
            <a:r>
              <a:rPr lang="en-US" altLang="ja-JP" dirty="0"/>
              <a:t>σ</a:t>
            </a:r>
            <a:r>
              <a:rPr lang="ja-JP" altLang="en-US" dirty="0"/>
              <a:t>（測定された工程変動）＝</a:t>
            </a:r>
            <a:r>
              <a:rPr lang="en-US" altLang="ja-JP" dirty="0"/>
              <a:t>σ</a:t>
            </a:r>
            <a:r>
              <a:rPr lang="ja-JP" altLang="en-US" dirty="0"/>
              <a:t>（実際の工程変動）</a:t>
            </a:r>
            <a:r>
              <a:rPr lang="en-US" altLang="ja-JP" dirty="0"/>
              <a:t>+σ</a:t>
            </a:r>
            <a:r>
              <a:rPr lang="ja-JP" altLang="en-US" dirty="0"/>
              <a:t>（測定システムの変動）</a:t>
            </a:r>
            <a:endParaRPr lang="en-US" altLang="ja-JP" dirty="0"/>
          </a:p>
          <a:p>
            <a:pPr marL="914400" lvl="2" indent="0">
              <a:lnSpc>
                <a:spcPct val="100000"/>
              </a:lnSpc>
              <a:buNone/>
            </a:pPr>
            <a:endParaRPr lang="en-US" altLang="ja-JP" dirty="0"/>
          </a:p>
          <a:p>
            <a:pPr marL="914400" lvl="2" indent="0">
              <a:lnSpc>
                <a:spcPct val="100000"/>
              </a:lnSpc>
              <a:buNone/>
            </a:pPr>
            <a:endParaRPr lang="en-US" altLang="ja-JP" dirty="0"/>
          </a:p>
          <a:p>
            <a:pPr marL="914400" lvl="1" indent="-457200">
              <a:lnSpc>
                <a:spcPct val="100000"/>
              </a:lnSpc>
              <a:buFont typeface="+mj-ea"/>
              <a:buAutoNum type="circleNumDbPlain"/>
            </a:pPr>
            <a:r>
              <a:rPr lang="ja-JP" altLang="en-US" dirty="0"/>
              <a:t>①から工程能力指数の関係を表すと</a:t>
            </a:r>
            <a:endParaRPr lang="en-US" altLang="ja-JP" dirty="0"/>
          </a:p>
          <a:p>
            <a:pPr marL="914400" lvl="2" indent="0">
              <a:lnSpc>
                <a:spcPct val="100000"/>
              </a:lnSpc>
              <a:buNone/>
            </a:pPr>
            <a:r>
              <a:rPr lang="en-US" altLang="ja-JP" dirty="0"/>
              <a:t>1/Cp</a:t>
            </a:r>
            <a:r>
              <a:rPr lang="ja-JP" altLang="en-US" sz="1600" dirty="0"/>
              <a:t>（測定された工程能力）＝</a:t>
            </a:r>
            <a:r>
              <a:rPr lang="en-US" altLang="ja-JP" dirty="0"/>
              <a:t>1/Cp</a:t>
            </a:r>
            <a:r>
              <a:rPr lang="ja-JP" altLang="en-US" sz="1600" dirty="0"/>
              <a:t>（実際の工程能力）</a:t>
            </a:r>
            <a:r>
              <a:rPr lang="en-US" altLang="ja-JP" dirty="0"/>
              <a:t>+1/Cp</a:t>
            </a:r>
            <a:r>
              <a:rPr lang="ja-JP" altLang="en-US" sz="1600" dirty="0"/>
              <a:t>（測定システムの工程能力）</a:t>
            </a:r>
            <a:endParaRPr lang="en-US" altLang="ja-JP" sz="1600" dirty="0"/>
          </a:p>
          <a:p>
            <a:pPr marL="914400" lvl="2" indent="0">
              <a:lnSpc>
                <a:spcPct val="100000"/>
              </a:lnSpc>
              <a:buNone/>
            </a:pPr>
            <a:endParaRPr lang="en-US" altLang="ja-JP" sz="1600" dirty="0"/>
          </a:p>
          <a:p>
            <a:pPr marL="457200" lvl="1" indent="0">
              <a:lnSpc>
                <a:spcPct val="100000"/>
              </a:lnSpc>
              <a:buNone/>
            </a:pPr>
            <a:r>
              <a:rPr lang="ja-JP" altLang="en-US" sz="2000" dirty="0"/>
              <a:t>例えば、</a:t>
            </a:r>
            <a:endParaRPr lang="en-US" altLang="ja-JP" sz="20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５．ＭＳＡ（ＭＳＡの基礎）</a:t>
            </a:r>
          </a:p>
        </p:txBody>
      </p:sp>
      <p:sp>
        <p:nvSpPr>
          <p:cNvPr id="2" name="四角形: 角を丸くする 1">
            <a:extLst>
              <a:ext uri="{FF2B5EF4-FFF2-40B4-BE49-F238E27FC236}">
                <a16:creationId xmlns:a16="http://schemas.microsoft.com/office/drawing/2014/main" id="{128C06F9-7016-4E80-9554-04E9FB95F253}"/>
              </a:ext>
            </a:extLst>
          </p:cNvPr>
          <p:cNvSpPr/>
          <p:nvPr/>
        </p:nvSpPr>
        <p:spPr>
          <a:xfrm>
            <a:off x="5709951" y="2589690"/>
            <a:ext cx="1696598" cy="407624"/>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製品の変動</a:t>
            </a:r>
          </a:p>
        </p:txBody>
      </p:sp>
      <p:sp>
        <p:nvSpPr>
          <p:cNvPr id="22" name="四角形: 角を丸くする 21">
            <a:extLst>
              <a:ext uri="{FF2B5EF4-FFF2-40B4-BE49-F238E27FC236}">
                <a16:creationId xmlns:a16="http://schemas.microsoft.com/office/drawing/2014/main" id="{7564BE33-0CEA-47A4-AEAA-A9EB6E82074B}"/>
              </a:ext>
            </a:extLst>
          </p:cNvPr>
          <p:cNvSpPr/>
          <p:nvPr/>
        </p:nvSpPr>
        <p:spPr>
          <a:xfrm>
            <a:off x="8610600" y="2589690"/>
            <a:ext cx="1696598" cy="407624"/>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測定の誤差</a:t>
            </a:r>
          </a:p>
        </p:txBody>
      </p:sp>
      <p:sp>
        <p:nvSpPr>
          <p:cNvPr id="3" name="加算記号 2">
            <a:extLst>
              <a:ext uri="{FF2B5EF4-FFF2-40B4-BE49-F238E27FC236}">
                <a16:creationId xmlns:a16="http://schemas.microsoft.com/office/drawing/2014/main" id="{B701318A-2235-4C9E-9BF7-C4720BF32244}"/>
              </a:ext>
            </a:extLst>
          </p:cNvPr>
          <p:cNvSpPr/>
          <p:nvPr/>
        </p:nvSpPr>
        <p:spPr>
          <a:xfrm>
            <a:off x="7804073" y="2589690"/>
            <a:ext cx="407624" cy="4076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8162317-3973-4D4D-94D5-18A2760918D9}"/>
              </a:ext>
            </a:extLst>
          </p:cNvPr>
          <p:cNvSpPr/>
          <p:nvPr/>
        </p:nvSpPr>
        <p:spPr>
          <a:xfrm>
            <a:off x="1938968" y="2137272"/>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39" name="正方形/長方形 38">
            <a:extLst>
              <a:ext uri="{FF2B5EF4-FFF2-40B4-BE49-F238E27FC236}">
                <a16:creationId xmlns:a16="http://schemas.microsoft.com/office/drawing/2014/main" id="{4DF370D8-316E-405B-9242-408BC853D166}"/>
              </a:ext>
            </a:extLst>
          </p:cNvPr>
          <p:cNvSpPr/>
          <p:nvPr/>
        </p:nvSpPr>
        <p:spPr>
          <a:xfrm>
            <a:off x="7950676" y="2117342"/>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40" name="正方形/長方形 39">
            <a:extLst>
              <a:ext uri="{FF2B5EF4-FFF2-40B4-BE49-F238E27FC236}">
                <a16:creationId xmlns:a16="http://schemas.microsoft.com/office/drawing/2014/main" id="{5163727B-065E-42F2-871A-5FF11C13D946}"/>
              </a:ext>
            </a:extLst>
          </p:cNvPr>
          <p:cNvSpPr/>
          <p:nvPr/>
        </p:nvSpPr>
        <p:spPr>
          <a:xfrm>
            <a:off x="5208567" y="2109729"/>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41" name="正方形/長方形 40">
            <a:extLst>
              <a:ext uri="{FF2B5EF4-FFF2-40B4-BE49-F238E27FC236}">
                <a16:creationId xmlns:a16="http://schemas.microsoft.com/office/drawing/2014/main" id="{01F1DCB9-2A8C-4CAD-97E0-46A476C3949C}"/>
              </a:ext>
            </a:extLst>
          </p:cNvPr>
          <p:cNvSpPr/>
          <p:nvPr/>
        </p:nvSpPr>
        <p:spPr>
          <a:xfrm>
            <a:off x="4404910" y="3641169"/>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42" name="正方形/長方形 41">
            <a:extLst>
              <a:ext uri="{FF2B5EF4-FFF2-40B4-BE49-F238E27FC236}">
                <a16:creationId xmlns:a16="http://schemas.microsoft.com/office/drawing/2014/main" id="{45ACF4A0-D1D3-463B-A363-D5925963D67C}"/>
              </a:ext>
            </a:extLst>
          </p:cNvPr>
          <p:cNvSpPr/>
          <p:nvPr/>
        </p:nvSpPr>
        <p:spPr>
          <a:xfrm>
            <a:off x="10416618" y="3621239"/>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43" name="正方形/長方形 42">
            <a:extLst>
              <a:ext uri="{FF2B5EF4-FFF2-40B4-BE49-F238E27FC236}">
                <a16:creationId xmlns:a16="http://schemas.microsoft.com/office/drawing/2014/main" id="{357E6EFF-8F97-4001-A218-26F60E60C0D5}"/>
              </a:ext>
            </a:extLst>
          </p:cNvPr>
          <p:cNvSpPr/>
          <p:nvPr/>
        </p:nvSpPr>
        <p:spPr>
          <a:xfrm>
            <a:off x="6947395" y="3613626"/>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8" name="矢印: 下 7">
            <a:extLst>
              <a:ext uri="{FF2B5EF4-FFF2-40B4-BE49-F238E27FC236}">
                <a16:creationId xmlns:a16="http://schemas.microsoft.com/office/drawing/2014/main" id="{2ABF86BE-A5DC-4ED5-A138-AC823A2C0340}"/>
              </a:ext>
            </a:extLst>
          </p:cNvPr>
          <p:cNvSpPr/>
          <p:nvPr/>
        </p:nvSpPr>
        <p:spPr>
          <a:xfrm>
            <a:off x="4891489" y="4196316"/>
            <a:ext cx="1553378" cy="3084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0" name="表 9">
            <a:extLst>
              <a:ext uri="{FF2B5EF4-FFF2-40B4-BE49-F238E27FC236}">
                <a16:creationId xmlns:a16="http://schemas.microsoft.com/office/drawing/2014/main" id="{0B3FCE83-777C-469A-BF37-D3E1E9CDCFD9}"/>
              </a:ext>
            </a:extLst>
          </p:cNvPr>
          <p:cNvGraphicFramePr>
            <a:graphicFrameLocks noGrp="1"/>
          </p:cNvGraphicFramePr>
          <p:nvPr>
            <p:extLst>
              <p:ext uri="{D42A27DB-BD31-4B8C-83A1-F6EECF244321}">
                <p14:modId xmlns:p14="http://schemas.microsoft.com/office/powerpoint/2010/main" val="1318949664"/>
              </p:ext>
            </p:extLst>
          </p:nvPr>
        </p:nvGraphicFramePr>
        <p:xfrm>
          <a:off x="1330900" y="4765797"/>
          <a:ext cx="9586815" cy="1433481"/>
        </p:xfrm>
        <a:graphic>
          <a:graphicData uri="http://schemas.openxmlformats.org/drawingml/2006/table">
            <a:tbl>
              <a:tblPr firstRow="1" bandRow="1">
                <a:tableStyleId>{5940675A-B579-460E-94D1-54222C63F5DA}</a:tableStyleId>
              </a:tblPr>
              <a:tblGrid>
                <a:gridCol w="3195605">
                  <a:extLst>
                    <a:ext uri="{9D8B030D-6E8A-4147-A177-3AD203B41FA5}">
                      <a16:colId xmlns:a16="http://schemas.microsoft.com/office/drawing/2014/main" val="2262923632"/>
                    </a:ext>
                  </a:extLst>
                </a:gridCol>
                <a:gridCol w="3195605">
                  <a:extLst>
                    <a:ext uri="{9D8B030D-6E8A-4147-A177-3AD203B41FA5}">
                      <a16:colId xmlns:a16="http://schemas.microsoft.com/office/drawing/2014/main" val="242745544"/>
                    </a:ext>
                  </a:extLst>
                </a:gridCol>
                <a:gridCol w="3195605">
                  <a:extLst>
                    <a:ext uri="{9D8B030D-6E8A-4147-A177-3AD203B41FA5}">
                      <a16:colId xmlns:a16="http://schemas.microsoft.com/office/drawing/2014/main" val="1918948186"/>
                    </a:ext>
                  </a:extLst>
                </a:gridCol>
              </a:tblGrid>
              <a:tr h="477827">
                <a:tc>
                  <a:txBody>
                    <a:bodyPr/>
                    <a:lstStyle/>
                    <a:p>
                      <a:r>
                        <a:rPr kumimoji="1" lang="ja-JP" altLang="en-US" sz="2000" dirty="0"/>
                        <a:t>実際の工程能力</a:t>
                      </a:r>
                    </a:p>
                  </a:txBody>
                  <a:tcPr anchor="ctr" anchorCtr="1">
                    <a:solidFill>
                      <a:schemeClr val="tx2">
                        <a:lumMod val="20000"/>
                        <a:lumOff val="80000"/>
                      </a:schemeClr>
                    </a:solidFill>
                  </a:tcPr>
                </a:tc>
                <a:tc>
                  <a:txBody>
                    <a:bodyPr/>
                    <a:lstStyle/>
                    <a:p>
                      <a:r>
                        <a:rPr kumimoji="1" lang="ja-JP" altLang="en-US" sz="2000" dirty="0"/>
                        <a:t>測定システムの工程能力</a:t>
                      </a:r>
                    </a:p>
                  </a:txBody>
                  <a:tcPr anchor="ctr" anchorCtr="1">
                    <a:solidFill>
                      <a:schemeClr val="tx2">
                        <a:lumMod val="20000"/>
                        <a:lumOff val="80000"/>
                      </a:schemeClr>
                    </a:solidFill>
                  </a:tcPr>
                </a:tc>
                <a:tc>
                  <a:txBody>
                    <a:bodyPr/>
                    <a:lstStyle/>
                    <a:p>
                      <a:r>
                        <a:rPr kumimoji="1" lang="ja-JP" altLang="en-US" sz="2000" b="1" dirty="0">
                          <a:effectLst/>
                        </a:rPr>
                        <a:t>測定された工程能力</a:t>
                      </a:r>
                    </a:p>
                  </a:txBody>
                  <a:tcPr anchor="ctr" anchorCtr="1">
                    <a:solidFill>
                      <a:schemeClr val="tx2">
                        <a:lumMod val="20000"/>
                        <a:lumOff val="80000"/>
                      </a:schemeClr>
                    </a:solidFill>
                  </a:tcPr>
                </a:tc>
                <a:extLst>
                  <a:ext uri="{0D108BD9-81ED-4DB2-BD59-A6C34878D82A}">
                    <a16:rowId xmlns:a16="http://schemas.microsoft.com/office/drawing/2014/main" val="2551258101"/>
                  </a:ext>
                </a:extLst>
              </a:tr>
              <a:tr h="477827">
                <a:tc>
                  <a:txBody>
                    <a:bodyPr/>
                    <a:lstStyle/>
                    <a:p>
                      <a:r>
                        <a:rPr kumimoji="1" lang="ja-JP" altLang="en-US" sz="2000" dirty="0"/>
                        <a:t>２．０</a:t>
                      </a:r>
                    </a:p>
                  </a:txBody>
                  <a:tcPr anchor="ctr" anchorCtr="1"/>
                </a:tc>
                <a:tc>
                  <a:txBody>
                    <a:bodyPr/>
                    <a:lstStyle/>
                    <a:p>
                      <a:r>
                        <a:rPr kumimoji="1" lang="ja-JP" altLang="en-US" sz="2000" dirty="0"/>
                        <a:t>２．０</a:t>
                      </a:r>
                    </a:p>
                  </a:txBody>
                  <a:tcPr anchor="ctr" anchorCtr="1"/>
                </a:tc>
                <a:tc>
                  <a:txBody>
                    <a:bodyPr/>
                    <a:lstStyle/>
                    <a:p>
                      <a:r>
                        <a:rPr kumimoji="1" lang="ja-JP" altLang="en-US" sz="2000" b="1" dirty="0">
                          <a:effectLst/>
                        </a:rPr>
                        <a:t>１．４</a:t>
                      </a:r>
                    </a:p>
                  </a:txBody>
                  <a:tcPr anchor="ctr" anchorCtr="1"/>
                </a:tc>
                <a:extLst>
                  <a:ext uri="{0D108BD9-81ED-4DB2-BD59-A6C34878D82A}">
                    <a16:rowId xmlns:a16="http://schemas.microsoft.com/office/drawing/2014/main" val="298170584"/>
                  </a:ext>
                </a:extLst>
              </a:tr>
              <a:tr h="477827">
                <a:tc>
                  <a:txBody>
                    <a:bodyPr/>
                    <a:lstStyle/>
                    <a:p>
                      <a:r>
                        <a:rPr kumimoji="1" lang="ja-JP" altLang="en-US" sz="2000" dirty="0"/>
                        <a:t>２．０</a:t>
                      </a:r>
                    </a:p>
                  </a:txBody>
                  <a:tcPr anchor="ctr" anchorCtr="1"/>
                </a:tc>
                <a:tc>
                  <a:txBody>
                    <a:bodyPr/>
                    <a:lstStyle/>
                    <a:p>
                      <a:r>
                        <a:rPr kumimoji="1" lang="ja-JP" altLang="en-US" sz="2000" dirty="0"/>
                        <a:t>１．５</a:t>
                      </a:r>
                    </a:p>
                  </a:txBody>
                  <a:tcPr anchor="ctr" anchorCtr="1"/>
                </a:tc>
                <a:tc>
                  <a:txBody>
                    <a:bodyPr/>
                    <a:lstStyle/>
                    <a:p>
                      <a:r>
                        <a:rPr kumimoji="1" lang="ja-JP" altLang="en-US" sz="2000" b="1" dirty="0">
                          <a:effectLst/>
                        </a:rPr>
                        <a:t>１．２</a:t>
                      </a:r>
                    </a:p>
                  </a:txBody>
                  <a:tcPr anchor="ctr" anchorCtr="1"/>
                </a:tc>
                <a:extLst>
                  <a:ext uri="{0D108BD9-81ED-4DB2-BD59-A6C34878D82A}">
                    <a16:rowId xmlns:a16="http://schemas.microsoft.com/office/drawing/2014/main" val="3206643102"/>
                  </a:ext>
                </a:extLst>
              </a:tr>
            </a:tbl>
          </a:graphicData>
        </a:graphic>
      </p:graphicFrame>
      <p:sp>
        <p:nvSpPr>
          <p:cNvPr id="44" name="加算記号 43">
            <a:extLst>
              <a:ext uri="{FF2B5EF4-FFF2-40B4-BE49-F238E27FC236}">
                <a16:creationId xmlns:a16="http://schemas.microsoft.com/office/drawing/2014/main" id="{47C224D1-BA3E-44F8-9F2D-F3A8C3C5626B}"/>
              </a:ext>
            </a:extLst>
          </p:cNvPr>
          <p:cNvSpPr/>
          <p:nvPr/>
        </p:nvSpPr>
        <p:spPr>
          <a:xfrm>
            <a:off x="4305759" y="5514312"/>
            <a:ext cx="407624" cy="4076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C7F3A7AC-21B4-4183-AEC7-CC0A47E69218}"/>
              </a:ext>
            </a:extLst>
          </p:cNvPr>
          <p:cNvSpPr/>
          <p:nvPr/>
        </p:nvSpPr>
        <p:spPr>
          <a:xfrm>
            <a:off x="7539669" y="5514312"/>
            <a:ext cx="349037" cy="4076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12239610"/>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88125"/>
            <a:ext cx="10515600" cy="49682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u="sng"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５．ＭＳＡ（安定性）（実施手順）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nvGraphicFramePr>
        <p:xfrm>
          <a:off x="838200" y="1388127"/>
          <a:ext cx="10515600" cy="402336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338143">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51823">
                <a:tc rowSpan="2">
                  <a:txBody>
                    <a:bodyPr/>
                    <a:lstStyle/>
                    <a:p>
                      <a:r>
                        <a:rPr kumimoji="1" lang="ja-JP" altLang="en-US" sz="2000" dirty="0"/>
                        <a:t>１</a:t>
                      </a:r>
                      <a:endParaRPr kumimoji="1" lang="en-US" altLang="ja-JP" sz="2000" dirty="0"/>
                    </a:p>
                    <a:p>
                      <a:r>
                        <a:rPr kumimoji="1" lang="ja-JP" altLang="en-US" sz="2000" dirty="0"/>
                        <a:t>準備</a:t>
                      </a:r>
                    </a:p>
                  </a:txBody>
                  <a:tcPr/>
                </a:tc>
                <a:tc>
                  <a:txBody>
                    <a:bodyPr/>
                    <a:lstStyle/>
                    <a:p>
                      <a:r>
                        <a:rPr kumimoji="1" lang="ja-JP" altLang="en-US" sz="2000" dirty="0"/>
                        <a:t>マスターサンプルの選定</a:t>
                      </a:r>
                    </a:p>
                  </a:txBody>
                  <a:tcPr/>
                </a:tc>
                <a:tc>
                  <a:txBody>
                    <a:bodyPr/>
                    <a:lstStyle/>
                    <a:p>
                      <a:pPr marL="457200" indent="-457200">
                        <a:buFont typeface="+mj-ea"/>
                        <a:buAutoNum type="circleNumDbPlain"/>
                      </a:pPr>
                      <a:r>
                        <a:rPr kumimoji="1" lang="ja-JP" altLang="en-US" sz="2000" b="0" dirty="0"/>
                        <a:t>製造工程から、測定範囲のほぼ中央の値を示す製品サンプルを１つ選び、これを安定性評価のマスターサンプルとする。</a:t>
                      </a:r>
                      <a:endParaRPr kumimoji="1" lang="en-US" altLang="ja-JP" sz="2000" b="0" dirty="0"/>
                    </a:p>
                    <a:p>
                      <a:pPr marL="457200" indent="-457200">
                        <a:buFont typeface="+mj-ea"/>
                        <a:buAutoNum type="circleNumDbPlain"/>
                      </a:pPr>
                      <a:r>
                        <a:rPr kumimoji="1" lang="ja-JP" altLang="en-US" sz="2000" b="0" dirty="0"/>
                        <a:t>マスターサンプルは、測定範囲の中央近く以外に、測定範囲の上限近く及び下限近くのサンプルを含めることが望ましい。</a:t>
                      </a:r>
                      <a:endParaRPr kumimoji="1" lang="en-US" altLang="ja-JP" sz="2000" b="0" dirty="0"/>
                    </a:p>
                  </a:txBody>
                  <a:tcPr/>
                </a:tc>
                <a:extLst>
                  <a:ext uri="{0D108BD9-81ED-4DB2-BD59-A6C34878D82A}">
                    <a16:rowId xmlns:a16="http://schemas.microsoft.com/office/drawing/2014/main" val="2304653593"/>
                  </a:ext>
                </a:extLst>
              </a:tr>
              <a:tr h="223228">
                <a:tc vMerge="1">
                  <a:txBody>
                    <a:bodyPr/>
                    <a:lstStyle/>
                    <a:p>
                      <a:endParaRPr kumimoji="1" lang="ja-JP" altLang="en-US" sz="2000" dirty="0"/>
                    </a:p>
                  </a:txBody>
                  <a:tcPr/>
                </a:tc>
                <a:tc>
                  <a:txBody>
                    <a:bodyPr/>
                    <a:lstStyle/>
                    <a:p>
                      <a:r>
                        <a:rPr kumimoji="1" lang="ja-JP" altLang="en-US" sz="2000" dirty="0"/>
                        <a:t>サンプリング計画の作成</a:t>
                      </a:r>
                    </a:p>
                  </a:txBody>
                  <a:tcPr/>
                </a:tc>
                <a:tc>
                  <a:txBody>
                    <a:bodyPr/>
                    <a:lstStyle/>
                    <a:p>
                      <a:pPr marL="457200" indent="-457200">
                        <a:buFont typeface="+mj-ea"/>
                        <a:buAutoNum type="circleNumDbPlain"/>
                      </a:pPr>
                      <a:r>
                        <a:rPr kumimoji="1" lang="ja-JP" altLang="en-US" sz="2000" dirty="0"/>
                        <a:t>サンプリング計画（測定回数ｒ、測定期間ｋなど）を作成する。</a:t>
                      </a:r>
                      <a:endParaRPr kumimoji="1" lang="en-US" altLang="ja-JP" sz="2000" dirty="0"/>
                    </a:p>
                  </a:txBody>
                  <a:tcPr/>
                </a:tc>
                <a:extLst>
                  <a:ext uri="{0D108BD9-81ED-4DB2-BD59-A6C34878D82A}">
                    <a16:rowId xmlns:a16="http://schemas.microsoft.com/office/drawing/2014/main" val="165078728"/>
                  </a:ext>
                </a:extLst>
              </a:tr>
              <a:tr h="223228">
                <a:tc>
                  <a:txBody>
                    <a:bodyPr/>
                    <a:lstStyle/>
                    <a:p>
                      <a:r>
                        <a:rPr kumimoji="1" lang="ja-JP" altLang="en-US" sz="2000" dirty="0"/>
                        <a:t>２</a:t>
                      </a:r>
                      <a:endParaRPr kumimoji="1" lang="en-US" altLang="ja-JP" sz="2000" dirty="0"/>
                    </a:p>
                    <a:p>
                      <a:r>
                        <a:rPr kumimoji="1" lang="ja-JP" altLang="en-US" sz="2000" dirty="0"/>
                        <a:t>測定</a:t>
                      </a:r>
                    </a:p>
                  </a:txBody>
                  <a:tcPr/>
                </a:tc>
                <a:tc>
                  <a:txBody>
                    <a:bodyPr/>
                    <a:lstStyle/>
                    <a:p>
                      <a:r>
                        <a:rPr kumimoji="1" lang="ja-JP" altLang="en-US" sz="2000" dirty="0"/>
                        <a:t>測定の実施</a:t>
                      </a:r>
                    </a:p>
                  </a:txBody>
                  <a:tcPr/>
                </a:tc>
                <a:tc>
                  <a:txBody>
                    <a:bodyPr/>
                    <a:lstStyle/>
                    <a:p>
                      <a:pPr marL="457200" indent="-457200">
                        <a:buFont typeface="+mj-ea"/>
                        <a:buAutoNum type="circleNumDbPlain"/>
                      </a:pPr>
                      <a:r>
                        <a:rPr kumimoji="1" lang="ja-JP" altLang="en-US" sz="2000" dirty="0"/>
                        <a:t>対象の測定システムを用いて、マスターサンプルを１日ｒ回、ｋ日間に渡って測定し、安定性評価データシートに記入する。</a:t>
                      </a:r>
                      <a:endParaRPr kumimoji="1" lang="en-US" altLang="ja-JP" sz="2000" dirty="0"/>
                    </a:p>
                  </a:txBody>
                  <a:tcPr/>
                </a:tc>
                <a:extLst>
                  <a:ext uri="{0D108BD9-81ED-4DB2-BD59-A6C34878D82A}">
                    <a16:rowId xmlns:a16="http://schemas.microsoft.com/office/drawing/2014/main" val="947575258"/>
                  </a:ext>
                </a:extLst>
              </a:tr>
            </a:tbl>
          </a:graphicData>
        </a:graphic>
      </p:graphicFrame>
    </p:spTree>
    <p:extLst>
      <p:ext uri="{BB962C8B-B14F-4D97-AF65-F5344CB8AC3E}">
        <p14:creationId xmlns:p14="http://schemas.microsoft.com/office/powerpoint/2010/main" val="962421768"/>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88125"/>
            <a:ext cx="10515600" cy="49682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u="sng"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５．ＭＳＡ（安定性）（実施手順）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nvGraphicFramePr>
        <p:xfrm>
          <a:off x="838200" y="1388127"/>
          <a:ext cx="10515600" cy="463296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338143">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51823">
                <a:tc>
                  <a:txBody>
                    <a:bodyPr/>
                    <a:lstStyle/>
                    <a:p>
                      <a:r>
                        <a:rPr kumimoji="1" lang="ja-JP" altLang="en-US" sz="2000" dirty="0"/>
                        <a:t>３</a:t>
                      </a:r>
                      <a:endParaRPr kumimoji="1" lang="en-US" altLang="ja-JP" sz="2000" dirty="0"/>
                    </a:p>
                    <a:p>
                      <a:r>
                        <a:rPr kumimoji="1" lang="ja-JP" altLang="en-US" sz="2000" dirty="0"/>
                        <a:t>管理図作成</a:t>
                      </a:r>
                      <a:endParaRPr kumimoji="1" lang="en-US" altLang="ja-JP" sz="2000" dirty="0"/>
                    </a:p>
                  </a:txBody>
                  <a:tcPr/>
                </a:tc>
                <a:tc>
                  <a:txBody>
                    <a:bodyPr/>
                    <a:lstStyle/>
                    <a:p>
                      <a:r>
                        <a:rPr kumimoji="1" lang="ja-JP" altLang="en-US" sz="2000" dirty="0"/>
                        <a:t>Ｘ－Ｒ管理図の作成</a:t>
                      </a:r>
                    </a:p>
                  </a:txBody>
                  <a:tcPr/>
                </a:tc>
                <a:tc>
                  <a:txBody>
                    <a:bodyPr/>
                    <a:lstStyle/>
                    <a:p>
                      <a:pPr marL="457200" indent="-457200">
                        <a:buFont typeface="+mj-ea"/>
                        <a:buAutoNum type="circleNumDbPlain"/>
                      </a:pPr>
                      <a:r>
                        <a:rPr kumimoji="1" lang="ja-JP" altLang="en-US" sz="2000" b="0" dirty="0"/>
                        <a:t>測定データから、平均値Ｘ及び範囲Ｒを算出し、Ｘ－Ｒ管理図に時間順に記入する。</a:t>
                      </a:r>
                      <a:endParaRPr kumimoji="1" lang="en-US" altLang="ja-JP" sz="2000" b="0" dirty="0"/>
                    </a:p>
                    <a:p>
                      <a:pPr marL="457200" indent="-457200">
                        <a:buFont typeface="+mj-ea"/>
                        <a:buAutoNum type="circleNumDbPlain"/>
                      </a:pPr>
                      <a:r>
                        <a:rPr kumimoji="1" lang="ja-JP" altLang="en-US" sz="2000" b="0" dirty="0"/>
                        <a:t>測定データから、</a:t>
                      </a:r>
                      <a:r>
                        <a:rPr kumimoji="1" lang="en-US" altLang="ja-JP" sz="2000" b="0" dirty="0"/>
                        <a:t>CL</a:t>
                      </a:r>
                      <a:r>
                        <a:rPr kumimoji="1" lang="ja-JP" altLang="en-US" sz="2000" b="0" dirty="0"/>
                        <a:t>、</a:t>
                      </a:r>
                      <a:r>
                        <a:rPr kumimoji="1" lang="en-US" altLang="ja-JP" sz="2000" b="0" dirty="0"/>
                        <a:t>UCL</a:t>
                      </a:r>
                      <a:r>
                        <a:rPr kumimoji="1" lang="ja-JP" altLang="en-US" sz="2000" b="0" dirty="0"/>
                        <a:t>及び</a:t>
                      </a:r>
                      <a:r>
                        <a:rPr kumimoji="1" lang="en-US" altLang="ja-JP" sz="2000" b="0" dirty="0"/>
                        <a:t>LCL</a:t>
                      </a:r>
                      <a:r>
                        <a:rPr kumimoji="1" lang="ja-JP" altLang="en-US" sz="2000" b="0" dirty="0"/>
                        <a:t>を算出し、管理図の記入する。</a:t>
                      </a:r>
                      <a:endParaRPr kumimoji="1" lang="en-US" altLang="ja-JP" sz="2000" b="0" dirty="0"/>
                    </a:p>
                  </a:txBody>
                  <a:tcPr/>
                </a:tc>
                <a:extLst>
                  <a:ext uri="{0D108BD9-81ED-4DB2-BD59-A6C34878D82A}">
                    <a16:rowId xmlns:a16="http://schemas.microsoft.com/office/drawing/2014/main" val="2304653593"/>
                  </a:ext>
                </a:extLst>
              </a:tr>
              <a:tr h="223228">
                <a:tc>
                  <a:txBody>
                    <a:bodyPr/>
                    <a:lstStyle/>
                    <a:p>
                      <a:r>
                        <a:rPr kumimoji="1" lang="ja-JP" altLang="en-US" sz="2000" dirty="0"/>
                        <a:t>４</a:t>
                      </a:r>
                      <a:endParaRPr kumimoji="1" lang="en-US" altLang="ja-JP" sz="2000" dirty="0"/>
                    </a:p>
                    <a:p>
                      <a:r>
                        <a:rPr kumimoji="1" lang="ja-JP" altLang="en-US" sz="2000" dirty="0"/>
                        <a:t>評価</a:t>
                      </a:r>
                      <a:endParaRPr kumimoji="1" lang="en-US" altLang="ja-JP" sz="2000" dirty="0"/>
                    </a:p>
                  </a:txBody>
                  <a:tcPr/>
                </a:tc>
                <a:tc>
                  <a:txBody>
                    <a:bodyPr/>
                    <a:lstStyle/>
                    <a:p>
                      <a:r>
                        <a:rPr kumimoji="1" lang="ja-JP" altLang="en-US" sz="2000" dirty="0"/>
                        <a:t>管理外れ状態の有無の評価</a:t>
                      </a:r>
                    </a:p>
                  </a:txBody>
                  <a:tcPr/>
                </a:tc>
                <a:tc>
                  <a:txBody>
                    <a:bodyPr/>
                    <a:lstStyle/>
                    <a:p>
                      <a:pPr marL="457200" indent="-457200">
                        <a:buFont typeface="+mj-ea"/>
                        <a:buAutoNum type="circleNumDbPlain"/>
                      </a:pPr>
                      <a:r>
                        <a:rPr kumimoji="1" lang="ja-JP" altLang="en-US" sz="2000" dirty="0"/>
                        <a:t>管理図の異常判定ルール（</a:t>
                      </a:r>
                      <a:r>
                        <a:rPr kumimoji="1" lang="en-US" altLang="ja-JP" sz="2000" dirty="0"/>
                        <a:t>4.SPC</a:t>
                      </a:r>
                      <a:r>
                        <a:rPr kumimoji="1" lang="ja-JP" altLang="en-US" sz="2000" dirty="0"/>
                        <a:t>参照）に従い、管理外れ状態の有無を評価する。</a:t>
                      </a:r>
                      <a:endParaRPr kumimoji="1" lang="en-US" altLang="ja-JP" sz="2000" dirty="0"/>
                    </a:p>
                    <a:p>
                      <a:pPr marL="457200" indent="-457200">
                        <a:buFont typeface="+mj-ea"/>
                        <a:buAutoNum type="circleNumDbPlain"/>
                      </a:pPr>
                      <a:r>
                        <a:rPr kumimoji="1" lang="ja-JP" altLang="en-US" sz="2000" dirty="0"/>
                        <a:t>管理外れ状態でなければ、測定システムは安定していると判断できる。</a:t>
                      </a:r>
                      <a:endParaRPr kumimoji="1" lang="en-US" altLang="ja-JP" sz="2000" dirty="0"/>
                    </a:p>
                  </a:txBody>
                  <a:tcPr/>
                </a:tc>
                <a:extLst>
                  <a:ext uri="{0D108BD9-81ED-4DB2-BD59-A6C34878D82A}">
                    <a16:rowId xmlns:a16="http://schemas.microsoft.com/office/drawing/2014/main" val="947575258"/>
                  </a:ext>
                </a:extLst>
              </a:tr>
              <a:tr h="223228">
                <a:tc>
                  <a:txBody>
                    <a:bodyPr/>
                    <a:lstStyle/>
                    <a:p>
                      <a:r>
                        <a:rPr kumimoji="1" lang="ja-JP" altLang="en-US" sz="2000" dirty="0"/>
                        <a:t>５</a:t>
                      </a:r>
                      <a:endParaRPr kumimoji="1" lang="en-US" altLang="ja-JP" sz="2000" dirty="0"/>
                    </a:p>
                    <a:p>
                      <a:r>
                        <a:rPr kumimoji="1" lang="ja-JP" altLang="en-US" sz="2000" dirty="0"/>
                        <a:t>改善</a:t>
                      </a:r>
                      <a:endParaRPr kumimoji="1" lang="en-US" altLang="ja-JP" sz="2000" dirty="0"/>
                    </a:p>
                  </a:txBody>
                  <a:tcPr/>
                </a:tc>
                <a:tc>
                  <a:txBody>
                    <a:bodyPr/>
                    <a:lstStyle/>
                    <a:p>
                      <a:r>
                        <a:rPr kumimoji="1" lang="ja-JP" altLang="en-US" sz="2000" dirty="0"/>
                        <a:t>変動の特別原因と調査と対策</a:t>
                      </a:r>
                    </a:p>
                  </a:txBody>
                  <a:tcPr/>
                </a:tc>
                <a:tc>
                  <a:txBody>
                    <a:bodyPr/>
                    <a:lstStyle/>
                    <a:p>
                      <a:pPr marL="457200" indent="-457200">
                        <a:buFont typeface="+mj-ea"/>
                        <a:buAutoNum type="circleNumDbPlain"/>
                      </a:pPr>
                      <a:r>
                        <a:rPr kumimoji="1" lang="ja-JP" altLang="en-US" sz="2000" dirty="0"/>
                        <a:t>管理外れ状態（異常点）が見つかった場合は、製造工程が不安定又は測定システムが安定状態にないと考えられる。</a:t>
                      </a:r>
                      <a:endParaRPr kumimoji="1" lang="en-US" altLang="ja-JP" sz="2000" dirty="0"/>
                    </a:p>
                    <a:p>
                      <a:pPr marL="457200" indent="-457200">
                        <a:buFont typeface="+mj-ea"/>
                        <a:buAutoNum type="circleNumDbPlain"/>
                      </a:pPr>
                      <a:r>
                        <a:rPr kumimoji="1" lang="ja-JP" altLang="en-US" sz="2000" dirty="0"/>
                        <a:t>その場合は、製造工程又は測定システム変動の特別原因を見つけて改善処置をとる。</a:t>
                      </a:r>
                      <a:endParaRPr kumimoji="1" lang="en-US" altLang="ja-JP" sz="2000" dirty="0"/>
                    </a:p>
                  </a:txBody>
                  <a:tcPr/>
                </a:tc>
                <a:extLst>
                  <a:ext uri="{0D108BD9-81ED-4DB2-BD59-A6C34878D82A}">
                    <a16:rowId xmlns:a16="http://schemas.microsoft.com/office/drawing/2014/main" val="2605141639"/>
                  </a:ext>
                </a:extLst>
              </a:tr>
            </a:tbl>
          </a:graphicData>
        </a:graphic>
      </p:graphicFrame>
      <p:cxnSp>
        <p:nvCxnSpPr>
          <p:cNvPr id="6" name="直線コネクタ 5">
            <a:extLst>
              <a:ext uri="{FF2B5EF4-FFF2-40B4-BE49-F238E27FC236}">
                <a16:creationId xmlns:a16="http://schemas.microsoft.com/office/drawing/2014/main" id="{750B5FC8-5B3A-419B-B53F-AC4059768375}"/>
              </a:ext>
            </a:extLst>
          </p:cNvPr>
          <p:cNvCxnSpPr>
            <a:cxnSpLocks/>
          </p:cNvCxnSpPr>
          <p:nvPr/>
        </p:nvCxnSpPr>
        <p:spPr>
          <a:xfrm>
            <a:off x="10303266" y="1838114"/>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1D409F8-CE04-4D14-A569-F058173EA558}"/>
              </a:ext>
            </a:extLst>
          </p:cNvPr>
          <p:cNvCxnSpPr>
            <a:cxnSpLocks/>
          </p:cNvCxnSpPr>
          <p:nvPr/>
        </p:nvCxnSpPr>
        <p:spPr>
          <a:xfrm>
            <a:off x="2217420" y="1838114"/>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6A2C71E-987B-48D3-994E-C573521AB667}"/>
              </a:ext>
            </a:extLst>
          </p:cNvPr>
          <p:cNvCxnSpPr>
            <a:cxnSpLocks/>
          </p:cNvCxnSpPr>
          <p:nvPr/>
        </p:nvCxnSpPr>
        <p:spPr>
          <a:xfrm>
            <a:off x="7512266" y="1838114"/>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7827265"/>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en-US" altLang="ja-JP" sz="2400" dirty="0"/>
              <a:t>GRR</a:t>
            </a:r>
            <a:r>
              <a:rPr lang="ja-JP" altLang="en-US" sz="2400" dirty="0"/>
              <a:t>とは、繰返し性（</a:t>
            </a:r>
            <a:r>
              <a:rPr lang="en-US" altLang="ja-JP" sz="2400" dirty="0"/>
              <a:t>EV</a:t>
            </a:r>
            <a:r>
              <a:rPr lang="ja-JP" altLang="en-US" sz="2400" dirty="0"/>
              <a:t>）</a:t>
            </a:r>
            <a:r>
              <a:rPr lang="en-US" altLang="ja-JP" sz="2400" dirty="0"/>
              <a:t>+</a:t>
            </a:r>
            <a:r>
              <a:rPr lang="ja-JP" altLang="en-US" sz="2400" dirty="0"/>
              <a:t>再現性（</a:t>
            </a:r>
            <a:r>
              <a:rPr lang="en-US" altLang="ja-JP" sz="2400" dirty="0"/>
              <a:t>AV</a:t>
            </a:r>
            <a:r>
              <a:rPr lang="ja-JP" altLang="en-US" sz="2400" dirty="0"/>
              <a:t>）。</a:t>
            </a:r>
            <a:r>
              <a:rPr lang="en-US" altLang="ja-JP" sz="1800" dirty="0"/>
              <a:t>※MSA</a:t>
            </a:r>
            <a:r>
              <a:rPr lang="ja-JP" altLang="en-US" sz="1800" dirty="0"/>
              <a:t>基礎参照</a:t>
            </a:r>
            <a:endParaRPr lang="en-US" altLang="ja-JP" sz="1800" dirty="0"/>
          </a:p>
          <a:p>
            <a:pPr lvl="1">
              <a:lnSpc>
                <a:spcPct val="100000"/>
              </a:lnSpc>
              <a:buFont typeface="Wingdings" panose="05000000000000000000" pitchFamily="2" charset="2"/>
              <a:buChar char="Ø"/>
            </a:pPr>
            <a:r>
              <a:rPr lang="en-US" altLang="ja-JP" dirty="0"/>
              <a:t>GRR</a:t>
            </a:r>
            <a:r>
              <a:rPr lang="ja-JP" altLang="en-US" dirty="0"/>
              <a:t>　＝　</a:t>
            </a:r>
            <a:r>
              <a:rPr lang="en-US" altLang="ja-JP" dirty="0"/>
              <a:t>EV</a:t>
            </a:r>
            <a:r>
              <a:rPr lang="ja-JP" altLang="en-US" dirty="0"/>
              <a:t>　</a:t>
            </a:r>
            <a:r>
              <a:rPr lang="en-US" altLang="ja-JP" dirty="0"/>
              <a:t>+</a:t>
            </a:r>
            <a:r>
              <a:rPr lang="ja-JP" altLang="en-US" dirty="0"/>
              <a:t>　</a:t>
            </a:r>
            <a:r>
              <a:rPr lang="en-US" altLang="ja-JP" dirty="0"/>
              <a:t>AV</a:t>
            </a:r>
          </a:p>
          <a:p>
            <a:pPr marL="514350" indent="-514350">
              <a:lnSpc>
                <a:spcPct val="100000"/>
              </a:lnSpc>
              <a:buFont typeface="+mj-lt"/>
              <a:buAutoNum type="arabicPeriod"/>
            </a:pPr>
            <a:r>
              <a:rPr lang="ja-JP" altLang="en-US" sz="2400" dirty="0"/>
              <a:t>評価方法は、</a:t>
            </a:r>
            <a:endParaRPr lang="en-US" altLang="ja-JP" sz="2400" dirty="0"/>
          </a:p>
          <a:p>
            <a:pPr marL="971550" lvl="1" indent="-514350">
              <a:lnSpc>
                <a:spcPct val="100000"/>
              </a:lnSpc>
              <a:buFont typeface="+mj-ea"/>
              <a:buAutoNum type="circleNumDbPlain"/>
            </a:pPr>
            <a:r>
              <a:rPr lang="ja-JP" altLang="en-US" b="1" dirty="0"/>
              <a:t>平均値－範囲（</a:t>
            </a:r>
            <a:r>
              <a:rPr lang="en-US" altLang="ja-JP" b="1" dirty="0"/>
              <a:t>X</a:t>
            </a:r>
            <a:r>
              <a:rPr lang="ja-JP" altLang="en-US" b="1" dirty="0"/>
              <a:t>－</a:t>
            </a:r>
            <a:r>
              <a:rPr lang="en-US" altLang="ja-JP" b="1" dirty="0"/>
              <a:t>R</a:t>
            </a:r>
            <a:r>
              <a:rPr lang="ja-JP" altLang="en-US" b="1" dirty="0"/>
              <a:t>）法</a:t>
            </a:r>
            <a:endParaRPr lang="en-US" altLang="ja-JP" b="1" dirty="0"/>
          </a:p>
          <a:p>
            <a:pPr marL="971550" lvl="1" indent="-514350">
              <a:lnSpc>
                <a:spcPct val="100000"/>
              </a:lnSpc>
              <a:buFont typeface="+mj-ea"/>
              <a:buAutoNum type="circleNumDbPlain"/>
            </a:pPr>
            <a:r>
              <a:rPr lang="ja-JP" altLang="en-US" sz="2000" dirty="0"/>
              <a:t>範囲法　➠　簡易</a:t>
            </a:r>
            <a:endParaRPr lang="en-US" altLang="ja-JP" sz="2000" dirty="0"/>
          </a:p>
          <a:p>
            <a:pPr marL="971550" lvl="1" indent="-514350">
              <a:lnSpc>
                <a:spcPct val="100000"/>
              </a:lnSpc>
              <a:buFont typeface="+mj-ea"/>
              <a:buAutoNum type="circleNumDbPlain"/>
            </a:pPr>
            <a:r>
              <a:rPr lang="ja-JP" altLang="en-US" sz="2000" dirty="0"/>
              <a:t>分散分析（</a:t>
            </a:r>
            <a:r>
              <a:rPr lang="en-US" altLang="ja-JP" sz="2000" dirty="0"/>
              <a:t>ANOVA</a:t>
            </a:r>
            <a:r>
              <a:rPr lang="ja-JP" altLang="en-US" sz="2000" dirty="0"/>
              <a:t>）法　➠　詳細（</a:t>
            </a:r>
            <a:r>
              <a:rPr lang="en-US" altLang="ja-JP" sz="2000" dirty="0"/>
              <a:t>PC</a:t>
            </a:r>
            <a:r>
              <a:rPr lang="ja-JP" altLang="en-US" sz="2000" dirty="0"/>
              <a:t>ソフトを使用できる場合）</a:t>
            </a:r>
            <a:endParaRPr lang="en-US" altLang="ja-JP" sz="2000" dirty="0"/>
          </a:p>
          <a:p>
            <a:pPr marL="514350" indent="-514350">
              <a:lnSpc>
                <a:spcPct val="100000"/>
              </a:lnSpc>
              <a:buFont typeface="+mj-ea"/>
              <a:buAutoNum type="arabicPeriod"/>
            </a:pPr>
            <a:r>
              <a:rPr lang="ja-JP" altLang="en-US" sz="2400" dirty="0"/>
              <a:t>製品特性の測定結果の変動は</a:t>
            </a:r>
            <a:endParaRPr lang="en-US" altLang="ja-JP" sz="2400" dirty="0"/>
          </a:p>
          <a:p>
            <a:pPr lvl="1">
              <a:lnSpc>
                <a:spcPct val="100000"/>
              </a:lnSpc>
              <a:buFont typeface="Wingdings" panose="05000000000000000000" pitchFamily="2" charset="2"/>
              <a:buChar char="Ø"/>
            </a:pPr>
            <a:r>
              <a:rPr lang="en-US" altLang="ja-JP" dirty="0"/>
              <a:t>TV</a:t>
            </a:r>
            <a:r>
              <a:rPr lang="ja-JP" altLang="en-US" sz="1800" dirty="0"/>
              <a:t>（全変動：測定結果の変動）</a:t>
            </a:r>
            <a:r>
              <a:rPr lang="ja-JP" altLang="en-US" dirty="0"/>
              <a:t>＝</a:t>
            </a:r>
            <a:r>
              <a:rPr lang="en-US" altLang="ja-JP" dirty="0"/>
              <a:t>PV</a:t>
            </a:r>
            <a:r>
              <a:rPr lang="ja-JP" altLang="en-US" sz="1800" dirty="0"/>
              <a:t>（製品特性の実際の変動）</a:t>
            </a:r>
            <a:r>
              <a:rPr lang="en-US" altLang="ja-JP" dirty="0"/>
              <a:t>+GRR</a:t>
            </a:r>
          </a:p>
          <a:p>
            <a:pPr marL="514350" indent="-514350">
              <a:lnSpc>
                <a:spcPct val="100000"/>
              </a:lnSpc>
              <a:buFont typeface="+mj-lt"/>
              <a:buAutoNum type="arabicPeriod"/>
            </a:pPr>
            <a:r>
              <a:rPr lang="ja-JP" altLang="en-US" sz="2400" dirty="0"/>
              <a:t>判定基準として</a:t>
            </a:r>
            <a:r>
              <a:rPr lang="ja-JP" altLang="en-US" sz="2400" u="sng" dirty="0">
                <a:solidFill>
                  <a:srgbClr val="FF0000"/>
                </a:solidFill>
                <a:effectLst>
                  <a:outerShdw blurRad="38100" dist="38100" dir="2700000" algn="tl">
                    <a:srgbClr val="000000">
                      <a:alpha val="43137"/>
                    </a:srgbClr>
                  </a:outerShdw>
                </a:effectLst>
              </a:rPr>
              <a:t>「</a:t>
            </a:r>
            <a:r>
              <a:rPr lang="en-US" altLang="ja-JP" sz="2400" u="sng" dirty="0">
                <a:solidFill>
                  <a:srgbClr val="FF0000"/>
                </a:solidFill>
                <a:effectLst>
                  <a:outerShdw blurRad="38100" dist="38100" dir="2700000" algn="tl">
                    <a:srgbClr val="000000">
                      <a:alpha val="43137"/>
                    </a:srgbClr>
                  </a:outerShdw>
                </a:effectLst>
              </a:rPr>
              <a:t>%GRR</a:t>
            </a:r>
            <a:r>
              <a:rPr lang="ja-JP" altLang="en-US" sz="2400" u="sng" dirty="0">
                <a:solidFill>
                  <a:srgbClr val="FF0000"/>
                </a:solidFill>
                <a:effectLst>
                  <a:outerShdw blurRad="38100" dist="38100" dir="2700000" algn="tl">
                    <a:srgbClr val="000000">
                      <a:alpha val="43137"/>
                    </a:srgbClr>
                  </a:outerShdw>
                </a:effectLst>
              </a:rPr>
              <a:t>」</a:t>
            </a:r>
            <a:r>
              <a:rPr lang="ja-JP" altLang="en-US" sz="1800" u="sng" dirty="0">
                <a:solidFill>
                  <a:srgbClr val="FF0000"/>
                </a:solidFill>
                <a:effectLst>
                  <a:outerShdw blurRad="38100" dist="38100" dir="2700000" algn="tl">
                    <a:srgbClr val="000000">
                      <a:alpha val="43137"/>
                    </a:srgbClr>
                  </a:outerShdw>
                </a:effectLst>
              </a:rPr>
              <a:t>（</a:t>
            </a:r>
            <a:r>
              <a:rPr lang="en-US" altLang="ja-JP" sz="1800" u="sng" dirty="0">
                <a:solidFill>
                  <a:srgbClr val="FF0000"/>
                </a:solidFill>
                <a:effectLst>
                  <a:outerShdw blurRad="38100" dist="38100" dir="2700000" algn="tl">
                    <a:srgbClr val="000000">
                      <a:alpha val="43137"/>
                    </a:srgbClr>
                  </a:outerShdw>
                </a:effectLst>
              </a:rPr>
              <a:t>GRR</a:t>
            </a:r>
            <a:r>
              <a:rPr lang="ja-JP" altLang="en-US" sz="1800" u="sng" dirty="0">
                <a:solidFill>
                  <a:srgbClr val="FF0000"/>
                </a:solidFill>
                <a:effectLst>
                  <a:outerShdw blurRad="38100" dist="38100" dir="2700000" algn="tl">
                    <a:srgbClr val="000000">
                      <a:alpha val="43137"/>
                    </a:srgbClr>
                  </a:outerShdw>
                </a:effectLst>
              </a:rPr>
              <a:t>／</a:t>
            </a:r>
            <a:r>
              <a:rPr lang="en-US" altLang="ja-JP" sz="1800" u="sng" dirty="0">
                <a:solidFill>
                  <a:srgbClr val="FF0000"/>
                </a:solidFill>
                <a:effectLst>
                  <a:outerShdw blurRad="38100" dist="38100" dir="2700000" algn="tl">
                    <a:srgbClr val="000000">
                      <a:alpha val="43137"/>
                    </a:srgbClr>
                  </a:outerShdw>
                </a:effectLst>
              </a:rPr>
              <a:t>TV</a:t>
            </a:r>
            <a:r>
              <a:rPr lang="ja-JP" altLang="en-US" sz="1800" u="sng" dirty="0">
                <a:solidFill>
                  <a:srgbClr val="FF0000"/>
                </a:solidFill>
                <a:effectLst>
                  <a:outerShdw blurRad="38100" dist="38100" dir="2700000" algn="tl">
                    <a:srgbClr val="000000">
                      <a:alpha val="43137"/>
                    </a:srgbClr>
                  </a:outerShdw>
                </a:effectLst>
              </a:rPr>
              <a:t>）</a:t>
            </a:r>
            <a:r>
              <a:rPr lang="ja-JP" altLang="en-US" sz="2400" dirty="0"/>
              <a:t>及び</a:t>
            </a:r>
            <a:r>
              <a:rPr lang="ja-JP" altLang="en-US" sz="2400" u="sng" dirty="0">
                <a:solidFill>
                  <a:srgbClr val="FF0000"/>
                </a:solidFill>
                <a:effectLst>
                  <a:outerShdw blurRad="38100" dist="38100" dir="2700000" algn="tl">
                    <a:srgbClr val="000000">
                      <a:alpha val="43137"/>
                    </a:srgbClr>
                  </a:outerShdw>
                </a:effectLst>
              </a:rPr>
              <a:t>知覚区分数</a:t>
            </a:r>
            <a:r>
              <a:rPr lang="ja-JP" altLang="en-US" sz="1800" u="sng" dirty="0">
                <a:solidFill>
                  <a:srgbClr val="FF0000"/>
                </a:solidFill>
                <a:effectLst>
                  <a:outerShdw blurRad="38100" dist="38100" dir="2700000" algn="tl">
                    <a:srgbClr val="000000">
                      <a:alpha val="43137"/>
                    </a:srgbClr>
                  </a:outerShdw>
                </a:effectLst>
              </a:rPr>
              <a:t>（</a:t>
            </a:r>
            <a:r>
              <a:rPr lang="en-US" altLang="ja-JP" sz="1800" u="sng" dirty="0" err="1">
                <a:solidFill>
                  <a:srgbClr val="FF0000"/>
                </a:solidFill>
                <a:effectLst>
                  <a:outerShdw blurRad="38100" dist="38100" dir="2700000" algn="tl">
                    <a:srgbClr val="000000">
                      <a:alpha val="43137"/>
                    </a:srgbClr>
                  </a:outerShdw>
                </a:effectLst>
              </a:rPr>
              <a:t>ndc</a:t>
            </a:r>
            <a:r>
              <a:rPr lang="ja-JP" altLang="en-US" sz="1800" u="sng" dirty="0">
                <a:solidFill>
                  <a:srgbClr val="FF0000"/>
                </a:solidFill>
                <a:effectLst>
                  <a:outerShdw blurRad="38100" dist="38100" dir="2700000" algn="tl">
                    <a:srgbClr val="000000">
                      <a:alpha val="43137"/>
                    </a:srgbClr>
                  </a:outerShdw>
                </a:effectLst>
              </a:rPr>
              <a:t>）</a:t>
            </a:r>
            <a:r>
              <a:rPr lang="ja-JP" altLang="en-US" sz="2400" dirty="0"/>
              <a:t>を使用する。</a:t>
            </a:r>
            <a:endParaRPr lang="en-US" altLang="ja-JP" sz="2400" dirty="0"/>
          </a:p>
          <a:p>
            <a:pPr lvl="1">
              <a:lnSpc>
                <a:spcPct val="100000"/>
              </a:lnSpc>
              <a:buFont typeface="Wingdings" panose="05000000000000000000" pitchFamily="2" charset="2"/>
              <a:buChar char="Ø"/>
            </a:pPr>
            <a:r>
              <a:rPr lang="en-US" altLang="ja-JP" dirty="0"/>
              <a:t>%GRR</a:t>
            </a:r>
            <a:r>
              <a:rPr lang="ja-JP" altLang="en-US" dirty="0"/>
              <a:t>＝</a:t>
            </a:r>
            <a:r>
              <a:rPr lang="en-US" altLang="ja-JP" dirty="0"/>
              <a:t>100×GRR</a:t>
            </a:r>
            <a:r>
              <a:rPr lang="ja-JP" altLang="en-US" dirty="0"/>
              <a:t>／</a:t>
            </a:r>
            <a:r>
              <a:rPr lang="en-US" altLang="ja-JP" dirty="0"/>
              <a:t>TV</a:t>
            </a:r>
            <a:r>
              <a:rPr lang="ja-JP" altLang="en-US" dirty="0"/>
              <a:t>＝</a:t>
            </a:r>
            <a:r>
              <a:rPr lang="en-US" altLang="ja-JP" dirty="0"/>
              <a:t>100×GRR</a:t>
            </a:r>
            <a:r>
              <a:rPr lang="ja-JP" altLang="en-US" dirty="0"/>
              <a:t>／√（</a:t>
            </a:r>
            <a:r>
              <a:rPr lang="en-US" altLang="ja-JP" dirty="0"/>
              <a:t>PV+GRR</a:t>
            </a:r>
            <a:r>
              <a:rPr lang="ja-JP" altLang="en-US" dirty="0"/>
              <a:t>）</a:t>
            </a:r>
            <a:endParaRPr lang="en-US" altLang="ja-JP" dirty="0"/>
          </a:p>
          <a:p>
            <a:pPr lvl="1">
              <a:lnSpc>
                <a:spcPct val="100000"/>
              </a:lnSpc>
              <a:buFont typeface="Wingdings" panose="05000000000000000000" pitchFamily="2" charset="2"/>
              <a:buChar char="Ø"/>
            </a:pPr>
            <a:r>
              <a:rPr lang="en-US" altLang="ja-JP" dirty="0" err="1"/>
              <a:t>ndc</a:t>
            </a:r>
            <a:r>
              <a:rPr lang="ja-JP" altLang="en-US" dirty="0"/>
              <a:t>＝</a:t>
            </a:r>
            <a:r>
              <a:rPr lang="en-US" altLang="ja-JP" dirty="0"/>
              <a:t>1.41×PV</a:t>
            </a:r>
            <a:r>
              <a:rPr lang="ja-JP" altLang="en-US" dirty="0"/>
              <a:t>／</a:t>
            </a:r>
            <a:r>
              <a:rPr lang="en-US" altLang="ja-JP" dirty="0"/>
              <a:t>GRR</a:t>
            </a:r>
            <a:r>
              <a:rPr lang="ja-JP" altLang="en-US" dirty="0"/>
              <a:t>　➠</a:t>
            </a:r>
            <a:endParaRPr lang="en-US" altLang="ja-JP"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549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a:t>
            </a:r>
          </a:p>
        </p:txBody>
      </p:sp>
      <p:grpSp>
        <p:nvGrpSpPr>
          <p:cNvPr id="2" name="グループ化 1">
            <a:extLst>
              <a:ext uri="{FF2B5EF4-FFF2-40B4-BE49-F238E27FC236}">
                <a16:creationId xmlns:a16="http://schemas.microsoft.com/office/drawing/2014/main" id="{F92C5AAF-C252-4AD8-912F-0994B21B24AB}"/>
              </a:ext>
            </a:extLst>
          </p:cNvPr>
          <p:cNvGrpSpPr/>
          <p:nvPr/>
        </p:nvGrpSpPr>
        <p:grpSpPr>
          <a:xfrm>
            <a:off x="2159306" y="1658037"/>
            <a:ext cx="2884583" cy="336015"/>
            <a:chOff x="2159306" y="1658037"/>
            <a:chExt cx="2884583" cy="336015"/>
          </a:xfrm>
        </p:grpSpPr>
        <p:sp>
          <p:nvSpPr>
            <p:cNvPr id="6" name="正方形/長方形 5">
              <a:extLst>
                <a:ext uri="{FF2B5EF4-FFF2-40B4-BE49-F238E27FC236}">
                  <a16:creationId xmlns:a16="http://schemas.microsoft.com/office/drawing/2014/main" id="{ED22D127-7A0B-4D07-96BD-F983F2A0D41F}"/>
                </a:ext>
              </a:extLst>
            </p:cNvPr>
            <p:cNvSpPr/>
            <p:nvPr/>
          </p:nvSpPr>
          <p:spPr>
            <a:xfrm>
              <a:off x="2159306" y="1685580"/>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8" name="正方形/長方形 7">
              <a:extLst>
                <a:ext uri="{FF2B5EF4-FFF2-40B4-BE49-F238E27FC236}">
                  <a16:creationId xmlns:a16="http://schemas.microsoft.com/office/drawing/2014/main" id="{6D5770DD-CB36-4C19-82CE-C870B119E7DE}"/>
                </a:ext>
              </a:extLst>
            </p:cNvPr>
            <p:cNvSpPr/>
            <p:nvPr/>
          </p:nvSpPr>
          <p:spPr>
            <a:xfrm>
              <a:off x="4735416" y="1665650"/>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10" name="正方形/長方形 9">
              <a:extLst>
                <a:ext uri="{FF2B5EF4-FFF2-40B4-BE49-F238E27FC236}">
                  <a16:creationId xmlns:a16="http://schemas.microsoft.com/office/drawing/2014/main" id="{AF9B05BE-48F1-495E-88E7-D1EAA3D03501}"/>
                </a:ext>
              </a:extLst>
            </p:cNvPr>
            <p:cNvSpPr/>
            <p:nvPr/>
          </p:nvSpPr>
          <p:spPr>
            <a:xfrm>
              <a:off x="3480412" y="1658037"/>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grpSp>
      <p:sp>
        <p:nvSpPr>
          <p:cNvPr id="12" name="正方形/長方形 11">
            <a:extLst>
              <a:ext uri="{FF2B5EF4-FFF2-40B4-BE49-F238E27FC236}">
                <a16:creationId xmlns:a16="http://schemas.microsoft.com/office/drawing/2014/main" id="{4A59E91B-80FE-4D04-B608-6B2AADEDFACD}"/>
              </a:ext>
            </a:extLst>
          </p:cNvPr>
          <p:cNvSpPr/>
          <p:nvPr/>
        </p:nvSpPr>
        <p:spPr>
          <a:xfrm>
            <a:off x="1992216" y="4227072"/>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13" name="正方形/長方形 12">
            <a:extLst>
              <a:ext uri="{FF2B5EF4-FFF2-40B4-BE49-F238E27FC236}">
                <a16:creationId xmlns:a16="http://schemas.microsoft.com/office/drawing/2014/main" id="{332D1366-4682-4005-A7A9-49BAB7E5AF88}"/>
              </a:ext>
            </a:extLst>
          </p:cNvPr>
          <p:cNvSpPr/>
          <p:nvPr/>
        </p:nvSpPr>
        <p:spPr>
          <a:xfrm>
            <a:off x="9186229" y="4227072"/>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14" name="正方形/長方形 13">
            <a:extLst>
              <a:ext uri="{FF2B5EF4-FFF2-40B4-BE49-F238E27FC236}">
                <a16:creationId xmlns:a16="http://schemas.microsoft.com/office/drawing/2014/main" id="{FD9DF3EB-A946-4D5C-93BF-155E41668734}"/>
              </a:ext>
            </a:extLst>
          </p:cNvPr>
          <p:cNvSpPr/>
          <p:nvPr/>
        </p:nvSpPr>
        <p:spPr>
          <a:xfrm>
            <a:off x="5589222" y="4212650"/>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15" name="正方形/長方形 14">
            <a:extLst>
              <a:ext uri="{FF2B5EF4-FFF2-40B4-BE49-F238E27FC236}">
                <a16:creationId xmlns:a16="http://schemas.microsoft.com/office/drawing/2014/main" id="{1C945238-0C4F-448F-B219-4CD9E9995D9E}"/>
              </a:ext>
            </a:extLst>
          </p:cNvPr>
          <p:cNvSpPr/>
          <p:nvPr/>
        </p:nvSpPr>
        <p:spPr>
          <a:xfrm>
            <a:off x="8617025" y="5123053"/>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sp>
        <p:nvSpPr>
          <p:cNvPr id="16" name="正方形/長方形 15">
            <a:extLst>
              <a:ext uri="{FF2B5EF4-FFF2-40B4-BE49-F238E27FC236}">
                <a16:creationId xmlns:a16="http://schemas.microsoft.com/office/drawing/2014/main" id="{53598D92-00BE-4330-B5D8-D22F6D11AB8C}"/>
              </a:ext>
            </a:extLst>
          </p:cNvPr>
          <p:cNvSpPr/>
          <p:nvPr/>
        </p:nvSpPr>
        <p:spPr>
          <a:xfrm>
            <a:off x="7844927" y="5108631"/>
            <a:ext cx="308473" cy="308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２</a:t>
            </a:r>
          </a:p>
        </p:txBody>
      </p:sp>
      <p:cxnSp>
        <p:nvCxnSpPr>
          <p:cNvPr id="17" name="直線コネクタ 16">
            <a:extLst>
              <a:ext uri="{FF2B5EF4-FFF2-40B4-BE49-F238E27FC236}">
                <a16:creationId xmlns:a16="http://schemas.microsoft.com/office/drawing/2014/main" id="{CC905F38-DE44-47CE-8877-2AEEEEA6AEA8}"/>
              </a:ext>
            </a:extLst>
          </p:cNvPr>
          <p:cNvCxnSpPr>
            <a:cxnSpLocks/>
          </p:cNvCxnSpPr>
          <p:nvPr/>
        </p:nvCxnSpPr>
        <p:spPr>
          <a:xfrm>
            <a:off x="4038600" y="2731205"/>
            <a:ext cx="1685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正方形/長方形 2">
            <a:extLst>
              <a:ext uri="{FF2B5EF4-FFF2-40B4-BE49-F238E27FC236}">
                <a16:creationId xmlns:a16="http://schemas.microsoft.com/office/drawing/2014/main" id="{C1BC00B4-474E-4F16-B402-5EEBA4AD3B26}"/>
              </a:ext>
            </a:extLst>
          </p:cNvPr>
          <p:cNvSpPr/>
          <p:nvPr/>
        </p:nvSpPr>
        <p:spPr>
          <a:xfrm>
            <a:off x="5411449" y="5726243"/>
            <a:ext cx="5942350" cy="6156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tx1"/>
                </a:solidFill>
              </a:rPr>
              <a:t>※</a:t>
            </a:r>
            <a:r>
              <a:rPr kumimoji="1" lang="ja-JP" altLang="en-US" sz="1600" dirty="0">
                <a:solidFill>
                  <a:schemeClr val="tx1"/>
                </a:solidFill>
              </a:rPr>
              <a:t>一般的分解能➠</a:t>
            </a:r>
            <a:r>
              <a:rPr kumimoji="1" lang="en-US" altLang="ja-JP" sz="1600" dirty="0">
                <a:solidFill>
                  <a:schemeClr val="tx1"/>
                </a:solidFill>
              </a:rPr>
              <a:t>1/10</a:t>
            </a:r>
            <a:r>
              <a:rPr lang="ja-JP" altLang="en-US" sz="1600" dirty="0">
                <a:solidFill>
                  <a:schemeClr val="tx1"/>
                </a:solidFill>
              </a:rPr>
              <a:t>。</a:t>
            </a:r>
            <a:r>
              <a:rPr kumimoji="1" lang="ja-JP" altLang="en-US" sz="1600" dirty="0">
                <a:solidFill>
                  <a:schemeClr val="tx1"/>
                </a:solidFill>
              </a:rPr>
              <a:t>目盛半分の読取り可能を考慮し</a:t>
            </a:r>
            <a:r>
              <a:rPr kumimoji="1" lang="en-US" altLang="ja-JP" sz="1600" dirty="0">
                <a:solidFill>
                  <a:schemeClr val="tx1"/>
                </a:solidFill>
              </a:rPr>
              <a:t>1/5</a:t>
            </a:r>
            <a:r>
              <a:rPr lang="ja-JP" altLang="en-US" sz="1600" dirty="0">
                <a:solidFill>
                  <a:schemeClr val="tx1"/>
                </a:solidFill>
              </a:rPr>
              <a:t>。</a:t>
            </a:r>
            <a:endParaRPr kumimoji="1" lang="en-US" altLang="ja-JP" sz="1600" dirty="0">
              <a:solidFill>
                <a:schemeClr val="tx1"/>
              </a:solidFill>
            </a:endParaRPr>
          </a:p>
          <a:p>
            <a:r>
              <a:rPr lang="en-US" altLang="ja-JP" sz="1600" dirty="0">
                <a:solidFill>
                  <a:schemeClr val="tx1"/>
                </a:solidFill>
              </a:rPr>
              <a:t>※</a:t>
            </a:r>
            <a:r>
              <a:rPr lang="ja-JP" altLang="en-US" sz="1600" dirty="0">
                <a:solidFill>
                  <a:schemeClr val="tx1"/>
                </a:solidFill>
              </a:rPr>
              <a:t>√</a:t>
            </a:r>
            <a:r>
              <a:rPr lang="en-US" altLang="ja-JP" sz="1600" dirty="0">
                <a:solidFill>
                  <a:schemeClr val="tx1"/>
                </a:solidFill>
              </a:rPr>
              <a:t>2</a:t>
            </a:r>
            <a:r>
              <a:rPr lang="ja-JP" altLang="en-US" sz="1600" dirty="0">
                <a:solidFill>
                  <a:schemeClr val="tx1"/>
                </a:solidFill>
              </a:rPr>
              <a:t>は</a:t>
            </a:r>
            <a:r>
              <a:rPr lang="en-US" altLang="ja-JP" sz="1600" dirty="0">
                <a:solidFill>
                  <a:schemeClr val="tx1"/>
                </a:solidFill>
              </a:rPr>
              <a:t>97%</a:t>
            </a:r>
            <a:r>
              <a:rPr lang="ja-JP" altLang="en-US" sz="1600" dirty="0">
                <a:solidFill>
                  <a:schemeClr val="tx1"/>
                </a:solidFill>
              </a:rPr>
              <a:t>信頼区間の計数。</a:t>
            </a:r>
            <a:endParaRPr kumimoji="1" lang="ja-JP" altLang="en-US" sz="1600" dirty="0">
              <a:solidFill>
                <a:schemeClr val="tx1"/>
              </a:solidFill>
            </a:endParaRPr>
          </a:p>
        </p:txBody>
      </p:sp>
    </p:spTree>
    <p:extLst>
      <p:ext uri="{BB962C8B-B14F-4D97-AF65-F5344CB8AC3E}">
        <p14:creationId xmlns:p14="http://schemas.microsoft.com/office/powerpoint/2010/main" val="2027817750"/>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endParaRPr lang="en-US" altLang="ja-JP" sz="18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a:t>
            </a:r>
          </a:p>
        </p:txBody>
      </p:sp>
      <p:grpSp>
        <p:nvGrpSpPr>
          <p:cNvPr id="42" name="グループ化 41">
            <a:extLst>
              <a:ext uri="{FF2B5EF4-FFF2-40B4-BE49-F238E27FC236}">
                <a16:creationId xmlns:a16="http://schemas.microsoft.com/office/drawing/2014/main" id="{0C84BD3D-2161-48B0-BE8C-E55BC4CE5983}"/>
              </a:ext>
            </a:extLst>
          </p:cNvPr>
          <p:cNvGrpSpPr/>
          <p:nvPr/>
        </p:nvGrpSpPr>
        <p:grpSpPr>
          <a:xfrm>
            <a:off x="925418" y="1465244"/>
            <a:ext cx="4628904" cy="2629246"/>
            <a:chOff x="-3175" y="3175"/>
            <a:chExt cx="2673299" cy="2474966"/>
          </a:xfrm>
        </p:grpSpPr>
        <p:cxnSp>
          <p:nvCxnSpPr>
            <p:cNvPr id="43" name="直線コネクタ 42">
              <a:extLst>
                <a:ext uri="{FF2B5EF4-FFF2-40B4-BE49-F238E27FC236}">
                  <a16:creationId xmlns:a16="http://schemas.microsoft.com/office/drawing/2014/main" id="{01F7285A-43D8-4182-B391-9F3CB3378FED}"/>
                </a:ext>
              </a:extLst>
            </p:cNvPr>
            <p:cNvCxnSpPr/>
            <p:nvPr/>
          </p:nvCxnSpPr>
          <p:spPr>
            <a:xfrm flipH="1">
              <a:off x="1572133" y="85177"/>
              <a:ext cx="0" cy="161003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ACF64F1E-1422-448B-B1F3-5CE77BD20F7E}"/>
                </a:ext>
              </a:extLst>
            </p:cNvPr>
            <p:cNvCxnSpPr/>
            <p:nvPr/>
          </p:nvCxnSpPr>
          <p:spPr>
            <a:xfrm flipH="1">
              <a:off x="1055958" y="85177"/>
              <a:ext cx="0" cy="161324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E453DCAB-9D05-44B2-97CA-D906BA2E0C8B}"/>
                </a:ext>
              </a:extLst>
            </p:cNvPr>
            <p:cNvGrpSpPr/>
            <p:nvPr/>
          </p:nvGrpSpPr>
          <p:grpSpPr>
            <a:xfrm>
              <a:off x="-3175" y="3175"/>
              <a:ext cx="2673299" cy="2474966"/>
              <a:chOff x="-3175" y="3175"/>
              <a:chExt cx="2673299" cy="2474966"/>
            </a:xfrm>
          </p:grpSpPr>
          <p:grpSp>
            <p:nvGrpSpPr>
              <p:cNvPr id="46" name="グループ化 45">
                <a:extLst>
                  <a:ext uri="{FF2B5EF4-FFF2-40B4-BE49-F238E27FC236}">
                    <a16:creationId xmlns:a16="http://schemas.microsoft.com/office/drawing/2014/main" id="{9A354C1A-E485-4084-8E1E-C6D8A5BF4EE8}"/>
                  </a:ext>
                </a:extLst>
              </p:cNvPr>
              <p:cNvGrpSpPr/>
              <p:nvPr/>
            </p:nvGrpSpPr>
            <p:grpSpPr>
              <a:xfrm>
                <a:off x="56599" y="180968"/>
                <a:ext cx="1993712" cy="1499999"/>
                <a:chOff x="56599" y="180968"/>
                <a:chExt cx="1997345" cy="1512274"/>
              </a:xfrm>
            </p:grpSpPr>
            <p:sp>
              <p:nvSpPr>
                <p:cNvPr id="68" name="フリーフォーム: 図形 67">
                  <a:extLst>
                    <a:ext uri="{FF2B5EF4-FFF2-40B4-BE49-F238E27FC236}">
                      <a16:creationId xmlns:a16="http://schemas.microsoft.com/office/drawing/2014/main" id="{CC6EA9E5-F8AA-463E-9B3F-613C2911E7AF}"/>
                    </a:ext>
                  </a:extLst>
                </p:cNvPr>
                <p:cNvSpPr/>
                <p:nvPr/>
              </p:nvSpPr>
              <p:spPr>
                <a:xfrm>
                  <a:off x="1052805" y="181179"/>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9" name="フリーフォーム: 図形 68">
                  <a:extLst>
                    <a:ext uri="{FF2B5EF4-FFF2-40B4-BE49-F238E27FC236}">
                      <a16:creationId xmlns:a16="http://schemas.microsoft.com/office/drawing/2014/main" id="{EE0BB662-FC37-42AF-A1A8-4CD9878BDD66}"/>
                    </a:ext>
                  </a:extLst>
                </p:cNvPr>
                <p:cNvSpPr/>
                <p:nvPr/>
              </p:nvSpPr>
              <p:spPr>
                <a:xfrm>
                  <a:off x="56599" y="180968"/>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grpSp>
            <p:nvGrpSpPr>
              <p:cNvPr id="47" name="グループ化 46">
                <a:extLst>
                  <a:ext uri="{FF2B5EF4-FFF2-40B4-BE49-F238E27FC236}">
                    <a16:creationId xmlns:a16="http://schemas.microsoft.com/office/drawing/2014/main" id="{AEFE8204-BD44-4177-8D9D-C1E62C489A17}"/>
                  </a:ext>
                </a:extLst>
              </p:cNvPr>
              <p:cNvGrpSpPr/>
              <p:nvPr/>
            </p:nvGrpSpPr>
            <p:grpSpPr>
              <a:xfrm>
                <a:off x="568414" y="189209"/>
                <a:ext cx="1987330" cy="1488613"/>
                <a:chOff x="568414" y="189209"/>
                <a:chExt cx="1997345" cy="1512274"/>
              </a:xfrm>
            </p:grpSpPr>
            <p:sp>
              <p:nvSpPr>
                <p:cNvPr id="66" name="フリーフォーム: 図形 65">
                  <a:extLst>
                    <a:ext uri="{FF2B5EF4-FFF2-40B4-BE49-F238E27FC236}">
                      <a16:creationId xmlns:a16="http://schemas.microsoft.com/office/drawing/2014/main" id="{064CE081-CAF6-43BF-B86D-6FE45D027950}"/>
                    </a:ext>
                  </a:extLst>
                </p:cNvPr>
                <p:cNvSpPr/>
                <p:nvPr/>
              </p:nvSpPr>
              <p:spPr>
                <a:xfrm>
                  <a:off x="1564620" y="189420"/>
                  <a:ext cx="1001139" cy="1512063"/>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7" name="フリーフォーム: 図形 66">
                  <a:extLst>
                    <a:ext uri="{FF2B5EF4-FFF2-40B4-BE49-F238E27FC236}">
                      <a16:creationId xmlns:a16="http://schemas.microsoft.com/office/drawing/2014/main" id="{5F599407-0658-4CEE-B339-99B89E80AB80}"/>
                    </a:ext>
                  </a:extLst>
                </p:cNvPr>
                <p:cNvSpPr/>
                <p:nvPr/>
              </p:nvSpPr>
              <p:spPr>
                <a:xfrm>
                  <a:off x="568414" y="189209"/>
                  <a:ext cx="991719" cy="151227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grpSp>
          <p:cxnSp>
            <p:nvCxnSpPr>
              <p:cNvPr id="48" name="直線コネクタ 47">
                <a:extLst>
                  <a:ext uri="{FF2B5EF4-FFF2-40B4-BE49-F238E27FC236}">
                    <a16:creationId xmlns:a16="http://schemas.microsoft.com/office/drawing/2014/main" id="{E509B704-C70F-4ECA-91D4-88ECA9F6D1F8}"/>
                  </a:ext>
                </a:extLst>
              </p:cNvPr>
              <p:cNvCxnSpPr/>
              <p:nvPr/>
            </p:nvCxnSpPr>
            <p:spPr>
              <a:xfrm>
                <a:off x="201" y="1699240"/>
                <a:ext cx="266992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D7D205F6-565F-4105-B9D3-1B046786E175}"/>
                  </a:ext>
                </a:extLst>
              </p:cNvPr>
              <p:cNvSpPr/>
              <p:nvPr/>
            </p:nvSpPr>
            <p:spPr>
              <a:xfrm>
                <a:off x="-3175" y="373770"/>
                <a:ext cx="795559" cy="226301"/>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測定者Ａ</a:t>
                </a:r>
                <a:endParaRPr kumimoji="1" lang="en-US" altLang="ja-JP" sz="1100">
                  <a:solidFill>
                    <a:schemeClr val="tx1"/>
                  </a:solidFill>
                </a:endParaRPr>
              </a:p>
            </p:txBody>
          </p:sp>
          <p:cxnSp>
            <p:nvCxnSpPr>
              <p:cNvPr id="50" name="直線矢印コネクタ 49">
                <a:extLst>
                  <a:ext uri="{FF2B5EF4-FFF2-40B4-BE49-F238E27FC236}">
                    <a16:creationId xmlns:a16="http://schemas.microsoft.com/office/drawing/2014/main" id="{AF6117C4-DC90-4E5A-B326-20AAF6FD5BA7}"/>
                  </a:ext>
                </a:extLst>
              </p:cNvPr>
              <p:cNvCxnSpPr>
                <a:stCxn id="49" idx="2"/>
                <a:endCxn id="69" idx="3"/>
              </p:cNvCxnSpPr>
              <p:nvPr/>
            </p:nvCxnSpPr>
            <p:spPr>
              <a:xfrm>
                <a:off x="396935" y="600071"/>
                <a:ext cx="399718" cy="33563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AB79E665-4F09-453A-AE77-61B2C06F11ED}"/>
                  </a:ext>
                </a:extLst>
              </p:cNvPr>
              <p:cNvSpPr/>
              <p:nvPr/>
            </p:nvSpPr>
            <p:spPr>
              <a:xfrm>
                <a:off x="1776416" y="392631"/>
                <a:ext cx="759703" cy="229741"/>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測定者Ｂ</a:t>
                </a:r>
                <a:endParaRPr kumimoji="1" lang="en-US" altLang="ja-JP" sz="1100">
                  <a:solidFill>
                    <a:schemeClr val="tx1"/>
                  </a:solidFill>
                </a:endParaRPr>
              </a:p>
            </p:txBody>
          </p:sp>
          <p:cxnSp>
            <p:nvCxnSpPr>
              <p:cNvPr id="52" name="直線矢印コネクタ 51">
                <a:extLst>
                  <a:ext uri="{FF2B5EF4-FFF2-40B4-BE49-F238E27FC236}">
                    <a16:creationId xmlns:a16="http://schemas.microsoft.com/office/drawing/2014/main" id="{FE77CE9E-4BC3-4DC1-A751-962E6E0BC13E}"/>
                  </a:ext>
                </a:extLst>
              </p:cNvPr>
              <p:cNvCxnSpPr>
                <a:stCxn id="51" idx="2"/>
                <a:endCxn id="66" idx="3"/>
              </p:cNvCxnSpPr>
              <p:nvPr/>
            </p:nvCxnSpPr>
            <p:spPr>
              <a:xfrm flipH="1">
                <a:off x="1802682" y="622372"/>
                <a:ext cx="352741" cy="31898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3" name="矢印: 左右 52">
                <a:extLst>
                  <a:ext uri="{FF2B5EF4-FFF2-40B4-BE49-F238E27FC236}">
                    <a16:creationId xmlns:a16="http://schemas.microsoft.com/office/drawing/2014/main" id="{C7267640-22D6-414E-9016-8A15B6CCA72A}"/>
                  </a:ext>
                </a:extLst>
              </p:cNvPr>
              <p:cNvSpPr/>
              <p:nvPr/>
            </p:nvSpPr>
            <p:spPr>
              <a:xfrm>
                <a:off x="1057028" y="3175"/>
                <a:ext cx="545353" cy="112466"/>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54" name="正方形/長方形 53">
                <a:extLst>
                  <a:ext uri="{FF2B5EF4-FFF2-40B4-BE49-F238E27FC236}">
                    <a16:creationId xmlns:a16="http://schemas.microsoft.com/office/drawing/2014/main" id="{CCCB2E06-83AC-4CFF-8FC2-594046A3AB25}"/>
                  </a:ext>
                </a:extLst>
              </p:cNvPr>
              <p:cNvSpPr/>
              <p:nvPr/>
            </p:nvSpPr>
            <p:spPr>
              <a:xfrm>
                <a:off x="1745625" y="134335"/>
                <a:ext cx="469228" cy="170074"/>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ＡＶ</a:t>
                </a:r>
                <a:endParaRPr kumimoji="1" lang="en-US" altLang="ja-JP" sz="1100">
                  <a:solidFill>
                    <a:schemeClr val="tx1"/>
                  </a:solidFill>
                </a:endParaRPr>
              </a:p>
            </p:txBody>
          </p:sp>
          <p:cxnSp>
            <p:nvCxnSpPr>
              <p:cNvPr id="55" name="直線矢印コネクタ 54">
                <a:extLst>
                  <a:ext uri="{FF2B5EF4-FFF2-40B4-BE49-F238E27FC236}">
                    <a16:creationId xmlns:a16="http://schemas.microsoft.com/office/drawing/2014/main" id="{55D210F8-5905-46D7-B147-77E527F20F96}"/>
                  </a:ext>
                </a:extLst>
              </p:cNvPr>
              <p:cNvCxnSpPr>
                <a:stCxn id="54" idx="0"/>
                <a:endCxn id="53" idx="7"/>
              </p:cNvCxnSpPr>
              <p:nvPr/>
            </p:nvCxnSpPr>
            <p:spPr>
              <a:xfrm flipH="1" flipV="1">
                <a:off x="1602381" y="59408"/>
                <a:ext cx="371508" cy="749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3798BBDA-9409-47AF-9538-1A9F77A49C15}"/>
                  </a:ext>
                </a:extLst>
              </p:cNvPr>
              <p:cNvCxnSpPr/>
              <p:nvPr/>
            </p:nvCxnSpPr>
            <p:spPr>
              <a:xfrm>
                <a:off x="2555516" y="1705084"/>
                <a:ext cx="0" cy="7730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44F0FB42-58E7-41F4-9BA6-DEFB84240B83}"/>
                  </a:ext>
                </a:extLst>
              </p:cNvPr>
              <p:cNvCxnSpPr/>
              <p:nvPr/>
            </p:nvCxnSpPr>
            <p:spPr>
              <a:xfrm>
                <a:off x="52771" y="1698296"/>
                <a:ext cx="0" cy="7798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B731D105-E3C8-468E-BAD1-44C8E20CA5AA}"/>
                  </a:ext>
                </a:extLst>
              </p:cNvPr>
              <p:cNvCxnSpPr/>
              <p:nvPr/>
            </p:nvCxnSpPr>
            <p:spPr>
              <a:xfrm>
                <a:off x="569575" y="1698297"/>
                <a:ext cx="0" cy="53307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31E60EF3-D387-444A-90B2-4F9A3C0E8B4A}"/>
                  </a:ext>
                </a:extLst>
              </p:cNvPr>
              <p:cNvCxnSpPr/>
              <p:nvPr/>
            </p:nvCxnSpPr>
            <p:spPr>
              <a:xfrm>
                <a:off x="2038054" y="1698297"/>
                <a:ext cx="0" cy="31290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0" name="矢印: 左右 59">
                <a:extLst>
                  <a:ext uri="{FF2B5EF4-FFF2-40B4-BE49-F238E27FC236}">
                    <a16:creationId xmlns:a16="http://schemas.microsoft.com/office/drawing/2014/main" id="{3E3C30AE-0363-4023-BEFA-80C27BA46423}"/>
                  </a:ext>
                </a:extLst>
              </p:cNvPr>
              <p:cNvSpPr/>
              <p:nvPr/>
            </p:nvSpPr>
            <p:spPr>
              <a:xfrm>
                <a:off x="72259" y="1734755"/>
                <a:ext cx="1937538" cy="117502"/>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1" name="矢印: 左右 60">
                <a:extLst>
                  <a:ext uri="{FF2B5EF4-FFF2-40B4-BE49-F238E27FC236}">
                    <a16:creationId xmlns:a16="http://schemas.microsoft.com/office/drawing/2014/main" id="{E88AE010-5363-47FB-8C29-F7EA3E4D386A}"/>
                  </a:ext>
                </a:extLst>
              </p:cNvPr>
              <p:cNvSpPr/>
              <p:nvPr/>
            </p:nvSpPr>
            <p:spPr>
              <a:xfrm>
                <a:off x="602570" y="2067482"/>
                <a:ext cx="1933617" cy="112466"/>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2" name="矢印: 左右 61">
                <a:extLst>
                  <a:ext uri="{FF2B5EF4-FFF2-40B4-BE49-F238E27FC236}">
                    <a16:creationId xmlns:a16="http://schemas.microsoft.com/office/drawing/2014/main" id="{C019C67C-6680-46DF-B858-E978F8138AE5}"/>
                  </a:ext>
                </a:extLst>
              </p:cNvPr>
              <p:cNvSpPr/>
              <p:nvPr/>
            </p:nvSpPr>
            <p:spPr>
              <a:xfrm>
                <a:off x="84840" y="2326389"/>
                <a:ext cx="2451347" cy="112466"/>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3" name="正方形/長方形 62">
                <a:extLst>
                  <a:ext uri="{FF2B5EF4-FFF2-40B4-BE49-F238E27FC236}">
                    <a16:creationId xmlns:a16="http://schemas.microsoft.com/office/drawing/2014/main" id="{897F5F95-2D8A-4D46-9E81-614EDE4562D6}"/>
                  </a:ext>
                </a:extLst>
              </p:cNvPr>
              <p:cNvSpPr/>
              <p:nvPr/>
            </p:nvSpPr>
            <p:spPr>
              <a:xfrm>
                <a:off x="846179" y="1727182"/>
                <a:ext cx="486818" cy="16798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ＥＶ</a:t>
                </a:r>
                <a:endParaRPr kumimoji="1" lang="en-US" altLang="ja-JP" sz="1100">
                  <a:solidFill>
                    <a:schemeClr val="tx1"/>
                  </a:solidFill>
                </a:endParaRPr>
              </a:p>
            </p:txBody>
          </p:sp>
          <p:sp>
            <p:nvSpPr>
              <p:cNvPr id="64" name="正方形/長方形 63">
                <a:extLst>
                  <a:ext uri="{FF2B5EF4-FFF2-40B4-BE49-F238E27FC236}">
                    <a16:creationId xmlns:a16="http://schemas.microsoft.com/office/drawing/2014/main" id="{57EBDEB7-2C91-4F3D-867E-7099F8922968}"/>
                  </a:ext>
                </a:extLst>
              </p:cNvPr>
              <p:cNvSpPr/>
              <p:nvPr/>
            </p:nvSpPr>
            <p:spPr>
              <a:xfrm>
                <a:off x="1267794" y="2028517"/>
                <a:ext cx="496343" cy="16567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ＥＶ</a:t>
                </a:r>
                <a:endParaRPr kumimoji="1" lang="en-US" altLang="ja-JP" sz="1100">
                  <a:solidFill>
                    <a:schemeClr val="tx1"/>
                  </a:solidFill>
                </a:endParaRPr>
              </a:p>
            </p:txBody>
          </p:sp>
          <p:sp>
            <p:nvSpPr>
              <p:cNvPr id="65" name="正方形/長方形 64">
                <a:extLst>
                  <a:ext uri="{FF2B5EF4-FFF2-40B4-BE49-F238E27FC236}">
                    <a16:creationId xmlns:a16="http://schemas.microsoft.com/office/drawing/2014/main" id="{727CBE6E-E962-40D8-976D-89731910940C}"/>
                  </a:ext>
                </a:extLst>
              </p:cNvPr>
              <p:cNvSpPr/>
              <p:nvPr/>
            </p:nvSpPr>
            <p:spPr>
              <a:xfrm>
                <a:off x="942727" y="2286688"/>
                <a:ext cx="617264" cy="17168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ＧＲＲ</a:t>
                </a:r>
                <a:endParaRPr kumimoji="1" lang="en-US" altLang="ja-JP" sz="1100">
                  <a:solidFill>
                    <a:schemeClr val="tx1"/>
                  </a:solidFill>
                </a:endParaRPr>
              </a:p>
            </p:txBody>
          </p:sp>
        </p:grpSp>
      </p:grpSp>
      <p:graphicFrame>
        <p:nvGraphicFramePr>
          <p:cNvPr id="3" name="表 2">
            <a:extLst>
              <a:ext uri="{FF2B5EF4-FFF2-40B4-BE49-F238E27FC236}">
                <a16:creationId xmlns:a16="http://schemas.microsoft.com/office/drawing/2014/main" id="{3DE34F5B-AE17-46E8-AA36-B2D3955FB272}"/>
              </a:ext>
            </a:extLst>
          </p:cNvPr>
          <p:cNvGraphicFramePr>
            <a:graphicFrameLocks noGrp="1"/>
          </p:cNvGraphicFramePr>
          <p:nvPr>
            <p:extLst>
              <p:ext uri="{D42A27DB-BD31-4B8C-83A1-F6EECF244321}">
                <p14:modId xmlns:p14="http://schemas.microsoft.com/office/powerpoint/2010/main" val="3172960702"/>
              </p:ext>
            </p:extLst>
          </p:nvPr>
        </p:nvGraphicFramePr>
        <p:xfrm>
          <a:off x="838199" y="4271278"/>
          <a:ext cx="10515588" cy="1881117"/>
        </p:xfrm>
        <a:graphic>
          <a:graphicData uri="http://schemas.openxmlformats.org/drawingml/2006/table">
            <a:tbl>
              <a:tblPr firstRow="1" bandRow="1">
                <a:tableStyleId>{5940675A-B579-460E-94D1-54222C63F5DA}</a:tableStyleId>
              </a:tblPr>
              <a:tblGrid>
                <a:gridCol w="1321107">
                  <a:extLst>
                    <a:ext uri="{9D8B030D-6E8A-4147-A177-3AD203B41FA5}">
                      <a16:colId xmlns:a16="http://schemas.microsoft.com/office/drawing/2014/main" val="2444430891"/>
                    </a:ext>
                  </a:extLst>
                </a:gridCol>
                <a:gridCol w="2908453">
                  <a:extLst>
                    <a:ext uri="{9D8B030D-6E8A-4147-A177-3AD203B41FA5}">
                      <a16:colId xmlns:a16="http://schemas.microsoft.com/office/drawing/2014/main" val="1138356275"/>
                    </a:ext>
                  </a:extLst>
                </a:gridCol>
                <a:gridCol w="3216925">
                  <a:extLst>
                    <a:ext uri="{9D8B030D-6E8A-4147-A177-3AD203B41FA5}">
                      <a16:colId xmlns:a16="http://schemas.microsoft.com/office/drawing/2014/main" val="2973323609"/>
                    </a:ext>
                  </a:extLst>
                </a:gridCol>
                <a:gridCol w="3069103">
                  <a:extLst>
                    <a:ext uri="{9D8B030D-6E8A-4147-A177-3AD203B41FA5}">
                      <a16:colId xmlns:a16="http://schemas.microsoft.com/office/drawing/2014/main" val="385398542"/>
                    </a:ext>
                  </a:extLst>
                </a:gridCol>
              </a:tblGrid>
              <a:tr h="476992">
                <a:tc>
                  <a:txBody>
                    <a:bodyPr/>
                    <a:lstStyle/>
                    <a:p>
                      <a:pPr algn="ctr"/>
                      <a:endParaRPr kumimoji="1" lang="ja-JP" altLang="en-US" dirty="0">
                        <a:solidFill>
                          <a:schemeClr val="tx1"/>
                        </a:solidFill>
                      </a:endParaRPr>
                    </a:p>
                  </a:txBody>
                  <a:tcPr anchor="ctr">
                    <a:solidFill>
                      <a:schemeClr val="tx2">
                        <a:lumMod val="40000"/>
                        <a:lumOff val="60000"/>
                      </a:schemeClr>
                    </a:solidFill>
                  </a:tcPr>
                </a:tc>
                <a:tc>
                  <a:txBody>
                    <a:bodyPr/>
                    <a:lstStyle/>
                    <a:p>
                      <a:pPr algn="ctr"/>
                      <a:r>
                        <a:rPr kumimoji="1" lang="en-US" altLang="ja-JP" dirty="0">
                          <a:solidFill>
                            <a:schemeClr val="tx1"/>
                          </a:solidFill>
                        </a:rPr>
                        <a:t>%GRR</a:t>
                      </a:r>
                      <a:r>
                        <a:rPr kumimoji="1" lang="ja-JP" altLang="en-US" dirty="0">
                          <a:solidFill>
                            <a:schemeClr val="tx1"/>
                          </a:solidFill>
                        </a:rPr>
                        <a:t>＜</a:t>
                      </a:r>
                      <a:r>
                        <a:rPr kumimoji="1" lang="en-US" altLang="ja-JP" dirty="0">
                          <a:solidFill>
                            <a:schemeClr val="tx1"/>
                          </a:solidFill>
                        </a:rPr>
                        <a:t>10%</a:t>
                      </a:r>
                      <a:endParaRPr kumimoji="1" lang="ja-JP" altLang="en-US" dirty="0">
                        <a:solidFill>
                          <a:schemeClr val="tx1"/>
                        </a:solidFill>
                      </a:endParaRPr>
                    </a:p>
                  </a:txBody>
                  <a:tcPr anchor="ctr">
                    <a:solidFill>
                      <a:schemeClr val="tx2">
                        <a:lumMod val="40000"/>
                        <a:lumOff val="60000"/>
                      </a:schemeClr>
                    </a:solidFill>
                  </a:tcPr>
                </a:tc>
                <a:tc>
                  <a:txBody>
                    <a:bodyPr/>
                    <a:lstStyle/>
                    <a:p>
                      <a:pPr algn="ctr"/>
                      <a:r>
                        <a:rPr kumimoji="1" lang="en-US" altLang="ja-JP" dirty="0">
                          <a:solidFill>
                            <a:schemeClr val="tx1"/>
                          </a:solidFill>
                        </a:rPr>
                        <a:t>10%</a:t>
                      </a:r>
                      <a:r>
                        <a:rPr kumimoji="1" lang="ja-JP" altLang="en-US" dirty="0">
                          <a:solidFill>
                            <a:schemeClr val="tx1"/>
                          </a:solidFill>
                        </a:rPr>
                        <a:t>≦</a:t>
                      </a:r>
                      <a:r>
                        <a:rPr kumimoji="1" lang="en-US" altLang="ja-JP" dirty="0">
                          <a:solidFill>
                            <a:schemeClr val="tx1"/>
                          </a:solidFill>
                        </a:rPr>
                        <a:t>%GRR</a:t>
                      </a:r>
                      <a:r>
                        <a:rPr kumimoji="1" lang="ja-JP" altLang="en-US" dirty="0">
                          <a:solidFill>
                            <a:schemeClr val="tx1"/>
                          </a:solidFill>
                        </a:rPr>
                        <a:t>≦</a:t>
                      </a:r>
                      <a:r>
                        <a:rPr kumimoji="1" lang="en-US" altLang="ja-JP" dirty="0">
                          <a:solidFill>
                            <a:schemeClr val="tx1"/>
                          </a:solidFill>
                        </a:rPr>
                        <a:t>30%</a:t>
                      </a:r>
                      <a:endParaRPr kumimoji="1" lang="ja-JP" altLang="en-US" dirty="0">
                        <a:solidFill>
                          <a:schemeClr val="tx1"/>
                        </a:solidFill>
                      </a:endParaRPr>
                    </a:p>
                  </a:txBody>
                  <a:tcPr anchor="ctr">
                    <a:solidFill>
                      <a:schemeClr val="tx2">
                        <a:lumMod val="40000"/>
                        <a:lumOff val="60000"/>
                      </a:schemeClr>
                    </a:solidFill>
                  </a:tcPr>
                </a:tc>
                <a:tc>
                  <a:txBody>
                    <a:bodyPr/>
                    <a:lstStyle/>
                    <a:p>
                      <a:pPr algn="ctr"/>
                      <a:r>
                        <a:rPr kumimoji="1" lang="en-US" altLang="ja-JP" dirty="0">
                          <a:solidFill>
                            <a:schemeClr val="tx1"/>
                          </a:solidFill>
                        </a:rPr>
                        <a:t>30%</a:t>
                      </a:r>
                      <a:r>
                        <a:rPr kumimoji="1" lang="ja-JP" altLang="en-US" dirty="0">
                          <a:solidFill>
                            <a:schemeClr val="tx1"/>
                          </a:solidFill>
                        </a:rPr>
                        <a:t>＜</a:t>
                      </a:r>
                      <a:r>
                        <a:rPr kumimoji="1" lang="en-US" altLang="ja-JP" dirty="0">
                          <a:solidFill>
                            <a:schemeClr val="tx1"/>
                          </a:solidFill>
                        </a:rPr>
                        <a:t>%GRR</a:t>
                      </a:r>
                      <a:endParaRPr kumimoji="1" lang="ja-JP" altLang="en-US" dirty="0">
                        <a:solidFill>
                          <a:schemeClr val="tx1"/>
                        </a:solidFill>
                      </a:endParaRPr>
                    </a:p>
                  </a:txBody>
                  <a:tcPr anchor="ctr">
                    <a:solidFill>
                      <a:schemeClr val="tx2">
                        <a:lumMod val="40000"/>
                        <a:lumOff val="60000"/>
                      </a:schemeClr>
                    </a:solidFill>
                  </a:tcPr>
                </a:tc>
                <a:extLst>
                  <a:ext uri="{0D108BD9-81ED-4DB2-BD59-A6C34878D82A}">
                    <a16:rowId xmlns:a16="http://schemas.microsoft.com/office/drawing/2014/main" val="506533434"/>
                  </a:ext>
                </a:extLst>
              </a:tr>
              <a:tr h="1404125">
                <a:tc>
                  <a:txBody>
                    <a:bodyPr/>
                    <a:lstStyle/>
                    <a:p>
                      <a:r>
                        <a:rPr kumimoji="1" lang="ja-JP" altLang="en-US" sz="2000" b="1" dirty="0"/>
                        <a:t>評価基準</a:t>
                      </a:r>
                    </a:p>
                  </a:txBody>
                  <a:tcPr/>
                </a:tc>
                <a:tc>
                  <a:txBody>
                    <a:bodyPr/>
                    <a:lstStyle/>
                    <a:p>
                      <a:r>
                        <a:rPr kumimoji="1" lang="ja-JP" altLang="en-US" sz="2000" b="1" dirty="0"/>
                        <a:t>合格</a:t>
                      </a:r>
                      <a:endParaRPr kumimoji="1" lang="en-US" altLang="ja-JP" sz="2000" b="1" dirty="0"/>
                    </a:p>
                    <a:p>
                      <a:r>
                        <a:rPr kumimoji="1" lang="ja-JP" altLang="en-US" dirty="0"/>
                        <a:t>測定システムは許容できる。</a:t>
                      </a:r>
                    </a:p>
                  </a:txBody>
                  <a:tcPr/>
                </a:tc>
                <a:tc>
                  <a:txBody>
                    <a:bodyPr/>
                    <a:lstStyle/>
                    <a:p>
                      <a:r>
                        <a:rPr kumimoji="1" lang="ja-JP" altLang="en-US" sz="2000" b="1" dirty="0"/>
                        <a:t>条件付き合格</a:t>
                      </a:r>
                      <a:endParaRPr kumimoji="1" lang="en-US" altLang="ja-JP" sz="2000" b="1" dirty="0"/>
                    </a:p>
                    <a:p>
                      <a:r>
                        <a:rPr kumimoji="1" lang="ja-JP" altLang="en-US" dirty="0"/>
                        <a:t>測定の重要度、改善のためのコストなどの検討結果、許容される場合がある。</a:t>
                      </a:r>
                    </a:p>
                  </a:txBody>
                  <a:tcPr/>
                </a:tc>
                <a:tc>
                  <a:txBody>
                    <a:bodyPr/>
                    <a:lstStyle/>
                    <a:p>
                      <a:r>
                        <a:rPr kumimoji="1" lang="ja-JP" altLang="en-US" sz="2000" b="1" dirty="0"/>
                        <a:t>不合格</a:t>
                      </a:r>
                      <a:endParaRPr kumimoji="1" lang="en-US" altLang="ja-JP" sz="2000" b="1" dirty="0"/>
                    </a:p>
                    <a:p>
                      <a:r>
                        <a:rPr kumimoji="1" lang="ja-JP" altLang="en-US" dirty="0"/>
                        <a:t>測定システムは許容できない。</a:t>
                      </a:r>
                      <a:endParaRPr kumimoji="1" lang="en-US" altLang="ja-JP" dirty="0"/>
                    </a:p>
                    <a:p>
                      <a:r>
                        <a:rPr kumimoji="1" lang="ja-JP" altLang="en-US" dirty="0"/>
                        <a:t>問題を明確にし、是正する。</a:t>
                      </a:r>
                    </a:p>
                  </a:txBody>
                  <a:tcPr/>
                </a:tc>
                <a:extLst>
                  <a:ext uri="{0D108BD9-81ED-4DB2-BD59-A6C34878D82A}">
                    <a16:rowId xmlns:a16="http://schemas.microsoft.com/office/drawing/2014/main" val="2081313579"/>
                  </a:ext>
                </a:extLst>
              </a:tr>
            </a:tbl>
          </a:graphicData>
        </a:graphic>
      </p:graphicFrame>
      <p:grpSp>
        <p:nvGrpSpPr>
          <p:cNvPr id="70" name="グループ化 69">
            <a:extLst>
              <a:ext uri="{FF2B5EF4-FFF2-40B4-BE49-F238E27FC236}">
                <a16:creationId xmlns:a16="http://schemas.microsoft.com/office/drawing/2014/main" id="{08AA9DA5-3C67-4A58-8564-0501A34F47B5}"/>
              </a:ext>
            </a:extLst>
          </p:cNvPr>
          <p:cNvGrpSpPr/>
          <p:nvPr/>
        </p:nvGrpSpPr>
        <p:grpSpPr>
          <a:xfrm>
            <a:off x="6863393" y="1465244"/>
            <a:ext cx="4490405" cy="2587511"/>
            <a:chOff x="0" y="0"/>
            <a:chExt cx="2813958" cy="2387756"/>
          </a:xfrm>
        </p:grpSpPr>
        <p:sp>
          <p:nvSpPr>
            <p:cNvPr id="71" name="フリーフォーム: 図形 70">
              <a:extLst>
                <a:ext uri="{FF2B5EF4-FFF2-40B4-BE49-F238E27FC236}">
                  <a16:creationId xmlns:a16="http://schemas.microsoft.com/office/drawing/2014/main" id="{F6B0269D-8C1A-469F-BBF9-805C75577707}"/>
                </a:ext>
              </a:extLst>
            </p:cNvPr>
            <p:cNvSpPr/>
            <p:nvPr/>
          </p:nvSpPr>
          <p:spPr>
            <a:xfrm>
              <a:off x="1419845" y="62139"/>
              <a:ext cx="986617" cy="1496615"/>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2" name="フリーフォーム: 図形 71">
              <a:extLst>
                <a:ext uri="{FF2B5EF4-FFF2-40B4-BE49-F238E27FC236}">
                  <a16:creationId xmlns:a16="http://schemas.microsoft.com/office/drawing/2014/main" id="{C5203999-FA27-41AE-A0D9-D6DE172A085F}"/>
                </a:ext>
              </a:extLst>
            </p:cNvPr>
            <p:cNvSpPr/>
            <p:nvPr/>
          </p:nvSpPr>
          <p:spPr>
            <a:xfrm>
              <a:off x="422276" y="65105"/>
              <a:ext cx="986740" cy="1496824"/>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3" name="フリーフォーム: 図形 72">
              <a:extLst>
                <a:ext uri="{FF2B5EF4-FFF2-40B4-BE49-F238E27FC236}">
                  <a16:creationId xmlns:a16="http://schemas.microsoft.com/office/drawing/2014/main" id="{B38FBF1B-2A74-4013-9E93-DC6A0920C40C}"/>
                </a:ext>
              </a:extLst>
            </p:cNvPr>
            <p:cNvSpPr/>
            <p:nvPr/>
          </p:nvSpPr>
          <p:spPr>
            <a:xfrm>
              <a:off x="1414581" y="73554"/>
              <a:ext cx="1313199" cy="1488405"/>
            </a:xfrm>
            <a:custGeom>
              <a:avLst/>
              <a:gdLst>
                <a:gd name="connsiteX0" fmla="*/ 0 w 1009245"/>
                <a:gd name="connsiteY0" fmla="*/ 1101 h 1508888"/>
                <a:gd name="connsiteX1" fmla="*/ 60798 w 1009245"/>
                <a:gd name="connsiteY1" fmla="*/ 37580 h 1508888"/>
                <a:gd name="connsiteX2" fmla="*/ 125649 w 1009245"/>
                <a:gd name="connsiteY2" fmla="*/ 248346 h 1508888"/>
                <a:gd name="connsiteX3" fmla="*/ 247245 w 1009245"/>
                <a:gd name="connsiteY3" fmla="*/ 759048 h 1508888"/>
                <a:gd name="connsiteX4" fmla="*/ 372894 w 1009245"/>
                <a:gd name="connsiteY4" fmla="*/ 1131941 h 1508888"/>
                <a:gd name="connsiteX5" fmla="*/ 628245 w 1009245"/>
                <a:gd name="connsiteY5" fmla="*/ 1379186 h 1508888"/>
                <a:gd name="connsiteX6" fmla="*/ 1009245 w 1009245"/>
                <a:gd name="connsiteY6" fmla="*/ 1508888 h 150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5" h="1508888">
                  <a:moveTo>
                    <a:pt x="0" y="1101"/>
                  </a:moveTo>
                  <a:cubicBezTo>
                    <a:pt x="19928" y="-1263"/>
                    <a:pt x="39857" y="-3627"/>
                    <a:pt x="60798" y="37580"/>
                  </a:cubicBezTo>
                  <a:cubicBezTo>
                    <a:pt x="81739" y="78787"/>
                    <a:pt x="94575" y="128101"/>
                    <a:pt x="125649" y="248346"/>
                  </a:cubicBezTo>
                  <a:cubicBezTo>
                    <a:pt x="156723" y="368591"/>
                    <a:pt x="206038" y="611782"/>
                    <a:pt x="247245" y="759048"/>
                  </a:cubicBezTo>
                  <a:cubicBezTo>
                    <a:pt x="288452" y="906314"/>
                    <a:pt x="309394" y="1028585"/>
                    <a:pt x="372894" y="1131941"/>
                  </a:cubicBezTo>
                  <a:cubicBezTo>
                    <a:pt x="436394" y="1235297"/>
                    <a:pt x="522187" y="1316362"/>
                    <a:pt x="628245" y="1379186"/>
                  </a:cubicBezTo>
                  <a:cubicBezTo>
                    <a:pt x="734303" y="1442010"/>
                    <a:pt x="871774" y="1475449"/>
                    <a:pt x="1009245" y="1508888"/>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4" name="フリーフォーム: 図形 73">
              <a:extLst>
                <a:ext uri="{FF2B5EF4-FFF2-40B4-BE49-F238E27FC236}">
                  <a16:creationId xmlns:a16="http://schemas.microsoft.com/office/drawing/2014/main" id="{ED7DA08E-32DF-40FE-9DA1-DB7B043C43F1}"/>
                </a:ext>
              </a:extLst>
            </p:cNvPr>
            <p:cNvSpPr/>
            <p:nvPr/>
          </p:nvSpPr>
          <p:spPr>
            <a:xfrm>
              <a:off x="93437" y="73346"/>
              <a:ext cx="1320247" cy="1488613"/>
            </a:xfrm>
            <a:custGeom>
              <a:avLst/>
              <a:gdLst>
                <a:gd name="connsiteX0" fmla="*/ 1009244 w 1009244"/>
                <a:gd name="connsiteY0" fmla="*/ 7662 h 1515449"/>
                <a:gd name="connsiteX1" fmla="*/ 944393 w 1009244"/>
                <a:gd name="connsiteY1" fmla="*/ 31981 h 1515449"/>
                <a:gd name="connsiteX2" fmla="*/ 879542 w 1009244"/>
                <a:gd name="connsiteY2" fmla="*/ 263013 h 1515449"/>
                <a:gd name="connsiteX3" fmla="*/ 757946 w 1009244"/>
                <a:gd name="connsiteY3" fmla="*/ 761555 h 1515449"/>
                <a:gd name="connsiteX4" fmla="*/ 636351 w 1009244"/>
                <a:gd name="connsiteY4" fmla="*/ 1138502 h 1515449"/>
                <a:gd name="connsiteX5" fmla="*/ 381000 w 1009244"/>
                <a:gd name="connsiteY5" fmla="*/ 1389800 h 1515449"/>
                <a:gd name="connsiteX6" fmla="*/ 0 w 1009244"/>
                <a:gd name="connsiteY6" fmla="*/ 1515449 h 151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9244" h="1515449">
                  <a:moveTo>
                    <a:pt x="1009244" y="7662"/>
                  </a:moveTo>
                  <a:cubicBezTo>
                    <a:pt x="987627" y="-1458"/>
                    <a:pt x="966010" y="-10577"/>
                    <a:pt x="944393" y="31981"/>
                  </a:cubicBezTo>
                  <a:cubicBezTo>
                    <a:pt x="922776" y="74539"/>
                    <a:pt x="910616" y="141417"/>
                    <a:pt x="879542" y="263013"/>
                  </a:cubicBezTo>
                  <a:cubicBezTo>
                    <a:pt x="848468" y="384609"/>
                    <a:pt x="798478" y="615640"/>
                    <a:pt x="757946" y="761555"/>
                  </a:cubicBezTo>
                  <a:cubicBezTo>
                    <a:pt x="717414" y="907470"/>
                    <a:pt x="699175" y="1033795"/>
                    <a:pt x="636351" y="1138502"/>
                  </a:cubicBezTo>
                  <a:cubicBezTo>
                    <a:pt x="573527" y="1243209"/>
                    <a:pt x="487058" y="1326976"/>
                    <a:pt x="381000" y="1389800"/>
                  </a:cubicBezTo>
                  <a:cubicBezTo>
                    <a:pt x="274942" y="1452624"/>
                    <a:pt x="137471" y="1484036"/>
                    <a:pt x="0" y="1515449"/>
                  </a:cubicBezTo>
                </a:path>
              </a:pathLst>
            </a:custGeom>
            <a:noFill/>
            <a:ln w="38100">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75" name="直線コネクタ 74">
              <a:extLst>
                <a:ext uri="{FF2B5EF4-FFF2-40B4-BE49-F238E27FC236}">
                  <a16:creationId xmlns:a16="http://schemas.microsoft.com/office/drawing/2014/main" id="{44AEDE8D-7AB5-410D-8427-89C344BA21F1}"/>
                </a:ext>
              </a:extLst>
            </p:cNvPr>
            <p:cNvCxnSpPr/>
            <p:nvPr/>
          </p:nvCxnSpPr>
          <p:spPr>
            <a:xfrm flipH="1">
              <a:off x="1423760" y="0"/>
              <a:ext cx="0" cy="16068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6DC541B6-E6EB-4947-903A-9CB7962382B1}"/>
                </a:ext>
              </a:extLst>
            </p:cNvPr>
            <p:cNvCxnSpPr/>
            <p:nvPr/>
          </p:nvCxnSpPr>
          <p:spPr>
            <a:xfrm>
              <a:off x="0" y="1591582"/>
              <a:ext cx="281395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D82E4E1A-3B95-46E2-9E64-8FF38B3D26B1}"/>
                </a:ext>
              </a:extLst>
            </p:cNvPr>
            <p:cNvCxnSpPr/>
            <p:nvPr/>
          </p:nvCxnSpPr>
          <p:spPr>
            <a:xfrm>
              <a:off x="2731345" y="1601546"/>
              <a:ext cx="0" cy="7698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CB99B9DF-D973-4DD6-B5D8-E93CD9B86CBF}"/>
                </a:ext>
              </a:extLst>
            </p:cNvPr>
            <p:cNvCxnSpPr/>
            <p:nvPr/>
          </p:nvCxnSpPr>
          <p:spPr>
            <a:xfrm>
              <a:off x="105682" y="1607911"/>
              <a:ext cx="0" cy="7798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249E74A4-EFEA-4E8F-BE8B-E68F0B291B68}"/>
                </a:ext>
              </a:extLst>
            </p:cNvPr>
            <p:cNvCxnSpPr/>
            <p:nvPr/>
          </p:nvCxnSpPr>
          <p:spPr>
            <a:xfrm>
              <a:off x="431986" y="1578430"/>
              <a:ext cx="0" cy="53307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01525274-2243-4F70-868F-6D0059E801EF}"/>
                </a:ext>
              </a:extLst>
            </p:cNvPr>
            <p:cNvCxnSpPr/>
            <p:nvPr/>
          </p:nvCxnSpPr>
          <p:spPr>
            <a:xfrm>
              <a:off x="2396672" y="1577522"/>
              <a:ext cx="0" cy="5256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1" name="矢印: 左右 80">
              <a:extLst>
                <a:ext uri="{FF2B5EF4-FFF2-40B4-BE49-F238E27FC236}">
                  <a16:creationId xmlns:a16="http://schemas.microsoft.com/office/drawing/2014/main" id="{3C9A6701-E55D-4440-BD5F-FFF1BE204461}"/>
                </a:ext>
              </a:extLst>
            </p:cNvPr>
            <p:cNvSpPr/>
            <p:nvPr/>
          </p:nvSpPr>
          <p:spPr>
            <a:xfrm>
              <a:off x="448653" y="1628755"/>
              <a:ext cx="1939967" cy="121991"/>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2" name="矢印: 左右 81">
              <a:extLst>
                <a:ext uri="{FF2B5EF4-FFF2-40B4-BE49-F238E27FC236}">
                  <a16:creationId xmlns:a16="http://schemas.microsoft.com/office/drawing/2014/main" id="{0D930AC1-A38C-4F85-AA34-8B6AF6BEA583}"/>
                </a:ext>
              </a:extLst>
            </p:cNvPr>
            <p:cNvSpPr/>
            <p:nvPr/>
          </p:nvSpPr>
          <p:spPr>
            <a:xfrm>
              <a:off x="140926" y="2149454"/>
              <a:ext cx="2571308" cy="126032"/>
            </a:xfrm>
            <a:prstGeom prst="leftRightArrow">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3" name="正方形/長方形 82">
              <a:extLst>
                <a:ext uri="{FF2B5EF4-FFF2-40B4-BE49-F238E27FC236}">
                  <a16:creationId xmlns:a16="http://schemas.microsoft.com/office/drawing/2014/main" id="{C391972D-C912-4EC9-852F-8DAD126A1F11}"/>
                </a:ext>
              </a:extLst>
            </p:cNvPr>
            <p:cNvSpPr/>
            <p:nvPr/>
          </p:nvSpPr>
          <p:spPr>
            <a:xfrm>
              <a:off x="1183025" y="1606407"/>
              <a:ext cx="480468" cy="17433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ＰＶ</a:t>
              </a:r>
              <a:endParaRPr kumimoji="1" lang="en-US" altLang="ja-JP" sz="1100">
                <a:solidFill>
                  <a:schemeClr val="tx1"/>
                </a:solidFill>
              </a:endParaRPr>
            </a:p>
          </p:txBody>
        </p:sp>
        <p:sp>
          <p:nvSpPr>
            <p:cNvPr id="84" name="正方形/長方形 83">
              <a:extLst>
                <a:ext uri="{FF2B5EF4-FFF2-40B4-BE49-F238E27FC236}">
                  <a16:creationId xmlns:a16="http://schemas.microsoft.com/office/drawing/2014/main" id="{FDBE4097-CBCC-4ACF-8FA5-6AB1B17721E3}"/>
                </a:ext>
              </a:extLst>
            </p:cNvPr>
            <p:cNvSpPr/>
            <p:nvPr/>
          </p:nvSpPr>
          <p:spPr>
            <a:xfrm>
              <a:off x="1602130" y="1843026"/>
              <a:ext cx="564111" cy="17202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GRR/2</a:t>
              </a:r>
            </a:p>
          </p:txBody>
        </p:sp>
        <p:sp>
          <p:nvSpPr>
            <p:cNvPr id="85" name="正方形/長方形 84">
              <a:extLst>
                <a:ext uri="{FF2B5EF4-FFF2-40B4-BE49-F238E27FC236}">
                  <a16:creationId xmlns:a16="http://schemas.microsoft.com/office/drawing/2014/main" id="{CC5E4A2B-370C-4E40-BBBE-73CDAF2472F7}"/>
                </a:ext>
              </a:extLst>
            </p:cNvPr>
            <p:cNvSpPr/>
            <p:nvPr/>
          </p:nvSpPr>
          <p:spPr>
            <a:xfrm>
              <a:off x="1144527" y="2133380"/>
              <a:ext cx="543429" cy="17254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chemeClr val="tx1"/>
                  </a:solidFill>
                </a:rPr>
                <a:t>ＴＶ</a:t>
              </a:r>
              <a:endParaRPr kumimoji="1" lang="en-US" altLang="ja-JP" sz="1100">
                <a:solidFill>
                  <a:schemeClr val="tx1"/>
                </a:solidFill>
              </a:endParaRPr>
            </a:p>
          </p:txBody>
        </p:sp>
        <p:sp>
          <p:nvSpPr>
            <p:cNvPr id="86" name="矢印: 右 85">
              <a:extLst>
                <a:ext uri="{FF2B5EF4-FFF2-40B4-BE49-F238E27FC236}">
                  <a16:creationId xmlns:a16="http://schemas.microsoft.com/office/drawing/2014/main" id="{C56FA3F4-A837-4F06-8945-7BB8298FD886}"/>
                </a:ext>
              </a:extLst>
            </p:cNvPr>
            <p:cNvSpPr/>
            <p:nvPr/>
          </p:nvSpPr>
          <p:spPr>
            <a:xfrm>
              <a:off x="2175369" y="1863282"/>
              <a:ext cx="199699" cy="117475"/>
            </a:xfrm>
            <a:prstGeom prst="rightArrow">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7" name="矢印: 右 86">
              <a:extLst>
                <a:ext uri="{FF2B5EF4-FFF2-40B4-BE49-F238E27FC236}">
                  <a16:creationId xmlns:a16="http://schemas.microsoft.com/office/drawing/2014/main" id="{6264E4EC-D066-482B-BC02-E41A27F84531}"/>
                </a:ext>
              </a:extLst>
            </p:cNvPr>
            <p:cNvSpPr/>
            <p:nvPr/>
          </p:nvSpPr>
          <p:spPr>
            <a:xfrm rot="10800000">
              <a:off x="447552" y="1865664"/>
              <a:ext cx="202874" cy="120650"/>
            </a:xfrm>
            <a:prstGeom prst="rightArrow">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8" name="正方形/長方形 87">
              <a:extLst>
                <a:ext uri="{FF2B5EF4-FFF2-40B4-BE49-F238E27FC236}">
                  <a16:creationId xmlns:a16="http://schemas.microsoft.com/office/drawing/2014/main" id="{97070B88-FF11-4CF3-8B65-8E5F9E3323E9}"/>
                </a:ext>
              </a:extLst>
            </p:cNvPr>
            <p:cNvSpPr/>
            <p:nvPr/>
          </p:nvSpPr>
          <p:spPr>
            <a:xfrm>
              <a:off x="656525" y="1846325"/>
              <a:ext cx="564111" cy="172027"/>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100">
                  <a:solidFill>
                    <a:schemeClr val="tx1"/>
                  </a:solidFill>
                </a:rPr>
                <a:t>GRR/2</a:t>
              </a:r>
            </a:p>
          </p:txBody>
        </p:sp>
      </p:grpSp>
    </p:spTree>
    <p:extLst>
      <p:ext uri="{BB962C8B-B14F-4D97-AF65-F5344CB8AC3E}">
        <p14:creationId xmlns:p14="http://schemas.microsoft.com/office/powerpoint/2010/main" val="1217057597"/>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測定システムに対する２つの可否判断基準</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a:t>
            </a:r>
          </a:p>
        </p:txBody>
      </p:sp>
      <p:graphicFrame>
        <p:nvGraphicFramePr>
          <p:cNvPr id="3" name="表 10">
            <a:extLst>
              <a:ext uri="{FF2B5EF4-FFF2-40B4-BE49-F238E27FC236}">
                <a16:creationId xmlns:a16="http://schemas.microsoft.com/office/drawing/2014/main" id="{B1D2546C-1381-46BF-BD95-5D165326729D}"/>
              </a:ext>
            </a:extLst>
          </p:cNvPr>
          <p:cNvGraphicFramePr>
            <a:graphicFrameLocks noGrp="1"/>
          </p:cNvGraphicFramePr>
          <p:nvPr>
            <p:extLst>
              <p:ext uri="{D42A27DB-BD31-4B8C-83A1-F6EECF244321}">
                <p14:modId xmlns:p14="http://schemas.microsoft.com/office/powerpoint/2010/main" val="3865618322"/>
              </p:ext>
            </p:extLst>
          </p:nvPr>
        </p:nvGraphicFramePr>
        <p:xfrm>
          <a:off x="838200" y="1975039"/>
          <a:ext cx="10515600" cy="2907921"/>
        </p:xfrm>
        <a:graphic>
          <a:graphicData uri="http://schemas.openxmlformats.org/drawingml/2006/table">
            <a:tbl>
              <a:tblPr firstRow="1" bandRow="1">
                <a:tableStyleId>{5940675A-B579-460E-94D1-54222C63F5DA}</a:tableStyleId>
              </a:tblPr>
              <a:tblGrid>
                <a:gridCol w="3271787">
                  <a:extLst>
                    <a:ext uri="{9D8B030D-6E8A-4147-A177-3AD203B41FA5}">
                      <a16:colId xmlns:a16="http://schemas.microsoft.com/office/drawing/2014/main" val="334043499"/>
                    </a:ext>
                  </a:extLst>
                </a:gridCol>
                <a:gridCol w="3599849">
                  <a:extLst>
                    <a:ext uri="{9D8B030D-6E8A-4147-A177-3AD203B41FA5}">
                      <a16:colId xmlns:a16="http://schemas.microsoft.com/office/drawing/2014/main" val="3152277156"/>
                    </a:ext>
                  </a:extLst>
                </a:gridCol>
                <a:gridCol w="3643964">
                  <a:extLst>
                    <a:ext uri="{9D8B030D-6E8A-4147-A177-3AD203B41FA5}">
                      <a16:colId xmlns:a16="http://schemas.microsoft.com/office/drawing/2014/main" val="388044159"/>
                    </a:ext>
                  </a:extLst>
                </a:gridCol>
              </a:tblGrid>
              <a:tr h="852973">
                <a:tc>
                  <a:txBody>
                    <a:bodyPr/>
                    <a:lstStyle/>
                    <a:p>
                      <a:pPr algn="ctr"/>
                      <a:r>
                        <a:rPr kumimoji="1" lang="ja-JP" altLang="en-US" sz="2000" dirty="0"/>
                        <a:t>判断基準</a:t>
                      </a:r>
                    </a:p>
                  </a:txBody>
                  <a:tcPr anchor="ctr" anchorCtr="1">
                    <a:solidFill>
                      <a:schemeClr val="tx2">
                        <a:lumMod val="40000"/>
                        <a:lumOff val="60000"/>
                      </a:schemeClr>
                    </a:solidFill>
                  </a:tcPr>
                </a:tc>
                <a:tc>
                  <a:txBody>
                    <a:bodyPr/>
                    <a:lstStyle/>
                    <a:p>
                      <a:pPr algn="ctr"/>
                      <a:r>
                        <a:rPr kumimoji="1" lang="ja-JP" altLang="en-US" sz="2000" dirty="0"/>
                        <a:t>工程内計測システム</a:t>
                      </a:r>
                      <a:endParaRPr kumimoji="1" lang="en-US" altLang="ja-JP" sz="2000" dirty="0"/>
                    </a:p>
                    <a:p>
                      <a:pPr algn="ctr"/>
                      <a:r>
                        <a:rPr kumimoji="1" lang="ja-JP" altLang="en-US" sz="2000" dirty="0"/>
                        <a:t>（工程のばらつきに対し使用）</a:t>
                      </a:r>
                    </a:p>
                  </a:txBody>
                  <a:tcPr anchor="ctr" anchorCtr="1">
                    <a:solidFill>
                      <a:schemeClr val="tx2">
                        <a:lumMod val="40000"/>
                        <a:lumOff val="60000"/>
                      </a:schemeClr>
                    </a:solidFill>
                  </a:tcPr>
                </a:tc>
                <a:tc>
                  <a:txBody>
                    <a:bodyPr/>
                    <a:lstStyle/>
                    <a:p>
                      <a:pPr algn="ctr"/>
                      <a:r>
                        <a:rPr kumimoji="1" lang="ja-JP" altLang="en-US" sz="2000" dirty="0"/>
                        <a:t>検査工程計測システム</a:t>
                      </a:r>
                      <a:endParaRPr kumimoji="1" lang="en-US" altLang="ja-JP" sz="2000" dirty="0"/>
                    </a:p>
                    <a:p>
                      <a:pPr algn="ctr"/>
                      <a:r>
                        <a:rPr kumimoji="1" lang="ja-JP" altLang="en-US" sz="2000" dirty="0"/>
                        <a:t>（規格に対し使用）</a:t>
                      </a:r>
                    </a:p>
                  </a:txBody>
                  <a:tcPr anchor="ctr" anchorCtr="1">
                    <a:solidFill>
                      <a:schemeClr val="tx2">
                        <a:lumMod val="40000"/>
                        <a:lumOff val="60000"/>
                      </a:schemeClr>
                    </a:solidFill>
                  </a:tcPr>
                </a:tc>
                <a:extLst>
                  <a:ext uri="{0D108BD9-81ED-4DB2-BD59-A6C34878D82A}">
                    <a16:rowId xmlns:a16="http://schemas.microsoft.com/office/drawing/2014/main" val="1918225062"/>
                  </a:ext>
                </a:extLst>
              </a:tr>
              <a:tr h="634027">
                <a:tc>
                  <a:txBody>
                    <a:bodyPr/>
                    <a:lstStyle/>
                    <a:p>
                      <a:r>
                        <a:rPr kumimoji="1" lang="ja-JP" altLang="en-US" sz="2000" dirty="0"/>
                        <a:t>全変動（ＴＶ）を使用</a:t>
                      </a:r>
                    </a:p>
                  </a:txBody>
                  <a:tcPr anchor="ctr" anchorCtr="1"/>
                </a:tc>
                <a:tc>
                  <a:txBody>
                    <a:bodyPr/>
                    <a:lstStyle/>
                    <a:p>
                      <a:pPr algn="ctr"/>
                      <a:r>
                        <a:rPr kumimoji="1" lang="ja-JP" altLang="en-US" sz="2400" dirty="0"/>
                        <a:t>●</a:t>
                      </a:r>
                    </a:p>
                  </a:txBody>
                  <a:tcPr anchor="ctr" anchorCtr="1"/>
                </a:tc>
                <a:tc>
                  <a:txBody>
                    <a:bodyPr/>
                    <a:lstStyle/>
                    <a:p>
                      <a:pPr algn="ctr"/>
                      <a:endParaRPr kumimoji="1" lang="ja-JP" altLang="en-US" sz="2400" dirty="0"/>
                    </a:p>
                  </a:txBody>
                  <a:tcPr anchor="ctr" anchorCtr="1"/>
                </a:tc>
                <a:extLst>
                  <a:ext uri="{0D108BD9-81ED-4DB2-BD59-A6C34878D82A}">
                    <a16:rowId xmlns:a16="http://schemas.microsoft.com/office/drawing/2014/main" val="1247500947"/>
                  </a:ext>
                </a:extLst>
              </a:tr>
              <a:tr h="634027">
                <a:tc>
                  <a:txBody>
                    <a:bodyPr/>
                    <a:lstStyle/>
                    <a:p>
                      <a:r>
                        <a:rPr kumimoji="1" lang="ja-JP" altLang="en-US" sz="2000" dirty="0"/>
                        <a:t>規格幅（Ｗ）／６を使用</a:t>
                      </a:r>
                    </a:p>
                  </a:txBody>
                  <a:tcPr anchor="ctr" anchorCtr="1"/>
                </a:tc>
                <a:tc>
                  <a:txBody>
                    <a:bodyPr/>
                    <a:lstStyle/>
                    <a:p>
                      <a:pPr algn="ctr"/>
                      <a:endParaRPr kumimoji="1" lang="ja-JP" altLang="en-US" sz="2400" dirty="0"/>
                    </a:p>
                  </a:txBody>
                  <a:tcPr anchor="ctr" anchorCtr="1"/>
                </a:tc>
                <a:tc>
                  <a:txBody>
                    <a:bodyPr/>
                    <a:lstStyle/>
                    <a:p>
                      <a:pPr algn="ctr"/>
                      <a:r>
                        <a:rPr kumimoji="1" lang="ja-JP" altLang="en-US" sz="2400" dirty="0"/>
                        <a:t>●</a:t>
                      </a:r>
                    </a:p>
                  </a:txBody>
                  <a:tcPr anchor="ctr" anchorCtr="1"/>
                </a:tc>
                <a:extLst>
                  <a:ext uri="{0D108BD9-81ED-4DB2-BD59-A6C34878D82A}">
                    <a16:rowId xmlns:a16="http://schemas.microsoft.com/office/drawing/2014/main" val="243209744"/>
                  </a:ext>
                </a:extLst>
              </a:tr>
              <a:tr h="634027">
                <a:tc>
                  <a:txBody>
                    <a:bodyPr/>
                    <a:lstStyle/>
                    <a:p>
                      <a:r>
                        <a:rPr kumimoji="1" lang="ja-JP" altLang="en-US" sz="2000" dirty="0"/>
                        <a:t>％ＧＲＲの式</a:t>
                      </a:r>
                      <a:endParaRPr kumimoji="1" lang="en-US" altLang="ja-JP" sz="2000" dirty="0"/>
                    </a:p>
                  </a:txBody>
                  <a:tcPr anchor="ctr" anchorCtr="1"/>
                </a:tc>
                <a:tc>
                  <a:txBody>
                    <a:bodyPr/>
                    <a:lstStyle/>
                    <a:p>
                      <a:pPr algn="ctr"/>
                      <a:r>
                        <a:rPr kumimoji="1" lang="en-US" altLang="ja-JP" sz="2000" dirty="0"/>
                        <a:t>%GRR</a:t>
                      </a:r>
                      <a:r>
                        <a:rPr kumimoji="1" lang="ja-JP" altLang="en-US" sz="2000" dirty="0"/>
                        <a:t>＝</a:t>
                      </a:r>
                      <a:r>
                        <a:rPr kumimoji="1" lang="en-US" altLang="ja-JP" sz="2000" dirty="0"/>
                        <a:t>100×GRR</a:t>
                      </a:r>
                      <a:r>
                        <a:rPr kumimoji="1" lang="ja-JP" altLang="en-US" sz="2000" dirty="0"/>
                        <a:t>／</a:t>
                      </a:r>
                      <a:r>
                        <a:rPr kumimoji="1" lang="en-US" altLang="ja-JP" sz="2000" dirty="0"/>
                        <a:t>TV</a:t>
                      </a:r>
                      <a:endParaRPr kumimoji="1" lang="ja-JP" altLang="en-US" sz="2000" dirty="0"/>
                    </a:p>
                  </a:txBody>
                  <a:tcPr anchor="ctr" anchorCtr="1"/>
                </a:tc>
                <a:tc>
                  <a:txBody>
                    <a:bodyPr/>
                    <a:lstStyle/>
                    <a:p>
                      <a:pPr algn="ctr"/>
                      <a:r>
                        <a:rPr kumimoji="1" lang="en-US" altLang="ja-JP" sz="2000" dirty="0"/>
                        <a:t>%GRR</a:t>
                      </a:r>
                      <a:r>
                        <a:rPr kumimoji="1" lang="ja-JP" altLang="en-US" sz="2000" dirty="0"/>
                        <a:t>＝</a:t>
                      </a:r>
                      <a:r>
                        <a:rPr kumimoji="1" lang="en-US" altLang="ja-JP" sz="2000" dirty="0"/>
                        <a:t>100×GRR</a:t>
                      </a:r>
                      <a:r>
                        <a:rPr kumimoji="1" lang="ja-JP" altLang="en-US" sz="2000" dirty="0"/>
                        <a:t>／（</a:t>
                      </a:r>
                      <a:r>
                        <a:rPr kumimoji="1" lang="en-US" altLang="ja-JP" sz="2000" dirty="0"/>
                        <a:t>W/6</a:t>
                      </a:r>
                      <a:r>
                        <a:rPr kumimoji="1" lang="ja-JP" altLang="en-US" sz="2000" dirty="0"/>
                        <a:t>）</a:t>
                      </a:r>
                    </a:p>
                  </a:txBody>
                  <a:tcPr anchor="ctr" anchorCtr="1"/>
                </a:tc>
                <a:extLst>
                  <a:ext uri="{0D108BD9-81ED-4DB2-BD59-A6C34878D82A}">
                    <a16:rowId xmlns:a16="http://schemas.microsoft.com/office/drawing/2014/main" val="789468577"/>
                  </a:ext>
                </a:extLst>
              </a:tr>
            </a:tbl>
          </a:graphicData>
        </a:graphic>
      </p:graphicFrame>
      <p:sp>
        <p:nvSpPr>
          <p:cNvPr id="2" name="吹き出し: 角を丸めた四角形 1">
            <a:extLst>
              <a:ext uri="{FF2B5EF4-FFF2-40B4-BE49-F238E27FC236}">
                <a16:creationId xmlns:a16="http://schemas.microsoft.com/office/drawing/2014/main" id="{EF22AD8B-85BB-46BC-A321-1DF50D050283}"/>
              </a:ext>
            </a:extLst>
          </p:cNvPr>
          <p:cNvSpPr/>
          <p:nvPr/>
        </p:nvSpPr>
        <p:spPr>
          <a:xfrm>
            <a:off x="5306518" y="5088056"/>
            <a:ext cx="6047282" cy="1063198"/>
          </a:xfrm>
          <a:prstGeom prst="wedgeRoundRectCallout">
            <a:avLst>
              <a:gd name="adj1" fmla="val -2511"/>
              <a:gd name="adj2" fmla="val -65547"/>
              <a:gd name="adj3" fmla="val 16667"/>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u="sng" dirty="0">
                <a:solidFill>
                  <a:schemeClr val="tx1"/>
                </a:solidFill>
              </a:rPr>
              <a:t>測定システムを使う目的や顧客の要望によって、どちらか又は両方の解析を用いることができる。</a:t>
            </a:r>
            <a:endParaRPr kumimoji="1" lang="en-US" altLang="ja-JP" sz="2000" u="sng" dirty="0">
              <a:solidFill>
                <a:schemeClr val="tx1"/>
              </a:solidFill>
            </a:endParaRPr>
          </a:p>
          <a:p>
            <a:r>
              <a:rPr kumimoji="1" lang="ja-JP" altLang="en-US" sz="1600" dirty="0">
                <a:solidFill>
                  <a:schemeClr val="tx1"/>
                </a:solidFill>
              </a:rPr>
              <a:t>（</a:t>
            </a:r>
            <a:r>
              <a:rPr kumimoji="1" lang="en-US" altLang="ja-JP" sz="1600" dirty="0">
                <a:solidFill>
                  <a:schemeClr val="tx1"/>
                </a:solidFill>
              </a:rPr>
              <a:t>MSA</a:t>
            </a:r>
            <a:r>
              <a:rPr kumimoji="1" lang="ja-JP" altLang="en-US" sz="1600" dirty="0">
                <a:solidFill>
                  <a:schemeClr val="tx1"/>
                </a:solidFill>
              </a:rPr>
              <a:t>レファレンスマニュアル）</a:t>
            </a:r>
            <a:endParaRPr kumimoji="1" lang="en-US" altLang="ja-JP" sz="1600" dirty="0">
              <a:solidFill>
                <a:schemeClr val="tx1"/>
              </a:solidFill>
            </a:endParaRPr>
          </a:p>
        </p:txBody>
      </p:sp>
    </p:spTree>
    <p:extLst>
      <p:ext uri="{BB962C8B-B14F-4D97-AF65-F5344CB8AC3E}">
        <p14:creationId xmlns:p14="http://schemas.microsoft.com/office/powerpoint/2010/main" val="2428422918"/>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a:t>
            </a:r>
          </a:p>
        </p:txBody>
      </p:sp>
      <p:pic>
        <p:nvPicPr>
          <p:cNvPr id="11" name="図 10">
            <a:extLst>
              <a:ext uri="{FF2B5EF4-FFF2-40B4-BE49-F238E27FC236}">
                <a16:creationId xmlns:a16="http://schemas.microsoft.com/office/drawing/2014/main" id="{A87E5C42-3354-479B-AC44-362C285A78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66787"/>
            <a:ext cx="10515599" cy="5049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724422"/>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a:t>
            </a:r>
          </a:p>
        </p:txBody>
      </p:sp>
      <p:pic>
        <p:nvPicPr>
          <p:cNvPr id="7" name="図 6">
            <a:extLst>
              <a:ext uri="{FF2B5EF4-FFF2-40B4-BE49-F238E27FC236}">
                <a16:creationId xmlns:a16="http://schemas.microsoft.com/office/drawing/2014/main" id="{3DB52D49-9417-441A-930B-965546BAC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30325"/>
            <a:ext cx="10515600" cy="502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948854"/>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88125"/>
            <a:ext cx="10515600" cy="49682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u="sng"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4068014901"/>
              </p:ext>
            </p:extLst>
          </p:nvPr>
        </p:nvGraphicFramePr>
        <p:xfrm>
          <a:off x="838200" y="1388127"/>
          <a:ext cx="10515600" cy="493776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338143">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158910">
                <a:tc rowSpan="2">
                  <a:txBody>
                    <a:bodyPr/>
                    <a:lstStyle/>
                    <a:p>
                      <a:r>
                        <a:rPr kumimoji="1" lang="ja-JP" altLang="en-US" sz="2000" dirty="0"/>
                        <a:t>１</a:t>
                      </a:r>
                      <a:endParaRPr kumimoji="1" lang="en-US" altLang="ja-JP" sz="2000" dirty="0"/>
                    </a:p>
                    <a:p>
                      <a:r>
                        <a:rPr kumimoji="1" lang="ja-JP" altLang="en-US" sz="2000" dirty="0"/>
                        <a:t>準備・測定</a:t>
                      </a:r>
                    </a:p>
                  </a:txBody>
                  <a:tcPr/>
                </a:tc>
                <a:tc>
                  <a:txBody>
                    <a:bodyPr/>
                    <a:lstStyle/>
                    <a:p>
                      <a:r>
                        <a:rPr kumimoji="1" lang="ja-JP" altLang="en-US" sz="2000" dirty="0"/>
                        <a:t>サンプル測定の実施</a:t>
                      </a:r>
                    </a:p>
                  </a:txBody>
                  <a:tcPr/>
                </a:tc>
                <a:tc>
                  <a:txBody>
                    <a:bodyPr/>
                    <a:lstStyle/>
                    <a:p>
                      <a:r>
                        <a:rPr kumimoji="1" lang="ja-JP" altLang="en-US" sz="2000" b="1" dirty="0"/>
                        <a:t>～　ステップ１～５は「</a:t>
                      </a:r>
                      <a:r>
                        <a:rPr kumimoji="1" lang="en-US" altLang="ja-JP" sz="2000" b="1" dirty="0"/>
                        <a:t>GRR</a:t>
                      </a:r>
                      <a:r>
                        <a:rPr kumimoji="1" lang="ja-JP" altLang="en-US" sz="2000" b="1" dirty="0"/>
                        <a:t>データシート」を参照　～</a:t>
                      </a:r>
                      <a:endParaRPr kumimoji="1" lang="en-US" altLang="ja-JP" sz="2000" b="1" dirty="0"/>
                    </a:p>
                    <a:p>
                      <a:pPr marL="457200" indent="-457200">
                        <a:buFont typeface="+mj-ea"/>
                        <a:buAutoNum type="circleNumDbPlain"/>
                      </a:pPr>
                      <a:r>
                        <a:rPr kumimoji="1" lang="ja-JP" altLang="en-US" sz="2000" dirty="0"/>
                        <a:t>サンプリング計画を作成し、部品、特性、測定器、測定者数ｍ、サンプル数ｎ、測定回数ｒを決める。</a:t>
                      </a:r>
                      <a:endParaRPr kumimoji="1" lang="en-US" altLang="ja-JP" sz="2000" dirty="0"/>
                    </a:p>
                    <a:p>
                      <a:pPr marL="457200" indent="-457200">
                        <a:buFont typeface="+mj-ea"/>
                        <a:buAutoNum type="circleNumDbPlain"/>
                      </a:pPr>
                      <a:r>
                        <a:rPr kumimoji="1" lang="ja-JP" altLang="en-US" sz="2000" dirty="0"/>
                        <a:t>測定範囲を代表するｎ個（ｎ＞５）のサンプルを選び、測定者Ａにこれらのｎ個のサンプルをランダムな順でｒ回測定させる。</a:t>
                      </a:r>
                      <a:r>
                        <a:rPr kumimoji="1" lang="ja-JP" altLang="en-US" sz="1600" dirty="0"/>
                        <a:t>（可能であればｎ≧</a:t>
                      </a:r>
                      <a:r>
                        <a:rPr kumimoji="1" lang="en-US" altLang="ja-JP" sz="1600" dirty="0"/>
                        <a:t>15</a:t>
                      </a:r>
                      <a:r>
                        <a:rPr kumimoji="1" lang="ja-JP" altLang="en-US" sz="1600" dirty="0"/>
                        <a:t>としたい。）</a:t>
                      </a:r>
                      <a:endParaRPr kumimoji="1" lang="en-US" altLang="ja-JP" sz="1600" dirty="0"/>
                    </a:p>
                    <a:p>
                      <a:pPr marL="457200" indent="-457200">
                        <a:buFont typeface="+mj-ea"/>
                        <a:buAutoNum type="circleNumDbPlain"/>
                      </a:pPr>
                      <a:r>
                        <a:rPr kumimoji="1" lang="ja-JP" altLang="en-US" sz="2000" dirty="0"/>
                        <a:t>測定者Ｂと測定者Ｃにも、同じｎ個のサンプルをランダムな順でｒ回測定させる。</a:t>
                      </a:r>
                      <a:endParaRPr kumimoji="1" lang="en-US" altLang="ja-JP" sz="2000" dirty="0"/>
                    </a:p>
                  </a:txBody>
                  <a:tcPr/>
                </a:tc>
                <a:extLst>
                  <a:ext uri="{0D108BD9-81ED-4DB2-BD59-A6C34878D82A}">
                    <a16:rowId xmlns:a16="http://schemas.microsoft.com/office/drawing/2014/main" val="2304653593"/>
                  </a:ext>
                </a:extLst>
              </a:tr>
              <a:tr h="598252">
                <a:tc vMerge="1">
                  <a:txBody>
                    <a:bodyPr/>
                    <a:lstStyle/>
                    <a:p>
                      <a:endParaRPr kumimoji="1" lang="ja-JP" altLang="en-US" sz="2000" dirty="0"/>
                    </a:p>
                  </a:txBody>
                  <a:tcPr/>
                </a:tc>
                <a:tc>
                  <a:txBody>
                    <a:bodyPr/>
                    <a:lstStyle/>
                    <a:p>
                      <a:r>
                        <a:rPr kumimoji="1" lang="en-US" altLang="ja-JP" sz="2000" dirty="0"/>
                        <a:t>GRR</a:t>
                      </a:r>
                      <a:r>
                        <a:rPr kumimoji="1" lang="ja-JP" altLang="en-US" sz="2000" dirty="0"/>
                        <a:t>データシートの作成</a:t>
                      </a:r>
                    </a:p>
                  </a:txBody>
                  <a:tcPr/>
                </a:tc>
                <a:tc>
                  <a:txBody>
                    <a:bodyPr/>
                    <a:lstStyle/>
                    <a:p>
                      <a:pPr marL="457200" indent="-457200">
                        <a:buFont typeface="+mj-ea"/>
                        <a:buAutoNum type="circleNumDbPlain"/>
                      </a:pPr>
                      <a:r>
                        <a:rPr kumimoji="1" lang="ja-JP" altLang="en-US" sz="2000" dirty="0"/>
                        <a:t>測定データを</a:t>
                      </a:r>
                      <a:r>
                        <a:rPr kumimoji="1" lang="en-US" altLang="ja-JP" sz="2000" dirty="0"/>
                        <a:t>GRR</a:t>
                      </a:r>
                      <a:r>
                        <a:rPr kumimoji="1" lang="ja-JP" altLang="en-US" sz="2000" dirty="0"/>
                        <a:t>データシートに記入する。</a:t>
                      </a:r>
                      <a:endParaRPr kumimoji="1" lang="en-US" altLang="ja-JP" sz="2000" dirty="0"/>
                    </a:p>
                  </a:txBody>
                  <a:tcPr/>
                </a:tc>
                <a:extLst>
                  <a:ext uri="{0D108BD9-81ED-4DB2-BD59-A6C34878D82A}">
                    <a16:rowId xmlns:a16="http://schemas.microsoft.com/office/drawing/2014/main" val="165078728"/>
                  </a:ext>
                </a:extLst>
              </a:tr>
              <a:tr h="1118471">
                <a:tc>
                  <a:txBody>
                    <a:bodyPr/>
                    <a:lstStyle/>
                    <a:p>
                      <a:r>
                        <a:rPr kumimoji="1" lang="ja-JP" altLang="en-US" sz="2000" dirty="0"/>
                        <a:t>２</a:t>
                      </a:r>
                      <a:endParaRPr kumimoji="1" lang="en-US" altLang="ja-JP" sz="2000" dirty="0"/>
                    </a:p>
                    <a:p>
                      <a:r>
                        <a:rPr kumimoji="1" lang="ja-JP" altLang="en-US" sz="2000" dirty="0"/>
                        <a:t>管理図評価</a:t>
                      </a:r>
                    </a:p>
                  </a:txBody>
                  <a:tcPr/>
                </a:tc>
                <a:tc>
                  <a:txBody>
                    <a:bodyPr/>
                    <a:lstStyle/>
                    <a:p>
                      <a:r>
                        <a:rPr kumimoji="1" lang="ja-JP" altLang="en-US" sz="2000" dirty="0"/>
                        <a:t>平均値（</a:t>
                      </a:r>
                      <a:r>
                        <a:rPr kumimoji="1" lang="en-US" altLang="ja-JP" sz="2000" dirty="0"/>
                        <a:t>X</a:t>
                      </a:r>
                      <a:r>
                        <a:rPr kumimoji="1" lang="ja-JP" altLang="en-US" sz="2000" dirty="0"/>
                        <a:t>）管理図及び範囲（</a:t>
                      </a:r>
                      <a:r>
                        <a:rPr kumimoji="1" lang="en-US" altLang="ja-JP" sz="2000" dirty="0"/>
                        <a:t>R</a:t>
                      </a:r>
                      <a:r>
                        <a:rPr kumimoji="1" lang="ja-JP" altLang="en-US" sz="2000" dirty="0"/>
                        <a:t>）管理図の作成と評価</a:t>
                      </a:r>
                    </a:p>
                  </a:txBody>
                  <a:tcPr/>
                </a:tc>
                <a:tc>
                  <a:txBody>
                    <a:bodyPr/>
                    <a:lstStyle/>
                    <a:p>
                      <a:pPr marL="457200" indent="-457200">
                        <a:buFont typeface="+mj-ea"/>
                        <a:buAutoNum type="circleNumDbPlain"/>
                      </a:pPr>
                      <a:r>
                        <a:rPr kumimoji="1" lang="ja-JP" altLang="en-US" sz="2000" dirty="0"/>
                        <a:t>各測定者、各サンプルについて、測定回数</a:t>
                      </a:r>
                      <a:r>
                        <a:rPr kumimoji="1" lang="en-US" altLang="ja-JP" sz="2000" dirty="0"/>
                        <a:t>r</a:t>
                      </a:r>
                      <a:r>
                        <a:rPr kumimoji="1" lang="ja-JP" altLang="en-US" sz="2000" dirty="0"/>
                        <a:t>回の測定値の平均値</a:t>
                      </a:r>
                      <a:r>
                        <a:rPr kumimoji="1" lang="en-US" altLang="ja-JP" sz="2000" dirty="0" err="1"/>
                        <a:t>Xa</a:t>
                      </a:r>
                      <a:r>
                        <a:rPr kumimoji="1" lang="ja-JP" altLang="en-US" sz="2000" dirty="0"/>
                        <a:t>、</a:t>
                      </a:r>
                      <a:r>
                        <a:rPr kumimoji="1" lang="en-US" altLang="ja-JP" sz="2000" dirty="0" err="1"/>
                        <a:t>Xb</a:t>
                      </a:r>
                      <a:r>
                        <a:rPr kumimoji="1" lang="ja-JP" altLang="en-US" sz="2000" dirty="0"/>
                        <a:t>、</a:t>
                      </a:r>
                      <a:r>
                        <a:rPr kumimoji="1" lang="en-US" altLang="ja-JP" sz="2000" dirty="0" err="1"/>
                        <a:t>Xc</a:t>
                      </a:r>
                      <a:r>
                        <a:rPr kumimoji="1" lang="ja-JP" altLang="en-US" sz="2000" dirty="0"/>
                        <a:t>を算出し</a:t>
                      </a:r>
                      <a:r>
                        <a:rPr kumimoji="1" lang="en-US" altLang="ja-JP" sz="2000" dirty="0"/>
                        <a:t>X</a:t>
                      </a:r>
                      <a:r>
                        <a:rPr kumimoji="1" lang="ja-JP" altLang="en-US" sz="2000" dirty="0"/>
                        <a:t>管理図に記入する。</a:t>
                      </a:r>
                      <a:endParaRPr kumimoji="1" lang="en-US" altLang="ja-JP" sz="2000" dirty="0"/>
                    </a:p>
                    <a:p>
                      <a:pPr marL="457200" indent="-457200">
                        <a:buFont typeface="+mj-ea"/>
                        <a:buAutoNum type="circleNumDbPlain"/>
                      </a:pPr>
                      <a:r>
                        <a:rPr kumimoji="1" lang="en-US" altLang="ja-JP" sz="2000" dirty="0"/>
                        <a:t>X</a:t>
                      </a:r>
                      <a:r>
                        <a:rPr kumimoji="1" lang="ja-JP" altLang="en-US" sz="2000" dirty="0"/>
                        <a:t>管理図から、測定システムが充分な識別能を持っていること、及び測定者間の測定値の差の有無を調べる。</a:t>
                      </a:r>
                      <a:endParaRPr kumimoji="1" lang="en-US" altLang="ja-JP" sz="2000" dirty="0"/>
                    </a:p>
                  </a:txBody>
                  <a:tcPr/>
                </a:tc>
                <a:extLst>
                  <a:ext uri="{0D108BD9-81ED-4DB2-BD59-A6C34878D82A}">
                    <a16:rowId xmlns:a16="http://schemas.microsoft.com/office/drawing/2014/main" val="3191040381"/>
                  </a:ext>
                </a:extLst>
              </a:tr>
            </a:tbl>
          </a:graphicData>
        </a:graphic>
      </p:graphicFrame>
      <p:cxnSp>
        <p:nvCxnSpPr>
          <p:cNvPr id="6" name="直線コネクタ 5">
            <a:extLst>
              <a:ext uri="{FF2B5EF4-FFF2-40B4-BE49-F238E27FC236}">
                <a16:creationId xmlns:a16="http://schemas.microsoft.com/office/drawing/2014/main" id="{750B5FC8-5B3A-419B-B53F-AC4059768375}"/>
              </a:ext>
            </a:extLst>
          </p:cNvPr>
          <p:cNvCxnSpPr>
            <a:cxnSpLocks/>
          </p:cNvCxnSpPr>
          <p:nvPr/>
        </p:nvCxnSpPr>
        <p:spPr>
          <a:xfrm>
            <a:off x="5435757" y="53746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1D409F8-CE04-4D14-A569-F058173EA558}"/>
              </a:ext>
            </a:extLst>
          </p:cNvPr>
          <p:cNvCxnSpPr>
            <a:cxnSpLocks/>
          </p:cNvCxnSpPr>
          <p:nvPr/>
        </p:nvCxnSpPr>
        <p:spPr>
          <a:xfrm>
            <a:off x="3175000" y="508000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31260F3-7F7E-4A24-9A35-68230B687FCA}"/>
              </a:ext>
            </a:extLst>
          </p:cNvPr>
          <p:cNvCxnSpPr>
            <a:cxnSpLocks/>
          </p:cNvCxnSpPr>
          <p:nvPr/>
        </p:nvCxnSpPr>
        <p:spPr>
          <a:xfrm>
            <a:off x="5999637" y="53746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6012033E-7004-4CB5-8581-EBEE385A0000}"/>
              </a:ext>
            </a:extLst>
          </p:cNvPr>
          <p:cNvCxnSpPr>
            <a:cxnSpLocks/>
          </p:cNvCxnSpPr>
          <p:nvPr/>
        </p:nvCxnSpPr>
        <p:spPr>
          <a:xfrm>
            <a:off x="6553357" y="53746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A3EA1B-4815-4F4B-B7E6-ECA4B83DBBA8}"/>
              </a:ext>
            </a:extLst>
          </p:cNvPr>
          <p:cNvCxnSpPr>
            <a:cxnSpLocks/>
          </p:cNvCxnSpPr>
          <p:nvPr/>
        </p:nvCxnSpPr>
        <p:spPr>
          <a:xfrm>
            <a:off x="7164493" y="53746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6A2C71E-987B-48D3-994E-C573521AB667}"/>
              </a:ext>
            </a:extLst>
          </p:cNvPr>
          <p:cNvCxnSpPr>
            <a:cxnSpLocks/>
          </p:cNvCxnSpPr>
          <p:nvPr/>
        </p:nvCxnSpPr>
        <p:spPr>
          <a:xfrm>
            <a:off x="4647993" y="56921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70CF579F-C563-45EF-BFA6-F9D746B86FB3}"/>
              </a:ext>
            </a:extLst>
          </p:cNvPr>
          <p:cNvCxnSpPr>
            <a:cxnSpLocks/>
          </p:cNvCxnSpPr>
          <p:nvPr/>
        </p:nvCxnSpPr>
        <p:spPr>
          <a:xfrm>
            <a:off x="7865254" y="53746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3871076"/>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2468721032"/>
              </p:ext>
            </p:extLst>
          </p:nvPr>
        </p:nvGraphicFramePr>
        <p:xfrm>
          <a:off x="838200" y="1388127"/>
          <a:ext cx="10515600" cy="414528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66835">
                <a:tc>
                  <a:txBody>
                    <a:bodyPr/>
                    <a:lstStyle/>
                    <a:p>
                      <a:r>
                        <a:rPr kumimoji="1" lang="ja-JP" altLang="en-US" sz="2000" dirty="0"/>
                        <a:t>２</a:t>
                      </a:r>
                      <a:endParaRPr kumimoji="1" lang="en-US" altLang="ja-JP" sz="2000" dirty="0"/>
                    </a:p>
                    <a:p>
                      <a:r>
                        <a:rPr kumimoji="1" lang="ja-JP" altLang="en-US" sz="2000" dirty="0"/>
                        <a:t>管理図評価</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平均値（</a:t>
                      </a:r>
                      <a:r>
                        <a:rPr kumimoji="1" lang="en-US" altLang="ja-JP" sz="2000" dirty="0"/>
                        <a:t>X</a:t>
                      </a:r>
                      <a:r>
                        <a:rPr kumimoji="1" lang="ja-JP" altLang="en-US" sz="2000" dirty="0"/>
                        <a:t>）管理図及び範囲（</a:t>
                      </a:r>
                      <a:r>
                        <a:rPr kumimoji="1" lang="en-US" altLang="ja-JP" sz="2000" dirty="0"/>
                        <a:t>R</a:t>
                      </a:r>
                      <a:r>
                        <a:rPr kumimoji="1" lang="ja-JP" altLang="en-US" sz="2000" dirty="0"/>
                        <a:t>）管理図の作成と評価</a:t>
                      </a:r>
                    </a:p>
                  </a:txBody>
                  <a:tcPr/>
                </a:tc>
                <a:tc>
                  <a:txBody>
                    <a:bodyPr/>
                    <a:lstStyle/>
                    <a:p>
                      <a:pPr marL="457200" indent="-457200">
                        <a:buFont typeface="+mj-ea"/>
                        <a:buAutoNum type="circleNumDbPlain" startAt="3"/>
                      </a:pPr>
                      <a:r>
                        <a:rPr kumimoji="1" lang="en-US" altLang="ja-JP" sz="2000" dirty="0"/>
                        <a:t>X</a:t>
                      </a:r>
                      <a:r>
                        <a:rPr kumimoji="1" lang="ja-JP" altLang="en-US" sz="2000" dirty="0"/>
                        <a:t>管理図の</a:t>
                      </a:r>
                      <a:r>
                        <a:rPr kumimoji="1" lang="en-US" altLang="ja-JP" sz="2000" dirty="0"/>
                        <a:t>UCL</a:t>
                      </a:r>
                      <a:r>
                        <a:rPr kumimoji="1" lang="ja-JP" altLang="en-US" sz="2000" dirty="0"/>
                        <a:t>、</a:t>
                      </a:r>
                      <a:r>
                        <a:rPr kumimoji="1" lang="en-US" altLang="ja-JP" sz="2000" dirty="0"/>
                        <a:t>LCL</a:t>
                      </a:r>
                      <a:r>
                        <a:rPr kumimoji="1" lang="ja-JP" altLang="en-US" sz="2000" dirty="0"/>
                        <a:t>内の領域は、測定感度を表す。調査で用いるサンプルは、工程変動を代表するため、</a:t>
                      </a:r>
                      <a:r>
                        <a:rPr kumimoji="1" lang="en-US" altLang="ja-JP" sz="2000" dirty="0"/>
                        <a:t>X</a:t>
                      </a:r>
                      <a:r>
                        <a:rPr kumimoji="1" lang="ja-JP" altLang="en-US" sz="2000" dirty="0"/>
                        <a:t>管理図において半分以上の点が管理限界線の外にあれば、測定システムが充分な識別能をもっており、使用可能と考える。</a:t>
                      </a:r>
                      <a:endParaRPr kumimoji="1" lang="en-US" altLang="ja-JP" sz="2000" dirty="0"/>
                    </a:p>
                    <a:p>
                      <a:pPr marL="457200" indent="-457200">
                        <a:buFont typeface="+mj-ea"/>
                        <a:buAutoNum type="circleNumDbPlain" startAt="3"/>
                      </a:pPr>
                      <a:r>
                        <a:rPr kumimoji="1" lang="ja-JP" altLang="en-US" sz="2000" dirty="0"/>
                        <a:t>各測定者によるｒ回の測定値の範囲</a:t>
                      </a:r>
                      <a:r>
                        <a:rPr kumimoji="1" lang="en-US" altLang="ja-JP" sz="2000" dirty="0"/>
                        <a:t>R</a:t>
                      </a:r>
                      <a:r>
                        <a:rPr kumimoji="1" lang="ja-JP" altLang="en-US" sz="2000" dirty="0"/>
                        <a:t>を算出して</a:t>
                      </a:r>
                      <a:r>
                        <a:rPr kumimoji="1" lang="en-US" altLang="ja-JP" sz="2000" dirty="0"/>
                        <a:t>R</a:t>
                      </a:r>
                      <a:r>
                        <a:rPr kumimoji="1" lang="ja-JP" altLang="en-US" sz="2000" dirty="0"/>
                        <a:t>管理図に記入し、各測定者について、範囲</a:t>
                      </a:r>
                      <a:r>
                        <a:rPr kumimoji="1" lang="en-US" altLang="ja-JP" sz="2000" dirty="0"/>
                        <a:t>R</a:t>
                      </a:r>
                      <a:r>
                        <a:rPr kumimoji="1" lang="ja-JP" altLang="en-US" sz="2000" dirty="0"/>
                        <a:t>が管理状態にあるかどうかを調べる。</a:t>
                      </a:r>
                      <a:endParaRPr kumimoji="1" lang="en-US" altLang="ja-JP" sz="2000" dirty="0"/>
                    </a:p>
                    <a:p>
                      <a:pPr marL="457200" indent="-457200">
                        <a:buFont typeface="+mj-ea"/>
                        <a:buAutoNum type="circleNumDbPlain" startAt="3"/>
                      </a:pPr>
                      <a:r>
                        <a:rPr kumimoji="1" lang="ja-JP" altLang="en-US" sz="2000" dirty="0"/>
                        <a:t>変動の特別要因が存在せず管理状態にあれば、測定システムが安定していると判断できる。</a:t>
                      </a:r>
                      <a:endParaRPr kumimoji="1" lang="en-US" altLang="ja-JP" sz="2000" dirty="0"/>
                    </a:p>
                    <a:p>
                      <a:pPr marL="457200" indent="-457200">
                        <a:buFont typeface="+mj-ea"/>
                        <a:buAutoNum type="circleNumDbPlain" startAt="3"/>
                      </a:pPr>
                      <a:r>
                        <a:rPr kumimoji="1" lang="ja-JP" altLang="en-US" sz="2000" dirty="0"/>
                        <a:t>管理状態にない場合は、変動の特別原因を特定し、改善処置をとる。</a:t>
                      </a:r>
                      <a:endParaRPr kumimoji="1" lang="en-US" altLang="ja-JP" sz="2000" dirty="0"/>
                    </a:p>
                  </a:txBody>
                  <a:tcPr/>
                </a:tc>
                <a:extLst>
                  <a:ext uri="{0D108BD9-81ED-4DB2-BD59-A6C34878D82A}">
                    <a16:rowId xmlns:a16="http://schemas.microsoft.com/office/drawing/2014/main" val="2304653593"/>
                  </a:ext>
                </a:extLst>
              </a:tr>
            </a:tbl>
          </a:graphicData>
        </a:graphic>
      </p:graphicFrame>
      <p:cxnSp>
        <p:nvCxnSpPr>
          <p:cNvPr id="8" name="直線コネクタ 7">
            <a:extLst>
              <a:ext uri="{FF2B5EF4-FFF2-40B4-BE49-F238E27FC236}">
                <a16:creationId xmlns:a16="http://schemas.microsoft.com/office/drawing/2014/main" id="{375800E0-9E43-42D2-BDC1-54B9FC77B148}"/>
              </a:ext>
            </a:extLst>
          </p:cNvPr>
          <p:cNvCxnSpPr>
            <a:cxnSpLocks/>
          </p:cNvCxnSpPr>
          <p:nvPr/>
        </p:nvCxnSpPr>
        <p:spPr>
          <a:xfrm>
            <a:off x="3180926" y="18440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5660D347-DF8C-4AD2-9BB2-1747D56CEC78}"/>
              </a:ext>
            </a:extLst>
          </p:cNvPr>
          <p:cNvCxnSpPr>
            <a:cxnSpLocks/>
          </p:cNvCxnSpPr>
          <p:nvPr/>
        </p:nvCxnSpPr>
        <p:spPr>
          <a:xfrm>
            <a:off x="4657640" y="1838113"/>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350271F-5295-4E8A-AF88-5149B0D33988}"/>
              </a:ext>
            </a:extLst>
          </p:cNvPr>
          <p:cNvCxnSpPr>
            <a:cxnSpLocks/>
          </p:cNvCxnSpPr>
          <p:nvPr/>
        </p:nvCxnSpPr>
        <p:spPr>
          <a:xfrm>
            <a:off x="9552092" y="2159845"/>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10E3A63A-1A22-4FC4-812A-EF42423081A4}"/>
              </a:ext>
            </a:extLst>
          </p:cNvPr>
          <p:cNvCxnSpPr>
            <a:cxnSpLocks/>
          </p:cNvCxnSpPr>
          <p:nvPr/>
        </p:nvCxnSpPr>
        <p:spPr>
          <a:xfrm>
            <a:off x="10249306" y="2159845"/>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101961"/>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1880887613"/>
              </p:ext>
            </p:extLst>
          </p:nvPr>
        </p:nvGraphicFramePr>
        <p:xfrm>
          <a:off x="838200" y="1388127"/>
          <a:ext cx="10515600" cy="393192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72764">
                <a:tc>
                  <a:txBody>
                    <a:bodyPr/>
                    <a:lstStyle/>
                    <a:p>
                      <a:r>
                        <a:rPr kumimoji="1" lang="ja-JP" altLang="en-US" sz="2000" dirty="0"/>
                        <a:t>３</a:t>
                      </a:r>
                      <a:endParaRPr kumimoji="1" lang="en-US" altLang="ja-JP" sz="2000" dirty="0"/>
                    </a:p>
                    <a:p>
                      <a:r>
                        <a:rPr kumimoji="1" lang="ja-JP" altLang="en-US" sz="2000" dirty="0"/>
                        <a:t>数値計算</a:t>
                      </a:r>
                      <a:endParaRPr kumimoji="1" lang="en-US" altLang="ja-JP" sz="2000" dirty="0"/>
                    </a:p>
                  </a:txBody>
                  <a:tcPr/>
                </a:tc>
                <a:tc>
                  <a:txBody>
                    <a:bodyPr/>
                    <a:lstStyle/>
                    <a:p>
                      <a:r>
                        <a:rPr kumimoji="1" lang="ja-JP" altLang="en-US" sz="2000" dirty="0"/>
                        <a:t>範囲平均値（</a:t>
                      </a:r>
                      <a:r>
                        <a:rPr kumimoji="1" lang="en-US" altLang="ja-JP" sz="2000" dirty="0"/>
                        <a:t>R</a:t>
                      </a:r>
                      <a:r>
                        <a:rPr kumimoji="1" lang="ja-JP" altLang="en-US" sz="2000" dirty="0"/>
                        <a:t>）及び管理限界の算出</a:t>
                      </a:r>
                    </a:p>
                  </a:txBody>
                  <a:tcPr/>
                </a:tc>
                <a:tc>
                  <a:txBody>
                    <a:bodyPr/>
                    <a:lstStyle/>
                    <a:p>
                      <a:pPr marL="457200" indent="-457200">
                        <a:buFont typeface="+mj-ea"/>
                        <a:buAutoNum type="circleNumDbPlain"/>
                      </a:pPr>
                      <a:r>
                        <a:rPr kumimoji="1" lang="ja-JP" altLang="en-US" sz="2000" dirty="0"/>
                        <a:t>各測定者の測定値の範囲の平均値</a:t>
                      </a:r>
                      <a:r>
                        <a:rPr kumimoji="1" lang="en-US" altLang="ja-JP" sz="2000" dirty="0"/>
                        <a:t>Ra</a:t>
                      </a:r>
                      <a:r>
                        <a:rPr kumimoji="1" lang="ja-JP" altLang="en-US" sz="2000" dirty="0"/>
                        <a:t>、</a:t>
                      </a:r>
                      <a:r>
                        <a:rPr kumimoji="1" lang="en-US" altLang="ja-JP" sz="2000" dirty="0" err="1"/>
                        <a:t>Rb</a:t>
                      </a:r>
                      <a:r>
                        <a:rPr kumimoji="1" lang="ja-JP" altLang="en-US" sz="2000" dirty="0"/>
                        <a:t>、</a:t>
                      </a:r>
                      <a:r>
                        <a:rPr kumimoji="1" lang="en-US" altLang="ja-JP" sz="2000" dirty="0" err="1"/>
                        <a:t>Rc</a:t>
                      </a:r>
                      <a:r>
                        <a:rPr kumimoji="1" lang="ja-JP" altLang="en-US" sz="2000" dirty="0"/>
                        <a:t>を算出し、これらの範囲の平均値の平均値</a:t>
                      </a:r>
                      <a:r>
                        <a:rPr kumimoji="1" lang="en-US" altLang="ja-JP" sz="2000" dirty="0"/>
                        <a:t>R</a:t>
                      </a:r>
                      <a:r>
                        <a:rPr kumimoji="1" lang="ja-JP" altLang="en-US" sz="2000" dirty="0"/>
                        <a:t>及び</a:t>
                      </a:r>
                      <a:r>
                        <a:rPr kumimoji="1" lang="en-US" altLang="ja-JP" sz="2000" dirty="0"/>
                        <a:t>UCL</a:t>
                      </a:r>
                      <a:r>
                        <a:rPr kumimoji="1" lang="ja-JP" altLang="en-US" sz="2000" dirty="0"/>
                        <a:t>を、次の式から算出する。</a:t>
                      </a:r>
                      <a:endParaRPr kumimoji="1" lang="en-US" altLang="ja-JP" sz="2000" dirty="0"/>
                    </a:p>
                    <a:p>
                      <a:r>
                        <a:rPr kumimoji="1" lang="ja-JP" altLang="en-US" sz="2000" dirty="0"/>
                        <a:t>　　</a:t>
                      </a:r>
                      <a:r>
                        <a:rPr kumimoji="1" lang="en-US" altLang="ja-JP" sz="2000" dirty="0"/>
                        <a:t>R</a:t>
                      </a:r>
                      <a:r>
                        <a:rPr kumimoji="1" lang="ja-JP" altLang="en-US" sz="2000" dirty="0"/>
                        <a:t>＝（</a:t>
                      </a:r>
                      <a:r>
                        <a:rPr kumimoji="1" lang="en-US" altLang="ja-JP" sz="2000" dirty="0"/>
                        <a:t>Ra</a:t>
                      </a:r>
                      <a:r>
                        <a:rPr kumimoji="1" lang="ja-JP" altLang="en-US" sz="2000" dirty="0"/>
                        <a:t>＋</a:t>
                      </a:r>
                      <a:r>
                        <a:rPr kumimoji="1" lang="en-US" altLang="ja-JP" sz="2000" dirty="0" err="1"/>
                        <a:t>Rb</a:t>
                      </a:r>
                      <a:r>
                        <a:rPr kumimoji="1" lang="ja-JP" altLang="en-US" sz="2000" dirty="0"/>
                        <a:t>＋</a:t>
                      </a:r>
                      <a:r>
                        <a:rPr kumimoji="1" lang="en-US" altLang="ja-JP" sz="2000" dirty="0" err="1"/>
                        <a:t>Rc</a:t>
                      </a:r>
                      <a:r>
                        <a:rPr kumimoji="1" lang="ja-JP" altLang="en-US" sz="2000" dirty="0"/>
                        <a:t>）／ｍ</a:t>
                      </a:r>
                      <a:endParaRPr kumimoji="1" lang="en-US" altLang="ja-JP" sz="2000" dirty="0"/>
                    </a:p>
                    <a:p>
                      <a:r>
                        <a:rPr kumimoji="1" lang="ja-JP" altLang="en-US" sz="2000" dirty="0"/>
                        <a:t>　　</a:t>
                      </a:r>
                      <a:r>
                        <a:rPr kumimoji="1" lang="en-US" altLang="ja-JP" sz="2000" dirty="0"/>
                        <a:t>UCL</a:t>
                      </a:r>
                      <a:r>
                        <a:rPr kumimoji="1" lang="ja-JP" altLang="en-US" sz="2000" dirty="0"/>
                        <a:t>＝</a:t>
                      </a:r>
                      <a:r>
                        <a:rPr kumimoji="1" lang="en-US" altLang="ja-JP" sz="2000" dirty="0"/>
                        <a:t>R×D</a:t>
                      </a:r>
                      <a:r>
                        <a:rPr kumimoji="1" lang="en-US" altLang="ja-JP" sz="1400" dirty="0"/>
                        <a:t>4</a:t>
                      </a:r>
                      <a:r>
                        <a:rPr kumimoji="1" lang="ja-JP" altLang="en-US" sz="2000" dirty="0"/>
                        <a:t>　</a:t>
                      </a:r>
                      <a:r>
                        <a:rPr kumimoji="1" lang="en-US" altLang="ja-JP" sz="2000" dirty="0"/>
                        <a:t>※</a:t>
                      </a:r>
                      <a:r>
                        <a:rPr kumimoji="1" lang="ja-JP" altLang="en-US" sz="2000" dirty="0"/>
                        <a:t>ｒ＝</a:t>
                      </a:r>
                      <a:r>
                        <a:rPr kumimoji="1" lang="en-US" altLang="ja-JP" sz="2000" dirty="0"/>
                        <a:t>3</a:t>
                      </a:r>
                      <a:r>
                        <a:rPr kumimoji="1" lang="ja-JP" altLang="en-US" sz="2000" dirty="0"/>
                        <a:t>のときは、</a:t>
                      </a:r>
                      <a:r>
                        <a:rPr kumimoji="1" lang="en-US" altLang="ja-JP" sz="2000" dirty="0"/>
                        <a:t>D</a:t>
                      </a:r>
                      <a:r>
                        <a:rPr kumimoji="1" lang="en-US" altLang="ja-JP" sz="1400" dirty="0"/>
                        <a:t>4</a:t>
                      </a:r>
                      <a:r>
                        <a:rPr kumimoji="1" lang="ja-JP" altLang="en-US" sz="2000" dirty="0"/>
                        <a:t>＝</a:t>
                      </a:r>
                      <a:r>
                        <a:rPr kumimoji="1" lang="en-US" altLang="ja-JP" sz="2000" dirty="0"/>
                        <a:t>2.575</a:t>
                      </a:r>
                    </a:p>
                    <a:p>
                      <a:pPr marL="457200" indent="-457200">
                        <a:buFont typeface="+mj-ea"/>
                        <a:buAutoNum type="circleNumDbPlain" startAt="2"/>
                      </a:pPr>
                      <a:r>
                        <a:rPr kumimoji="1" lang="ja-JP" altLang="en-US" sz="2000" dirty="0"/>
                        <a:t>測定回数ｒ＜</a:t>
                      </a:r>
                      <a:r>
                        <a:rPr kumimoji="1" lang="en-US" altLang="ja-JP" sz="2000" dirty="0"/>
                        <a:t>7</a:t>
                      </a:r>
                      <a:r>
                        <a:rPr kumimoji="1" lang="ja-JP" altLang="en-US" sz="2000" dirty="0"/>
                        <a:t>の場合は、範囲の</a:t>
                      </a:r>
                      <a:r>
                        <a:rPr kumimoji="1" lang="en-US" altLang="ja-JP" sz="2000" dirty="0"/>
                        <a:t>LCL</a:t>
                      </a:r>
                      <a:r>
                        <a:rPr kumimoji="1" lang="ja-JP" altLang="en-US" sz="2000" dirty="0"/>
                        <a:t>の値は　“</a:t>
                      </a:r>
                      <a:r>
                        <a:rPr kumimoji="1" lang="en-US" altLang="ja-JP" sz="2000" dirty="0"/>
                        <a:t>0</a:t>
                      </a:r>
                      <a:r>
                        <a:rPr kumimoji="1" lang="ja-JP" altLang="en-US" sz="2000" dirty="0"/>
                        <a:t>”　とする。</a:t>
                      </a:r>
                      <a:endParaRPr kumimoji="1" lang="en-US" altLang="ja-JP" sz="2000" dirty="0"/>
                    </a:p>
                  </a:txBody>
                  <a:tcPr/>
                </a:tc>
                <a:extLst>
                  <a:ext uri="{0D108BD9-81ED-4DB2-BD59-A6C34878D82A}">
                    <a16:rowId xmlns:a16="http://schemas.microsoft.com/office/drawing/2014/main" val="3191040381"/>
                  </a:ext>
                </a:extLst>
              </a:tr>
              <a:tr h="272764">
                <a:tc>
                  <a:txBody>
                    <a:bodyPr/>
                    <a:lstStyle/>
                    <a:p>
                      <a:r>
                        <a:rPr kumimoji="1" lang="ja-JP" altLang="en-US" sz="2000" dirty="0"/>
                        <a:t>４</a:t>
                      </a:r>
                      <a:endParaRPr kumimoji="1" lang="en-US" altLang="ja-JP" sz="2000" dirty="0"/>
                    </a:p>
                    <a:p>
                      <a:r>
                        <a:rPr kumimoji="1" lang="ja-JP" altLang="en-US" sz="2000" dirty="0"/>
                        <a:t>数値計算</a:t>
                      </a:r>
                      <a:endParaRPr kumimoji="1" lang="en-US" altLang="ja-JP" sz="2000" dirty="0"/>
                    </a:p>
                  </a:txBody>
                  <a:tcPr/>
                </a:tc>
                <a:tc>
                  <a:txBody>
                    <a:bodyPr/>
                    <a:lstStyle/>
                    <a:p>
                      <a:r>
                        <a:rPr kumimoji="1" lang="ja-JP" altLang="en-US" sz="2000" dirty="0"/>
                        <a:t>範囲平均値（</a:t>
                      </a:r>
                      <a:r>
                        <a:rPr kumimoji="1" lang="en-US" altLang="ja-JP" sz="2000" dirty="0"/>
                        <a:t>R</a:t>
                      </a:r>
                      <a:r>
                        <a:rPr kumimoji="1" lang="ja-JP" altLang="en-US" sz="2000" dirty="0"/>
                        <a:t>）管理図の管理外れに対する処置</a:t>
                      </a:r>
                    </a:p>
                  </a:txBody>
                  <a:tcPr/>
                </a:tc>
                <a:tc>
                  <a:txBody>
                    <a:bodyPr/>
                    <a:lstStyle/>
                    <a:p>
                      <a:pPr marL="457200" indent="-457200">
                        <a:buFont typeface="+mj-ea"/>
                        <a:buAutoNum type="circleNumDbPlain"/>
                      </a:pPr>
                      <a:r>
                        <a:rPr kumimoji="1" lang="ja-JP" altLang="en-US" sz="2000" dirty="0"/>
                        <a:t>範囲平均値管理図において、管理外れすなわち</a:t>
                      </a:r>
                      <a:r>
                        <a:rPr kumimoji="1" lang="en-US" altLang="ja-JP" sz="2000" dirty="0"/>
                        <a:t>UCL</a:t>
                      </a:r>
                      <a:r>
                        <a:rPr kumimoji="1" lang="ja-JP" altLang="en-US" sz="2000" dirty="0"/>
                        <a:t>より大きい値となった測定値に対して、それらの値を除外して平均値を計算し直し、修正したサンプルサイズにもとづいて、範囲の総平均</a:t>
                      </a:r>
                      <a:r>
                        <a:rPr kumimoji="1" lang="en-US" altLang="ja-JP" sz="2000" dirty="0"/>
                        <a:t>R</a:t>
                      </a:r>
                      <a:r>
                        <a:rPr kumimoji="1" lang="ja-JP" altLang="en-US" sz="2000" dirty="0"/>
                        <a:t>と</a:t>
                      </a:r>
                      <a:r>
                        <a:rPr kumimoji="1" lang="en-US" altLang="ja-JP" sz="2000" dirty="0"/>
                        <a:t>UCL</a:t>
                      </a:r>
                      <a:r>
                        <a:rPr kumimoji="1" lang="ja-JP" altLang="en-US" sz="2000" dirty="0"/>
                        <a:t>を再計算する。</a:t>
                      </a:r>
                      <a:endParaRPr kumimoji="1" lang="en-US" altLang="ja-JP" sz="2000" dirty="0"/>
                    </a:p>
                    <a:p>
                      <a:pPr marL="457200" indent="-457200">
                        <a:buFont typeface="+mj-ea"/>
                        <a:buAutoNum type="circleNumDbPlain"/>
                      </a:pPr>
                      <a:r>
                        <a:rPr kumimoji="1" lang="ja-JP" altLang="en-US" sz="2000" dirty="0"/>
                        <a:t>②管理外れの特別原因を明確にして改善する。</a:t>
                      </a:r>
                      <a:endParaRPr kumimoji="1" lang="en-US" altLang="ja-JP" sz="2000" dirty="0"/>
                    </a:p>
                  </a:txBody>
                  <a:tcPr/>
                </a:tc>
                <a:extLst>
                  <a:ext uri="{0D108BD9-81ED-4DB2-BD59-A6C34878D82A}">
                    <a16:rowId xmlns:a16="http://schemas.microsoft.com/office/drawing/2014/main" val="4208228461"/>
                  </a:ext>
                </a:extLst>
              </a:tr>
            </a:tbl>
          </a:graphicData>
        </a:graphic>
      </p:graphicFrame>
      <p:cxnSp>
        <p:nvCxnSpPr>
          <p:cNvPr id="8" name="直線コネクタ 7">
            <a:extLst>
              <a:ext uri="{FF2B5EF4-FFF2-40B4-BE49-F238E27FC236}">
                <a16:creationId xmlns:a16="http://schemas.microsoft.com/office/drawing/2014/main" id="{A23A8CF0-A1CA-4CC2-9CDF-F066D75F5CF1}"/>
              </a:ext>
            </a:extLst>
          </p:cNvPr>
          <p:cNvCxnSpPr>
            <a:cxnSpLocks/>
          </p:cNvCxnSpPr>
          <p:nvPr/>
        </p:nvCxnSpPr>
        <p:spPr>
          <a:xfrm>
            <a:off x="8455794" y="18580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A2AFE159-20E2-401F-9885-F846C46295E9}"/>
              </a:ext>
            </a:extLst>
          </p:cNvPr>
          <p:cNvCxnSpPr>
            <a:cxnSpLocks/>
          </p:cNvCxnSpPr>
          <p:nvPr/>
        </p:nvCxnSpPr>
        <p:spPr>
          <a:xfrm>
            <a:off x="9036125" y="185822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8A8FAFEC-383B-49C5-B74B-89B2F6F8E990}"/>
              </a:ext>
            </a:extLst>
          </p:cNvPr>
          <p:cNvCxnSpPr>
            <a:cxnSpLocks/>
          </p:cNvCxnSpPr>
          <p:nvPr/>
        </p:nvCxnSpPr>
        <p:spPr>
          <a:xfrm>
            <a:off x="9607625" y="185822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15AFD1E-5D09-473A-B8CB-AC52E3E43EC7}"/>
              </a:ext>
            </a:extLst>
          </p:cNvPr>
          <p:cNvCxnSpPr>
            <a:cxnSpLocks/>
          </p:cNvCxnSpPr>
          <p:nvPr/>
        </p:nvCxnSpPr>
        <p:spPr>
          <a:xfrm>
            <a:off x="2434377" y="214270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C88787F-90F0-427B-A709-90079D7D489C}"/>
              </a:ext>
            </a:extLst>
          </p:cNvPr>
          <p:cNvCxnSpPr>
            <a:cxnSpLocks/>
          </p:cNvCxnSpPr>
          <p:nvPr/>
        </p:nvCxnSpPr>
        <p:spPr>
          <a:xfrm>
            <a:off x="5406101" y="27597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B3DDD419-2108-4539-80A3-85BC883613E3}"/>
              </a:ext>
            </a:extLst>
          </p:cNvPr>
          <p:cNvCxnSpPr>
            <a:cxnSpLocks/>
          </p:cNvCxnSpPr>
          <p:nvPr/>
        </p:nvCxnSpPr>
        <p:spPr>
          <a:xfrm>
            <a:off x="5969134" y="27597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7BF2B13E-3EE7-4AE7-BCD9-9E9AF23DDA61}"/>
              </a:ext>
            </a:extLst>
          </p:cNvPr>
          <p:cNvCxnSpPr>
            <a:cxnSpLocks/>
          </p:cNvCxnSpPr>
          <p:nvPr/>
        </p:nvCxnSpPr>
        <p:spPr>
          <a:xfrm>
            <a:off x="6544868" y="27597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60E774C3-E95E-4F6A-8204-F51FBF3C5F1F}"/>
              </a:ext>
            </a:extLst>
          </p:cNvPr>
          <p:cNvCxnSpPr>
            <a:cxnSpLocks/>
          </p:cNvCxnSpPr>
          <p:nvPr/>
        </p:nvCxnSpPr>
        <p:spPr>
          <a:xfrm>
            <a:off x="2434377" y="4076273"/>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グループ化 1">
            <a:extLst>
              <a:ext uri="{FF2B5EF4-FFF2-40B4-BE49-F238E27FC236}">
                <a16:creationId xmlns:a16="http://schemas.microsoft.com/office/drawing/2014/main" id="{190A5787-5B87-4C45-93CD-07ABFCF4E9D0}"/>
              </a:ext>
            </a:extLst>
          </p:cNvPr>
          <p:cNvGrpSpPr/>
          <p:nvPr/>
        </p:nvGrpSpPr>
        <p:grpSpPr>
          <a:xfrm>
            <a:off x="4716704" y="2730074"/>
            <a:ext cx="154806" cy="29633"/>
            <a:chOff x="3183677" y="3102607"/>
            <a:chExt cx="154806" cy="29633"/>
          </a:xfrm>
        </p:grpSpPr>
        <p:cxnSp>
          <p:nvCxnSpPr>
            <p:cNvPr id="17" name="直線コネクタ 16">
              <a:extLst>
                <a:ext uri="{FF2B5EF4-FFF2-40B4-BE49-F238E27FC236}">
                  <a16:creationId xmlns:a16="http://schemas.microsoft.com/office/drawing/2014/main" id="{88DBCD2D-6153-44DD-91FB-82EBAA925085}"/>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EAD967B-8E3D-48DB-9461-5343685D88EB}"/>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グループ化 18">
            <a:extLst>
              <a:ext uri="{FF2B5EF4-FFF2-40B4-BE49-F238E27FC236}">
                <a16:creationId xmlns:a16="http://schemas.microsoft.com/office/drawing/2014/main" id="{68C893CB-496E-4300-90BF-3017D4CD7C17}"/>
              </a:ext>
            </a:extLst>
          </p:cNvPr>
          <p:cNvGrpSpPr/>
          <p:nvPr/>
        </p:nvGrpSpPr>
        <p:grpSpPr>
          <a:xfrm>
            <a:off x="5483504" y="3039108"/>
            <a:ext cx="154806" cy="29633"/>
            <a:chOff x="3183677" y="3102607"/>
            <a:chExt cx="154806" cy="29633"/>
          </a:xfrm>
        </p:grpSpPr>
        <p:cxnSp>
          <p:nvCxnSpPr>
            <p:cNvPr id="20" name="直線コネクタ 19">
              <a:extLst>
                <a:ext uri="{FF2B5EF4-FFF2-40B4-BE49-F238E27FC236}">
                  <a16:creationId xmlns:a16="http://schemas.microsoft.com/office/drawing/2014/main" id="{88B7D8EE-0C5A-4D77-B8CC-5550F010F7D8}"/>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7E94D9F7-CA99-4F02-8185-E99ACBA5DF3C}"/>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グループ化 21">
            <a:extLst>
              <a:ext uri="{FF2B5EF4-FFF2-40B4-BE49-F238E27FC236}">
                <a16:creationId xmlns:a16="http://schemas.microsoft.com/office/drawing/2014/main" id="{A897C819-9335-43CC-B130-4EA67BFA81A2}"/>
              </a:ext>
            </a:extLst>
          </p:cNvPr>
          <p:cNvGrpSpPr/>
          <p:nvPr/>
        </p:nvGrpSpPr>
        <p:grpSpPr>
          <a:xfrm>
            <a:off x="7192802" y="4665554"/>
            <a:ext cx="154806" cy="29633"/>
            <a:chOff x="3183677" y="3102607"/>
            <a:chExt cx="154806" cy="29633"/>
          </a:xfrm>
        </p:grpSpPr>
        <p:cxnSp>
          <p:nvCxnSpPr>
            <p:cNvPr id="23" name="直線コネクタ 22">
              <a:extLst>
                <a:ext uri="{FF2B5EF4-FFF2-40B4-BE49-F238E27FC236}">
                  <a16:creationId xmlns:a16="http://schemas.microsoft.com/office/drawing/2014/main" id="{6EAF192F-266E-462E-8A20-DF9E3F56AF46}"/>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16772A0-C65D-457E-B086-B03CB911A2EC}"/>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グループ化 24">
            <a:extLst>
              <a:ext uri="{FF2B5EF4-FFF2-40B4-BE49-F238E27FC236}">
                <a16:creationId xmlns:a16="http://schemas.microsoft.com/office/drawing/2014/main" id="{1847502B-919A-470A-BCD4-B6ABD0957D4C}"/>
              </a:ext>
            </a:extLst>
          </p:cNvPr>
          <p:cNvGrpSpPr/>
          <p:nvPr/>
        </p:nvGrpSpPr>
        <p:grpSpPr>
          <a:xfrm>
            <a:off x="8202572" y="2113067"/>
            <a:ext cx="154806" cy="29633"/>
            <a:chOff x="3183677" y="3102607"/>
            <a:chExt cx="154806" cy="29633"/>
          </a:xfrm>
        </p:grpSpPr>
        <p:cxnSp>
          <p:nvCxnSpPr>
            <p:cNvPr id="26" name="直線コネクタ 25">
              <a:extLst>
                <a:ext uri="{FF2B5EF4-FFF2-40B4-BE49-F238E27FC236}">
                  <a16:creationId xmlns:a16="http://schemas.microsoft.com/office/drawing/2014/main" id="{187BB61B-8D7B-41B4-8373-89FF61C09D3C}"/>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FE238512-546C-4323-98B9-7BAE48D8D79B}"/>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1386942"/>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88125"/>
            <a:ext cx="10515600" cy="4968226"/>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u="sng"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3758577486"/>
              </p:ext>
            </p:extLst>
          </p:nvPr>
        </p:nvGraphicFramePr>
        <p:xfrm>
          <a:off x="838200" y="1388127"/>
          <a:ext cx="10515600" cy="493776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72764">
                <a:tc>
                  <a:txBody>
                    <a:bodyPr/>
                    <a:lstStyle/>
                    <a:p>
                      <a:r>
                        <a:rPr kumimoji="1" lang="ja-JP" altLang="en-US" sz="2000" dirty="0"/>
                        <a:t>５</a:t>
                      </a:r>
                      <a:endParaRPr kumimoji="1" lang="en-US" altLang="ja-JP" sz="2000" dirty="0"/>
                    </a:p>
                    <a:p>
                      <a:r>
                        <a:rPr kumimoji="1" lang="ja-JP" altLang="en-US" sz="2000" dirty="0"/>
                        <a:t>数値計算</a:t>
                      </a:r>
                      <a:endParaRPr kumimoji="1" lang="en-US" altLang="ja-JP" sz="2000" dirty="0"/>
                    </a:p>
                  </a:txBody>
                  <a:tcPr/>
                </a:tc>
                <a:tc>
                  <a:txBody>
                    <a:bodyPr/>
                    <a:lstStyle/>
                    <a:p>
                      <a:r>
                        <a:rPr kumimoji="1" lang="ja-JP" altLang="en-US" sz="2000" dirty="0"/>
                        <a:t>測定者間範囲（</a:t>
                      </a:r>
                      <a:r>
                        <a:rPr kumimoji="1" lang="en-US" altLang="ja-JP" sz="2000" dirty="0" err="1"/>
                        <a:t>Xdiff</a:t>
                      </a:r>
                      <a:r>
                        <a:rPr kumimoji="1" lang="ja-JP" altLang="en-US" sz="2000" dirty="0"/>
                        <a:t>）及び部品平均値範囲（</a:t>
                      </a:r>
                      <a:r>
                        <a:rPr kumimoji="1" lang="en-US" altLang="ja-JP" sz="2000" dirty="0" err="1"/>
                        <a:t>Rp</a:t>
                      </a:r>
                      <a:r>
                        <a:rPr kumimoji="1" lang="ja-JP" altLang="en-US" sz="2000" dirty="0"/>
                        <a:t>）の算出</a:t>
                      </a:r>
                    </a:p>
                  </a:txBody>
                  <a:tcPr/>
                </a:tc>
                <a:tc>
                  <a:txBody>
                    <a:bodyPr/>
                    <a:lstStyle/>
                    <a:p>
                      <a:pPr marL="457200" indent="-457200">
                        <a:buFont typeface="+mj-ea"/>
                        <a:buAutoNum type="circleNumDbPlain"/>
                      </a:pPr>
                      <a:r>
                        <a:rPr kumimoji="1" lang="ja-JP" altLang="en-US" sz="2000" dirty="0"/>
                        <a:t>測定者平均値</a:t>
                      </a:r>
                      <a:r>
                        <a:rPr kumimoji="1" lang="en-US" altLang="ja-JP" sz="2000" dirty="0" err="1"/>
                        <a:t>Xm</a:t>
                      </a:r>
                      <a:r>
                        <a:rPr kumimoji="1" lang="ja-JP" altLang="en-US" sz="2000" dirty="0"/>
                        <a:t>の最大値と最小値の差</a:t>
                      </a:r>
                      <a:r>
                        <a:rPr kumimoji="1" lang="en-US" altLang="ja-JP" sz="2000" dirty="0" err="1"/>
                        <a:t>Xdiff</a:t>
                      </a:r>
                      <a:r>
                        <a:rPr kumimoji="1" lang="ja-JP" altLang="en-US" sz="2000" dirty="0"/>
                        <a:t>を算出する。</a:t>
                      </a:r>
                      <a:endParaRPr kumimoji="1" lang="en-US" altLang="ja-JP" sz="2000" dirty="0"/>
                    </a:p>
                    <a:p>
                      <a:pPr marL="457200" indent="-457200">
                        <a:buFont typeface="+mj-ea"/>
                        <a:buAutoNum type="circleNumDbPlain"/>
                      </a:pPr>
                      <a:r>
                        <a:rPr kumimoji="1" lang="ja-JP" altLang="en-US" sz="2000" dirty="0"/>
                        <a:t>部品平均値</a:t>
                      </a:r>
                      <a:r>
                        <a:rPr kumimoji="1" lang="en-US" altLang="ja-JP" sz="2000" dirty="0" err="1"/>
                        <a:t>Xn</a:t>
                      </a:r>
                      <a:r>
                        <a:rPr kumimoji="1" lang="ja-JP" altLang="en-US" sz="2000" dirty="0"/>
                        <a:t>の最大値と最小値の差の部品平均値範囲</a:t>
                      </a:r>
                      <a:r>
                        <a:rPr kumimoji="1" lang="en-US" altLang="ja-JP" sz="2000" dirty="0" err="1"/>
                        <a:t>Rp</a:t>
                      </a:r>
                      <a:r>
                        <a:rPr kumimoji="1" lang="ja-JP" altLang="en-US" sz="2000" dirty="0"/>
                        <a:t>を算出する。</a:t>
                      </a:r>
                      <a:endParaRPr kumimoji="1" lang="en-US" altLang="ja-JP" sz="2000" dirty="0"/>
                    </a:p>
                  </a:txBody>
                  <a:tcPr/>
                </a:tc>
                <a:extLst>
                  <a:ext uri="{0D108BD9-81ED-4DB2-BD59-A6C34878D82A}">
                    <a16:rowId xmlns:a16="http://schemas.microsoft.com/office/drawing/2014/main" val="1671280293"/>
                  </a:ext>
                </a:extLst>
              </a:tr>
              <a:tr h="272764">
                <a:tc rowSpan="2">
                  <a:txBody>
                    <a:bodyPr/>
                    <a:lstStyle/>
                    <a:p>
                      <a:r>
                        <a:rPr kumimoji="1" lang="ja-JP" altLang="en-US" sz="2000" dirty="0"/>
                        <a:t>６</a:t>
                      </a:r>
                      <a:endParaRPr kumimoji="1" lang="en-US" altLang="ja-JP" sz="2000" dirty="0"/>
                    </a:p>
                    <a:p>
                      <a:r>
                        <a:rPr kumimoji="1" lang="ja-JP" altLang="en-US" sz="2000" dirty="0"/>
                        <a:t>数値解析</a:t>
                      </a:r>
                      <a:endParaRPr kumimoji="1" lang="en-US" altLang="ja-JP" sz="2000" dirty="0"/>
                    </a:p>
                  </a:txBody>
                  <a:tcPr/>
                </a:tc>
                <a:tc>
                  <a:txBody>
                    <a:bodyPr/>
                    <a:lstStyle/>
                    <a:p>
                      <a:r>
                        <a:rPr kumimoji="1" lang="ja-JP" altLang="en-US" sz="2000" dirty="0"/>
                        <a:t>繰返し性（</a:t>
                      </a:r>
                      <a:r>
                        <a:rPr kumimoji="1" lang="en-US" altLang="ja-JP" sz="2000" dirty="0"/>
                        <a:t>EV</a:t>
                      </a:r>
                      <a:r>
                        <a:rPr kumimoji="1" lang="ja-JP" altLang="en-US" sz="2000" dirty="0"/>
                        <a:t>）の算出</a:t>
                      </a:r>
                    </a:p>
                  </a:txBody>
                  <a:tcPr/>
                </a:tc>
                <a:tc>
                  <a:txBody>
                    <a:bodyPr/>
                    <a:lstStyle/>
                    <a:p>
                      <a:r>
                        <a:rPr kumimoji="1" lang="ja-JP" altLang="en-US" sz="2000" b="1" dirty="0"/>
                        <a:t>～　ステップ６～１１は「</a:t>
                      </a:r>
                      <a:r>
                        <a:rPr kumimoji="1" lang="en-US" altLang="ja-JP" sz="2000" b="1" dirty="0"/>
                        <a:t>GRR</a:t>
                      </a:r>
                      <a:r>
                        <a:rPr kumimoji="1" lang="ja-JP" altLang="en-US" sz="2000" b="1" dirty="0"/>
                        <a:t>報告書」参照　～</a:t>
                      </a:r>
                      <a:endParaRPr kumimoji="1" lang="en-US" altLang="ja-JP" sz="2000" b="1" dirty="0"/>
                    </a:p>
                    <a:p>
                      <a:pPr marL="457200" indent="-457200">
                        <a:buFont typeface="+mj-ea"/>
                        <a:buAutoNum type="circleNumDbPlain"/>
                      </a:pPr>
                      <a:r>
                        <a:rPr kumimoji="1" lang="en-US" altLang="ja-JP" sz="2000" dirty="0"/>
                        <a:t>EV</a:t>
                      </a:r>
                      <a:r>
                        <a:rPr kumimoji="1" lang="ja-JP" altLang="en-US" sz="2000" dirty="0"/>
                        <a:t>は、範囲の総平均値</a:t>
                      </a:r>
                      <a:r>
                        <a:rPr kumimoji="1" lang="en-US" altLang="ja-JP" sz="2000" dirty="0"/>
                        <a:t>R</a:t>
                      </a:r>
                      <a:r>
                        <a:rPr kumimoji="1" lang="ja-JP" altLang="en-US" sz="2000" dirty="0"/>
                        <a:t>及び定数</a:t>
                      </a:r>
                      <a:r>
                        <a:rPr kumimoji="1" lang="en-US" altLang="ja-JP" sz="2000" dirty="0"/>
                        <a:t>K</a:t>
                      </a:r>
                      <a:r>
                        <a:rPr kumimoji="1" lang="en-US" altLang="ja-JP" sz="1400" dirty="0"/>
                        <a:t>1</a:t>
                      </a:r>
                      <a:r>
                        <a:rPr kumimoji="1" lang="ja-JP" altLang="en-US" sz="2000" dirty="0"/>
                        <a:t>から、次の式で求められる。</a:t>
                      </a:r>
                      <a:endParaRPr kumimoji="1" lang="en-US" altLang="ja-JP" sz="2000" dirty="0"/>
                    </a:p>
                    <a:p>
                      <a:r>
                        <a:rPr kumimoji="1" lang="ja-JP" altLang="en-US" sz="2000" dirty="0"/>
                        <a:t>　　</a:t>
                      </a:r>
                      <a:r>
                        <a:rPr kumimoji="1" lang="en-US" altLang="ja-JP" sz="2000" dirty="0"/>
                        <a:t>EV</a:t>
                      </a:r>
                      <a:r>
                        <a:rPr kumimoji="1" lang="ja-JP" altLang="en-US" sz="2000" dirty="0"/>
                        <a:t>＝</a:t>
                      </a:r>
                      <a:r>
                        <a:rPr kumimoji="1" lang="en-US" altLang="ja-JP" sz="2000" dirty="0"/>
                        <a:t>R×K</a:t>
                      </a:r>
                      <a:r>
                        <a:rPr kumimoji="1" lang="en-US" altLang="ja-JP" sz="1400" dirty="0"/>
                        <a:t>1</a:t>
                      </a:r>
                      <a:r>
                        <a:rPr kumimoji="1" lang="ja-JP" altLang="en-US" sz="2000" dirty="0"/>
                        <a:t>　</a:t>
                      </a:r>
                      <a:r>
                        <a:rPr kumimoji="1" lang="en-US" altLang="ja-JP" sz="2000" dirty="0"/>
                        <a:t>※K</a:t>
                      </a:r>
                      <a:r>
                        <a:rPr kumimoji="1" lang="en-US" altLang="ja-JP" sz="1400" dirty="0"/>
                        <a:t>1</a:t>
                      </a:r>
                      <a:r>
                        <a:rPr kumimoji="1" lang="ja-JP" altLang="en-US" sz="2000" dirty="0"/>
                        <a:t>は測定回数により決まる定数</a:t>
                      </a:r>
                      <a:endParaRPr kumimoji="1" lang="en-US" altLang="ja-JP" sz="2000" dirty="0"/>
                    </a:p>
                  </a:txBody>
                  <a:tcPr/>
                </a:tc>
                <a:extLst>
                  <a:ext uri="{0D108BD9-81ED-4DB2-BD59-A6C34878D82A}">
                    <a16:rowId xmlns:a16="http://schemas.microsoft.com/office/drawing/2014/main" val="3983845639"/>
                  </a:ext>
                </a:extLst>
              </a:tr>
              <a:tr h="272764">
                <a:tc vMerge="1">
                  <a:txBody>
                    <a:bodyPr/>
                    <a:lstStyle/>
                    <a:p>
                      <a:endParaRPr kumimoji="1" lang="en-US" altLang="ja-JP" sz="2000" dirty="0"/>
                    </a:p>
                  </a:txBody>
                  <a:tcPr/>
                </a:tc>
                <a:tc>
                  <a:txBody>
                    <a:bodyPr/>
                    <a:lstStyle/>
                    <a:p>
                      <a:r>
                        <a:rPr kumimoji="1" lang="ja-JP" altLang="en-US" sz="2000" dirty="0"/>
                        <a:t>再現性（</a:t>
                      </a:r>
                      <a:r>
                        <a:rPr kumimoji="1" lang="en-US" altLang="ja-JP" sz="2000" dirty="0"/>
                        <a:t>AV</a:t>
                      </a:r>
                      <a:r>
                        <a:rPr kumimoji="1" lang="ja-JP" altLang="en-US" sz="2000" dirty="0"/>
                        <a:t>）の算出</a:t>
                      </a:r>
                    </a:p>
                  </a:txBody>
                  <a:tcPr/>
                </a:tc>
                <a:tc>
                  <a:txBody>
                    <a:bodyPr/>
                    <a:lstStyle/>
                    <a:p>
                      <a:pPr marL="457200" indent="-457200">
                        <a:buFont typeface="+mj-ea"/>
                        <a:buAutoNum type="circleNumDbPlain"/>
                      </a:pPr>
                      <a:r>
                        <a:rPr kumimoji="1" lang="en-US" altLang="ja-JP" sz="2000" dirty="0"/>
                        <a:t>AV</a:t>
                      </a:r>
                      <a:r>
                        <a:rPr kumimoji="1" lang="ja-JP" altLang="en-US" sz="2000" dirty="0"/>
                        <a:t>は、ステップ５で求めた測定者間範囲</a:t>
                      </a:r>
                      <a:r>
                        <a:rPr kumimoji="1" lang="en-US" altLang="ja-JP" sz="2000" dirty="0" err="1"/>
                        <a:t>Xdiff</a:t>
                      </a:r>
                      <a:r>
                        <a:rPr kumimoji="1" lang="ja-JP" altLang="en-US" sz="2000" dirty="0"/>
                        <a:t>と定数</a:t>
                      </a:r>
                      <a:r>
                        <a:rPr kumimoji="1" lang="en-US" altLang="ja-JP" sz="2000" dirty="0"/>
                        <a:t>K2</a:t>
                      </a:r>
                      <a:r>
                        <a:rPr kumimoji="1" lang="ja-JP" altLang="en-US" sz="2000" dirty="0"/>
                        <a:t>から、次の式で求められる。</a:t>
                      </a:r>
                      <a:endParaRPr kumimoji="1" lang="en-US" altLang="ja-JP" sz="2000" dirty="0"/>
                    </a:p>
                    <a:p>
                      <a:r>
                        <a:rPr kumimoji="1" lang="ja-JP" altLang="en-US" sz="2000" dirty="0"/>
                        <a:t>　</a:t>
                      </a:r>
                      <a:r>
                        <a:rPr kumimoji="1" lang="en-US" altLang="ja-JP" sz="2000" dirty="0"/>
                        <a:t>AV</a:t>
                      </a:r>
                      <a:r>
                        <a:rPr kumimoji="1" lang="ja-JP" altLang="en-US" sz="2000" dirty="0"/>
                        <a:t>＝√（</a:t>
                      </a:r>
                      <a:r>
                        <a:rPr kumimoji="1" lang="en-US" altLang="ja-JP" sz="2000" dirty="0"/>
                        <a:t>Xdiff×K2</a:t>
                      </a:r>
                      <a:r>
                        <a:rPr kumimoji="1" lang="ja-JP" altLang="en-US" sz="2000" dirty="0"/>
                        <a:t>）－</a:t>
                      </a:r>
                      <a:r>
                        <a:rPr kumimoji="1" lang="en-US" altLang="ja-JP" sz="2000" dirty="0"/>
                        <a:t>EV</a:t>
                      </a:r>
                      <a:r>
                        <a:rPr kumimoji="1" lang="ja-JP" altLang="en-US" sz="2000" dirty="0"/>
                        <a:t>／ｎｒ</a:t>
                      </a:r>
                      <a:endParaRPr kumimoji="1" lang="en-US" altLang="ja-JP" sz="2000" dirty="0"/>
                    </a:p>
                    <a:p>
                      <a:r>
                        <a:rPr kumimoji="1" lang="ja-JP" altLang="en-US" sz="2000" dirty="0"/>
                        <a:t>　</a:t>
                      </a:r>
                      <a:r>
                        <a:rPr kumimoji="1" lang="en-US" altLang="ja-JP" sz="2000" dirty="0"/>
                        <a:t>※</a:t>
                      </a:r>
                      <a:r>
                        <a:rPr kumimoji="1" lang="ja-JP" altLang="en-US" sz="2000" dirty="0"/>
                        <a:t>ｎはサンプル数、ｒは測定回数</a:t>
                      </a:r>
                      <a:endParaRPr kumimoji="1" lang="en-US" altLang="ja-JP" sz="2000" dirty="0"/>
                    </a:p>
                    <a:p>
                      <a:r>
                        <a:rPr kumimoji="1" lang="ja-JP" altLang="en-US" sz="2000" dirty="0"/>
                        <a:t>　</a:t>
                      </a:r>
                      <a:r>
                        <a:rPr kumimoji="1" lang="en-US" altLang="ja-JP" sz="2000" dirty="0"/>
                        <a:t>※K</a:t>
                      </a:r>
                      <a:r>
                        <a:rPr kumimoji="1" lang="en-US" altLang="ja-JP" sz="1400" dirty="0"/>
                        <a:t>2</a:t>
                      </a:r>
                      <a:r>
                        <a:rPr kumimoji="1" lang="ja-JP" altLang="en-US" sz="2000" dirty="0"/>
                        <a:t>は測定者数により決まる定数</a:t>
                      </a:r>
                      <a:endParaRPr kumimoji="1" lang="en-US" altLang="ja-JP" sz="2000" dirty="0"/>
                    </a:p>
                    <a:p>
                      <a:r>
                        <a:rPr kumimoji="1" lang="ja-JP" altLang="en-US" sz="2000" dirty="0"/>
                        <a:t>　</a:t>
                      </a:r>
                      <a:r>
                        <a:rPr kumimoji="1" lang="en-US" altLang="ja-JP" sz="2000" dirty="0"/>
                        <a:t>※</a:t>
                      </a:r>
                      <a:r>
                        <a:rPr kumimoji="1" lang="ja-JP" altLang="en-US" sz="2000" dirty="0"/>
                        <a:t>√の中が負になる場合は、</a:t>
                      </a:r>
                      <a:r>
                        <a:rPr kumimoji="1" lang="en-US" altLang="ja-JP" sz="2000" dirty="0"/>
                        <a:t>AV</a:t>
                      </a:r>
                      <a:r>
                        <a:rPr kumimoji="1" lang="ja-JP" altLang="en-US" sz="2000" dirty="0"/>
                        <a:t>＝０とする。</a:t>
                      </a:r>
                      <a:endParaRPr kumimoji="1" lang="en-US" altLang="ja-JP" sz="2000" dirty="0"/>
                    </a:p>
                  </a:txBody>
                  <a:tcPr/>
                </a:tc>
                <a:extLst>
                  <a:ext uri="{0D108BD9-81ED-4DB2-BD59-A6C34878D82A}">
                    <a16:rowId xmlns:a16="http://schemas.microsoft.com/office/drawing/2014/main" val="1657587701"/>
                  </a:ext>
                </a:extLst>
              </a:tr>
            </a:tbl>
          </a:graphicData>
        </a:graphic>
      </p:graphicFrame>
      <p:cxnSp>
        <p:nvCxnSpPr>
          <p:cNvPr id="8" name="直線コネクタ 7">
            <a:extLst>
              <a:ext uri="{FF2B5EF4-FFF2-40B4-BE49-F238E27FC236}">
                <a16:creationId xmlns:a16="http://schemas.microsoft.com/office/drawing/2014/main" id="{F4CE338B-9459-4CF0-9FFC-976709BA8CA4}"/>
              </a:ext>
            </a:extLst>
          </p:cNvPr>
          <p:cNvCxnSpPr>
            <a:cxnSpLocks/>
          </p:cNvCxnSpPr>
          <p:nvPr/>
        </p:nvCxnSpPr>
        <p:spPr>
          <a:xfrm>
            <a:off x="2430355" y="214502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E1F43EB1-1244-49EC-8D0E-AB59279E99AD}"/>
              </a:ext>
            </a:extLst>
          </p:cNvPr>
          <p:cNvCxnSpPr>
            <a:cxnSpLocks/>
          </p:cNvCxnSpPr>
          <p:nvPr/>
        </p:nvCxnSpPr>
        <p:spPr>
          <a:xfrm>
            <a:off x="9101205" y="185038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49064A4D-06BB-4004-8133-07BF35897101}"/>
              </a:ext>
            </a:extLst>
          </p:cNvPr>
          <p:cNvCxnSpPr>
            <a:cxnSpLocks/>
          </p:cNvCxnSpPr>
          <p:nvPr/>
        </p:nvCxnSpPr>
        <p:spPr>
          <a:xfrm>
            <a:off x="5561080" y="5083596"/>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674804A7-1DF9-4592-9FAE-93A97E79815F}"/>
              </a:ext>
            </a:extLst>
          </p:cNvPr>
          <p:cNvCxnSpPr>
            <a:cxnSpLocks/>
          </p:cNvCxnSpPr>
          <p:nvPr/>
        </p:nvCxnSpPr>
        <p:spPr>
          <a:xfrm>
            <a:off x="9316865" y="4466376"/>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グループ化 12">
            <a:extLst>
              <a:ext uri="{FF2B5EF4-FFF2-40B4-BE49-F238E27FC236}">
                <a16:creationId xmlns:a16="http://schemas.microsoft.com/office/drawing/2014/main" id="{13EC7DBD-E140-4ECB-9554-4222C16642F1}"/>
              </a:ext>
            </a:extLst>
          </p:cNvPr>
          <p:cNvGrpSpPr/>
          <p:nvPr/>
        </p:nvGrpSpPr>
        <p:grpSpPr>
          <a:xfrm>
            <a:off x="5278504" y="4046641"/>
            <a:ext cx="154806" cy="29633"/>
            <a:chOff x="3183677" y="3102607"/>
            <a:chExt cx="154806" cy="29633"/>
          </a:xfrm>
        </p:grpSpPr>
        <p:cxnSp>
          <p:nvCxnSpPr>
            <p:cNvPr id="14" name="直線コネクタ 13">
              <a:extLst>
                <a:ext uri="{FF2B5EF4-FFF2-40B4-BE49-F238E27FC236}">
                  <a16:creationId xmlns:a16="http://schemas.microsoft.com/office/drawing/2014/main" id="{4D65DECB-9773-43AF-9061-156F4B953FE3}"/>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CE9A047E-A93D-4A17-AFC8-0CA8A69F1E91}"/>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15">
            <a:extLst>
              <a:ext uri="{FF2B5EF4-FFF2-40B4-BE49-F238E27FC236}">
                <a16:creationId xmlns:a16="http://schemas.microsoft.com/office/drawing/2014/main" id="{CF9CCE33-708A-442B-A82B-C591C43AE5DA}"/>
              </a:ext>
            </a:extLst>
          </p:cNvPr>
          <p:cNvGrpSpPr/>
          <p:nvPr/>
        </p:nvGrpSpPr>
        <p:grpSpPr>
          <a:xfrm>
            <a:off x="7242813" y="3429000"/>
            <a:ext cx="154806" cy="29633"/>
            <a:chOff x="3183677" y="3102607"/>
            <a:chExt cx="154806" cy="29633"/>
          </a:xfrm>
        </p:grpSpPr>
        <p:cxnSp>
          <p:nvCxnSpPr>
            <p:cNvPr id="17" name="直線コネクタ 16">
              <a:extLst>
                <a:ext uri="{FF2B5EF4-FFF2-40B4-BE49-F238E27FC236}">
                  <a16:creationId xmlns:a16="http://schemas.microsoft.com/office/drawing/2014/main" id="{A8F104A2-DE7D-4C4D-8215-CD1CC274C8CD}"/>
                </a:ext>
              </a:extLst>
            </p:cNvPr>
            <p:cNvCxnSpPr>
              <a:cxnSpLocks/>
            </p:cNvCxnSpPr>
            <p:nvPr/>
          </p:nvCxnSpPr>
          <p:spPr>
            <a:xfrm>
              <a:off x="3183677" y="3102607"/>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BFDB0C7-E3D5-4E81-B019-DF163EB1BC92}"/>
                </a:ext>
              </a:extLst>
            </p:cNvPr>
            <p:cNvCxnSpPr>
              <a:cxnSpLocks/>
            </p:cNvCxnSpPr>
            <p:nvPr/>
          </p:nvCxnSpPr>
          <p:spPr>
            <a:xfrm>
              <a:off x="3183677" y="3132240"/>
              <a:ext cx="1548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線コネクタ 18">
            <a:extLst>
              <a:ext uri="{FF2B5EF4-FFF2-40B4-BE49-F238E27FC236}">
                <a16:creationId xmlns:a16="http://schemas.microsoft.com/office/drawing/2014/main" id="{56CBF32A-686B-4DCC-92B0-D5EEE469D33A}"/>
              </a:ext>
            </a:extLst>
          </p:cNvPr>
          <p:cNvCxnSpPr>
            <a:cxnSpLocks/>
          </p:cNvCxnSpPr>
          <p:nvPr/>
        </p:nvCxnSpPr>
        <p:spPr>
          <a:xfrm>
            <a:off x="5278504" y="5071105"/>
            <a:ext cx="3182102"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6FB09112-3FC0-45E1-A037-4E6FD28C27A9}"/>
              </a:ext>
            </a:extLst>
          </p:cNvPr>
          <p:cNvSpPr/>
          <p:nvPr/>
        </p:nvSpPr>
        <p:spPr>
          <a:xfrm>
            <a:off x="7466206" y="5000810"/>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sp>
        <p:nvSpPr>
          <p:cNvPr id="21" name="正方形/長方形 20">
            <a:extLst>
              <a:ext uri="{FF2B5EF4-FFF2-40B4-BE49-F238E27FC236}">
                <a16:creationId xmlns:a16="http://schemas.microsoft.com/office/drawing/2014/main" id="{D2834C9C-6807-41AD-AB82-FC30E439DEEE}"/>
              </a:ext>
            </a:extLst>
          </p:cNvPr>
          <p:cNvSpPr/>
          <p:nvPr/>
        </p:nvSpPr>
        <p:spPr>
          <a:xfrm>
            <a:off x="6736972" y="5000810"/>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spTree>
    <p:extLst>
      <p:ext uri="{BB962C8B-B14F-4D97-AF65-F5344CB8AC3E}">
        <p14:creationId xmlns:p14="http://schemas.microsoft.com/office/powerpoint/2010/main" val="2800009110"/>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3260009655"/>
              </p:ext>
            </p:extLst>
          </p:nvPr>
        </p:nvGraphicFramePr>
        <p:xfrm>
          <a:off x="838200" y="1388127"/>
          <a:ext cx="10515600" cy="484632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72764">
                <a:tc>
                  <a:txBody>
                    <a:bodyPr/>
                    <a:lstStyle/>
                    <a:p>
                      <a:r>
                        <a:rPr kumimoji="1" lang="ja-JP" altLang="en-US" sz="2000" dirty="0"/>
                        <a:t>７</a:t>
                      </a:r>
                      <a:endParaRPr kumimoji="1" lang="en-US" altLang="ja-JP" sz="2000" dirty="0"/>
                    </a:p>
                    <a:p>
                      <a:r>
                        <a:rPr kumimoji="1" lang="ja-JP" altLang="en-US" sz="2000" dirty="0"/>
                        <a:t>数値解析</a:t>
                      </a:r>
                      <a:endParaRPr kumimoji="1" lang="en-US" altLang="ja-JP" sz="2000" dirty="0"/>
                    </a:p>
                  </a:txBody>
                  <a:tcPr/>
                </a:tc>
                <a:tc>
                  <a:txBody>
                    <a:bodyPr/>
                    <a:lstStyle/>
                    <a:p>
                      <a:r>
                        <a:rPr kumimoji="1" lang="ja-JP" altLang="en-US" sz="2000" dirty="0"/>
                        <a:t>繰返し性・再現性（</a:t>
                      </a:r>
                      <a:r>
                        <a:rPr kumimoji="1" lang="en-US" altLang="ja-JP" sz="2000" dirty="0"/>
                        <a:t>GRR</a:t>
                      </a:r>
                      <a:r>
                        <a:rPr kumimoji="1" lang="ja-JP" altLang="en-US" sz="2000" dirty="0"/>
                        <a:t>）、部品変動（</a:t>
                      </a:r>
                      <a:r>
                        <a:rPr kumimoji="1" lang="en-US" altLang="ja-JP" sz="2000" dirty="0"/>
                        <a:t>PV</a:t>
                      </a:r>
                      <a:r>
                        <a:rPr kumimoji="1" lang="ja-JP" altLang="en-US" sz="2000" dirty="0"/>
                        <a:t>）及び全変動（</a:t>
                      </a:r>
                      <a:r>
                        <a:rPr kumimoji="1" lang="en-US" altLang="ja-JP" sz="2000" dirty="0"/>
                        <a:t>TV</a:t>
                      </a:r>
                      <a:r>
                        <a:rPr kumimoji="1" lang="ja-JP" altLang="en-US" sz="2000" dirty="0"/>
                        <a:t>）の算出</a:t>
                      </a:r>
                    </a:p>
                  </a:txBody>
                  <a:tcPr/>
                </a:tc>
                <a:tc>
                  <a:txBody>
                    <a:bodyPr/>
                    <a:lstStyle/>
                    <a:p>
                      <a:pPr marL="457200" indent="-457200">
                        <a:buFont typeface="+mj-ea"/>
                        <a:buAutoNum type="circleNumDbPlain"/>
                      </a:pPr>
                      <a:r>
                        <a:rPr kumimoji="1" lang="en-US" altLang="ja-JP" sz="2000" dirty="0"/>
                        <a:t>GRR</a:t>
                      </a:r>
                      <a:r>
                        <a:rPr kumimoji="1" lang="ja-JP" altLang="en-US" sz="2000" dirty="0"/>
                        <a:t>は、</a:t>
                      </a:r>
                      <a:r>
                        <a:rPr kumimoji="1" lang="en-US" altLang="ja-JP" sz="2000" dirty="0"/>
                        <a:t>EV</a:t>
                      </a:r>
                      <a:r>
                        <a:rPr kumimoji="1" lang="ja-JP" altLang="en-US" sz="2000" dirty="0"/>
                        <a:t>と</a:t>
                      </a:r>
                      <a:r>
                        <a:rPr kumimoji="1" lang="en-US" altLang="ja-JP" sz="2000" dirty="0"/>
                        <a:t>AV</a:t>
                      </a:r>
                      <a:r>
                        <a:rPr kumimoji="1" lang="ja-JP" altLang="en-US" sz="2000" dirty="0"/>
                        <a:t>から次の式で算出される。</a:t>
                      </a:r>
                      <a:endParaRPr kumimoji="1" lang="en-US" altLang="ja-JP" sz="2000" dirty="0"/>
                    </a:p>
                    <a:p>
                      <a:r>
                        <a:rPr kumimoji="1" lang="ja-JP" altLang="en-US" sz="2000" dirty="0"/>
                        <a:t>　</a:t>
                      </a:r>
                      <a:r>
                        <a:rPr kumimoji="1" lang="en-US" altLang="ja-JP" sz="2000" dirty="0"/>
                        <a:t>GRR</a:t>
                      </a:r>
                      <a:r>
                        <a:rPr kumimoji="1" lang="ja-JP" altLang="en-US" sz="2000" dirty="0"/>
                        <a:t>＝√</a:t>
                      </a:r>
                      <a:r>
                        <a:rPr kumimoji="1" lang="en-US" altLang="ja-JP" sz="2000" dirty="0"/>
                        <a:t>EV</a:t>
                      </a:r>
                      <a:r>
                        <a:rPr kumimoji="1" lang="ja-JP" altLang="en-US" sz="2000" dirty="0"/>
                        <a:t>＋</a:t>
                      </a:r>
                      <a:r>
                        <a:rPr kumimoji="1" lang="en-US" altLang="ja-JP" sz="2000" dirty="0"/>
                        <a:t>AV</a:t>
                      </a:r>
                    </a:p>
                    <a:p>
                      <a:pPr marL="457200" indent="-457200">
                        <a:buFont typeface="+mj-ea"/>
                        <a:buAutoNum type="circleNumDbPlain"/>
                      </a:pPr>
                      <a:r>
                        <a:rPr kumimoji="1" lang="en-US" altLang="ja-JP" sz="2000" dirty="0"/>
                        <a:t>PV</a:t>
                      </a:r>
                      <a:r>
                        <a:rPr kumimoji="1" lang="ja-JP" altLang="en-US" sz="2000" dirty="0"/>
                        <a:t>は、ステップ５で求めた製品平均値範囲</a:t>
                      </a:r>
                      <a:r>
                        <a:rPr kumimoji="1" lang="en-US" altLang="ja-JP" sz="2000" dirty="0" err="1"/>
                        <a:t>Rp</a:t>
                      </a:r>
                      <a:r>
                        <a:rPr kumimoji="1" lang="ja-JP" altLang="en-US" sz="2000" dirty="0"/>
                        <a:t>と定数</a:t>
                      </a:r>
                      <a:r>
                        <a:rPr kumimoji="1" lang="en-US" altLang="ja-JP" sz="2000" dirty="0"/>
                        <a:t>K</a:t>
                      </a:r>
                      <a:r>
                        <a:rPr kumimoji="1" lang="en-US" altLang="ja-JP" sz="1400" dirty="0"/>
                        <a:t>3</a:t>
                      </a:r>
                      <a:r>
                        <a:rPr kumimoji="1" lang="ja-JP" altLang="en-US" sz="2000" dirty="0"/>
                        <a:t>から、次の式で算出される。</a:t>
                      </a:r>
                      <a:endParaRPr kumimoji="1" lang="en-US" altLang="ja-JP" sz="2000" dirty="0"/>
                    </a:p>
                    <a:p>
                      <a:r>
                        <a:rPr kumimoji="1" lang="ja-JP" altLang="en-US" sz="2000" dirty="0"/>
                        <a:t>　</a:t>
                      </a:r>
                      <a:r>
                        <a:rPr kumimoji="1" lang="en-US" altLang="ja-JP" sz="2000" dirty="0"/>
                        <a:t>PV</a:t>
                      </a:r>
                      <a:r>
                        <a:rPr kumimoji="1" lang="ja-JP" altLang="en-US" sz="2000" dirty="0"/>
                        <a:t>＝</a:t>
                      </a:r>
                      <a:r>
                        <a:rPr kumimoji="1" lang="en-US" altLang="ja-JP" sz="2000" dirty="0"/>
                        <a:t>Rp×K</a:t>
                      </a:r>
                      <a:r>
                        <a:rPr kumimoji="1" lang="en-US" altLang="ja-JP" sz="1400" dirty="0"/>
                        <a:t>3</a:t>
                      </a:r>
                    </a:p>
                    <a:p>
                      <a:r>
                        <a:rPr kumimoji="1" lang="ja-JP" altLang="en-US" sz="2000" dirty="0"/>
                        <a:t>　</a:t>
                      </a:r>
                      <a:r>
                        <a:rPr kumimoji="1" lang="en-US" altLang="ja-JP" sz="2000" dirty="0"/>
                        <a:t>※K</a:t>
                      </a:r>
                      <a:r>
                        <a:rPr kumimoji="1" lang="en-US" altLang="ja-JP" sz="1400" dirty="0"/>
                        <a:t>3</a:t>
                      </a:r>
                      <a:r>
                        <a:rPr kumimoji="1" lang="ja-JP" altLang="en-US" sz="2000" dirty="0"/>
                        <a:t>は、サンプル数により決まる定数</a:t>
                      </a:r>
                      <a:endParaRPr kumimoji="1" lang="en-US" altLang="ja-JP" sz="2000" dirty="0"/>
                    </a:p>
                    <a:p>
                      <a:pPr marL="457200" indent="-457200">
                        <a:buFont typeface="+mj-ea"/>
                        <a:buAutoNum type="circleNumDbPlain" startAt="3"/>
                      </a:pPr>
                      <a:r>
                        <a:rPr kumimoji="1" lang="en-US" altLang="ja-JP" sz="2000" dirty="0"/>
                        <a:t>TV</a:t>
                      </a:r>
                      <a:r>
                        <a:rPr kumimoji="1" lang="ja-JP" altLang="en-US" sz="2000" dirty="0"/>
                        <a:t>は、</a:t>
                      </a:r>
                      <a:r>
                        <a:rPr kumimoji="1" lang="en-US" altLang="ja-JP" sz="2000" dirty="0"/>
                        <a:t>GRR</a:t>
                      </a:r>
                      <a:r>
                        <a:rPr kumimoji="1" lang="ja-JP" altLang="en-US" sz="2000" dirty="0"/>
                        <a:t>と</a:t>
                      </a:r>
                      <a:r>
                        <a:rPr kumimoji="1" lang="en-US" altLang="ja-JP" sz="2000" dirty="0"/>
                        <a:t>PV</a:t>
                      </a:r>
                      <a:r>
                        <a:rPr kumimoji="1" lang="ja-JP" altLang="en-US" sz="2000" dirty="0"/>
                        <a:t>から、次の式で算出される。</a:t>
                      </a:r>
                      <a:endParaRPr kumimoji="1" lang="en-US" altLang="ja-JP" sz="2000" dirty="0"/>
                    </a:p>
                    <a:p>
                      <a:r>
                        <a:rPr kumimoji="1" lang="ja-JP" altLang="en-US" sz="2000" dirty="0"/>
                        <a:t>　</a:t>
                      </a:r>
                      <a:r>
                        <a:rPr kumimoji="1" lang="en-US" altLang="ja-JP" sz="2000" dirty="0"/>
                        <a:t>TV</a:t>
                      </a:r>
                      <a:r>
                        <a:rPr kumimoji="1" lang="ja-JP" altLang="en-US" sz="2000" dirty="0"/>
                        <a:t>＝√</a:t>
                      </a:r>
                      <a:r>
                        <a:rPr kumimoji="1" lang="en-US" altLang="ja-JP" sz="2000" dirty="0"/>
                        <a:t>GRR</a:t>
                      </a:r>
                      <a:r>
                        <a:rPr kumimoji="1" lang="ja-JP" altLang="en-US" sz="2000" dirty="0"/>
                        <a:t>＋</a:t>
                      </a:r>
                      <a:r>
                        <a:rPr kumimoji="1" lang="en-US" altLang="ja-JP" sz="2000" dirty="0"/>
                        <a:t>PV</a:t>
                      </a:r>
                    </a:p>
                  </a:txBody>
                  <a:tcPr/>
                </a:tc>
                <a:extLst>
                  <a:ext uri="{0D108BD9-81ED-4DB2-BD59-A6C34878D82A}">
                    <a16:rowId xmlns:a16="http://schemas.microsoft.com/office/drawing/2014/main" val="1671280293"/>
                  </a:ext>
                </a:extLst>
              </a:tr>
              <a:tr h="272764">
                <a:tc>
                  <a:txBody>
                    <a:bodyPr/>
                    <a:lstStyle/>
                    <a:p>
                      <a:r>
                        <a:rPr kumimoji="1" lang="ja-JP" altLang="en-US" sz="2000" dirty="0"/>
                        <a:t>８</a:t>
                      </a:r>
                      <a:endParaRPr kumimoji="1" lang="en-US" altLang="ja-JP" sz="2000" dirty="0"/>
                    </a:p>
                    <a:p>
                      <a:r>
                        <a:rPr kumimoji="1" lang="ja-JP" altLang="en-US" sz="2000" dirty="0"/>
                        <a:t>数値解析</a:t>
                      </a:r>
                      <a:endParaRPr kumimoji="1" lang="en-US" altLang="ja-JP" sz="2000" dirty="0"/>
                    </a:p>
                  </a:txBody>
                  <a:tcPr/>
                </a:tc>
                <a:tc>
                  <a:txBody>
                    <a:bodyPr/>
                    <a:lstStyle/>
                    <a:p>
                      <a:r>
                        <a:rPr kumimoji="1" lang="en-US" altLang="ja-JP" sz="2000" dirty="0"/>
                        <a:t>%GRR</a:t>
                      </a:r>
                      <a:r>
                        <a:rPr kumimoji="1" lang="ja-JP" altLang="en-US" sz="2000" dirty="0"/>
                        <a:t>の算出</a:t>
                      </a:r>
                    </a:p>
                  </a:txBody>
                  <a:tcPr/>
                </a:tc>
                <a:tc>
                  <a:txBody>
                    <a:bodyPr/>
                    <a:lstStyle/>
                    <a:p>
                      <a:pPr marL="457200" indent="-457200">
                        <a:buFont typeface="+mj-ea"/>
                        <a:buAutoNum type="circleNumDbPlain"/>
                      </a:pPr>
                      <a:r>
                        <a:rPr kumimoji="1" lang="ja-JP" altLang="en-US" sz="2000" dirty="0"/>
                        <a:t>各変動要素の</a:t>
                      </a:r>
                      <a:r>
                        <a:rPr kumimoji="1" lang="en-US" altLang="ja-JP" sz="2000" dirty="0"/>
                        <a:t>TV</a:t>
                      </a:r>
                      <a:r>
                        <a:rPr kumimoji="1" lang="ja-JP" altLang="en-US" sz="2000" dirty="0"/>
                        <a:t>に対する割合、すなわち</a:t>
                      </a:r>
                      <a:r>
                        <a:rPr kumimoji="1" lang="en-US" altLang="ja-JP" sz="2000" dirty="0"/>
                        <a:t>%</a:t>
                      </a:r>
                      <a:r>
                        <a:rPr kumimoji="1" lang="ja-JP" altLang="en-US" sz="2000" dirty="0"/>
                        <a:t>全変動を次の式で算出する。</a:t>
                      </a:r>
                      <a:endParaRPr kumimoji="1" lang="en-US" altLang="ja-JP" sz="2000" dirty="0"/>
                    </a:p>
                    <a:p>
                      <a:r>
                        <a:rPr kumimoji="1" lang="ja-JP" altLang="en-US" sz="2000" dirty="0"/>
                        <a:t>　</a:t>
                      </a:r>
                      <a:r>
                        <a:rPr kumimoji="1" lang="en-US" altLang="ja-JP" sz="2000" dirty="0"/>
                        <a:t>%EV</a:t>
                      </a:r>
                      <a:r>
                        <a:rPr kumimoji="1" lang="ja-JP" altLang="en-US" sz="2000" dirty="0"/>
                        <a:t>＝</a:t>
                      </a:r>
                      <a:r>
                        <a:rPr kumimoji="1" lang="en-US" altLang="ja-JP" sz="2000" dirty="0"/>
                        <a:t>100×EV</a:t>
                      </a:r>
                      <a:r>
                        <a:rPr kumimoji="1" lang="ja-JP" altLang="en-US" sz="2000" dirty="0"/>
                        <a:t>／</a:t>
                      </a:r>
                      <a:r>
                        <a:rPr kumimoji="1" lang="en-US" altLang="ja-JP" sz="2000" dirty="0"/>
                        <a:t>TV</a:t>
                      </a:r>
                    </a:p>
                    <a:p>
                      <a:r>
                        <a:rPr kumimoji="1" lang="ja-JP" altLang="en-US" sz="2000" dirty="0"/>
                        <a:t>　</a:t>
                      </a:r>
                      <a:r>
                        <a:rPr kumimoji="1" lang="en-US" altLang="ja-JP" sz="2000" dirty="0"/>
                        <a:t>%AV</a:t>
                      </a:r>
                      <a:r>
                        <a:rPr kumimoji="1" lang="ja-JP" altLang="en-US" sz="2000" dirty="0"/>
                        <a:t>＝</a:t>
                      </a:r>
                      <a:r>
                        <a:rPr kumimoji="1" lang="en-US" altLang="ja-JP" sz="2000" dirty="0"/>
                        <a:t>100×AV</a:t>
                      </a:r>
                      <a:r>
                        <a:rPr kumimoji="1" lang="ja-JP" altLang="en-US" sz="2000" dirty="0"/>
                        <a:t>／</a:t>
                      </a:r>
                      <a:r>
                        <a:rPr kumimoji="1" lang="en-US" altLang="ja-JP" sz="2000" dirty="0"/>
                        <a:t>TV</a:t>
                      </a:r>
                    </a:p>
                    <a:p>
                      <a:r>
                        <a:rPr kumimoji="1" lang="ja-JP" altLang="en-US" sz="2000" dirty="0"/>
                        <a:t>　</a:t>
                      </a:r>
                      <a:r>
                        <a:rPr kumimoji="1" lang="en-US" altLang="ja-JP" sz="2000" dirty="0"/>
                        <a:t>%PV</a:t>
                      </a:r>
                      <a:r>
                        <a:rPr kumimoji="1" lang="ja-JP" altLang="en-US" sz="2000" dirty="0"/>
                        <a:t>＝</a:t>
                      </a:r>
                      <a:r>
                        <a:rPr kumimoji="1" lang="en-US" altLang="ja-JP" sz="2000" dirty="0"/>
                        <a:t>100×RV</a:t>
                      </a:r>
                      <a:r>
                        <a:rPr kumimoji="1" lang="ja-JP" altLang="en-US" sz="2000" dirty="0"/>
                        <a:t>／</a:t>
                      </a:r>
                      <a:r>
                        <a:rPr kumimoji="1" lang="en-US" altLang="ja-JP" sz="2000" dirty="0"/>
                        <a:t>TV</a:t>
                      </a:r>
                    </a:p>
                    <a:p>
                      <a:r>
                        <a:rPr kumimoji="1" lang="ja-JP" altLang="en-US" sz="2000" dirty="0"/>
                        <a:t>　</a:t>
                      </a:r>
                      <a:r>
                        <a:rPr kumimoji="1" lang="en-US" altLang="ja-JP" sz="2000" dirty="0"/>
                        <a:t>%GRR</a:t>
                      </a:r>
                      <a:r>
                        <a:rPr kumimoji="1" lang="ja-JP" altLang="en-US" sz="2000" dirty="0"/>
                        <a:t>＝</a:t>
                      </a:r>
                      <a:r>
                        <a:rPr kumimoji="1" lang="en-US" altLang="ja-JP" sz="2000" dirty="0"/>
                        <a:t>100×GRR</a:t>
                      </a:r>
                      <a:r>
                        <a:rPr kumimoji="1" lang="ja-JP" altLang="en-US" sz="2000" dirty="0"/>
                        <a:t>／</a:t>
                      </a:r>
                      <a:r>
                        <a:rPr kumimoji="1" lang="en-US" altLang="ja-JP" sz="2000" dirty="0"/>
                        <a:t>TV</a:t>
                      </a:r>
                    </a:p>
                  </a:txBody>
                  <a:tcPr/>
                </a:tc>
                <a:extLst>
                  <a:ext uri="{0D108BD9-81ED-4DB2-BD59-A6C34878D82A}">
                    <a16:rowId xmlns:a16="http://schemas.microsoft.com/office/drawing/2014/main" val="348143107"/>
                  </a:ext>
                </a:extLst>
              </a:tr>
            </a:tbl>
          </a:graphicData>
        </a:graphic>
      </p:graphicFrame>
      <p:cxnSp>
        <p:nvCxnSpPr>
          <p:cNvPr id="22" name="直線コネクタ 21">
            <a:extLst>
              <a:ext uri="{FF2B5EF4-FFF2-40B4-BE49-F238E27FC236}">
                <a16:creationId xmlns:a16="http://schemas.microsoft.com/office/drawing/2014/main" id="{29EDFF48-303B-4F25-8F81-2A14E55107AB}"/>
              </a:ext>
            </a:extLst>
          </p:cNvPr>
          <p:cNvCxnSpPr>
            <a:cxnSpLocks/>
          </p:cNvCxnSpPr>
          <p:nvPr/>
        </p:nvCxnSpPr>
        <p:spPr>
          <a:xfrm>
            <a:off x="5472869" y="2127212"/>
            <a:ext cx="110573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B56EB06-B755-4C5E-B438-BC289710345A}"/>
              </a:ext>
            </a:extLst>
          </p:cNvPr>
          <p:cNvSpPr/>
          <p:nvPr/>
        </p:nvSpPr>
        <p:spPr>
          <a:xfrm>
            <a:off x="5722010" y="2060853"/>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sp>
        <p:nvSpPr>
          <p:cNvPr id="24" name="正方形/長方形 23">
            <a:extLst>
              <a:ext uri="{FF2B5EF4-FFF2-40B4-BE49-F238E27FC236}">
                <a16:creationId xmlns:a16="http://schemas.microsoft.com/office/drawing/2014/main" id="{53AE561C-0C02-46E9-85ED-2FF10C73DF9E}"/>
              </a:ext>
            </a:extLst>
          </p:cNvPr>
          <p:cNvSpPr/>
          <p:nvPr/>
        </p:nvSpPr>
        <p:spPr>
          <a:xfrm>
            <a:off x="6313435" y="2060853"/>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cxnSp>
        <p:nvCxnSpPr>
          <p:cNvPr id="25" name="直線コネクタ 24">
            <a:extLst>
              <a:ext uri="{FF2B5EF4-FFF2-40B4-BE49-F238E27FC236}">
                <a16:creationId xmlns:a16="http://schemas.microsoft.com/office/drawing/2014/main" id="{192E7461-29DB-4C1B-96F5-F1254CF49DCA}"/>
              </a:ext>
            </a:extLst>
          </p:cNvPr>
          <p:cNvCxnSpPr>
            <a:cxnSpLocks/>
          </p:cNvCxnSpPr>
          <p:nvPr/>
        </p:nvCxnSpPr>
        <p:spPr>
          <a:xfrm>
            <a:off x="5274749" y="3961092"/>
            <a:ext cx="133941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C47B53E2-9E58-4B3F-A23C-2AE461A092B6}"/>
              </a:ext>
            </a:extLst>
          </p:cNvPr>
          <p:cNvSpPr/>
          <p:nvPr/>
        </p:nvSpPr>
        <p:spPr>
          <a:xfrm>
            <a:off x="5718860" y="3886884"/>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sp>
        <p:nvSpPr>
          <p:cNvPr id="27" name="正方形/長方形 26">
            <a:extLst>
              <a:ext uri="{FF2B5EF4-FFF2-40B4-BE49-F238E27FC236}">
                <a16:creationId xmlns:a16="http://schemas.microsoft.com/office/drawing/2014/main" id="{22A5A3DD-0475-4F13-8FF0-44D02E4031EF}"/>
              </a:ext>
            </a:extLst>
          </p:cNvPr>
          <p:cNvSpPr/>
          <p:nvPr/>
        </p:nvSpPr>
        <p:spPr>
          <a:xfrm>
            <a:off x="6328892" y="3894733"/>
            <a:ext cx="265165" cy="252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400" dirty="0">
                <a:solidFill>
                  <a:schemeClr val="tx1"/>
                </a:solidFill>
              </a:rPr>
              <a:t>2</a:t>
            </a:r>
            <a:endParaRPr kumimoji="1" lang="ja-JP" altLang="en-US" sz="1400" dirty="0">
              <a:solidFill>
                <a:schemeClr val="tx1"/>
              </a:solidFill>
            </a:endParaRPr>
          </a:p>
        </p:txBody>
      </p:sp>
    </p:spTree>
    <p:extLst>
      <p:ext uri="{BB962C8B-B14F-4D97-AF65-F5344CB8AC3E}">
        <p14:creationId xmlns:p14="http://schemas.microsoft.com/office/powerpoint/2010/main" val="545192631"/>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559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847111457"/>
              </p:ext>
            </p:extLst>
          </p:nvPr>
        </p:nvGraphicFramePr>
        <p:xfrm>
          <a:off x="838200" y="1388127"/>
          <a:ext cx="10515600" cy="454152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272764">
                <a:tc>
                  <a:txBody>
                    <a:bodyPr/>
                    <a:lstStyle/>
                    <a:p>
                      <a:r>
                        <a:rPr kumimoji="1" lang="ja-JP" altLang="en-US" sz="2000" dirty="0"/>
                        <a:t>８</a:t>
                      </a:r>
                      <a:endParaRPr kumimoji="1" lang="en-US" altLang="ja-JP" sz="2000" dirty="0"/>
                    </a:p>
                    <a:p>
                      <a:r>
                        <a:rPr kumimoji="1" lang="ja-JP" altLang="en-US" sz="2000" dirty="0"/>
                        <a:t>数値解析</a:t>
                      </a:r>
                      <a:endParaRPr kumimoji="1" lang="en-US" altLang="ja-JP"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000" dirty="0"/>
                        <a:t>%GRR</a:t>
                      </a:r>
                      <a:r>
                        <a:rPr kumimoji="1" lang="ja-JP" altLang="en-US" sz="2000" dirty="0"/>
                        <a:t>の算出</a:t>
                      </a:r>
                    </a:p>
                  </a:txBody>
                  <a:tcPr/>
                </a:tc>
                <a:tc>
                  <a:txBody>
                    <a:bodyPr/>
                    <a:lstStyle/>
                    <a:p>
                      <a:pPr marL="457200" indent="-457200">
                        <a:buFont typeface="+mj-ea"/>
                        <a:buAutoNum type="circleNumDbPlain" startAt="2"/>
                      </a:pPr>
                      <a:r>
                        <a:rPr kumimoji="1" lang="ja-JP" altLang="en-US" sz="2000" dirty="0"/>
                        <a:t>工程変動ではなく規格幅に基づい解析を行う場合の</a:t>
                      </a:r>
                      <a:r>
                        <a:rPr kumimoji="1" lang="en-US" altLang="ja-JP" sz="2000" dirty="0"/>
                        <a:t>%GRR</a:t>
                      </a:r>
                      <a:r>
                        <a:rPr kumimoji="1" lang="ja-JP" altLang="en-US" sz="2000" dirty="0"/>
                        <a:t>は、①の式の分母（</a:t>
                      </a:r>
                      <a:r>
                        <a:rPr kumimoji="1" lang="en-US" altLang="ja-JP" sz="2000" dirty="0"/>
                        <a:t>TV</a:t>
                      </a:r>
                      <a:r>
                        <a:rPr kumimoji="1" lang="ja-JP" altLang="en-US" sz="2000" dirty="0"/>
                        <a:t>）の代わりに規格幅</a:t>
                      </a:r>
                      <a:r>
                        <a:rPr kumimoji="1" lang="en-US" altLang="ja-JP" sz="2000" dirty="0"/>
                        <a:t>W</a:t>
                      </a:r>
                      <a:r>
                        <a:rPr kumimoji="1" lang="ja-JP" altLang="en-US" sz="2000" dirty="0"/>
                        <a:t>を６で割った値（</a:t>
                      </a:r>
                      <a:r>
                        <a:rPr kumimoji="1" lang="en-US" altLang="ja-JP" sz="2000" dirty="0"/>
                        <a:t>W/6</a:t>
                      </a:r>
                      <a:r>
                        <a:rPr kumimoji="1" lang="ja-JP" altLang="en-US" sz="2000" dirty="0"/>
                        <a:t>）を用いて計算することができる。</a:t>
                      </a:r>
                      <a:endParaRPr kumimoji="1" lang="en-US" altLang="ja-JP" sz="2000" dirty="0"/>
                    </a:p>
                    <a:p>
                      <a:pPr marL="457200" indent="-457200">
                        <a:buFont typeface="+mj-ea"/>
                        <a:buAutoNum type="circleNumDbPlain" startAt="2"/>
                      </a:pPr>
                      <a:r>
                        <a:rPr kumimoji="1" lang="ja-JP" altLang="en-US" sz="2000" dirty="0"/>
                        <a:t>例えば、工程性能指数が小さい（</a:t>
                      </a:r>
                      <a:r>
                        <a:rPr kumimoji="1" lang="en-US" altLang="ja-JP" sz="2000" dirty="0"/>
                        <a:t>Pp&lt;1.0</a:t>
                      </a:r>
                      <a:r>
                        <a:rPr kumimoji="1" lang="ja-JP" altLang="en-US" sz="2000" dirty="0"/>
                        <a:t>）工程に対する製品選別用の測定システムには、次の式を用いる。</a:t>
                      </a:r>
                      <a:endParaRPr kumimoji="1" lang="en-US" altLang="ja-JP" sz="2000" dirty="0"/>
                    </a:p>
                    <a:p>
                      <a:r>
                        <a:rPr kumimoji="1" lang="ja-JP" altLang="en-US" sz="2000" dirty="0"/>
                        <a:t>　</a:t>
                      </a:r>
                      <a:r>
                        <a:rPr kumimoji="1" lang="en-US" altLang="ja-JP" sz="2000" dirty="0"/>
                        <a:t>%GRR</a:t>
                      </a:r>
                      <a:r>
                        <a:rPr kumimoji="1" lang="ja-JP" altLang="en-US" sz="2000" dirty="0"/>
                        <a:t>＝</a:t>
                      </a:r>
                      <a:r>
                        <a:rPr kumimoji="1" lang="en-US" altLang="ja-JP" sz="2000" dirty="0"/>
                        <a:t>100×GRR</a:t>
                      </a:r>
                      <a:r>
                        <a:rPr kumimoji="1" lang="ja-JP" altLang="en-US" sz="2000" dirty="0"/>
                        <a:t>／（Ｗ／６）</a:t>
                      </a:r>
                      <a:endParaRPr kumimoji="1" lang="en-US" altLang="ja-JP" sz="2000" dirty="0"/>
                    </a:p>
                    <a:p>
                      <a:pPr marL="457200" indent="-457200">
                        <a:buFont typeface="+mj-ea"/>
                        <a:buAutoNum type="circleNumDbPlain"/>
                      </a:pPr>
                      <a:r>
                        <a:rPr kumimoji="1" lang="ja-JP" altLang="en-US" sz="2000" dirty="0"/>
                        <a:t>すなわち、工程管理用の計測システム解析には、</a:t>
                      </a:r>
                      <a:r>
                        <a:rPr kumimoji="1" lang="en-US" altLang="ja-JP" sz="2000" dirty="0"/>
                        <a:t>%GRR</a:t>
                      </a:r>
                      <a:r>
                        <a:rPr kumimoji="1" lang="ja-JP" altLang="en-US" sz="2000" dirty="0"/>
                        <a:t>の式の分母に</a:t>
                      </a:r>
                      <a:r>
                        <a:rPr kumimoji="1" lang="en-US" altLang="ja-JP" sz="2000" dirty="0"/>
                        <a:t>TV</a:t>
                      </a:r>
                      <a:r>
                        <a:rPr kumimoji="1" lang="ja-JP" altLang="en-US" sz="2000" dirty="0"/>
                        <a:t>を用い、検査用の計測システム解析には、</a:t>
                      </a:r>
                      <a:r>
                        <a:rPr kumimoji="1" lang="en-US" altLang="ja-JP" sz="2000" dirty="0"/>
                        <a:t>%GRR</a:t>
                      </a:r>
                      <a:r>
                        <a:rPr kumimoji="1" lang="ja-JP" altLang="en-US" sz="2000" dirty="0"/>
                        <a:t>の式の分母に</a:t>
                      </a:r>
                      <a:r>
                        <a:rPr kumimoji="1" lang="en-US" altLang="ja-JP" sz="2000" dirty="0"/>
                        <a:t>W/6</a:t>
                      </a:r>
                      <a:r>
                        <a:rPr kumimoji="1" lang="ja-JP" altLang="en-US" sz="2000" dirty="0"/>
                        <a:t>を用いる。</a:t>
                      </a:r>
                      <a:endParaRPr kumimoji="1" lang="en-US" altLang="ja-JP" sz="2000" dirty="0"/>
                    </a:p>
                  </a:txBody>
                  <a:tcPr/>
                </a:tc>
                <a:extLst>
                  <a:ext uri="{0D108BD9-81ED-4DB2-BD59-A6C34878D82A}">
                    <a16:rowId xmlns:a16="http://schemas.microsoft.com/office/drawing/2014/main" val="1671280293"/>
                  </a:ext>
                </a:extLst>
              </a:tr>
              <a:tr h="272764">
                <a:tc>
                  <a:txBody>
                    <a:bodyPr/>
                    <a:lstStyle/>
                    <a:p>
                      <a:r>
                        <a:rPr kumimoji="1" lang="ja-JP" altLang="en-US" sz="2000" dirty="0"/>
                        <a:t>９</a:t>
                      </a:r>
                      <a:endParaRPr kumimoji="1" lang="en-US" altLang="ja-JP" sz="2000" dirty="0"/>
                    </a:p>
                    <a:p>
                      <a:r>
                        <a:rPr kumimoji="1" lang="ja-JP" altLang="en-US" sz="2000" dirty="0"/>
                        <a:t>数値解析</a:t>
                      </a:r>
                      <a:endParaRPr kumimoji="1" lang="en-US" altLang="ja-JP" sz="2000" dirty="0"/>
                    </a:p>
                  </a:txBody>
                  <a:tcPr/>
                </a:tc>
                <a:tc>
                  <a:txBody>
                    <a:bodyPr/>
                    <a:lstStyle/>
                    <a:p>
                      <a:r>
                        <a:rPr kumimoji="1" lang="ja-JP" altLang="en-US" sz="2000" dirty="0"/>
                        <a:t>知覚区分数（</a:t>
                      </a:r>
                      <a:r>
                        <a:rPr kumimoji="1" lang="en-US" altLang="ja-JP" sz="2000" dirty="0" err="1"/>
                        <a:t>ndc</a:t>
                      </a:r>
                      <a:r>
                        <a:rPr kumimoji="1" lang="ja-JP" altLang="en-US" sz="2000" dirty="0"/>
                        <a:t>）の算出</a:t>
                      </a:r>
                    </a:p>
                  </a:txBody>
                  <a:tcPr/>
                </a:tc>
                <a:tc>
                  <a:txBody>
                    <a:bodyPr/>
                    <a:lstStyle/>
                    <a:p>
                      <a:pPr marL="457200" indent="-457200">
                        <a:buFont typeface="+mj-ea"/>
                        <a:buAutoNum type="circleNumDbPlain"/>
                      </a:pPr>
                      <a:r>
                        <a:rPr kumimoji="1" lang="ja-JP" altLang="en-US" sz="2000" dirty="0"/>
                        <a:t>測定システムで確実に区別することのできる</a:t>
                      </a:r>
                      <a:r>
                        <a:rPr kumimoji="1" lang="en-US" altLang="ja-JP" sz="2000" dirty="0" err="1"/>
                        <a:t>ndc</a:t>
                      </a:r>
                      <a:r>
                        <a:rPr kumimoji="1" lang="ja-JP" altLang="en-US" sz="2000" dirty="0"/>
                        <a:t>を次の式で算出する。</a:t>
                      </a:r>
                      <a:endParaRPr kumimoji="1" lang="en-US" altLang="ja-JP" sz="2000" dirty="0"/>
                    </a:p>
                    <a:p>
                      <a:r>
                        <a:rPr kumimoji="1" lang="ja-JP" altLang="en-US" sz="2000" dirty="0"/>
                        <a:t>　</a:t>
                      </a:r>
                      <a:r>
                        <a:rPr kumimoji="1" lang="en-US" altLang="ja-JP" sz="2000" dirty="0" err="1"/>
                        <a:t>ndc</a:t>
                      </a:r>
                      <a:r>
                        <a:rPr kumimoji="1" lang="ja-JP" altLang="en-US" sz="2000" dirty="0"/>
                        <a:t>＝</a:t>
                      </a:r>
                      <a:r>
                        <a:rPr kumimoji="1" lang="en-US" altLang="ja-JP" sz="2000" dirty="0"/>
                        <a:t>1.41×</a:t>
                      </a:r>
                      <a:r>
                        <a:rPr kumimoji="1" lang="ja-JP" altLang="en-US" sz="2000" dirty="0"/>
                        <a:t>（</a:t>
                      </a:r>
                      <a:r>
                        <a:rPr kumimoji="1" lang="en-US" altLang="ja-JP" sz="2000" dirty="0"/>
                        <a:t>PV</a:t>
                      </a:r>
                      <a:r>
                        <a:rPr kumimoji="1" lang="ja-JP" altLang="en-US" sz="2000" dirty="0"/>
                        <a:t>／</a:t>
                      </a:r>
                      <a:r>
                        <a:rPr kumimoji="1" lang="en-US" altLang="ja-JP" sz="2000" dirty="0"/>
                        <a:t>GRR</a:t>
                      </a:r>
                      <a:r>
                        <a:rPr kumimoji="1" lang="ja-JP" altLang="en-US" sz="2000" dirty="0"/>
                        <a:t>）</a:t>
                      </a:r>
                      <a:endParaRPr kumimoji="1" lang="en-US" altLang="ja-JP" sz="2000" dirty="0"/>
                    </a:p>
                    <a:p>
                      <a:r>
                        <a:rPr kumimoji="1" lang="ja-JP" altLang="en-US" sz="2000" dirty="0"/>
                        <a:t>　</a:t>
                      </a:r>
                      <a:r>
                        <a:rPr kumimoji="1" lang="en-US" altLang="ja-JP" sz="2000" dirty="0" err="1"/>
                        <a:t>ndc</a:t>
                      </a:r>
                      <a:r>
                        <a:rPr kumimoji="1" lang="ja-JP" altLang="en-US" sz="2000" dirty="0"/>
                        <a:t>は切り捨てて整数とする。</a:t>
                      </a:r>
                      <a:endParaRPr kumimoji="1" lang="en-US" altLang="ja-JP" sz="2000" dirty="0"/>
                    </a:p>
                  </a:txBody>
                  <a:tcPr/>
                </a:tc>
                <a:extLst>
                  <a:ext uri="{0D108BD9-81ED-4DB2-BD59-A6C34878D82A}">
                    <a16:rowId xmlns:a16="http://schemas.microsoft.com/office/drawing/2014/main" val="348143107"/>
                  </a:ext>
                </a:extLst>
              </a:tr>
            </a:tbl>
          </a:graphicData>
        </a:graphic>
      </p:graphicFrame>
    </p:spTree>
    <p:extLst>
      <p:ext uri="{BB962C8B-B14F-4D97-AF65-F5344CB8AC3E}">
        <p14:creationId xmlns:p14="http://schemas.microsoft.com/office/powerpoint/2010/main" val="161449035"/>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５．ＭＳＡ（繰返し性・再現性（ＧＲＲ））（実施手順）</a:t>
            </a:r>
          </a:p>
        </p:txBody>
      </p:sp>
      <p:graphicFrame>
        <p:nvGraphicFramePr>
          <p:cNvPr id="3" name="表 5">
            <a:extLst>
              <a:ext uri="{FF2B5EF4-FFF2-40B4-BE49-F238E27FC236}">
                <a16:creationId xmlns:a16="http://schemas.microsoft.com/office/drawing/2014/main" id="{6AF79CA9-CF83-4C59-868A-7774A179489D}"/>
              </a:ext>
            </a:extLst>
          </p:cNvPr>
          <p:cNvGraphicFramePr>
            <a:graphicFrameLocks noGrp="1"/>
          </p:cNvGraphicFramePr>
          <p:nvPr>
            <p:extLst>
              <p:ext uri="{D42A27DB-BD31-4B8C-83A1-F6EECF244321}">
                <p14:modId xmlns:p14="http://schemas.microsoft.com/office/powerpoint/2010/main" val="58542064"/>
              </p:ext>
            </p:extLst>
          </p:nvPr>
        </p:nvGraphicFramePr>
        <p:xfrm>
          <a:off x="838200" y="1388127"/>
          <a:ext cx="10515600" cy="4236720"/>
        </p:xfrm>
        <a:graphic>
          <a:graphicData uri="http://schemas.openxmlformats.org/drawingml/2006/table">
            <a:tbl>
              <a:tblPr firstRow="1" bandRow="1">
                <a:tableStyleId>{5940675A-B579-460E-94D1-54222C63F5DA}</a:tableStyleId>
              </a:tblPr>
              <a:tblGrid>
                <a:gridCol w="1232971">
                  <a:extLst>
                    <a:ext uri="{9D8B030D-6E8A-4147-A177-3AD203B41FA5}">
                      <a16:colId xmlns:a16="http://schemas.microsoft.com/office/drawing/2014/main" val="2802067622"/>
                    </a:ext>
                  </a:extLst>
                </a:gridCol>
                <a:gridCol w="2049137">
                  <a:extLst>
                    <a:ext uri="{9D8B030D-6E8A-4147-A177-3AD203B41FA5}">
                      <a16:colId xmlns:a16="http://schemas.microsoft.com/office/drawing/2014/main" val="2115687546"/>
                    </a:ext>
                  </a:extLst>
                </a:gridCol>
                <a:gridCol w="7233492">
                  <a:extLst>
                    <a:ext uri="{9D8B030D-6E8A-4147-A177-3AD203B41FA5}">
                      <a16:colId xmlns:a16="http://schemas.microsoft.com/office/drawing/2014/main" val="740940948"/>
                    </a:ext>
                  </a:extLst>
                </a:gridCol>
              </a:tblGrid>
              <a:tr h="266835">
                <a:tc>
                  <a:txBody>
                    <a:bodyPr/>
                    <a:lstStyle/>
                    <a:p>
                      <a:pPr algn="ctr"/>
                      <a:r>
                        <a:rPr kumimoji="1" lang="ja-JP" altLang="en-US" sz="2000" dirty="0"/>
                        <a:t>ステップ</a:t>
                      </a:r>
                    </a:p>
                  </a:txBody>
                  <a:tcPr>
                    <a:solidFill>
                      <a:schemeClr val="tx2">
                        <a:lumMod val="40000"/>
                        <a:lumOff val="60000"/>
                      </a:schemeClr>
                    </a:solidFill>
                  </a:tcPr>
                </a:tc>
                <a:tc>
                  <a:txBody>
                    <a:bodyPr/>
                    <a:lstStyle/>
                    <a:p>
                      <a:pPr algn="ctr"/>
                      <a:r>
                        <a:rPr kumimoji="1" lang="ja-JP" altLang="en-US" sz="2000" dirty="0"/>
                        <a:t>実施項目</a:t>
                      </a:r>
                    </a:p>
                  </a:txBody>
                  <a:tcPr>
                    <a:solidFill>
                      <a:schemeClr val="tx2">
                        <a:lumMod val="40000"/>
                        <a:lumOff val="60000"/>
                      </a:schemeClr>
                    </a:solidFill>
                  </a:tcPr>
                </a:tc>
                <a:tc>
                  <a:txBody>
                    <a:bodyPr/>
                    <a:lstStyle/>
                    <a:p>
                      <a:pPr algn="ctr"/>
                      <a:r>
                        <a:rPr kumimoji="1" lang="ja-JP" altLang="en-US" sz="2000" dirty="0"/>
                        <a:t>実施事項</a:t>
                      </a:r>
                    </a:p>
                  </a:txBody>
                  <a:tcPr>
                    <a:solidFill>
                      <a:schemeClr val="tx2">
                        <a:lumMod val="40000"/>
                        <a:lumOff val="60000"/>
                      </a:schemeClr>
                    </a:solidFill>
                  </a:tcPr>
                </a:tc>
                <a:extLst>
                  <a:ext uri="{0D108BD9-81ED-4DB2-BD59-A6C34878D82A}">
                    <a16:rowId xmlns:a16="http://schemas.microsoft.com/office/drawing/2014/main" val="1634716242"/>
                  </a:ext>
                </a:extLst>
              </a:tr>
              <a:tr h="844013">
                <a:tc>
                  <a:txBody>
                    <a:bodyPr/>
                    <a:lstStyle/>
                    <a:p>
                      <a:r>
                        <a:rPr kumimoji="1" lang="ja-JP" altLang="en-US" sz="2000" dirty="0"/>
                        <a:t>１０</a:t>
                      </a:r>
                      <a:endParaRPr kumimoji="1" lang="en-US" altLang="ja-JP" sz="2000" dirty="0"/>
                    </a:p>
                    <a:p>
                      <a:r>
                        <a:rPr kumimoji="1" lang="ja-JP" altLang="en-US" sz="2000" dirty="0"/>
                        <a:t>評価</a:t>
                      </a:r>
                      <a:endParaRPr kumimoji="1" lang="en-US" altLang="ja-JP"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測定システムの受入れ可否判断</a:t>
                      </a:r>
                    </a:p>
                  </a:txBody>
                  <a:tcPr/>
                </a:tc>
                <a:tc>
                  <a:txBody>
                    <a:bodyPr/>
                    <a:lstStyle/>
                    <a:p>
                      <a:pPr marL="457200" indent="-457200">
                        <a:buFont typeface="+mj-ea"/>
                        <a:buAutoNum type="circleNumDbPlain"/>
                      </a:pPr>
                      <a:r>
                        <a:rPr kumimoji="1" lang="ja-JP" altLang="en-US" sz="2000" dirty="0"/>
                        <a:t>測定システムに対する受入れ可否を次の判定基準により判定する。</a:t>
                      </a:r>
                      <a:endParaRPr kumimoji="1" lang="en-US" altLang="ja-JP" sz="2000" dirty="0"/>
                    </a:p>
                    <a:p>
                      <a:endParaRPr kumimoji="1" lang="en-US" altLang="ja-JP" sz="2000" dirty="0"/>
                    </a:p>
                    <a:p>
                      <a:endParaRPr kumimoji="1" lang="en-US" altLang="ja-JP" sz="2000" dirty="0"/>
                    </a:p>
                    <a:p>
                      <a:endParaRPr kumimoji="1" lang="en-US" altLang="ja-JP" sz="2000" dirty="0"/>
                    </a:p>
                    <a:p>
                      <a:endParaRPr kumimoji="1" lang="en-US" altLang="ja-JP" sz="2000" dirty="0"/>
                    </a:p>
                    <a:p>
                      <a:endParaRPr kumimoji="1" lang="en-US" altLang="ja-JP" sz="2000" dirty="0"/>
                    </a:p>
                    <a:p>
                      <a:pPr marL="457200" indent="-457200">
                        <a:buFont typeface="+mj-ea"/>
                        <a:buAutoNum type="circleNumDbPlain" startAt="2"/>
                      </a:pPr>
                      <a:r>
                        <a:rPr kumimoji="1" lang="en-US" altLang="ja-JP" sz="2000" dirty="0" err="1"/>
                        <a:t>ndc</a:t>
                      </a:r>
                      <a:r>
                        <a:rPr kumimoji="1" lang="ja-JP" altLang="en-US" sz="2000" dirty="0"/>
                        <a:t>で判定する場合の合否判定基準は、次のようになる。</a:t>
                      </a:r>
                      <a:endParaRPr kumimoji="1" lang="en-US" altLang="ja-JP" sz="2000" dirty="0"/>
                    </a:p>
                    <a:p>
                      <a:r>
                        <a:rPr kumimoji="1" lang="ja-JP" altLang="en-US" sz="2000" dirty="0"/>
                        <a:t>　</a:t>
                      </a:r>
                      <a:r>
                        <a:rPr kumimoji="1" lang="en-US" altLang="ja-JP" sz="2000" dirty="0" err="1"/>
                        <a:t>ndc</a:t>
                      </a:r>
                      <a:r>
                        <a:rPr kumimoji="1" lang="ja-JP" altLang="en-US" sz="2000" dirty="0"/>
                        <a:t>≧５</a:t>
                      </a:r>
                      <a:endParaRPr kumimoji="1" lang="en-US" altLang="ja-JP" sz="2000" dirty="0"/>
                    </a:p>
                  </a:txBody>
                  <a:tcPr/>
                </a:tc>
                <a:extLst>
                  <a:ext uri="{0D108BD9-81ED-4DB2-BD59-A6C34878D82A}">
                    <a16:rowId xmlns:a16="http://schemas.microsoft.com/office/drawing/2014/main" val="1671280293"/>
                  </a:ext>
                </a:extLst>
              </a:tr>
              <a:tr h="272764">
                <a:tc>
                  <a:txBody>
                    <a:bodyPr/>
                    <a:lstStyle/>
                    <a:p>
                      <a:r>
                        <a:rPr kumimoji="1" lang="ja-JP" altLang="en-US" sz="2000" dirty="0"/>
                        <a:t>１１</a:t>
                      </a:r>
                      <a:endParaRPr kumimoji="1" lang="en-US" altLang="ja-JP" sz="2000" dirty="0"/>
                    </a:p>
                    <a:p>
                      <a:r>
                        <a:rPr kumimoji="1" lang="ja-JP" altLang="en-US" sz="2000" dirty="0"/>
                        <a:t>改善</a:t>
                      </a:r>
                      <a:endParaRPr kumimoji="1" lang="en-US" altLang="ja-JP" sz="2000" dirty="0"/>
                    </a:p>
                  </a:txBody>
                  <a:tcPr/>
                </a:tc>
                <a:tc>
                  <a:txBody>
                    <a:bodyPr/>
                    <a:lstStyle/>
                    <a:p>
                      <a:r>
                        <a:rPr kumimoji="1" lang="ja-JP" altLang="en-US" sz="2000" dirty="0"/>
                        <a:t>改善処置の実施</a:t>
                      </a:r>
                    </a:p>
                  </a:txBody>
                  <a:tcPr/>
                </a:tc>
                <a:tc>
                  <a:txBody>
                    <a:bodyPr/>
                    <a:lstStyle/>
                    <a:p>
                      <a:pPr marL="457200" indent="-457200">
                        <a:buFont typeface="+mj-ea"/>
                        <a:buAutoNum type="circleNumDbPlain"/>
                      </a:pPr>
                      <a:r>
                        <a:rPr kumimoji="1" lang="ja-JP" altLang="en-US" sz="2000" dirty="0"/>
                        <a:t>ステップ</a:t>
                      </a:r>
                      <a:r>
                        <a:rPr kumimoji="1" lang="en-US" altLang="ja-JP" sz="2000" dirty="0"/>
                        <a:t>10</a:t>
                      </a:r>
                      <a:r>
                        <a:rPr kumimoji="1" lang="ja-JP" altLang="en-US" sz="2000" dirty="0"/>
                        <a:t>の結果が不合格となった場合は、原因を分析し改善処置をとる。</a:t>
                      </a:r>
                      <a:endParaRPr kumimoji="1" lang="en-US" altLang="ja-JP" sz="2000" dirty="0"/>
                    </a:p>
                    <a:p>
                      <a:pPr marL="457200" indent="-457200">
                        <a:buFont typeface="+mj-ea"/>
                        <a:buAutoNum type="circleNumDbPlain"/>
                      </a:pPr>
                      <a:r>
                        <a:rPr kumimoji="1" lang="ja-JP" altLang="en-US" sz="2000" dirty="0"/>
                        <a:t>改善処置後の</a:t>
                      </a:r>
                      <a:r>
                        <a:rPr kumimoji="1" lang="en-US" altLang="ja-JP" sz="2000" dirty="0"/>
                        <a:t>%GRR</a:t>
                      </a:r>
                      <a:r>
                        <a:rPr kumimoji="1" lang="ja-JP" altLang="en-US" sz="2000" dirty="0"/>
                        <a:t>及び</a:t>
                      </a:r>
                      <a:r>
                        <a:rPr kumimoji="1" lang="en-US" altLang="ja-JP" sz="2000" dirty="0" err="1"/>
                        <a:t>ndc</a:t>
                      </a:r>
                      <a:r>
                        <a:rPr kumimoji="1" lang="ja-JP" altLang="en-US" sz="2000" dirty="0"/>
                        <a:t>を再算出する。</a:t>
                      </a:r>
                      <a:endParaRPr kumimoji="1" lang="en-US" altLang="ja-JP" sz="2000" dirty="0"/>
                    </a:p>
                  </a:txBody>
                  <a:tcPr/>
                </a:tc>
                <a:extLst>
                  <a:ext uri="{0D108BD9-81ED-4DB2-BD59-A6C34878D82A}">
                    <a16:rowId xmlns:a16="http://schemas.microsoft.com/office/drawing/2014/main" val="348143107"/>
                  </a:ext>
                </a:extLst>
              </a:tr>
            </a:tbl>
          </a:graphicData>
        </a:graphic>
      </p:graphicFrame>
      <p:graphicFrame>
        <p:nvGraphicFramePr>
          <p:cNvPr id="2" name="表 5">
            <a:extLst>
              <a:ext uri="{FF2B5EF4-FFF2-40B4-BE49-F238E27FC236}">
                <a16:creationId xmlns:a16="http://schemas.microsoft.com/office/drawing/2014/main" id="{EDE29FB9-605B-4C4B-B180-AB52047C845F}"/>
              </a:ext>
            </a:extLst>
          </p:cNvPr>
          <p:cNvGraphicFramePr>
            <a:graphicFrameLocks noGrp="1"/>
          </p:cNvGraphicFramePr>
          <p:nvPr>
            <p:extLst>
              <p:ext uri="{D42A27DB-BD31-4B8C-83A1-F6EECF244321}">
                <p14:modId xmlns:p14="http://schemas.microsoft.com/office/powerpoint/2010/main" val="3740653075"/>
              </p:ext>
            </p:extLst>
          </p:nvPr>
        </p:nvGraphicFramePr>
        <p:xfrm>
          <a:off x="4119612" y="2471462"/>
          <a:ext cx="7234188" cy="1243890"/>
        </p:xfrm>
        <a:graphic>
          <a:graphicData uri="http://schemas.openxmlformats.org/drawingml/2006/table">
            <a:tbl>
              <a:tblPr firstRow="1" bandRow="1">
                <a:tableStyleId>{5940675A-B579-460E-94D1-54222C63F5DA}</a:tableStyleId>
              </a:tblPr>
              <a:tblGrid>
                <a:gridCol w="5101390">
                  <a:extLst>
                    <a:ext uri="{9D8B030D-6E8A-4147-A177-3AD203B41FA5}">
                      <a16:colId xmlns:a16="http://schemas.microsoft.com/office/drawing/2014/main" val="2123781716"/>
                    </a:ext>
                  </a:extLst>
                </a:gridCol>
                <a:gridCol w="2132798">
                  <a:extLst>
                    <a:ext uri="{9D8B030D-6E8A-4147-A177-3AD203B41FA5}">
                      <a16:colId xmlns:a16="http://schemas.microsoft.com/office/drawing/2014/main" val="3717237957"/>
                    </a:ext>
                  </a:extLst>
                </a:gridCol>
              </a:tblGrid>
              <a:tr h="414630">
                <a:tc>
                  <a:txBody>
                    <a:bodyPr/>
                    <a:lstStyle/>
                    <a:p>
                      <a:r>
                        <a:rPr kumimoji="1" lang="en-US" altLang="ja-JP" sz="2000" dirty="0"/>
                        <a:t>%GRR</a:t>
                      </a:r>
                      <a:r>
                        <a:rPr kumimoji="1" lang="ja-JP" altLang="en-US" sz="2000" dirty="0"/>
                        <a:t>　</a:t>
                      </a:r>
                      <a:r>
                        <a:rPr kumimoji="1" lang="en-US" altLang="ja-JP" sz="2000" dirty="0"/>
                        <a:t>&lt;</a:t>
                      </a:r>
                      <a:r>
                        <a:rPr kumimoji="1" lang="ja-JP" altLang="en-US" sz="2000" dirty="0"/>
                        <a:t>　</a:t>
                      </a:r>
                      <a:r>
                        <a:rPr kumimoji="1" lang="en-US" altLang="ja-JP" sz="2000" dirty="0"/>
                        <a:t>10%</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合格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9349220"/>
                  </a:ext>
                </a:extLst>
              </a:tr>
              <a:tr h="414630">
                <a:tc>
                  <a:txBody>
                    <a:bodyPr/>
                    <a:lstStyle/>
                    <a:p>
                      <a:r>
                        <a:rPr kumimoji="1" lang="en-US" altLang="ja-JP" sz="2000" dirty="0"/>
                        <a:t>10%</a:t>
                      </a:r>
                      <a:r>
                        <a:rPr kumimoji="1" lang="ja-JP" altLang="en-US" sz="2000" dirty="0"/>
                        <a:t>　≦　</a:t>
                      </a:r>
                      <a:r>
                        <a:rPr kumimoji="1" lang="en-US" altLang="ja-JP" sz="2000" dirty="0"/>
                        <a:t>%GRR</a:t>
                      </a:r>
                      <a:r>
                        <a:rPr kumimoji="1" lang="ja-JP" altLang="en-US" sz="2000" dirty="0"/>
                        <a:t>　≦　</a:t>
                      </a:r>
                      <a:r>
                        <a:rPr kumimoji="1" lang="en-US" altLang="ja-JP" sz="2000" dirty="0"/>
                        <a:t>30%</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条件付き合格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675294"/>
                  </a:ext>
                </a:extLst>
              </a:tr>
              <a:tr h="414630">
                <a:tc>
                  <a:txBody>
                    <a:bodyPr/>
                    <a:lstStyle/>
                    <a:p>
                      <a:r>
                        <a:rPr kumimoji="1" lang="en-US" altLang="ja-JP" sz="2000" dirty="0"/>
                        <a:t>30%</a:t>
                      </a:r>
                      <a:r>
                        <a:rPr kumimoji="1" lang="ja-JP" altLang="en-US" sz="2000" dirty="0"/>
                        <a:t>　＜　</a:t>
                      </a:r>
                      <a:r>
                        <a:rPr kumimoji="1" lang="en-US" altLang="ja-JP" sz="2000" dirty="0"/>
                        <a:t>%GRR</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不合格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6223070"/>
                  </a:ext>
                </a:extLst>
              </a:tr>
            </a:tbl>
          </a:graphicData>
        </a:graphic>
      </p:graphicFrame>
    </p:spTree>
    <p:extLst>
      <p:ext uri="{BB962C8B-B14F-4D97-AF65-F5344CB8AC3E}">
        <p14:creationId xmlns:p14="http://schemas.microsoft.com/office/powerpoint/2010/main" val="1296690894"/>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計数値</a:t>
            </a:r>
            <a:r>
              <a:rPr lang="en-US" altLang="ja-JP" sz="2400" dirty="0"/>
              <a:t>MSA</a:t>
            </a:r>
            <a:r>
              <a:rPr lang="ja-JP" altLang="en-US" sz="2400" dirty="0"/>
              <a:t>とは、測定値が有限な分類数を取り扱う測定システム。</a:t>
            </a:r>
            <a:endParaRPr lang="en-US" altLang="ja-JP" sz="2400" dirty="0"/>
          </a:p>
          <a:p>
            <a:pPr lvl="1">
              <a:lnSpc>
                <a:spcPct val="100000"/>
              </a:lnSpc>
              <a:buFont typeface="Wingdings" panose="05000000000000000000" pitchFamily="2" charset="2"/>
              <a:buChar char="Ø"/>
            </a:pPr>
            <a:r>
              <a:rPr lang="ja-JP" altLang="en-US" dirty="0"/>
              <a:t>最も一般的なものとして「ゲージ</a:t>
            </a:r>
            <a:r>
              <a:rPr lang="en-US" altLang="ja-JP" dirty="0"/>
              <a:t>no</a:t>
            </a:r>
            <a:r>
              <a:rPr lang="ja-JP" altLang="en-US" dirty="0"/>
              <a:t>／</a:t>
            </a:r>
            <a:r>
              <a:rPr lang="en-US" altLang="ja-JP" dirty="0"/>
              <a:t>go</a:t>
            </a:r>
            <a:r>
              <a:rPr lang="ja-JP" altLang="en-US" dirty="0"/>
              <a:t>検査」「外観検査」など。</a:t>
            </a:r>
            <a:endParaRPr lang="en-US" altLang="ja-JP" dirty="0"/>
          </a:p>
          <a:p>
            <a:pPr lvl="1">
              <a:lnSpc>
                <a:spcPct val="100000"/>
              </a:lnSpc>
              <a:buFont typeface="Wingdings" panose="05000000000000000000" pitchFamily="2" charset="2"/>
              <a:buChar char="Ø"/>
            </a:pPr>
            <a:r>
              <a:rPr lang="ja-JP" altLang="en-US" dirty="0"/>
              <a:t>例えば、工程能力が十分でない場合、規格外れ品を取り除く選別検査が必要となり、その測定システムの信頼度を評価が必要となる。</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561</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a:t>
            </a:r>
          </a:p>
        </p:txBody>
      </p:sp>
      <p:grpSp>
        <p:nvGrpSpPr>
          <p:cNvPr id="31" name="グループ化 30">
            <a:extLst>
              <a:ext uri="{FF2B5EF4-FFF2-40B4-BE49-F238E27FC236}">
                <a16:creationId xmlns:a16="http://schemas.microsoft.com/office/drawing/2014/main" id="{8A22797B-F692-42D2-9482-64115EA67E56}"/>
              </a:ext>
            </a:extLst>
          </p:cNvPr>
          <p:cNvGrpSpPr/>
          <p:nvPr/>
        </p:nvGrpSpPr>
        <p:grpSpPr>
          <a:xfrm>
            <a:off x="1597794" y="3429000"/>
            <a:ext cx="8710863" cy="2500162"/>
            <a:chOff x="0" y="0"/>
            <a:chExt cx="5493302" cy="1859227"/>
          </a:xfrm>
        </p:grpSpPr>
        <p:cxnSp>
          <p:nvCxnSpPr>
            <p:cNvPr id="32" name="直線コネクタ 31">
              <a:extLst>
                <a:ext uri="{FF2B5EF4-FFF2-40B4-BE49-F238E27FC236}">
                  <a16:creationId xmlns:a16="http://schemas.microsoft.com/office/drawing/2014/main" id="{F194B4A7-9023-46B6-9409-E5B933E95F17}"/>
                </a:ext>
              </a:extLst>
            </p:cNvPr>
            <p:cNvCxnSpPr/>
            <p:nvPr/>
          </p:nvCxnSpPr>
          <p:spPr>
            <a:xfrm flipH="1">
              <a:off x="1493279" y="29991"/>
              <a:ext cx="0" cy="162805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2866BF27-3D72-43F6-BDB9-D08C8E41A16B}"/>
                </a:ext>
              </a:extLst>
            </p:cNvPr>
            <p:cNvCxnSpPr/>
            <p:nvPr/>
          </p:nvCxnSpPr>
          <p:spPr>
            <a:xfrm>
              <a:off x="353879" y="1639195"/>
              <a:ext cx="22668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F135A3A8-EA5C-4FB5-B7C7-FF5701F963ED}"/>
                </a:ext>
              </a:extLst>
            </p:cNvPr>
            <p:cNvCxnSpPr/>
            <p:nvPr/>
          </p:nvCxnSpPr>
          <p:spPr>
            <a:xfrm flipH="1">
              <a:off x="953294" y="10491"/>
              <a:ext cx="0" cy="1631229"/>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8A72DF7C-059F-4246-BDA6-7FA2B30A120D}"/>
                </a:ext>
              </a:extLst>
            </p:cNvPr>
            <p:cNvCxnSpPr/>
            <p:nvPr/>
          </p:nvCxnSpPr>
          <p:spPr>
            <a:xfrm flipH="1">
              <a:off x="2005222" y="20019"/>
              <a:ext cx="0" cy="1631229"/>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0B31CD1D-B2B9-4328-A104-9347F0268B86}"/>
                </a:ext>
              </a:extLst>
            </p:cNvPr>
            <p:cNvSpPr/>
            <p:nvPr/>
          </p:nvSpPr>
          <p:spPr>
            <a:xfrm>
              <a:off x="0" y="36898"/>
              <a:ext cx="929490" cy="229879"/>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800">
                  <a:solidFill>
                    <a:schemeClr val="tx1"/>
                  </a:solidFill>
                </a:rPr>
                <a:t>ＬＳＬ</a:t>
              </a:r>
              <a:endParaRPr kumimoji="1" lang="en-US" altLang="ja-JP" sz="1800">
                <a:solidFill>
                  <a:schemeClr val="tx1"/>
                </a:solidFill>
              </a:endParaRPr>
            </a:p>
          </p:txBody>
        </p:sp>
        <p:sp>
          <p:nvSpPr>
            <p:cNvPr id="37" name="正方形/長方形 36">
              <a:extLst>
                <a:ext uri="{FF2B5EF4-FFF2-40B4-BE49-F238E27FC236}">
                  <a16:creationId xmlns:a16="http://schemas.microsoft.com/office/drawing/2014/main" id="{DE83F9CC-190D-420F-9710-3E6E96328552}"/>
                </a:ext>
              </a:extLst>
            </p:cNvPr>
            <p:cNvSpPr/>
            <p:nvPr/>
          </p:nvSpPr>
          <p:spPr>
            <a:xfrm>
              <a:off x="2042411" y="30211"/>
              <a:ext cx="875418" cy="23217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800">
                  <a:solidFill>
                    <a:schemeClr val="tx1"/>
                  </a:solidFill>
                </a:rPr>
                <a:t>ＵＳＬ</a:t>
              </a:r>
              <a:endParaRPr kumimoji="1" lang="en-US" altLang="ja-JP" sz="1800">
                <a:solidFill>
                  <a:schemeClr val="tx1"/>
                </a:solidFill>
              </a:endParaRPr>
            </a:p>
          </p:txBody>
        </p:sp>
        <p:sp>
          <p:nvSpPr>
            <p:cNvPr id="38" name="正方形/長方形 37">
              <a:extLst>
                <a:ext uri="{FF2B5EF4-FFF2-40B4-BE49-F238E27FC236}">
                  <a16:creationId xmlns:a16="http://schemas.microsoft.com/office/drawing/2014/main" id="{FF94F801-3DB6-4B82-BEF3-DE2F24E60C1E}"/>
                </a:ext>
              </a:extLst>
            </p:cNvPr>
            <p:cNvSpPr/>
            <p:nvPr/>
          </p:nvSpPr>
          <p:spPr>
            <a:xfrm>
              <a:off x="767488" y="76853"/>
              <a:ext cx="351324" cy="1563208"/>
            </a:xfrm>
            <a:prstGeom prst="rect">
              <a:avLst/>
            </a:prstGeom>
            <a:solidFill>
              <a:schemeClr val="bg1">
                <a:lumMod val="6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9" name="正方形/長方形 38">
              <a:extLst>
                <a:ext uri="{FF2B5EF4-FFF2-40B4-BE49-F238E27FC236}">
                  <a16:creationId xmlns:a16="http://schemas.microsoft.com/office/drawing/2014/main" id="{7B46D9D0-30E9-4C7B-8170-560DD4ADE9E3}"/>
                </a:ext>
              </a:extLst>
            </p:cNvPr>
            <p:cNvSpPr/>
            <p:nvPr/>
          </p:nvSpPr>
          <p:spPr>
            <a:xfrm>
              <a:off x="1838710" y="64518"/>
              <a:ext cx="327693" cy="1575014"/>
            </a:xfrm>
            <a:prstGeom prst="rect">
              <a:avLst/>
            </a:prstGeom>
            <a:solidFill>
              <a:schemeClr val="bg1">
                <a:lumMod val="6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40" name="正方形/長方形 39">
              <a:extLst>
                <a:ext uri="{FF2B5EF4-FFF2-40B4-BE49-F238E27FC236}">
                  <a16:creationId xmlns:a16="http://schemas.microsoft.com/office/drawing/2014/main" id="{EC200C12-2E7A-477A-8930-908B4059C39F}"/>
                </a:ext>
              </a:extLst>
            </p:cNvPr>
            <p:cNvSpPr/>
            <p:nvPr/>
          </p:nvSpPr>
          <p:spPr>
            <a:xfrm>
              <a:off x="2802345" y="0"/>
              <a:ext cx="2690957" cy="1859227"/>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spcCol="0" rtlCol="0" anchor="t" anchorCtr="0"/>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lnSpc>
                  <a:spcPts val="3000"/>
                </a:lnSpc>
              </a:pPr>
              <a:r>
                <a:rPr kumimoji="1" lang="ja-JP" altLang="en-US" sz="2400" u="sng" baseline="0" dirty="0">
                  <a:solidFill>
                    <a:schemeClr val="tx1"/>
                  </a:solidFill>
                </a:rPr>
                <a:t>規格付近のグレーゾーン</a:t>
              </a:r>
              <a:endParaRPr kumimoji="1" lang="en-US" altLang="ja-JP" sz="2400" u="sng" baseline="0" dirty="0">
                <a:solidFill>
                  <a:schemeClr val="tx1"/>
                </a:solidFill>
              </a:endParaRPr>
            </a:p>
            <a:p>
              <a:pPr algn="l">
                <a:lnSpc>
                  <a:spcPts val="2000"/>
                </a:lnSpc>
              </a:pPr>
              <a:endParaRPr kumimoji="1" lang="en-US" altLang="ja-JP" sz="1800" u="none" baseline="0" dirty="0">
                <a:solidFill>
                  <a:schemeClr val="tx1"/>
                </a:solidFill>
              </a:endParaRPr>
            </a:p>
            <a:p>
              <a:pPr algn="l"/>
              <a:r>
                <a:rPr kumimoji="1" lang="ja-JP" altLang="en-US" sz="2200" u="none" baseline="0" dirty="0">
                  <a:solidFill>
                    <a:schemeClr val="tx1"/>
                  </a:solidFill>
                </a:rPr>
                <a:t>Ａ：常に良品と判断</a:t>
              </a:r>
              <a:endParaRPr kumimoji="1" lang="en-US" altLang="ja-JP" sz="2200" u="none" baseline="0" dirty="0">
                <a:solidFill>
                  <a:schemeClr val="tx1"/>
                </a:solidFill>
              </a:endParaRPr>
            </a:p>
            <a:p>
              <a:pPr algn="l"/>
              <a:r>
                <a:rPr kumimoji="1" lang="ja-JP" altLang="en-US" sz="2200" u="none" baseline="0" dirty="0">
                  <a:solidFill>
                    <a:srgbClr val="FF0000"/>
                  </a:solidFill>
                  <a:effectLst>
                    <a:outerShdw blurRad="38100" dist="38100" dir="2700000" algn="tl">
                      <a:srgbClr val="000000">
                        <a:alpha val="43137"/>
                      </a:srgbClr>
                    </a:outerShdw>
                  </a:effectLst>
                </a:rPr>
                <a:t>Ｂ：良品を不良品と判断</a:t>
              </a:r>
              <a:endParaRPr kumimoji="1" lang="en-US" altLang="ja-JP" sz="2200" u="none" baseline="0" dirty="0">
                <a:solidFill>
                  <a:srgbClr val="FF0000"/>
                </a:solidFill>
                <a:effectLst>
                  <a:outerShdw blurRad="38100" dist="38100" dir="2700000" algn="tl">
                    <a:srgbClr val="000000">
                      <a:alpha val="43137"/>
                    </a:srgbClr>
                  </a:outerShdw>
                </a:effectLst>
              </a:endParaRPr>
            </a:p>
            <a:p>
              <a:pPr algn="l"/>
              <a:r>
                <a:rPr kumimoji="1" lang="ja-JP" altLang="en-US" sz="2200" u="none" baseline="0" dirty="0">
                  <a:solidFill>
                    <a:srgbClr val="FF0000"/>
                  </a:solidFill>
                  <a:effectLst>
                    <a:outerShdw blurRad="38100" dist="38100" dir="2700000" algn="tl">
                      <a:srgbClr val="000000">
                        <a:alpha val="43137"/>
                      </a:srgbClr>
                    </a:outerShdw>
                  </a:effectLst>
                </a:rPr>
                <a:t>　　不良品を良品と判断</a:t>
              </a:r>
              <a:endParaRPr kumimoji="1" lang="en-US" altLang="ja-JP" sz="2200" u="none" baseline="0" dirty="0">
                <a:solidFill>
                  <a:srgbClr val="FF0000"/>
                </a:solidFill>
                <a:effectLst>
                  <a:outerShdw blurRad="38100" dist="38100" dir="2700000" algn="tl">
                    <a:srgbClr val="000000">
                      <a:alpha val="43137"/>
                    </a:srgbClr>
                  </a:outerShdw>
                </a:effectLst>
              </a:endParaRPr>
            </a:p>
            <a:p>
              <a:pPr algn="l"/>
              <a:r>
                <a:rPr kumimoji="1" lang="ja-JP" altLang="en-US" sz="2200" u="none" baseline="0" dirty="0">
                  <a:solidFill>
                    <a:schemeClr val="tx1"/>
                  </a:solidFill>
                </a:rPr>
                <a:t>Ｃ：常に不良品と判断</a:t>
              </a:r>
              <a:endParaRPr kumimoji="1" lang="en-US" altLang="ja-JP" sz="2200" u="none" baseline="0" dirty="0">
                <a:solidFill>
                  <a:schemeClr val="tx1"/>
                </a:solidFill>
              </a:endParaRPr>
            </a:p>
          </p:txBody>
        </p:sp>
        <p:cxnSp>
          <p:nvCxnSpPr>
            <p:cNvPr id="41" name="直線矢印コネクタ 40">
              <a:extLst>
                <a:ext uri="{FF2B5EF4-FFF2-40B4-BE49-F238E27FC236}">
                  <a16:creationId xmlns:a16="http://schemas.microsoft.com/office/drawing/2014/main" id="{4D555808-FF8B-483D-BD22-2BA931DEEC5F}"/>
                </a:ext>
              </a:extLst>
            </p:cNvPr>
            <p:cNvCxnSpPr>
              <a:stCxn id="40" idx="1"/>
            </p:cNvCxnSpPr>
            <p:nvPr/>
          </p:nvCxnSpPr>
          <p:spPr>
            <a:xfrm flipH="1">
              <a:off x="1060014" y="932789"/>
              <a:ext cx="1742331" cy="4552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079837C2-3C31-4556-AE2D-8B2CB7572F1C}"/>
                </a:ext>
              </a:extLst>
            </p:cNvPr>
            <p:cNvCxnSpPr>
              <a:stCxn id="40" idx="1"/>
            </p:cNvCxnSpPr>
            <p:nvPr/>
          </p:nvCxnSpPr>
          <p:spPr>
            <a:xfrm flipH="1">
              <a:off x="2099983" y="932789"/>
              <a:ext cx="702362" cy="45202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3" name="矢印: 左右 42">
              <a:extLst>
                <a:ext uri="{FF2B5EF4-FFF2-40B4-BE49-F238E27FC236}">
                  <a16:creationId xmlns:a16="http://schemas.microsoft.com/office/drawing/2014/main" id="{1FC3A89C-906E-433F-9081-AFF9AE48A1E8}"/>
                </a:ext>
              </a:extLst>
            </p:cNvPr>
            <p:cNvSpPr/>
            <p:nvPr/>
          </p:nvSpPr>
          <p:spPr>
            <a:xfrm>
              <a:off x="258874" y="1686943"/>
              <a:ext cx="508858" cy="160922"/>
            </a:xfrm>
            <a:prstGeom prst="leftRightArrow">
              <a:avLst>
                <a:gd name="adj1" fmla="val 91786"/>
                <a:gd name="adj2" fmla="val 56965"/>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ysClr val="windowText" lastClr="000000"/>
                  </a:solidFill>
                </a:rPr>
                <a:t>Ｃ</a:t>
              </a:r>
            </a:p>
          </p:txBody>
        </p:sp>
        <p:sp>
          <p:nvSpPr>
            <p:cNvPr id="44" name="矢印: 左右 43">
              <a:extLst>
                <a:ext uri="{FF2B5EF4-FFF2-40B4-BE49-F238E27FC236}">
                  <a16:creationId xmlns:a16="http://schemas.microsoft.com/office/drawing/2014/main" id="{808ED9FC-E271-4031-B854-722252E99F9D}"/>
                </a:ext>
              </a:extLst>
            </p:cNvPr>
            <p:cNvSpPr/>
            <p:nvPr/>
          </p:nvSpPr>
          <p:spPr>
            <a:xfrm>
              <a:off x="2166403" y="1678754"/>
              <a:ext cx="522885" cy="170447"/>
            </a:xfrm>
            <a:prstGeom prst="leftRightArrow">
              <a:avLst>
                <a:gd name="adj1" fmla="val 91786"/>
                <a:gd name="adj2" fmla="val 56965"/>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ysClr val="windowText" lastClr="000000"/>
                  </a:solidFill>
                </a:rPr>
                <a:t>Ｃ</a:t>
              </a:r>
            </a:p>
          </p:txBody>
        </p:sp>
        <p:sp>
          <p:nvSpPr>
            <p:cNvPr id="45" name="矢印: 左右 44">
              <a:extLst>
                <a:ext uri="{FF2B5EF4-FFF2-40B4-BE49-F238E27FC236}">
                  <a16:creationId xmlns:a16="http://schemas.microsoft.com/office/drawing/2014/main" id="{CBF9BD78-DDB3-449F-97D1-B74C01177B28}"/>
                </a:ext>
              </a:extLst>
            </p:cNvPr>
            <p:cNvSpPr/>
            <p:nvPr/>
          </p:nvSpPr>
          <p:spPr>
            <a:xfrm>
              <a:off x="770907" y="1683767"/>
              <a:ext cx="337720" cy="164097"/>
            </a:xfrm>
            <a:prstGeom prst="leftRightArrow">
              <a:avLst>
                <a:gd name="adj1" fmla="val 91786"/>
                <a:gd name="adj2" fmla="val 56965"/>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ysClr val="windowText" lastClr="000000"/>
                  </a:solidFill>
                </a:rPr>
                <a:t>Ｂ</a:t>
              </a:r>
            </a:p>
          </p:txBody>
        </p:sp>
        <p:sp>
          <p:nvSpPr>
            <p:cNvPr id="46" name="矢印: 左右 45">
              <a:extLst>
                <a:ext uri="{FF2B5EF4-FFF2-40B4-BE49-F238E27FC236}">
                  <a16:creationId xmlns:a16="http://schemas.microsoft.com/office/drawing/2014/main" id="{EDFB6C1F-CA4B-4FB2-A6A2-F16717826A94}"/>
                </a:ext>
              </a:extLst>
            </p:cNvPr>
            <p:cNvSpPr/>
            <p:nvPr/>
          </p:nvSpPr>
          <p:spPr>
            <a:xfrm>
              <a:off x="1830521" y="1678754"/>
              <a:ext cx="337720" cy="164097"/>
            </a:xfrm>
            <a:prstGeom prst="leftRightArrow">
              <a:avLst>
                <a:gd name="adj1" fmla="val 91786"/>
                <a:gd name="adj2" fmla="val 56965"/>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ysClr val="windowText" lastClr="000000"/>
                  </a:solidFill>
                </a:rPr>
                <a:t>Ｂ</a:t>
              </a:r>
            </a:p>
          </p:txBody>
        </p:sp>
        <p:sp>
          <p:nvSpPr>
            <p:cNvPr id="47" name="矢印: 左右 46">
              <a:extLst>
                <a:ext uri="{FF2B5EF4-FFF2-40B4-BE49-F238E27FC236}">
                  <a16:creationId xmlns:a16="http://schemas.microsoft.com/office/drawing/2014/main" id="{B2C186AD-0848-413A-82DE-C3613E453886}"/>
                </a:ext>
              </a:extLst>
            </p:cNvPr>
            <p:cNvSpPr/>
            <p:nvPr/>
          </p:nvSpPr>
          <p:spPr>
            <a:xfrm>
              <a:off x="1125003" y="1686943"/>
              <a:ext cx="700506" cy="164097"/>
            </a:xfrm>
            <a:prstGeom prst="leftRightArrow">
              <a:avLst>
                <a:gd name="adj1" fmla="val 91786"/>
                <a:gd name="adj2" fmla="val 56965"/>
              </a:avLst>
            </a:prstGeom>
            <a:solidFill>
              <a:schemeClr val="accent4">
                <a:lumMod val="40000"/>
                <a:lumOff val="60000"/>
              </a:schemeClr>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ysClr val="windowText" lastClr="000000"/>
                  </a:solidFill>
                </a:rPr>
                <a:t>Ａ</a:t>
              </a:r>
            </a:p>
          </p:txBody>
        </p:sp>
      </p:grpSp>
    </p:spTree>
    <p:extLst>
      <p:ext uri="{BB962C8B-B14F-4D97-AF65-F5344CB8AC3E}">
        <p14:creationId xmlns:p14="http://schemas.microsoft.com/office/powerpoint/2010/main" val="726869455"/>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クロスタブとは、</a:t>
            </a:r>
            <a:endParaRPr lang="en-US" altLang="ja-JP" sz="2400" dirty="0"/>
          </a:p>
          <a:p>
            <a:pPr lvl="1">
              <a:lnSpc>
                <a:spcPct val="100000"/>
              </a:lnSpc>
              <a:buFont typeface="Wingdings" panose="05000000000000000000" pitchFamily="2" charset="2"/>
              <a:buChar char="Ø"/>
            </a:pPr>
            <a:r>
              <a:rPr lang="ja-JP" altLang="en-US" dirty="0"/>
              <a:t>母集団から生じたデータの出現度数をｎ個の属性にクロス分類した表。</a:t>
            </a:r>
            <a:endParaRPr lang="en-US" altLang="ja-JP" dirty="0"/>
          </a:p>
          <a:p>
            <a:pPr marL="514350" indent="-514350">
              <a:lnSpc>
                <a:spcPct val="100000"/>
              </a:lnSpc>
              <a:buFont typeface="+mj-lt"/>
              <a:buAutoNum type="arabicPeriod" startAt="3"/>
            </a:pPr>
            <a:r>
              <a:rPr lang="ja-JP" altLang="en-US" sz="2400" dirty="0"/>
              <a:t>期待値とは、</a:t>
            </a:r>
            <a:endParaRPr lang="en-US" altLang="ja-JP" sz="2400" dirty="0"/>
          </a:p>
          <a:p>
            <a:pPr lvl="1">
              <a:lnSpc>
                <a:spcPct val="100000"/>
              </a:lnSpc>
              <a:buFont typeface="Wingdings" panose="05000000000000000000" pitchFamily="2" charset="2"/>
              <a:buChar char="Ø"/>
            </a:pPr>
            <a:r>
              <a:rPr lang="ja-JP" altLang="en-US" dirty="0"/>
              <a:t>行要素の合計や列要素の合計の比率から逆算して期待される値。</a:t>
            </a:r>
            <a:endParaRPr lang="en-US" altLang="ja-JP" dirty="0"/>
          </a:p>
          <a:p>
            <a:pPr marL="457200" indent="-457200">
              <a:lnSpc>
                <a:spcPct val="100000"/>
              </a:lnSpc>
              <a:buFont typeface="+mj-lt"/>
              <a:buAutoNum type="arabicPeriod" startAt="4"/>
            </a:pPr>
            <a:r>
              <a:rPr lang="ja-JP" altLang="en-US" sz="2400" dirty="0"/>
              <a:t>期待値の公式は、</a:t>
            </a:r>
            <a:endParaRPr lang="en-US" altLang="ja-JP" sz="2400" dirty="0"/>
          </a:p>
          <a:p>
            <a:pPr lvl="1">
              <a:lnSpc>
                <a:spcPct val="100000"/>
              </a:lnSpc>
              <a:buFont typeface="Wingdings" panose="05000000000000000000" pitchFamily="2" charset="2"/>
              <a:buChar char="Ø"/>
            </a:pPr>
            <a:r>
              <a:rPr lang="ja-JP" altLang="en-US" dirty="0"/>
              <a:t>期待値＝（行の合計数</a:t>
            </a:r>
            <a:r>
              <a:rPr lang="en-US" altLang="ja-JP" dirty="0"/>
              <a:t>×</a:t>
            </a:r>
            <a:r>
              <a:rPr lang="ja-JP" altLang="en-US" dirty="0"/>
              <a:t>列の合計数）／総計数</a:t>
            </a: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562</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a:t>
            </a:r>
          </a:p>
        </p:txBody>
      </p:sp>
      <p:sp>
        <p:nvSpPr>
          <p:cNvPr id="2" name="矢印: 下 1">
            <a:extLst>
              <a:ext uri="{FF2B5EF4-FFF2-40B4-BE49-F238E27FC236}">
                <a16:creationId xmlns:a16="http://schemas.microsoft.com/office/drawing/2014/main" id="{C42B96F9-58DE-4E90-AA48-9ED94E21D023}"/>
              </a:ext>
            </a:extLst>
          </p:cNvPr>
          <p:cNvSpPr/>
          <p:nvPr/>
        </p:nvSpPr>
        <p:spPr>
          <a:xfrm>
            <a:off x="5383731" y="4177364"/>
            <a:ext cx="1424538" cy="327259"/>
          </a:xfrm>
          <a:prstGeom prst="downArrow">
            <a:avLst>
              <a:gd name="adj1" fmla="val 8447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CBC9E4D7-1F7F-4CBC-8984-A3191D7E7FAD}"/>
              </a:ext>
            </a:extLst>
          </p:cNvPr>
          <p:cNvSpPr/>
          <p:nvPr/>
        </p:nvSpPr>
        <p:spPr>
          <a:xfrm>
            <a:off x="1248882" y="4629482"/>
            <a:ext cx="4854341" cy="160201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nchorCtr="0"/>
          <a:lstStyle/>
          <a:p>
            <a:pPr algn="ctr"/>
            <a:r>
              <a:rPr kumimoji="1" lang="ja-JP" altLang="en-US" sz="2200" b="1" dirty="0">
                <a:solidFill>
                  <a:schemeClr val="tx1"/>
                </a:solidFill>
              </a:rPr>
              <a:t>一致の程度（カッパ）の評価</a:t>
            </a:r>
            <a:endParaRPr kumimoji="1" lang="en-US" altLang="ja-JP" sz="2200" b="1" dirty="0">
              <a:solidFill>
                <a:schemeClr val="tx1"/>
              </a:solidFill>
            </a:endParaRPr>
          </a:p>
          <a:p>
            <a:pPr algn="ctr"/>
            <a:r>
              <a:rPr lang="ja-JP" altLang="en-US" sz="2200" dirty="0">
                <a:solidFill>
                  <a:schemeClr val="tx1"/>
                </a:solidFill>
              </a:rPr>
              <a:t>①基準⇔測定者</a:t>
            </a:r>
            <a:endParaRPr lang="en-US" altLang="ja-JP" sz="2200" dirty="0">
              <a:solidFill>
                <a:schemeClr val="tx1"/>
              </a:solidFill>
            </a:endParaRPr>
          </a:p>
          <a:p>
            <a:pPr algn="ctr"/>
            <a:r>
              <a:rPr kumimoji="1" lang="ja-JP" altLang="en-US" sz="2200" dirty="0">
                <a:solidFill>
                  <a:schemeClr val="tx1"/>
                </a:solidFill>
              </a:rPr>
              <a:t>②測定者⇔測定者</a:t>
            </a:r>
          </a:p>
        </p:txBody>
      </p:sp>
      <p:sp>
        <p:nvSpPr>
          <p:cNvPr id="8" name="四角形: 角を丸くする 7">
            <a:extLst>
              <a:ext uri="{FF2B5EF4-FFF2-40B4-BE49-F238E27FC236}">
                <a16:creationId xmlns:a16="http://schemas.microsoft.com/office/drawing/2014/main" id="{906AF316-E8F3-4BB9-954B-76CC7C89C7D3}"/>
              </a:ext>
            </a:extLst>
          </p:cNvPr>
          <p:cNvSpPr/>
          <p:nvPr/>
        </p:nvSpPr>
        <p:spPr>
          <a:xfrm>
            <a:off x="6103223" y="4629482"/>
            <a:ext cx="4854341" cy="160201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nchorCtr="0"/>
          <a:lstStyle/>
          <a:p>
            <a:pPr algn="ctr"/>
            <a:r>
              <a:rPr kumimoji="1" lang="ja-JP" altLang="en-US" sz="2200" b="1" dirty="0">
                <a:solidFill>
                  <a:schemeClr val="tx1"/>
                </a:solidFill>
              </a:rPr>
              <a:t>有効性の評価</a:t>
            </a:r>
            <a:endParaRPr kumimoji="1" lang="en-US" altLang="ja-JP" sz="2200" b="1" dirty="0">
              <a:solidFill>
                <a:schemeClr val="tx1"/>
              </a:solidFill>
            </a:endParaRPr>
          </a:p>
          <a:p>
            <a:pPr algn="ctr"/>
            <a:r>
              <a:rPr lang="ja-JP" altLang="en-US" sz="2200" dirty="0">
                <a:solidFill>
                  <a:schemeClr val="tx1"/>
                </a:solidFill>
              </a:rPr>
              <a:t>①有効性</a:t>
            </a:r>
            <a:endParaRPr lang="en-US" altLang="ja-JP" sz="2200" dirty="0">
              <a:solidFill>
                <a:schemeClr val="tx1"/>
              </a:solidFill>
            </a:endParaRPr>
          </a:p>
          <a:p>
            <a:pPr algn="ctr"/>
            <a:r>
              <a:rPr kumimoji="1" lang="ja-JP" altLang="en-US" sz="2200" dirty="0">
                <a:solidFill>
                  <a:schemeClr val="tx1"/>
                </a:solidFill>
              </a:rPr>
              <a:t>②ミス率</a:t>
            </a:r>
            <a:endParaRPr kumimoji="1" lang="en-US" altLang="ja-JP" sz="2200" dirty="0">
              <a:solidFill>
                <a:schemeClr val="tx1"/>
              </a:solidFill>
            </a:endParaRPr>
          </a:p>
          <a:p>
            <a:pPr algn="ctr"/>
            <a:r>
              <a:rPr lang="ja-JP" altLang="en-US" sz="2200" dirty="0">
                <a:solidFill>
                  <a:schemeClr val="tx1"/>
                </a:solidFill>
              </a:rPr>
              <a:t>③誤り警告率</a:t>
            </a:r>
            <a:endParaRPr kumimoji="1" lang="ja-JP" altLang="en-US" sz="2200" dirty="0">
              <a:solidFill>
                <a:schemeClr val="tx1"/>
              </a:solidFill>
            </a:endParaRPr>
          </a:p>
        </p:txBody>
      </p:sp>
    </p:spTree>
    <p:extLst>
      <p:ext uri="{BB962C8B-B14F-4D97-AF65-F5344CB8AC3E}">
        <p14:creationId xmlns:p14="http://schemas.microsoft.com/office/powerpoint/2010/main" val="2304587571"/>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9"/>
            <a:ext cx="10515600" cy="426990"/>
          </a:xfrm>
          <a:prstGeom prst="rect">
            <a:avLst/>
          </a:prstGeom>
          <a:ln w="12700">
            <a:solidFill>
              <a:schemeClr val="tx2"/>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5"/>
            </a:pPr>
            <a:r>
              <a:rPr lang="ja-JP" altLang="en-US" sz="2400" dirty="0"/>
              <a:t>評価の手順</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563</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a:t>
            </a:r>
          </a:p>
        </p:txBody>
      </p:sp>
      <p:graphicFrame>
        <p:nvGraphicFramePr>
          <p:cNvPr id="6" name="表 9">
            <a:extLst>
              <a:ext uri="{FF2B5EF4-FFF2-40B4-BE49-F238E27FC236}">
                <a16:creationId xmlns:a16="http://schemas.microsoft.com/office/drawing/2014/main" id="{5DEAD8D7-E6FD-4AEC-99A6-882D6C3ABFF8}"/>
              </a:ext>
            </a:extLst>
          </p:cNvPr>
          <p:cNvGraphicFramePr>
            <a:graphicFrameLocks noGrp="1"/>
          </p:cNvGraphicFramePr>
          <p:nvPr>
            <p:extLst>
              <p:ext uri="{D42A27DB-BD31-4B8C-83A1-F6EECF244321}">
                <p14:modId xmlns:p14="http://schemas.microsoft.com/office/powerpoint/2010/main" val="3104710457"/>
              </p:ext>
            </p:extLst>
          </p:nvPr>
        </p:nvGraphicFramePr>
        <p:xfrm>
          <a:off x="838200" y="1771049"/>
          <a:ext cx="10515600" cy="4632960"/>
        </p:xfrm>
        <a:graphic>
          <a:graphicData uri="http://schemas.openxmlformats.org/drawingml/2006/table">
            <a:tbl>
              <a:tblPr firstRow="1" bandRow="1">
                <a:tableStyleId>{5940675A-B579-460E-94D1-54222C63F5DA}</a:tableStyleId>
              </a:tblPr>
              <a:tblGrid>
                <a:gridCol w="1221606">
                  <a:extLst>
                    <a:ext uri="{9D8B030D-6E8A-4147-A177-3AD203B41FA5}">
                      <a16:colId xmlns:a16="http://schemas.microsoft.com/office/drawing/2014/main" val="1701791376"/>
                    </a:ext>
                  </a:extLst>
                </a:gridCol>
                <a:gridCol w="2050181">
                  <a:extLst>
                    <a:ext uri="{9D8B030D-6E8A-4147-A177-3AD203B41FA5}">
                      <a16:colId xmlns:a16="http://schemas.microsoft.com/office/drawing/2014/main" val="1971732276"/>
                    </a:ext>
                  </a:extLst>
                </a:gridCol>
                <a:gridCol w="7243813">
                  <a:extLst>
                    <a:ext uri="{9D8B030D-6E8A-4147-A177-3AD203B41FA5}">
                      <a16:colId xmlns:a16="http://schemas.microsoft.com/office/drawing/2014/main" val="3046318693"/>
                    </a:ext>
                  </a:extLst>
                </a:gridCol>
              </a:tblGrid>
              <a:tr h="370840">
                <a:tc>
                  <a:txBody>
                    <a:bodyPr/>
                    <a:lstStyle/>
                    <a:p>
                      <a:pPr algn="ctr"/>
                      <a:r>
                        <a:rPr kumimoji="1" lang="ja-JP" altLang="en-US" sz="2000" dirty="0">
                          <a:solidFill>
                            <a:schemeClr val="tx1"/>
                          </a:solidFill>
                        </a:rPr>
                        <a:t>ステップ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876336056"/>
                  </a:ext>
                </a:extLst>
              </a:tr>
              <a:tr h="370840">
                <a:tc>
                  <a:txBody>
                    <a:bodyPr/>
                    <a:lstStyle/>
                    <a:p>
                      <a:r>
                        <a:rPr kumimoji="1" lang="ja-JP" altLang="en-US" sz="2000" dirty="0"/>
                        <a:t>１</a:t>
                      </a:r>
                      <a:endParaRPr kumimoji="1" lang="en-US" altLang="ja-JP" sz="2000" dirty="0"/>
                    </a:p>
                    <a:p>
                      <a:r>
                        <a:rPr kumimoji="1" lang="ja-JP" altLang="en-US" sz="2000" dirty="0"/>
                        <a:t>準備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サンプリング計画を作成、サンプルの選定、基準値の設定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サンプリング計画を作成し、サンプル数ｎ、測定者数ｍ及び測定（検査）回数ｒを決める。</a:t>
                      </a:r>
                      <a:endParaRPr kumimoji="1" lang="en-US" altLang="ja-JP" sz="2000" dirty="0"/>
                    </a:p>
                    <a:p>
                      <a:pPr marL="457200" indent="-457200">
                        <a:buFont typeface="+mj-ea"/>
                        <a:buAutoNum type="circleNumDbPlain"/>
                      </a:pPr>
                      <a:r>
                        <a:rPr kumimoji="1" lang="ja-JP" altLang="en-US" sz="2000" dirty="0"/>
                        <a:t>製造工程から</a:t>
                      </a:r>
                      <a:r>
                        <a:rPr kumimoji="1" lang="en-US" altLang="ja-JP" sz="2000" dirty="0"/>
                        <a:t>50</a:t>
                      </a:r>
                      <a:r>
                        <a:rPr kumimoji="1" lang="ja-JP" altLang="en-US" sz="2000" dirty="0"/>
                        <a:t>個の製品サンプルを、工程変動の全範囲に渡るようにランダムに選定する。</a:t>
                      </a:r>
                      <a:endParaRPr kumimoji="1" lang="en-US" altLang="ja-JP" sz="2000" dirty="0"/>
                    </a:p>
                    <a:p>
                      <a:pPr marL="457200" indent="-457200">
                        <a:buFont typeface="+mj-ea"/>
                        <a:buAutoNum type="circleNumDbPlain"/>
                      </a:pPr>
                      <a:r>
                        <a:rPr kumimoji="1" lang="en-US" altLang="ja-JP" sz="2000" dirty="0"/>
                        <a:t>50</a:t>
                      </a:r>
                      <a:r>
                        <a:rPr kumimoji="1" lang="ja-JP" altLang="en-US" sz="2000" dirty="0"/>
                        <a:t>個のサンプルに対して、技術者又は熟練検査員による合否判定を行い、基準値とする。</a:t>
                      </a:r>
                      <a:endParaRPr kumimoji="1" lang="en-US" altLang="ja-JP" sz="2000" dirty="0"/>
                    </a:p>
                    <a:p>
                      <a:pPr marL="457200" indent="-457200">
                        <a:buFont typeface="+mj-ea"/>
                        <a:buAutoNum type="circleNumDbPlain"/>
                      </a:pPr>
                      <a:r>
                        <a:rPr kumimoji="1" lang="ja-JP" altLang="en-US" sz="2000" dirty="0"/>
                        <a:t>この際に複数の検査員による合否判定を行い、結果が一致しなかったサンプルについては、技術者が評価し決定する方法もある。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777208"/>
                  </a:ext>
                </a:extLst>
              </a:tr>
              <a:tr h="370840">
                <a:tc>
                  <a:txBody>
                    <a:bodyPr/>
                    <a:lstStyle/>
                    <a:p>
                      <a:r>
                        <a:rPr kumimoji="1" lang="ja-JP" altLang="en-US" sz="2000" dirty="0"/>
                        <a:t>２</a:t>
                      </a:r>
                      <a:endParaRPr kumimoji="1" lang="en-US" altLang="ja-JP" sz="2000" dirty="0"/>
                    </a:p>
                    <a:p>
                      <a:r>
                        <a:rPr kumimoji="1" lang="ja-JP" altLang="en-US" sz="2000" dirty="0"/>
                        <a:t>測定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測定の実施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検査員ｍ人に同じサンプル</a:t>
                      </a:r>
                      <a:r>
                        <a:rPr kumimoji="1" lang="en-US" altLang="ja-JP" sz="2000" dirty="0"/>
                        <a:t>50</a:t>
                      </a:r>
                      <a:r>
                        <a:rPr kumimoji="1" lang="ja-JP" altLang="en-US" sz="2000" dirty="0"/>
                        <a:t>個をランダムな順にｒ回検査させる。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6546763"/>
                  </a:ext>
                </a:extLst>
              </a:tr>
              <a:tr h="370840">
                <a:tc>
                  <a:txBody>
                    <a:bodyPr/>
                    <a:lstStyle/>
                    <a:p>
                      <a:r>
                        <a:rPr kumimoji="1" lang="ja-JP" altLang="en-US" sz="2000" dirty="0"/>
                        <a:t>３</a:t>
                      </a:r>
                      <a:endParaRPr kumimoji="1" lang="en-US" altLang="ja-JP" sz="2000" dirty="0"/>
                    </a:p>
                    <a:p>
                      <a:r>
                        <a:rPr kumimoji="1" lang="ja-JP" altLang="en-US" sz="2000" dirty="0"/>
                        <a:t>解析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クロスタブ表の作成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検査員の検査結果（合否判定結果）と基準判定とのクロスタブ表を作成する。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4685128"/>
                  </a:ext>
                </a:extLst>
              </a:tr>
            </a:tbl>
          </a:graphicData>
        </a:graphic>
      </p:graphicFrame>
    </p:spTree>
    <p:extLst>
      <p:ext uri="{BB962C8B-B14F-4D97-AF65-F5344CB8AC3E}">
        <p14:creationId xmlns:p14="http://schemas.microsoft.com/office/powerpoint/2010/main" val="2627756303"/>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564</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a:t>
            </a:r>
          </a:p>
        </p:txBody>
      </p:sp>
      <p:graphicFrame>
        <p:nvGraphicFramePr>
          <p:cNvPr id="6" name="表 9">
            <a:extLst>
              <a:ext uri="{FF2B5EF4-FFF2-40B4-BE49-F238E27FC236}">
                <a16:creationId xmlns:a16="http://schemas.microsoft.com/office/drawing/2014/main" id="{5DEAD8D7-E6FD-4AEC-99A6-882D6C3ABFF8}"/>
              </a:ext>
            </a:extLst>
          </p:cNvPr>
          <p:cNvGraphicFramePr>
            <a:graphicFrameLocks noGrp="1"/>
          </p:cNvGraphicFramePr>
          <p:nvPr>
            <p:extLst>
              <p:ext uri="{D42A27DB-BD31-4B8C-83A1-F6EECF244321}">
                <p14:modId xmlns:p14="http://schemas.microsoft.com/office/powerpoint/2010/main" val="1599262883"/>
              </p:ext>
            </p:extLst>
          </p:nvPr>
        </p:nvGraphicFramePr>
        <p:xfrm>
          <a:off x="838200" y="1395664"/>
          <a:ext cx="10515600" cy="4846320"/>
        </p:xfrm>
        <a:graphic>
          <a:graphicData uri="http://schemas.openxmlformats.org/drawingml/2006/table">
            <a:tbl>
              <a:tblPr firstRow="1" bandRow="1">
                <a:tableStyleId>{5940675A-B579-460E-94D1-54222C63F5DA}</a:tableStyleId>
              </a:tblPr>
              <a:tblGrid>
                <a:gridCol w="1221606">
                  <a:extLst>
                    <a:ext uri="{9D8B030D-6E8A-4147-A177-3AD203B41FA5}">
                      <a16:colId xmlns:a16="http://schemas.microsoft.com/office/drawing/2014/main" val="1701791376"/>
                    </a:ext>
                  </a:extLst>
                </a:gridCol>
                <a:gridCol w="2050181">
                  <a:extLst>
                    <a:ext uri="{9D8B030D-6E8A-4147-A177-3AD203B41FA5}">
                      <a16:colId xmlns:a16="http://schemas.microsoft.com/office/drawing/2014/main" val="1971732276"/>
                    </a:ext>
                  </a:extLst>
                </a:gridCol>
                <a:gridCol w="7243813">
                  <a:extLst>
                    <a:ext uri="{9D8B030D-6E8A-4147-A177-3AD203B41FA5}">
                      <a16:colId xmlns:a16="http://schemas.microsoft.com/office/drawing/2014/main" val="3046318693"/>
                    </a:ext>
                  </a:extLst>
                </a:gridCol>
              </a:tblGrid>
              <a:tr h="370840">
                <a:tc>
                  <a:txBody>
                    <a:bodyPr/>
                    <a:lstStyle/>
                    <a:p>
                      <a:pPr algn="ctr"/>
                      <a:r>
                        <a:rPr kumimoji="1" lang="ja-JP" altLang="en-US" sz="2000" dirty="0">
                          <a:solidFill>
                            <a:schemeClr val="tx1"/>
                          </a:solidFill>
                        </a:rPr>
                        <a:t>ステップ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876336056"/>
                  </a:ext>
                </a:extLst>
              </a:tr>
              <a:tr h="370840">
                <a:tc>
                  <a:txBody>
                    <a:bodyPr/>
                    <a:lstStyle/>
                    <a:p>
                      <a:r>
                        <a:rPr kumimoji="1" lang="ja-JP" altLang="en-US" sz="2000" dirty="0"/>
                        <a:t>４</a:t>
                      </a:r>
                      <a:endParaRPr kumimoji="1" lang="en-US" altLang="ja-JP" sz="2000" dirty="0"/>
                    </a:p>
                    <a:p>
                      <a:r>
                        <a:rPr kumimoji="1" lang="ja-JP" altLang="en-US" sz="2000" dirty="0"/>
                        <a:t>解析</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一致の程度（カッパ）の算出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作成したクロスタブ表に個数の期待値を算出し、記入する。　　　　　　　　　　　　　　　　　　　　　　　期待値＝（列の合計数</a:t>
                      </a:r>
                      <a:r>
                        <a:rPr kumimoji="1" lang="en-US" altLang="ja-JP" sz="2000" dirty="0"/>
                        <a:t>×</a:t>
                      </a:r>
                      <a:r>
                        <a:rPr kumimoji="1" lang="ja-JP" altLang="en-US" sz="2000" dirty="0"/>
                        <a:t>行の合計数）／総数</a:t>
                      </a:r>
                      <a:endParaRPr kumimoji="1" lang="en-US" altLang="ja-JP" sz="2000" dirty="0"/>
                    </a:p>
                    <a:p>
                      <a:pPr marL="457200" indent="-457200">
                        <a:buFont typeface="+mj-ea"/>
                        <a:buAutoNum type="circleNumDbPlain"/>
                      </a:pPr>
                      <a:r>
                        <a:rPr kumimoji="1" lang="ja-JP" altLang="en-US" sz="2000" dirty="0"/>
                        <a:t>対角セルの期待値割合合計（</a:t>
                      </a:r>
                      <a:r>
                        <a:rPr kumimoji="1" lang="en-US" altLang="ja-JP" sz="2000" dirty="0"/>
                        <a:t>Po</a:t>
                      </a:r>
                      <a:r>
                        <a:rPr kumimoji="1" lang="ja-JP" altLang="en-US" sz="2000" dirty="0"/>
                        <a:t>）と対角セルの観測数割合合計から一致の程度（カッパ）を算出する。（算出例参照）</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777208"/>
                  </a:ext>
                </a:extLst>
              </a:tr>
              <a:tr h="370840">
                <a:tc>
                  <a:txBody>
                    <a:bodyPr/>
                    <a:lstStyle/>
                    <a:p>
                      <a:r>
                        <a:rPr kumimoji="1" lang="ja-JP" altLang="en-US" sz="2000" dirty="0"/>
                        <a:t>５</a:t>
                      </a:r>
                      <a:endParaRPr kumimoji="1" lang="en-US" altLang="ja-JP" sz="2000" dirty="0"/>
                    </a:p>
                    <a:p>
                      <a:r>
                        <a:rPr kumimoji="1" lang="ja-JP" altLang="en-US" sz="2000" dirty="0"/>
                        <a:t>解析</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検査の有効性、ミス率及び誤り警告率の算出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作成したクロスタブ表から、検査の有効性、ミス率及び誤り警告率を算出する。</a:t>
                      </a:r>
                      <a:endParaRPr kumimoji="1" lang="en-US" altLang="ja-JP" sz="2000" dirty="0"/>
                    </a:p>
                    <a:p>
                      <a:pPr marL="457200" lvl="1" indent="0">
                        <a:buFontTx/>
                        <a:buNone/>
                      </a:pPr>
                      <a:r>
                        <a:rPr kumimoji="1" lang="ja-JP" altLang="en-US" sz="2000" dirty="0"/>
                        <a:t>有効性＝全測定回数において測定者の判定結果と基準</a:t>
                      </a:r>
                      <a:endParaRPr kumimoji="1" lang="en-US" altLang="ja-JP" sz="2000" dirty="0"/>
                    </a:p>
                    <a:p>
                      <a:pPr marL="457200" lvl="1" indent="0">
                        <a:buFontTx/>
                        <a:buNone/>
                      </a:pPr>
                      <a:r>
                        <a:rPr kumimoji="1" lang="ja-JP" altLang="en-US" sz="2000" dirty="0"/>
                        <a:t>　　　　判定が一致した個数／測定個数</a:t>
                      </a:r>
                      <a:endParaRPr kumimoji="1" lang="en-US" altLang="ja-JP" sz="2000" dirty="0"/>
                    </a:p>
                    <a:p>
                      <a:pPr marL="457200" lvl="1" indent="0">
                        <a:buFontTx/>
                        <a:buNone/>
                      </a:pPr>
                      <a:r>
                        <a:rPr kumimoji="1" lang="ja-JP" altLang="en-US" sz="2000" dirty="0"/>
                        <a:t>ミス率＝基準判定不合格に対する測定者の合格判定の</a:t>
                      </a:r>
                      <a:endParaRPr kumimoji="1" lang="en-US" altLang="ja-JP" sz="2000" dirty="0"/>
                    </a:p>
                    <a:p>
                      <a:pPr marL="457200" lvl="1" indent="0">
                        <a:buFontTx/>
                        <a:buNone/>
                      </a:pPr>
                      <a:r>
                        <a:rPr kumimoji="1" lang="ja-JP" altLang="en-US" sz="2000" dirty="0"/>
                        <a:t>　　　　個数／基準判定不合格個数</a:t>
                      </a:r>
                      <a:endParaRPr kumimoji="1" lang="en-US" altLang="ja-JP" sz="2000" dirty="0"/>
                    </a:p>
                    <a:p>
                      <a:pPr marL="45720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誤り警告率＝基準判定合格に対する測定者の不合格判</a:t>
                      </a:r>
                      <a:endParaRPr kumimoji="1" lang="en-US" altLang="ja-JP" sz="2000" dirty="0"/>
                    </a:p>
                    <a:p>
                      <a:pPr marL="457200" marR="0" lvl="1"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t>　　　　　　定の個数／基準判定合格個数</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6546763"/>
                  </a:ext>
                </a:extLst>
              </a:tr>
            </a:tbl>
          </a:graphicData>
        </a:graphic>
      </p:graphicFrame>
      <p:sp>
        <p:nvSpPr>
          <p:cNvPr id="2" name="吹き出し: 角を丸めた四角形 1">
            <a:extLst>
              <a:ext uri="{FF2B5EF4-FFF2-40B4-BE49-F238E27FC236}">
                <a16:creationId xmlns:a16="http://schemas.microsoft.com/office/drawing/2014/main" id="{A534347B-CEA7-4819-B3A1-54EE366526A3}"/>
              </a:ext>
            </a:extLst>
          </p:cNvPr>
          <p:cNvSpPr/>
          <p:nvPr/>
        </p:nvSpPr>
        <p:spPr>
          <a:xfrm>
            <a:off x="7603958" y="4032985"/>
            <a:ext cx="3378467" cy="327259"/>
          </a:xfrm>
          <a:prstGeom prst="wedgeRoundRectCallout">
            <a:avLst>
              <a:gd name="adj1" fmla="val -56498"/>
              <a:gd name="adj2" fmla="val 53982"/>
              <a:gd name="adj3" fmla="val 16667"/>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dirty="0">
                <a:solidFill>
                  <a:srgbClr val="FF0000"/>
                </a:solidFill>
              </a:rPr>
              <a:t>注：ｒ回すべて一致した回数</a:t>
            </a:r>
            <a:endParaRPr kumimoji="1" lang="ja-JP" altLang="en-US" sz="1600" dirty="0">
              <a:solidFill>
                <a:srgbClr val="FF0000"/>
              </a:solidFill>
            </a:endParaRPr>
          </a:p>
        </p:txBody>
      </p:sp>
    </p:spTree>
    <p:extLst>
      <p:ext uri="{BB962C8B-B14F-4D97-AF65-F5344CB8AC3E}">
        <p14:creationId xmlns:p14="http://schemas.microsoft.com/office/powerpoint/2010/main" val="34450675"/>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565</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a:t>
            </a:r>
          </a:p>
        </p:txBody>
      </p:sp>
      <p:graphicFrame>
        <p:nvGraphicFramePr>
          <p:cNvPr id="6" name="表 9">
            <a:extLst>
              <a:ext uri="{FF2B5EF4-FFF2-40B4-BE49-F238E27FC236}">
                <a16:creationId xmlns:a16="http://schemas.microsoft.com/office/drawing/2014/main" id="{5DEAD8D7-E6FD-4AEC-99A6-882D6C3ABFF8}"/>
              </a:ext>
            </a:extLst>
          </p:cNvPr>
          <p:cNvGraphicFramePr>
            <a:graphicFrameLocks noGrp="1"/>
          </p:cNvGraphicFramePr>
          <p:nvPr>
            <p:extLst>
              <p:ext uri="{D42A27DB-BD31-4B8C-83A1-F6EECF244321}">
                <p14:modId xmlns:p14="http://schemas.microsoft.com/office/powerpoint/2010/main" val="3987510378"/>
              </p:ext>
            </p:extLst>
          </p:nvPr>
        </p:nvGraphicFramePr>
        <p:xfrm>
          <a:off x="838200" y="1395663"/>
          <a:ext cx="10515600" cy="4741915"/>
        </p:xfrm>
        <a:graphic>
          <a:graphicData uri="http://schemas.openxmlformats.org/drawingml/2006/table">
            <a:tbl>
              <a:tblPr firstRow="1" bandRow="1">
                <a:tableStyleId>{5940675A-B579-460E-94D1-54222C63F5DA}</a:tableStyleId>
              </a:tblPr>
              <a:tblGrid>
                <a:gridCol w="1221606">
                  <a:extLst>
                    <a:ext uri="{9D8B030D-6E8A-4147-A177-3AD203B41FA5}">
                      <a16:colId xmlns:a16="http://schemas.microsoft.com/office/drawing/2014/main" val="1701791376"/>
                    </a:ext>
                  </a:extLst>
                </a:gridCol>
                <a:gridCol w="1819175">
                  <a:extLst>
                    <a:ext uri="{9D8B030D-6E8A-4147-A177-3AD203B41FA5}">
                      <a16:colId xmlns:a16="http://schemas.microsoft.com/office/drawing/2014/main" val="1971732276"/>
                    </a:ext>
                  </a:extLst>
                </a:gridCol>
                <a:gridCol w="7474819">
                  <a:extLst>
                    <a:ext uri="{9D8B030D-6E8A-4147-A177-3AD203B41FA5}">
                      <a16:colId xmlns:a16="http://schemas.microsoft.com/office/drawing/2014/main" val="3046318693"/>
                    </a:ext>
                  </a:extLst>
                </a:gridCol>
              </a:tblGrid>
              <a:tr h="418697">
                <a:tc>
                  <a:txBody>
                    <a:bodyPr/>
                    <a:lstStyle/>
                    <a:p>
                      <a:pPr algn="ctr"/>
                      <a:r>
                        <a:rPr kumimoji="1" lang="ja-JP" altLang="en-US" sz="2000" dirty="0">
                          <a:solidFill>
                            <a:schemeClr val="tx1"/>
                          </a:solidFill>
                        </a:rPr>
                        <a:t>ステップ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2000" dirty="0">
                          <a:solidFill>
                            <a:schemeClr val="tx1"/>
                          </a:solidFill>
                        </a:rPr>
                        <a:t>実施内容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876336056"/>
                  </a:ext>
                </a:extLst>
              </a:tr>
              <a:tr h="3317378">
                <a:tc>
                  <a:txBody>
                    <a:bodyPr/>
                    <a:lstStyle/>
                    <a:p>
                      <a:r>
                        <a:rPr kumimoji="1" lang="ja-JP" altLang="en-US" sz="2000" dirty="0"/>
                        <a:t>６</a:t>
                      </a:r>
                      <a:endParaRPr kumimoji="1" lang="en-US" altLang="ja-JP" sz="2000" dirty="0"/>
                    </a:p>
                    <a:p>
                      <a:r>
                        <a:rPr kumimoji="1" lang="ja-JP" altLang="en-US" sz="2000" dirty="0"/>
                        <a:t>評価</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計数値測定システムの評価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カッパの評価</a:t>
                      </a:r>
                      <a:endParaRPr kumimoji="1" lang="en-US" altLang="ja-JP" sz="2000" dirty="0"/>
                    </a:p>
                    <a:p>
                      <a:pPr marL="457200" indent="-457200">
                        <a:buFont typeface="+mj-ea"/>
                        <a:buAutoNum type="circleNumDbPlain"/>
                      </a:pPr>
                      <a:endParaRPr kumimoji="1" lang="en-US" altLang="ja-JP" sz="2000" dirty="0"/>
                    </a:p>
                    <a:p>
                      <a:pPr marL="457200" indent="-457200">
                        <a:buFont typeface="+mj-ea"/>
                        <a:buAutoNum type="circleNumDbPlain"/>
                      </a:pPr>
                      <a:endParaRPr kumimoji="1" lang="en-US" altLang="ja-JP" sz="2000" dirty="0"/>
                    </a:p>
                    <a:p>
                      <a:pPr marL="457200" indent="-457200">
                        <a:buFont typeface="+mj-ea"/>
                        <a:buAutoNum type="circleNumDbPlain"/>
                      </a:pPr>
                      <a:endParaRPr kumimoji="1" lang="en-US" altLang="ja-JP" sz="2000" dirty="0"/>
                    </a:p>
                    <a:p>
                      <a:pPr marL="457200" indent="-457200">
                        <a:buFont typeface="+mj-ea"/>
                        <a:buAutoNum type="circleNumDbPlain"/>
                      </a:pPr>
                      <a:endParaRPr kumimoji="1" lang="en-US" altLang="ja-JP" sz="2000" dirty="0"/>
                    </a:p>
                    <a:p>
                      <a:pPr marL="457200" indent="-457200">
                        <a:buFont typeface="+mj-ea"/>
                        <a:buAutoNum type="circleNumDbPlain"/>
                      </a:pPr>
                      <a:r>
                        <a:rPr kumimoji="1" lang="ja-JP" altLang="en-US" sz="2000" dirty="0"/>
                        <a:t>有効性の評価</a:t>
                      </a:r>
                      <a:endParaRPr kumimoji="1" lang="en-US" altLang="ja-JP" sz="2000" dirty="0"/>
                    </a:p>
                    <a:p>
                      <a:pPr marL="457200" indent="-457200">
                        <a:buFont typeface="+mj-ea"/>
                        <a:buAutoNum type="circleNumDbPlain"/>
                      </a:pPr>
                      <a:endParaRPr kumimoji="1" lang="en-US" altLang="ja-JP" sz="2000" dirty="0"/>
                    </a:p>
                    <a:p>
                      <a:pPr marL="457200" indent="-457200">
                        <a:buFont typeface="+mj-ea"/>
                        <a:buAutoNum type="circleNumDbPlain"/>
                      </a:pP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777208"/>
                  </a:ext>
                </a:extLst>
              </a:tr>
              <a:tr h="864801">
                <a:tc>
                  <a:txBody>
                    <a:bodyPr/>
                    <a:lstStyle/>
                    <a:p>
                      <a:r>
                        <a:rPr kumimoji="1" lang="ja-JP" altLang="en-US" sz="2000" dirty="0"/>
                        <a:t>７</a:t>
                      </a:r>
                      <a:endParaRPr kumimoji="1" lang="en-US" altLang="ja-JP" sz="2000" dirty="0"/>
                    </a:p>
                    <a:p>
                      <a:r>
                        <a:rPr kumimoji="1" lang="ja-JP" altLang="en-US" sz="2000" dirty="0"/>
                        <a:t>改善</a:t>
                      </a: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t>問題に対する原因究明と改善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buFont typeface="+mj-ea"/>
                        <a:buAutoNum type="circleNumDbPlain"/>
                      </a:pPr>
                      <a:r>
                        <a:rPr kumimoji="1" lang="ja-JP" altLang="en-US" sz="2000" dirty="0"/>
                        <a:t>評価の結果、問題がある場合はその原因を究明し改善する。</a:t>
                      </a:r>
                      <a:endParaRPr kumimoji="1" lang="en-US" altLang="ja-JP" sz="2000" dirty="0"/>
                    </a:p>
                    <a:p>
                      <a:pPr marL="0" indent="0">
                        <a:buFont typeface="+mj-ea"/>
                        <a:buNone/>
                      </a:pPr>
                      <a:endParaRPr kumimoji="1" lang="en-US" altLang="ja-JP" sz="2000" dirty="0"/>
                    </a:p>
                    <a:p>
                      <a:pPr marL="0" indent="0">
                        <a:buFont typeface="+mj-ea"/>
                        <a:buNone/>
                      </a:pPr>
                      <a:endParaRPr kumimoji="1" lang="en-US" altLang="ja-JP"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6546763"/>
                  </a:ext>
                </a:extLst>
              </a:tr>
            </a:tbl>
          </a:graphicData>
        </a:graphic>
      </p:graphicFrame>
      <p:graphicFrame>
        <p:nvGraphicFramePr>
          <p:cNvPr id="2" name="表 2">
            <a:extLst>
              <a:ext uri="{FF2B5EF4-FFF2-40B4-BE49-F238E27FC236}">
                <a16:creationId xmlns:a16="http://schemas.microsoft.com/office/drawing/2014/main" id="{2C27C4A6-A7D1-4B28-ACC4-5A0DBA0DFD0C}"/>
              </a:ext>
            </a:extLst>
          </p:cNvPr>
          <p:cNvGraphicFramePr>
            <a:graphicFrameLocks noGrp="1"/>
          </p:cNvGraphicFramePr>
          <p:nvPr>
            <p:extLst>
              <p:ext uri="{D42A27DB-BD31-4B8C-83A1-F6EECF244321}">
                <p14:modId xmlns:p14="http://schemas.microsoft.com/office/powerpoint/2010/main" val="1173756204"/>
              </p:ext>
            </p:extLst>
          </p:nvPr>
        </p:nvGraphicFramePr>
        <p:xfrm>
          <a:off x="3869356" y="2156059"/>
          <a:ext cx="7484442" cy="1017510"/>
        </p:xfrm>
        <a:graphic>
          <a:graphicData uri="http://schemas.openxmlformats.org/drawingml/2006/table">
            <a:tbl>
              <a:tblPr firstRow="1" bandRow="1">
                <a:tableStyleId>{5940675A-B579-460E-94D1-54222C63F5DA}</a:tableStyleId>
              </a:tblPr>
              <a:tblGrid>
                <a:gridCol w="1949222">
                  <a:extLst>
                    <a:ext uri="{9D8B030D-6E8A-4147-A177-3AD203B41FA5}">
                      <a16:colId xmlns:a16="http://schemas.microsoft.com/office/drawing/2014/main" val="648797914"/>
                    </a:ext>
                  </a:extLst>
                </a:gridCol>
                <a:gridCol w="3540421">
                  <a:extLst>
                    <a:ext uri="{9D8B030D-6E8A-4147-A177-3AD203B41FA5}">
                      <a16:colId xmlns:a16="http://schemas.microsoft.com/office/drawing/2014/main" val="2306359156"/>
                    </a:ext>
                  </a:extLst>
                </a:gridCol>
                <a:gridCol w="1994799">
                  <a:extLst>
                    <a:ext uri="{9D8B030D-6E8A-4147-A177-3AD203B41FA5}">
                      <a16:colId xmlns:a16="http://schemas.microsoft.com/office/drawing/2014/main" val="1691931523"/>
                    </a:ext>
                  </a:extLst>
                </a:gridCol>
              </a:tblGrid>
              <a:tr h="412657">
                <a:tc>
                  <a:txBody>
                    <a:bodyPr/>
                    <a:lstStyle/>
                    <a:p>
                      <a:r>
                        <a:rPr kumimoji="1" lang="ja-JP" altLang="en-US" dirty="0"/>
                        <a:t>≧</a:t>
                      </a:r>
                      <a:r>
                        <a:rPr kumimoji="1" lang="en-US" altLang="ja-JP" dirty="0"/>
                        <a:t>0.75</a:t>
                      </a:r>
                      <a:endParaRPr kumimoji="1" lang="ja-JP" altLang="en-US"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kumimoji="1" lang="ja-JP" altLang="en-US" dirty="0"/>
                        <a:t>カッパは不一致の程度は説明できない。</a:t>
                      </a:r>
                      <a:r>
                        <a:rPr kumimoji="1" lang="ja-JP" altLang="en-US" dirty="0">
                          <a:solidFill>
                            <a:srgbClr val="FF0000"/>
                          </a:solidFill>
                        </a:rPr>
                        <a:t>単に一致しているか否かを示すもの。</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a:t>
                      </a:r>
                      <a:r>
                        <a:rPr kumimoji="1" lang="en-US" altLang="ja-JP" dirty="0"/>
                        <a:t>0.4</a:t>
                      </a:r>
                      <a:endParaRPr kumimoji="1" lang="ja-JP" altLang="en-US"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9712563"/>
                  </a:ext>
                </a:extLst>
              </a:tr>
              <a:tr h="604853">
                <a:tc>
                  <a:txBody>
                    <a:bodyPr/>
                    <a:lstStyle/>
                    <a:p>
                      <a:r>
                        <a:rPr kumimoji="1" lang="ja-JP" altLang="en-US" dirty="0"/>
                        <a:t>良い一致</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悪い一致</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881935"/>
                  </a:ext>
                </a:extLst>
              </a:tr>
            </a:tbl>
          </a:graphicData>
        </a:graphic>
      </p:graphicFrame>
      <p:graphicFrame>
        <p:nvGraphicFramePr>
          <p:cNvPr id="7" name="表 7">
            <a:extLst>
              <a:ext uri="{FF2B5EF4-FFF2-40B4-BE49-F238E27FC236}">
                <a16:creationId xmlns:a16="http://schemas.microsoft.com/office/drawing/2014/main" id="{99954809-B911-4BBD-A2E9-3BA71367248F}"/>
              </a:ext>
            </a:extLst>
          </p:cNvPr>
          <p:cNvGraphicFramePr>
            <a:graphicFrameLocks noGrp="1"/>
          </p:cNvGraphicFramePr>
          <p:nvPr>
            <p:extLst>
              <p:ext uri="{D42A27DB-BD31-4B8C-83A1-F6EECF244321}">
                <p14:modId xmlns:p14="http://schemas.microsoft.com/office/powerpoint/2010/main" val="1084778085"/>
              </p:ext>
            </p:extLst>
          </p:nvPr>
        </p:nvGraphicFramePr>
        <p:xfrm>
          <a:off x="3869346" y="3725111"/>
          <a:ext cx="7484442" cy="1376325"/>
        </p:xfrm>
        <a:graphic>
          <a:graphicData uri="http://schemas.openxmlformats.org/drawingml/2006/table">
            <a:tbl>
              <a:tblPr firstRow="1" bandRow="1">
                <a:tableStyleId>{5940675A-B579-460E-94D1-54222C63F5DA}</a:tableStyleId>
              </a:tblPr>
              <a:tblGrid>
                <a:gridCol w="2494814">
                  <a:extLst>
                    <a:ext uri="{9D8B030D-6E8A-4147-A177-3AD203B41FA5}">
                      <a16:colId xmlns:a16="http://schemas.microsoft.com/office/drawing/2014/main" val="205219373"/>
                    </a:ext>
                  </a:extLst>
                </a:gridCol>
                <a:gridCol w="2494814">
                  <a:extLst>
                    <a:ext uri="{9D8B030D-6E8A-4147-A177-3AD203B41FA5}">
                      <a16:colId xmlns:a16="http://schemas.microsoft.com/office/drawing/2014/main" val="1208366080"/>
                    </a:ext>
                  </a:extLst>
                </a:gridCol>
                <a:gridCol w="2494814">
                  <a:extLst>
                    <a:ext uri="{9D8B030D-6E8A-4147-A177-3AD203B41FA5}">
                      <a16:colId xmlns:a16="http://schemas.microsoft.com/office/drawing/2014/main" val="704887328"/>
                    </a:ext>
                  </a:extLst>
                </a:gridCol>
              </a:tblGrid>
              <a:tr h="358809">
                <a:tc>
                  <a:txBody>
                    <a:bodyPr/>
                    <a:lstStyle/>
                    <a:p>
                      <a:pPr algn="ctr"/>
                      <a:r>
                        <a:rPr kumimoji="1" lang="ja-JP" altLang="en-US" dirty="0"/>
                        <a:t>有効性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ミス率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dirty="0"/>
                        <a:t>誤り警告率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396931037"/>
                  </a:ext>
                </a:extLst>
              </a:tr>
              <a:tr h="1010565">
                <a:tc>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652193"/>
                  </a:ext>
                </a:extLst>
              </a:tr>
            </a:tbl>
          </a:graphicData>
        </a:graphic>
      </p:graphicFrame>
      <p:graphicFrame>
        <p:nvGraphicFramePr>
          <p:cNvPr id="10" name="表 9">
            <a:extLst>
              <a:ext uri="{FF2B5EF4-FFF2-40B4-BE49-F238E27FC236}">
                <a16:creationId xmlns:a16="http://schemas.microsoft.com/office/drawing/2014/main" id="{61CE93CC-2FAF-4403-9AFE-B02B64AF28EF}"/>
              </a:ext>
            </a:extLst>
          </p:cNvPr>
          <p:cNvGraphicFramePr>
            <a:graphicFrameLocks noGrp="1"/>
          </p:cNvGraphicFramePr>
          <p:nvPr>
            <p:extLst>
              <p:ext uri="{D42A27DB-BD31-4B8C-83A1-F6EECF244321}">
                <p14:modId xmlns:p14="http://schemas.microsoft.com/office/powerpoint/2010/main" val="1287167084"/>
              </p:ext>
            </p:extLst>
          </p:nvPr>
        </p:nvGraphicFramePr>
        <p:xfrm>
          <a:off x="3869334" y="4111143"/>
          <a:ext cx="2492947" cy="1005840"/>
        </p:xfrm>
        <a:graphic>
          <a:graphicData uri="http://schemas.openxmlformats.org/drawingml/2006/table">
            <a:tbl>
              <a:tblPr firstRow="1" bandRow="1">
                <a:tableStyleId>{5940675A-B579-460E-94D1-54222C63F5DA}</a:tableStyleId>
              </a:tblPr>
              <a:tblGrid>
                <a:gridCol w="1292890">
                  <a:extLst>
                    <a:ext uri="{9D8B030D-6E8A-4147-A177-3AD203B41FA5}">
                      <a16:colId xmlns:a16="http://schemas.microsoft.com/office/drawing/2014/main" val="472482220"/>
                    </a:ext>
                  </a:extLst>
                </a:gridCol>
                <a:gridCol w="1200057">
                  <a:extLst>
                    <a:ext uri="{9D8B030D-6E8A-4147-A177-3AD203B41FA5}">
                      <a16:colId xmlns:a16="http://schemas.microsoft.com/office/drawing/2014/main" val="3858182850"/>
                    </a:ext>
                  </a:extLst>
                </a:gridCol>
              </a:tblGrid>
              <a:tr h="199572">
                <a:tc>
                  <a:txBody>
                    <a:bodyPr/>
                    <a:lstStyle/>
                    <a:p>
                      <a:r>
                        <a:rPr kumimoji="1" lang="ja-JP" altLang="en-US" sz="1600" dirty="0"/>
                        <a:t>合格</a:t>
                      </a:r>
                    </a:p>
                  </a:txBody>
                  <a:tcPr anchor="ctr" anchorCtr="1"/>
                </a:tc>
                <a:tc>
                  <a:txBody>
                    <a:bodyPr/>
                    <a:lstStyle/>
                    <a:p>
                      <a:r>
                        <a:rPr kumimoji="1" lang="ja-JP" altLang="en-US" sz="1600" dirty="0"/>
                        <a:t>≧</a:t>
                      </a:r>
                      <a:r>
                        <a:rPr kumimoji="1" lang="en-US" altLang="ja-JP" sz="1600" dirty="0"/>
                        <a:t>90%</a:t>
                      </a:r>
                      <a:endParaRPr kumimoji="1" lang="ja-JP" altLang="en-US" sz="1600" dirty="0"/>
                    </a:p>
                  </a:txBody>
                  <a:tcPr anchor="ctr" anchorCtr="1"/>
                </a:tc>
                <a:extLst>
                  <a:ext uri="{0D108BD9-81ED-4DB2-BD59-A6C34878D82A}">
                    <a16:rowId xmlns:a16="http://schemas.microsoft.com/office/drawing/2014/main" val="2325598201"/>
                  </a:ext>
                </a:extLst>
              </a:tr>
              <a:tr h="199572">
                <a:tc>
                  <a:txBody>
                    <a:bodyPr/>
                    <a:lstStyle/>
                    <a:p>
                      <a:r>
                        <a:rPr kumimoji="1" lang="ja-JP" altLang="en-US" sz="1600" dirty="0"/>
                        <a:t>条件付き</a:t>
                      </a:r>
                    </a:p>
                  </a:txBody>
                  <a:tcPr anchor="ctr" anchorCtr="1"/>
                </a:tc>
                <a:tc>
                  <a:txBody>
                    <a:bodyPr/>
                    <a:lstStyle/>
                    <a:p>
                      <a:r>
                        <a:rPr kumimoji="1" lang="ja-JP" altLang="en-US" sz="1600" dirty="0"/>
                        <a:t>≧</a:t>
                      </a:r>
                      <a:r>
                        <a:rPr kumimoji="1" lang="en-US" altLang="ja-JP" sz="1600" dirty="0"/>
                        <a:t>80%</a:t>
                      </a:r>
                      <a:endParaRPr kumimoji="1" lang="ja-JP" altLang="en-US" sz="1600" dirty="0"/>
                    </a:p>
                  </a:txBody>
                  <a:tcPr anchor="ctr" anchorCtr="1"/>
                </a:tc>
                <a:extLst>
                  <a:ext uri="{0D108BD9-81ED-4DB2-BD59-A6C34878D82A}">
                    <a16:rowId xmlns:a16="http://schemas.microsoft.com/office/drawing/2014/main" val="3801160563"/>
                  </a:ext>
                </a:extLst>
              </a:tr>
              <a:tr h="199572">
                <a:tc>
                  <a:txBody>
                    <a:bodyPr/>
                    <a:lstStyle/>
                    <a:p>
                      <a:r>
                        <a:rPr kumimoji="1" lang="ja-JP" altLang="en-US" sz="1600" dirty="0"/>
                        <a:t>不合格</a:t>
                      </a:r>
                    </a:p>
                  </a:txBody>
                  <a:tcPr anchor="ctr" anchorCtr="1"/>
                </a:tc>
                <a:tc>
                  <a:txBody>
                    <a:bodyPr/>
                    <a:lstStyle/>
                    <a:p>
                      <a:r>
                        <a:rPr kumimoji="1" lang="ja-JP" altLang="en-US" sz="1600" dirty="0"/>
                        <a:t>＜</a:t>
                      </a:r>
                      <a:r>
                        <a:rPr kumimoji="1" lang="en-US" altLang="ja-JP" sz="1600" dirty="0"/>
                        <a:t>80%</a:t>
                      </a:r>
                      <a:endParaRPr kumimoji="1" lang="ja-JP" altLang="en-US" sz="1600" dirty="0"/>
                    </a:p>
                  </a:txBody>
                  <a:tcPr anchor="ctr" anchorCtr="1"/>
                </a:tc>
                <a:extLst>
                  <a:ext uri="{0D108BD9-81ED-4DB2-BD59-A6C34878D82A}">
                    <a16:rowId xmlns:a16="http://schemas.microsoft.com/office/drawing/2014/main" val="4059402282"/>
                  </a:ext>
                </a:extLst>
              </a:tr>
            </a:tbl>
          </a:graphicData>
        </a:graphic>
      </p:graphicFrame>
      <p:graphicFrame>
        <p:nvGraphicFramePr>
          <p:cNvPr id="11" name="表 10">
            <a:extLst>
              <a:ext uri="{FF2B5EF4-FFF2-40B4-BE49-F238E27FC236}">
                <a16:creationId xmlns:a16="http://schemas.microsoft.com/office/drawing/2014/main" id="{DFBF5406-AF27-4A34-B089-16ECDCA57E03}"/>
              </a:ext>
            </a:extLst>
          </p:cNvPr>
          <p:cNvGraphicFramePr>
            <a:graphicFrameLocks noGrp="1"/>
          </p:cNvGraphicFramePr>
          <p:nvPr>
            <p:extLst>
              <p:ext uri="{D42A27DB-BD31-4B8C-83A1-F6EECF244321}">
                <p14:modId xmlns:p14="http://schemas.microsoft.com/office/powerpoint/2010/main" val="200140521"/>
              </p:ext>
            </p:extLst>
          </p:nvPr>
        </p:nvGraphicFramePr>
        <p:xfrm>
          <a:off x="6362281" y="4106933"/>
          <a:ext cx="2492947" cy="1005840"/>
        </p:xfrm>
        <a:graphic>
          <a:graphicData uri="http://schemas.openxmlformats.org/drawingml/2006/table">
            <a:tbl>
              <a:tblPr firstRow="1" bandRow="1">
                <a:tableStyleId>{5940675A-B579-460E-94D1-54222C63F5DA}</a:tableStyleId>
              </a:tblPr>
              <a:tblGrid>
                <a:gridCol w="1292890">
                  <a:extLst>
                    <a:ext uri="{9D8B030D-6E8A-4147-A177-3AD203B41FA5}">
                      <a16:colId xmlns:a16="http://schemas.microsoft.com/office/drawing/2014/main" val="472482220"/>
                    </a:ext>
                  </a:extLst>
                </a:gridCol>
                <a:gridCol w="1200057">
                  <a:extLst>
                    <a:ext uri="{9D8B030D-6E8A-4147-A177-3AD203B41FA5}">
                      <a16:colId xmlns:a16="http://schemas.microsoft.com/office/drawing/2014/main" val="3858182850"/>
                    </a:ext>
                  </a:extLst>
                </a:gridCol>
              </a:tblGrid>
              <a:tr h="283359">
                <a:tc>
                  <a:txBody>
                    <a:bodyPr/>
                    <a:lstStyle/>
                    <a:p>
                      <a:r>
                        <a:rPr kumimoji="1" lang="ja-JP" altLang="en-US" sz="1600" dirty="0"/>
                        <a:t>合格</a:t>
                      </a:r>
                    </a:p>
                  </a:txBody>
                  <a:tcPr anchor="ctr" anchorCtr="1"/>
                </a:tc>
                <a:tc>
                  <a:txBody>
                    <a:bodyPr/>
                    <a:lstStyle/>
                    <a:p>
                      <a:r>
                        <a:rPr kumimoji="1" lang="ja-JP" altLang="en-US" sz="1600" dirty="0"/>
                        <a:t>≦</a:t>
                      </a:r>
                      <a:r>
                        <a:rPr kumimoji="1" lang="en-US" altLang="ja-JP" sz="1600" dirty="0"/>
                        <a:t>2%</a:t>
                      </a:r>
                      <a:endParaRPr kumimoji="1" lang="ja-JP" altLang="en-US" sz="1600" dirty="0"/>
                    </a:p>
                  </a:txBody>
                  <a:tcPr anchor="ctr" anchorCtr="1"/>
                </a:tc>
                <a:extLst>
                  <a:ext uri="{0D108BD9-81ED-4DB2-BD59-A6C34878D82A}">
                    <a16:rowId xmlns:a16="http://schemas.microsoft.com/office/drawing/2014/main" val="2325598201"/>
                  </a:ext>
                </a:extLst>
              </a:tr>
              <a:tr h="283359">
                <a:tc>
                  <a:txBody>
                    <a:bodyPr/>
                    <a:lstStyle/>
                    <a:p>
                      <a:r>
                        <a:rPr kumimoji="1" lang="ja-JP" altLang="en-US" sz="1600" dirty="0"/>
                        <a:t>条件付き</a:t>
                      </a:r>
                    </a:p>
                  </a:txBody>
                  <a:tcPr anchor="ctr" anchorCtr="1"/>
                </a:tc>
                <a:tc>
                  <a:txBody>
                    <a:bodyPr/>
                    <a:lstStyle/>
                    <a:p>
                      <a:r>
                        <a:rPr kumimoji="1" lang="ja-JP" altLang="en-US" sz="1600" dirty="0"/>
                        <a:t>≦</a:t>
                      </a:r>
                      <a:r>
                        <a:rPr kumimoji="1" lang="en-US" altLang="ja-JP" sz="1600" dirty="0"/>
                        <a:t>5%</a:t>
                      </a:r>
                      <a:endParaRPr kumimoji="1" lang="ja-JP" altLang="en-US" sz="1600" dirty="0"/>
                    </a:p>
                  </a:txBody>
                  <a:tcPr anchor="ctr" anchorCtr="1"/>
                </a:tc>
                <a:extLst>
                  <a:ext uri="{0D108BD9-81ED-4DB2-BD59-A6C34878D82A}">
                    <a16:rowId xmlns:a16="http://schemas.microsoft.com/office/drawing/2014/main" val="3801160563"/>
                  </a:ext>
                </a:extLst>
              </a:tr>
              <a:tr h="283359">
                <a:tc>
                  <a:txBody>
                    <a:bodyPr/>
                    <a:lstStyle/>
                    <a:p>
                      <a:r>
                        <a:rPr kumimoji="1" lang="ja-JP" altLang="en-US" sz="1600" dirty="0"/>
                        <a:t>不合格</a:t>
                      </a:r>
                    </a:p>
                  </a:txBody>
                  <a:tcPr anchor="ctr" anchorCtr="1"/>
                </a:tc>
                <a:tc>
                  <a:txBody>
                    <a:bodyPr/>
                    <a:lstStyle/>
                    <a:p>
                      <a:r>
                        <a:rPr kumimoji="1" lang="ja-JP" altLang="en-US" sz="1600" dirty="0"/>
                        <a:t>＞</a:t>
                      </a:r>
                      <a:r>
                        <a:rPr kumimoji="1" lang="en-US" altLang="ja-JP" sz="1600" dirty="0"/>
                        <a:t>5%</a:t>
                      </a:r>
                      <a:endParaRPr kumimoji="1" lang="ja-JP" altLang="en-US" sz="1600" dirty="0"/>
                    </a:p>
                  </a:txBody>
                  <a:tcPr anchor="ctr" anchorCtr="1"/>
                </a:tc>
                <a:extLst>
                  <a:ext uri="{0D108BD9-81ED-4DB2-BD59-A6C34878D82A}">
                    <a16:rowId xmlns:a16="http://schemas.microsoft.com/office/drawing/2014/main" val="4059402282"/>
                  </a:ext>
                </a:extLst>
              </a:tr>
            </a:tbl>
          </a:graphicData>
        </a:graphic>
      </p:graphicFrame>
      <p:graphicFrame>
        <p:nvGraphicFramePr>
          <p:cNvPr id="12" name="表 11">
            <a:extLst>
              <a:ext uri="{FF2B5EF4-FFF2-40B4-BE49-F238E27FC236}">
                <a16:creationId xmlns:a16="http://schemas.microsoft.com/office/drawing/2014/main" id="{9D11D5FC-E515-4D01-ADDA-ED01E2B392AE}"/>
              </a:ext>
            </a:extLst>
          </p:cNvPr>
          <p:cNvGraphicFramePr>
            <a:graphicFrameLocks noGrp="1"/>
          </p:cNvGraphicFramePr>
          <p:nvPr>
            <p:extLst>
              <p:ext uri="{D42A27DB-BD31-4B8C-83A1-F6EECF244321}">
                <p14:modId xmlns:p14="http://schemas.microsoft.com/office/powerpoint/2010/main" val="2829976004"/>
              </p:ext>
            </p:extLst>
          </p:nvPr>
        </p:nvGraphicFramePr>
        <p:xfrm>
          <a:off x="8855216" y="4102723"/>
          <a:ext cx="2498578" cy="1014261"/>
        </p:xfrm>
        <a:graphic>
          <a:graphicData uri="http://schemas.openxmlformats.org/drawingml/2006/table">
            <a:tbl>
              <a:tblPr firstRow="1" bandRow="1">
                <a:tableStyleId>{5940675A-B579-460E-94D1-54222C63F5DA}</a:tableStyleId>
              </a:tblPr>
              <a:tblGrid>
                <a:gridCol w="1295810">
                  <a:extLst>
                    <a:ext uri="{9D8B030D-6E8A-4147-A177-3AD203B41FA5}">
                      <a16:colId xmlns:a16="http://schemas.microsoft.com/office/drawing/2014/main" val="472482220"/>
                    </a:ext>
                  </a:extLst>
                </a:gridCol>
                <a:gridCol w="1202768">
                  <a:extLst>
                    <a:ext uri="{9D8B030D-6E8A-4147-A177-3AD203B41FA5}">
                      <a16:colId xmlns:a16="http://schemas.microsoft.com/office/drawing/2014/main" val="3858182850"/>
                    </a:ext>
                  </a:extLst>
                </a:gridCol>
              </a:tblGrid>
              <a:tr h="338087">
                <a:tc>
                  <a:txBody>
                    <a:bodyPr/>
                    <a:lstStyle/>
                    <a:p>
                      <a:r>
                        <a:rPr kumimoji="1" lang="ja-JP" altLang="en-US" sz="1600" dirty="0"/>
                        <a:t>合格</a:t>
                      </a:r>
                    </a:p>
                  </a:txBody>
                  <a:tcPr anchor="ctr" anchorCtr="1"/>
                </a:tc>
                <a:tc>
                  <a:txBody>
                    <a:bodyPr/>
                    <a:lstStyle/>
                    <a:p>
                      <a:r>
                        <a:rPr kumimoji="1" lang="ja-JP" altLang="en-US" sz="1600" dirty="0"/>
                        <a:t>≦</a:t>
                      </a:r>
                      <a:r>
                        <a:rPr kumimoji="1" lang="en-US" altLang="ja-JP" sz="1600" dirty="0"/>
                        <a:t>5%</a:t>
                      </a:r>
                      <a:endParaRPr kumimoji="1" lang="ja-JP" altLang="en-US" sz="1600" dirty="0"/>
                    </a:p>
                  </a:txBody>
                  <a:tcPr anchor="ctr" anchorCtr="1"/>
                </a:tc>
                <a:extLst>
                  <a:ext uri="{0D108BD9-81ED-4DB2-BD59-A6C34878D82A}">
                    <a16:rowId xmlns:a16="http://schemas.microsoft.com/office/drawing/2014/main" val="2325598201"/>
                  </a:ext>
                </a:extLst>
              </a:tr>
              <a:tr h="338087">
                <a:tc>
                  <a:txBody>
                    <a:bodyPr/>
                    <a:lstStyle/>
                    <a:p>
                      <a:r>
                        <a:rPr kumimoji="1" lang="ja-JP" altLang="en-US" sz="1600" dirty="0"/>
                        <a:t>条件付き</a:t>
                      </a:r>
                    </a:p>
                  </a:txBody>
                  <a:tcPr anchor="ctr" anchorCtr="1"/>
                </a:tc>
                <a:tc>
                  <a:txBody>
                    <a:bodyPr/>
                    <a:lstStyle/>
                    <a:p>
                      <a:r>
                        <a:rPr kumimoji="1" lang="ja-JP" altLang="en-US" sz="1600" dirty="0"/>
                        <a:t>≦</a:t>
                      </a:r>
                      <a:r>
                        <a:rPr kumimoji="1" lang="en-US" altLang="ja-JP" sz="1600" dirty="0"/>
                        <a:t>10%</a:t>
                      </a:r>
                      <a:endParaRPr kumimoji="1" lang="ja-JP" altLang="en-US" sz="1600" dirty="0"/>
                    </a:p>
                  </a:txBody>
                  <a:tcPr anchor="ctr" anchorCtr="1"/>
                </a:tc>
                <a:extLst>
                  <a:ext uri="{0D108BD9-81ED-4DB2-BD59-A6C34878D82A}">
                    <a16:rowId xmlns:a16="http://schemas.microsoft.com/office/drawing/2014/main" val="3801160563"/>
                  </a:ext>
                </a:extLst>
              </a:tr>
              <a:tr h="338087">
                <a:tc>
                  <a:txBody>
                    <a:bodyPr/>
                    <a:lstStyle/>
                    <a:p>
                      <a:r>
                        <a:rPr kumimoji="1" lang="ja-JP" altLang="en-US" sz="1600" dirty="0"/>
                        <a:t>不合格</a:t>
                      </a:r>
                    </a:p>
                  </a:txBody>
                  <a:tcPr anchor="ctr" anchorCtr="1"/>
                </a:tc>
                <a:tc>
                  <a:txBody>
                    <a:bodyPr/>
                    <a:lstStyle/>
                    <a:p>
                      <a:r>
                        <a:rPr kumimoji="1" lang="ja-JP" altLang="en-US" sz="1600" dirty="0"/>
                        <a:t>＞</a:t>
                      </a:r>
                      <a:r>
                        <a:rPr kumimoji="1" lang="en-US" altLang="ja-JP" sz="1600" dirty="0"/>
                        <a:t>10%</a:t>
                      </a:r>
                      <a:endParaRPr kumimoji="1" lang="ja-JP" altLang="en-US" sz="1600" dirty="0"/>
                    </a:p>
                  </a:txBody>
                  <a:tcPr anchor="ctr" anchorCtr="1"/>
                </a:tc>
                <a:extLst>
                  <a:ext uri="{0D108BD9-81ED-4DB2-BD59-A6C34878D82A}">
                    <a16:rowId xmlns:a16="http://schemas.microsoft.com/office/drawing/2014/main" val="4059402282"/>
                  </a:ext>
                </a:extLst>
              </a:tr>
            </a:tbl>
          </a:graphicData>
        </a:graphic>
      </p:graphicFrame>
    </p:spTree>
    <p:extLst>
      <p:ext uri="{BB962C8B-B14F-4D97-AF65-F5344CB8AC3E}">
        <p14:creationId xmlns:p14="http://schemas.microsoft.com/office/powerpoint/2010/main" val="1500444604"/>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566</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５．ＭＳＡ（計数値ＭＳＡ（クロスタブ法：評価事例））</a:t>
            </a:r>
          </a:p>
        </p:txBody>
      </p:sp>
      <p:graphicFrame>
        <p:nvGraphicFramePr>
          <p:cNvPr id="2" name="表 1">
            <a:extLst>
              <a:ext uri="{FF2B5EF4-FFF2-40B4-BE49-F238E27FC236}">
                <a16:creationId xmlns:a16="http://schemas.microsoft.com/office/drawing/2014/main" id="{678D4745-53AD-4164-8B1C-48FFFECE2DA2}"/>
              </a:ext>
            </a:extLst>
          </p:cNvPr>
          <p:cNvGraphicFramePr>
            <a:graphicFrameLocks noGrp="1"/>
          </p:cNvGraphicFramePr>
          <p:nvPr>
            <p:extLst>
              <p:ext uri="{D42A27DB-BD31-4B8C-83A1-F6EECF244321}">
                <p14:modId xmlns:p14="http://schemas.microsoft.com/office/powerpoint/2010/main" val="646930378"/>
              </p:ext>
            </p:extLst>
          </p:nvPr>
        </p:nvGraphicFramePr>
        <p:xfrm>
          <a:off x="838199" y="1344059"/>
          <a:ext cx="5257800" cy="5029200"/>
        </p:xfrm>
        <a:graphic>
          <a:graphicData uri="http://schemas.openxmlformats.org/drawingml/2006/table">
            <a:tbl>
              <a:tblPr firstRow="1" bandRow="1">
                <a:tableStyleId>{5940675A-B579-460E-94D1-54222C63F5DA}</a:tableStyleId>
              </a:tblPr>
              <a:tblGrid>
                <a:gridCol w="657225">
                  <a:extLst>
                    <a:ext uri="{9D8B030D-6E8A-4147-A177-3AD203B41FA5}">
                      <a16:colId xmlns:a16="http://schemas.microsoft.com/office/drawing/2014/main" val="3659391671"/>
                    </a:ext>
                  </a:extLst>
                </a:gridCol>
                <a:gridCol w="657225">
                  <a:extLst>
                    <a:ext uri="{9D8B030D-6E8A-4147-A177-3AD203B41FA5}">
                      <a16:colId xmlns:a16="http://schemas.microsoft.com/office/drawing/2014/main" val="1687278845"/>
                    </a:ext>
                  </a:extLst>
                </a:gridCol>
                <a:gridCol w="657225">
                  <a:extLst>
                    <a:ext uri="{9D8B030D-6E8A-4147-A177-3AD203B41FA5}">
                      <a16:colId xmlns:a16="http://schemas.microsoft.com/office/drawing/2014/main" val="126620139"/>
                    </a:ext>
                  </a:extLst>
                </a:gridCol>
                <a:gridCol w="657225">
                  <a:extLst>
                    <a:ext uri="{9D8B030D-6E8A-4147-A177-3AD203B41FA5}">
                      <a16:colId xmlns:a16="http://schemas.microsoft.com/office/drawing/2014/main" val="2070581716"/>
                    </a:ext>
                  </a:extLst>
                </a:gridCol>
                <a:gridCol w="657225">
                  <a:extLst>
                    <a:ext uri="{9D8B030D-6E8A-4147-A177-3AD203B41FA5}">
                      <a16:colId xmlns:a16="http://schemas.microsoft.com/office/drawing/2014/main" val="3693490531"/>
                    </a:ext>
                  </a:extLst>
                </a:gridCol>
                <a:gridCol w="657225">
                  <a:extLst>
                    <a:ext uri="{9D8B030D-6E8A-4147-A177-3AD203B41FA5}">
                      <a16:colId xmlns:a16="http://schemas.microsoft.com/office/drawing/2014/main" val="1102047995"/>
                    </a:ext>
                  </a:extLst>
                </a:gridCol>
                <a:gridCol w="657225">
                  <a:extLst>
                    <a:ext uri="{9D8B030D-6E8A-4147-A177-3AD203B41FA5}">
                      <a16:colId xmlns:a16="http://schemas.microsoft.com/office/drawing/2014/main" val="153625260"/>
                    </a:ext>
                  </a:extLst>
                </a:gridCol>
                <a:gridCol w="657225">
                  <a:extLst>
                    <a:ext uri="{9D8B030D-6E8A-4147-A177-3AD203B41FA5}">
                      <a16:colId xmlns:a16="http://schemas.microsoft.com/office/drawing/2014/main" val="3412346671"/>
                    </a:ext>
                  </a:extLst>
                </a:gridCol>
              </a:tblGrid>
              <a:tr h="292279">
                <a:tc rowSpan="2">
                  <a:txBody>
                    <a:bodyPr/>
                    <a:lstStyle/>
                    <a:p>
                      <a:r>
                        <a:rPr kumimoji="1" lang="ja-JP" altLang="en-US" dirty="0"/>
                        <a:t>部品</a:t>
                      </a:r>
                    </a:p>
                  </a:txBody>
                  <a:tcPr anchor="ctr" anchorCtr="1">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lumMod val="40000"/>
                        <a:lumOff val="60000"/>
                      </a:schemeClr>
                    </a:solidFill>
                  </a:tcPr>
                </a:tc>
                <a:tc rowSpan="2">
                  <a:txBody>
                    <a:bodyPr/>
                    <a:lstStyle/>
                    <a:p>
                      <a:r>
                        <a:rPr kumimoji="1" lang="ja-JP" altLang="en-US" dirty="0"/>
                        <a:t>基準</a:t>
                      </a:r>
                      <a:endParaRPr kumimoji="1" lang="en-US" altLang="ja-JP" dirty="0"/>
                    </a:p>
                    <a:p>
                      <a:r>
                        <a:rPr kumimoji="1" lang="ja-JP" altLang="en-US" dirty="0"/>
                        <a:t>判定</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gridSpan="3">
                  <a:txBody>
                    <a:bodyPr/>
                    <a:lstStyle/>
                    <a:p>
                      <a:r>
                        <a:rPr kumimoji="1" lang="ja-JP" altLang="en-US" dirty="0"/>
                        <a:t>Ａさん</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tc gridSpan="3">
                  <a:txBody>
                    <a:bodyPr/>
                    <a:lstStyle/>
                    <a:p>
                      <a:r>
                        <a:rPr kumimoji="1" lang="ja-JP" altLang="en-US" dirty="0"/>
                        <a:t>Ｂさん</a:t>
                      </a:r>
                    </a:p>
                  </a:txBody>
                  <a:tcPr anchor="ctr" anchorCtr="1">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extLst>
                  <a:ext uri="{0D108BD9-81ED-4DB2-BD59-A6C34878D82A}">
                    <a16:rowId xmlns:a16="http://schemas.microsoft.com/office/drawing/2014/main" val="1028937582"/>
                  </a:ext>
                </a:extLst>
              </a:tr>
              <a:tr h="243566">
                <a:tc vMerge="1">
                  <a:txBody>
                    <a:bodyPr/>
                    <a:lstStyle/>
                    <a:p>
                      <a:endParaRPr kumimoji="1" lang="ja-JP" altLang="en-US" dirty="0"/>
                    </a:p>
                  </a:txBody>
                  <a:tcPr anchor="ctr" anchorCtr="1"/>
                </a:tc>
                <a:tc vMerge="1">
                  <a:txBody>
                    <a:bodyPr/>
                    <a:lstStyle/>
                    <a:p>
                      <a:endParaRPr kumimoji="1" lang="ja-JP" altLang="en-US" dirty="0"/>
                    </a:p>
                  </a:txBody>
                  <a:tcPr anchor="ctr" anchorCtr="1"/>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lnR w="28575"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867290103"/>
                  </a:ext>
                </a:extLst>
              </a:tr>
              <a:tr h="292279">
                <a:tc>
                  <a:txBody>
                    <a:bodyPr/>
                    <a:lstStyle/>
                    <a:p>
                      <a:r>
                        <a:rPr kumimoji="1" lang="ja-JP" altLang="en-US" sz="1600" dirty="0"/>
                        <a:t>１</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90176626"/>
                  </a:ext>
                </a:extLst>
              </a:tr>
              <a:tr h="292279">
                <a:tc>
                  <a:txBody>
                    <a:bodyPr/>
                    <a:lstStyle/>
                    <a:p>
                      <a:r>
                        <a:rPr kumimoji="1" lang="ja-JP" altLang="en-US" sz="1600" dirty="0"/>
                        <a:t>２</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41703731"/>
                  </a:ext>
                </a:extLst>
              </a:tr>
              <a:tr h="292279">
                <a:tc>
                  <a:txBody>
                    <a:bodyPr/>
                    <a:lstStyle/>
                    <a:p>
                      <a:r>
                        <a:rPr kumimoji="1" lang="ja-JP" altLang="en-US" sz="1600" dirty="0"/>
                        <a:t>３</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5615838"/>
                  </a:ext>
                </a:extLst>
              </a:tr>
              <a:tr h="292279">
                <a:tc>
                  <a:txBody>
                    <a:bodyPr/>
                    <a:lstStyle/>
                    <a:p>
                      <a:r>
                        <a:rPr kumimoji="1" lang="ja-JP" altLang="en-US" sz="1600" dirty="0"/>
                        <a:t>４</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38085605"/>
                  </a:ext>
                </a:extLst>
              </a:tr>
              <a:tr h="292279">
                <a:tc>
                  <a:txBody>
                    <a:bodyPr/>
                    <a:lstStyle/>
                    <a:p>
                      <a:r>
                        <a:rPr kumimoji="1" lang="ja-JP" altLang="en-US" sz="1600" dirty="0"/>
                        <a:t>５</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9473292"/>
                  </a:ext>
                </a:extLst>
              </a:tr>
              <a:tr h="292279">
                <a:tc>
                  <a:txBody>
                    <a:bodyPr/>
                    <a:lstStyle/>
                    <a:p>
                      <a:r>
                        <a:rPr kumimoji="1" lang="ja-JP" altLang="en-US" sz="1600" dirty="0"/>
                        <a:t>６</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０</a:t>
                      </a:r>
                    </a:p>
                  </a:txBody>
                  <a:tcPr anchor="ctr" anchorCtr="1">
                    <a:solidFill>
                      <a:srgbClr val="FFFF00"/>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2788885012"/>
                  </a:ext>
                </a:extLst>
              </a:tr>
              <a:tr h="292279">
                <a:tc>
                  <a:txBody>
                    <a:bodyPr/>
                    <a:lstStyle/>
                    <a:p>
                      <a:r>
                        <a:rPr kumimoji="1" lang="ja-JP" altLang="en-US" sz="1600" dirty="0"/>
                        <a:t>７</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864962"/>
                  </a:ext>
                </a:extLst>
              </a:tr>
              <a:tr h="292279">
                <a:tc>
                  <a:txBody>
                    <a:bodyPr/>
                    <a:lstStyle/>
                    <a:p>
                      <a:r>
                        <a:rPr kumimoji="1" lang="ja-JP" altLang="en-US" sz="1600" dirty="0"/>
                        <a:t>８</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7927877"/>
                  </a:ext>
                </a:extLst>
              </a:tr>
              <a:tr h="292279">
                <a:tc>
                  <a:txBody>
                    <a:bodyPr/>
                    <a:lstStyle/>
                    <a:p>
                      <a:r>
                        <a:rPr kumimoji="1" lang="ja-JP" altLang="en-US" sz="1600" dirty="0"/>
                        <a:t>９</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4335636"/>
                  </a:ext>
                </a:extLst>
              </a:tr>
              <a:tr h="292279">
                <a:tc>
                  <a:txBody>
                    <a:bodyPr/>
                    <a:lstStyle/>
                    <a:p>
                      <a:r>
                        <a:rPr kumimoji="1" lang="ja-JP" altLang="en-US" sz="1600" dirty="0"/>
                        <a:t>１０</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0997276"/>
                  </a:ext>
                </a:extLst>
              </a:tr>
              <a:tr h="292279">
                <a:tc>
                  <a:txBody>
                    <a:bodyPr/>
                    <a:lstStyle/>
                    <a:p>
                      <a:r>
                        <a:rPr kumimoji="1" lang="ja-JP" altLang="en-US" sz="1600" dirty="0"/>
                        <a:t>１１</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11407965"/>
                  </a:ext>
                </a:extLst>
              </a:tr>
              <a:tr h="292279">
                <a:tc>
                  <a:txBody>
                    <a:bodyPr/>
                    <a:lstStyle/>
                    <a:p>
                      <a:r>
                        <a:rPr kumimoji="1" lang="ja-JP" altLang="en-US" sz="1600" dirty="0"/>
                        <a:t>１２</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１</a:t>
                      </a:r>
                    </a:p>
                  </a:txBody>
                  <a:tcPr anchor="ctr" anchorCtr="1">
                    <a:solidFill>
                      <a:srgbClr val="FFFF00"/>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3184430"/>
                  </a:ext>
                </a:extLst>
              </a:tr>
              <a:tr h="292279">
                <a:tc>
                  <a:txBody>
                    <a:bodyPr/>
                    <a:lstStyle/>
                    <a:p>
                      <a:r>
                        <a:rPr kumimoji="1" lang="ja-JP" altLang="en-US" sz="1600" dirty="0"/>
                        <a:t>１３</a:t>
                      </a:r>
                    </a:p>
                  </a:txBody>
                  <a:tcPr anchor="ctr" anchorCtr="1">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990136"/>
                  </a:ext>
                </a:extLst>
              </a:tr>
            </a:tbl>
          </a:graphicData>
        </a:graphic>
      </p:graphicFrame>
      <p:graphicFrame>
        <p:nvGraphicFramePr>
          <p:cNvPr id="8" name="表 7">
            <a:extLst>
              <a:ext uri="{FF2B5EF4-FFF2-40B4-BE49-F238E27FC236}">
                <a16:creationId xmlns:a16="http://schemas.microsoft.com/office/drawing/2014/main" id="{BEB2F432-BB66-4766-B745-3E7BBFF6CE38}"/>
              </a:ext>
            </a:extLst>
          </p:cNvPr>
          <p:cNvGraphicFramePr>
            <a:graphicFrameLocks noGrp="1"/>
          </p:cNvGraphicFramePr>
          <p:nvPr>
            <p:extLst>
              <p:ext uri="{D42A27DB-BD31-4B8C-83A1-F6EECF244321}">
                <p14:modId xmlns:p14="http://schemas.microsoft.com/office/powerpoint/2010/main" val="3391459686"/>
              </p:ext>
            </p:extLst>
          </p:nvPr>
        </p:nvGraphicFramePr>
        <p:xfrm>
          <a:off x="6097835" y="1344059"/>
          <a:ext cx="5257800" cy="5029200"/>
        </p:xfrm>
        <a:graphic>
          <a:graphicData uri="http://schemas.openxmlformats.org/drawingml/2006/table">
            <a:tbl>
              <a:tblPr firstRow="1" bandRow="1">
                <a:tableStyleId>{5940675A-B579-460E-94D1-54222C63F5DA}</a:tableStyleId>
              </a:tblPr>
              <a:tblGrid>
                <a:gridCol w="657225">
                  <a:extLst>
                    <a:ext uri="{9D8B030D-6E8A-4147-A177-3AD203B41FA5}">
                      <a16:colId xmlns:a16="http://schemas.microsoft.com/office/drawing/2014/main" val="3659391671"/>
                    </a:ext>
                  </a:extLst>
                </a:gridCol>
                <a:gridCol w="657225">
                  <a:extLst>
                    <a:ext uri="{9D8B030D-6E8A-4147-A177-3AD203B41FA5}">
                      <a16:colId xmlns:a16="http://schemas.microsoft.com/office/drawing/2014/main" val="1687278845"/>
                    </a:ext>
                  </a:extLst>
                </a:gridCol>
                <a:gridCol w="657225">
                  <a:extLst>
                    <a:ext uri="{9D8B030D-6E8A-4147-A177-3AD203B41FA5}">
                      <a16:colId xmlns:a16="http://schemas.microsoft.com/office/drawing/2014/main" val="126620139"/>
                    </a:ext>
                  </a:extLst>
                </a:gridCol>
                <a:gridCol w="657225">
                  <a:extLst>
                    <a:ext uri="{9D8B030D-6E8A-4147-A177-3AD203B41FA5}">
                      <a16:colId xmlns:a16="http://schemas.microsoft.com/office/drawing/2014/main" val="2070581716"/>
                    </a:ext>
                  </a:extLst>
                </a:gridCol>
                <a:gridCol w="657225">
                  <a:extLst>
                    <a:ext uri="{9D8B030D-6E8A-4147-A177-3AD203B41FA5}">
                      <a16:colId xmlns:a16="http://schemas.microsoft.com/office/drawing/2014/main" val="3693490531"/>
                    </a:ext>
                  </a:extLst>
                </a:gridCol>
                <a:gridCol w="657225">
                  <a:extLst>
                    <a:ext uri="{9D8B030D-6E8A-4147-A177-3AD203B41FA5}">
                      <a16:colId xmlns:a16="http://schemas.microsoft.com/office/drawing/2014/main" val="1102047995"/>
                    </a:ext>
                  </a:extLst>
                </a:gridCol>
                <a:gridCol w="657225">
                  <a:extLst>
                    <a:ext uri="{9D8B030D-6E8A-4147-A177-3AD203B41FA5}">
                      <a16:colId xmlns:a16="http://schemas.microsoft.com/office/drawing/2014/main" val="153625260"/>
                    </a:ext>
                  </a:extLst>
                </a:gridCol>
                <a:gridCol w="657225">
                  <a:extLst>
                    <a:ext uri="{9D8B030D-6E8A-4147-A177-3AD203B41FA5}">
                      <a16:colId xmlns:a16="http://schemas.microsoft.com/office/drawing/2014/main" val="3412346671"/>
                    </a:ext>
                  </a:extLst>
                </a:gridCol>
              </a:tblGrid>
              <a:tr h="292279">
                <a:tc rowSpan="2">
                  <a:txBody>
                    <a:bodyPr/>
                    <a:lstStyle/>
                    <a:p>
                      <a:r>
                        <a:rPr kumimoji="1" lang="ja-JP" altLang="en-US" dirty="0"/>
                        <a:t>部品</a:t>
                      </a:r>
                    </a:p>
                  </a:txBody>
                  <a:tcPr anchor="ctr" anchorCtr="1">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lumMod val="40000"/>
                        <a:lumOff val="60000"/>
                      </a:schemeClr>
                    </a:solidFill>
                  </a:tcPr>
                </a:tc>
                <a:tc rowSpan="2">
                  <a:txBody>
                    <a:bodyPr/>
                    <a:lstStyle/>
                    <a:p>
                      <a:r>
                        <a:rPr kumimoji="1" lang="ja-JP" altLang="en-US" dirty="0"/>
                        <a:t>基準</a:t>
                      </a:r>
                      <a:endParaRPr kumimoji="1" lang="en-US" altLang="ja-JP" dirty="0"/>
                    </a:p>
                    <a:p>
                      <a:r>
                        <a:rPr kumimoji="1" lang="ja-JP" altLang="en-US" dirty="0"/>
                        <a:t>判定</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gridSpan="3">
                  <a:txBody>
                    <a:bodyPr/>
                    <a:lstStyle/>
                    <a:p>
                      <a:r>
                        <a:rPr kumimoji="1" lang="ja-JP" altLang="en-US" dirty="0"/>
                        <a:t>Ａさん</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tc gridSpan="3">
                  <a:txBody>
                    <a:bodyPr/>
                    <a:lstStyle/>
                    <a:p>
                      <a:r>
                        <a:rPr kumimoji="1" lang="ja-JP" altLang="en-US" dirty="0"/>
                        <a:t>Ｂさん</a:t>
                      </a:r>
                    </a:p>
                  </a:txBody>
                  <a:tcPr anchor="ctr" anchorCtr="1">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extLst>
                  <a:ext uri="{0D108BD9-81ED-4DB2-BD59-A6C34878D82A}">
                    <a16:rowId xmlns:a16="http://schemas.microsoft.com/office/drawing/2014/main" val="1028937582"/>
                  </a:ext>
                </a:extLst>
              </a:tr>
              <a:tr h="243566">
                <a:tc vMerge="1">
                  <a:txBody>
                    <a:bodyPr/>
                    <a:lstStyle/>
                    <a:p>
                      <a:endParaRPr kumimoji="1" lang="ja-JP" altLang="en-US" dirty="0"/>
                    </a:p>
                  </a:txBody>
                  <a:tcPr anchor="ctr" anchorCtr="1"/>
                </a:tc>
                <a:tc vMerge="1">
                  <a:txBody>
                    <a:bodyPr/>
                    <a:lstStyle/>
                    <a:p>
                      <a:endParaRPr kumimoji="1" lang="ja-JP" altLang="en-US" dirty="0"/>
                    </a:p>
                  </a:txBody>
                  <a:tcPr anchor="ctr" anchorCtr="1"/>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lnR w="28575"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867290103"/>
                  </a:ext>
                </a:extLst>
              </a:tr>
              <a:tr h="292279">
                <a:tc>
                  <a:txBody>
                    <a:bodyPr/>
                    <a:lstStyle/>
                    <a:p>
                      <a:r>
                        <a:rPr kumimoji="1" lang="ja-JP" altLang="en-US" sz="1600" dirty="0"/>
                        <a:t>１４</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noFill/>
                  </a:tcPr>
                </a:tc>
                <a:tc>
                  <a:txBody>
                    <a:bodyPr/>
                    <a:lstStyle/>
                    <a:p>
                      <a:r>
                        <a:rPr kumimoji="1" lang="ja-JP" altLang="en-US" sz="1600" dirty="0">
                          <a:solidFill>
                            <a:schemeClr val="tx1"/>
                          </a:solidFill>
                        </a:rPr>
                        <a:t>０</a:t>
                      </a:r>
                    </a:p>
                  </a:txBody>
                  <a:tcPr anchor="ctr" anchorCtr="1">
                    <a:solidFill>
                      <a:srgbClr val="FFFF00"/>
                    </a:solidFill>
                  </a:tcPr>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90176626"/>
                  </a:ext>
                </a:extLst>
              </a:tr>
              <a:tr h="292279">
                <a:tc>
                  <a:txBody>
                    <a:bodyPr/>
                    <a:lstStyle/>
                    <a:p>
                      <a:r>
                        <a:rPr kumimoji="1" lang="ja-JP" altLang="en-US" sz="1600" dirty="0"/>
                        <a:t>１５</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41703731"/>
                  </a:ext>
                </a:extLst>
              </a:tr>
              <a:tr h="292279">
                <a:tc>
                  <a:txBody>
                    <a:bodyPr/>
                    <a:lstStyle/>
                    <a:p>
                      <a:r>
                        <a:rPr kumimoji="1" lang="ja-JP" altLang="en-US" sz="1600" dirty="0"/>
                        <a:t>１６</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5615838"/>
                  </a:ext>
                </a:extLst>
              </a:tr>
              <a:tr h="292279">
                <a:tc>
                  <a:txBody>
                    <a:bodyPr/>
                    <a:lstStyle/>
                    <a:p>
                      <a:r>
                        <a:rPr kumimoji="1" lang="ja-JP" altLang="en-US" sz="1600" dirty="0"/>
                        <a:t>１７</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38085605"/>
                  </a:ext>
                </a:extLst>
              </a:tr>
              <a:tr h="292279">
                <a:tc>
                  <a:txBody>
                    <a:bodyPr/>
                    <a:lstStyle/>
                    <a:p>
                      <a:r>
                        <a:rPr kumimoji="1" lang="ja-JP" altLang="en-US" sz="1600" dirty="0"/>
                        <a:t>１８</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9473292"/>
                  </a:ext>
                </a:extLst>
              </a:tr>
              <a:tr h="292279">
                <a:tc>
                  <a:txBody>
                    <a:bodyPr/>
                    <a:lstStyle/>
                    <a:p>
                      <a:r>
                        <a:rPr kumimoji="1" lang="ja-JP" altLang="en-US" sz="1600" dirty="0"/>
                        <a:t>１９</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88885012"/>
                  </a:ext>
                </a:extLst>
              </a:tr>
              <a:tr h="292279">
                <a:tc>
                  <a:txBody>
                    <a:bodyPr/>
                    <a:lstStyle/>
                    <a:p>
                      <a:r>
                        <a:rPr kumimoji="1" lang="ja-JP" altLang="en-US" sz="1600" dirty="0"/>
                        <a:t>２０</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864962"/>
                  </a:ext>
                </a:extLst>
              </a:tr>
              <a:tr h="292279">
                <a:tc>
                  <a:txBody>
                    <a:bodyPr/>
                    <a:lstStyle/>
                    <a:p>
                      <a:r>
                        <a:rPr kumimoji="1" lang="ja-JP" altLang="en-US" sz="1600" dirty="0"/>
                        <a:t>２１</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０</a:t>
                      </a:r>
                    </a:p>
                  </a:txBody>
                  <a:tcPr anchor="ctr" anchorCtr="1">
                    <a:solidFill>
                      <a:srgbClr val="FFFF00"/>
                    </a:solidFill>
                  </a:tcPr>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０</a:t>
                      </a:r>
                    </a:p>
                  </a:txBody>
                  <a:tcPr anchor="ctr" anchorCtr="1">
                    <a:solidFill>
                      <a:srgbClr val="FFFF00"/>
                    </a:solidFill>
                  </a:tcPr>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7927877"/>
                  </a:ext>
                </a:extLst>
              </a:tr>
              <a:tr h="292279">
                <a:tc>
                  <a:txBody>
                    <a:bodyPr/>
                    <a:lstStyle/>
                    <a:p>
                      <a:r>
                        <a:rPr kumimoji="1" lang="ja-JP" altLang="en-US" sz="1600" dirty="0"/>
                        <a:t>２２</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１</a:t>
                      </a:r>
                    </a:p>
                  </a:txBody>
                  <a:tcPr anchor="ctr" anchorCtr="1">
                    <a:solidFill>
                      <a:srgbClr val="FFFF00"/>
                    </a:solidFill>
                  </a:tcPr>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１</a:t>
                      </a:r>
                    </a:p>
                  </a:txBody>
                  <a:tcPr anchor="ctr" anchorCtr="1">
                    <a:solidFill>
                      <a:srgbClr val="FFFF00"/>
                    </a:solidFill>
                  </a:tcPr>
                </a:tc>
                <a:tc>
                  <a:txBody>
                    <a:bodyPr/>
                    <a:lstStyle/>
                    <a:p>
                      <a:r>
                        <a:rPr kumimoji="1" lang="ja-JP" altLang="en-US" sz="1600" dirty="0">
                          <a:solidFill>
                            <a:schemeClr val="tx1"/>
                          </a:solidFill>
                        </a:rPr>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4335636"/>
                  </a:ext>
                </a:extLst>
              </a:tr>
              <a:tr h="292279">
                <a:tc>
                  <a:txBody>
                    <a:bodyPr/>
                    <a:lstStyle/>
                    <a:p>
                      <a:r>
                        <a:rPr kumimoji="1" lang="ja-JP" altLang="en-US" sz="1600" dirty="0"/>
                        <a:t>２３</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0997276"/>
                  </a:ext>
                </a:extLst>
              </a:tr>
              <a:tr h="292279">
                <a:tc>
                  <a:txBody>
                    <a:bodyPr/>
                    <a:lstStyle/>
                    <a:p>
                      <a:r>
                        <a:rPr kumimoji="1" lang="ja-JP" altLang="en-US" sz="1600" dirty="0"/>
                        <a:t>２４</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11407965"/>
                  </a:ext>
                </a:extLst>
              </a:tr>
              <a:tr h="292279">
                <a:tc>
                  <a:txBody>
                    <a:bodyPr/>
                    <a:lstStyle/>
                    <a:p>
                      <a:r>
                        <a:rPr kumimoji="1" lang="ja-JP" altLang="en-US" sz="1600" dirty="0"/>
                        <a:t>２５</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3184430"/>
                  </a:ext>
                </a:extLst>
              </a:tr>
              <a:tr h="292279">
                <a:tc>
                  <a:txBody>
                    <a:bodyPr/>
                    <a:lstStyle/>
                    <a:p>
                      <a:r>
                        <a:rPr kumimoji="1" lang="ja-JP" altLang="en-US" sz="1600" dirty="0"/>
                        <a:t>２６</a:t>
                      </a:r>
                    </a:p>
                  </a:txBody>
                  <a:tcPr anchor="ctr" anchorCtr="1">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990136"/>
                  </a:ext>
                </a:extLst>
              </a:tr>
            </a:tbl>
          </a:graphicData>
        </a:graphic>
      </p:graphicFrame>
    </p:spTree>
    <p:extLst>
      <p:ext uri="{BB962C8B-B14F-4D97-AF65-F5344CB8AC3E}">
        <p14:creationId xmlns:p14="http://schemas.microsoft.com/office/powerpoint/2010/main" val="794667513"/>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a:p>
            <a:pPr lvl="1">
              <a:lnSpc>
                <a:spcPct val="100000"/>
              </a:lnSpc>
              <a:buFont typeface="Wingdings" panose="05000000000000000000" pitchFamily="2" charset="2"/>
              <a:buChar char="Ø"/>
            </a:pPr>
            <a:endParaRPr lang="en-US" altLang="ja-JP"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567</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５．ＭＳＡ（計数値ＭＳＡ（クロスタブ法：評価事例））</a:t>
            </a:r>
          </a:p>
        </p:txBody>
      </p:sp>
      <p:graphicFrame>
        <p:nvGraphicFramePr>
          <p:cNvPr id="2" name="表 1">
            <a:extLst>
              <a:ext uri="{FF2B5EF4-FFF2-40B4-BE49-F238E27FC236}">
                <a16:creationId xmlns:a16="http://schemas.microsoft.com/office/drawing/2014/main" id="{678D4745-53AD-4164-8B1C-48FFFECE2DA2}"/>
              </a:ext>
            </a:extLst>
          </p:cNvPr>
          <p:cNvGraphicFramePr>
            <a:graphicFrameLocks noGrp="1"/>
          </p:cNvGraphicFramePr>
          <p:nvPr>
            <p:extLst>
              <p:ext uri="{D42A27DB-BD31-4B8C-83A1-F6EECF244321}">
                <p14:modId xmlns:p14="http://schemas.microsoft.com/office/powerpoint/2010/main" val="3788880127"/>
              </p:ext>
            </p:extLst>
          </p:nvPr>
        </p:nvGraphicFramePr>
        <p:xfrm>
          <a:off x="838199" y="1344059"/>
          <a:ext cx="5257800" cy="5029200"/>
        </p:xfrm>
        <a:graphic>
          <a:graphicData uri="http://schemas.openxmlformats.org/drawingml/2006/table">
            <a:tbl>
              <a:tblPr firstRow="1" bandRow="1">
                <a:tableStyleId>{5940675A-B579-460E-94D1-54222C63F5DA}</a:tableStyleId>
              </a:tblPr>
              <a:tblGrid>
                <a:gridCol w="657225">
                  <a:extLst>
                    <a:ext uri="{9D8B030D-6E8A-4147-A177-3AD203B41FA5}">
                      <a16:colId xmlns:a16="http://schemas.microsoft.com/office/drawing/2014/main" val="3659391671"/>
                    </a:ext>
                  </a:extLst>
                </a:gridCol>
                <a:gridCol w="657225">
                  <a:extLst>
                    <a:ext uri="{9D8B030D-6E8A-4147-A177-3AD203B41FA5}">
                      <a16:colId xmlns:a16="http://schemas.microsoft.com/office/drawing/2014/main" val="1687278845"/>
                    </a:ext>
                  </a:extLst>
                </a:gridCol>
                <a:gridCol w="657225">
                  <a:extLst>
                    <a:ext uri="{9D8B030D-6E8A-4147-A177-3AD203B41FA5}">
                      <a16:colId xmlns:a16="http://schemas.microsoft.com/office/drawing/2014/main" val="126620139"/>
                    </a:ext>
                  </a:extLst>
                </a:gridCol>
                <a:gridCol w="657225">
                  <a:extLst>
                    <a:ext uri="{9D8B030D-6E8A-4147-A177-3AD203B41FA5}">
                      <a16:colId xmlns:a16="http://schemas.microsoft.com/office/drawing/2014/main" val="2070581716"/>
                    </a:ext>
                  </a:extLst>
                </a:gridCol>
                <a:gridCol w="657225">
                  <a:extLst>
                    <a:ext uri="{9D8B030D-6E8A-4147-A177-3AD203B41FA5}">
                      <a16:colId xmlns:a16="http://schemas.microsoft.com/office/drawing/2014/main" val="3693490531"/>
                    </a:ext>
                  </a:extLst>
                </a:gridCol>
                <a:gridCol w="657225">
                  <a:extLst>
                    <a:ext uri="{9D8B030D-6E8A-4147-A177-3AD203B41FA5}">
                      <a16:colId xmlns:a16="http://schemas.microsoft.com/office/drawing/2014/main" val="1102047995"/>
                    </a:ext>
                  </a:extLst>
                </a:gridCol>
                <a:gridCol w="657225">
                  <a:extLst>
                    <a:ext uri="{9D8B030D-6E8A-4147-A177-3AD203B41FA5}">
                      <a16:colId xmlns:a16="http://schemas.microsoft.com/office/drawing/2014/main" val="153625260"/>
                    </a:ext>
                  </a:extLst>
                </a:gridCol>
                <a:gridCol w="657225">
                  <a:extLst>
                    <a:ext uri="{9D8B030D-6E8A-4147-A177-3AD203B41FA5}">
                      <a16:colId xmlns:a16="http://schemas.microsoft.com/office/drawing/2014/main" val="3412346671"/>
                    </a:ext>
                  </a:extLst>
                </a:gridCol>
              </a:tblGrid>
              <a:tr h="292279">
                <a:tc rowSpan="2">
                  <a:txBody>
                    <a:bodyPr/>
                    <a:lstStyle/>
                    <a:p>
                      <a:r>
                        <a:rPr kumimoji="1" lang="ja-JP" altLang="en-US" dirty="0"/>
                        <a:t>部品</a:t>
                      </a:r>
                    </a:p>
                  </a:txBody>
                  <a:tcPr anchor="ctr" anchorCtr="1">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lumMod val="40000"/>
                        <a:lumOff val="60000"/>
                      </a:schemeClr>
                    </a:solidFill>
                  </a:tcPr>
                </a:tc>
                <a:tc rowSpan="2">
                  <a:txBody>
                    <a:bodyPr/>
                    <a:lstStyle/>
                    <a:p>
                      <a:r>
                        <a:rPr kumimoji="1" lang="ja-JP" altLang="en-US" dirty="0"/>
                        <a:t>基準</a:t>
                      </a:r>
                      <a:endParaRPr kumimoji="1" lang="en-US" altLang="ja-JP" dirty="0"/>
                    </a:p>
                    <a:p>
                      <a:r>
                        <a:rPr kumimoji="1" lang="ja-JP" altLang="en-US" dirty="0"/>
                        <a:t>判定</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gridSpan="3">
                  <a:txBody>
                    <a:bodyPr/>
                    <a:lstStyle/>
                    <a:p>
                      <a:r>
                        <a:rPr kumimoji="1" lang="ja-JP" altLang="en-US" dirty="0"/>
                        <a:t>Ａさん</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tc gridSpan="3">
                  <a:txBody>
                    <a:bodyPr/>
                    <a:lstStyle/>
                    <a:p>
                      <a:r>
                        <a:rPr kumimoji="1" lang="ja-JP" altLang="en-US" dirty="0"/>
                        <a:t>Ｂさん</a:t>
                      </a:r>
                    </a:p>
                  </a:txBody>
                  <a:tcPr anchor="ctr" anchorCtr="1">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extLst>
                  <a:ext uri="{0D108BD9-81ED-4DB2-BD59-A6C34878D82A}">
                    <a16:rowId xmlns:a16="http://schemas.microsoft.com/office/drawing/2014/main" val="1028937582"/>
                  </a:ext>
                </a:extLst>
              </a:tr>
              <a:tr h="243566">
                <a:tc vMerge="1">
                  <a:txBody>
                    <a:bodyPr/>
                    <a:lstStyle/>
                    <a:p>
                      <a:endParaRPr kumimoji="1" lang="ja-JP" altLang="en-US" dirty="0"/>
                    </a:p>
                  </a:txBody>
                  <a:tcPr anchor="ctr" anchorCtr="1"/>
                </a:tc>
                <a:tc vMerge="1">
                  <a:txBody>
                    <a:bodyPr/>
                    <a:lstStyle/>
                    <a:p>
                      <a:endParaRPr kumimoji="1" lang="ja-JP" altLang="en-US" dirty="0"/>
                    </a:p>
                  </a:txBody>
                  <a:tcPr anchor="ctr" anchorCtr="1"/>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lnR w="28575"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867290103"/>
                  </a:ext>
                </a:extLst>
              </a:tr>
              <a:tr h="292279">
                <a:tc>
                  <a:txBody>
                    <a:bodyPr/>
                    <a:lstStyle/>
                    <a:p>
                      <a:r>
                        <a:rPr kumimoji="1" lang="ja-JP" altLang="en-US" sz="1600" dirty="0"/>
                        <a:t>２７</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90176626"/>
                  </a:ext>
                </a:extLst>
              </a:tr>
              <a:tr h="292279">
                <a:tc>
                  <a:txBody>
                    <a:bodyPr/>
                    <a:lstStyle/>
                    <a:p>
                      <a:r>
                        <a:rPr kumimoji="1" lang="ja-JP" altLang="en-US" sz="1600" dirty="0"/>
                        <a:t>２８</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41703731"/>
                  </a:ext>
                </a:extLst>
              </a:tr>
              <a:tr h="292279">
                <a:tc>
                  <a:txBody>
                    <a:bodyPr/>
                    <a:lstStyle/>
                    <a:p>
                      <a:r>
                        <a:rPr kumimoji="1" lang="ja-JP" altLang="en-US" sz="1600" dirty="0"/>
                        <a:t>２９</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5615838"/>
                  </a:ext>
                </a:extLst>
              </a:tr>
              <a:tr h="292279">
                <a:tc>
                  <a:txBody>
                    <a:bodyPr/>
                    <a:lstStyle/>
                    <a:p>
                      <a:r>
                        <a:rPr kumimoji="1" lang="ja-JP" altLang="en-US" sz="1600" dirty="0"/>
                        <a:t>３０</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3038085605"/>
                  </a:ext>
                </a:extLst>
              </a:tr>
              <a:tr h="292279">
                <a:tc>
                  <a:txBody>
                    <a:bodyPr/>
                    <a:lstStyle/>
                    <a:p>
                      <a:r>
                        <a:rPr kumimoji="1" lang="ja-JP" altLang="en-US" sz="1600" dirty="0"/>
                        <a:t>３１</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9473292"/>
                  </a:ext>
                </a:extLst>
              </a:tr>
              <a:tr h="292279">
                <a:tc>
                  <a:txBody>
                    <a:bodyPr/>
                    <a:lstStyle/>
                    <a:p>
                      <a:r>
                        <a:rPr kumimoji="1" lang="ja-JP" altLang="en-US" sz="1600" dirty="0"/>
                        <a:t>３２</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88885012"/>
                  </a:ext>
                </a:extLst>
              </a:tr>
              <a:tr h="292279">
                <a:tc>
                  <a:txBody>
                    <a:bodyPr/>
                    <a:lstStyle/>
                    <a:p>
                      <a:r>
                        <a:rPr kumimoji="1" lang="ja-JP" altLang="en-US" sz="1600" dirty="0"/>
                        <a:t>３３</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864962"/>
                  </a:ext>
                </a:extLst>
              </a:tr>
              <a:tr h="292279">
                <a:tc>
                  <a:txBody>
                    <a:bodyPr/>
                    <a:lstStyle/>
                    <a:p>
                      <a:r>
                        <a:rPr kumimoji="1" lang="ja-JP" altLang="en-US" sz="1600" dirty="0"/>
                        <a:t>３４</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solidFill>
                            <a:schemeClr val="tx1"/>
                          </a:solidFill>
                        </a:rPr>
                        <a:t>１</a:t>
                      </a:r>
                    </a:p>
                  </a:txBody>
                  <a:tcPr anchor="ctr" anchorCtr="1">
                    <a:solidFill>
                      <a:srgbClr val="FFFF00"/>
                    </a:solidFill>
                  </a:tcPr>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47927877"/>
                  </a:ext>
                </a:extLst>
              </a:tr>
              <a:tr h="292279">
                <a:tc>
                  <a:txBody>
                    <a:bodyPr/>
                    <a:lstStyle/>
                    <a:p>
                      <a:r>
                        <a:rPr kumimoji="1" lang="ja-JP" altLang="en-US" sz="1600" dirty="0"/>
                        <a:t>３５</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4335636"/>
                  </a:ext>
                </a:extLst>
              </a:tr>
              <a:tr h="292279">
                <a:tc>
                  <a:txBody>
                    <a:bodyPr/>
                    <a:lstStyle/>
                    <a:p>
                      <a:r>
                        <a:rPr kumimoji="1" lang="ja-JP" altLang="en-US" sz="1600" dirty="0"/>
                        <a:t>３６</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０</a:t>
                      </a:r>
                    </a:p>
                  </a:txBody>
                  <a:tcPr anchor="ctr" anchorCtr="1">
                    <a:solidFill>
                      <a:srgbClr val="FFFF00"/>
                    </a:solidFill>
                  </a:tcPr>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0997276"/>
                  </a:ext>
                </a:extLst>
              </a:tr>
              <a:tr h="292279">
                <a:tc>
                  <a:txBody>
                    <a:bodyPr/>
                    <a:lstStyle/>
                    <a:p>
                      <a:r>
                        <a:rPr kumimoji="1" lang="ja-JP" altLang="en-US" sz="1600" dirty="0"/>
                        <a:t>３７</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11407965"/>
                  </a:ext>
                </a:extLst>
              </a:tr>
              <a:tr h="292279">
                <a:tc>
                  <a:txBody>
                    <a:bodyPr/>
                    <a:lstStyle/>
                    <a:p>
                      <a:r>
                        <a:rPr kumimoji="1" lang="ja-JP" altLang="en-US" sz="1600" dirty="0"/>
                        <a:t>３８</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3184430"/>
                  </a:ext>
                </a:extLst>
              </a:tr>
              <a:tr h="292279">
                <a:tc>
                  <a:txBody>
                    <a:bodyPr/>
                    <a:lstStyle/>
                    <a:p>
                      <a:r>
                        <a:rPr kumimoji="1" lang="ja-JP" altLang="en-US" sz="1600" dirty="0"/>
                        <a:t>３９</a:t>
                      </a:r>
                    </a:p>
                  </a:txBody>
                  <a:tcPr anchor="ctr" anchorCtr="1">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B w="28575" cap="flat" cmpd="sng" algn="ctr">
                      <a:solidFill>
                        <a:schemeClr val="tx1"/>
                      </a:solidFill>
                      <a:prstDash val="solid"/>
                      <a:round/>
                      <a:headEnd type="none" w="med" len="med"/>
                      <a:tailEnd type="none" w="med" len="med"/>
                    </a:lnB>
                  </a:tcPr>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990136"/>
                  </a:ext>
                </a:extLst>
              </a:tr>
            </a:tbl>
          </a:graphicData>
        </a:graphic>
      </p:graphicFrame>
      <p:graphicFrame>
        <p:nvGraphicFramePr>
          <p:cNvPr id="8" name="表 7">
            <a:extLst>
              <a:ext uri="{FF2B5EF4-FFF2-40B4-BE49-F238E27FC236}">
                <a16:creationId xmlns:a16="http://schemas.microsoft.com/office/drawing/2014/main" id="{BEB2F432-BB66-4766-B745-3E7BBFF6CE38}"/>
              </a:ext>
            </a:extLst>
          </p:cNvPr>
          <p:cNvGraphicFramePr>
            <a:graphicFrameLocks noGrp="1"/>
          </p:cNvGraphicFramePr>
          <p:nvPr>
            <p:extLst>
              <p:ext uri="{D42A27DB-BD31-4B8C-83A1-F6EECF244321}">
                <p14:modId xmlns:p14="http://schemas.microsoft.com/office/powerpoint/2010/main" val="4276123057"/>
              </p:ext>
            </p:extLst>
          </p:nvPr>
        </p:nvGraphicFramePr>
        <p:xfrm>
          <a:off x="6097835" y="1344059"/>
          <a:ext cx="5257800" cy="5029200"/>
        </p:xfrm>
        <a:graphic>
          <a:graphicData uri="http://schemas.openxmlformats.org/drawingml/2006/table">
            <a:tbl>
              <a:tblPr firstRow="1" bandRow="1">
                <a:tableStyleId>{5940675A-B579-460E-94D1-54222C63F5DA}</a:tableStyleId>
              </a:tblPr>
              <a:tblGrid>
                <a:gridCol w="657225">
                  <a:extLst>
                    <a:ext uri="{9D8B030D-6E8A-4147-A177-3AD203B41FA5}">
                      <a16:colId xmlns:a16="http://schemas.microsoft.com/office/drawing/2014/main" val="3659391671"/>
                    </a:ext>
                  </a:extLst>
                </a:gridCol>
                <a:gridCol w="657225">
                  <a:extLst>
                    <a:ext uri="{9D8B030D-6E8A-4147-A177-3AD203B41FA5}">
                      <a16:colId xmlns:a16="http://schemas.microsoft.com/office/drawing/2014/main" val="1687278845"/>
                    </a:ext>
                  </a:extLst>
                </a:gridCol>
                <a:gridCol w="657225">
                  <a:extLst>
                    <a:ext uri="{9D8B030D-6E8A-4147-A177-3AD203B41FA5}">
                      <a16:colId xmlns:a16="http://schemas.microsoft.com/office/drawing/2014/main" val="126620139"/>
                    </a:ext>
                  </a:extLst>
                </a:gridCol>
                <a:gridCol w="657225">
                  <a:extLst>
                    <a:ext uri="{9D8B030D-6E8A-4147-A177-3AD203B41FA5}">
                      <a16:colId xmlns:a16="http://schemas.microsoft.com/office/drawing/2014/main" val="2070581716"/>
                    </a:ext>
                  </a:extLst>
                </a:gridCol>
                <a:gridCol w="657225">
                  <a:extLst>
                    <a:ext uri="{9D8B030D-6E8A-4147-A177-3AD203B41FA5}">
                      <a16:colId xmlns:a16="http://schemas.microsoft.com/office/drawing/2014/main" val="3693490531"/>
                    </a:ext>
                  </a:extLst>
                </a:gridCol>
                <a:gridCol w="657225">
                  <a:extLst>
                    <a:ext uri="{9D8B030D-6E8A-4147-A177-3AD203B41FA5}">
                      <a16:colId xmlns:a16="http://schemas.microsoft.com/office/drawing/2014/main" val="1102047995"/>
                    </a:ext>
                  </a:extLst>
                </a:gridCol>
                <a:gridCol w="657225">
                  <a:extLst>
                    <a:ext uri="{9D8B030D-6E8A-4147-A177-3AD203B41FA5}">
                      <a16:colId xmlns:a16="http://schemas.microsoft.com/office/drawing/2014/main" val="153625260"/>
                    </a:ext>
                  </a:extLst>
                </a:gridCol>
                <a:gridCol w="657225">
                  <a:extLst>
                    <a:ext uri="{9D8B030D-6E8A-4147-A177-3AD203B41FA5}">
                      <a16:colId xmlns:a16="http://schemas.microsoft.com/office/drawing/2014/main" val="3412346671"/>
                    </a:ext>
                  </a:extLst>
                </a:gridCol>
              </a:tblGrid>
              <a:tr h="292279">
                <a:tc rowSpan="2">
                  <a:txBody>
                    <a:bodyPr/>
                    <a:lstStyle/>
                    <a:p>
                      <a:r>
                        <a:rPr kumimoji="1" lang="ja-JP" altLang="en-US" dirty="0"/>
                        <a:t>部品</a:t>
                      </a:r>
                    </a:p>
                  </a:txBody>
                  <a:tcPr anchor="ctr" anchorCtr="1">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2">
                        <a:lumMod val="40000"/>
                        <a:lumOff val="60000"/>
                      </a:schemeClr>
                    </a:solidFill>
                  </a:tcPr>
                </a:tc>
                <a:tc rowSpan="2">
                  <a:txBody>
                    <a:bodyPr/>
                    <a:lstStyle/>
                    <a:p>
                      <a:r>
                        <a:rPr kumimoji="1" lang="ja-JP" altLang="en-US" dirty="0"/>
                        <a:t>基準</a:t>
                      </a:r>
                      <a:endParaRPr kumimoji="1" lang="en-US" altLang="ja-JP" dirty="0"/>
                    </a:p>
                    <a:p>
                      <a:r>
                        <a:rPr kumimoji="1" lang="ja-JP" altLang="en-US" dirty="0"/>
                        <a:t>判定</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gridSpan="3">
                  <a:txBody>
                    <a:bodyPr/>
                    <a:lstStyle/>
                    <a:p>
                      <a:r>
                        <a:rPr kumimoji="1" lang="ja-JP" altLang="en-US" dirty="0"/>
                        <a:t>Ａさん</a:t>
                      </a:r>
                    </a:p>
                  </a:txBody>
                  <a:tcPr anchor="ctr" anchorCtr="1">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tc gridSpan="3">
                  <a:txBody>
                    <a:bodyPr/>
                    <a:lstStyle/>
                    <a:p>
                      <a:r>
                        <a:rPr kumimoji="1" lang="ja-JP" altLang="en-US" dirty="0"/>
                        <a:t>Ｂさん</a:t>
                      </a:r>
                    </a:p>
                  </a:txBody>
                  <a:tcPr anchor="ctr" anchorCtr="1">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kumimoji="1" lang="ja-JP" altLang="en-US" dirty="0"/>
                    </a:p>
                  </a:txBody>
                  <a:tcPr anchor="ctr" anchorCtr="1"/>
                </a:tc>
                <a:tc hMerge="1">
                  <a:txBody>
                    <a:bodyPr/>
                    <a:lstStyle/>
                    <a:p>
                      <a:endParaRPr kumimoji="1" lang="ja-JP" altLang="en-US" dirty="0"/>
                    </a:p>
                  </a:txBody>
                  <a:tcPr anchor="ctr" anchorCtr="1"/>
                </a:tc>
                <a:extLst>
                  <a:ext uri="{0D108BD9-81ED-4DB2-BD59-A6C34878D82A}">
                    <a16:rowId xmlns:a16="http://schemas.microsoft.com/office/drawing/2014/main" val="1028937582"/>
                  </a:ext>
                </a:extLst>
              </a:tr>
              <a:tr h="243566">
                <a:tc vMerge="1">
                  <a:txBody>
                    <a:bodyPr/>
                    <a:lstStyle/>
                    <a:p>
                      <a:endParaRPr kumimoji="1" lang="ja-JP" altLang="en-US" dirty="0"/>
                    </a:p>
                  </a:txBody>
                  <a:tcPr anchor="ctr" anchorCtr="1"/>
                </a:tc>
                <a:tc vMerge="1">
                  <a:txBody>
                    <a:bodyPr/>
                    <a:lstStyle/>
                    <a:p>
                      <a:endParaRPr kumimoji="1" lang="ja-JP" altLang="en-US" dirty="0"/>
                    </a:p>
                  </a:txBody>
                  <a:tcPr anchor="ctr" anchorCtr="1"/>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1</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2</a:t>
                      </a:r>
                      <a:r>
                        <a:rPr kumimoji="1" lang="ja-JP" altLang="en-US" sz="1400" dirty="0"/>
                        <a:t>回目</a:t>
                      </a:r>
                    </a:p>
                  </a:txBody>
                  <a:tcPr anchor="ctr" anchorCtr="1">
                    <a:solidFill>
                      <a:schemeClr val="tx2">
                        <a:lumMod val="40000"/>
                        <a:lumOff val="60000"/>
                      </a:schemeClr>
                    </a:solidFill>
                  </a:tcPr>
                </a:tc>
                <a:tc>
                  <a:txBody>
                    <a:bodyPr/>
                    <a:lstStyle/>
                    <a:p>
                      <a:r>
                        <a:rPr kumimoji="1" lang="en-US" altLang="ja-JP" sz="1400" dirty="0"/>
                        <a:t>3</a:t>
                      </a:r>
                      <a:r>
                        <a:rPr kumimoji="1" lang="ja-JP" altLang="en-US" sz="1400" dirty="0"/>
                        <a:t>回目</a:t>
                      </a:r>
                    </a:p>
                  </a:txBody>
                  <a:tcPr anchor="ctr" anchorCtr="1">
                    <a:lnR w="28575"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867290103"/>
                  </a:ext>
                </a:extLst>
              </a:tr>
              <a:tr h="292279">
                <a:tc>
                  <a:txBody>
                    <a:bodyPr/>
                    <a:lstStyle/>
                    <a:p>
                      <a:r>
                        <a:rPr kumimoji="1" lang="ja-JP" altLang="en-US" sz="1600" dirty="0"/>
                        <a:t>４０</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90176626"/>
                  </a:ext>
                </a:extLst>
              </a:tr>
              <a:tr h="292279">
                <a:tc>
                  <a:txBody>
                    <a:bodyPr/>
                    <a:lstStyle/>
                    <a:p>
                      <a:r>
                        <a:rPr kumimoji="1" lang="ja-JP" altLang="en-US" sz="1600" dirty="0"/>
                        <a:t>４１</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41703731"/>
                  </a:ext>
                </a:extLst>
              </a:tr>
              <a:tr h="292279">
                <a:tc>
                  <a:txBody>
                    <a:bodyPr/>
                    <a:lstStyle/>
                    <a:p>
                      <a:r>
                        <a:rPr kumimoji="1" lang="ja-JP" altLang="en-US" sz="1600" dirty="0"/>
                        <a:t>４２</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5615838"/>
                  </a:ext>
                </a:extLst>
              </a:tr>
              <a:tr h="292279">
                <a:tc>
                  <a:txBody>
                    <a:bodyPr/>
                    <a:lstStyle/>
                    <a:p>
                      <a:r>
                        <a:rPr kumimoji="1" lang="ja-JP" altLang="en-US" sz="1600" dirty="0"/>
                        <a:t>４３</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０</a:t>
                      </a:r>
                    </a:p>
                  </a:txBody>
                  <a:tcPr anchor="ctr" anchorCtr="1">
                    <a:solidFill>
                      <a:srgbClr val="FFFF00"/>
                    </a:solidFill>
                  </a:tcPr>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38085605"/>
                  </a:ext>
                </a:extLst>
              </a:tr>
              <a:tr h="292279">
                <a:tc>
                  <a:txBody>
                    <a:bodyPr/>
                    <a:lstStyle/>
                    <a:p>
                      <a:r>
                        <a:rPr kumimoji="1" lang="ja-JP" altLang="en-US" sz="1600" dirty="0"/>
                        <a:t>４４</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tc>
                <a:tc>
                  <a:txBody>
                    <a:bodyPr/>
                    <a:lstStyle/>
                    <a:p>
                      <a:r>
                        <a:rPr kumimoji="1" lang="ja-JP" altLang="en-US" sz="1600" dirty="0">
                          <a:solidFill>
                            <a:schemeClr val="tx1"/>
                          </a:solidFill>
                        </a:rPr>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9473292"/>
                  </a:ext>
                </a:extLst>
              </a:tr>
              <a:tr h="292279">
                <a:tc>
                  <a:txBody>
                    <a:bodyPr/>
                    <a:lstStyle/>
                    <a:p>
                      <a:r>
                        <a:rPr kumimoji="1" lang="ja-JP" altLang="en-US" sz="1600" dirty="0"/>
                        <a:t>４５</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tc>
                <a:tc>
                  <a:txBody>
                    <a:bodyPr/>
                    <a:lstStyle/>
                    <a:p>
                      <a:r>
                        <a:rPr kumimoji="1" lang="ja-JP" altLang="en-US" sz="1600" dirty="0">
                          <a:solidFill>
                            <a:schemeClr val="tx1"/>
                          </a:solidFill>
                        </a:rPr>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88885012"/>
                  </a:ext>
                </a:extLst>
              </a:tr>
              <a:tr h="292279">
                <a:tc>
                  <a:txBody>
                    <a:bodyPr/>
                    <a:lstStyle/>
                    <a:p>
                      <a:r>
                        <a:rPr kumimoji="1" lang="ja-JP" altLang="en-US" sz="1600" dirty="0"/>
                        <a:t>４６</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864962"/>
                  </a:ext>
                </a:extLst>
              </a:tr>
              <a:tr h="292279">
                <a:tc>
                  <a:txBody>
                    <a:bodyPr/>
                    <a:lstStyle/>
                    <a:p>
                      <a:r>
                        <a:rPr kumimoji="1" lang="ja-JP" altLang="en-US" sz="1600" dirty="0"/>
                        <a:t>４７</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7927877"/>
                  </a:ext>
                </a:extLst>
              </a:tr>
              <a:tr h="292279">
                <a:tc>
                  <a:txBody>
                    <a:bodyPr/>
                    <a:lstStyle/>
                    <a:p>
                      <a:r>
                        <a:rPr kumimoji="1" lang="ja-JP" altLang="en-US" sz="1600" dirty="0"/>
                        <a:t>４８</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24335636"/>
                  </a:ext>
                </a:extLst>
              </a:tr>
              <a:tr h="292279">
                <a:tc>
                  <a:txBody>
                    <a:bodyPr/>
                    <a:lstStyle/>
                    <a:p>
                      <a:r>
                        <a:rPr kumimoji="1" lang="ja-JP" altLang="en-US" sz="1600" dirty="0"/>
                        <a:t>４９</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tc>
                <a:tc>
                  <a:txBody>
                    <a:bodyPr/>
                    <a:lstStyle/>
                    <a:p>
                      <a:r>
                        <a:rPr kumimoji="1" lang="ja-JP" altLang="en-US" sz="1600" dirty="0"/>
                        <a:t>１</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0997276"/>
                  </a:ext>
                </a:extLst>
              </a:tr>
              <a:tr h="292279">
                <a:tc>
                  <a:txBody>
                    <a:bodyPr/>
                    <a:lstStyle/>
                    <a:p>
                      <a:r>
                        <a:rPr kumimoji="1" lang="ja-JP" altLang="en-US" sz="1600" dirty="0"/>
                        <a:t>５０</a:t>
                      </a:r>
                    </a:p>
                  </a:txBody>
                  <a:tcPr anchor="ctr" anchorCtr="1">
                    <a:lnL w="28575"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tc>
                <a:tc>
                  <a:txBody>
                    <a:bodyPr/>
                    <a:lstStyle/>
                    <a:p>
                      <a:r>
                        <a:rPr kumimoji="1" lang="ja-JP" altLang="en-US" sz="1600" dirty="0"/>
                        <a:t>０</a:t>
                      </a:r>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11407965"/>
                  </a:ext>
                </a:extLst>
              </a:tr>
              <a:tr h="292279">
                <a:tc>
                  <a:txBody>
                    <a:bodyPr/>
                    <a:lstStyle/>
                    <a:p>
                      <a:endParaRPr kumimoji="1" lang="ja-JP" altLang="en-US" sz="1600" dirty="0"/>
                    </a:p>
                  </a:txBody>
                  <a:tcPr anchor="ctr" anchorCtr="1">
                    <a:lnL w="28575" cap="flat" cmpd="sng" algn="ctr">
                      <a:solidFill>
                        <a:schemeClr val="tx1"/>
                      </a:solidFill>
                      <a:prstDash val="solid"/>
                      <a:round/>
                      <a:headEnd type="none" w="med" len="med"/>
                      <a:tailEnd type="none" w="med" len="med"/>
                    </a:lnL>
                  </a:tcPr>
                </a:tc>
                <a:tc>
                  <a:txBody>
                    <a:bodyPr/>
                    <a:lstStyle/>
                    <a:p>
                      <a:endParaRPr kumimoji="1" lang="ja-JP" altLang="en-US" sz="1600"/>
                    </a:p>
                  </a:txBody>
                  <a:tcPr anchor="ctr" anchorCtr="1"/>
                </a:tc>
                <a:tc>
                  <a:txBody>
                    <a:bodyPr/>
                    <a:lstStyle/>
                    <a:p>
                      <a:endParaRPr kumimoji="1" lang="ja-JP" altLang="en-US" sz="1600"/>
                    </a:p>
                  </a:txBody>
                  <a:tcPr anchor="ctr" anchorCtr="1"/>
                </a:tc>
                <a:tc>
                  <a:txBody>
                    <a:bodyPr/>
                    <a:lstStyle/>
                    <a:p>
                      <a:endParaRPr kumimoji="1" lang="ja-JP" altLang="en-US" sz="1600"/>
                    </a:p>
                  </a:txBody>
                  <a:tcPr anchor="ctr" anchorCtr="1"/>
                </a:tc>
                <a:tc>
                  <a:txBody>
                    <a:bodyPr/>
                    <a:lstStyle/>
                    <a:p>
                      <a:endParaRPr kumimoji="1" lang="ja-JP" altLang="en-US" sz="1600"/>
                    </a:p>
                  </a:txBody>
                  <a:tcPr anchor="ctr" anchorCtr="1"/>
                </a:tc>
                <a:tc>
                  <a:txBody>
                    <a:bodyPr/>
                    <a:lstStyle/>
                    <a:p>
                      <a:endParaRPr kumimoji="1" lang="ja-JP" altLang="en-US" sz="1600"/>
                    </a:p>
                  </a:txBody>
                  <a:tcPr anchor="ctr" anchorCtr="1"/>
                </a:tc>
                <a:tc>
                  <a:txBody>
                    <a:bodyPr/>
                    <a:lstStyle/>
                    <a:p>
                      <a:endParaRPr kumimoji="1" lang="ja-JP" altLang="en-US" sz="1600"/>
                    </a:p>
                  </a:txBody>
                  <a:tcPr anchor="ctr" anchorCtr="1"/>
                </a:tc>
                <a:tc>
                  <a:txBody>
                    <a:bodyPr/>
                    <a:lstStyle/>
                    <a:p>
                      <a:endParaRPr kumimoji="1" lang="ja-JP" altLang="en-US" sz="1600" dirty="0"/>
                    </a:p>
                  </a:txBody>
                  <a:tcPr anchor="ctr" anchorCtr="1">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43184430"/>
                  </a:ext>
                </a:extLst>
              </a:tr>
              <a:tr h="292279">
                <a:tc>
                  <a:txBody>
                    <a:bodyPr/>
                    <a:lstStyle/>
                    <a:p>
                      <a:endParaRPr kumimoji="1" lang="ja-JP" altLang="en-US" sz="1600"/>
                    </a:p>
                  </a:txBody>
                  <a:tcPr anchor="ctr" anchorCtr="1">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endParaRPr kumimoji="1" lang="ja-JP" altLang="en-US" sz="160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dirty="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dirty="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dirty="0"/>
                    </a:p>
                  </a:txBody>
                  <a:tcPr anchor="ctr" anchorCtr="1">
                    <a:lnB w="28575" cap="flat" cmpd="sng" algn="ctr">
                      <a:solidFill>
                        <a:schemeClr val="tx1"/>
                      </a:solidFill>
                      <a:prstDash val="solid"/>
                      <a:round/>
                      <a:headEnd type="none" w="med" len="med"/>
                      <a:tailEnd type="none" w="med" len="med"/>
                    </a:lnB>
                  </a:tcPr>
                </a:tc>
                <a:tc>
                  <a:txBody>
                    <a:bodyPr/>
                    <a:lstStyle/>
                    <a:p>
                      <a:endParaRPr kumimoji="1" lang="ja-JP" altLang="en-US" sz="1600" dirty="0"/>
                    </a:p>
                  </a:txBody>
                  <a:tcPr anchor="ctr" anchorCtr="1">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990136"/>
                  </a:ext>
                </a:extLst>
              </a:tr>
            </a:tbl>
          </a:graphicData>
        </a:graphic>
      </p:graphicFrame>
    </p:spTree>
    <p:extLst>
      <p:ext uri="{BB962C8B-B14F-4D97-AF65-F5344CB8AC3E}">
        <p14:creationId xmlns:p14="http://schemas.microsoft.com/office/powerpoint/2010/main" val="2078707126"/>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a:pPr>
            <a:r>
              <a:rPr lang="ja-JP" altLang="en-US" sz="2400" dirty="0"/>
              <a:t>Ａさんと基準のクロスタブ調査結果（Ａさんと基準の一致度合い）</a:t>
            </a: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endParaRPr lang="en-US" altLang="ja-JP" sz="2400" dirty="0"/>
          </a:p>
          <a:p>
            <a:pPr marL="0" indent="0">
              <a:lnSpc>
                <a:spcPct val="100000"/>
              </a:lnSpc>
              <a:buNone/>
            </a:pPr>
            <a:r>
              <a:rPr lang="ja-JP" altLang="en-US" sz="2400" dirty="0"/>
              <a:t>　</a:t>
            </a:r>
            <a:r>
              <a:rPr lang="ja-JP" altLang="en-US" sz="2000" dirty="0"/>
              <a:t>個数の期待値：</a:t>
            </a:r>
            <a:endParaRPr lang="en-US" altLang="ja-JP" sz="2000" dirty="0"/>
          </a:p>
          <a:p>
            <a:pPr marL="0" indent="0">
              <a:lnSpc>
                <a:spcPts val="1500"/>
              </a:lnSpc>
              <a:buNone/>
            </a:pPr>
            <a:r>
              <a:rPr lang="ja-JP" altLang="en-US" sz="2000" dirty="0"/>
              <a:t>　　両者が偶然に一致、不一致となる確率（</a:t>
            </a:r>
            <a:r>
              <a:rPr lang="en-US" altLang="ja-JP" sz="2000" dirty="0"/>
              <a:t>48/150×50/150</a:t>
            </a:r>
            <a:r>
              <a:rPr lang="ja-JP" altLang="en-US" sz="2000" dirty="0"/>
              <a:t>＝</a:t>
            </a:r>
            <a:r>
              <a:rPr lang="en-US" altLang="ja-JP" sz="2000" dirty="0"/>
              <a:t>0.107</a:t>
            </a:r>
            <a:r>
              <a:rPr lang="ja-JP" altLang="en-US" sz="2000" dirty="0"/>
              <a:t>）</a:t>
            </a:r>
            <a:endParaRPr lang="en-US" altLang="ja-JP" sz="2000" dirty="0"/>
          </a:p>
          <a:p>
            <a:pPr marL="0" indent="0">
              <a:lnSpc>
                <a:spcPts val="1500"/>
              </a:lnSpc>
              <a:buNone/>
            </a:pPr>
            <a:r>
              <a:rPr lang="ja-JP" altLang="en-US" sz="2000" dirty="0"/>
              <a:t>　　両者が一致する期待値（</a:t>
            </a:r>
            <a:r>
              <a:rPr lang="en-US" altLang="ja-JP" sz="2000" dirty="0"/>
              <a:t>150</a:t>
            </a:r>
            <a:r>
              <a:rPr lang="ja-JP" altLang="en-US" sz="2000" dirty="0"/>
              <a:t>回</a:t>
            </a:r>
            <a:r>
              <a:rPr lang="en-US" altLang="ja-JP" sz="2000" dirty="0"/>
              <a:t>×0.107</a:t>
            </a:r>
            <a:r>
              <a:rPr lang="ja-JP" altLang="en-US" sz="2000" dirty="0"/>
              <a:t>＝</a:t>
            </a:r>
            <a:r>
              <a:rPr lang="en-US" altLang="ja-JP" sz="2000" dirty="0">
                <a:solidFill>
                  <a:srgbClr val="FF0000"/>
                </a:solidFill>
              </a:rPr>
              <a:t>16.0</a:t>
            </a:r>
            <a:r>
              <a:rPr lang="ja-JP" altLang="en-US" sz="2000" dirty="0"/>
              <a:t>）　</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568</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５．ＭＳＡ（計数値ＭＳＡ（クロスタブ法：評価事例））</a:t>
            </a:r>
          </a:p>
        </p:txBody>
      </p:sp>
      <p:graphicFrame>
        <p:nvGraphicFramePr>
          <p:cNvPr id="3" name="表 2">
            <a:extLst>
              <a:ext uri="{FF2B5EF4-FFF2-40B4-BE49-F238E27FC236}">
                <a16:creationId xmlns:a16="http://schemas.microsoft.com/office/drawing/2014/main" id="{35BBA2DF-7175-4D73-B8EC-CAFE92461DB7}"/>
              </a:ext>
            </a:extLst>
          </p:cNvPr>
          <p:cNvGraphicFramePr>
            <a:graphicFrameLocks noGrp="1"/>
          </p:cNvGraphicFramePr>
          <p:nvPr>
            <p:extLst>
              <p:ext uri="{D42A27DB-BD31-4B8C-83A1-F6EECF244321}">
                <p14:modId xmlns:p14="http://schemas.microsoft.com/office/powerpoint/2010/main" val="2319127679"/>
              </p:ext>
            </p:extLst>
          </p:nvPr>
        </p:nvGraphicFramePr>
        <p:xfrm>
          <a:off x="838199" y="1832369"/>
          <a:ext cx="10515600" cy="2804160"/>
        </p:xfrm>
        <a:graphic>
          <a:graphicData uri="http://schemas.openxmlformats.org/drawingml/2006/table">
            <a:tbl>
              <a:tblPr firstRow="1" bandRow="1">
                <a:tableStyleId>{5940675A-B579-460E-94D1-54222C63F5DA}</a:tableStyleId>
              </a:tblPr>
              <a:tblGrid>
                <a:gridCol w="1629579">
                  <a:extLst>
                    <a:ext uri="{9D8B030D-6E8A-4147-A177-3AD203B41FA5}">
                      <a16:colId xmlns:a16="http://schemas.microsoft.com/office/drawing/2014/main" val="1143034422"/>
                    </a:ext>
                  </a:extLst>
                </a:gridCol>
                <a:gridCol w="1233889">
                  <a:extLst>
                    <a:ext uri="{9D8B030D-6E8A-4147-A177-3AD203B41FA5}">
                      <a16:colId xmlns:a16="http://schemas.microsoft.com/office/drawing/2014/main" val="3914539762"/>
                    </a:ext>
                  </a:extLst>
                </a:gridCol>
                <a:gridCol w="3084723">
                  <a:extLst>
                    <a:ext uri="{9D8B030D-6E8A-4147-A177-3AD203B41FA5}">
                      <a16:colId xmlns:a16="http://schemas.microsoft.com/office/drawing/2014/main" val="2552206456"/>
                    </a:ext>
                  </a:extLst>
                </a:gridCol>
                <a:gridCol w="3062690">
                  <a:extLst>
                    <a:ext uri="{9D8B030D-6E8A-4147-A177-3AD203B41FA5}">
                      <a16:colId xmlns:a16="http://schemas.microsoft.com/office/drawing/2014/main" val="2209549266"/>
                    </a:ext>
                  </a:extLst>
                </a:gridCol>
                <a:gridCol w="1504719">
                  <a:extLst>
                    <a:ext uri="{9D8B030D-6E8A-4147-A177-3AD203B41FA5}">
                      <a16:colId xmlns:a16="http://schemas.microsoft.com/office/drawing/2014/main" val="3690758961"/>
                    </a:ext>
                  </a:extLst>
                </a:gridCol>
              </a:tblGrid>
              <a:tr h="405183">
                <a:tc rowSpan="2" gridSpan="2">
                  <a:txBody>
                    <a:bodyPr/>
                    <a:lstStyle/>
                    <a:p>
                      <a:endParaRPr kumimoji="1" lang="ja-JP" altLang="en-US" sz="2200" dirty="0"/>
                    </a:p>
                  </a:txBody>
                  <a:tcPr anchor="ctr" anchorCtr="1">
                    <a:solidFill>
                      <a:schemeClr val="tx2">
                        <a:lumMod val="40000"/>
                        <a:lumOff val="60000"/>
                      </a:schemeClr>
                    </a:solidFill>
                  </a:tcPr>
                </a:tc>
                <a:tc rowSpan="2" hMerge="1">
                  <a:txBody>
                    <a:bodyPr/>
                    <a:lstStyle/>
                    <a:p>
                      <a:endParaRPr kumimoji="1" lang="ja-JP" altLang="en-US" sz="2200" dirty="0"/>
                    </a:p>
                  </a:txBody>
                  <a:tcPr anchor="ctr" anchorCtr="1"/>
                </a:tc>
                <a:tc gridSpan="2">
                  <a:txBody>
                    <a:bodyPr/>
                    <a:lstStyle/>
                    <a:p>
                      <a:r>
                        <a:rPr kumimoji="1" lang="ja-JP" altLang="en-US" sz="2200" dirty="0"/>
                        <a:t>基準</a:t>
                      </a:r>
                    </a:p>
                  </a:txBody>
                  <a:tcPr anchor="ctr" anchorCtr="1">
                    <a:solidFill>
                      <a:schemeClr val="tx2">
                        <a:lumMod val="40000"/>
                        <a:lumOff val="60000"/>
                      </a:schemeClr>
                    </a:solidFill>
                  </a:tcPr>
                </a:tc>
                <a:tc hMerge="1">
                  <a:txBody>
                    <a:bodyPr/>
                    <a:lstStyle/>
                    <a:p>
                      <a:endParaRPr kumimoji="1" lang="ja-JP" altLang="en-US" sz="2000" dirty="0"/>
                    </a:p>
                  </a:txBody>
                  <a:tcPr anchor="ctr" anchorCtr="1"/>
                </a:tc>
                <a:tc rowSpan="2">
                  <a:txBody>
                    <a:bodyPr/>
                    <a:lstStyle/>
                    <a:p>
                      <a:r>
                        <a:rPr kumimoji="1" lang="ja-JP" altLang="en-US" sz="2200" dirty="0"/>
                        <a:t>合計</a:t>
                      </a:r>
                    </a:p>
                  </a:txBody>
                  <a:tcPr anchor="ctr" anchorCtr="1">
                    <a:solidFill>
                      <a:schemeClr val="tx2">
                        <a:lumMod val="40000"/>
                        <a:lumOff val="60000"/>
                      </a:schemeClr>
                    </a:solidFill>
                  </a:tcPr>
                </a:tc>
                <a:extLst>
                  <a:ext uri="{0D108BD9-81ED-4DB2-BD59-A6C34878D82A}">
                    <a16:rowId xmlns:a16="http://schemas.microsoft.com/office/drawing/2014/main" val="1242193362"/>
                  </a:ext>
                </a:extLst>
              </a:tr>
              <a:tr h="405183">
                <a:tc gridSpan="2" vMerge="1">
                  <a:txBody>
                    <a:bodyPr/>
                    <a:lstStyle/>
                    <a:p>
                      <a:endParaRPr kumimoji="1" lang="ja-JP" altLang="en-US" sz="2200" dirty="0"/>
                    </a:p>
                  </a:txBody>
                  <a:tcPr anchor="ctr" anchorCtr="1"/>
                </a:tc>
                <a:tc hMerge="1" vMerge="1">
                  <a:txBody>
                    <a:bodyPr/>
                    <a:lstStyle/>
                    <a:p>
                      <a:endParaRPr kumimoji="1" lang="ja-JP" altLang="en-US" sz="2200" dirty="0"/>
                    </a:p>
                  </a:txBody>
                  <a:tcPr anchor="ctr" anchorCtr="1"/>
                </a:tc>
                <a:tc>
                  <a:txBody>
                    <a:bodyPr/>
                    <a:lstStyle/>
                    <a:p>
                      <a:r>
                        <a:rPr kumimoji="1" lang="ja-JP" altLang="en-US" sz="2200" dirty="0"/>
                        <a:t>０</a:t>
                      </a:r>
                    </a:p>
                  </a:txBody>
                  <a:tcPr anchor="ctr" anchorCtr="1">
                    <a:solidFill>
                      <a:schemeClr val="tx2">
                        <a:lumMod val="40000"/>
                        <a:lumOff val="60000"/>
                      </a:schemeClr>
                    </a:solidFill>
                  </a:tcPr>
                </a:tc>
                <a:tc>
                  <a:txBody>
                    <a:bodyPr/>
                    <a:lstStyle/>
                    <a:p>
                      <a:r>
                        <a:rPr kumimoji="1" lang="ja-JP" altLang="en-US" sz="2200" dirty="0"/>
                        <a:t>１</a:t>
                      </a:r>
                    </a:p>
                  </a:txBody>
                  <a:tcPr anchor="ctr" anchorCtr="1">
                    <a:solidFill>
                      <a:schemeClr val="tx2">
                        <a:lumMod val="40000"/>
                        <a:lumOff val="60000"/>
                      </a:schemeClr>
                    </a:solidFill>
                  </a:tcPr>
                </a:tc>
                <a:tc vMerge="1">
                  <a:txBody>
                    <a:bodyPr/>
                    <a:lstStyle/>
                    <a:p>
                      <a:endParaRPr kumimoji="1" lang="ja-JP" altLang="en-US" sz="2200" dirty="0"/>
                    </a:p>
                  </a:txBody>
                  <a:tcPr anchor="ctr" anchorCtr="1"/>
                </a:tc>
                <a:extLst>
                  <a:ext uri="{0D108BD9-81ED-4DB2-BD59-A6C34878D82A}">
                    <a16:rowId xmlns:a16="http://schemas.microsoft.com/office/drawing/2014/main" val="2913459589"/>
                  </a:ext>
                </a:extLst>
              </a:tr>
              <a:tr h="723540">
                <a:tc rowSpan="2">
                  <a:txBody>
                    <a:bodyPr/>
                    <a:lstStyle/>
                    <a:p>
                      <a:r>
                        <a:rPr kumimoji="1" lang="ja-JP" altLang="en-US" sz="2200" dirty="0"/>
                        <a:t>Ａさん</a:t>
                      </a:r>
                    </a:p>
                  </a:txBody>
                  <a:tcPr anchor="ctr" anchorCtr="1">
                    <a:solidFill>
                      <a:schemeClr val="tx2">
                        <a:lumMod val="40000"/>
                        <a:lumOff val="60000"/>
                      </a:schemeClr>
                    </a:solidFill>
                  </a:tcPr>
                </a:tc>
                <a:tc>
                  <a:txBody>
                    <a:bodyPr/>
                    <a:lstStyle/>
                    <a:p>
                      <a:r>
                        <a:rPr kumimoji="1" lang="ja-JP" altLang="en-US" sz="2200" dirty="0"/>
                        <a:t>０</a:t>
                      </a:r>
                    </a:p>
                  </a:txBody>
                  <a:tcPr anchor="ctr" anchorCtr="1">
                    <a:solidFill>
                      <a:schemeClr val="tx2">
                        <a:lumMod val="40000"/>
                        <a:lumOff val="60000"/>
                      </a:schemeClr>
                    </a:solidFill>
                  </a:tcPr>
                </a:tc>
                <a:tc>
                  <a:txBody>
                    <a:bodyPr/>
                    <a:lstStyle/>
                    <a:p>
                      <a:r>
                        <a:rPr kumimoji="1" lang="ja-JP" altLang="en-US" sz="2200" dirty="0"/>
                        <a:t>４５（一致）</a:t>
                      </a:r>
                      <a:endParaRPr kumimoji="1" lang="en-US" altLang="ja-JP" sz="2200" dirty="0"/>
                    </a:p>
                    <a:p>
                      <a:r>
                        <a:rPr kumimoji="1" lang="ja-JP" altLang="en-US" sz="2200" b="1" dirty="0">
                          <a:solidFill>
                            <a:srgbClr val="FF0000"/>
                          </a:solidFill>
                        </a:rPr>
                        <a:t>１６．０</a:t>
                      </a:r>
                    </a:p>
                  </a:txBody>
                  <a:tcPr anchor="ctr" anchorCtr="1">
                    <a:solidFill>
                      <a:schemeClr val="accent4">
                        <a:lumMod val="20000"/>
                        <a:lumOff val="80000"/>
                      </a:schemeClr>
                    </a:solidFill>
                  </a:tcPr>
                </a:tc>
                <a:tc>
                  <a:txBody>
                    <a:bodyPr/>
                    <a:lstStyle/>
                    <a:p>
                      <a:r>
                        <a:rPr kumimoji="1" lang="ja-JP" altLang="en-US" sz="2200" dirty="0"/>
                        <a:t>５（不一致）</a:t>
                      </a:r>
                      <a:endParaRPr kumimoji="1" lang="en-US" altLang="ja-JP" sz="2200" dirty="0"/>
                    </a:p>
                    <a:p>
                      <a:r>
                        <a:rPr kumimoji="1" lang="ja-JP" altLang="en-US" sz="2200" b="1" dirty="0">
                          <a:solidFill>
                            <a:srgbClr val="FF0000"/>
                          </a:solidFill>
                        </a:rPr>
                        <a:t>３４．０</a:t>
                      </a:r>
                    </a:p>
                  </a:txBody>
                  <a:tcPr anchor="ctr" anchorCtr="1"/>
                </a:tc>
                <a:tc>
                  <a:txBody>
                    <a:bodyPr/>
                    <a:lstStyle/>
                    <a:p>
                      <a:r>
                        <a:rPr kumimoji="1" lang="ja-JP" altLang="en-US" sz="2200" dirty="0"/>
                        <a:t>５０</a:t>
                      </a:r>
                    </a:p>
                  </a:txBody>
                  <a:tcPr anchor="ctr" anchorCtr="1"/>
                </a:tc>
                <a:extLst>
                  <a:ext uri="{0D108BD9-81ED-4DB2-BD59-A6C34878D82A}">
                    <a16:rowId xmlns:a16="http://schemas.microsoft.com/office/drawing/2014/main" val="1814032069"/>
                  </a:ext>
                </a:extLst>
              </a:tr>
              <a:tr h="723540">
                <a:tc vMerge="1">
                  <a:txBody>
                    <a:bodyPr/>
                    <a:lstStyle/>
                    <a:p>
                      <a:endParaRPr kumimoji="1" lang="ja-JP" altLang="en-US" sz="2000" dirty="0"/>
                    </a:p>
                  </a:txBody>
                  <a:tcPr anchor="ctr" anchorCtr="1"/>
                </a:tc>
                <a:tc>
                  <a:txBody>
                    <a:bodyPr/>
                    <a:lstStyle/>
                    <a:p>
                      <a:r>
                        <a:rPr kumimoji="1" lang="ja-JP" altLang="en-US" sz="2200" dirty="0"/>
                        <a:t>１</a:t>
                      </a:r>
                    </a:p>
                  </a:txBody>
                  <a:tcPr anchor="ctr" anchorCtr="1">
                    <a:solidFill>
                      <a:schemeClr val="tx2">
                        <a:lumMod val="40000"/>
                        <a:lumOff val="60000"/>
                      </a:schemeClr>
                    </a:solidFill>
                  </a:tcPr>
                </a:tc>
                <a:tc>
                  <a:txBody>
                    <a:bodyPr/>
                    <a:lstStyle/>
                    <a:p>
                      <a:r>
                        <a:rPr kumimoji="1" lang="ja-JP" altLang="en-US" sz="2200" dirty="0"/>
                        <a:t>３（不一致）</a:t>
                      </a:r>
                      <a:endParaRPr kumimoji="1" lang="en-US" altLang="ja-JP" sz="2200" dirty="0"/>
                    </a:p>
                    <a:p>
                      <a:r>
                        <a:rPr kumimoji="1" lang="ja-JP" altLang="en-US" sz="2200" b="1" dirty="0">
                          <a:solidFill>
                            <a:srgbClr val="FF0000"/>
                          </a:solidFill>
                        </a:rPr>
                        <a:t>３２．０</a:t>
                      </a:r>
                    </a:p>
                  </a:txBody>
                  <a:tcPr anchor="ctr" anchorCtr="1"/>
                </a:tc>
                <a:tc>
                  <a:txBody>
                    <a:bodyPr/>
                    <a:lstStyle/>
                    <a:p>
                      <a:r>
                        <a:rPr kumimoji="1" lang="ja-JP" altLang="en-US" sz="2200" dirty="0"/>
                        <a:t>９７（一致）</a:t>
                      </a:r>
                      <a:endParaRPr kumimoji="1" lang="en-US" altLang="ja-JP" sz="2200" dirty="0"/>
                    </a:p>
                    <a:p>
                      <a:r>
                        <a:rPr kumimoji="1" lang="ja-JP" altLang="en-US" sz="2200" b="1" dirty="0">
                          <a:solidFill>
                            <a:srgbClr val="FF0000"/>
                          </a:solidFill>
                        </a:rPr>
                        <a:t>６８．０</a:t>
                      </a:r>
                    </a:p>
                  </a:txBody>
                  <a:tcPr anchor="ctr" anchorCtr="1">
                    <a:solidFill>
                      <a:schemeClr val="accent4">
                        <a:lumMod val="20000"/>
                        <a:lumOff val="80000"/>
                      </a:schemeClr>
                    </a:solidFill>
                  </a:tcPr>
                </a:tc>
                <a:tc>
                  <a:txBody>
                    <a:bodyPr/>
                    <a:lstStyle/>
                    <a:p>
                      <a:r>
                        <a:rPr kumimoji="1" lang="ja-JP" altLang="en-US" sz="2200" dirty="0"/>
                        <a:t>１００</a:t>
                      </a:r>
                    </a:p>
                  </a:txBody>
                  <a:tcPr anchor="ctr" anchorCtr="1"/>
                </a:tc>
                <a:extLst>
                  <a:ext uri="{0D108BD9-81ED-4DB2-BD59-A6C34878D82A}">
                    <a16:rowId xmlns:a16="http://schemas.microsoft.com/office/drawing/2014/main" val="3591477965"/>
                  </a:ext>
                </a:extLst>
              </a:tr>
              <a:tr h="405183">
                <a:tc gridSpan="2">
                  <a:txBody>
                    <a:bodyPr/>
                    <a:lstStyle/>
                    <a:p>
                      <a:r>
                        <a:rPr kumimoji="1" lang="ja-JP" altLang="en-US" sz="2200" dirty="0"/>
                        <a:t>合計</a:t>
                      </a:r>
                    </a:p>
                  </a:txBody>
                  <a:tcPr anchor="ctr" anchorCtr="1">
                    <a:solidFill>
                      <a:schemeClr val="tx2">
                        <a:lumMod val="40000"/>
                        <a:lumOff val="60000"/>
                      </a:schemeClr>
                    </a:solidFill>
                  </a:tcPr>
                </a:tc>
                <a:tc hMerge="1">
                  <a:txBody>
                    <a:bodyPr/>
                    <a:lstStyle/>
                    <a:p>
                      <a:endParaRPr kumimoji="1" lang="ja-JP" altLang="en-US" sz="2200" dirty="0"/>
                    </a:p>
                  </a:txBody>
                  <a:tcPr anchor="ctr" anchorCtr="1"/>
                </a:tc>
                <a:tc>
                  <a:txBody>
                    <a:bodyPr/>
                    <a:lstStyle/>
                    <a:p>
                      <a:r>
                        <a:rPr kumimoji="1" lang="ja-JP" altLang="en-US" sz="2200" dirty="0"/>
                        <a:t>４８</a:t>
                      </a:r>
                    </a:p>
                  </a:txBody>
                  <a:tcPr anchor="ctr" anchorCtr="1"/>
                </a:tc>
                <a:tc>
                  <a:txBody>
                    <a:bodyPr/>
                    <a:lstStyle/>
                    <a:p>
                      <a:r>
                        <a:rPr kumimoji="1" lang="ja-JP" altLang="en-US" sz="2200" dirty="0"/>
                        <a:t>１０２</a:t>
                      </a:r>
                    </a:p>
                  </a:txBody>
                  <a:tcPr anchor="ctr" anchorCtr="1"/>
                </a:tc>
                <a:tc>
                  <a:txBody>
                    <a:bodyPr/>
                    <a:lstStyle/>
                    <a:p>
                      <a:r>
                        <a:rPr kumimoji="1" lang="ja-JP" altLang="en-US" sz="2200" dirty="0"/>
                        <a:t>１５０</a:t>
                      </a:r>
                    </a:p>
                  </a:txBody>
                  <a:tcPr anchor="ctr" anchorCtr="1"/>
                </a:tc>
                <a:extLst>
                  <a:ext uri="{0D108BD9-81ED-4DB2-BD59-A6C34878D82A}">
                    <a16:rowId xmlns:a16="http://schemas.microsoft.com/office/drawing/2014/main" val="644320825"/>
                  </a:ext>
                </a:extLst>
              </a:tr>
            </a:tbl>
          </a:graphicData>
        </a:graphic>
      </p:graphicFrame>
      <p:sp>
        <p:nvSpPr>
          <p:cNvPr id="6" name="楕円 5">
            <a:extLst>
              <a:ext uri="{FF2B5EF4-FFF2-40B4-BE49-F238E27FC236}">
                <a16:creationId xmlns:a16="http://schemas.microsoft.com/office/drawing/2014/main" id="{C1F7542E-45D7-4F95-924E-3B40011E7D5C}"/>
              </a:ext>
            </a:extLst>
          </p:cNvPr>
          <p:cNvSpPr/>
          <p:nvPr/>
        </p:nvSpPr>
        <p:spPr>
          <a:xfrm>
            <a:off x="4120307" y="3056371"/>
            <a:ext cx="1685579" cy="34152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3E69EE35-7D2C-401C-8F4D-D9A7B2CE0B40}"/>
              </a:ext>
            </a:extLst>
          </p:cNvPr>
          <p:cNvSpPr/>
          <p:nvPr/>
        </p:nvSpPr>
        <p:spPr>
          <a:xfrm>
            <a:off x="5858629" y="5513942"/>
            <a:ext cx="828102" cy="36829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DA00FF88-4A08-4A9D-BDF1-9C284A0ABC1D}"/>
              </a:ext>
            </a:extLst>
          </p:cNvPr>
          <p:cNvCxnSpPr>
            <a:cxnSpLocks/>
            <a:endCxn id="10" idx="0"/>
          </p:cNvCxnSpPr>
          <p:nvPr/>
        </p:nvCxnSpPr>
        <p:spPr>
          <a:xfrm>
            <a:off x="4963096" y="3397893"/>
            <a:ext cx="1309584" cy="2116049"/>
          </a:xfrm>
          <a:prstGeom prst="straightConnector1">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4" name="グループ化 13">
            <a:extLst>
              <a:ext uri="{FF2B5EF4-FFF2-40B4-BE49-F238E27FC236}">
                <a16:creationId xmlns:a16="http://schemas.microsoft.com/office/drawing/2014/main" id="{70756531-6F6D-4B3B-8389-75EA15D4BA85}"/>
              </a:ext>
            </a:extLst>
          </p:cNvPr>
          <p:cNvGrpSpPr/>
          <p:nvPr/>
        </p:nvGrpSpPr>
        <p:grpSpPr>
          <a:xfrm>
            <a:off x="7411453" y="5513942"/>
            <a:ext cx="3801979" cy="842408"/>
            <a:chOff x="7498080" y="5513942"/>
            <a:chExt cx="3118585" cy="842408"/>
          </a:xfrm>
        </p:grpSpPr>
        <p:sp>
          <p:nvSpPr>
            <p:cNvPr id="2" name="四角形: 角を丸くする 1">
              <a:extLst>
                <a:ext uri="{FF2B5EF4-FFF2-40B4-BE49-F238E27FC236}">
                  <a16:creationId xmlns:a16="http://schemas.microsoft.com/office/drawing/2014/main" id="{F2EB4B93-9AA1-4181-B606-0F73896AED39}"/>
                </a:ext>
              </a:extLst>
            </p:cNvPr>
            <p:cNvSpPr/>
            <p:nvPr/>
          </p:nvSpPr>
          <p:spPr>
            <a:xfrm>
              <a:off x="7498080" y="5513942"/>
              <a:ext cx="3118585" cy="842408"/>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nchorCtr="1"/>
            <a:lstStyle/>
            <a:p>
              <a:pPr algn="ctr"/>
              <a:r>
                <a:rPr kumimoji="1" lang="ja-JP" altLang="en-US" sz="2200" b="1" dirty="0">
                  <a:solidFill>
                    <a:schemeClr val="tx1"/>
                  </a:solidFill>
                </a:rPr>
                <a:t>行の合計数</a:t>
              </a:r>
              <a:r>
                <a:rPr kumimoji="1" lang="en-US" altLang="ja-JP" sz="2200" b="1" dirty="0">
                  <a:solidFill>
                    <a:schemeClr val="tx1"/>
                  </a:solidFill>
                </a:rPr>
                <a:t>×</a:t>
              </a:r>
              <a:r>
                <a:rPr kumimoji="1" lang="ja-JP" altLang="en-US" sz="2200" b="1" dirty="0">
                  <a:solidFill>
                    <a:schemeClr val="tx1"/>
                  </a:solidFill>
                </a:rPr>
                <a:t>列の合計数</a:t>
              </a:r>
              <a:endParaRPr kumimoji="1" lang="en-US" altLang="ja-JP" sz="2200" b="1" dirty="0">
                <a:solidFill>
                  <a:schemeClr val="tx1"/>
                </a:solidFill>
              </a:endParaRPr>
            </a:p>
            <a:p>
              <a:pPr algn="ctr"/>
              <a:r>
                <a:rPr kumimoji="1" lang="ja-JP" altLang="en-US" sz="2200" b="1" dirty="0">
                  <a:solidFill>
                    <a:schemeClr val="tx1"/>
                  </a:solidFill>
                </a:rPr>
                <a:t>総数</a:t>
              </a:r>
            </a:p>
          </p:txBody>
        </p:sp>
        <p:cxnSp>
          <p:nvCxnSpPr>
            <p:cNvPr id="11" name="直線コネクタ 10">
              <a:extLst>
                <a:ext uri="{FF2B5EF4-FFF2-40B4-BE49-F238E27FC236}">
                  <a16:creationId xmlns:a16="http://schemas.microsoft.com/office/drawing/2014/main" id="{D17FE33A-DFE6-4225-AE56-D9236A6302AE}"/>
                </a:ext>
              </a:extLst>
            </p:cNvPr>
            <p:cNvCxnSpPr>
              <a:cxnSpLocks/>
            </p:cNvCxnSpPr>
            <p:nvPr/>
          </p:nvCxnSpPr>
          <p:spPr>
            <a:xfrm>
              <a:off x="7729087" y="5918902"/>
              <a:ext cx="26469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矢印: 右 14">
            <a:extLst>
              <a:ext uri="{FF2B5EF4-FFF2-40B4-BE49-F238E27FC236}">
                <a16:creationId xmlns:a16="http://schemas.microsoft.com/office/drawing/2014/main" id="{9EE6EDAF-44EA-4765-A4A8-D1CA5911B79F}"/>
              </a:ext>
            </a:extLst>
          </p:cNvPr>
          <p:cNvSpPr/>
          <p:nvPr/>
        </p:nvSpPr>
        <p:spPr>
          <a:xfrm>
            <a:off x="7046503" y="5595661"/>
            <a:ext cx="275733" cy="485650"/>
          </a:xfrm>
          <a:prstGeom prst="rightArrow">
            <a:avLst>
              <a:gd name="adj1" fmla="val 6981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24994002"/>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2"/>
            </a:pPr>
            <a:r>
              <a:rPr lang="ja-JP" altLang="en-US" sz="2400" dirty="0"/>
              <a:t>カッパ係数による検定</a:t>
            </a:r>
            <a:endParaRPr lang="en-US" altLang="ja-JP" sz="2400" dirty="0"/>
          </a:p>
          <a:p>
            <a:pPr lvl="1">
              <a:lnSpc>
                <a:spcPct val="100000"/>
              </a:lnSpc>
              <a:buFont typeface="Wingdings" panose="05000000000000000000" pitchFamily="2" charset="2"/>
              <a:buChar char="Ø"/>
            </a:pPr>
            <a:r>
              <a:rPr lang="ja-JP" altLang="en-US" sz="2000" dirty="0"/>
              <a:t>カッパ：</a:t>
            </a:r>
            <a:r>
              <a:rPr lang="en-US" altLang="ja-JP" sz="2000" dirty="0"/>
              <a:t>2</a:t>
            </a:r>
            <a:r>
              <a:rPr lang="ja-JP" altLang="en-US" sz="2000" dirty="0"/>
              <a:t>つの判定結果一致が偶然生じる確率を考慮し、それを除外して、さらに厳しく判断結果の信頼性を問うというもの。</a:t>
            </a:r>
            <a:endParaRPr lang="en-US" altLang="ja-JP" sz="2000" dirty="0"/>
          </a:p>
          <a:p>
            <a:pPr lvl="1">
              <a:lnSpc>
                <a:spcPct val="100000"/>
              </a:lnSpc>
              <a:buFont typeface="Wingdings" panose="05000000000000000000" pitchFamily="2" charset="2"/>
              <a:buChar char="Ø"/>
            </a:pPr>
            <a:endParaRPr lang="en-US" altLang="ja-JP" sz="2000" dirty="0"/>
          </a:p>
          <a:p>
            <a:pPr lvl="1">
              <a:lnSpc>
                <a:spcPct val="100000"/>
              </a:lnSpc>
              <a:buFont typeface="Wingdings" panose="05000000000000000000" pitchFamily="2" charset="2"/>
              <a:buChar char="Ø"/>
            </a:pPr>
            <a:endParaRPr lang="en-US" altLang="ja-JP" sz="2000" dirty="0"/>
          </a:p>
          <a:p>
            <a:pPr lvl="1">
              <a:lnSpc>
                <a:spcPct val="100000"/>
              </a:lnSpc>
              <a:buFont typeface="Wingdings" panose="05000000000000000000" pitchFamily="2" charset="2"/>
              <a:buChar char="Ø"/>
            </a:pPr>
            <a:endParaRPr lang="en-US" altLang="ja-JP" sz="2000" dirty="0"/>
          </a:p>
          <a:p>
            <a:pPr lvl="1">
              <a:lnSpc>
                <a:spcPct val="100000"/>
              </a:lnSpc>
              <a:buFont typeface="Wingdings" panose="05000000000000000000" pitchFamily="2" charset="2"/>
              <a:buChar char="Ø"/>
            </a:pPr>
            <a:endParaRPr lang="en-US" altLang="ja-JP" sz="2000" dirty="0"/>
          </a:p>
          <a:p>
            <a:pPr lvl="1">
              <a:lnSpc>
                <a:spcPct val="100000"/>
              </a:lnSpc>
              <a:buFont typeface="Wingdings" panose="05000000000000000000" pitchFamily="2" charset="2"/>
              <a:buChar char="Ø"/>
            </a:pPr>
            <a:endParaRPr lang="en-US" altLang="ja-JP" sz="2000" dirty="0"/>
          </a:p>
          <a:p>
            <a:pPr lvl="1">
              <a:lnSpc>
                <a:spcPct val="100000"/>
              </a:lnSpc>
              <a:buFont typeface="Wingdings" panose="05000000000000000000" pitchFamily="2" charset="2"/>
              <a:buChar char="Ø"/>
            </a:pPr>
            <a:r>
              <a:rPr lang="ja-JP" altLang="en-US" sz="2000" dirty="0"/>
              <a:t>カッパ＝</a:t>
            </a:r>
            <a:endParaRPr lang="en-US" altLang="ja-JP" sz="20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569</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５．ＭＳＡ（計数値ＭＳＡ（クロスタブ法：評価事例））</a:t>
            </a:r>
          </a:p>
        </p:txBody>
      </p:sp>
      <p:graphicFrame>
        <p:nvGraphicFramePr>
          <p:cNvPr id="11" name="表 10">
            <a:extLst>
              <a:ext uri="{FF2B5EF4-FFF2-40B4-BE49-F238E27FC236}">
                <a16:creationId xmlns:a16="http://schemas.microsoft.com/office/drawing/2014/main" id="{5147C2FC-36CF-4CD1-B8B4-73454611BCF1}"/>
              </a:ext>
            </a:extLst>
          </p:cNvPr>
          <p:cNvGraphicFramePr>
            <a:graphicFrameLocks noGrp="1"/>
          </p:cNvGraphicFramePr>
          <p:nvPr>
            <p:extLst>
              <p:ext uri="{D42A27DB-BD31-4B8C-83A1-F6EECF244321}">
                <p14:modId xmlns:p14="http://schemas.microsoft.com/office/powerpoint/2010/main" val="3038189499"/>
              </p:ext>
            </p:extLst>
          </p:nvPr>
        </p:nvGraphicFramePr>
        <p:xfrm>
          <a:off x="3402390" y="2423712"/>
          <a:ext cx="6964016" cy="1950720"/>
        </p:xfrm>
        <a:graphic>
          <a:graphicData uri="http://schemas.openxmlformats.org/drawingml/2006/table">
            <a:tbl>
              <a:tblPr firstRow="1" bandRow="1">
                <a:tableStyleId>{5940675A-B579-460E-94D1-54222C63F5DA}</a:tableStyleId>
              </a:tblPr>
              <a:tblGrid>
                <a:gridCol w="1079197">
                  <a:extLst>
                    <a:ext uri="{9D8B030D-6E8A-4147-A177-3AD203B41FA5}">
                      <a16:colId xmlns:a16="http://schemas.microsoft.com/office/drawing/2014/main" val="1143034422"/>
                    </a:ext>
                  </a:extLst>
                </a:gridCol>
                <a:gridCol w="817151">
                  <a:extLst>
                    <a:ext uri="{9D8B030D-6E8A-4147-A177-3AD203B41FA5}">
                      <a16:colId xmlns:a16="http://schemas.microsoft.com/office/drawing/2014/main" val="3914539762"/>
                    </a:ext>
                  </a:extLst>
                </a:gridCol>
                <a:gridCol w="2042875">
                  <a:extLst>
                    <a:ext uri="{9D8B030D-6E8A-4147-A177-3AD203B41FA5}">
                      <a16:colId xmlns:a16="http://schemas.microsoft.com/office/drawing/2014/main" val="2552206456"/>
                    </a:ext>
                  </a:extLst>
                </a:gridCol>
                <a:gridCol w="2028284">
                  <a:extLst>
                    <a:ext uri="{9D8B030D-6E8A-4147-A177-3AD203B41FA5}">
                      <a16:colId xmlns:a16="http://schemas.microsoft.com/office/drawing/2014/main" val="2209549266"/>
                    </a:ext>
                  </a:extLst>
                </a:gridCol>
                <a:gridCol w="996509">
                  <a:extLst>
                    <a:ext uri="{9D8B030D-6E8A-4147-A177-3AD203B41FA5}">
                      <a16:colId xmlns:a16="http://schemas.microsoft.com/office/drawing/2014/main" val="3690758961"/>
                    </a:ext>
                  </a:extLst>
                </a:gridCol>
              </a:tblGrid>
              <a:tr h="294670">
                <a:tc rowSpan="2" gridSpan="2">
                  <a:txBody>
                    <a:bodyPr/>
                    <a:lstStyle/>
                    <a:p>
                      <a:endParaRPr kumimoji="1" lang="ja-JP" altLang="en-US" sz="1400" dirty="0"/>
                    </a:p>
                  </a:txBody>
                  <a:tcPr anchor="ctr" anchorCtr="1">
                    <a:solidFill>
                      <a:schemeClr val="tx2">
                        <a:lumMod val="40000"/>
                        <a:lumOff val="60000"/>
                      </a:schemeClr>
                    </a:solidFill>
                  </a:tcPr>
                </a:tc>
                <a:tc rowSpan="2" hMerge="1">
                  <a:txBody>
                    <a:bodyPr/>
                    <a:lstStyle/>
                    <a:p>
                      <a:endParaRPr kumimoji="1" lang="ja-JP" altLang="en-US" sz="2200" dirty="0"/>
                    </a:p>
                  </a:txBody>
                  <a:tcPr anchor="ctr" anchorCtr="1"/>
                </a:tc>
                <a:tc gridSpan="2">
                  <a:txBody>
                    <a:bodyPr/>
                    <a:lstStyle/>
                    <a:p>
                      <a:r>
                        <a:rPr kumimoji="1" lang="ja-JP" altLang="en-US" sz="1400" dirty="0"/>
                        <a:t>Ｂさん</a:t>
                      </a:r>
                    </a:p>
                  </a:txBody>
                  <a:tcPr anchor="ctr" anchorCtr="1">
                    <a:solidFill>
                      <a:schemeClr val="tx2">
                        <a:lumMod val="40000"/>
                        <a:lumOff val="60000"/>
                      </a:schemeClr>
                    </a:solidFill>
                  </a:tcPr>
                </a:tc>
                <a:tc hMerge="1">
                  <a:txBody>
                    <a:bodyPr/>
                    <a:lstStyle/>
                    <a:p>
                      <a:endParaRPr kumimoji="1" lang="ja-JP" altLang="en-US" sz="2000" dirty="0"/>
                    </a:p>
                  </a:txBody>
                  <a:tcPr anchor="ctr" anchorCtr="1"/>
                </a:tc>
                <a:tc rowSpan="2">
                  <a:txBody>
                    <a:bodyPr/>
                    <a:lstStyle/>
                    <a:p>
                      <a:r>
                        <a:rPr kumimoji="1" lang="ja-JP" altLang="en-US" sz="1400" dirty="0"/>
                        <a:t>合計</a:t>
                      </a:r>
                    </a:p>
                  </a:txBody>
                  <a:tcPr anchor="ctr" anchorCtr="1">
                    <a:solidFill>
                      <a:schemeClr val="tx2">
                        <a:lumMod val="40000"/>
                        <a:lumOff val="60000"/>
                      </a:schemeClr>
                    </a:solidFill>
                  </a:tcPr>
                </a:tc>
                <a:extLst>
                  <a:ext uri="{0D108BD9-81ED-4DB2-BD59-A6C34878D82A}">
                    <a16:rowId xmlns:a16="http://schemas.microsoft.com/office/drawing/2014/main" val="1242193362"/>
                  </a:ext>
                </a:extLst>
              </a:tr>
              <a:tr h="294670">
                <a:tc gridSpan="2" vMerge="1">
                  <a:txBody>
                    <a:bodyPr/>
                    <a:lstStyle/>
                    <a:p>
                      <a:endParaRPr kumimoji="1" lang="ja-JP" altLang="en-US" sz="2200" dirty="0"/>
                    </a:p>
                  </a:txBody>
                  <a:tcPr anchor="ctr" anchorCtr="1"/>
                </a:tc>
                <a:tc hMerge="1" vMerge="1">
                  <a:txBody>
                    <a:bodyPr/>
                    <a:lstStyle/>
                    <a:p>
                      <a:endParaRPr kumimoji="1" lang="ja-JP" altLang="en-US" sz="2200" dirty="0"/>
                    </a:p>
                  </a:txBody>
                  <a:tcPr anchor="ctr" anchorCtr="1"/>
                </a:tc>
                <a:tc>
                  <a:txBody>
                    <a:bodyPr/>
                    <a:lstStyle/>
                    <a:p>
                      <a:r>
                        <a:rPr kumimoji="1" lang="ja-JP" altLang="en-US" sz="1400" dirty="0"/>
                        <a:t>０</a:t>
                      </a:r>
                    </a:p>
                  </a:txBody>
                  <a:tcPr anchor="ctr" anchorCtr="1">
                    <a:solidFill>
                      <a:schemeClr val="tx2">
                        <a:lumMod val="40000"/>
                        <a:lumOff val="60000"/>
                      </a:schemeClr>
                    </a:solidFill>
                  </a:tcPr>
                </a:tc>
                <a:tc>
                  <a:txBody>
                    <a:bodyPr/>
                    <a:lstStyle/>
                    <a:p>
                      <a:r>
                        <a:rPr kumimoji="1" lang="ja-JP" altLang="en-US" sz="1400" dirty="0"/>
                        <a:t>１</a:t>
                      </a:r>
                    </a:p>
                  </a:txBody>
                  <a:tcPr anchor="ctr" anchorCtr="1">
                    <a:solidFill>
                      <a:schemeClr val="tx2">
                        <a:lumMod val="40000"/>
                        <a:lumOff val="60000"/>
                      </a:schemeClr>
                    </a:solidFill>
                  </a:tcPr>
                </a:tc>
                <a:tc vMerge="1">
                  <a:txBody>
                    <a:bodyPr/>
                    <a:lstStyle/>
                    <a:p>
                      <a:endParaRPr kumimoji="1" lang="ja-JP" altLang="en-US" sz="2200" dirty="0"/>
                    </a:p>
                  </a:txBody>
                  <a:tcPr anchor="ctr" anchorCtr="1"/>
                </a:tc>
                <a:extLst>
                  <a:ext uri="{0D108BD9-81ED-4DB2-BD59-A6C34878D82A}">
                    <a16:rowId xmlns:a16="http://schemas.microsoft.com/office/drawing/2014/main" val="2913459589"/>
                  </a:ext>
                </a:extLst>
              </a:tr>
              <a:tr h="500940">
                <a:tc rowSpan="2">
                  <a:txBody>
                    <a:bodyPr/>
                    <a:lstStyle/>
                    <a:p>
                      <a:r>
                        <a:rPr kumimoji="1" lang="ja-JP" altLang="en-US" sz="1400" dirty="0"/>
                        <a:t>Ａさん</a:t>
                      </a:r>
                    </a:p>
                  </a:txBody>
                  <a:tcPr anchor="ctr" anchorCtr="1">
                    <a:solidFill>
                      <a:schemeClr val="tx2">
                        <a:lumMod val="40000"/>
                        <a:lumOff val="60000"/>
                      </a:schemeClr>
                    </a:solidFill>
                  </a:tcPr>
                </a:tc>
                <a:tc>
                  <a:txBody>
                    <a:bodyPr/>
                    <a:lstStyle/>
                    <a:p>
                      <a:r>
                        <a:rPr kumimoji="1" lang="ja-JP" altLang="en-US" sz="1400" dirty="0"/>
                        <a:t>０</a:t>
                      </a:r>
                    </a:p>
                  </a:txBody>
                  <a:tcPr anchor="ctr" anchorCtr="1">
                    <a:solidFill>
                      <a:schemeClr val="tx2">
                        <a:lumMod val="40000"/>
                        <a:lumOff val="60000"/>
                      </a:schemeClr>
                    </a:solidFill>
                  </a:tcPr>
                </a:tc>
                <a:tc>
                  <a:txBody>
                    <a:bodyPr/>
                    <a:lstStyle/>
                    <a:p>
                      <a:r>
                        <a:rPr kumimoji="1" lang="ja-JP" altLang="en-US" sz="1400" dirty="0"/>
                        <a:t>４５（一致）</a:t>
                      </a:r>
                      <a:endParaRPr kumimoji="1" lang="en-US" altLang="ja-JP" sz="1400" dirty="0"/>
                    </a:p>
                    <a:p>
                      <a:r>
                        <a:rPr kumimoji="1" lang="ja-JP" altLang="en-US" sz="1400" b="1" dirty="0">
                          <a:solidFill>
                            <a:srgbClr val="FF0000"/>
                          </a:solidFill>
                        </a:rPr>
                        <a:t>１６．０</a:t>
                      </a:r>
                    </a:p>
                  </a:txBody>
                  <a:tcPr anchor="ctr" anchorCtr="1">
                    <a:solidFill>
                      <a:schemeClr val="accent4">
                        <a:lumMod val="20000"/>
                        <a:lumOff val="80000"/>
                      </a:schemeClr>
                    </a:solidFill>
                  </a:tcPr>
                </a:tc>
                <a:tc>
                  <a:txBody>
                    <a:bodyPr/>
                    <a:lstStyle/>
                    <a:p>
                      <a:r>
                        <a:rPr kumimoji="1" lang="ja-JP" altLang="en-US" sz="1400" dirty="0"/>
                        <a:t>５（不一致）</a:t>
                      </a:r>
                      <a:endParaRPr kumimoji="1" lang="en-US" altLang="ja-JP" sz="1400" dirty="0"/>
                    </a:p>
                    <a:p>
                      <a:r>
                        <a:rPr kumimoji="1" lang="ja-JP" altLang="en-US" sz="1400" b="1" dirty="0">
                          <a:solidFill>
                            <a:srgbClr val="FF0000"/>
                          </a:solidFill>
                        </a:rPr>
                        <a:t>３４．０</a:t>
                      </a:r>
                    </a:p>
                  </a:txBody>
                  <a:tcPr anchor="ctr" anchorCtr="1"/>
                </a:tc>
                <a:tc>
                  <a:txBody>
                    <a:bodyPr/>
                    <a:lstStyle/>
                    <a:p>
                      <a:r>
                        <a:rPr kumimoji="1" lang="ja-JP" altLang="en-US" sz="1400" dirty="0"/>
                        <a:t>５０</a:t>
                      </a:r>
                    </a:p>
                  </a:txBody>
                  <a:tcPr anchor="ctr" anchorCtr="1"/>
                </a:tc>
                <a:extLst>
                  <a:ext uri="{0D108BD9-81ED-4DB2-BD59-A6C34878D82A}">
                    <a16:rowId xmlns:a16="http://schemas.microsoft.com/office/drawing/2014/main" val="1814032069"/>
                  </a:ext>
                </a:extLst>
              </a:tr>
              <a:tr h="500940">
                <a:tc vMerge="1">
                  <a:txBody>
                    <a:bodyPr/>
                    <a:lstStyle/>
                    <a:p>
                      <a:endParaRPr kumimoji="1" lang="ja-JP" altLang="en-US" sz="2000" dirty="0"/>
                    </a:p>
                  </a:txBody>
                  <a:tcPr anchor="ctr" anchorCtr="1"/>
                </a:tc>
                <a:tc>
                  <a:txBody>
                    <a:bodyPr/>
                    <a:lstStyle/>
                    <a:p>
                      <a:r>
                        <a:rPr kumimoji="1" lang="ja-JP" altLang="en-US" sz="1400" dirty="0"/>
                        <a:t>１</a:t>
                      </a:r>
                    </a:p>
                  </a:txBody>
                  <a:tcPr anchor="ctr" anchorCtr="1">
                    <a:solidFill>
                      <a:schemeClr val="tx2">
                        <a:lumMod val="40000"/>
                        <a:lumOff val="60000"/>
                      </a:schemeClr>
                    </a:solidFill>
                  </a:tcPr>
                </a:tc>
                <a:tc>
                  <a:txBody>
                    <a:bodyPr/>
                    <a:lstStyle/>
                    <a:p>
                      <a:r>
                        <a:rPr kumimoji="1" lang="ja-JP" altLang="en-US" sz="1400" dirty="0"/>
                        <a:t>３（不一致）</a:t>
                      </a:r>
                      <a:endParaRPr kumimoji="1" lang="en-US" altLang="ja-JP" sz="1400" dirty="0"/>
                    </a:p>
                    <a:p>
                      <a:r>
                        <a:rPr kumimoji="1" lang="ja-JP" altLang="en-US" sz="1400" b="1" dirty="0">
                          <a:solidFill>
                            <a:srgbClr val="FF0000"/>
                          </a:solidFill>
                        </a:rPr>
                        <a:t>３２．０</a:t>
                      </a:r>
                    </a:p>
                  </a:txBody>
                  <a:tcPr anchor="ctr" anchorCtr="1"/>
                </a:tc>
                <a:tc>
                  <a:txBody>
                    <a:bodyPr/>
                    <a:lstStyle/>
                    <a:p>
                      <a:r>
                        <a:rPr kumimoji="1" lang="ja-JP" altLang="en-US" sz="1400" dirty="0"/>
                        <a:t>９７（一致）</a:t>
                      </a:r>
                      <a:endParaRPr kumimoji="1" lang="en-US" altLang="ja-JP" sz="1400" dirty="0"/>
                    </a:p>
                    <a:p>
                      <a:r>
                        <a:rPr kumimoji="1" lang="ja-JP" altLang="en-US" sz="1400" b="1" dirty="0">
                          <a:solidFill>
                            <a:srgbClr val="FF0000"/>
                          </a:solidFill>
                        </a:rPr>
                        <a:t>６８．０</a:t>
                      </a:r>
                    </a:p>
                  </a:txBody>
                  <a:tcPr anchor="ctr" anchorCtr="1">
                    <a:solidFill>
                      <a:schemeClr val="accent4">
                        <a:lumMod val="20000"/>
                        <a:lumOff val="80000"/>
                      </a:schemeClr>
                    </a:solidFill>
                  </a:tcPr>
                </a:tc>
                <a:tc>
                  <a:txBody>
                    <a:bodyPr/>
                    <a:lstStyle/>
                    <a:p>
                      <a:r>
                        <a:rPr kumimoji="1" lang="ja-JP" altLang="en-US" sz="1400" dirty="0"/>
                        <a:t>１００</a:t>
                      </a:r>
                    </a:p>
                  </a:txBody>
                  <a:tcPr anchor="ctr" anchorCtr="1"/>
                </a:tc>
                <a:extLst>
                  <a:ext uri="{0D108BD9-81ED-4DB2-BD59-A6C34878D82A}">
                    <a16:rowId xmlns:a16="http://schemas.microsoft.com/office/drawing/2014/main" val="3591477965"/>
                  </a:ext>
                </a:extLst>
              </a:tr>
              <a:tr h="294670">
                <a:tc gridSpan="2">
                  <a:txBody>
                    <a:bodyPr/>
                    <a:lstStyle/>
                    <a:p>
                      <a:r>
                        <a:rPr kumimoji="1" lang="ja-JP" altLang="en-US" sz="1400" dirty="0"/>
                        <a:t>合計</a:t>
                      </a:r>
                    </a:p>
                  </a:txBody>
                  <a:tcPr anchor="ctr" anchorCtr="1">
                    <a:solidFill>
                      <a:schemeClr val="tx2">
                        <a:lumMod val="40000"/>
                        <a:lumOff val="60000"/>
                      </a:schemeClr>
                    </a:solidFill>
                  </a:tcPr>
                </a:tc>
                <a:tc hMerge="1">
                  <a:txBody>
                    <a:bodyPr/>
                    <a:lstStyle/>
                    <a:p>
                      <a:endParaRPr kumimoji="1" lang="ja-JP" altLang="en-US" sz="2200" dirty="0"/>
                    </a:p>
                  </a:txBody>
                  <a:tcPr anchor="ctr" anchorCtr="1"/>
                </a:tc>
                <a:tc>
                  <a:txBody>
                    <a:bodyPr/>
                    <a:lstStyle/>
                    <a:p>
                      <a:r>
                        <a:rPr kumimoji="1" lang="ja-JP" altLang="en-US" sz="1400" dirty="0"/>
                        <a:t>４８</a:t>
                      </a:r>
                    </a:p>
                  </a:txBody>
                  <a:tcPr anchor="ctr" anchorCtr="1"/>
                </a:tc>
                <a:tc>
                  <a:txBody>
                    <a:bodyPr/>
                    <a:lstStyle/>
                    <a:p>
                      <a:r>
                        <a:rPr kumimoji="1" lang="ja-JP" altLang="en-US" sz="1400" dirty="0"/>
                        <a:t>１０２</a:t>
                      </a:r>
                    </a:p>
                  </a:txBody>
                  <a:tcPr anchor="ctr" anchorCtr="1"/>
                </a:tc>
                <a:tc>
                  <a:txBody>
                    <a:bodyPr/>
                    <a:lstStyle/>
                    <a:p>
                      <a:r>
                        <a:rPr kumimoji="1" lang="ja-JP" altLang="en-US" sz="1400" dirty="0"/>
                        <a:t>１５０</a:t>
                      </a:r>
                    </a:p>
                  </a:txBody>
                  <a:tcPr anchor="ctr" anchorCtr="1"/>
                </a:tc>
                <a:extLst>
                  <a:ext uri="{0D108BD9-81ED-4DB2-BD59-A6C34878D82A}">
                    <a16:rowId xmlns:a16="http://schemas.microsoft.com/office/drawing/2014/main" val="644320825"/>
                  </a:ext>
                </a:extLst>
              </a:tr>
            </a:tbl>
          </a:graphicData>
        </a:graphic>
      </p:graphicFrame>
      <p:grpSp>
        <p:nvGrpSpPr>
          <p:cNvPr id="18" name="グループ化 17">
            <a:extLst>
              <a:ext uri="{FF2B5EF4-FFF2-40B4-BE49-F238E27FC236}">
                <a16:creationId xmlns:a16="http://schemas.microsoft.com/office/drawing/2014/main" id="{5245FF99-2774-41BB-ADB3-F87BE39FB871}"/>
              </a:ext>
            </a:extLst>
          </p:cNvPr>
          <p:cNvGrpSpPr/>
          <p:nvPr/>
        </p:nvGrpSpPr>
        <p:grpSpPr>
          <a:xfrm>
            <a:off x="2777168" y="4309607"/>
            <a:ext cx="7205032" cy="903384"/>
            <a:chOff x="2967207" y="4761299"/>
            <a:chExt cx="6257581" cy="903384"/>
          </a:xfrm>
        </p:grpSpPr>
        <p:grpSp>
          <p:nvGrpSpPr>
            <p:cNvPr id="15" name="グループ化 14">
              <a:extLst>
                <a:ext uri="{FF2B5EF4-FFF2-40B4-BE49-F238E27FC236}">
                  <a16:creationId xmlns:a16="http://schemas.microsoft.com/office/drawing/2014/main" id="{362B4329-AF0F-4D40-B5A0-6AF3B17A5C9F}"/>
                </a:ext>
              </a:extLst>
            </p:cNvPr>
            <p:cNvGrpSpPr/>
            <p:nvPr/>
          </p:nvGrpSpPr>
          <p:grpSpPr>
            <a:xfrm>
              <a:off x="3071869" y="4761299"/>
              <a:ext cx="6048260" cy="903384"/>
              <a:chOff x="3071869" y="4761299"/>
              <a:chExt cx="6048260" cy="903384"/>
            </a:xfrm>
          </p:grpSpPr>
          <p:sp>
            <p:nvSpPr>
              <p:cNvPr id="13" name="正方形/長方形 12">
                <a:extLst>
                  <a:ext uri="{FF2B5EF4-FFF2-40B4-BE49-F238E27FC236}">
                    <a16:creationId xmlns:a16="http://schemas.microsoft.com/office/drawing/2014/main" id="{9B01E9DD-70A3-4013-9C6A-DC5632DFC066}"/>
                  </a:ext>
                </a:extLst>
              </p:cNvPr>
              <p:cNvSpPr/>
              <p:nvPr/>
            </p:nvSpPr>
            <p:spPr>
              <a:xfrm>
                <a:off x="3071870" y="4761299"/>
                <a:ext cx="6048259" cy="451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a:t>
                </a:r>
                <a:r>
                  <a:rPr lang="en-US" altLang="ja-JP" sz="2000" dirty="0">
                    <a:solidFill>
                      <a:schemeClr val="tx1"/>
                    </a:solidFill>
                  </a:rPr>
                  <a:t>Po</a:t>
                </a:r>
                <a:r>
                  <a:rPr lang="ja-JP" altLang="en-US" sz="1400" dirty="0">
                    <a:solidFill>
                      <a:schemeClr val="tx1"/>
                    </a:solidFill>
                  </a:rPr>
                  <a:t>（対角セルの観測数割合の合計）</a:t>
                </a:r>
                <a:r>
                  <a:rPr lang="ja-JP" altLang="en-US" sz="2000" dirty="0">
                    <a:solidFill>
                      <a:schemeClr val="tx1"/>
                    </a:solidFill>
                  </a:rPr>
                  <a:t>－</a:t>
                </a:r>
                <a:r>
                  <a:rPr lang="en-US" altLang="ja-JP" sz="2000" dirty="0">
                    <a:solidFill>
                      <a:schemeClr val="tx1"/>
                    </a:solidFill>
                  </a:rPr>
                  <a:t>Pe</a:t>
                </a:r>
                <a:r>
                  <a:rPr lang="ja-JP" altLang="en-US" sz="1400" dirty="0">
                    <a:solidFill>
                      <a:schemeClr val="tx1"/>
                    </a:solidFill>
                  </a:rPr>
                  <a:t>（対角セルの期待値割合の合計）</a:t>
                </a:r>
                <a:r>
                  <a:rPr lang="ja-JP" altLang="en-US" sz="2000" dirty="0">
                    <a:solidFill>
                      <a:schemeClr val="tx1"/>
                    </a:solidFill>
                  </a:rPr>
                  <a:t>）</a:t>
                </a:r>
                <a:endParaRPr kumimoji="1" lang="ja-JP" altLang="en-US" sz="2000" dirty="0">
                  <a:solidFill>
                    <a:schemeClr val="tx1"/>
                  </a:solidFill>
                </a:endParaRPr>
              </a:p>
            </p:txBody>
          </p:sp>
          <p:sp>
            <p:nvSpPr>
              <p:cNvPr id="14" name="正方形/長方形 13">
                <a:extLst>
                  <a:ext uri="{FF2B5EF4-FFF2-40B4-BE49-F238E27FC236}">
                    <a16:creationId xmlns:a16="http://schemas.microsoft.com/office/drawing/2014/main" id="{3B35D4DF-4763-47E3-A296-24AEEC988EA6}"/>
                  </a:ext>
                </a:extLst>
              </p:cNvPr>
              <p:cNvSpPr/>
              <p:nvPr/>
            </p:nvSpPr>
            <p:spPr>
              <a:xfrm>
                <a:off x="3071869" y="5212991"/>
                <a:ext cx="6048259" cy="451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（１－</a:t>
                </a:r>
                <a:r>
                  <a:rPr lang="en-US" altLang="ja-JP" sz="2000" dirty="0">
                    <a:solidFill>
                      <a:schemeClr val="tx1"/>
                    </a:solidFill>
                  </a:rPr>
                  <a:t>Pe</a:t>
                </a:r>
                <a:r>
                  <a:rPr lang="ja-JP" altLang="en-US" sz="1400" dirty="0">
                    <a:solidFill>
                      <a:schemeClr val="tx1"/>
                    </a:solidFill>
                  </a:rPr>
                  <a:t>（対角セルの期待値の合計）</a:t>
                </a:r>
                <a:r>
                  <a:rPr lang="ja-JP" altLang="en-US" sz="2000" dirty="0">
                    <a:solidFill>
                      <a:schemeClr val="tx1"/>
                    </a:solidFill>
                  </a:rPr>
                  <a:t>）</a:t>
                </a:r>
                <a:endParaRPr kumimoji="1" lang="ja-JP" altLang="en-US" sz="2000" dirty="0">
                  <a:solidFill>
                    <a:schemeClr val="tx1"/>
                  </a:solidFill>
                </a:endParaRPr>
              </a:p>
            </p:txBody>
          </p:sp>
        </p:grpSp>
        <p:cxnSp>
          <p:nvCxnSpPr>
            <p:cNvPr id="17" name="直線コネクタ 16">
              <a:extLst>
                <a:ext uri="{FF2B5EF4-FFF2-40B4-BE49-F238E27FC236}">
                  <a16:creationId xmlns:a16="http://schemas.microsoft.com/office/drawing/2014/main" id="{51C5FC5B-60A1-48D7-ABCC-8621F76399FC}"/>
                </a:ext>
              </a:extLst>
            </p:cNvPr>
            <p:cNvCxnSpPr/>
            <p:nvPr/>
          </p:nvCxnSpPr>
          <p:spPr>
            <a:xfrm>
              <a:off x="2967207" y="5212991"/>
              <a:ext cx="62575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四角形: 角を丸くする 19">
            <a:extLst>
              <a:ext uri="{FF2B5EF4-FFF2-40B4-BE49-F238E27FC236}">
                <a16:creationId xmlns:a16="http://schemas.microsoft.com/office/drawing/2014/main" id="{63172EE4-77ED-4D41-B74A-8CD680E655B8}"/>
              </a:ext>
            </a:extLst>
          </p:cNvPr>
          <p:cNvSpPr/>
          <p:nvPr/>
        </p:nvSpPr>
        <p:spPr>
          <a:xfrm>
            <a:off x="8361802" y="4886157"/>
            <a:ext cx="2991998" cy="627770"/>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良い一致程度　≧　</a:t>
            </a:r>
            <a:r>
              <a:rPr kumimoji="1" lang="en-US" altLang="ja-JP" sz="2000" b="1" dirty="0">
                <a:solidFill>
                  <a:schemeClr val="tx1"/>
                </a:solidFill>
              </a:rPr>
              <a:t>0.75</a:t>
            </a:r>
            <a:endParaRPr kumimoji="1" lang="ja-JP" altLang="en-US" sz="2000" b="1" dirty="0">
              <a:solidFill>
                <a:schemeClr val="tx1"/>
              </a:solidFill>
            </a:endParaRPr>
          </a:p>
        </p:txBody>
      </p:sp>
      <p:pic>
        <p:nvPicPr>
          <p:cNvPr id="16" name="図 15">
            <a:extLst>
              <a:ext uri="{FF2B5EF4-FFF2-40B4-BE49-F238E27FC236}">
                <a16:creationId xmlns:a16="http://schemas.microsoft.com/office/drawing/2014/main" id="{710E1AF5-1617-488B-B4A2-9F1852DCE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804" y="5212991"/>
            <a:ext cx="7469204" cy="1143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242503"/>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344058"/>
            <a:ext cx="10515600" cy="5012292"/>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lnSpc>
                <a:spcPct val="100000"/>
              </a:lnSpc>
              <a:buFont typeface="+mj-lt"/>
              <a:buAutoNum type="arabicPeriod" startAt="3"/>
            </a:pPr>
            <a:r>
              <a:rPr lang="ja-JP" altLang="en-US" sz="2400" dirty="0"/>
              <a:t>有効性／ミス率／誤り判定による評価</a:t>
            </a: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570</a:t>
            </a:fld>
            <a:endParaRPr kumimoji="1" lang="ja-JP" altLang="en-US"/>
          </a:p>
        </p:txBody>
      </p:sp>
      <p:sp>
        <p:nvSpPr>
          <p:cNvPr id="9" name="タイトル 1">
            <a:extLst>
              <a:ext uri="{FF2B5EF4-FFF2-40B4-BE49-F238E27FC236}">
                <a16:creationId xmlns:a16="http://schemas.microsoft.com/office/drawing/2014/main" id="{D4428418-49EB-4CF2-8B7A-03F91A08F970}"/>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５．ＭＳＡ（計数値ＭＳＡ（クロスタブ法：評価事例））</a:t>
            </a:r>
          </a:p>
        </p:txBody>
      </p:sp>
      <p:graphicFrame>
        <p:nvGraphicFramePr>
          <p:cNvPr id="2" name="表 1">
            <a:extLst>
              <a:ext uri="{FF2B5EF4-FFF2-40B4-BE49-F238E27FC236}">
                <a16:creationId xmlns:a16="http://schemas.microsoft.com/office/drawing/2014/main" id="{EC819627-3384-49FF-AA0E-45DE42FDC1A8}"/>
              </a:ext>
            </a:extLst>
          </p:cNvPr>
          <p:cNvGraphicFramePr>
            <a:graphicFrameLocks noGrp="1"/>
          </p:cNvGraphicFramePr>
          <p:nvPr>
            <p:extLst>
              <p:ext uri="{D42A27DB-BD31-4B8C-83A1-F6EECF244321}">
                <p14:modId xmlns:p14="http://schemas.microsoft.com/office/powerpoint/2010/main" val="3915994194"/>
              </p:ext>
            </p:extLst>
          </p:nvPr>
        </p:nvGraphicFramePr>
        <p:xfrm>
          <a:off x="838199" y="1865417"/>
          <a:ext cx="10515600" cy="4490932"/>
        </p:xfrm>
        <a:graphic>
          <a:graphicData uri="http://schemas.openxmlformats.org/drawingml/2006/table">
            <a:tbl>
              <a:tblPr firstRow="1" bandRow="1">
                <a:tableStyleId>{5940675A-B579-460E-94D1-54222C63F5DA}</a:tableStyleId>
              </a:tblPr>
              <a:tblGrid>
                <a:gridCol w="1391798">
                  <a:extLst>
                    <a:ext uri="{9D8B030D-6E8A-4147-A177-3AD203B41FA5}">
                      <a16:colId xmlns:a16="http://schemas.microsoft.com/office/drawing/2014/main" val="3012992865"/>
                    </a:ext>
                  </a:extLst>
                </a:gridCol>
                <a:gridCol w="2573357">
                  <a:extLst>
                    <a:ext uri="{9D8B030D-6E8A-4147-A177-3AD203B41FA5}">
                      <a16:colId xmlns:a16="http://schemas.microsoft.com/office/drawing/2014/main" val="2640028521"/>
                    </a:ext>
                  </a:extLst>
                </a:gridCol>
                <a:gridCol w="2820318">
                  <a:extLst>
                    <a:ext uri="{9D8B030D-6E8A-4147-A177-3AD203B41FA5}">
                      <a16:colId xmlns:a16="http://schemas.microsoft.com/office/drawing/2014/main" val="195771657"/>
                    </a:ext>
                  </a:extLst>
                </a:gridCol>
                <a:gridCol w="2666082">
                  <a:extLst>
                    <a:ext uri="{9D8B030D-6E8A-4147-A177-3AD203B41FA5}">
                      <a16:colId xmlns:a16="http://schemas.microsoft.com/office/drawing/2014/main" val="1763353871"/>
                    </a:ext>
                  </a:extLst>
                </a:gridCol>
                <a:gridCol w="1064045">
                  <a:extLst>
                    <a:ext uri="{9D8B030D-6E8A-4147-A177-3AD203B41FA5}">
                      <a16:colId xmlns:a16="http://schemas.microsoft.com/office/drawing/2014/main" val="2167870499"/>
                    </a:ext>
                  </a:extLst>
                </a:gridCol>
              </a:tblGrid>
              <a:tr h="833524">
                <a:tc>
                  <a:txBody>
                    <a:bodyPr/>
                    <a:lstStyle/>
                    <a:p>
                      <a:r>
                        <a:rPr kumimoji="1" lang="ja-JP" altLang="en-US" sz="1800" dirty="0"/>
                        <a:t>区分</a:t>
                      </a:r>
                    </a:p>
                  </a:txBody>
                  <a:tcPr anchor="ctr" anchorCtr="1">
                    <a:solidFill>
                      <a:schemeClr val="tx2">
                        <a:lumMod val="40000"/>
                        <a:lumOff val="60000"/>
                      </a:schemeClr>
                    </a:solidFill>
                  </a:tcPr>
                </a:tc>
                <a:tc>
                  <a:txBody>
                    <a:bodyPr/>
                    <a:lstStyle/>
                    <a:p>
                      <a:r>
                        <a:rPr kumimoji="1" lang="ja-JP" altLang="en-US" sz="1800" dirty="0"/>
                        <a:t>計算式</a:t>
                      </a:r>
                    </a:p>
                  </a:txBody>
                  <a:tcPr anchor="ctr" anchorCtr="1">
                    <a:solidFill>
                      <a:schemeClr val="tx2">
                        <a:lumMod val="40000"/>
                        <a:lumOff val="60000"/>
                      </a:schemeClr>
                    </a:solidFill>
                  </a:tcPr>
                </a:tc>
                <a:tc>
                  <a:txBody>
                    <a:bodyPr/>
                    <a:lstStyle/>
                    <a:p>
                      <a:r>
                        <a:rPr kumimoji="1" lang="ja-JP" altLang="en-US" sz="1800" dirty="0"/>
                        <a:t>Ａさんの場合</a:t>
                      </a:r>
                    </a:p>
                  </a:txBody>
                  <a:tcPr anchor="ctr" anchorCtr="1">
                    <a:solidFill>
                      <a:schemeClr val="tx2">
                        <a:lumMod val="40000"/>
                        <a:lumOff val="60000"/>
                      </a:schemeClr>
                    </a:solidFill>
                  </a:tcPr>
                </a:tc>
                <a:tc>
                  <a:txBody>
                    <a:bodyPr/>
                    <a:lstStyle/>
                    <a:p>
                      <a:r>
                        <a:rPr kumimoji="1" lang="ja-JP" altLang="en-US" sz="1800" dirty="0"/>
                        <a:t>判定基準</a:t>
                      </a:r>
                    </a:p>
                  </a:txBody>
                  <a:tcPr anchor="ctr" anchorCtr="1">
                    <a:solidFill>
                      <a:schemeClr val="tx2">
                        <a:lumMod val="40000"/>
                        <a:lumOff val="60000"/>
                      </a:schemeClr>
                    </a:solidFill>
                  </a:tcPr>
                </a:tc>
                <a:tc>
                  <a:txBody>
                    <a:bodyPr/>
                    <a:lstStyle/>
                    <a:p>
                      <a:r>
                        <a:rPr kumimoji="1" lang="ja-JP" altLang="en-US" sz="1800" dirty="0"/>
                        <a:t>判定</a:t>
                      </a:r>
                    </a:p>
                  </a:txBody>
                  <a:tcPr anchor="ctr" anchorCtr="1">
                    <a:solidFill>
                      <a:schemeClr val="tx2">
                        <a:lumMod val="40000"/>
                        <a:lumOff val="60000"/>
                      </a:schemeClr>
                    </a:solidFill>
                  </a:tcPr>
                </a:tc>
                <a:extLst>
                  <a:ext uri="{0D108BD9-81ED-4DB2-BD59-A6C34878D82A}">
                    <a16:rowId xmlns:a16="http://schemas.microsoft.com/office/drawing/2014/main" val="974823414"/>
                  </a:ext>
                </a:extLst>
              </a:tr>
              <a:tr h="1219136">
                <a:tc>
                  <a:txBody>
                    <a:bodyPr/>
                    <a:lstStyle/>
                    <a:p>
                      <a:r>
                        <a:rPr kumimoji="1" lang="ja-JP" altLang="en-US" sz="1800" dirty="0"/>
                        <a:t>有効性</a:t>
                      </a:r>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r>
                        <a:rPr kumimoji="1" lang="ja-JP" altLang="en-US" sz="1800" dirty="0"/>
                        <a:t>条件付き</a:t>
                      </a:r>
                    </a:p>
                  </a:txBody>
                  <a:tcPr anchor="ctr" anchorCtr="1"/>
                </a:tc>
                <a:extLst>
                  <a:ext uri="{0D108BD9-81ED-4DB2-BD59-A6C34878D82A}">
                    <a16:rowId xmlns:a16="http://schemas.microsoft.com/office/drawing/2014/main" val="3799017874"/>
                  </a:ext>
                </a:extLst>
              </a:tr>
              <a:tr h="1219136">
                <a:tc>
                  <a:txBody>
                    <a:bodyPr/>
                    <a:lstStyle/>
                    <a:p>
                      <a:r>
                        <a:rPr kumimoji="1" lang="ja-JP" altLang="en-US" sz="1800" dirty="0"/>
                        <a:t>ミス率</a:t>
                      </a:r>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r>
                        <a:rPr kumimoji="1" lang="ja-JP" altLang="en-US" sz="1800" dirty="0"/>
                        <a:t>不合格</a:t>
                      </a:r>
                    </a:p>
                  </a:txBody>
                  <a:tcPr anchor="ctr" anchorCtr="1"/>
                </a:tc>
                <a:extLst>
                  <a:ext uri="{0D108BD9-81ED-4DB2-BD59-A6C34878D82A}">
                    <a16:rowId xmlns:a16="http://schemas.microsoft.com/office/drawing/2014/main" val="886031380"/>
                  </a:ext>
                </a:extLst>
              </a:tr>
              <a:tr h="1219136">
                <a:tc>
                  <a:txBody>
                    <a:bodyPr/>
                    <a:lstStyle/>
                    <a:p>
                      <a:r>
                        <a:rPr kumimoji="1" lang="ja-JP" altLang="en-US" sz="1800" dirty="0"/>
                        <a:t>誤り警告率</a:t>
                      </a:r>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endParaRPr kumimoji="1" lang="ja-JP" altLang="en-US" sz="1800" dirty="0"/>
                    </a:p>
                  </a:txBody>
                  <a:tcPr anchor="ctr" anchorCtr="1"/>
                </a:tc>
                <a:tc>
                  <a:txBody>
                    <a:bodyPr/>
                    <a:lstStyle/>
                    <a:p>
                      <a:r>
                        <a:rPr kumimoji="1" lang="ja-JP" altLang="en-US" sz="1800" dirty="0"/>
                        <a:t>合格</a:t>
                      </a:r>
                    </a:p>
                  </a:txBody>
                  <a:tcPr anchor="ctr" anchorCtr="1"/>
                </a:tc>
                <a:extLst>
                  <a:ext uri="{0D108BD9-81ED-4DB2-BD59-A6C34878D82A}">
                    <a16:rowId xmlns:a16="http://schemas.microsoft.com/office/drawing/2014/main" val="2039495950"/>
                  </a:ext>
                </a:extLst>
              </a:tr>
            </a:tbl>
          </a:graphicData>
        </a:graphic>
      </p:graphicFrame>
      <p:pic>
        <p:nvPicPr>
          <p:cNvPr id="11" name="図 10">
            <a:extLst>
              <a:ext uri="{FF2B5EF4-FFF2-40B4-BE49-F238E27FC236}">
                <a16:creationId xmlns:a16="http://schemas.microsoft.com/office/drawing/2014/main" id="{59642686-5C1C-4757-88B9-06FE3827F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161" y="2922650"/>
            <a:ext cx="2152766" cy="922290"/>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9C661B32-95E3-40E4-A081-CC9DD8055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1740" y="2842537"/>
            <a:ext cx="2053614" cy="922290"/>
          </a:xfrm>
          <a:prstGeom prst="rect">
            <a:avLst/>
          </a:prstGeom>
          <a:noFill/>
          <a:extLst>
            <a:ext uri="{909E8E84-426E-40DD-AFC4-6F175D3DCCD1}">
              <a14:hiddenFill xmlns:a14="http://schemas.microsoft.com/office/drawing/2010/main">
                <a:solidFill>
                  <a:srgbClr val="FFFFFF"/>
                </a:solidFill>
              </a14:hiddenFill>
            </a:ext>
          </a:extLst>
        </p:spPr>
      </p:pic>
      <p:pic>
        <p:nvPicPr>
          <p:cNvPr id="14" name="図 13">
            <a:extLst>
              <a:ext uri="{FF2B5EF4-FFF2-40B4-BE49-F238E27FC236}">
                <a16:creationId xmlns:a16="http://schemas.microsoft.com/office/drawing/2014/main" id="{FAC5B8FB-A2C8-4C1A-92AB-C1AD7A509D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9161" y="4068922"/>
            <a:ext cx="2152766" cy="1020896"/>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a:extLst>
              <a:ext uri="{FF2B5EF4-FFF2-40B4-BE49-F238E27FC236}">
                <a16:creationId xmlns:a16="http://schemas.microsoft.com/office/drawing/2014/main" id="{5473E00C-A9F3-41D7-A5EF-C7DB30448A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1945" y="4068922"/>
            <a:ext cx="2253409" cy="1020896"/>
          </a:xfrm>
          <a:prstGeom prst="rect">
            <a:avLst/>
          </a:prstGeom>
          <a:noFill/>
          <a:extLst>
            <a:ext uri="{909E8E84-426E-40DD-AFC4-6F175D3DCCD1}">
              <a14:hiddenFill xmlns:a14="http://schemas.microsoft.com/office/drawing/2010/main">
                <a:solidFill>
                  <a:srgbClr val="FFFFFF"/>
                </a:solidFill>
              </a14:hiddenFill>
            </a:ext>
          </a:extLst>
        </p:spPr>
      </p:pic>
      <p:pic>
        <p:nvPicPr>
          <p:cNvPr id="16" name="図 15">
            <a:extLst>
              <a:ext uri="{FF2B5EF4-FFF2-40B4-BE49-F238E27FC236}">
                <a16:creationId xmlns:a16="http://schemas.microsoft.com/office/drawing/2014/main" id="{88157CB1-8063-4CD6-91BB-61272212C8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9161" y="5225587"/>
            <a:ext cx="2152765" cy="1020895"/>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8E6D1FB4-02B8-4B1F-907D-1CB60D3C75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1945" y="5225588"/>
            <a:ext cx="2253408" cy="10208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表 7">
            <a:extLst>
              <a:ext uri="{FF2B5EF4-FFF2-40B4-BE49-F238E27FC236}">
                <a16:creationId xmlns:a16="http://schemas.microsoft.com/office/drawing/2014/main" id="{16E483F0-ABB9-42E4-BBED-D4855DD9367E}"/>
              </a:ext>
            </a:extLst>
          </p:cNvPr>
          <p:cNvGraphicFramePr>
            <a:graphicFrameLocks noGrp="1"/>
          </p:cNvGraphicFramePr>
          <p:nvPr>
            <p:extLst>
              <p:ext uri="{D42A27DB-BD31-4B8C-83A1-F6EECF244321}">
                <p14:modId xmlns:p14="http://schemas.microsoft.com/office/powerpoint/2010/main" val="3917415228"/>
              </p:ext>
            </p:extLst>
          </p:nvPr>
        </p:nvGraphicFramePr>
        <p:xfrm>
          <a:off x="7650075" y="2752924"/>
          <a:ext cx="2629466" cy="1097280"/>
        </p:xfrm>
        <a:graphic>
          <a:graphicData uri="http://schemas.openxmlformats.org/drawingml/2006/table">
            <a:tbl>
              <a:tblPr firstRow="1" bandRow="1">
                <a:tableStyleId>{5940675A-B579-460E-94D1-54222C63F5DA}</a:tableStyleId>
              </a:tblPr>
              <a:tblGrid>
                <a:gridCol w="1363691">
                  <a:extLst>
                    <a:ext uri="{9D8B030D-6E8A-4147-A177-3AD203B41FA5}">
                      <a16:colId xmlns:a16="http://schemas.microsoft.com/office/drawing/2014/main" val="472482220"/>
                    </a:ext>
                  </a:extLst>
                </a:gridCol>
                <a:gridCol w="1265775">
                  <a:extLst>
                    <a:ext uri="{9D8B030D-6E8A-4147-A177-3AD203B41FA5}">
                      <a16:colId xmlns:a16="http://schemas.microsoft.com/office/drawing/2014/main" val="3858182850"/>
                    </a:ext>
                  </a:extLst>
                </a:gridCol>
              </a:tblGrid>
              <a:tr h="349882">
                <a:tc>
                  <a:txBody>
                    <a:bodyPr/>
                    <a:lstStyle/>
                    <a:p>
                      <a:r>
                        <a:rPr kumimoji="1" lang="ja-JP" altLang="en-US" dirty="0"/>
                        <a:t>合格</a:t>
                      </a:r>
                    </a:p>
                  </a:txBody>
                  <a:tcPr anchor="ctr" anchorCtr="1"/>
                </a:tc>
                <a:tc>
                  <a:txBody>
                    <a:bodyPr/>
                    <a:lstStyle/>
                    <a:p>
                      <a:r>
                        <a:rPr kumimoji="1" lang="ja-JP" altLang="en-US" dirty="0"/>
                        <a:t>≧</a:t>
                      </a:r>
                      <a:r>
                        <a:rPr kumimoji="1" lang="en-US" altLang="ja-JP" dirty="0"/>
                        <a:t>90%</a:t>
                      </a:r>
                      <a:endParaRPr kumimoji="1" lang="ja-JP" altLang="en-US" dirty="0"/>
                    </a:p>
                  </a:txBody>
                  <a:tcPr anchor="ctr" anchorCtr="1"/>
                </a:tc>
                <a:extLst>
                  <a:ext uri="{0D108BD9-81ED-4DB2-BD59-A6C34878D82A}">
                    <a16:rowId xmlns:a16="http://schemas.microsoft.com/office/drawing/2014/main" val="2325598201"/>
                  </a:ext>
                </a:extLst>
              </a:tr>
              <a:tr h="349882">
                <a:tc>
                  <a:txBody>
                    <a:bodyPr/>
                    <a:lstStyle/>
                    <a:p>
                      <a:r>
                        <a:rPr kumimoji="1" lang="ja-JP" altLang="en-US" dirty="0"/>
                        <a:t>条件付き</a:t>
                      </a:r>
                    </a:p>
                  </a:txBody>
                  <a:tcPr anchor="ctr" anchorCtr="1"/>
                </a:tc>
                <a:tc>
                  <a:txBody>
                    <a:bodyPr/>
                    <a:lstStyle/>
                    <a:p>
                      <a:r>
                        <a:rPr kumimoji="1" lang="ja-JP" altLang="en-US" dirty="0"/>
                        <a:t>≧</a:t>
                      </a:r>
                      <a:r>
                        <a:rPr kumimoji="1" lang="en-US" altLang="ja-JP" dirty="0"/>
                        <a:t>80%</a:t>
                      </a:r>
                      <a:endParaRPr kumimoji="1" lang="ja-JP" altLang="en-US" dirty="0"/>
                    </a:p>
                  </a:txBody>
                  <a:tcPr anchor="ctr" anchorCtr="1"/>
                </a:tc>
                <a:extLst>
                  <a:ext uri="{0D108BD9-81ED-4DB2-BD59-A6C34878D82A}">
                    <a16:rowId xmlns:a16="http://schemas.microsoft.com/office/drawing/2014/main" val="3801160563"/>
                  </a:ext>
                </a:extLst>
              </a:tr>
              <a:tr h="349882">
                <a:tc>
                  <a:txBody>
                    <a:bodyPr/>
                    <a:lstStyle/>
                    <a:p>
                      <a:r>
                        <a:rPr kumimoji="1" lang="ja-JP" altLang="en-US" dirty="0"/>
                        <a:t>不合格</a:t>
                      </a:r>
                    </a:p>
                  </a:txBody>
                  <a:tcPr anchor="ctr" anchorCtr="1"/>
                </a:tc>
                <a:tc>
                  <a:txBody>
                    <a:bodyPr/>
                    <a:lstStyle/>
                    <a:p>
                      <a:r>
                        <a:rPr kumimoji="1" lang="ja-JP" altLang="en-US" dirty="0"/>
                        <a:t>＜</a:t>
                      </a:r>
                      <a:r>
                        <a:rPr kumimoji="1" lang="en-US" altLang="ja-JP" dirty="0"/>
                        <a:t>80%</a:t>
                      </a:r>
                      <a:endParaRPr kumimoji="1" lang="ja-JP" altLang="en-US" dirty="0"/>
                    </a:p>
                  </a:txBody>
                  <a:tcPr anchor="ctr" anchorCtr="1"/>
                </a:tc>
                <a:extLst>
                  <a:ext uri="{0D108BD9-81ED-4DB2-BD59-A6C34878D82A}">
                    <a16:rowId xmlns:a16="http://schemas.microsoft.com/office/drawing/2014/main" val="4059402282"/>
                  </a:ext>
                </a:extLst>
              </a:tr>
            </a:tbl>
          </a:graphicData>
        </a:graphic>
      </p:graphicFrame>
      <p:graphicFrame>
        <p:nvGraphicFramePr>
          <p:cNvPr id="18" name="表 17">
            <a:extLst>
              <a:ext uri="{FF2B5EF4-FFF2-40B4-BE49-F238E27FC236}">
                <a16:creationId xmlns:a16="http://schemas.microsoft.com/office/drawing/2014/main" id="{31A2F7B8-4BC0-43CC-8D93-C7E783228691}"/>
              </a:ext>
            </a:extLst>
          </p:cNvPr>
          <p:cNvGraphicFramePr>
            <a:graphicFrameLocks noGrp="1"/>
          </p:cNvGraphicFramePr>
          <p:nvPr>
            <p:extLst>
              <p:ext uri="{D42A27DB-BD31-4B8C-83A1-F6EECF244321}">
                <p14:modId xmlns:p14="http://schemas.microsoft.com/office/powerpoint/2010/main" val="3922753148"/>
              </p:ext>
            </p:extLst>
          </p:nvPr>
        </p:nvGraphicFramePr>
        <p:xfrm>
          <a:off x="7650075" y="3975062"/>
          <a:ext cx="2629466" cy="1097280"/>
        </p:xfrm>
        <a:graphic>
          <a:graphicData uri="http://schemas.openxmlformats.org/drawingml/2006/table">
            <a:tbl>
              <a:tblPr firstRow="1" bandRow="1">
                <a:tableStyleId>{5940675A-B579-460E-94D1-54222C63F5DA}</a:tableStyleId>
              </a:tblPr>
              <a:tblGrid>
                <a:gridCol w="1363691">
                  <a:extLst>
                    <a:ext uri="{9D8B030D-6E8A-4147-A177-3AD203B41FA5}">
                      <a16:colId xmlns:a16="http://schemas.microsoft.com/office/drawing/2014/main" val="472482220"/>
                    </a:ext>
                  </a:extLst>
                </a:gridCol>
                <a:gridCol w="1265775">
                  <a:extLst>
                    <a:ext uri="{9D8B030D-6E8A-4147-A177-3AD203B41FA5}">
                      <a16:colId xmlns:a16="http://schemas.microsoft.com/office/drawing/2014/main" val="3858182850"/>
                    </a:ext>
                  </a:extLst>
                </a:gridCol>
              </a:tblGrid>
              <a:tr h="349882">
                <a:tc>
                  <a:txBody>
                    <a:bodyPr/>
                    <a:lstStyle/>
                    <a:p>
                      <a:r>
                        <a:rPr kumimoji="1" lang="ja-JP" altLang="en-US" dirty="0"/>
                        <a:t>合格</a:t>
                      </a:r>
                    </a:p>
                  </a:txBody>
                  <a:tcPr anchor="ctr" anchorCtr="1"/>
                </a:tc>
                <a:tc>
                  <a:txBody>
                    <a:bodyPr/>
                    <a:lstStyle/>
                    <a:p>
                      <a:r>
                        <a:rPr kumimoji="1" lang="ja-JP" altLang="en-US" dirty="0"/>
                        <a:t>≦</a:t>
                      </a:r>
                      <a:r>
                        <a:rPr kumimoji="1" lang="en-US" altLang="ja-JP" dirty="0"/>
                        <a:t>2%</a:t>
                      </a:r>
                      <a:endParaRPr kumimoji="1" lang="ja-JP" altLang="en-US" dirty="0"/>
                    </a:p>
                  </a:txBody>
                  <a:tcPr anchor="ctr" anchorCtr="1"/>
                </a:tc>
                <a:extLst>
                  <a:ext uri="{0D108BD9-81ED-4DB2-BD59-A6C34878D82A}">
                    <a16:rowId xmlns:a16="http://schemas.microsoft.com/office/drawing/2014/main" val="2325598201"/>
                  </a:ext>
                </a:extLst>
              </a:tr>
              <a:tr h="349882">
                <a:tc>
                  <a:txBody>
                    <a:bodyPr/>
                    <a:lstStyle/>
                    <a:p>
                      <a:r>
                        <a:rPr kumimoji="1" lang="ja-JP" altLang="en-US" dirty="0"/>
                        <a:t>条件付き</a:t>
                      </a:r>
                    </a:p>
                  </a:txBody>
                  <a:tcPr anchor="ctr" anchorCtr="1"/>
                </a:tc>
                <a:tc>
                  <a:txBody>
                    <a:bodyPr/>
                    <a:lstStyle/>
                    <a:p>
                      <a:r>
                        <a:rPr kumimoji="1" lang="ja-JP" altLang="en-US" dirty="0"/>
                        <a:t>≦</a:t>
                      </a:r>
                      <a:r>
                        <a:rPr kumimoji="1" lang="en-US" altLang="ja-JP" dirty="0"/>
                        <a:t>5%</a:t>
                      </a:r>
                      <a:endParaRPr kumimoji="1" lang="ja-JP" altLang="en-US" dirty="0"/>
                    </a:p>
                  </a:txBody>
                  <a:tcPr anchor="ctr" anchorCtr="1"/>
                </a:tc>
                <a:extLst>
                  <a:ext uri="{0D108BD9-81ED-4DB2-BD59-A6C34878D82A}">
                    <a16:rowId xmlns:a16="http://schemas.microsoft.com/office/drawing/2014/main" val="3801160563"/>
                  </a:ext>
                </a:extLst>
              </a:tr>
              <a:tr h="349882">
                <a:tc>
                  <a:txBody>
                    <a:bodyPr/>
                    <a:lstStyle/>
                    <a:p>
                      <a:r>
                        <a:rPr kumimoji="1" lang="ja-JP" altLang="en-US" dirty="0"/>
                        <a:t>不合格</a:t>
                      </a:r>
                    </a:p>
                  </a:txBody>
                  <a:tcPr anchor="ctr" anchorCtr="1"/>
                </a:tc>
                <a:tc>
                  <a:txBody>
                    <a:bodyPr/>
                    <a:lstStyle/>
                    <a:p>
                      <a:r>
                        <a:rPr kumimoji="1" lang="ja-JP" altLang="en-US" dirty="0"/>
                        <a:t>＞</a:t>
                      </a:r>
                      <a:r>
                        <a:rPr kumimoji="1" lang="en-US" altLang="ja-JP" dirty="0"/>
                        <a:t>5%</a:t>
                      </a:r>
                      <a:endParaRPr kumimoji="1" lang="ja-JP" altLang="en-US" dirty="0"/>
                    </a:p>
                  </a:txBody>
                  <a:tcPr anchor="ctr" anchorCtr="1"/>
                </a:tc>
                <a:extLst>
                  <a:ext uri="{0D108BD9-81ED-4DB2-BD59-A6C34878D82A}">
                    <a16:rowId xmlns:a16="http://schemas.microsoft.com/office/drawing/2014/main" val="4059402282"/>
                  </a:ext>
                </a:extLst>
              </a:tr>
            </a:tbl>
          </a:graphicData>
        </a:graphic>
      </p:graphicFrame>
      <p:graphicFrame>
        <p:nvGraphicFramePr>
          <p:cNvPr id="19" name="表 18">
            <a:extLst>
              <a:ext uri="{FF2B5EF4-FFF2-40B4-BE49-F238E27FC236}">
                <a16:creationId xmlns:a16="http://schemas.microsoft.com/office/drawing/2014/main" id="{0F5FC202-C190-4D93-8FFC-BF526159C05B}"/>
              </a:ext>
            </a:extLst>
          </p:cNvPr>
          <p:cNvGraphicFramePr>
            <a:graphicFrameLocks noGrp="1"/>
          </p:cNvGraphicFramePr>
          <p:nvPr>
            <p:extLst>
              <p:ext uri="{D42A27DB-BD31-4B8C-83A1-F6EECF244321}">
                <p14:modId xmlns:p14="http://schemas.microsoft.com/office/powerpoint/2010/main" val="372602863"/>
              </p:ext>
            </p:extLst>
          </p:nvPr>
        </p:nvGraphicFramePr>
        <p:xfrm>
          <a:off x="7650075" y="5205198"/>
          <a:ext cx="2629466" cy="1097280"/>
        </p:xfrm>
        <a:graphic>
          <a:graphicData uri="http://schemas.openxmlformats.org/drawingml/2006/table">
            <a:tbl>
              <a:tblPr firstRow="1" bandRow="1">
                <a:tableStyleId>{5940675A-B579-460E-94D1-54222C63F5DA}</a:tableStyleId>
              </a:tblPr>
              <a:tblGrid>
                <a:gridCol w="1363691">
                  <a:extLst>
                    <a:ext uri="{9D8B030D-6E8A-4147-A177-3AD203B41FA5}">
                      <a16:colId xmlns:a16="http://schemas.microsoft.com/office/drawing/2014/main" val="472482220"/>
                    </a:ext>
                  </a:extLst>
                </a:gridCol>
                <a:gridCol w="1265775">
                  <a:extLst>
                    <a:ext uri="{9D8B030D-6E8A-4147-A177-3AD203B41FA5}">
                      <a16:colId xmlns:a16="http://schemas.microsoft.com/office/drawing/2014/main" val="3858182850"/>
                    </a:ext>
                  </a:extLst>
                </a:gridCol>
              </a:tblGrid>
              <a:tr h="349882">
                <a:tc>
                  <a:txBody>
                    <a:bodyPr/>
                    <a:lstStyle/>
                    <a:p>
                      <a:r>
                        <a:rPr kumimoji="1" lang="ja-JP" altLang="en-US" dirty="0"/>
                        <a:t>合格</a:t>
                      </a:r>
                    </a:p>
                  </a:txBody>
                  <a:tcPr anchor="ctr" anchorCtr="1"/>
                </a:tc>
                <a:tc>
                  <a:txBody>
                    <a:bodyPr/>
                    <a:lstStyle/>
                    <a:p>
                      <a:r>
                        <a:rPr kumimoji="1" lang="ja-JP" altLang="en-US" dirty="0"/>
                        <a:t>≦</a:t>
                      </a:r>
                      <a:r>
                        <a:rPr kumimoji="1" lang="en-US" altLang="ja-JP" dirty="0"/>
                        <a:t>5%</a:t>
                      </a:r>
                      <a:endParaRPr kumimoji="1" lang="ja-JP" altLang="en-US" dirty="0"/>
                    </a:p>
                  </a:txBody>
                  <a:tcPr anchor="ctr" anchorCtr="1"/>
                </a:tc>
                <a:extLst>
                  <a:ext uri="{0D108BD9-81ED-4DB2-BD59-A6C34878D82A}">
                    <a16:rowId xmlns:a16="http://schemas.microsoft.com/office/drawing/2014/main" val="2325598201"/>
                  </a:ext>
                </a:extLst>
              </a:tr>
              <a:tr h="349882">
                <a:tc>
                  <a:txBody>
                    <a:bodyPr/>
                    <a:lstStyle/>
                    <a:p>
                      <a:r>
                        <a:rPr kumimoji="1" lang="ja-JP" altLang="en-US" dirty="0"/>
                        <a:t>条件付き</a:t>
                      </a:r>
                    </a:p>
                  </a:txBody>
                  <a:tcPr anchor="ctr" anchorCtr="1"/>
                </a:tc>
                <a:tc>
                  <a:txBody>
                    <a:bodyPr/>
                    <a:lstStyle/>
                    <a:p>
                      <a:r>
                        <a:rPr kumimoji="1" lang="ja-JP" altLang="en-US" dirty="0"/>
                        <a:t>≦</a:t>
                      </a:r>
                      <a:r>
                        <a:rPr kumimoji="1" lang="en-US" altLang="ja-JP" dirty="0"/>
                        <a:t>10%</a:t>
                      </a:r>
                      <a:endParaRPr kumimoji="1" lang="ja-JP" altLang="en-US" dirty="0"/>
                    </a:p>
                  </a:txBody>
                  <a:tcPr anchor="ctr" anchorCtr="1"/>
                </a:tc>
                <a:extLst>
                  <a:ext uri="{0D108BD9-81ED-4DB2-BD59-A6C34878D82A}">
                    <a16:rowId xmlns:a16="http://schemas.microsoft.com/office/drawing/2014/main" val="3801160563"/>
                  </a:ext>
                </a:extLst>
              </a:tr>
              <a:tr h="349882">
                <a:tc>
                  <a:txBody>
                    <a:bodyPr/>
                    <a:lstStyle/>
                    <a:p>
                      <a:r>
                        <a:rPr kumimoji="1" lang="ja-JP" altLang="en-US" dirty="0"/>
                        <a:t>不合格</a:t>
                      </a:r>
                    </a:p>
                  </a:txBody>
                  <a:tcPr anchor="ctr" anchorCtr="1"/>
                </a:tc>
                <a:tc>
                  <a:txBody>
                    <a:bodyPr/>
                    <a:lstStyle/>
                    <a:p>
                      <a:r>
                        <a:rPr kumimoji="1" lang="ja-JP" altLang="en-US" dirty="0"/>
                        <a:t>＞</a:t>
                      </a:r>
                      <a:r>
                        <a:rPr kumimoji="1" lang="en-US" altLang="ja-JP" dirty="0"/>
                        <a:t>10%</a:t>
                      </a:r>
                      <a:endParaRPr kumimoji="1" lang="ja-JP" altLang="en-US" dirty="0"/>
                    </a:p>
                  </a:txBody>
                  <a:tcPr anchor="ctr" anchorCtr="1"/>
                </a:tc>
                <a:extLst>
                  <a:ext uri="{0D108BD9-81ED-4DB2-BD59-A6C34878D82A}">
                    <a16:rowId xmlns:a16="http://schemas.microsoft.com/office/drawing/2014/main" val="4059402282"/>
                  </a:ext>
                </a:extLst>
              </a:tr>
            </a:tbl>
          </a:graphicData>
        </a:graphic>
      </p:graphicFrame>
    </p:spTree>
    <p:extLst>
      <p:ext uri="{BB962C8B-B14F-4D97-AF65-F5344CB8AC3E}">
        <p14:creationId xmlns:p14="http://schemas.microsoft.com/office/powerpoint/2010/main" val="2551834497"/>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626B233-A7EE-47A3-8FE9-AA1D94ED91E7}"/>
              </a:ext>
            </a:extLst>
          </p:cNvPr>
          <p:cNvSpPr txBox="1">
            <a:spLocks/>
          </p:cNvSpPr>
          <p:nvPr/>
        </p:nvSpPr>
        <p:spPr>
          <a:xfrm>
            <a:off x="838200" y="1420662"/>
            <a:ext cx="10515600" cy="4935688"/>
          </a:xfrm>
          <a:prstGeom prst="rect">
            <a:avLst/>
          </a:prstGeom>
          <a:ln w="12700">
            <a:solidFill>
              <a:schemeClr val="tx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endParaRPr lang="en-US" altLang="ja-JP" sz="2400" dirty="0"/>
          </a:p>
        </p:txBody>
      </p:sp>
      <p:sp>
        <p:nvSpPr>
          <p:cNvPr id="4" name="フッター プレースホルダー 3">
            <a:extLst>
              <a:ext uri="{FF2B5EF4-FFF2-40B4-BE49-F238E27FC236}">
                <a16:creationId xmlns:a16="http://schemas.microsoft.com/office/drawing/2014/main" id="{C30CCA99-5E1B-40B3-9752-4F6987477AD3}"/>
              </a:ext>
            </a:extLst>
          </p:cNvPr>
          <p:cNvSpPr>
            <a:spLocks noGrp="1"/>
          </p:cNvSpPr>
          <p:nvPr>
            <p:ph type="ftr" sz="quarter" idx="11"/>
          </p:nvPr>
        </p:nvSpPr>
        <p:spPr/>
        <p:txBody>
          <a:bodyPr/>
          <a:lstStyle/>
          <a:p>
            <a:r>
              <a:rPr kumimoji="1" lang="en-US" altLang="ja-JP"/>
              <a:t>TKG</a:t>
            </a:r>
            <a:r>
              <a:rPr kumimoji="1" lang="ja-JP" altLang="en-US"/>
              <a:t>　</a:t>
            </a:r>
            <a:r>
              <a:rPr kumimoji="1" lang="en-US" altLang="ja-JP"/>
              <a:t>IATF16949</a:t>
            </a:r>
            <a:endParaRPr kumimoji="1" lang="ja-JP" altLang="en-US"/>
          </a:p>
        </p:txBody>
      </p:sp>
      <p:sp>
        <p:nvSpPr>
          <p:cNvPr id="5" name="スライド番号プレースホルダー 4">
            <a:extLst>
              <a:ext uri="{FF2B5EF4-FFF2-40B4-BE49-F238E27FC236}">
                <a16:creationId xmlns:a16="http://schemas.microsoft.com/office/drawing/2014/main" id="{D5A1A37A-4DA0-4D95-B1C1-85963411F8DD}"/>
              </a:ext>
            </a:extLst>
          </p:cNvPr>
          <p:cNvSpPr>
            <a:spLocks noGrp="1"/>
          </p:cNvSpPr>
          <p:nvPr>
            <p:ph type="sldNum" sz="quarter" idx="12"/>
          </p:nvPr>
        </p:nvSpPr>
        <p:spPr/>
        <p:txBody>
          <a:bodyPr/>
          <a:lstStyle/>
          <a:p>
            <a:fld id="{F599B491-871B-4465-93C9-200AD56BCEBF}" type="slidenum">
              <a:rPr kumimoji="1" lang="ja-JP" altLang="en-US" smtClean="0"/>
              <a:t>571</a:t>
            </a:fld>
            <a:endParaRPr kumimoji="1" lang="ja-JP" altLang="en-US"/>
          </a:p>
        </p:txBody>
      </p:sp>
      <p:sp>
        <p:nvSpPr>
          <p:cNvPr id="10" name="タイトル 1">
            <a:extLst>
              <a:ext uri="{FF2B5EF4-FFF2-40B4-BE49-F238E27FC236}">
                <a16:creationId xmlns:a16="http://schemas.microsoft.com/office/drawing/2014/main" id="{6BFC18C4-1156-4D53-A551-E88225BFC55B}"/>
              </a:ext>
            </a:extLst>
          </p:cNvPr>
          <p:cNvSpPr>
            <a:spLocks noGrp="1"/>
          </p:cNvSpPr>
          <p:nvPr>
            <p:ph type="title"/>
          </p:nvPr>
        </p:nvSpPr>
        <p:spPr>
          <a:xfrm>
            <a:off x="838200" y="365126"/>
            <a:ext cx="10515600" cy="854074"/>
          </a:xfrm>
          <a:solidFill>
            <a:schemeClr val="tx2"/>
          </a:solidFill>
          <a:ln w="38100">
            <a:noFill/>
          </a:ln>
        </p:spPr>
        <p:txBody>
          <a:bodyPr>
            <a:normAutofit/>
          </a:bodyPr>
          <a:lstStyle/>
          <a:p>
            <a:r>
              <a:rPr lang="ja-JP" altLang="en-US" sz="3000" b="1" dirty="0">
                <a:solidFill>
                  <a:schemeClr val="bg1"/>
                </a:solidFill>
              </a:rPr>
              <a:t>５．ＭＳＡ（</a:t>
            </a:r>
            <a:r>
              <a:rPr lang="en-US" altLang="ja-JP" sz="3000" b="1" dirty="0">
                <a:solidFill>
                  <a:schemeClr val="bg1"/>
                </a:solidFill>
              </a:rPr>
              <a:t>MSA</a:t>
            </a:r>
            <a:r>
              <a:rPr lang="ja-JP" altLang="en-US" sz="3000" b="1" dirty="0">
                <a:solidFill>
                  <a:schemeClr val="bg1"/>
                </a:solidFill>
              </a:rPr>
              <a:t>解析の定数表）</a:t>
            </a:r>
          </a:p>
        </p:txBody>
      </p:sp>
      <p:graphicFrame>
        <p:nvGraphicFramePr>
          <p:cNvPr id="3" name="表 2">
            <a:extLst>
              <a:ext uri="{FF2B5EF4-FFF2-40B4-BE49-F238E27FC236}">
                <a16:creationId xmlns:a16="http://schemas.microsoft.com/office/drawing/2014/main" id="{E5EB2862-D410-44C7-A25B-5215E47DF5BE}"/>
              </a:ext>
            </a:extLst>
          </p:cNvPr>
          <p:cNvGraphicFramePr>
            <a:graphicFrameLocks noGrp="1"/>
          </p:cNvGraphicFramePr>
          <p:nvPr>
            <p:extLst>
              <p:ext uri="{D42A27DB-BD31-4B8C-83A1-F6EECF244321}">
                <p14:modId xmlns:p14="http://schemas.microsoft.com/office/powerpoint/2010/main" val="391915536"/>
              </p:ext>
            </p:extLst>
          </p:nvPr>
        </p:nvGraphicFramePr>
        <p:xfrm>
          <a:off x="838199" y="1420662"/>
          <a:ext cx="10515600" cy="3651969"/>
        </p:xfrm>
        <a:graphic>
          <a:graphicData uri="http://schemas.openxmlformats.org/drawingml/2006/table">
            <a:tbl>
              <a:tblPr firstRow="1" bandRow="1">
                <a:tableStyleId>{5940675A-B579-460E-94D1-54222C63F5DA}</a:tableStyleId>
              </a:tblPr>
              <a:tblGrid>
                <a:gridCol w="1051560">
                  <a:extLst>
                    <a:ext uri="{9D8B030D-6E8A-4147-A177-3AD203B41FA5}">
                      <a16:colId xmlns:a16="http://schemas.microsoft.com/office/drawing/2014/main" val="545338639"/>
                    </a:ext>
                  </a:extLst>
                </a:gridCol>
                <a:gridCol w="1051560">
                  <a:extLst>
                    <a:ext uri="{9D8B030D-6E8A-4147-A177-3AD203B41FA5}">
                      <a16:colId xmlns:a16="http://schemas.microsoft.com/office/drawing/2014/main" val="3613066176"/>
                    </a:ext>
                  </a:extLst>
                </a:gridCol>
                <a:gridCol w="1051560">
                  <a:extLst>
                    <a:ext uri="{9D8B030D-6E8A-4147-A177-3AD203B41FA5}">
                      <a16:colId xmlns:a16="http://schemas.microsoft.com/office/drawing/2014/main" val="793769312"/>
                    </a:ext>
                  </a:extLst>
                </a:gridCol>
                <a:gridCol w="1051560">
                  <a:extLst>
                    <a:ext uri="{9D8B030D-6E8A-4147-A177-3AD203B41FA5}">
                      <a16:colId xmlns:a16="http://schemas.microsoft.com/office/drawing/2014/main" val="3234123672"/>
                    </a:ext>
                  </a:extLst>
                </a:gridCol>
                <a:gridCol w="1051560">
                  <a:extLst>
                    <a:ext uri="{9D8B030D-6E8A-4147-A177-3AD203B41FA5}">
                      <a16:colId xmlns:a16="http://schemas.microsoft.com/office/drawing/2014/main" val="1766370517"/>
                    </a:ext>
                  </a:extLst>
                </a:gridCol>
                <a:gridCol w="1051560">
                  <a:extLst>
                    <a:ext uri="{9D8B030D-6E8A-4147-A177-3AD203B41FA5}">
                      <a16:colId xmlns:a16="http://schemas.microsoft.com/office/drawing/2014/main" val="2526118023"/>
                    </a:ext>
                  </a:extLst>
                </a:gridCol>
                <a:gridCol w="1051560">
                  <a:extLst>
                    <a:ext uri="{9D8B030D-6E8A-4147-A177-3AD203B41FA5}">
                      <a16:colId xmlns:a16="http://schemas.microsoft.com/office/drawing/2014/main" val="574788307"/>
                    </a:ext>
                  </a:extLst>
                </a:gridCol>
                <a:gridCol w="1051560">
                  <a:extLst>
                    <a:ext uri="{9D8B030D-6E8A-4147-A177-3AD203B41FA5}">
                      <a16:colId xmlns:a16="http://schemas.microsoft.com/office/drawing/2014/main" val="2215821907"/>
                    </a:ext>
                  </a:extLst>
                </a:gridCol>
                <a:gridCol w="1051560">
                  <a:extLst>
                    <a:ext uri="{9D8B030D-6E8A-4147-A177-3AD203B41FA5}">
                      <a16:colId xmlns:a16="http://schemas.microsoft.com/office/drawing/2014/main" val="306921426"/>
                    </a:ext>
                  </a:extLst>
                </a:gridCol>
                <a:gridCol w="1051560">
                  <a:extLst>
                    <a:ext uri="{9D8B030D-6E8A-4147-A177-3AD203B41FA5}">
                      <a16:colId xmlns:a16="http://schemas.microsoft.com/office/drawing/2014/main" val="1635712651"/>
                    </a:ext>
                  </a:extLst>
                </a:gridCol>
              </a:tblGrid>
              <a:tr h="656613">
                <a:tc>
                  <a:txBody>
                    <a:bodyPr/>
                    <a:lstStyle/>
                    <a:p>
                      <a:endParaRPr kumimoji="1" lang="ja-JP" altLang="en-US" dirty="0"/>
                    </a:p>
                  </a:txBody>
                  <a:tcPr>
                    <a:lnTlToBr w="12700" cap="flat" cmpd="sng" algn="ctr">
                      <a:solidFill>
                        <a:schemeClr val="tx1"/>
                      </a:solidFill>
                      <a:prstDash val="solid"/>
                      <a:round/>
                      <a:headEnd type="none" w="med" len="med"/>
                      <a:tailEnd type="none" w="med" len="med"/>
                    </a:lnTlToBr>
                    <a:solidFill>
                      <a:schemeClr val="tx2">
                        <a:lumMod val="20000"/>
                        <a:lumOff val="80000"/>
                      </a:schemeClr>
                    </a:solidFill>
                  </a:tcPr>
                </a:tc>
                <a:tc>
                  <a:txBody>
                    <a:bodyPr/>
                    <a:lstStyle/>
                    <a:p>
                      <a:r>
                        <a:rPr kumimoji="1" lang="ja-JP" altLang="en-US" dirty="0"/>
                        <a:t>２</a:t>
                      </a:r>
                    </a:p>
                  </a:txBody>
                  <a:tcPr anchor="ctr" anchorCtr="1">
                    <a:solidFill>
                      <a:schemeClr val="tx2">
                        <a:lumMod val="20000"/>
                        <a:lumOff val="80000"/>
                      </a:schemeClr>
                    </a:solidFill>
                  </a:tcPr>
                </a:tc>
                <a:tc>
                  <a:txBody>
                    <a:bodyPr/>
                    <a:lstStyle/>
                    <a:p>
                      <a:r>
                        <a:rPr kumimoji="1" lang="ja-JP" altLang="en-US" dirty="0"/>
                        <a:t>３</a:t>
                      </a:r>
                    </a:p>
                  </a:txBody>
                  <a:tcPr anchor="ctr" anchorCtr="1">
                    <a:solidFill>
                      <a:schemeClr val="tx2">
                        <a:lumMod val="20000"/>
                        <a:lumOff val="80000"/>
                      </a:schemeClr>
                    </a:solidFill>
                  </a:tcPr>
                </a:tc>
                <a:tc>
                  <a:txBody>
                    <a:bodyPr/>
                    <a:lstStyle/>
                    <a:p>
                      <a:r>
                        <a:rPr kumimoji="1" lang="ja-JP" altLang="en-US" dirty="0"/>
                        <a:t>４</a:t>
                      </a:r>
                    </a:p>
                  </a:txBody>
                  <a:tcPr anchor="ctr" anchorCtr="1">
                    <a:solidFill>
                      <a:schemeClr val="tx2">
                        <a:lumMod val="20000"/>
                        <a:lumOff val="80000"/>
                      </a:schemeClr>
                    </a:solidFill>
                  </a:tcPr>
                </a:tc>
                <a:tc>
                  <a:txBody>
                    <a:bodyPr/>
                    <a:lstStyle/>
                    <a:p>
                      <a:r>
                        <a:rPr kumimoji="1" lang="ja-JP" altLang="en-US" dirty="0"/>
                        <a:t>５</a:t>
                      </a:r>
                    </a:p>
                  </a:txBody>
                  <a:tcPr anchor="ctr" anchorCtr="1">
                    <a:solidFill>
                      <a:schemeClr val="tx2">
                        <a:lumMod val="20000"/>
                        <a:lumOff val="80000"/>
                      </a:schemeClr>
                    </a:solidFill>
                  </a:tcPr>
                </a:tc>
                <a:tc>
                  <a:txBody>
                    <a:bodyPr/>
                    <a:lstStyle/>
                    <a:p>
                      <a:r>
                        <a:rPr kumimoji="1" lang="ja-JP" altLang="en-US" dirty="0"/>
                        <a:t>６</a:t>
                      </a:r>
                    </a:p>
                  </a:txBody>
                  <a:tcPr anchor="ctr" anchorCtr="1">
                    <a:solidFill>
                      <a:schemeClr val="tx2">
                        <a:lumMod val="20000"/>
                        <a:lumOff val="80000"/>
                      </a:schemeClr>
                    </a:solidFill>
                  </a:tcPr>
                </a:tc>
                <a:tc>
                  <a:txBody>
                    <a:bodyPr/>
                    <a:lstStyle/>
                    <a:p>
                      <a:r>
                        <a:rPr kumimoji="1" lang="ja-JP" altLang="en-US" dirty="0"/>
                        <a:t>７</a:t>
                      </a:r>
                    </a:p>
                  </a:txBody>
                  <a:tcPr anchor="ctr" anchorCtr="1">
                    <a:solidFill>
                      <a:schemeClr val="tx2">
                        <a:lumMod val="20000"/>
                        <a:lumOff val="80000"/>
                      </a:schemeClr>
                    </a:solidFill>
                  </a:tcPr>
                </a:tc>
                <a:tc>
                  <a:txBody>
                    <a:bodyPr/>
                    <a:lstStyle/>
                    <a:p>
                      <a:r>
                        <a:rPr kumimoji="1" lang="ja-JP" altLang="en-US" dirty="0"/>
                        <a:t>８</a:t>
                      </a:r>
                    </a:p>
                  </a:txBody>
                  <a:tcPr anchor="ctr" anchorCtr="1">
                    <a:solidFill>
                      <a:schemeClr val="tx2">
                        <a:lumMod val="20000"/>
                        <a:lumOff val="80000"/>
                      </a:schemeClr>
                    </a:solidFill>
                  </a:tcPr>
                </a:tc>
                <a:tc>
                  <a:txBody>
                    <a:bodyPr/>
                    <a:lstStyle/>
                    <a:p>
                      <a:r>
                        <a:rPr kumimoji="1" lang="ja-JP" altLang="en-US" dirty="0"/>
                        <a:t>９</a:t>
                      </a:r>
                    </a:p>
                  </a:txBody>
                  <a:tcPr anchor="ctr" anchorCtr="1">
                    <a:solidFill>
                      <a:schemeClr val="tx2">
                        <a:lumMod val="20000"/>
                        <a:lumOff val="80000"/>
                      </a:schemeClr>
                    </a:solidFill>
                  </a:tcPr>
                </a:tc>
                <a:tc>
                  <a:txBody>
                    <a:bodyPr/>
                    <a:lstStyle/>
                    <a:p>
                      <a:r>
                        <a:rPr kumimoji="1" lang="ja-JP" altLang="en-US" dirty="0"/>
                        <a:t>１０</a:t>
                      </a:r>
                    </a:p>
                  </a:txBody>
                  <a:tcPr anchor="ctr" anchorCtr="1">
                    <a:solidFill>
                      <a:schemeClr val="tx2">
                        <a:lumMod val="20000"/>
                        <a:lumOff val="80000"/>
                      </a:schemeClr>
                    </a:solidFill>
                  </a:tcPr>
                </a:tc>
                <a:extLst>
                  <a:ext uri="{0D108BD9-81ED-4DB2-BD59-A6C34878D82A}">
                    <a16:rowId xmlns:a16="http://schemas.microsoft.com/office/drawing/2014/main" val="1672121459"/>
                  </a:ext>
                </a:extLst>
              </a:tr>
              <a:tr h="427908">
                <a:tc>
                  <a:txBody>
                    <a:bodyPr/>
                    <a:lstStyle/>
                    <a:p>
                      <a:r>
                        <a:rPr kumimoji="1" lang="ja-JP" altLang="en-US" b="1" dirty="0"/>
                        <a:t>Ａ</a:t>
                      </a:r>
                      <a:r>
                        <a:rPr kumimoji="1" lang="en-US" altLang="ja-JP" sz="1400" b="1" dirty="0"/>
                        <a:t>2</a:t>
                      </a:r>
                    </a:p>
                  </a:txBody>
                  <a:tcPr anchor="ctr" anchorCtr="1">
                    <a:solidFill>
                      <a:schemeClr val="tx2">
                        <a:lumMod val="20000"/>
                        <a:lumOff val="80000"/>
                      </a:schemeClr>
                    </a:solidFill>
                  </a:tcPr>
                </a:tc>
                <a:tc>
                  <a:txBody>
                    <a:bodyPr/>
                    <a:lstStyle/>
                    <a:p>
                      <a:pPr algn="r"/>
                      <a:r>
                        <a:rPr kumimoji="1" lang="en-US" altLang="ja-JP" dirty="0"/>
                        <a:t>1.880</a:t>
                      </a:r>
                      <a:endParaRPr kumimoji="1" lang="ja-JP" altLang="en-US" dirty="0"/>
                    </a:p>
                  </a:txBody>
                  <a:tcPr anchor="ctr" anchorCtr="1"/>
                </a:tc>
                <a:tc>
                  <a:txBody>
                    <a:bodyPr/>
                    <a:lstStyle/>
                    <a:p>
                      <a:pPr algn="r"/>
                      <a:r>
                        <a:rPr kumimoji="1" lang="en-US" altLang="ja-JP" dirty="0"/>
                        <a:t>1.023</a:t>
                      </a:r>
                      <a:endParaRPr kumimoji="1" lang="ja-JP" altLang="en-US" dirty="0"/>
                    </a:p>
                  </a:txBody>
                  <a:tcPr anchor="ctr" anchorCtr="1"/>
                </a:tc>
                <a:tc>
                  <a:txBody>
                    <a:bodyPr/>
                    <a:lstStyle/>
                    <a:p>
                      <a:pPr algn="r"/>
                      <a:r>
                        <a:rPr kumimoji="1" lang="en-US" altLang="ja-JP" dirty="0"/>
                        <a:t>0.729</a:t>
                      </a:r>
                      <a:endParaRPr kumimoji="1" lang="ja-JP" altLang="en-US" dirty="0"/>
                    </a:p>
                  </a:txBody>
                  <a:tcPr anchor="ctr" anchorCtr="1"/>
                </a:tc>
                <a:tc>
                  <a:txBody>
                    <a:bodyPr/>
                    <a:lstStyle/>
                    <a:p>
                      <a:pPr algn="r"/>
                      <a:r>
                        <a:rPr kumimoji="1" lang="en-US" altLang="ja-JP" dirty="0"/>
                        <a:t>0.577</a:t>
                      </a:r>
                      <a:endParaRPr kumimoji="1" lang="ja-JP" altLang="en-US" dirty="0"/>
                    </a:p>
                  </a:txBody>
                  <a:tcPr anchor="ctr" anchorCtr="1"/>
                </a:tc>
                <a:tc>
                  <a:txBody>
                    <a:bodyPr/>
                    <a:lstStyle/>
                    <a:p>
                      <a:pPr algn="r"/>
                      <a:r>
                        <a:rPr kumimoji="1" lang="en-US" altLang="ja-JP" dirty="0"/>
                        <a:t>0.483</a:t>
                      </a:r>
                      <a:endParaRPr kumimoji="1" lang="ja-JP" altLang="en-US" dirty="0"/>
                    </a:p>
                  </a:txBody>
                  <a:tcPr anchor="ctr" anchorCtr="1"/>
                </a:tc>
                <a:tc>
                  <a:txBody>
                    <a:bodyPr/>
                    <a:lstStyle/>
                    <a:p>
                      <a:pPr algn="r"/>
                      <a:r>
                        <a:rPr kumimoji="1" lang="en-US" altLang="ja-JP" dirty="0"/>
                        <a:t>0.419</a:t>
                      </a:r>
                      <a:endParaRPr kumimoji="1" lang="ja-JP" altLang="en-US" dirty="0"/>
                    </a:p>
                  </a:txBody>
                  <a:tcPr anchor="ctr" anchorCtr="1"/>
                </a:tc>
                <a:tc>
                  <a:txBody>
                    <a:bodyPr/>
                    <a:lstStyle/>
                    <a:p>
                      <a:pPr algn="r"/>
                      <a:r>
                        <a:rPr kumimoji="1" lang="en-US" altLang="ja-JP" dirty="0"/>
                        <a:t>0.373</a:t>
                      </a:r>
                      <a:endParaRPr kumimoji="1" lang="ja-JP" altLang="en-US" dirty="0"/>
                    </a:p>
                  </a:txBody>
                  <a:tcPr anchor="ctr" anchorCtr="1"/>
                </a:tc>
                <a:tc>
                  <a:txBody>
                    <a:bodyPr/>
                    <a:lstStyle/>
                    <a:p>
                      <a:pPr algn="r"/>
                      <a:r>
                        <a:rPr kumimoji="1" lang="en-US" altLang="ja-JP" dirty="0"/>
                        <a:t>0.337</a:t>
                      </a:r>
                      <a:endParaRPr kumimoji="1" lang="ja-JP" altLang="en-US" dirty="0"/>
                    </a:p>
                  </a:txBody>
                  <a:tcPr anchor="ctr" anchorCtr="1"/>
                </a:tc>
                <a:tc>
                  <a:txBody>
                    <a:bodyPr/>
                    <a:lstStyle/>
                    <a:p>
                      <a:pPr algn="r"/>
                      <a:r>
                        <a:rPr kumimoji="1" lang="en-US" altLang="ja-JP" dirty="0"/>
                        <a:t>0.308</a:t>
                      </a:r>
                      <a:endParaRPr kumimoji="1" lang="ja-JP" altLang="en-US" dirty="0"/>
                    </a:p>
                  </a:txBody>
                  <a:tcPr anchor="ctr" anchorCtr="1"/>
                </a:tc>
                <a:extLst>
                  <a:ext uri="{0D108BD9-81ED-4DB2-BD59-A6C34878D82A}">
                    <a16:rowId xmlns:a16="http://schemas.microsoft.com/office/drawing/2014/main" val="2268207266"/>
                  </a:ext>
                </a:extLst>
              </a:tr>
              <a:tr h="427908">
                <a:tc>
                  <a:txBody>
                    <a:bodyPr/>
                    <a:lstStyle/>
                    <a:p>
                      <a:r>
                        <a:rPr kumimoji="1" lang="ja-JP" altLang="en-US" b="1" dirty="0"/>
                        <a:t>Ｄ</a:t>
                      </a:r>
                      <a:r>
                        <a:rPr kumimoji="1" lang="en-US" altLang="ja-JP" sz="1400" b="1" dirty="0"/>
                        <a:t>4</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3.267</a:t>
                      </a:r>
                      <a:endParaRPr kumimoji="1" lang="ja-JP" altLang="en-US" dirty="0"/>
                    </a:p>
                  </a:txBody>
                  <a:tcPr anchor="ctr" anchorCtr="1"/>
                </a:tc>
                <a:tc>
                  <a:txBody>
                    <a:bodyPr/>
                    <a:lstStyle/>
                    <a:p>
                      <a:pPr algn="r"/>
                      <a:r>
                        <a:rPr kumimoji="1" lang="en-US" altLang="ja-JP" dirty="0"/>
                        <a:t>2.575</a:t>
                      </a:r>
                      <a:endParaRPr kumimoji="1" lang="ja-JP" altLang="en-US" dirty="0"/>
                    </a:p>
                  </a:txBody>
                  <a:tcPr anchor="ctr" anchorCtr="1"/>
                </a:tc>
                <a:tc>
                  <a:txBody>
                    <a:bodyPr/>
                    <a:lstStyle/>
                    <a:p>
                      <a:pPr algn="r"/>
                      <a:r>
                        <a:rPr kumimoji="1" lang="en-US" altLang="ja-JP" dirty="0"/>
                        <a:t>2.282</a:t>
                      </a:r>
                      <a:endParaRPr kumimoji="1" lang="ja-JP" altLang="en-US" dirty="0"/>
                    </a:p>
                  </a:txBody>
                  <a:tcPr anchor="ctr" anchorCtr="1"/>
                </a:tc>
                <a:tc>
                  <a:txBody>
                    <a:bodyPr/>
                    <a:lstStyle/>
                    <a:p>
                      <a:pPr algn="r"/>
                      <a:r>
                        <a:rPr kumimoji="1" lang="en-US" altLang="ja-JP" dirty="0"/>
                        <a:t>2.115</a:t>
                      </a:r>
                      <a:endParaRPr kumimoji="1" lang="ja-JP" altLang="en-US" dirty="0"/>
                    </a:p>
                  </a:txBody>
                  <a:tcPr anchor="ctr" anchorCtr="1"/>
                </a:tc>
                <a:tc>
                  <a:txBody>
                    <a:bodyPr/>
                    <a:lstStyle/>
                    <a:p>
                      <a:pPr algn="r"/>
                      <a:r>
                        <a:rPr kumimoji="1" lang="en-US" altLang="ja-JP" dirty="0"/>
                        <a:t>2.004</a:t>
                      </a:r>
                      <a:endParaRPr kumimoji="1" lang="ja-JP" altLang="en-US" dirty="0"/>
                    </a:p>
                  </a:txBody>
                  <a:tcPr anchor="ctr" anchorCtr="1"/>
                </a:tc>
                <a:tc>
                  <a:txBody>
                    <a:bodyPr/>
                    <a:lstStyle/>
                    <a:p>
                      <a:pPr algn="r"/>
                      <a:r>
                        <a:rPr kumimoji="1" lang="en-US" altLang="ja-JP" dirty="0"/>
                        <a:t>1.924</a:t>
                      </a:r>
                      <a:endParaRPr kumimoji="1" lang="ja-JP" altLang="en-US" dirty="0"/>
                    </a:p>
                  </a:txBody>
                  <a:tcPr anchor="ctr" anchorCtr="1"/>
                </a:tc>
                <a:tc>
                  <a:txBody>
                    <a:bodyPr/>
                    <a:lstStyle/>
                    <a:p>
                      <a:pPr algn="r"/>
                      <a:r>
                        <a:rPr kumimoji="1" lang="en-US" altLang="ja-JP" dirty="0"/>
                        <a:t>1.864</a:t>
                      </a:r>
                      <a:endParaRPr kumimoji="1" lang="ja-JP" altLang="en-US" dirty="0"/>
                    </a:p>
                  </a:txBody>
                  <a:tcPr anchor="ctr" anchorCtr="1"/>
                </a:tc>
                <a:tc>
                  <a:txBody>
                    <a:bodyPr/>
                    <a:lstStyle/>
                    <a:p>
                      <a:pPr algn="r"/>
                      <a:r>
                        <a:rPr kumimoji="1" lang="en-US" altLang="ja-JP" dirty="0"/>
                        <a:t>1.816</a:t>
                      </a:r>
                      <a:endParaRPr kumimoji="1" lang="ja-JP" altLang="en-US" dirty="0"/>
                    </a:p>
                  </a:txBody>
                  <a:tcPr anchor="ctr" anchorCtr="1"/>
                </a:tc>
                <a:tc>
                  <a:txBody>
                    <a:bodyPr/>
                    <a:lstStyle/>
                    <a:p>
                      <a:pPr algn="r"/>
                      <a:r>
                        <a:rPr kumimoji="1" lang="en-US" altLang="ja-JP" dirty="0"/>
                        <a:t>1.777</a:t>
                      </a:r>
                      <a:endParaRPr kumimoji="1" lang="ja-JP" altLang="en-US" dirty="0"/>
                    </a:p>
                  </a:txBody>
                  <a:tcPr anchor="ctr" anchorCtr="1"/>
                </a:tc>
                <a:extLst>
                  <a:ext uri="{0D108BD9-81ED-4DB2-BD59-A6C34878D82A}">
                    <a16:rowId xmlns:a16="http://schemas.microsoft.com/office/drawing/2014/main" val="49459121"/>
                  </a:ext>
                </a:extLst>
              </a:tr>
              <a:tr h="427908">
                <a:tc>
                  <a:txBody>
                    <a:bodyPr/>
                    <a:lstStyle/>
                    <a:p>
                      <a:r>
                        <a:rPr kumimoji="1" lang="ja-JP" altLang="en-US" b="1" dirty="0" err="1"/>
                        <a:t>ｄ</a:t>
                      </a:r>
                      <a:r>
                        <a:rPr kumimoji="1" lang="en-US" altLang="ja-JP" sz="1400" b="1" dirty="0"/>
                        <a:t>2</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1.128</a:t>
                      </a:r>
                      <a:endParaRPr kumimoji="1" lang="ja-JP" altLang="en-US" dirty="0"/>
                    </a:p>
                  </a:txBody>
                  <a:tcPr anchor="ctr" anchorCtr="1"/>
                </a:tc>
                <a:tc>
                  <a:txBody>
                    <a:bodyPr/>
                    <a:lstStyle/>
                    <a:p>
                      <a:pPr algn="r"/>
                      <a:r>
                        <a:rPr kumimoji="1" lang="en-US" altLang="ja-JP" dirty="0"/>
                        <a:t>1.693</a:t>
                      </a:r>
                      <a:endParaRPr kumimoji="1" lang="ja-JP" altLang="en-US" dirty="0"/>
                    </a:p>
                  </a:txBody>
                  <a:tcPr anchor="ctr" anchorCtr="1"/>
                </a:tc>
                <a:tc>
                  <a:txBody>
                    <a:bodyPr/>
                    <a:lstStyle/>
                    <a:p>
                      <a:pPr algn="r"/>
                      <a:r>
                        <a:rPr kumimoji="1" lang="en-US" altLang="ja-JP" dirty="0"/>
                        <a:t>2.059</a:t>
                      </a:r>
                      <a:endParaRPr kumimoji="1" lang="ja-JP" altLang="en-US" dirty="0"/>
                    </a:p>
                  </a:txBody>
                  <a:tcPr anchor="ctr" anchorCtr="1"/>
                </a:tc>
                <a:tc>
                  <a:txBody>
                    <a:bodyPr/>
                    <a:lstStyle/>
                    <a:p>
                      <a:pPr algn="r"/>
                      <a:r>
                        <a:rPr kumimoji="1" lang="en-US" altLang="ja-JP" dirty="0"/>
                        <a:t>2.326</a:t>
                      </a:r>
                      <a:endParaRPr kumimoji="1" lang="ja-JP" altLang="en-US" dirty="0"/>
                    </a:p>
                  </a:txBody>
                  <a:tcPr anchor="ctr" anchorCtr="1"/>
                </a:tc>
                <a:tc>
                  <a:txBody>
                    <a:bodyPr/>
                    <a:lstStyle/>
                    <a:p>
                      <a:pPr algn="r"/>
                      <a:r>
                        <a:rPr kumimoji="1" lang="en-US" altLang="ja-JP" dirty="0"/>
                        <a:t>2.534</a:t>
                      </a:r>
                      <a:endParaRPr kumimoji="1" lang="ja-JP" altLang="en-US" dirty="0"/>
                    </a:p>
                  </a:txBody>
                  <a:tcPr anchor="ctr" anchorCtr="1"/>
                </a:tc>
                <a:tc>
                  <a:txBody>
                    <a:bodyPr/>
                    <a:lstStyle/>
                    <a:p>
                      <a:pPr algn="r"/>
                      <a:r>
                        <a:rPr kumimoji="1" lang="en-US" altLang="ja-JP" dirty="0"/>
                        <a:t>2.704</a:t>
                      </a:r>
                      <a:endParaRPr kumimoji="1" lang="ja-JP" altLang="en-US" dirty="0"/>
                    </a:p>
                  </a:txBody>
                  <a:tcPr anchor="ctr" anchorCtr="1"/>
                </a:tc>
                <a:tc>
                  <a:txBody>
                    <a:bodyPr/>
                    <a:lstStyle/>
                    <a:p>
                      <a:pPr algn="r"/>
                      <a:r>
                        <a:rPr kumimoji="1" lang="en-US" altLang="ja-JP" dirty="0"/>
                        <a:t>2.847</a:t>
                      </a:r>
                      <a:endParaRPr kumimoji="1" lang="ja-JP" altLang="en-US" dirty="0"/>
                    </a:p>
                  </a:txBody>
                  <a:tcPr anchor="ctr" anchorCtr="1"/>
                </a:tc>
                <a:tc>
                  <a:txBody>
                    <a:bodyPr/>
                    <a:lstStyle/>
                    <a:p>
                      <a:pPr algn="r"/>
                      <a:r>
                        <a:rPr kumimoji="1" lang="en-US" altLang="ja-JP" dirty="0"/>
                        <a:t>2.970</a:t>
                      </a:r>
                      <a:endParaRPr kumimoji="1" lang="ja-JP" altLang="en-US" dirty="0"/>
                    </a:p>
                  </a:txBody>
                  <a:tcPr anchor="ctr" anchorCtr="1"/>
                </a:tc>
                <a:tc>
                  <a:txBody>
                    <a:bodyPr/>
                    <a:lstStyle/>
                    <a:p>
                      <a:pPr algn="r"/>
                      <a:r>
                        <a:rPr kumimoji="1" lang="en-US" altLang="ja-JP" dirty="0"/>
                        <a:t>3.078</a:t>
                      </a:r>
                      <a:endParaRPr kumimoji="1" lang="ja-JP" altLang="en-US" dirty="0"/>
                    </a:p>
                  </a:txBody>
                  <a:tcPr anchor="ctr" anchorCtr="1"/>
                </a:tc>
                <a:extLst>
                  <a:ext uri="{0D108BD9-81ED-4DB2-BD59-A6C34878D82A}">
                    <a16:rowId xmlns:a16="http://schemas.microsoft.com/office/drawing/2014/main" val="362289084"/>
                  </a:ext>
                </a:extLst>
              </a:tr>
              <a:tr h="427908">
                <a:tc>
                  <a:txBody>
                    <a:bodyPr/>
                    <a:lstStyle/>
                    <a:p>
                      <a:r>
                        <a:rPr kumimoji="1" lang="en-US" altLang="ja-JP" sz="1800" b="1" dirty="0"/>
                        <a:t>d</a:t>
                      </a:r>
                      <a:r>
                        <a:rPr kumimoji="1" lang="en-US" altLang="ja-JP" sz="1400" b="1" dirty="0"/>
                        <a:t>2※</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1.144</a:t>
                      </a:r>
                      <a:endParaRPr kumimoji="1" lang="ja-JP" altLang="en-US" dirty="0"/>
                    </a:p>
                  </a:txBody>
                  <a:tcPr anchor="ctr" anchorCtr="1"/>
                </a:tc>
                <a:tc>
                  <a:txBody>
                    <a:bodyPr/>
                    <a:lstStyle/>
                    <a:p>
                      <a:pPr algn="r"/>
                      <a:r>
                        <a:rPr kumimoji="1" lang="en-US" altLang="ja-JP" dirty="0"/>
                        <a:t>1.704</a:t>
                      </a:r>
                      <a:endParaRPr kumimoji="1" lang="ja-JP" altLang="en-US" dirty="0"/>
                    </a:p>
                  </a:txBody>
                  <a:tcPr anchor="ctr" anchorCtr="1"/>
                </a:tc>
                <a:tc>
                  <a:txBody>
                    <a:bodyPr/>
                    <a:lstStyle/>
                    <a:p>
                      <a:pPr algn="r"/>
                      <a:r>
                        <a:rPr kumimoji="1" lang="en-US" altLang="ja-JP" dirty="0"/>
                        <a:t>2.068</a:t>
                      </a:r>
                      <a:endParaRPr kumimoji="1" lang="ja-JP" altLang="en-US" dirty="0"/>
                    </a:p>
                  </a:txBody>
                  <a:tcPr anchor="ctr" anchorCtr="1"/>
                </a:tc>
                <a:tc>
                  <a:txBody>
                    <a:bodyPr/>
                    <a:lstStyle/>
                    <a:p>
                      <a:pPr algn="r"/>
                      <a:r>
                        <a:rPr kumimoji="1" lang="en-US" altLang="ja-JP" dirty="0"/>
                        <a:t>2.334</a:t>
                      </a:r>
                      <a:endParaRPr kumimoji="1" lang="ja-JP" altLang="en-US" dirty="0"/>
                    </a:p>
                  </a:txBody>
                  <a:tcPr anchor="ctr" anchorCtr="1"/>
                </a:tc>
                <a:tc>
                  <a:txBody>
                    <a:bodyPr/>
                    <a:lstStyle/>
                    <a:p>
                      <a:pPr algn="r"/>
                      <a:r>
                        <a:rPr kumimoji="1" lang="en-US" altLang="ja-JP" dirty="0"/>
                        <a:t>2.541</a:t>
                      </a:r>
                      <a:endParaRPr kumimoji="1" lang="ja-JP" altLang="en-US" dirty="0"/>
                    </a:p>
                  </a:txBody>
                  <a:tcPr anchor="ctr" anchorCtr="1"/>
                </a:tc>
                <a:tc>
                  <a:txBody>
                    <a:bodyPr/>
                    <a:lstStyle/>
                    <a:p>
                      <a:pPr algn="r"/>
                      <a:r>
                        <a:rPr kumimoji="1" lang="en-US" altLang="ja-JP" dirty="0"/>
                        <a:t>2.711</a:t>
                      </a:r>
                      <a:endParaRPr kumimoji="1" lang="ja-JP" altLang="en-US" dirty="0"/>
                    </a:p>
                  </a:txBody>
                  <a:tcPr anchor="ctr" anchorCtr="1"/>
                </a:tc>
                <a:tc>
                  <a:txBody>
                    <a:bodyPr/>
                    <a:lstStyle/>
                    <a:p>
                      <a:pPr algn="r"/>
                      <a:r>
                        <a:rPr kumimoji="1" lang="en-US" altLang="ja-JP" dirty="0"/>
                        <a:t>2.853</a:t>
                      </a:r>
                      <a:endParaRPr kumimoji="1" lang="ja-JP" altLang="en-US" dirty="0"/>
                    </a:p>
                  </a:txBody>
                  <a:tcPr anchor="ctr" anchorCtr="1"/>
                </a:tc>
                <a:tc>
                  <a:txBody>
                    <a:bodyPr/>
                    <a:lstStyle/>
                    <a:p>
                      <a:pPr algn="r"/>
                      <a:r>
                        <a:rPr kumimoji="1" lang="en-US" altLang="ja-JP" dirty="0"/>
                        <a:t>2.976</a:t>
                      </a:r>
                      <a:endParaRPr kumimoji="1" lang="ja-JP" altLang="en-US" dirty="0"/>
                    </a:p>
                  </a:txBody>
                  <a:tcPr anchor="ctr" anchorCtr="1"/>
                </a:tc>
                <a:tc>
                  <a:txBody>
                    <a:bodyPr/>
                    <a:lstStyle/>
                    <a:p>
                      <a:pPr algn="r"/>
                      <a:r>
                        <a:rPr kumimoji="1" lang="en-US" altLang="ja-JP" dirty="0"/>
                        <a:t>3.083</a:t>
                      </a:r>
                      <a:endParaRPr kumimoji="1" lang="ja-JP" altLang="en-US" dirty="0"/>
                    </a:p>
                  </a:txBody>
                  <a:tcPr anchor="ctr" anchorCtr="1"/>
                </a:tc>
                <a:extLst>
                  <a:ext uri="{0D108BD9-81ED-4DB2-BD59-A6C34878D82A}">
                    <a16:rowId xmlns:a16="http://schemas.microsoft.com/office/drawing/2014/main" val="2305873711"/>
                  </a:ext>
                </a:extLst>
              </a:tr>
              <a:tr h="427908">
                <a:tc>
                  <a:txBody>
                    <a:bodyPr/>
                    <a:lstStyle/>
                    <a:p>
                      <a:r>
                        <a:rPr kumimoji="1" lang="en-US" altLang="ja-JP" sz="1800" b="1" dirty="0"/>
                        <a:t>K</a:t>
                      </a:r>
                      <a:r>
                        <a:rPr kumimoji="1" lang="en-US" altLang="ja-JP" sz="1400" b="1" dirty="0"/>
                        <a:t>1</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0.886</a:t>
                      </a:r>
                      <a:endParaRPr kumimoji="1" lang="ja-JP" altLang="en-US" dirty="0"/>
                    </a:p>
                  </a:txBody>
                  <a:tcPr anchor="ctr" anchorCtr="1"/>
                </a:tc>
                <a:tc>
                  <a:txBody>
                    <a:bodyPr/>
                    <a:lstStyle/>
                    <a:p>
                      <a:pPr algn="r"/>
                      <a:r>
                        <a:rPr kumimoji="1" lang="en-US" altLang="ja-JP" dirty="0"/>
                        <a:t>0.591</a:t>
                      </a:r>
                      <a:endParaRPr kumimoji="1" lang="ja-JP" altLang="en-US" dirty="0"/>
                    </a:p>
                  </a:txBody>
                  <a:tcPr anchor="ctr" anchorCtr="1"/>
                </a:tc>
                <a:tc>
                  <a:txBody>
                    <a:bodyPr/>
                    <a:lstStyle/>
                    <a:p>
                      <a:pPr algn="r"/>
                      <a:r>
                        <a:rPr kumimoji="1" lang="en-US" altLang="ja-JP" dirty="0"/>
                        <a:t>0.486</a:t>
                      </a:r>
                      <a:endParaRPr kumimoji="1" lang="ja-JP" altLang="en-US" dirty="0"/>
                    </a:p>
                  </a:txBody>
                  <a:tcPr anchor="ctr" anchorCtr="1"/>
                </a:tc>
                <a:tc>
                  <a:txBody>
                    <a:bodyPr/>
                    <a:lstStyle/>
                    <a:p>
                      <a:pPr algn="r"/>
                      <a:r>
                        <a:rPr kumimoji="1" lang="en-US" altLang="ja-JP" dirty="0"/>
                        <a:t>0.430</a:t>
                      </a:r>
                      <a:endParaRPr kumimoji="1" lang="ja-JP" altLang="en-US" dirty="0"/>
                    </a:p>
                  </a:txBody>
                  <a:tcPr anchor="ctr" anchorCtr="1"/>
                </a:tc>
                <a:tc>
                  <a:txBody>
                    <a:bodyPr/>
                    <a:lstStyle/>
                    <a:p>
                      <a:pPr algn="r"/>
                      <a:r>
                        <a:rPr kumimoji="1" lang="en-US" altLang="ja-JP" dirty="0"/>
                        <a:t>0.395</a:t>
                      </a:r>
                      <a:endParaRPr kumimoji="1" lang="ja-JP" altLang="en-US" dirty="0"/>
                    </a:p>
                  </a:txBody>
                  <a:tcPr anchor="ctr" anchorCtr="1"/>
                </a:tc>
                <a:tc>
                  <a:txBody>
                    <a:bodyPr/>
                    <a:lstStyle/>
                    <a:p>
                      <a:pPr algn="r"/>
                      <a:r>
                        <a:rPr kumimoji="1" lang="en-US" altLang="ja-JP" dirty="0"/>
                        <a:t>0.370</a:t>
                      </a:r>
                      <a:endParaRPr kumimoji="1" lang="ja-JP" altLang="en-US" dirty="0"/>
                    </a:p>
                  </a:txBody>
                  <a:tcPr anchor="ctr" anchorCtr="1"/>
                </a:tc>
                <a:tc>
                  <a:txBody>
                    <a:bodyPr/>
                    <a:lstStyle/>
                    <a:p>
                      <a:pPr algn="r"/>
                      <a:r>
                        <a:rPr kumimoji="1" lang="en-US" altLang="ja-JP" dirty="0"/>
                        <a:t>0.351</a:t>
                      </a:r>
                      <a:endParaRPr kumimoji="1" lang="ja-JP" altLang="en-US" dirty="0"/>
                    </a:p>
                  </a:txBody>
                  <a:tcPr anchor="ctr" anchorCtr="1"/>
                </a:tc>
                <a:tc>
                  <a:txBody>
                    <a:bodyPr/>
                    <a:lstStyle/>
                    <a:p>
                      <a:pPr algn="r"/>
                      <a:r>
                        <a:rPr kumimoji="1" lang="en-US" altLang="ja-JP" dirty="0"/>
                        <a:t>0.337</a:t>
                      </a:r>
                      <a:endParaRPr kumimoji="1" lang="ja-JP" altLang="en-US" dirty="0"/>
                    </a:p>
                  </a:txBody>
                  <a:tcPr anchor="ctr" anchorCtr="1"/>
                </a:tc>
                <a:tc>
                  <a:txBody>
                    <a:bodyPr/>
                    <a:lstStyle/>
                    <a:p>
                      <a:pPr algn="r"/>
                      <a:r>
                        <a:rPr kumimoji="1" lang="en-US" altLang="ja-JP" dirty="0"/>
                        <a:t>0.325</a:t>
                      </a:r>
                      <a:endParaRPr kumimoji="1" lang="ja-JP" altLang="en-US" dirty="0"/>
                    </a:p>
                  </a:txBody>
                  <a:tcPr anchor="ctr" anchorCtr="1"/>
                </a:tc>
                <a:extLst>
                  <a:ext uri="{0D108BD9-81ED-4DB2-BD59-A6C34878D82A}">
                    <a16:rowId xmlns:a16="http://schemas.microsoft.com/office/drawing/2014/main" val="652195166"/>
                  </a:ext>
                </a:extLst>
              </a:tr>
              <a:tr h="427908">
                <a:tc>
                  <a:txBody>
                    <a:bodyPr/>
                    <a:lstStyle/>
                    <a:p>
                      <a:r>
                        <a:rPr kumimoji="1" lang="ja-JP" altLang="en-US" sz="1800" b="1" dirty="0"/>
                        <a:t>Ｋ</a:t>
                      </a:r>
                      <a:r>
                        <a:rPr kumimoji="1" lang="en-US" altLang="ja-JP" sz="1400" b="1" dirty="0"/>
                        <a:t>2</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0.707</a:t>
                      </a:r>
                      <a:endParaRPr kumimoji="1" lang="ja-JP" altLang="en-US" dirty="0"/>
                    </a:p>
                  </a:txBody>
                  <a:tcPr anchor="ctr" anchorCtr="1"/>
                </a:tc>
                <a:tc>
                  <a:txBody>
                    <a:bodyPr/>
                    <a:lstStyle/>
                    <a:p>
                      <a:pPr algn="r"/>
                      <a:r>
                        <a:rPr kumimoji="1" lang="en-US" altLang="ja-JP" dirty="0"/>
                        <a:t>0.523</a:t>
                      </a:r>
                      <a:endParaRPr kumimoji="1" lang="ja-JP" altLang="en-US" dirty="0"/>
                    </a:p>
                  </a:txBody>
                  <a:tcPr anchor="ctr" anchorCtr="1"/>
                </a:tc>
                <a:tc>
                  <a:txBody>
                    <a:bodyPr/>
                    <a:lstStyle/>
                    <a:p>
                      <a:pPr algn="r"/>
                      <a:r>
                        <a:rPr kumimoji="1" lang="en-US" altLang="ja-JP" dirty="0"/>
                        <a:t>0.447</a:t>
                      </a:r>
                      <a:endParaRPr kumimoji="1" lang="ja-JP" altLang="en-US" dirty="0"/>
                    </a:p>
                  </a:txBody>
                  <a:tcPr anchor="ctr" anchorCtr="1"/>
                </a:tc>
                <a:tc>
                  <a:txBody>
                    <a:bodyPr/>
                    <a:lstStyle/>
                    <a:p>
                      <a:pPr algn="r"/>
                      <a:r>
                        <a:rPr kumimoji="1" lang="en-US" altLang="ja-JP" dirty="0"/>
                        <a:t>0.403</a:t>
                      </a:r>
                      <a:endParaRPr kumimoji="1" lang="ja-JP" altLang="en-US" dirty="0"/>
                    </a:p>
                  </a:txBody>
                  <a:tcPr anchor="ctr" anchorCtr="1"/>
                </a:tc>
                <a:tc>
                  <a:txBody>
                    <a:bodyPr/>
                    <a:lstStyle/>
                    <a:p>
                      <a:pPr algn="r"/>
                      <a:r>
                        <a:rPr kumimoji="1" lang="en-US" altLang="ja-JP" dirty="0"/>
                        <a:t>0.374</a:t>
                      </a:r>
                      <a:endParaRPr kumimoji="1" lang="ja-JP" altLang="en-US" dirty="0"/>
                    </a:p>
                  </a:txBody>
                  <a:tcPr anchor="ctr" anchorCtr="1"/>
                </a:tc>
                <a:tc>
                  <a:txBody>
                    <a:bodyPr/>
                    <a:lstStyle/>
                    <a:p>
                      <a:pPr algn="r"/>
                      <a:r>
                        <a:rPr kumimoji="1" lang="en-US" altLang="ja-JP" dirty="0"/>
                        <a:t>0.353</a:t>
                      </a:r>
                      <a:endParaRPr kumimoji="1" lang="ja-JP" altLang="en-US" dirty="0"/>
                    </a:p>
                  </a:txBody>
                  <a:tcPr anchor="ctr" anchorCtr="1"/>
                </a:tc>
                <a:tc>
                  <a:txBody>
                    <a:bodyPr/>
                    <a:lstStyle/>
                    <a:p>
                      <a:pPr algn="r"/>
                      <a:r>
                        <a:rPr kumimoji="1" lang="en-US" altLang="ja-JP" dirty="0"/>
                        <a:t>0.338</a:t>
                      </a:r>
                      <a:endParaRPr kumimoji="1" lang="ja-JP" altLang="en-US" dirty="0"/>
                    </a:p>
                  </a:txBody>
                  <a:tcPr anchor="ctr" anchorCtr="1"/>
                </a:tc>
                <a:tc>
                  <a:txBody>
                    <a:bodyPr/>
                    <a:lstStyle/>
                    <a:p>
                      <a:pPr algn="r"/>
                      <a:r>
                        <a:rPr kumimoji="1" lang="en-US" altLang="ja-JP" dirty="0"/>
                        <a:t>0.325</a:t>
                      </a:r>
                      <a:endParaRPr kumimoji="1" lang="ja-JP" altLang="en-US" dirty="0"/>
                    </a:p>
                  </a:txBody>
                  <a:tcPr anchor="ctr" anchorCtr="1"/>
                </a:tc>
                <a:tc>
                  <a:txBody>
                    <a:bodyPr/>
                    <a:lstStyle/>
                    <a:p>
                      <a:pPr algn="r"/>
                      <a:r>
                        <a:rPr kumimoji="1" lang="en-US" altLang="ja-JP" dirty="0"/>
                        <a:t>0.315</a:t>
                      </a:r>
                      <a:endParaRPr kumimoji="1" lang="ja-JP" altLang="en-US" dirty="0"/>
                    </a:p>
                  </a:txBody>
                  <a:tcPr anchor="ctr" anchorCtr="1"/>
                </a:tc>
                <a:extLst>
                  <a:ext uri="{0D108BD9-81ED-4DB2-BD59-A6C34878D82A}">
                    <a16:rowId xmlns:a16="http://schemas.microsoft.com/office/drawing/2014/main" val="102981597"/>
                  </a:ext>
                </a:extLst>
              </a:tr>
              <a:tr h="427908">
                <a:tc>
                  <a:txBody>
                    <a:bodyPr/>
                    <a:lstStyle/>
                    <a:p>
                      <a:r>
                        <a:rPr kumimoji="1" lang="ja-JP" altLang="en-US" sz="1800" b="1" dirty="0"/>
                        <a:t>Ｋ</a:t>
                      </a:r>
                      <a:r>
                        <a:rPr kumimoji="1" lang="en-US" altLang="ja-JP" sz="1400" b="1" dirty="0"/>
                        <a:t>3</a:t>
                      </a:r>
                      <a:endParaRPr kumimoji="1" lang="ja-JP" altLang="en-US" sz="1400" b="1" dirty="0"/>
                    </a:p>
                  </a:txBody>
                  <a:tcPr anchor="ctr" anchorCtr="1">
                    <a:solidFill>
                      <a:schemeClr val="tx2">
                        <a:lumMod val="20000"/>
                        <a:lumOff val="80000"/>
                      </a:schemeClr>
                    </a:solidFill>
                  </a:tcPr>
                </a:tc>
                <a:tc>
                  <a:txBody>
                    <a:bodyPr/>
                    <a:lstStyle/>
                    <a:p>
                      <a:pPr algn="r"/>
                      <a:r>
                        <a:rPr kumimoji="1" lang="en-US" altLang="ja-JP" dirty="0"/>
                        <a:t>0.707</a:t>
                      </a:r>
                      <a:endParaRPr kumimoji="1" lang="ja-JP" altLang="en-US" dirty="0"/>
                    </a:p>
                  </a:txBody>
                  <a:tcPr anchor="ctr" anchorCtr="1"/>
                </a:tc>
                <a:tc>
                  <a:txBody>
                    <a:bodyPr/>
                    <a:lstStyle/>
                    <a:p>
                      <a:pPr algn="r"/>
                      <a:r>
                        <a:rPr kumimoji="1" lang="en-US" altLang="ja-JP" dirty="0"/>
                        <a:t>0.523</a:t>
                      </a:r>
                      <a:endParaRPr kumimoji="1" lang="ja-JP" altLang="en-US" dirty="0"/>
                    </a:p>
                  </a:txBody>
                  <a:tcPr anchor="ctr" anchorCtr="1"/>
                </a:tc>
                <a:tc>
                  <a:txBody>
                    <a:bodyPr/>
                    <a:lstStyle/>
                    <a:p>
                      <a:pPr algn="r"/>
                      <a:r>
                        <a:rPr kumimoji="1" lang="en-US" altLang="ja-JP" dirty="0"/>
                        <a:t>0.447</a:t>
                      </a:r>
                      <a:endParaRPr kumimoji="1" lang="ja-JP" altLang="en-US" dirty="0"/>
                    </a:p>
                  </a:txBody>
                  <a:tcPr anchor="ctr" anchorCtr="1"/>
                </a:tc>
                <a:tc>
                  <a:txBody>
                    <a:bodyPr/>
                    <a:lstStyle/>
                    <a:p>
                      <a:pPr algn="r"/>
                      <a:r>
                        <a:rPr kumimoji="1" lang="en-US" altLang="ja-JP" dirty="0"/>
                        <a:t>0.403</a:t>
                      </a:r>
                      <a:endParaRPr kumimoji="1" lang="ja-JP" altLang="en-US" dirty="0"/>
                    </a:p>
                  </a:txBody>
                  <a:tcPr anchor="ctr" anchorCtr="1"/>
                </a:tc>
                <a:tc>
                  <a:txBody>
                    <a:bodyPr/>
                    <a:lstStyle/>
                    <a:p>
                      <a:pPr algn="r"/>
                      <a:r>
                        <a:rPr kumimoji="1" lang="en-US" altLang="ja-JP" dirty="0"/>
                        <a:t>0.374</a:t>
                      </a:r>
                      <a:endParaRPr kumimoji="1" lang="ja-JP" altLang="en-US" dirty="0"/>
                    </a:p>
                  </a:txBody>
                  <a:tcPr anchor="ctr" anchorCtr="1"/>
                </a:tc>
                <a:tc>
                  <a:txBody>
                    <a:bodyPr/>
                    <a:lstStyle/>
                    <a:p>
                      <a:pPr algn="r"/>
                      <a:r>
                        <a:rPr kumimoji="1" lang="en-US" altLang="ja-JP" dirty="0"/>
                        <a:t>0.353</a:t>
                      </a:r>
                      <a:endParaRPr kumimoji="1" lang="ja-JP" altLang="en-US" dirty="0"/>
                    </a:p>
                  </a:txBody>
                  <a:tcPr anchor="ctr" anchorCtr="1"/>
                </a:tc>
                <a:tc>
                  <a:txBody>
                    <a:bodyPr/>
                    <a:lstStyle/>
                    <a:p>
                      <a:pPr algn="r"/>
                      <a:r>
                        <a:rPr kumimoji="1" lang="en-US" altLang="ja-JP" dirty="0"/>
                        <a:t>0.338</a:t>
                      </a:r>
                      <a:endParaRPr kumimoji="1" lang="ja-JP" altLang="en-US" dirty="0"/>
                    </a:p>
                  </a:txBody>
                  <a:tcPr anchor="ctr" anchorCtr="1"/>
                </a:tc>
                <a:tc>
                  <a:txBody>
                    <a:bodyPr/>
                    <a:lstStyle/>
                    <a:p>
                      <a:pPr algn="r"/>
                      <a:r>
                        <a:rPr kumimoji="1" lang="en-US" altLang="ja-JP" dirty="0"/>
                        <a:t>0.325</a:t>
                      </a:r>
                      <a:endParaRPr kumimoji="1" lang="ja-JP" altLang="en-US" dirty="0"/>
                    </a:p>
                  </a:txBody>
                  <a:tcPr anchor="ctr" anchorCtr="1"/>
                </a:tc>
                <a:tc>
                  <a:txBody>
                    <a:bodyPr/>
                    <a:lstStyle/>
                    <a:p>
                      <a:pPr algn="r"/>
                      <a:r>
                        <a:rPr kumimoji="1" lang="en-US" altLang="ja-JP" dirty="0"/>
                        <a:t>0.315</a:t>
                      </a:r>
                      <a:endParaRPr kumimoji="1" lang="ja-JP" altLang="en-US" dirty="0"/>
                    </a:p>
                  </a:txBody>
                  <a:tcPr anchor="ctr" anchorCtr="1"/>
                </a:tc>
                <a:extLst>
                  <a:ext uri="{0D108BD9-81ED-4DB2-BD59-A6C34878D82A}">
                    <a16:rowId xmlns:a16="http://schemas.microsoft.com/office/drawing/2014/main" val="2173167368"/>
                  </a:ext>
                </a:extLst>
              </a:tr>
            </a:tbl>
          </a:graphicData>
        </a:graphic>
      </p:graphicFrame>
    </p:spTree>
    <p:extLst>
      <p:ext uri="{BB962C8B-B14F-4D97-AF65-F5344CB8AC3E}">
        <p14:creationId xmlns:p14="http://schemas.microsoft.com/office/powerpoint/2010/main" val="347496631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29217</TotalTime>
  <Words>73755</Words>
  <Application>Microsoft Office PowerPoint</Application>
  <PresentationFormat>ワイド画面</PresentationFormat>
  <Paragraphs>9768</Paragraphs>
  <Slides>571</Slides>
  <Notes>35</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571</vt:i4>
      </vt:variant>
    </vt:vector>
  </HeadingPairs>
  <TitlesOfParts>
    <vt:vector size="577" baseType="lpstr">
      <vt:lpstr>新細明體</vt:lpstr>
      <vt:lpstr>游ゴシック</vt:lpstr>
      <vt:lpstr>游ゴシック Light</vt:lpstr>
      <vt:lpstr>Arial</vt:lpstr>
      <vt:lpstr>Wingdings</vt:lpstr>
      <vt:lpstr>Office テーマ</vt:lpstr>
      <vt:lpstr>IATF規格要求事項　　　　(コアツール含む）解説</vt:lpstr>
      <vt:lpstr>この資料の構成</vt:lpstr>
      <vt:lpstr>第１章の構成</vt:lpstr>
      <vt:lpstr>１．自動車産業を取り巻く環境 　1.1　近年の動き</vt:lpstr>
      <vt:lpstr>１．自動車産業を取り巻く環境 　1.2　リコール</vt:lpstr>
      <vt:lpstr>１．自動車産業を取り巻く環境 　1.2　リコール</vt:lpstr>
      <vt:lpstr>１．自動車産業を取り巻く環境 　1.2　リコール</vt:lpstr>
      <vt:lpstr>１．自動車産業を取り巻く環境 　1.2　リコール</vt:lpstr>
      <vt:lpstr>１．自動車産業を取り巻く環境 　1.2　リコール</vt:lpstr>
      <vt:lpstr>１．自動車産業を取り巻く環境 　1.2　リコール</vt:lpstr>
      <vt:lpstr>１．自動車産業を取り巻く環境 　1.3　自動車産業の特徴</vt:lpstr>
      <vt:lpstr>１．自動車産業を取り巻く環境 　1.3　自動車産業の特徴</vt:lpstr>
      <vt:lpstr>１．自動車産業を取り巻く環境 　1.3　自動車産業の特徴</vt:lpstr>
      <vt:lpstr>１．自動車産業を取り巻く環境 　1.3　自動車産業の特徴</vt:lpstr>
      <vt:lpstr>第１章の構成</vt:lpstr>
      <vt:lpstr>２．ＩＡＴＦ１６９４９とは 　2.1　ＩＡＴＦとは</vt:lpstr>
      <vt:lpstr>２．ＩＡＴＦ１６９４９とは 　2.1　ＩＡＴＦとは</vt:lpstr>
      <vt:lpstr>２．ＩＡＴＦ１６９４９とは 　2.2　ＩＡＴＦ１６９４９経緯</vt:lpstr>
      <vt:lpstr>２．ＩＡＴＦ１６９４９とは 　2.2　ＩＡＴＦ１６９４９経緯</vt:lpstr>
      <vt:lpstr>２．ＩＡＴＦ１６９４９とは 　2.3　ISO/TS16949認証件数</vt:lpstr>
      <vt:lpstr>第１章の構成</vt:lpstr>
      <vt:lpstr>３．要求事項の概要 　3.1　要求事項の構成</vt:lpstr>
      <vt:lpstr>３．要求事項の概要 　3.2　コアツール</vt:lpstr>
      <vt:lpstr>３．要求事項の概要 　3.3　文書化の展開</vt:lpstr>
      <vt:lpstr>３．要求事項の概要 　3.4　要求事項の特徴</vt:lpstr>
      <vt:lpstr>３．要求事項の概要 　3.4　要求事項の特徴</vt:lpstr>
      <vt:lpstr>３．要求事項の概要 　3.4　要求事項の特徴</vt:lpstr>
      <vt:lpstr>３．要求事項の概要 　3.4　要求事項の特徴</vt:lpstr>
      <vt:lpstr>３．要求事項の概要 　3.5　ＩＡＴＦ１６９４９の到達目標</vt:lpstr>
      <vt:lpstr>３．要求事項の概要 　3.6　適用する範囲</vt:lpstr>
      <vt:lpstr>３．要求事項の概要 　3.6　適用する範囲</vt:lpstr>
      <vt:lpstr>３．要求事項の概要 　3.7　ＩＡＴＦ１６９４９適用企業の効果</vt:lpstr>
      <vt:lpstr>３．要求事項の概要 　3.8　要求事項情報</vt:lpstr>
      <vt:lpstr>３．要求事項の概要 　3.8　要求事項情報</vt:lpstr>
      <vt:lpstr>３．要求事項の概要 　3.8　要求事項情報</vt:lpstr>
      <vt:lpstr>PowerPoint プレゼンテーション</vt:lpstr>
      <vt:lpstr>この資料の構成</vt:lpstr>
      <vt:lpstr>この章の箇条表記方法</vt:lpstr>
      <vt:lpstr>箇条数とshall（要求事項）数</vt:lpstr>
      <vt:lpstr>PowerPoint プレゼンテーション</vt:lpstr>
      <vt:lpstr>０．序文</vt:lpstr>
      <vt:lpstr>0.1　一般</vt:lpstr>
      <vt:lpstr>0.2　品質マネジメントシステムの原則</vt:lpstr>
      <vt:lpstr>0.3　プロセスアプローチ</vt:lpstr>
      <vt:lpstr>0.3　プロセスアプローチ</vt:lpstr>
      <vt:lpstr>0.4　他のマネジメントシステム規格との関係</vt:lpstr>
      <vt:lpstr>PowerPoint プレゼンテーション</vt:lpstr>
      <vt:lpstr>１．適用範囲</vt:lpstr>
      <vt:lpstr>1.1　適用範囲－ISO9001:2015に対する自動車産業補足</vt:lpstr>
      <vt:lpstr>1.1　適用範囲－ISO9001:2015に対する自動車産業補足</vt:lpstr>
      <vt:lpstr>PowerPoint プレゼンテーション</vt:lpstr>
      <vt:lpstr>２．引用規格</vt:lpstr>
      <vt:lpstr>2.1　規定及び参考の引用</vt:lpstr>
      <vt:lpstr>2.1　規定及び参考の引用</vt:lpstr>
      <vt:lpstr>PowerPoint プレゼンテーション</vt:lpstr>
      <vt:lpstr>３．用語及び定義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3.1　自動車産業の用語及び定義</vt:lpstr>
      <vt:lpstr>PowerPoint プレゼンテーション</vt:lpstr>
      <vt:lpstr>４．組織の状況</vt:lpstr>
      <vt:lpstr>4.3.1　品質マネジメントシステムの適用範囲の決定－補足</vt:lpstr>
      <vt:lpstr>4.3.1　品質マネジメントシステムの適用範囲の決定－補足</vt:lpstr>
      <vt:lpstr>4.3.1　品質マネジメントシステムの適用範囲の決定－補足</vt:lpstr>
      <vt:lpstr>4.3.2　顧客固有要求事項</vt:lpstr>
      <vt:lpstr>4.3.2　顧客固有要求事項</vt:lpstr>
      <vt:lpstr>プロセスアプローチ</vt:lpstr>
      <vt:lpstr>プロセスアプローチ（ＱＭＳとプロセス）</vt:lpstr>
      <vt:lpstr>プロセスアプローチ（プロセスの大きさ・部門）</vt:lpstr>
      <vt:lpstr>プロセスアプローチ（プロセスの大きさ・部門）</vt:lpstr>
      <vt:lpstr>プロセスアプローチ（プロセスの大きさ・部門）</vt:lpstr>
      <vt:lpstr>プロセスアプローチ（規格要求事項）</vt:lpstr>
      <vt:lpstr>タートル図の解説（全体）</vt:lpstr>
      <vt:lpstr>タートル図の解説（プロセス）</vt:lpstr>
      <vt:lpstr>タートル図の解説（インプット）</vt:lpstr>
      <vt:lpstr>タートル図の解説（アウトプット）</vt:lpstr>
      <vt:lpstr>タートル図の解説（物的資源）</vt:lpstr>
      <vt:lpstr>タートル図の解説（人的資源）</vt:lpstr>
      <vt:lpstr>タートル図の解説（運用方法）</vt:lpstr>
      <vt:lpstr>タートル図の解説（評価指標）</vt:lpstr>
      <vt:lpstr>タートル図の解説（指標管理のトライアングル）</vt:lpstr>
      <vt:lpstr>4.4.1.1　製品及びプロセスの適合</vt:lpstr>
      <vt:lpstr>4.4.1.2　製品安全</vt:lpstr>
      <vt:lpstr>4.4.1.2　製品安全</vt:lpstr>
      <vt:lpstr>4.4.1.2　製品安全</vt:lpstr>
      <vt:lpstr>4.4.1.2　製品安全</vt:lpstr>
      <vt:lpstr>PowerPoint プレゼンテーション</vt:lpstr>
      <vt:lpstr>５．リーダーシップ</vt:lpstr>
      <vt:lpstr>5.1.1.1　企業責任</vt:lpstr>
      <vt:lpstr>5.1.1.2　プロセスの有効性及び効率</vt:lpstr>
      <vt:lpstr>5.1.1.2　プロセスの有効性及び効率</vt:lpstr>
      <vt:lpstr>5.1.1.2　プロセスの有効性及び効率</vt:lpstr>
      <vt:lpstr>5.1.1.3　プロセスオーナー</vt:lpstr>
      <vt:lpstr>顧客重視の解説（顧客とは）</vt:lpstr>
      <vt:lpstr>5.3.1　組織の役割、責任及び権限－補足</vt:lpstr>
      <vt:lpstr>5.3.2　製品要求事項及び是正処置に対する責任及び権限</vt:lpstr>
      <vt:lpstr>5.3.2　製品要求事項及び是正処置に対する責任及び権限</vt:lpstr>
      <vt:lpstr>PowerPoint プレゼンテーション</vt:lpstr>
      <vt:lpstr>６．計画</vt:lpstr>
      <vt:lpstr>6.1　リスク及び機会への取組み</vt:lpstr>
      <vt:lpstr>6.1　リスク及び機会への取組み</vt:lpstr>
      <vt:lpstr>6.1　リスク及び機会への取組み</vt:lpstr>
      <vt:lpstr>6.1.2.1　リスク分析</vt:lpstr>
      <vt:lpstr>6.1.2.1　リスク分析</vt:lpstr>
      <vt:lpstr>6.1.2.2　予防処置</vt:lpstr>
      <vt:lpstr>6.1.2.2　予防処置</vt:lpstr>
      <vt:lpstr>6.1.2.3　緊急事態対応計画</vt:lpstr>
      <vt:lpstr>6.1.2.3　緊急事態対応計画</vt:lpstr>
      <vt:lpstr>6.1.2.3　緊急事態対応計画</vt:lpstr>
      <vt:lpstr>6.1.2.3　緊急事態対応計画</vt:lpstr>
      <vt:lpstr>6.1.2.3　緊急事態対応計画</vt:lpstr>
      <vt:lpstr>6.2.1　品質目標の策定　（岩波氏）</vt:lpstr>
      <vt:lpstr>6.2.2　品質目標達成計画の策定　（岩波氏）</vt:lpstr>
      <vt:lpstr>6.2.2.1　品質目標及びそれを達成するための計画策定－補足</vt:lpstr>
      <vt:lpstr>6.2.2.1　品質目標及びそれを達成するための計画策定－補足</vt:lpstr>
      <vt:lpstr>PowerPoint プレゼンテーション</vt:lpstr>
      <vt:lpstr>７．支援</vt:lpstr>
      <vt:lpstr>インフラストラクチャの解説</vt:lpstr>
      <vt:lpstr>7.1.3.1　工場、施設及び設備の計画</vt:lpstr>
      <vt:lpstr>7.1.3.1　工場、施設及び設備の計画</vt:lpstr>
      <vt:lpstr>7.1.3.1　工場、施設及び設備の計画</vt:lpstr>
      <vt:lpstr>7.1.3.1　工場、施設及び設備の計画</vt:lpstr>
      <vt:lpstr>7.1.3.1　工場、施設及び設備の計画</vt:lpstr>
      <vt:lpstr>7.1.4　プロセスの運用に関する環境　（岩波氏）</vt:lpstr>
      <vt:lpstr>7.1.4　（注記）</vt:lpstr>
      <vt:lpstr>7.1.4.1　プロセスの運用に関する環境－補足</vt:lpstr>
      <vt:lpstr>7.1.5.1.1　測定システム解析</vt:lpstr>
      <vt:lpstr>7.1.5.1.1　測定システム解析</vt:lpstr>
      <vt:lpstr>7.1.5.1.1　測定システム解析</vt:lpstr>
      <vt:lpstr>7.1.5.1.1　測定システム解析</vt:lpstr>
      <vt:lpstr>7.1.5.1.1　測定システム解析</vt:lpstr>
      <vt:lpstr>7.1.5.2　（注記）</vt:lpstr>
      <vt:lpstr>7.1.5.2.1　校正／検証の記録</vt:lpstr>
      <vt:lpstr>7.1.5.2.1　校正／検証の記録</vt:lpstr>
      <vt:lpstr>7.1.5.2.1　校正／検証の記録</vt:lpstr>
      <vt:lpstr>7.1.5.3.1　内部試験所</vt:lpstr>
      <vt:lpstr>7.1.5.3.1　内部試験所</vt:lpstr>
      <vt:lpstr>7.1.5.3.1　内部試験所</vt:lpstr>
      <vt:lpstr>7.1.5.3.1　内部試験所</vt:lpstr>
      <vt:lpstr>7.1.5.3.2　外部試験所</vt:lpstr>
      <vt:lpstr>7.1.5.3.2　外部試験所</vt:lpstr>
      <vt:lpstr>7.1.5.3.2　外部試験所</vt:lpstr>
      <vt:lpstr>7.2.1　力量－補足</vt:lpstr>
      <vt:lpstr>7.2.2　力量－業務を通じた教育訓練（OJT）</vt:lpstr>
      <vt:lpstr>7.2.2　力量－業務を通じた教育訓練（OJT）</vt:lpstr>
      <vt:lpstr>7.2.3　内部監査員の力量</vt:lpstr>
      <vt:lpstr>7.2.3　内部監査員の力量</vt:lpstr>
      <vt:lpstr>7.2.3　内部監査員の力量</vt:lpstr>
      <vt:lpstr>7.2.3　内部監査員の力量</vt:lpstr>
      <vt:lpstr>7.2.4　第二者監査員の力量</vt:lpstr>
      <vt:lpstr>7.2.4　第二者監査員の力量</vt:lpstr>
      <vt:lpstr>7.3.1　認識－補足</vt:lpstr>
      <vt:lpstr>7.3.2　従業員の動機付け及びエンパワーメント</vt:lpstr>
      <vt:lpstr>7.3.2　従業員の動機付け及びエンパワーメント</vt:lpstr>
      <vt:lpstr>7.3.2　従業員の動機付け及びエンパワーメント</vt:lpstr>
      <vt:lpstr>7.4　コミュニケーション（岩波氏）</vt:lpstr>
      <vt:lpstr>7.4　コミュニケーション（岩波氏）</vt:lpstr>
      <vt:lpstr>7.5.1　文書化した情報（岩波氏）</vt:lpstr>
      <vt:lpstr>7.5.1.1　品質マネジメントシステムの文書類</vt:lpstr>
      <vt:lpstr>7.5.1.1　品質マネジメントシステムの文書類</vt:lpstr>
      <vt:lpstr>7.5.1.1　品質マネジメントシステムの文書類</vt:lpstr>
      <vt:lpstr>7.5.2　作業および更新　（岩波氏）</vt:lpstr>
      <vt:lpstr>7.5.3　文書化した情報の管理　（岩波氏）</vt:lpstr>
      <vt:lpstr>7.5.3.2.1　記録の保管</vt:lpstr>
      <vt:lpstr>7.5.3.2.1　記録の保管</vt:lpstr>
      <vt:lpstr>7.5.3.2.2　技術仕様書</vt:lpstr>
      <vt:lpstr>7.5.3.2.2　技術仕様書</vt:lpstr>
      <vt:lpstr>PowerPoint プレゼンテーション</vt:lpstr>
      <vt:lpstr>８．運用</vt:lpstr>
      <vt:lpstr>8.1　運用の計画及び管理 8.2　製品及びサービスに関する要求事項</vt:lpstr>
      <vt:lpstr>8.1.1　運用の計画及び管理－補足</vt:lpstr>
      <vt:lpstr>8.1.2　機密保持</vt:lpstr>
      <vt:lpstr>8.2.1.1　顧客とのコミュニケーション－補足</vt:lpstr>
      <vt:lpstr>8.2.2.1　製品及びサービスに関する要求事項の明確化－補足</vt:lpstr>
      <vt:lpstr>8.2.3.1.1　製品及びサービスに関する要求事項のレビュー－補足</vt:lpstr>
      <vt:lpstr>8.2.3.1.2　顧客指定の特殊特性</vt:lpstr>
      <vt:lpstr>8.2.3.1.2　顧客指定の特殊特性</vt:lpstr>
      <vt:lpstr>8.2.3.1.3　組織の製造フィージビリティ</vt:lpstr>
      <vt:lpstr>8.2.3.1.3　組織の製造フィージビリティ</vt:lpstr>
      <vt:lpstr>8.2.3.1.3　組織の製造フィージビリティ</vt:lpstr>
      <vt:lpstr>8.3　製品及びサービスの設計・開発</vt:lpstr>
      <vt:lpstr>IATF8.3の要求事項体系確認</vt:lpstr>
      <vt:lpstr>8.3.1.1　製品及びサービスの設計・開発－補足</vt:lpstr>
      <vt:lpstr>8.3.2.1　設計・開発の計画－補足</vt:lpstr>
      <vt:lpstr>8.3.2.1　設計・開発の計画－補足</vt:lpstr>
      <vt:lpstr>8.3.2.1　設計・開発の計画－補足</vt:lpstr>
      <vt:lpstr>8.3.2.2　製品設計の技能</vt:lpstr>
      <vt:lpstr>8.3.2.3　組込みソフトウェアをもつ製品の開発</vt:lpstr>
      <vt:lpstr>8.3.2.3　組込みソフトウェアをもつ製品の開発</vt:lpstr>
      <vt:lpstr>8.3.3.1　製品設計へのインプット</vt:lpstr>
      <vt:lpstr>8.3.3.1　製品設計へのインプット</vt:lpstr>
      <vt:lpstr>8.3.3.1　製品設計へのインプット</vt:lpstr>
      <vt:lpstr>8.3.3.2　製造工程設計へのインプット</vt:lpstr>
      <vt:lpstr>8.3.3.2　製造工程設計へのインプット</vt:lpstr>
      <vt:lpstr>8.3.3.3　特殊特性</vt:lpstr>
      <vt:lpstr>8.3.3.3　特殊特性</vt:lpstr>
      <vt:lpstr>8.3.3.3　特殊特性</vt:lpstr>
      <vt:lpstr>8.3.4　設計・開発の管理</vt:lpstr>
      <vt:lpstr>8.3.4.1　監視</vt:lpstr>
      <vt:lpstr>8.3.4.1　監視</vt:lpstr>
      <vt:lpstr>8.3.4.2　設計・開発の妥当性確認</vt:lpstr>
      <vt:lpstr>8.3.4.2　設計・開発の妥当性確認</vt:lpstr>
      <vt:lpstr>8.3.4.3　試作プログラム</vt:lpstr>
      <vt:lpstr>8.3.4.3　試作プログラム</vt:lpstr>
      <vt:lpstr>8.3.4.4　製品承認プロセス</vt:lpstr>
      <vt:lpstr>8.3.4.4　製品承認プロセス</vt:lpstr>
      <vt:lpstr>8.3.5.1　設計・開発からのアウトプット－補足</vt:lpstr>
      <vt:lpstr>8.3.5.1　設計・開発からのアウトプット－補足</vt:lpstr>
      <vt:lpstr>8.3.5.1　設計・開発からのアウトプット－補足</vt:lpstr>
      <vt:lpstr>8.3.5.2　製造工程設計・開発からのアウトプット</vt:lpstr>
      <vt:lpstr>8.3.5.2　製造工程設計・開発からのアウトプット</vt:lpstr>
      <vt:lpstr>8.3.5.2　製造工程設計・開発からのアウトプット</vt:lpstr>
      <vt:lpstr>8.3.5.2　製造工程設計・開発からのアウトプット</vt:lpstr>
      <vt:lpstr>8.3.6.1　設計・開発の変更－補足</vt:lpstr>
      <vt:lpstr>8.3.6.1　設計・開発の変更－補足</vt:lpstr>
      <vt:lpstr>8.4　外部から提供されるプロセス、製品及びサービスの管理</vt:lpstr>
      <vt:lpstr>8.4.1　一般　（岩波氏）</vt:lpstr>
      <vt:lpstr>8.4.1.1　一般－補足</vt:lpstr>
      <vt:lpstr>8.4.1.2　供給者選定プロセス</vt:lpstr>
      <vt:lpstr>8.4.1.2　供給者選定プロセス</vt:lpstr>
      <vt:lpstr>8.4.1.2　供給者選定プロセス</vt:lpstr>
      <vt:lpstr>8.4.1.3　顧客指定の供給者（指定購買）</vt:lpstr>
      <vt:lpstr>8.4.2　管理の程度（岩波氏）</vt:lpstr>
      <vt:lpstr>8.4.2.1　管理の方式及び程度－補足</vt:lpstr>
      <vt:lpstr>8.4.2.1　管理の方式及び程度－補足</vt:lpstr>
      <vt:lpstr>8.4.2.2　法令・規制要求事項</vt:lpstr>
      <vt:lpstr>8.4.2.2　法令・規制要求事項</vt:lpstr>
      <vt:lpstr>8.4.2.3　供給者の品質マネジメントシステム開発</vt:lpstr>
      <vt:lpstr>8.4.2.3　供給者の品質マネジメントシステム開発</vt:lpstr>
      <vt:lpstr>8.4.2.3　供給者の品質マネジメントシステム開発</vt:lpstr>
      <vt:lpstr>8.4.2.3　供給者の品質マネジメントシステム開発</vt:lpstr>
      <vt:lpstr>8.4.2.3　供給者の品質マネジメントシステム開発</vt:lpstr>
      <vt:lpstr>8.4.2.3.1　自動車製品に関係するソフトウェア又は組込みソフトウェアをもつ製品</vt:lpstr>
      <vt:lpstr>8.4.2.4　供給者の監視</vt:lpstr>
      <vt:lpstr>8.4.2.4　供給者の監視</vt:lpstr>
      <vt:lpstr>8.4.2.4.1　第二者監査</vt:lpstr>
      <vt:lpstr>8.4.2.4.1　第二者監査</vt:lpstr>
      <vt:lpstr>8.4.2.4.1　第二者監査</vt:lpstr>
      <vt:lpstr>8.4.2.5　供給者の開発</vt:lpstr>
      <vt:lpstr>8.4.2.5　供給者の開発</vt:lpstr>
      <vt:lpstr>8.4.3　外部提供者に対する情報（岩波氏）</vt:lpstr>
      <vt:lpstr>8.4.3.1　外部提供者に対する情報－補足</vt:lpstr>
      <vt:lpstr>8.5　製造及びサービス提供</vt:lpstr>
      <vt:lpstr>8.5.1　（注記）</vt:lpstr>
      <vt:lpstr>8.5.1.1　コントロールプラン</vt:lpstr>
      <vt:lpstr>8.5.1.1　コントロールプラン</vt:lpstr>
      <vt:lpstr>8.5.1.1　コントロールプラン</vt:lpstr>
      <vt:lpstr>8.5.1.1　コントロールプラン</vt:lpstr>
      <vt:lpstr>8.5.1.1　コントロールプラン</vt:lpstr>
      <vt:lpstr>8.5.1.1　コントロールプラン</vt:lpstr>
      <vt:lpstr>8.5.1.2　標準作業－作業者指示書及び目視標準</vt:lpstr>
      <vt:lpstr>8.5.1.2　標準作業－作業者指示書及び目視標準</vt:lpstr>
      <vt:lpstr>8.5.1.3　作業の段取り替え検証</vt:lpstr>
      <vt:lpstr>8.5.1.3　作業の段取り替え検証</vt:lpstr>
      <vt:lpstr>8.5.1.4　シャットダウン後の検証</vt:lpstr>
      <vt:lpstr>8.5.1.4　シャットダウン後の検証</vt:lpstr>
      <vt:lpstr>8.5.1.5　ＴＰＭ（Total　productive　maintenance）</vt:lpstr>
      <vt:lpstr>8.5.1.5　ＴＰＭ（Total　productive　maintenance）</vt:lpstr>
      <vt:lpstr>8.5.1.5　ＴＰＭ（Total　productive　maintenance）</vt:lpstr>
      <vt:lpstr>8.5.1.5　ＴＰＭ（Total　productive　maintenance）</vt:lpstr>
      <vt:lpstr>8.5.1.5　ＴＰＭ（Total　productive　maintenance）</vt:lpstr>
      <vt:lpstr>8.5.1.6　生産治工具並びに製造、試験、検査の治工具及び設備の運用管理</vt:lpstr>
      <vt:lpstr>8.5.1.6　生産治工具並びに製造、試験、検査の治工具及び設備の運用管理</vt:lpstr>
      <vt:lpstr>8.5.1.6　生産治工具並びに製造、試験、検査の治工具及び設備の運用管理</vt:lpstr>
      <vt:lpstr>8.5.1.7　生産計画</vt:lpstr>
      <vt:lpstr>8.5.2　（注記）</vt:lpstr>
      <vt:lpstr>8.5.2.1　識別及びトレーサビリティ－補足</vt:lpstr>
      <vt:lpstr>8.5.2.1　識別及びトレーサビリティ－補足</vt:lpstr>
      <vt:lpstr>8.5.2.1　識別及びトレーサビリティ－補足</vt:lpstr>
      <vt:lpstr>8.5.2.1　識別及びトレーサビリティ－補足</vt:lpstr>
      <vt:lpstr>8.5.4.1　保存－補足</vt:lpstr>
      <vt:lpstr>8.5.4.1　保存－補足</vt:lpstr>
      <vt:lpstr>8.5.5.1　サービスからの情報のフィードバック</vt:lpstr>
      <vt:lpstr>8.5.5.1　サービスからの情報のフィードバック</vt:lpstr>
      <vt:lpstr>8.5.5.2　顧客とのサービス契約</vt:lpstr>
      <vt:lpstr>8.5.6.1　変更の管理－補足</vt:lpstr>
      <vt:lpstr>8.5.6.1　変更の管理－補足</vt:lpstr>
      <vt:lpstr>8.5.6.1　変更の管理－補足</vt:lpstr>
      <vt:lpstr>8.5.6.1　変更の管理－補足</vt:lpstr>
      <vt:lpstr>8.5.6.1.1　工程管理の一時的変更</vt:lpstr>
      <vt:lpstr>8.5.6.1.1　工程管理の一時的変更</vt:lpstr>
      <vt:lpstr>8.5.6.1.1　工程管理の一時的変更</vt:lpstr>
      <vt:lpstr>8.6　製品及びサービスのリリース</vt:lpstr>
      <vt:lpstr>8.6.1　製品及びサービスのリリース－補足</vt:lpstr>
      <vt:lpstr>8.6.2　レイアウト検査及び機能試験</vt:lpstr>
      <vt:lpstr>8.6.2　レイアウト検査及び機能試験</vt:lpstr>
      <vt:lpstr>8.6.3　外観品目</vt:lpstr>
      <vt:lpstr>8.6.3　外観品目</vt:lpstr>
      <vt:lpstr>8.6.4　外部から提供される製品及びサービスの検証及び受入れ</vt:lpstr>
      <vt:lpstr>8.6.5　法令・規制への適合</vt:lpstr>
      <vt:lpstr>8.6.6　合否判定基準</vt:lpstr>
      <vt:lpstr>8.7　不適合なアウトプットの管理</vt:lpstr>
      <vt:lpstr>8.7.1.1　特別採用に対する顧客の正式許可　</vt:lpstr>
      <vt:lpstr>8.7.1.1　特別採用に対する顧客の正式許可</vt:lpstr>
      <vt:lpstr>8.7.1.2　不適合製品の管理－顧客規定のプロセス</vt:lpstr>
      <vt:lpstr>8.7.1.3　疑わしい製品の管理</vt:lpstr>
      <vt:lpstr>8.7.1.3　疑わしい製品の管理</vt:lpstr>
      <vt:lpstr>8.7.1.4　手直し製品の管理　</vt:lpstr>
      <vt:lpstr>8.7.1.4　手直し製品の管理　／　8.7.1.5　修理製品の管理</vt:lpstr>
      <vt:lpstr>8.7.1.4　手直し製品の管理　／　8.7.1.5　修理製品の管理</vt:lpstr>
      <vt:lpstr>8.7.1.5　修理製品の管理　</vt:lpstr>
      <vt:lpstr>8.7.1.6　顧客への通知</vt:lpstr>
      <vt:lpstr>8.7.1.7　不適合製品の廃棄</vt:lpstr>
      <vt:lpstr>8.7.1.7　不適合製品の廃棄</vt:lpstr>
      <vt:lpstr>PowerPoint プレゼンテーション</vt:lpstr>
      <vt:lpstr>９．パフォーマンス評価</vt:lpstr>
      <vt:lpstr>9.1.1.1　製造工程の監視及び測定</vt:lpstr>
      <vt:lpstr>9.1.1.1　製造工程の監視及び測定</vt:lpstr>
      <vt:lpstr>9.1.1.1　製造工程の監視及び測定</vt:lpstr>
      <vt:lpstr>9.1.1.1　製造工程の監視及び測定</vt:lpstr>
      <vt:lpstr>9.1.1.1　製造工程の監視及び測定</vt:lpstr>
      <vt:lpstr>9.1.1.1　製造工程の監視及び測定</vt:lpstr>
      <vt:lpstr>9.1.1.2　統計的ツールの特定</vt:lpstr>
      <vt:lpstr>9.1.1.3　統計概念の適用</vt:lpstr>
      <vt:lpstr>9.1.2.1　顧客満足－補足</vt:lpstr>
      <vt:lpstr>9.1.2.1　顧客満足－補足</vt:lpstr>
      <vt:lpstr>9.1.2.1　顧客満足－補足</vt:lpstr>
      <vt:lpstr>9.1.3　分析および評価　（岩波氏）</vt:lpstr>
      <vt:lpstr>9.1.3.1　優先順位付け</vt:lpstr>
      <vt:lpstr>9.2.1内部監査の目的　(ISO9001要求)</vt:lpstr>
      <vt:lpstr>9.2.1内部監査の目的　(ISO9001要求)</vt:lpstr>
      <vt:lpstr>9.2.1内部監査の目的　(ISO9001要求)</vt:lpstr>
      <vt:lpstr>9.2.2内部監査の実施　(ISO9001要求)</vt:lpstr>
      <vt:lpstr>9.2.2内部監査の実施　(ISO9001要求)</vt:lpstr>
      <vt:lpstr>9.2.2内部監査の実施　(ISO9001要求)</vt:lpstr>
      <vt:lpstr>9.2.2内部監査の実施　(ISO9001要求)</vt:lpstr>
      <vt:lpstr>9.2.2.1　内部監査プログラム</vt:lpstr>
      <vt:lpstr>9.2.2.1　内部監査プログラム</vt:lpstr>
      <vt:lpstr>9.2.2.1　内部監査プログラム</vt:lpstr>
      <vt:lpstr>9.2.2.2　品質マネジメントシステム監査</vt:lpstr>
      <vt:lpstr>9.2.2.2　品質マネジメントシステム監査</vt:lpstr>
      <vt:lpstr>9.2.2.2　品質マネジメントシステム監査</vt:lpstr>
      <vt:lpstr>9.2.2.3　製造工程監査</vt:lpstr>
      <vt:lpstr>9.2.2.3　製造工程監査</vt:lpstr>
      <vt:lpstr>9.2.2.3　製造工程監査</vt:lpstr>
      <vt:lpstr>9.2.2.4　製品監査</vt:lpstr>
      <vt:lpstr>9.2.2.4　製品監査</vt:lpstr>
      <vt:lpstr>内部監査について</vt:lpstr>
      <vt:lpstr>内部監査について</vt:lpstr>
      <vt:lpstr>9.3.1.1　マネジメントレビュー－補足</vt:lpstr>
      <vt:lpstr>9.3.2.1　マネジメントレビューへのインプット－補足</vt:lpstr>
      <vt:lpstr>9.3.2.1　マネジメントレビューへのインプット－補足</vt:lpstr>
      <vt:lpstr>9.3.3.1　マネジメントレビューからのアウトプット－補足</vt:lpstr>
      <vt:lpstr>PowerPoint プレゼンテーション</vt:lpstr>
      <vt:lpstr>１０．改善</vt:lpstr>
      <vt:lpstr>10.2.3　問題解決</vt:lpstr>
      <vt:lpstr>10.2.3　問題解決</vt:lpstr>
      <vt:lpstr>10.2.3　問題解決</vt:lpstr>
      <vt:lpstr>10.2.4　ポカヨケ</vt:lpstr>
      <vt:lpstr>10.2.4　ポカヨケ</vt:lpstr>
      <vt:lpstr>10.2.4　ポカヨケ</vt:lpstr>
      <vt:lpstr>10.2.5　補償管理システム</vt:lpstr>
      <vt:lpstr>10.2.6　顧客苦情及び市場不具合の試験・分析</vt:lpstr>
      <vt:lpstr>10.3.1　継続的改善－補足</vt:lpstr>
      <vt:lpstr>10.3.1　継続的改善</vt:lpstr>
      <vt:lpstr>PowerPoint プレゼンテーション</vt:lpstr>
      <vt:lpstr>この資料の構成</vt:lpstr>
      <vt:lpstr>第３章の構成</vt:lpstr>
      <vt:lpstr>１．IATF16949とコアツール ＩＡＴＦ１６９４９とコアツール</vt:lpstr>
      <vt:lpstr>１．IATF16949とコアツール ＩＡＴＦ１６９４９とコアツール</vt:lpstr>
      <vt:lpstr>１．IATF16949とコアツール ＡＰＱＰ＆ＣＰとＩＡＴＦ１６９４９要求事項</vt:lpstr>
      <vt:lpstr>１．IATF16949とコアツール ＡＰＱＰ＆ＣＰとＩＡＴＦ１６９４９要求事項</vt:lpstr>
      <vt:lpstr>１．IATF16949とコアツール ＡＰＱＰ＆ＣＰとＩＡＴＦ１６９４９要求事項</vt:lpstr>
      <vt:lpstr>１．IATF16949とコアツール ＡＰＱＰ＆ＣＰとＩＡＴＦ１６９４９要求事項</vt:lpstr>
      <vt:lpstr>１．IATF16949とコアツール ＡＰＱＰ＆ＣＰとＩＡＴＦ１６９４９要求事項</vt:lpstr>
      <vt:lpstr>１．IATF16949とコアツール ＰＰＡＰとＩＡＴＦ１６９４９要求事項</vt:lpstr>
      <vt:lpstr>１．IATF16949とコアツール ＦＭＥＡとＩＡＴＦ１６９４９要求事項</vt:lpstr>
      <vt:lpstr>１．IATF16949とコアツール ＦＭＥＡとＩＡＴＦ１６９４９要求事項</vt:lpstr>
      <vt:lpstr>１．IATF16949とコアツール ＦＭＥＡとＩＡＴＦ１６９４９要求事項</vt:lpstr>
      <vt:lpstr>１．IATF16949とコアツール ＦＭＥＡとＩＡＴＦ１６９４９要求事項</vt:lpstr>
      <vt:lpstr>１．IATF16949とコアツール ＳＰＣとＩＡＴＦ１６９４９要求事項</vt:lpstr>
      <vt:lpstr>１．IATF16949とコアツール ＳＰＣとＩＡＴＦ１６９４９要求事項</vt:lpstr>
      <vt:lpstr>１．IATF16949とコアツール ＭＳＡとＩＡＴＦ１６９４９要求事項</vt:lpstr>
      <vt:lpstr>第３章の構成</vt:lpstr>
      <vt:lpstr>２．ＡＰＱＰ（ＡＰＱＰとは／目的）</vt:lpstr>
      <vt:lpstr>２．ＡＰＱＰ（概要）</vt:lpstr>
      <vt:lpstr>２．ＡＰＱＰ（概要）</vt:lpstr>
      <vt:lpstr>２．ＡＰＱＰ（概要）</vt:lpstr>
      <vt:lpstr>２．ＡＰＱＰ（フェーズ）</vt:lpstr>
      <vt:lpstr>２．ＡＰＱＰ（フェーズ）</vt:lpstr>
      <vt:lpstr>２．ＡＰＱＰ（フェーズのｉｎ・ｏｕｔ）</vt:lpstr>
      <vt:lpstr>２．ＡＰＱＰ（フェーズのｉｎ・ｏｕｔ）</vt:lpstr>
      <vt:lpstr>２．ＡＰＱＰ（フェーズ１）</vt:lpstr>
      <vt:lpstr>２．ＡＰＱＰ（フェーズ１）</vt:lpstr>
      <vt:lpstr>２．ＡＰＱＰ（フェーズ１）</vt:lpstr>
      <vt:lpstr>２．ＡＰＱＰ（フェーズ１）</vt:lpstr>
      <vt:lpstr>２．ＡＰＱＰ（フェーズ１）</vt:lpstr>
      <vt:lpstr>２．ＡＰＱＰ（フェーズ１）</vt:lpstr>
      <vt:lpstr>２．ＡＰＱＰ（フェーズ１）</vt:lpstr>
      <vt:lpstr>２．ＡＰＱＰ（フェーズ２）</vt:lpstr>
      <vt:lpstr>２．ＡＰＱＰ（フェーズ２）</vt:lpstr>
      <vt:lpstr>３．ＡＰＱＰ（フェーズ２）</vt:lpstr>
      <vt:lpstr>２．ＡＰＱＰ（フェーズ２）</vt:lpstr>
      <vt:lpstr>２．ＡＰＱＰ（フェーズ２）</vt:lpstr>
      <vt:lpstr>２．ＡＰＱＰ（フェーズ２）</vt:lpstr>
      <vt:lpstr>２．ＡＰＱＰ（フェーズ２）</vt:lpstr>
      <vt:lpstr>２．ＡＰＱＰ（フェーズ３）</vt:lpstr>
      <vt:lpstr>３．ＡＰＱＰ（フェーズ３）</vt:lpstr>
      <vt:lpstr>２．ＡＰＱＰ（フェーズ３）</vt:lpstr>
      <vt:lpstr>２．ＡＰＱＰ（フェーズ３）</vt:lpstr>
      <vt:lpstr>２．ＡＰＱＰ（フェーズ３）</vt:lpstr>
      <vt:lpstr>２．ＡＰＱＰ（フェーズ３）</vt:lpstr>
      <vt:lpstr>２．ＡＰＱＰ（フェーズ４）</vt:lpstr>
      <vt:lpstr>２．ＡＰＱＰ（フェーズ４）</vt:lpstr>
      <vt:lpstr>２．ＡＰＱＰ（フェーズ４）</vt:lpstr>
      <vt:lpstr>２．ＡＰＱＰ（フェーズ４）</vt:lpstr>
      <vt:lpstr>２．ＡＰＱＰ（フェーズ４）</vt:lpstr>
      <vt:lpstr>２．ＡＰＱＰ（フェーズ４）</vt:lpstr>
      <vt:lpstr>２．ＡＰＱＰ（フェーズ４）</vt:lpstr>
      <vt:lpstr>２．ＡＰＱＰ（フェーズ５）</vt:lpstr>
      <vt:lpstr>３．ＡＰＱＰ（フェーズ５）</vt:lpstr>
      <vt:lpstr>３．ＡＰＱＰ（フェーズ５）</vt:lpstr>
      <vt:lpstr>３．ＡＰＱＰ（各フェーズｉｎ／ｏｕｔ）</vt:lpstr>
      <vt:lpstr>２．ＡＰＱＰ（コントロールプラン（ＣＰ））</vt:lpstr>
      <vt:lpstr>２．ＡＰＱＰ（コントロールプラン（ＣＰ））</vt:lpstr>
      <vt:lpstr>２．ＡＰＱＰ（コントロールプラン（ＣＰ））</vt:lpstr>
      <vt:lpstr>２．ＡＰＱＰ（コントロールプラン（ＣＰ））</vt:lpstr>
      <vt:lpstr>２．ＡＰＱＰ（コントロールプラン（ＣＰ））</vt:lpstr>
      <vt:lpstr>２．ＡＰＱＰ（コントロールプラン（ＣＰ））</vt:lpstr>
      <vt:lpstr>２．ＡＰＱＰ（コントロールプラン（ＣＰ））</vt:lpstr>
      <vt:lpstr>２．ＡＰＱＰ（コントロールプラン（ＣＰ））</vt:lpstr>
      <vt:lpstr>第３章の構成</vt:lpstr>
      <vt:lpstr>３．ＰＰＡＰ（ＰＰＡＰとは／目的）</vt:lpstr>
      <vt:lpstr>３．ＰＰＡＰ（理解すべき全体像）</vt:lpstr>
      <vt:lpstr>３．ＰＰＡＰ（概念）</vt:lpstr>
      <vt:lpstr>３．ＰＰＡＰ（概念）</vt:lpstr>
      <vt:lpstr>３．ＰＰＡＰ（要求事項の取扱い（提出・承認・通知））</vt:lpstr>
      <vt:lpstr>３．ＰＰＡＰ（要求事項の取扱い（提出・承認・通知））</vt:lpstr>
      <vt:lpstr>３．ＰＰＡＰ（要求事項の取扱い（提出・承認・通知））</vt:lpstr>
      <vt:lpstr>３．ＰＰＡＰ（要求事項）</vt:lpstr>
      <vt:lpstr>３．ＰＰＡＰ（要求事項）</vt:lpstr>
      <vt:lpstr>３．ＰＰＡＰ（要求事項）</vt:lpstr>
      <vt:lpstr>３．ＰＰＡＰ（要求事項）</vt:lpstr>
      <vt:lpstr>３．ＰＰＡＰ（要求事項）</vt:lpstr>
      <vt:lpstr>３．ＰＰＡＰ（要求事項）</vt:lpstr>
      <vt:lpstr>３．ＰＰＡＰ（要求事項）</vt:lpstr>
      <vt:lpstr>３．ＰＰＡＰ（要求事項）</vt:lpstr>
      <vt:lpstr>３．ＰＰＡＰ（提出・承認のレベル）</vt:lpstr>
      <vt:lpstr>３．ＰＰＡＰ（提出・承認のレベル）</vt:lpstr>
      <vt:lpstr>３．ＰＰＡＰ（提出・承認のレベル）</vt:lpstr>
      <vt:lpstr>３．ＰＰＡＰ（提出・承認のレベル）</vt:lpstr>
      <vt:lpstr>３．ＰＰＡＰ（顧客承認）</vt:lpstr>
      <vt:lpstr>第３章の構成</vt:lpstr>
      <vt:lpstr>４．ＦＭＥＡ（歴史）</vt:lpstr>
      <vt:lpstr>４．ＦＭＥＡ（概要）</vt:lpstr>
      <vt:lpstr>４．ＦＭＥＡ（概要）</vt:lpstr>
      <vt:lpstr>４．ＦＭＥＡ（概要）</vt:lpstr>
      <vt:lpstr>４．ＦＭＥＡ（概要）</vt:lpstr>
      <vt:lpstr>４．ＦＭＥＡ（概要）</vt:lpstr>
      <vt:lpstr>４．ＦＭＥＡ（基礎）</vt:lpstr>
      <vt:lpstr>４．ＦＭＥＡ（基礎）</vt:lpstr>
      <vt:lpstr>４．ＦＭＥＡ（基礎）</vt:lpstr>
      <vt:lpstr>４．ＦＭＥＡ（基礎）</vt:lpstr>
      <vt:lpstr>４．ＦＭＥＡ（基礎）</vt:lpstr>
      <vt:lpstr>４．ＦＭＥＡ（基礎）</vt:lpstr>
      <vt:lpstr>４．ＦＭＥＡ（基礎）</vt:lpstr>
      <vt:lpstr>４．ＦＭＥＡ（基礎）</vt:lpstr>
      <vt:lpstr>４．ＦＭＥＡ（手法）</vt:lpstr>
      <vt:lpstr>４．ＦＭＥＡ（手法）</vt:lpstr>
      <vt:lpstr>４．ＦＭＥＡ（手法）</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４．ＦＭＥＡ（工程ＦＭＥＡの実施）</vt:lpstr>
      <vt:lpstr>４．ＦＭＥＡ（AIAG第４版　⇔　AIAG&amp;VDAハンドブック主な変更点）</vt:lpstr>
      <vt:lpstr>４．ＦＭＥＡ（AIAG第４版　⇔　AIAG&amp;VDAハンドブック主な変更点）</vt:lpstr>
      <vt:lpstr>４．ＦＭＥＡ（様式及び記載要領）</vt:lpstr>
      <vt:lpstr>６．様式及び記載要領</vt:lpstr>
      <vt:lpstr>６．様式及び記載要領</vt:lpstr>
      <vt:lpstr>４．ＦＭＥＡ（様式及び記載要領）</vt:lpstr>
      <vt:lpstr>第３章の構成</vt:lpstr>
      <vt:lpstr>５．ＳＰＣ（ＳＰＣの基礎）</vt:lpstr>
      <vt:lpstr>５．ＳＰＣ（ＳＰＣの基礎）</vt:lpstr>
      <vt:lpstr>５．ＳＰＣ（ＳＰＣの基礎）</vt:lpstr>
      <vt:lpstr>５．ＳＰＣ（工程の安定と能力）</vt:lpstr>
      <vt:lpstr>５．ＳＰＣ（工程の安定と能力）</vt:lpstr>
      <vt:lpstr>５．ＳＰＣ（工程の安定と能力）</vt:lpstr>
      <vt:lpstr>５．ＳＰＣ（Ｘ－Ｒ管理図）</vt:lpstr>
      <vt:lpstr>５．ＳＰＣ（Ｘ－Ｒ管理図）</vt:lpstr>
      <vt:lpstr>５．ＳＰＣ（Ｘ－Ｒ管理図）</vt:lpstr>
      <vt:lpstr>５．ＳＰＣ（Ｘ－Ｒ管理図）</vt:lpstr>
      <vt:lpstr>５．ＳＰＣ（Ｘ－Ｒ管理図）</vt:lpstr>
      <vt:lpstr>５．ＳＰＣ（Ｘ－Ｒ管理図）</vt:lpstr>
      <vt:lpstr>５．ＳＰＣ（Ｘ－Ｒ管理図）</vt:lpstr>
      <vt:lpstr>５．ＳＰＣ（Ｘ－Ｒ管理図）</vt:lpstr>
      <vt:lpstr>５．ＳＰＣ（Ｘ－Ｒ管理図）</vt:lpstr>
      <vt:lpstr>５．ＳＰＣ（Ｘ－Ｒ管理図）</vt:lpstr>
      <vt:lpstr>５．ＳＰＣ（工程能力）</vt:lpstr>
      <vt:lpstr>５．ＳＰＣ（工程能力）</vt:lpstr>
      <vt:lpstr>５．ＳＰＣ（工程能力）</vt:lpstr>
      <vt:lpstr>５．ＳＰＣ（工程能力）</vt:lpstr>
      <vt:lpstr>５．ＳＰＣ（工程能力）</vt:lpstr>
      <vt:lpstr>５．ＳＰＣ（工程能力）</vt:lpstr>
      <vt:lpstr>５．ＳＰＣ（工程能力）</vt:lpstr>
      <vt:lpstr>５．ＳＰＣ（工程能力指数の算出例）</vt:lpstr>
      <vt:lpstr>５．ＳＰＣ（工程能力指数の算出例）</vt:lpstr>
      <vt:lpstr>５．ＳＰＣ（工程能力指数と不良率）</vt:lpstr>
      <vt:lpstr>管理図の種類</vt:lpstr>
      <vt:lpstr>計量値管理図の定数表</vt:lpstr>
      <vt:lpstr>第３章の構成</vt:lpstr>
      <vt:lpstr>５．ＭＳＡ（ＭＳＡの基礎）</vt:lpstr>
      <vt:lpstr>５．ＭＳＡ（ＭＳＡの基礎）</vt:lpstr>
      <vt:lpstr>５．ＭＳＡ（ＭＳＡの基礎）</vt:lpstr>
      <vt:lpstr>５．ＭＳＡ（ＭＳＡの基礎）</vt:lpstr>
      <vt:lpstr>５．ＭＳＡ（ＭＳＡの基礎）</vt:lpstr>
      <vt:lpstr>５．ＭＳＡ（ＭＳＡの基礎）</vt:lpstr>
      <vt:lpstr>５．ＭＳＡ（安定性）（実施手順）</vt:lpstr>
      <vt:lpstr>５．ＭＳＡ（安定性）（実施手順）</vt:lpstr>
      <vt:lpstr>５．ＭＳＡ（繰返し性・再現性（ＧＲＲ））</vt:lpstr>
      <vt:lpstr>５．ＭＳＡ（繰返し性・再現性（ＧＲＲ））</vt:lpstr>
      <vt:lpstr>５．ＭＳＡ（繰返し性・再現性（ＧＲＲ））</vt:lpstr>
      <vt:lpstr>５．ＭＳＡ（繰返し性・再現性（ＧＲＲ））</vt:lpstr>
      <vt:lpstr>５．ＭＳＡ（繰返し性・再現性（ＧＲＲ））</vt:lpstr>
      <vt:lpstr>５．ＭＳＡ（繰返し性・再現性（ＧＲＲ））（実施手順）</vt:lpstr>
      <vt:lpstr>５．ＭＳＡ（繰返し性・再現性（ＧＲＲ））（実施手順）</vt:lpstr>
      <vt:lpstr>５．ＭＳＡ（繰返し性・再現性（ＧＲＲ））（実施手順）</vt:lpstr>
      <vt:lpstr>５．ＭＳＡ（繰返し性・再現性（ＧＲＲ））（実施手順）</vt:lpstr>
      <vt:lpstr>５．ＭＳＡ（繰返し性・再現性（ＧＲＲ））（実施手順）</vt:lpstr>
      <vt:lpstr>５．ＭＳＡ（繰返し性・再現性（ＧＲＲ））（実施手順）</vt:lpstr>
      <vt:lpstr>５．ＭＳＡ（繰返し性・再現性（ＧＲＲ））（実施手順）</vt:lpstr>
      <vt:lpstr>５．ＭＳＡ（計数値ＭＳＡ（クロスタブ法））</vt:lpstr>
      <vt:lpstr>５．ＭＳＡ（計数値ＭＳＡ（クロスタブ法））</vt:lpstr>
      <vt:lpstr>５．ＭＳＡ（計数値ＭＳＡ（クロスタブ法））</vt:lpstr>
      <vt:lpstr>５．ＭＳＡ（計数値ＭＳＡ（クロスタブ法））</vt:lpstr>
      <vt:lpstr>５．ＭＳＡ（計数値ＭＳＡ（クロスタブ法））</vt:lpstr>
      <vt:lpstr>５．ＭＳＡ（計数値ＭＳＡ（クロスタブ法：評価事例））</vt:lpstr>
      <vt:lpstr>５．ＭＳＡ（計数値ＭＳＡ（クロスタブ法：評価事例））</vt:lpstr>
      <vt:lpstr>５．ＭＳＡ（計数値ＭＳＡ（クロスタブ法：評価事例））</vt:lpstr>
      <vt:lpstr>５．ＭＳＡ（計数値ＭＳＡ（クロスタブ法：評価事例））</vt:lpstr>
      <vt:lpstr>５．ＭＳＡ（計数値ＭＳＡ（クロスタブ法：評価事例））</vt:lpstr>
      <vt:lpstr>５．ＭＳＡ（MSA解析の定数表）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要求事項解説</dc:title>
  <dc:creator>和彦 渡辺</dc:creator>
  <cp:lastModifiedBy>mec21</cp:lastModifiedBy>
  <cp:revision>1262</cp:revision>
  <cp:lastPrinted>2020-10-21T02:47:23Z</cp:lastPrinted>
  <dcterms:created xsi:type="dcterms:W3CDTF">2019-02-14T08:34:57Z</dcterms:created>
  <dcterms:modified xsi:type="dcterms:W3CDTF">2023-05-27T14:09:20Z</dcterms:modified>
</cp:coreProperties>
</file>